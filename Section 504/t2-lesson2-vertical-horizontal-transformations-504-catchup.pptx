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docProps/core.xml" ContentType="application/vnd.openxmlformats-package.core-properties+xml"/>
  <Override PartName="/docProps/app.xml" ContentType="application/vnd.openxmlformats-officedocument.extended-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
  </p:notesMasterIdLst>
  <p:sldIdLst>
    <p:sldId id="256" r:id="rId11"/>
    <p:sldId id="257" r:id="rId12"/>
    <p:sldId id="258" r:id="rId13"/>
    <p:sldId id="259" r:id="rId14"/>
    <p:sldId id="260" r:id="rId15"/>
    <p:sldId id="261" r:id="rId16"/>
    <p:sldId id="262" r:id="rId17"/>
    <p:sldId id="263" r:id="rId18"/>
    <p:sldId id="264" r:id="rId19"/>
    <p:sldId id="265" r:id="rId20"/>
    <p:sldId id="266" r:id="rId21"/>
    <p:sldId id="267" r:id="rId22"/>
    <p:sldId id="268" r:id="rId23"/>
    <p:sldId id="269" r:id="rId24"/>
    <p:sldId id="270" r:id="rId25"/>
    <p:sldId id="271" r:id="rId26"/>
    <p:sldId id="272" r:id="rId27"/>
    <p:sldId id="273" r:id="rId28"/>
    <p:sldId id="274" r:id="rId29"/>
    <p:sldId id="275" r:id="rId30"/>
    <p:sldId id="276" r:id="rId31"/>
    <p:sldId id="277" r:id="rId32"/>
    <p:sldId id="278" r:id="rId33"/>
    <p:sldId id="279" r:id="rId34"/>
    <p:sldId id="280" r:id="rId35"/>
    <p:sldId id="281" r:id="rId36"/>
    <p:sldId id="282" r:id="rId37"/>
    <p:sldId id="283" r:id="rId38"/>
    <p:sldId id="284" r:id="rId39"/>
    <p:sldId id="285" r:id="rId40"/>
    <p:sldId id="286" r:id="rId41"/>
    <p:sldId id="287" r:id="rId42"/>
    <p:sldId id="288" r:id="rId43"/>
    <p:sldId id="289" r:id="rId44"/>
    <p:sldId id="290" r:id="rId45"/>
    <p:sldId id="291" r:id="rId46"/>
    <p:sldId id="292" r:id="rId47"/>
    <p:sldId id="293" r:id="rId48"/>
  </p:sldIdLst>
  <p:sldSz cx="12192000" cy="6858000"/>
  <p:notesSz cx="6858000" cy="9144000"/>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notesMaster" Target="notesMasters/notesMaster1.xml"/><Relationship Id="rId3" Type="http://schemas.openxmlformats.org/officeDocument/2006/relationships/theme" Target="theme/theme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ableStyles" Target="tableStyles.xml"/><Relationship Id="rId11" Type="http://schemas.openxmlformats.org/officeDocument/2006/relationships/slide" Target="slides/slide1.xml"/><Relationship Id="rId12" Type="http://schemas.openxmlformats.org/officeDocument/2006/relationships/slide" Target="slides/slide2.xml"/><Relationship Id="rId13" Type="http://schemas.openxmlformats.org/officeDocument/2006/relationships/slide" Target="slides/slide3.xml"/><Relationship Id="rId14" Type="http://schemas.openxmlformats.org/officeDocument/2006/relationships/slide" Target="slides/slide4.xml"/><Relationship Id="rId15" Type="http://schemas.openxmlformats.org/officeDocument/2006/relationships/slide" Target="slides/slide5.xml"/><Relationship Id="rId16" Type="http://schemas.openxmlformats.org/officeDocument/2006/relationships/slide" Target="slides/slide6.xml"/><Relationship Id="rId17" Type="http://schemas.openxmlformats.org/officeDocument/2006/relationships/slide" Target="slides/slide7.xml"/><Relationship Id="rId18" Type="http://schemas.openxmlformats.org/officeDocument/2006/relationships/slide" Target="slides/slide8.xml"/><Relationship Id="rId19" Type="http://schemas.openxmlformats.org/officeDocument/2006/relationships/slide" Target="slides/slide9.xml"/><Relationship Id="rId20" Type="http://schemas.openxmlformats.org/officeDocument/2006/relationships/slide" Target="slides/slide10.xml"/><Relationship Id="rId21" Type="http://schemas.openxmlformats.org/officeDocument/2006/relationships/slide" Target="slides/slide11.xml"/><Relationship Id="rId22" Type="http://schemas.openxmlformats.org/officeDocument/2006/relationships/slide" Target="slides/slide12.xml"/><Relationship Id="rId23" Type="http://schemas.openxmlformats.org/officeDocument/2006/relationships/slide" Target="slides/slide13.xml"/><Relationship Id="rId24" Type="http://schemas.openxmlformats.org/officeDocument/2006/relationships/slide" Target="slides/slide14.xml"/><Relationship Id="rId25" Type="http://schemas.openxmlformats.org/officeDocument/2006/relationships/slide" Target="slides/slide15.xml"/><Relationship Id="rId26" Type="http://schemas.openxmlformats.org/officeDocument/2006/relationships/slide" Target="slides/slide16.xml"/><Relationship Id="rId27" Type="http://schemas.openxmlformats.org/officeDocument/2006/relationships/slide" Target="slides/slide17.xml"/><Relationship Id="rId28" Type="http://schemas.openxmlformats.org/officeDocument/2006/relationships/slide" Target="slides/slide18.xml"/><Relationship Id="rId29" Type="http://schemas.openxmlformats.org/officeDocument/2006/relationships/slide" Target="slides/slide19.xml"/><Relationship Id="rId30" Type="http://schemas.openxmlformats.org/officeDocument/2006/relationships/slide" Target="slides/slide20.xml"/><Relationship Id="rId31" Type="http://schemas.openxmlformats.org/officeDocument/2006/relationships/slide" Target="slides/slide21.xml"/><Relationship Id="rId32" Type="http://schemas.openxmlformats.org/officeDocument/2006/relationships/slide" Target="slides/slide22.xml"/><Relationship Id="rId33" Type="http://schemas.openxmlformats.org/officeDocument/2006/relationships/slide" Target="slides/slide23.xml"/><Relationship Id="rId34" Type="http://schemas.openxmlformats.org/officeDocument/2006/relationships/slide" Target="slides/slide24.xml"/><Relationship Id="rId35" Type="http://schemas.openxmlformats.org/officeDocument/2006/relationships/slide" Target="slides/slide25.xml"/><Relationship Id="rId36" Type="http://schemas.openxmlformats.org/officeDocument/2006/relationships/slide" Target="slides/slide26.xml"/><Relationship Id="rId37" Type="http://schemas.openxmlformats.org/officeDocument/2006/relationships/slide" Target="slides/slide27.xml"/><Relationship Id="rId38" Type="http://schemas.openxmlformats.org/officeDocument/2006/relationships/slide" Target="slides/slide28.xml"/><Relationship Id="rId39" Type="http://schemas.openxmlformats.org/officeDocument/2006/relationships/slide" Target="slides/slide29.xml"/><Relationship Id="rId40" Type="http://schemas.openxmlformats.org/officeDocument/2006/relationships/slide" Target="slides/slide30.xml"/><Relationship Id="rId41" Type="http://schemas.openxmlformats.org/officeDocument/2006/relationships/slide" Target="slides/slide31.xml"/><Relationship Id="rId42" Type="http://schemas.openxmlformats.org/officeDocument/2006/relationships/slide" Target="slides/slide32.xml"/><Relationship Id="rId43" Type="http://schemas.openxmlformats.org/officeDocument/2006/relationships/slide" Target="slides/slide33.xml"/><Relationship Id="rId44" Type="http://schemas.openxmlformats.org/officeDocument/2006/relationships/slide" Target="slides/slide34.xml"/><Relationship Id="rId45" Type="http://schemas.openxmlformats.org/officeDocument/2006/relationships/slide" Target="slides/slide35.xml"/><Relationship Id="rId46" Type="http://schemas.openxmlformats.org/officeDocument/2006/relationships/slide" Target="slides/slide36.xml"/><Relationship Id="rId47" Type="http://schemas.openxmlformats.org/officeDocument/2006/relationships/slide" Target="slides/slide37.xml"/><Relationship Id="rId48" Type="http://schemas.openxmlformats.org/officeDocument/2006/relationships/slide" Target="slides/slide3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Notes</a:t>
            </a: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400" kern="1200">
        <a:solidFill>
          <a:schemeClr val="tx1"/>
        </a:solidFill>
        <a:latin typeface="+mn-lt"/>
        <a:ea typeface="+mn-ea"/>
        <a:cs typeface="+mn-cs"/>
      </a:defRPr>
    </a:lvl1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compare horizontal transformations f(x − c) and f(bx) with the vertical ones from Lesson 1. For f(x) = x, a horizontal translation right n matches a vertical translation down n, and a vertical dilation by n matches a horizontal dilation by 1/n, but these pairs do not match for other linear functions. Two days on the 150-day calendar: Day 1 Getting Started and Activity 2.1; Day 2 Activities 2.2, 2.3 and Talk the Talk.</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 starts here on Monday, October 26.</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for this deck; not from the textbook. Have this up as students walk in; they work silently while you take attendance (about 5 minutes). The same 4 questions are on the online Day 1 bell work. Reveal the answers one at a time. Answer key: 1. Subtracting from the output is a vertical translation down 3. 2. In y = mx + b, m is the slope. 3. Set g(x) = 0: 3x − 8 = 0, so x = 8/3. 4. Replace f(x) with x: g(x) = 2x − 3, a vertical dilation by 2 and a translation down 3.</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Catch-up from Topic 1 Lesson 5 so the class is ready for the End of Topic 1 Assessment (Lessons 1–6). Keep it to about 15 minutes, then go back to the Topic 2 lesson.</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5.4, 20–25 minutes. To begin Day 3, have a student read the Essential Question aloud. Have pairs work Questions 1–10, then share. Write the y-intercepts as ordered pairs. For #5 the trap is reading (3, −9) as the y-intercept; that's just a point. Distribute: y + 9 = 6x − 18, so y = 6x − 27. For #2, ask: How did you find the slope? What's another way? (−A/B = −4/6, or solve for y.) Look for students who drop the sign of B when using −A/B.</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the Talk, 20–25 minutes. Have pairs complete Questions 1–3, then share. For each context students write an equation, name the form and why, graph it, and explain the graphing method. Ask: Does 2x + 3y = 36 or 3x + 2y = 36 represent this? Which axis is which? Reasoning will vary; using the intercepts is natural because the equation is in standard form. Only whole-number points make sense (Joey can't get half a question right), such as (3, 10) and (9, 6). Note: the student book also lists a bullet about matching transformed graphs to f(x); it doesn't apply to these questions, so skip it.</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students write their own answers first, then reveal the sample answers from the teacher guide one row at a time. Accept other reasonable answers. Teacher-guide tip for emergent bilingual students: have pairs make a table comparing the three forms, with one example line written in each form, such as y − 5 = 2(x − 4), y = 2x − 3, and 2x − y = 3, and describe the advantages of each.</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 of the Topic 1 Catch-Up. Continue with the Topic 2 lesson.</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504 support: chunked directions. Check off each part as the class finishes it.</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each objective aloud as it appears.</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504 support: preview the key terms before the lesson. Leave this slide up or print it as a reference card.</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students write the Essential Question at the top of their notes. Don't answer it yet; we come back to it at the end of the lesson.</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Getting Started, 5–10 minutes. To find the x-intercept, set the function equal to 0: 3x − 8 = 0 gives x = 8/3; −(2/3)x + 5 = 0 gives x = 7.5.</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2.1, 30–35 minutes. A horizontal translation left 3 subtracts 3 from each input value; the outputs stay the same.Ask: Which values were affected? (Left 3 changed the inputs; up 3 changed the outputs.)</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Watch the sign: f(x − 3) moves right 3, f(x + 3) moves left 3.</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Teacher-guide misconception: students expect left 4 to equal up 4 for every line. It works only for slope 1. Slide typos in the student slides: some items labeled 'a.' are b, c and d.</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 of Day 1.</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504 support: a copy of the day's notes. Hand out a printed copy if the student's plan lists copies of notes.</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 ends here on Monday, October 26.</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 starts here on an extra Lesson 2 day.</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for this deck; not from the textbook. Have this up as students walk in; they work silently while you take attendance (about 5 minutes). The same 4 questions are on the online Day 2 bell work. Reveal the answers one at a time. Answer key: 1. A horizontal translation right 5 subtracts 5 from the input: f(x − 5). 2. f(x − 5) = x − 5 = f(x) − 5, a vertical translation down 5. 3. 2(x + 4) − 1 = 2x + 8 − 1 = 2x + 7. 4. Right 2 means f(x − 2) = 3(x − 2). Distribute: 3x − 6.</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Catch-up from Topic 1 Lesson 6 so the class is ready for the End of Topic 1 Assessment (Lessons 1–6). Keep it to about 15 minutes, then go back to the Topic 2 lesson.</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Getting Started, 10–15 minutes. Have pairs complete Question 1 before you reveal anything, then share as a class. Teacher-guide misconception: students may think that because they know a formula for a relationship, like Scenario C, the relationship must be linear. Have them use the formula to make a table (side 1, 2, 3 → area 1, 4, 9; the differences are 3 and 5, not constant). Ask: What is another way to describe "decreases by 50% each hour"? (Multiplied by one-half each hour.) Which feature identifies whether an equation is a linear function? (The variable's exponent is 1 and it isn't in an exponent.)</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6.1, 25–30 minutes. Read the introduction together, then have pairs complete Questions 1–4 and share. Teacher-guide misconception: students try first differences even though the inputs aren't consecutive. In part (b) the y-values go up by 8 every time, which looks linear, but the last x-step is 4, not 2, so the rate drops to 2. Ask: Why can't you use first differences here? How did you find the y-intercept in part (a)? (Go back 1 from x = 1: y goes up 0.25 to 5.) The teacher guide writes the answer as f(x) = −0.25x + 5.</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Stamp the learning, from the teacher guide: "If a table represents a linear function, the slope, or average rate of change, is constant between all given points." To close Day 1, have students reread the Essential Question and read the activity summaries to the class. End of Day 1.</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 of the Topic 1 Catch-Up. Continue with the Topic 2 lesson.</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504 support: chunked directions. Check off each part as the class finishes it.</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2.2, 15–20 minutes. Changing the inputs by a factor of 1/2 is a horizontal compression: each point moves halfway to the y-axis.</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Why are the tables different if the graphs are the same? (They list different points of the same line.)</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Counterexamples will vary; any linear function other than f(x) = x works.</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2.3, 15–20 minutes. Graph each g(x) on the grids in the book: plot the y-intercept and use the slope. Slide typo in the student slides: items 2, 3, 5 and 6 are numbered '1.'</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the Talk, 5 minutes. For f(x) = x, f(x) + 8 is also f(x + 8), and f(⅓x) is also ⅓f(x).</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504 support: a copy of the day's notes. Hand out a printed copy if the student's plan lists copies of notes.</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students answer the Essential Question on the lesson opener page.</a:t>
            </a: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for this deck; not from the textbook. Give 3–4 minutes, collect the answers, and use them to decide who needs Skills Practice. Work: 1. Adding to the input moves left. 2. 3(x − 2) + 1 = 3x − 5. 3. f(5x) = 5x = 5f(x).</a:t>
            </a: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 ends here on an extra Lesson 2 day.</a:t>
            </a: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the Lesson 2 Assignment. TE correction: the teacher guide gives the reciprocal of −10 as 1/10; it is −1/10, since (−10)(−1/10) = 1.</a:t>
            </a: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for this deck; not from the textbook. Click a title to open it in a new tab. Put the day's bell work link up as students walk in. The 150-day pacing calendar (topic2-pacing-150.html) gives the day for each homework and quiz.</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pattFill prst="lgGrid">
          <a:fgClr>
            <a:srgbClr val="E6E8F2"/>
          </a:fgClr>
          <a:bgClr>
            <a:srgbClr val="F7F7FB"/>
          </a:bgClr>
        </a:pattFill>
        <a:effectLst/>
      </p:bgPr>
    </p:bg>
    <p:spTree>
      <p:nvGrpSpPr>
        <p:cNvPr id="1" name=""/>
        <p:cNvGrpSpPr/>
        <p:nvPr/>
      </p:nvGrpSpPr>
      <p:grpSpPr>
        <a:xfrm>
          <a:off x="0" y="0"/>
          <a:ext cx="0" cy="0"/>
          <a:chOff x="0" y="0"/>
          <a:chExt cx="0" cy="0"/>
        </a:xfrm>
      </p:grpSpPr>
      <p:sp>
        <p:nvSpPr>
          <p:cNvPr id="101" name="Brand 101"/>
          <p:cNvSpPr/>
          <p:nvPr userDrawn="1"/>
        </p:nvSpPr>
        <p:spPr>
          <a:xfrm>
            <a:off x="9631375" y="128016"/>
            <a:ext cx="274320" cy="274320"/>
          </a:xfrm>
          <a:prstGeom prst="roundRect">
            <a:avLst>
              <a:gd name="adj" fmla="val 25000"/>
            </a:avLst>
          </a:prstGeom>
          <a:solidFill>
            <a:srgbClr val="3050B8"/>
          </a:solidFill>
          <a:ln>
            <a:noFill/>
          </a:ln>
        </p:spPr>
      </p:sp>
      <p:sp>
        <p:nvSpPr>
          <p:cNvPr id="102" name="Brand 102"/>
          <p:cNvSpPr/>
          <p:nvPr userDrawn="1"/>
        </p:nvSpPr>
        <p:spPr>
          <a:xfrm>
            <a:off x="9748818" y="172593"/>
            <a:ext cx="39434" cy="39434"/>
          </a:xfrm>
          <a:prstGeom prst="ellipse">
            <a:avLst/>
          </a:prstGeom>
          <a:solidFill>
            <a:srgbClr val="FFFFFF"/>
          </a:solidFill>
          <a:ln>
            <a:noFill/>
          </a:ln>
        </p:spPr>
      </p:sp>
      <p:sp>
        <p:nvSpPr>
          <p:cNvPr id="103" name="Brand 103"/>
          <p:cNvSpPr/>
          <p:nvPr userDrawn="1"/>
        </p:nvSpPr>
        <p:spPr>
          <a:xfrm>
            <a:off x="9719672" y="207740"/>
            <a:ext cx="42862" cy="42862"/>
          </a:xfrm>
          <a:prstGeom prst="ellipse">
            <a:avLst/>
          </a:prstGeom>
          <a:solidFill>
            <a:srgbClr val="FFFFFF">
              <a:alpha val="92000"/>
            </a:srgbClr>
          </a:solidFill>
          <a:ln>
            <a:noFill/>
          </a:ln>
        </p:spPr>
      </p:sp>
      <p:sp>
        <p:nvSpPr>
          <p:cNvPr id="104" name="Brand 104"/>
          <p:cNvSpPr/>
          <p:nvPr userDrawn="1"/>
        </p:nvSpPr>
        <p:spPr>
          <a:xfrm>
            <a:off x="9774536" y="207740"/>
            <a:ext cx="42862" cy="42862"/>
          </a:xfrm>
          <a:prstGeom prst="ellipse">
            <a:avLst/>
          </a:prstGeom>
          <a:solidFill>
            <a:srgbClr val="FFFFFF">
              <a:alpha val="92000"/>
            </a:srgbClr>
          </a:solidFill>
          <a:ln>
            <a:noFill/>
          </a:ln>
        </p:spPr>
      </p:sp>
      <p:sp>
        <p:nvSpPr>
          <p:cNvPr id="105" name="Brand 105"/>
          <p:cNvSpPr/>
          <p:nvPr userDrawn="1"/>
        </p:nvSpPr>
        <p:spPr>
          <a:xfrm>
            <a:off x="9746247" y="230886"/>
            <a:ext cx="44577" cy="44577"/>
          </a:xfrm>
          <a:prstGeom prst="ellipse">
            <a:avLst/>
          </a:prstGeom>
          <a:solidFill>
            <a:srgbClr val="FFFFFF"/>
          </a:solidFill>
          <a:ln>
            <a:noFill/>
          </a:ln>
        </p:spPr>
      </p:sp>
      <p:sp>
        <p:nvSpPr>
          <p:cNvPr id="106" name="Brand 106"/>
          <p:cNvSpPr/>
          <p:nvPr userDrawn="1"/>
        </p:nvSpPr>
        <p:spPr>
          <a:xfrm>
            <a:off x="9709385" y="255746"/>
            <a:ext cx="46292" cy="46292"/>
          </a:xfrm>
          <a:prstGeom prst="ellipse">
            <a:avLst/>
          </a:prstGeom>
          <a:solidFill>
            <a:srgbClr val="FFFFFF">
              <a:alpha val="82000"/>
            </a:srgbClr>
          </a:solidFill>
          <a:ln>
            <a:noFill/>
          </a:ln>
        </p:spPr>
      </p:sp>
      <p:sp>
        <p:nvSpPr>
          <p:cNvPr id="107" name="Brand 107"/>
          <p:cNvSpPr/>
          <p:nvPr userDrawn="1"/>
        </p:nvSpPr>
        <p:spPr>
          <a:xfrm>
            <a:off x="9781394" y="255746"/>
            <a:ext cx="46292" cy="46292"/>
          </a:xfrm>
          <a:prstGeom prst="ellipse">
            <a:avLst/>
          </a:prstGeom>
          <a:solidFill>
            <a:srgbClr val="FFFFFF">
              <a:alpha val="82000"/>
            </a:srgbClr>
          </a:solidFill>
          <a:ln>
            <a:noFill/>
          </a:ln>
        </p:spPr>
      </p:sp>
      <p:sp>
        <p:nvSpPr>
          <p:cNvPr id="108" name="Brand 108"/>
          <p:cNvSpPr/>
          <p:nvPr userDrawn="1"/>
        </p:nvSpPr>
        <p:spPr>
          <a:xfrm>
            <a:off x="9761677" y="303752"/>
            <a:ext cx="13716" cy="55721"/>
          </a:xfrm>
          <a:prstGeom prst="roundRect">
            <a:avLst>
              <a:gd name="adj" fmla="val 50000"/>
            </a:avLst>
          </a:prstGeom>
          <a:solidFill>
            <a:srgbClr val="9FD18B"/>
          </a:solidFill>
          <a:ln>
            <a:noFill/>
          </a:ln>
        </p:spPr>
      </p:sp>
      <p:sp>
        <p:nvSpPr>
          <p:cNvPr id="109" name="Shape 109"/>
          <p:cNvSpPr txBox="1"/>
          <p:nvPr/>
        </p:nvSpPr>
        <p:spPr>
          <a:xfrm>
            <a:off x="9960559" y="109728"/>
            <a:ext cx="1737360" cy="310896"/>
          </a:xfrm>
          <a:prstGeom prst="rect">
            <a:avLst/>
          </a:prstGeom>
          <a:noFill/>
          <a:ln>
            <a:noFill/>
          </a:ln>
        </p:spPr>
        <p:txBody>
          <a:bodyPr wrap="square" lIns="18288" tIns="0" rIns="18288" bIns="0" anchor="ctr">
            <a:noAutofit/>
          </a:bodyPr>
          <a:lstStyle/>
          <a:p>
            <a:pPr algn="l">
              <a:lnSpc>
                <a:spcPct val="100000"/>
              </a:lnSpc>
            </a:pPr>
            <a:r>
              <a:rPr lang="en-US" sz="1125" dirty="0">
                <a:solidFill>
                  <a:srgbClr val="16171D"/>
                </a:solidFill>
                <a:latin typeface="Segoe UI"/>
                <a:cs typeface="Segoe UI"/>
              </a:rPr>
              <a:t xml:space="preserve">Bluebonnet </a:t>
            </a:r>
            <a:r>
              <a:rPr lang="en-US" sz="1125" dirty="0" b="1">
                <a:solidFill>
                  <a:srgbClr val="3050B8"/>
                </a:solidFill>
                <a:latin typeface="Segoe UI"/>
                <a:cs typeface="Segoe UI"/>
              </a:rPr>
              <a:t xml:space="preserve">Algebra I</a:t>
            </a:r>
            <a:endParaRPr lang="en-US" sz="1125" dirty="0"/>
          </a:p>
        </p:txBody>
      </p:sp>
    </p:spTree>
  </p:cSld>
  <p:clrMap bg1="lt1" tx1="dk1" bg2="lt2" tx2="dk2" accent1="accent1" accent2="accent2" accent3="accent3" accent4="accent4" accent5="accent5" accent6="accent6" hlink="hlink" folHlink="folHlink"/>
  <p:sldLayoutIdLst>
    <p:sldLayoutId id="2147483649" r:id="rId1"/>
  </p:sldLayoutId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hyperlink" Target="https://algebra1m2u1l4.vercel.app/Section 504/t2-lesson2-bellwork-day1-504.html" TargetMode="External"/><Relationship Id="rId4" Type="http://schemas.openxmlformats.org/officeDocument/2006/relationships/hyperlink" Target="https://algebra1m2u1l4.vercel.app/Section 504/t2-lesson2-bellwork-day2-504.html" TargetMode="External"/><Relationship Id="rId5" Type="http://schemas.openxmlformats.org/officeDocument/2006/relationships/hyperlink" Target="https://algebra1m2u1l4.vercel.app/Section 504/t2-lesson2-homework-504.html" TargetMode="External"/><Relationship Id="rId6" Type="http://schemas.openxmlformats.org/officeDocument/2006/relationships/hyperlink" Target="https://algebra1m2u1l4.vercel.app/Section 504/t2-lesson2-quiz-504.html" TargetMode="External"/><Relationship Id="rId7" Type="http://schemas.openxmlformats.org/officeDocument/2006/relationships/hyperlink" Target="https://creativecommons.org/licenses/by-nc/4.0/"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hyperlink" Target="https://algebra1m2u1l4.vercel.app/Section 504/lesson5-homework-504.html" TargetMode="External"/><Relationship Id="rId4" Type="http://schemas.openxmlformats.org/officeDocument/2006/relationships/hyperlink" Target="https://algebra1m2u1l4.vercel.app/Section 504/lesson5-quiz-504.html"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hyperlink" Target="https://algebra1m2u1l4.vercel.app/Section 504/lesson6-homework-504.html" TargetMode="External"/><Relationship Id="rId4" Type="http://schemas.openxmlformats.org/officeDocument/2006/relationships/hyperlink" Target="https://algebra1m2u1l4.vercel.app/Section 504/lesson6-quiz-504.html"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 Id="rId3" Type="http://schemas.openxmlformats.org/officeDocument/2006/relationships/hyperlink" Target="https://algebra1m2u1l4.vercel.app/Section 504/t2-lesson2-bellwork-day1-504.html" TargetMode="External"/><Relationship Id="rId4" Type="http://schemas.openxmlformats.org/officeDocument/2006/relationships/hyperlink" Target="https://algebra1m2u1l4.vercel.app/Section 504/t2-lesson2-bellwork-day2-504.html" TargetMode="External"/><Relationship Id="rId5" Type="http://schemas.openxmlformats.org/officeDocument/2006/relationships/hyperlink" Target="https://algebra1m2u1l4.vercel.app/Section 504/t2-lesson2-homework-504.html" TargetMode="External"/><Relationship Id="rId6" Type="http://schemas.openxmlformats.org/officeDocument/2006/relationships/hyperlink" Target="https://algebra1m2u1l4.vercel.app/Section 504/t2-lesson2-quiz-504.html"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Bluebonnet Algebra I · Module 2 · Topic 2 · Lesson 2 · Student Edition pp. 287–304</a:t>
            </a:r>
            <a:endParaRPr lang="en-US" sz="1200" dirty="0"/>
          </a:p>
        </p:txBody>
      </p:sp>
      <p:sp>
        <p:nvSpPr>
          <p:cNvPr id="3" name="Shape 3"/>
          <p:cNvSpPr txBox="1"/>
          <p:nvPr/>
        </p:nvSpPr>
        <p:spPr>
          <a:xfrm>
            <a:off x="685800" y="923544"/>
            <a:ext cx="10820095" cy="1335024"/>
          </a:xfrm>
          <a:prstGeom prst="rect">
            <a:avLst/>
          </a:prstGeom>
          <a:noFill/>
          <a:ln>
            <a:noFill/>
          </a:ln>
        </p:spPr>
        <p:txBody>
          <a:bodyPr wrap="square" lIns="36576" tIns="27432" rIns="36576" bIns="27432" anchor="t">
            <a:noAutofit/>
          </a:bodyPr>
          <a:lstStyle/>
          <a:p>
            <a:pPr algn="l">
              <a:lnSpc>
                <a:spcPct val="100000"/>
              </a:lnSpc>
            </a:pPr>
            <a:r>
              <a:rPr lang="en-US" sz="4200" dirty="0" b="1">
                <a:solidFill>
                  <a:srgbClr val="16171D"/>
                </a:solidFill>
                <a:latin typeface="Segoe UI"/>
                <a:cs typeface="Segoe UI"/>
              </a:rPr>
              <a:t xml:space="preserve">Vertical and Horizontal Transformations of Linear Functions</a:t>
            </a:r>
            <a:endParaRPr lang="en-US" sz="4200" dirty="0"/>
          </a:p>
        </p:txBody>
      </p:sp>
      <p:sp>
        <p:nvSpPr>
          <p:cNvPr id="4" name="Shape 4"/>
          <p:cNvSpPr txBox="1"/>
          <p:nvPr/>
        </p:nvSpPr>
        <p:spPr>
          <a:xfrm>
            <a:off x="685800" y="2430018"/>
            <a:ext cx="10820095" cy="397764"/>
          </a:xfrm>
          <a:prstGeom prst="roundRect">
            <a:avLst>
              <a:gd name="adj" fmla="val 8000"/>
            </a:avLst>
          </a:prstGeom>
          <a:solidFill>
            <a:srgbClr val="FDF3E7"/>
          </a:solidFill>
          <a:ln>
            <a:noFill/>
          </a:ln>
        </p:spPr>
        <p:txBody>
          <a:bodyPr wrap="square" lIns="164592" tIns="73152" rIns="164592" bIns="73152" anchor="ctr">
            <a:noAutofit/>
          </a:bodyPr>
          <a:lstStyle/>
          <a:p>
            <a:pPr algn="l">
              <a:lnSpc>
                <a:spcPct val="100000"/>
              </a:lnSpc>
            </a:pPr>
            <a:r>
              <a:rPr lang="en-US" sz="1650" dirty="0">
                <a:solidFill>
                  <a:srgbClr val="16171D"/>
                </a:solidFill>
                <a:latin typeface="Segoe UI"/>
                <a:cs typeface="Segoe UI"/>
              </a:rPr>
              <a:t xml:space="preserve">Adds a 15-minute Topic 1 Catch-Up (Lessons 5–6) each day · Day 1: Mon, Oct 26 · Day 2: extra day</a:t>
            </a:r>
            <a:endParaRPr lang="en-US" sz="1650" dirty="0"/>
          </a:p>
        </p:txBody>
      </p:sp>
      <p:sp>
        <p:nvSpPr>
          <p:cNvPr id="5" name="Shape 5"/>
          <p:cNvSpPr txBox="1"/>
          <p:nvPr/>
        </p:nvSpPr>
        <p:spPr>
          <a:xfrm>
            <a:off x="685800" y="3075432"/>
            <a:ext cx="10820095" cy="512064"/>
          </a:xfrm>
          <a:prstGeom prst="rect">
            <a:avLst/>
          </a:prstGeom>
          <a:noFill/>
          <a:ln>
            <a:noFill/>
          </a:ln>
        </p:spPr>
        <p:txBody>
          <a:bodyPr wrap="square" lIns="36576" tIns="27432" rIns="36576" bIns="27432" anchor="t">
            <a:noAutofit/>
          </a:bodyPr>
          <a:lstStyle/>
          <a:p>
            <a:pPr algn="l">
              <a:lnSpc>
                <a:spcPct val="100000"/>
              </a:lnSpc>
            </a:pPr>
            <a:r>
              <a:rPr lang="en-US" sz="3000" dirty="0" i="1">
                <a:solidFill>
                  <a:srgbClr val="16171D"/>
                </a:solidFill>
                <a:latin typeface="Cambria"/>
                <a:cs typeface="Cambria"/>
              </a:rPr>
              <a:t xml:space="preserve">y</a:t>
            </a:r>
            <a:r>
              <a:rPr lang="en-US" sz="3000" dirty="0">
                <a:solidFill>
                  <a:srgbClr val="16171D"/>
                </a:solidFill>
                <a:latin typeface="Cambria"/>
                <a:cs typeface="Cambria"/>
              </a:rPr>
              <a:t xml:space="preserve"> = </a:t>
            </a:r>
            <a:r>
              <a:rPr lang="en-US" sz="3000" dirty="0" b="1" i="1">
                <a:solidFill>
                  <a:srgbClr val="C9561F"/>
                </a:solidFill>
                <a:latin typeface="Cambria"/>
                <a:cs typeface="Cambria"/>
              </a:rPr>
              <a:t xml:space="preserve">a</a:t>
            </a:r>
            <a:r>
              <a:rPr lang="en-US" sz="3000" dirty="0">
                <a:solidFill>
                  <a:srgbClr val="16171D"/>
                </a:solidFill>
                <a:latin typeface="Cambria"/>
                <a:cs typeface="Cambria"/>
              </a:rPr>
              <a:t xml:space="preserve"> · </a:t>
            </a:r>
            <a:r>
              <a:rPr lang="en-US" sz="3000" dirty="0" i="1">
                <a:solidFill>
                  <a:srgbClr val="16171D"/>
                </a:solidFill>
                <a:latin typeface="Cambria"/>
                <a:cs typeface="Cambria"/>
              </a:rPr>
              <a:t xml:space="preserve">f</a:t>
            </a:r>
            <a:r>
              <a:rPr lang="en-US" sz="3000" dirty="0">
                <a:solidFill>
                  <a:srgbClr val="16171D"/>
                </a:solidFill>
                <a:latin typeface="Cambria"/>
                <a:cs typeface="Cambria"/>
              </a:rPr>
              <a:t xml:space="preserve">(</a:t>
            </a:r>
            <a:r>
              <a:rPr lang="en-US" sz="3000" dirty="0" b="1" i="1">
                <a:solidFill>
                  <a:srgbClr val="C9561F"/>
                </a:solidFill>
                <a:latin typeface="Cambria"/>
                <a:cs typeface="Cambria"/>
              </a:rPr>
              <a:t xml:space="preserve">b</a:t>
            </a:r>
            <a:r>
              <a:rPr lang="en-US" sz="3000" dirty="0">
                <a:solidFill>
                  <a:srgbClr val="16171D"/>
                </a:solidFill>
                <a:latin typeface="Cambria"/>
                <a:cs typeface="Cambria"/>
              </a:rPr>
              <a:t xml:space="preserve">(</a:t>
            </a:r>
            <a:r>
              <a:rPr lang="en-US" sz="3000" dirty="0" i="1">
                <a:solidFill>
                  <a:srgbClr val="16171D"/>
                </a:solidFill>
                <a:latin typeface="Cambria"/>
                <a:cs typeface="Cambria"/>
              </a:rPr>
              <a:t xml:space="preserve">x</a:t>
            </a:r>
            <a:r>
              <a:rPr lang="en-US" sz="3000" dirty="0">
                <a:solidFill>
                  <a:srgbClr val="16171D"/>
                </a:solidFill>
                <a:latin typeface="Cambria"/>
                <a:cs typeface="Cambria"/>
              </a:rPr>
              <a:t xml:space="preserve"> − </a:t>
            </a:r>
            <a:r>
              <a:rPr lang="en-US" sz="3000" dirty="0" b="1" i="1">
                <a:solidFill>
                  <a:srgbClr val="3050B8"/>
                </a:solidFill>
                <a:latin typeface="Cambria"/>
                <a:cs typeface="Cambria"/>
              </a:rPr>
              <a:t xml:space="preserve">c</a:t>
            </a:r>
            <a:r>
              <a:rPr lang="en-US" sz="3000" dirty="0">
                <a:solidFill>
                  <a:srgbClr val="16171D"/>
                </a:solidFill>
                <a:latin typeface="Cambria"/>
                <a:cs typeface="Cambria"/>
              </a:rPr>
              <a:t xml:space="preserve">)) + </a:t>
            </a:r>
            <a:r>
              <a:rPr lang="en-US" sz="3000" dirty="0" b="1" i="1">
                <a:solidFill>
                  <a:srgbClr val="3050B8"/>
                </a:solidFill>
                <a:latin typeface="Cambria"/>
                <a:cs typeface="Cambria"/>
              </a:rPr>
              <a:t xml:space="preserve">d</a:t>
            </a:r>
            <a:endParaRPr lang="en-US" sz="3000" dirty="0"/>
          </a:p>
        </p:txBody>
      </p:sp>
      <p:sp>
        <p:nvSpPr>
          <p:cNvPr id="6" name="Shape 6"/>
          <p:cNvSpPr txBox="1"/>
          <p:nvPr/>
        </p:nvSpPr>
        <p:spPr>
          <a:xfrm>
            <a:off x="685800" y="3816096"/>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b="1">
                <a:solidFill>
                  <a:srgbClr val="16171D"/>
                </a:solidFill>
                <a:latin typeface="Segoe UI"/>
                <a:cs typeface="Segoe UI"/>
              </a:rPr>
              <a:t xml:space="preserve">Section 504 Version</a:t>
            </a:r>
            <a:endParaRPr lang="en-US" sz="1800" dirty="0"/>
          </a:p>
        </p:txBody>
      </p:sp>
      <p:sp>
        <p:nvSpPr>
          <p:cNvPr id="7" name="Shape 7"/>
          <p:cNvSpPr txBox="1"/>
          <p:nvPr/>
        </p:nvSpPr>
        <p:spPr>
          <a:xfrm>
            <a:off x="685800" y="4373880"/>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a:solidFill>
                  <a:srgbClr val="16171D"/>
                </a:solidFill>
                <a:latin typeface="Segoe UI"/>
                <a:cs typeface="Segoe UI"/>
              </a:rPr>
              <a:t xml:space="preserve">Bell work: </a:t>
            </a:r>
            <a:r>
              <a:rPr lang="en-US" sz="1800" dirty="0" b="1">
                <a:solidFill>
                  <a:srgbClr val="3050B8"/>
                </a:solidFill>
                <a:latin typeface="Segoe UI"/>
                <a:cs typeface="Segoe UI"/>
                <a:hlinkClick r:id="rId3"/>
              </a:rPr>
              <a:t xml:space="preserve">Day 1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4"/>
              </a:rPr>
              <a:t xml:space="preserve">Day 2 →</a:t>
            </a:r>
            <a:r>
              <a:rPr lang="en-US" sz="1800" dirty="0">
                <a:solidFill>
                  <a:srgbClr val="16171D"/>
                </a:solidFill>
                <a:latin typeface="Segoe UI"/>
                <a:cs typeface="Segoe UI"/>
              </a:rPr>
              <a:t xml:space="preserve"> | Practice: </a:t>
            </a:r>
            <a:r>
              <a:rPr lang="en-US" sz="1800" dirty="0" b="1">
                <a:solidFill>
                  <a:srgbClr val="3050B8"/>
                </a:solidFill>
                <a:latin typeface="Segoe UI"/>
                <a:cs typeface="Segoe UI"/>
                <a:hlinkClick r:id="rId5"/>
              </a:rPr>
              <a:t xml:space="preserve">Homework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6"/>
              </a:rPr>
              <a:t xml:space="preserve">Quiz →</a:t>
            </a:r>
            <a:endParaRPr lang="en-US" sz="1800" dirty="0"/>
          </a:p>
        </p:txBody>
      </p:sp>
      <p:sp>
        <p:nvSpPr>
          <p:cNvPr id="8" name="Shape 8"/>
          <p:cNvSpPr txBox="1"/>
          <p:nvPr/>
        </p:nvSpPr>
        <p:spPr>
          <a:xfrm>
            <a:off x="685800" y="4874514"/>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Click, or press → / Space, to reveal each step. ← goes back. F = full screen.</a:t>
            </a:r>
            <a:endParaRPr lang="en-US" sz="1575" dirty="0"/>
          </a:p>
        </p:txBody>
      </p:sp>
      <p:sp>
        <p:nvSpPr>
          <p:cNvPr id="9" name="Shape 9"/>
          <p:cNvSpPr txBox="1"/>
          <p:nvPr/>
        </p:nvSpPr>
        <p:spPr>
          <a:xfrm>
            <a:off x="685800" y="5500116"/>
            <a:ext cx="10820095" cy="1083564"/>
          </a:xfrm>
          <a:prstGeom prst="rect">
            <a:avLst/>
          </a:prstGeom>
          <a:noFill/>
          <a:ln>
            <a:noFill/>
          </a:ln>
        </p:spPr>
        <p:txBody>
          <a:bodyPr wrap="square" lIns="36576" tIns="27432" rIns="36576" bIns="27432" anchor="t">
            <a:noAutofit/>
          </a:bodyPr>
          <a:lstStyle/>
          <a:p>
            <a:pPr algn="l">
              <a:lnSpc>
                <a:spcPct val="100000"/>
              </a:lnSpc>
            </a:pPr>
            <a:r>
              <a:rPr lang="en-US" sz="1125" dirty="0" b="1">
                <a:solidFill>
                  <a:srgbClr val="5F6272"/>
                </a:solidFill>
                <a:latin typeface="Segoe UI"/>
                <a:cs typeface="Segoe UI"/>
              </a:rPr>
              <a:t xml:space="preserve">Bluebonnet Algebra I</a:t>
            </a:r>
            <a:r>
              <a:rPr lang="en-US" sz="1125" dirty="0">
                <a:solidFill>
                  <a:srgbClr val="5F6272"/>
                </a:solidFill>
                <a:latin typeface="Segoe UI"/>
                <a:cs typeface="Segoe UI"/>
              </a:rPr>
              <a:t xml:space="preserve"> · a companion to Bluebonnet Learning Secondary Mathematics, Algebra I, Edition 1</a:t>
            </a:r>
            <a:br>
              <a:rPr lang="en-US" sz="1125" dirty="0">
                <a:solidFill>
                  <a:srgbClr val="5F6272"/>
                </a:solidFill>
                <a:latin typeface="Segoe UI"/>
                <a:cs typeface="Segoe UI"/>
              </a:rPr>
            </a:br>
            <a:r>
              <a:rPr lang="en-US" sz="1125" dirty="0">
                <a:solidFill>
                  <a:srgbClr val="5F6272"/>
                </a:solidFill>
                <a:latin typeface="Segoe UI"/>
                <a:cs typeface="Segoe UI"/>
              </a:rPr>
              <a:t xml:space="preserve">This work is based on original works of the Texas Education Agency and Carnegie Learning, Inc. This work is made available under a Creative Commons Attribution-Non-Commercial-4.0 International License. This does not in any way imply endorsement by those authors of this work.</a:t>
            </a:r>
            <a:br>
              <a:rPr lang="en-US" sz="1125" dirty="0">
                <a:solidFill>
                  <a:srgbClr val="5F6272"/>
                </a:solidFill>
                <a:latin typeface="Segoe UI"/>
                <a:cs typeface="Segoe UI"/>
              </a:rPr>
            </a:br>
            <a:r>
              <a:rPr lang="en-US" sz="1125" dirty="0">
                <a:solidFill>
                  <a:srgbClr val="5F6272"/>
                </a:solidFill>
                <a:latin typeface="Segoe UI"/>
                <a:cs typeface="Segoe UI"/>
              </a:rPr>
              <a:t xml:space="preserve">©2024–2025 Texas Education Agency, portions ©2021 Carnegie Learning, Inc.</a:t>
            </a:r>
            <a:br>
              <a:rPr lang="en-US" sz="1125" dirty="0">
                <a:solidFill>
                  <a:srgbClr val="5F6272"/>
                </a:solidFill>
                <a:latin typeface="Segoe UI"/>
                <a:cs typeface="Segoe UI"/>
              </a:rPr>
            </a:br>
            <a:r>
              <a:rPr lang="en-US" sz="1125" dirty="0">
                <a:solidFill>
                  <a:srgbClr val="5F6272"/>
                </a:solidFill>
                <a:latin typeface="Segoe UI"/>
                <a:cs typeface="Segoe UI"/>
              </a:rPr>
              <a:t xml:space="preserve">Licensed </a:t>
            </a:r>
            <a:r>
              <a:rPr lang="en-US" sz="1125" dirty="0">
                <a:solidFill>
                  <a:srgbClr val="3050B8"/>
                </a:solidFill>
                <a:latin typeface="Segoe UI"/>
                <a:cs typeface="Segoe UI"/>
                <a:hlinkClick r:id="rId7"/>
              </a:rPr>
              <a:t xml:space="preserve">CC BY-NC 4.0</a:t>
            </a:r>
            <a:r>
              <a:rPr lang="en-US" sz="1125" dirty="0">
                <a:solidFill>
                  <a:srgbClr val="5F6272"/>
                </a:solidFill>
                <a:latin typeface="Segoe UI"/>
                <a:cs typeface="Segoe UI"/>
              </a:rPr>
              <a:t xml:space="preserve">.</a:t>
            </a:r>
            <a:br>
              <a:rPr lang="en-US" sz="1125" dirty="0">
                <a:solidFill>
                  <a:srgbClr val="5F6272"/>
                </a:solidFill>
                <a:latin typeface="Segoe UI"/>
                <a:cs typeface="Segoe UI"/>
              </a:rPr>
            </a:br>
            <a:r>
              <a:rPr lang="en-US" sz="1125" dirty="0" b="1">
                <a:solidFill>
                  <a:srgbClr val="5F6272"/>
                </a:solidFill>
                <a:latin typeface="Segoe UI"/>
                <a:cs typeface="Segoe UI"/>
              </a:rPr>
              <a:t xml:space="preserve">This is a private site for Algebra I teachers and is not publicly available.</a:t>
            </a:r>
            <a:endParaRPr lang="en-US" sz="1125" dirty="0"/>
          </a:p>
        </p:txBody>
      </p:sp>
      <p:sp>
        <p:nvSpPr>
          <p:cNvPr id="10" name="Slide Number 10"/>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a:t>
            </a:fld>
          </a:p>
        </p:txBody>
      </p:sp>
    </p:spTree>
  </p:cSld>
  <p:clrMapOvr>
    <a:masterClrMapping/>
  </p:clrMapOvr>
  <p:transition spd="med">
    <p:fade/>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2 · Day 1 of 2 · Start here</a:t>
            </a:r>
            <a:endParaRPr lang="en-US" sz="1200" dirty="0"/>
          </a:p>
        </p:txBody>
      </p:sp>
      <p:sp>
        <p:nvSpPr>
          <p:cNvPr id="3" name="Shape 3"/>
          <p:cNvSpPr txBox="1"/>
          <p:nvPr/>
        </p:nvSpPr>
        <p:spPr>
          <a:xfrm>
            <a:off x="685800" y="2512314"/>
            <a:ext cx="10820095" cy="25694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Start: Monday, October 26</a:t>
            </a:r>
            <a:endParaRPr lang="en-US" sz="8250" dirty="0"/>
          </a:p>
        </p:txBody>
      </p:sp>
      <p:sp>
        <p:nvSpPr>
          <p:cNvPr id="4" name="Shape 4"/>
          <p:cNvSpPr txBox="1"/>
          <p:nvPr/>
        </p:nvSpPr>
        <p:spPr>
          <a:xfrm>
            <a:off x="685800" y="5253228"/>
            <a:ext cx="10820095" cy="694944"/>
          </a:xfrm>
          <a:prstGeom prst="rect">
            <a:avLst/>
          </a:prstGeom>
          <a:noFill/>
          <a:ln>
            <a:noFill/>
          </a:ln>
        </p:spPr>
        <p:txBody>
          <a:bodyPr wrap="square" lIns="36576" tIns="27432" rIns="36576" bIns="27432" anchor="t">
            <a:noAutofit/>
          </a:bodyPr>
          <a:lstStyle/>
          <a:p>
            <a:pPr algn="l">
              <a:lnSpc>
                <a:spcPct val="100000"/>
              </a:lnSpc>
            </a:pPr>
            <a:r>
              <a:rPr lang="en-US" sz="2100" dirty="0">
                <a:solidFill>
                  <a:srgbClr val="16171D"/>
                </a:solidFill>
                <a:latin typeface="Segoe UI"/>
                <a:cs typeface="Segoe UI"/>
              </a:rPr>
              <a:t xml:space="preserve">Today: bell work → Topic 1 catch-up (Slope and y-intercept from any form) → Lesson 2, Day 1.</a:t>
            </a:r>
            <a:endParaRPr lang="en-US" sz="2100" dirty="0"/>
          </a:p>
        </p:txBody>
      </p:sp>
      <p:sp>
        <p:nvSpPr>
          <p:cNvPr id="5" name="Slide Number 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a:t>
            </a:fld>
          </a:p>
        </p:txBody>
      </p:sp>
    </p:spTree>
  </p:cSld>
  <p:clrMapOvr>
    <a:masterClrMapping/>
  </p:clrMapOvr>
  <p:transition spd="med">
    <p:fade/>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Bell Work · Review · Mon, Oct 26</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Warm up: work these on your own</a:t>
            </a:r>
            <a:endParaRPr lang="en-US" sz="3450" dirty="0"/>
          </a:p>
        </p:txBody>
      </p:sp>
      <p:sp>
        <p:nvSpPr>
          <p:cNvPr id="4" name="Shape 4"/>
          <p:cNvSpPr txBox="1"/>
          <p:nvPr/>
        </p:nvSpPr>
        <p:spPr>
          <a:xfrm>
            <a:off x="685800" y="1675638"/>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x</a:t>
            </a:r>
            <a:r>
              <a:rPr lang="en-US" sz="1950" dirty="0">
                <a:solidFill>
                  <a:srgbClr val="16171D"/>
                </a:solidFill>
                <a:latin typeface="Segoe UI"/>
                <a:cs typeface="Segoe UI"/>
              </a:rPr>
              <a:t xml:space="preserve"> and </a:t>
            </a:r>
            <a:r>
              <a:rPr lang="en-US" sz="1950" dirty="0" i="1">
                <a:solidFill>
                  <a:srgbClr val="16171D"/>
                </a:solidFill>
                <a:latin typeface="Cambria"/>
                <a:cs typeface="Cambria"/>
              </a:rPr>
              <a:t xml:space="preserve">g</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− 3</a:t>
            </a:r>
            <a:r>
              <a:rPr lang="en-US" sz="1950" dirty="0">
                <a:solidFill>
                  <a:srgbClr val="16171D"/>
                </a:solidFill>
                <a:latin typeface="Segoe UI"/>
                <a:cs typeface="Segoe UI"/>
              </a:rPr>
              <a:t xml:space="preserve">. How does the graph move?</a:t>
            </a:r>
            <a:endParaRPr lang="en-US" sz="1950" dirty="0"/>
          </a:p>
        </p:txBody>
      </p:sp>
      <p:sp>
        <p:nvSpPr>
          <p:cNvPr id="5" name="Shape 5"/>
          <p:cNvSpPr txBox="1"/>
          <p:nvPr/>
        </p:nvSpPr>
        <p:spPr>
          <a:xfrm>
            <a:off x="685800" y="2458212"/>
            <a:ext cx="3902979"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Down 3 units</a:t>
            </a:r>
            <a:endParaRPr lang="en-US" sz="2325" dirty="0"/>
          </a:p>
        </p:txBody>
      </p:sp>
      <p:sp>
        <p:nvSpPr>
          <p:cNvPr id="6" name="Shape 6"/>
          <p:cNvSpPr txBox="1"/>
          <p:nvPr/>
        </p:nvSpPr>
        <p:spPr>
          <a:xfrm>
            <a:off x="685800" y="3243834"/>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What is the slope of </a:t>
            </a:r>
            <a:r>
              <a:rPr lang="en-US" sz="1950" dirty="0" i="1">
                <a:solidFill>
                  <a:srgbClr val="16171D"/>
                </a:solidFill>
                <a:latin typeface="Cambria"/>
                <a:cs typeface="Cambria"/>
              </a:rPr>
              <a:t xml:space="preserve">g</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3</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− 8</a:t>
            </a:r>
            <a:r>
              <a:rPr lang="en-US" sz="1950" dirty="0">
                <a:solidFill>
                  <a:srgbClr val="16171D"/>
                </a:solidFill>
                <a:latin typeface="Segoe UI"/>
                <a:cs typeface="Segoe UI"/>
              </a:rPr>
              <a:t xml:space="preserve">? </a:t>
            </a:r>
            <a:r>
              <a:rPr lang="en-US" sz="1575" dirty="0">
                <a:solidFill>
                  <a:srgbClr val="5F6272"/>
                </a:solidFill>
                <a:latin typeface="Segoe UI"/>
                <a:cs typeface="Segoe UI"/>
              </a:rPr>
              <a:t xml:space="preserve">(SE p. 288)</a:t>
            </a:r>
            <a:endParaRPr lang="en-US" sz="1950" dirty="0"/>
          </a:p>
        </p:txBody>
      </p:sp>
      <p:sp>
        <p:nvSpPr>
          <p:cNvPr id="7" name="Shape 7"/>
          <p:cNvSpPr txBox="1"/>
          <p:nvPr/>
        </p:nvSpPr>
        <p:spPr>
          <a:xfrm>
            <a:off x="685800" y="4026408"/>
            <a:ext cx="207888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3</a:t>
            </a:r>
            <a:endParaRPr lang="en-US" sz="2325" dirty="0"/>
          </a:p>
        </p:txBody>
      </p:sp>
      <p:sp>
        <p:nvSpPr>
          <p:cNvPr id="8" name="Shape 8"/>
          <p:cNvSpPr txBox="1"/>
          <p:nvPr/>
        </p:nvSpPr>
        <p:spPr>
          <a:xfrm>
            <a:off x="6362548" y="1675638"/>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What is the </a:t>
            </a:r>
            <a:r>
              <a:rPr lang="en-US" sz="1950" dirty="0" i="1">
                <a:solidFill>
                  <a:srgbClr val="16171D"/>
                </a:solidFill>
                <a:latin typeface="Cambria"/>
                <a:cs typeface="Cambria"/>
              </a:rPr>
              <a:t xml:space="preserve">x</a:t>
            </a:r>
            <a:r>
              <a:rPr lang="en-US" sz="1950" dirty="0">
                <a:solidFill>
                  <a:srgbClr val="16171D"/>
                </a:solidFill>
                <a:latin typeface="Segoe UI"/>
                <a:cs typeface="Segoe UI"/>
              </a:rPr>
              <a:t xml:space="preserve">-intercept of </a:t>
            </a:r>
            <a:r>
              <a:rPr lang="en-US" sz="1950" dirty="0" i="1">
                <a:solidFill>
                  <a:srgbClr val="16171D"/>
                </a:solidFill>
                <a:latin typeface="Cambria"/>
                <a:cs typeface="Cambria"/>
              </a:rPr>
              <a:t xml:space="preserve">g</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3</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− 8</a:t>
            </a:r>
            <a:r>
              <a:rPr lang="en-US" sz="1950" dirty="0">
                <a:solidFill>
                  <a:srgbClr val="16171D"/>
                </a:solidFill>
                <a:latin typeface="Segoe UI"/>
                <a:cs typeface="Segoe UI"/>
              </a:rPr>
              <a:t xml:space="preserve">? </a:t>
            </a:r>
            <a:r>
              <a:rPr lang="en-US" sz="1575" dirty="0">
                <a:solidFill>
                  <a:srgbClr val="5F6272"/>
                </a:solidFill>
                <a:latin typeface="Segoe UI"/>
                <a:cs typeface="Segoe UI"/>
              </a:rPr>
              <a:t xml:space="preserve">(SE p. 288)</a:t>
            </a:r>
            <a:endParaRPr lang="en-US" sz="1950" dirty="0"/>
          </a:p>
        </p:txBody>
      </p:sp>
      <p:sp>
        <p:nvSpPr>
          <p:cNvPr id="9" name="Shape 9"/>
          <p:cNvSpPr txBox="1"/>
          <p:nvPr/>
        </p:nvSpPr>
        <p:spPr>
          <a:xfrm>
            <a:off x="6362548" y="2458212"/>
            <a:ext cx="3239673"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(8/3, 0)</a:t>
            </a:r>
            <a:endParaRPr lang="en-US" sz="2325" dirty="0"/>
          </a:p>
        </p:txBody>
      </p:sp>
      <p:sp>
        <p:nvSpPr>
          <p:cNvPr id="10" name="Shape 10"/>
          <p:cNvSpPr txBox="1"/>
          <p:nvPr/>
        </p:nvSpPr>
        <p:spPr>
          <a:xfrm>
            <a:off x="6362548" y="3243834"/>
            <a:ext cx="5143348" cy="94640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4. Let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x</a:t>
            </a:r>
            <a:r>
              <a:rPr lang="en-US" sz="1950" dirty="0">
                <a:solidFill>
                  <a:srgbClr val="16171D"/>
                </a:solidFill>
                <a:latin typeface="Segoe UI"/>
                <a:cs typeface="Segoe UI"/>
              </a:rPr>
              <a:t xml:space="preserve"> and </a:t>
            </a:r>
            <a:r>
              <a:rPr lang="en-US" sz="1950" dirty="0" i="1">
                <a:solidFill>
                  <a:srgbClr val="16171D"/>
                </a:solidFill>
                <a:latin typeface="Cambria"/>
                <a:cs typeface="Cambria"/>
              </a:rPr>
              <a:t xml:space="preserve">g</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2</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− 3</a:t>
            </a:r>
            <a:r>
              <a:rPr lang="en-US" sz="1950" dirty="0">
                <a:solidFill>
                  <a:srgbClr val="16171D"/>
                </a:solidFill>
                <a:latin typeface="Segoe UI"/>
                <a:cs typeface="Segoe UI"/>
              </a:rPr>
              <a:t xml:space="preserve">. Which is </a:t>
            </a:r>
            <a:r>
              <a:rPr lang="en-US" sz="1950" dirty="0" i="1">
                <a:solidFill>
                  <a:srgbClr val="16171D"/>
                </a:solidFill>
                <a:latin typeface="Cambria"/>
                <a:cs typeface="Cambria"/>
              </a:rPr>
              <a:t xml:space="preserve">g</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a:t>
            </a:r>
            <a:r>
              <a:rPr lang="en-US" sz="1950" dirty="0">
                <a:solidFill>
                  <a:srgbClr val="16171D"/>
                </a:solidFill>
                <a:latin typeface="Segoe UI"/>
                <a:cs typeface="Segoe UI"/>
              </a:rPr>
              <a:t xml:space="preserve"> in slope-intercept form? </a:t>
            </a:r>
            <a:r>
              <a:rPr lang="en-US" sz="1575" dirty="0">
                <a:solidFill>
                  <a:srgbClr val="5F6272"/>
                </a:solidFill>
                <a:latin typeface="Segoe UI"/>
                <a:cs typeface="Segoe UI"/>
              </a:rPr>
              <a:t xml:space="preserve">(SE p. 280)</a:t>
            </a:r>
            <a:endParaRPr lang="en-US" sz="1950" dirty="0"/>
          </a:p>
        </p:txBody>
      </p:sp>
      <p:sp>
        <p:nvSpPr>
          <p:cNvPr id="11" name="Shape 11"/>
          <p:cNvSpPr txBox="1"/>
          <p:nvPr/>
        </p:nvSpPr>
        <p:spPr>
          <a:xfrm>
            <a:off x="6362548" y="4323588"/>
            <a:ext cx="406880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g</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− 3</a:t>
            </a:r>
            <a:endParaRPr lang="en-US" sz="2325" dirty="0"/>
          </a:p>
        </p:txBody>
      </p:sp>
      <p:sp>
        <p:nvSpPr>
          <p:cNvPr id="12" name="Slide Number 12"/>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1"/>
                                        </p:tgtEl>
                                        <p:attrNameLst>
                                          <p:attrName>style.visibility</p:attrName>
                                        </p:attrNameLst>
                                      </p:cBhvr>
                                      <p:to>
                                        <p:strVal val="visible"/>
                                      </p:to>
                                    </p:set>
                                    <p:animEffect transition="in" filter="fade">
                                      <p:cBhvr>
                                        <p:cTn id="25" dur="500"/>
                                        <p:tgtEl>
                                          <p:spTgt spid="11"/>
                                        </p:tgtEl>
                                      </p:cBhvr>
                                    </p:animEffect>
                                    <p:anim calcmode="lin" valueType="num">
                                      <p:cBhvr>
                                        <p:cTn id="26" dur="500" fill="hold"/>
                                        <p:tgtEl>
                                          <p:spTgt spid="11"/>
                                        </p:tgtEl>
                                        <p:attrNameLst>
                                          <p:attrName>ppt_w</p:attrName>
                                        </p:attrNameLst>
                                      </p:cBhvr>
                                      <p:tavLst>
                                        <p:tav tm="0">
                                          <p:val>
                                            <p:fltVal val="0"/>
                                          </p:val>
                                        </p:tav>
                                        <p:tav tm="100000">
                                          <p:val>
                                            <p:strVal val="#ppt_w"/>
                                          </p:val>
                                        </p:tav>
                                      </p:tavLst>
                                    </p:anim>
                                    <p:anim calcmode="lin" valueType="num">
                                      <p:cBhvr>
                                        <p:cTn id="27"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9144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Mon, Oct 26 · about 15 minutes</a:t>
            </a:r>
            <a:endParaRPr lang="en-US" sz="1200" dirty="0"/>
          </a:p>
        </p:txBody>
      </p:sp>
      <p:sp>
        <p:nvSpPr>
          <p:cNvPr id="3" name="Shape 3"/>
          <p:cNvSpPr txBox="1"/>
          <p:nvPr/>
        </p:nvSpPr>
        <p:spPr>
          <a:xfrm>
            <a:off x="685800" y="1323594"/>
            <a:ext cx="10820095" cy="1792224"/>
          </a:xfrm>
          <a:prstGeom prst="rect">
            <a:avLst/>
          </a:prstGeom>
          <a:noFill/>
          <a:ln>
            <a:noFill/>
          </a:ln>
        </p:spPr>
        <p:txBody>
          <a:bodyPr wrap="square" lIns="36576" tIns="27432" rIns="36576" bIns="27432" anchor="t">
            <a:noAutofit/>
          </a:bodyPr>
          <a:lstStyle/>
          <a:p>
            <a:pPr algn="l">
              <a:lnSpc>
                <a:spcPct val="100000"/>
              </a:lnSpc>
            </a:pPr>
            <a:r>
              <a:rPr lang="en-US" sz="5700" dirty="0" b="1">
                <a:solidFill>
                  <a:srgbClr val="16171D"/>
                </a:solidFill>
                <a:latin typeface="Segoe UI"/>
                <a:cs typeface="Segoe UI"/>
              </a:rPr>
              <a:t xml:space="preserve">Topic 1 Lesson 5: Slope and y-intercept from any form</a:t>
            </a:r>
            <a:endParaRPr lang="en-US" sz="5700" dirty="0"/>
          </a:p>
        </p:txBody>
      </p:sp>
      <p:sp>
        <p:nvSpPr>
          <p:cNvPr id="4" name="Shape 4"/>
          <p:cNvSpPr txBox="1"/>
          <p:nvPr/>
        </p:nvSpPr>
        <p:spPr>
          <a:xfrm>
            <a:off x="685800" y="3287268"/>
            <a:ext cx="10820095" cy="7406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Lesson 2 rewrites f(x − c) in slope-intercept form, so you must read the slope and intercept from any form.</a:t>
            </a:r>
            <a:endParaRPr lang="en-US" sz="2250" dirty="0"/>
          </a:p>
        </p:txBody>
      </p:sp>
      <p:sp>
        <p:nvSpPr>
          <p:cNvPr id="5" name="Shape 5"/>
          <p:cNvSpPr txBox="1"/>
          <p:nvPr/>
        </p:nvSpPr>
        <p:spPr>
          <a:xfrm>
            <a:off x="685800" y="4199382"/>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a:solidFill>
                  <a:srgbClr val="16171D"/>
                </a:solidFill>
                <a:latin typeface="Segoe UI"/>
                <a:cs typeface="Segoe UI"/>
              </a:rPr>
              <a:t xml:space="preserve">Topic 1 Lesson 5 practice: </a:t>
            </a:r>
            <a:r>
              <a:rPr lang="en-US" sz="1800" dirty="0">
                <a:solidFill>
                  <a:srgbClr val="3050B8"/>
                </a:solidFill>
                <a:latin typeface="Segoe UI"/>
                <a:cs typeface="Segoe UI"/>
                <a:hlinkClick r:id="rId3"/>
              </a:rPr>
              <a:t xml:space="preserve">Homework →</a:t>
            </a:r>
            <a:r>
              <a:rPr lang="en-US" sz="1800" dirty="0">
                <a:solidFill>
                  <a:srgbClr val="16171D"/>
                </a:solidFill>
                <a:latin typeface="Segoe UI"/>
                <a:cs typeface="Segoe UI"/>
              </a:rPr>
              <a:t xml:space="preserve"> · </a:t>
            </a:r>
            <a:r>
              <a:rPr lang="en-US" sz="1800" dirty="0">
                <a:solidFill>
                  <a:srgbClr val="3050B8"/>
                </a:solidFill>
                <a:latin typeface="Segoe UI"/>
                <a:cs typeface="Segoe UI"/>
                <a:hlinkClick r:id="rId4"/>
              </a:rPr>
              <a:t xml:space="preserve">Quiz →</a:t>
            </a:r>
            <a:endParaRPr lang="en-US" sz="1800" dirty="0"/>
          </a:p>
        </p:txBody>
      </p:sp>
      <p:sp>
        <p:nvSpPr>
          <p:cNvPr id="6" name="Slide Number 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a:t>
            </a:fld>
          </a:p>
        </p:txBody>
      </p:sp>
    </p:spTree>
  </p:cSld>
  <p:clrMapOvr>
    <a:masterClrMapping/>
  </p:clrMapOvr>
  <p:transition spd="med">
    <p:fade/>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Lesson 5 · Activity 5.4 · Identifying Slope and y-Intercept · SE p. 231</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Find the slope and the </a:t>
            </a:r>
            <a:r>
              <a:rPr lang="en-US" sz="3450" dirty="0" b="1" i="1">
                <a:solidFill>
                  <a:srgbClr val="16171D"/>
                </a:solidFill>
                <a:latin typeface="Segoe UI"/>
                <a:cs typeface="Segoe UI"/>
              </a:rPr>
              <a:t xml:space="preserve">y</a:t>
            </a:r>
            <a:r>
              <a:rPr lang="en-US" sz="3450" dirty="0" b="1">
                <a:solidFill>
                  <a:srgbClr val="16171D"/>
                </a:solidFill>
                <a:latin typeface="Segoe UI"/>
                <a:cs typeface="Segoe UI"/>
              </a:rPr>
              <a:t xml:space="preserve">-intercept: 1–5</a:t>
            </a:r>
            <a:endParaRPr lang="en-US" sz="3450" dirty="0"/>
          </a:p>
        </p:txBody>
      </p:sp>
      <p:sp>
        <p:nvSpPr>
          <p:cNvPr id="6" name="Shape 6"/>
          <p:cNvSpPr txBox="1"/>
          <p:nvPr/>
        </p:nvSpPr>
        <p:spPr>
          <a:xfrm>
            <a:off x="685800" y="1618488"/>
            <a:ext cx="3492398" cy="138226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1.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11</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− 9</a:t>
            </a:r>
            <a:endParaRPr lang="en-US" sz="2325" dirty="0"/>
          </a:p>
        </p:txBody>
      </p:sp>
      <p:sp>
        <p:nvSpPr>
          <p:cNvPr id="5" name="Shape 5"/>
          <p:cNvSpPr txBox="1"/>
          <p:nvPr/>
        </p:nvSpPr>
        <p:spPr>
          <a:xfrm>
            <a:off x="895350" y="2294382"/>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a:t>
            </a:r>
            <a:r>
              <a:rPr lang="en-US" sz="1575" dirty="0" b="1">
                <a:solidFill>
                  <a:srgbClr val="C9561F"/>
                </a:solidFill>
                <a:latin typeface="Segoe UI"/>
                <a:cs typeface="Segoe UI"/>
              </a:rPr>
              <a:t xml:space="preserve">11</a:t>
            </a:r>
            <a:r>
              <a:rPr lang="en-US" sz="1575" dirty="0">
                <a:solidFill>
                  <a:srgbClr val="16171D"/>
                </a:solidFill>
                <a:latin typeface="Segoe UI"/>
                <a:cs typeface="Segoe UI"/>
              </a:rPr>
              <a:t xml:space="preserve">, </a:t>
            </a:r>
            <a:r>
              <a:rPr lang="en-US" sz="1575" dirty="0" b="1">
                <a:solidFill>
                  <a:srgbClr val="3050B8"/>
                </a:solidFill>
                <a:latin typeface="Segoe UI"/>
                <a:cs typeface="Segoe UI"/>
              </a:rPr>
              <a:t xml:space="preserve">(0, −9)</a:t>
            </a:r>
            <a:endParaRPr lang="en-US" sz="1575" dirty="0"/>
          </a:p>
        </p:txBody>
      </p:sp>
      <p:sp>
        <p:nvSpPr>
          <p:cNvPr id="9" name="Shape 9"/>
          <p:cNvSpPr txBox="1"/>
          <p:nvPr/>
        </p:nvSpPr>
        <p:spPr>
          <a:xfrm>
            <a:off x="4349648" y="1618488"/>
            <a:ext cx="3492398" cy="138226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7" name="Shape 7"/>
          <p:cNvSpPr txBox="1"/>
          <p:nvPr/>
        </p:nvSpPr>
        <p:spPr>
          <a:xfrm>
            <a:off x="4559198" y="1789938"/>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2. 4</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+ 6</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270</a:t>
            </a:r>
            <a:endParaRPr lang="en-US" sz="2325" dirty="0"/>
          </a:p>
        </p:txBody>
      </p:sp>
      <p:sp>
        <p:nvSpPr>
          <p:cNvPr id="8" name="Shape 8"/>
          <p:cNvSpPr txBox="1"/>
          <p:nvPr/>
        </p:nvSpPr>
        <p:spPr>
          <a:xfrm>
            <a:off x="4559198" y="2294382"/>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a:t>
            </a:r>
            <a:r>
              <a:rPr lang="en-US" sz="1575" dirty="0" b="1">
                <a:solidFill>
                  <a:srgbClr val="C9561F"/>
                </a:solidFill>
                <a:latin typeface="Segoe UI"/>
                <a:cs typeface="Segoe UI"/>
              </a:rPr>
              <a:t xml:space="preserve">−</a:t>
            </a:r>
            <a:r>
              <a:rPr lang="en-US" sz="1575" dirty="0" b="1">
                <a:solidFill>
                  <a:srgbClr val="C9561F"/>
                </a:solidFill>
                <a:latin typeface="Segoe UI"/>
                <a:cs typeface="Segoe UI"/>
              </a:rPr>
              <a:t xml:space="preserve">2</a:t>
            </a:r>
            <a:r>
              <a:rPr lang="en-US" sz="1575" dirty="0" b="1">
                <a:solidFill>
                  <a:srgbClr val="C9561F"/>
                </a:solidFill>
                <a:latin typeface="Segoe UI"/>
                <a:cs typeface="Segoe UI"/>
              </a:rPr>
              <a:t xml:space="preserve">/</a:t>
            </a:r>
            <a:r>
              <a:rPr lang="en-US" sz="1575" dirty="0" b="1">
                <a:solidFill>
                  <a:srgbClr val="C9561F"/>
                </a:solidFill>
                <a:latin typeface="Segoe UI"/>
                <a:cs typeface="Segoe UI"/>
              </a:rPr>
              <a:t xml:space="preserve">3</a:t>
            </a:r>
            <a:r>
              <a:rPr lang="en-US" sz="1575" dirty="0">
                <a:solidFill>
                  <a:srgbClr val="16171D"/>
                </a:solidFill>
                <a:latin typeface="Segoe UI"/>
                <a:cs typeface="Segoe UI"/>
              </a:rPr>
              <a:t xml:space="preserve">, </a:t>
            </a:r>
            <a:r>
              <a:rPr lang="en-US" sz="1575" dirty="0" b="1">
                <a:solidFill>
                  <a:srgbClr val="3050B8"/>
                </a:solidFill>
                <a:latin typeface="Segoe UI"/>
                <a:cs typeface="Segoe UI"/>
              </a:rPr>
              <a:t xml:space="preserve">(0, 45)</a:t>
            </a:r>
            <a:endParaRPr lang="en-US" sz="1575" dirty="0"/>
          </a:p>
        </p:txBody>
      </p:sp>
      <p:sp>
        <p:nvSpPr>
          <p:cNvPr id="12" name="Shape 12"/>
          <p:cNvSpPr txBox="1"/>
          <p:nvPr/>
        </p:nvSpPr>
        <p:spPr>
          <a:xfrm>
            <a:off x="8013497" y="1618488"/>
            <a:ext cx="3492398" cy="138226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0" name="Shape 10"/>
          <p:cNvSpPr txBox="1"/>
          <p:nvPr/>
        </p:nvSpPr>
        <p:spPr>
          <a:xfrm>
            <a:off x="8223047" y="1789938"/>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3.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5(2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− 9)</a:t>
            </a:r>
            <a:endParaRPr lang="en-US" sz="2325" dirty="0"/>
          </a:p>
        </p:txBody>
      </p:sp>
      <p:sp>
        <p:nvSpPr>
          <p:cNvPr id="11" name="Shape 11"/>
          <p:cNvSpPr txBox="1"/>
          <p:nvPr/>
        </p:nvSpPr>
        <p:spPr>
          <a:xfrm>
            <a:off x="8223047" y="229438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 10</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− 45</a:t>
            </a:r>
            <a:r>
              <a:rPr lang="en-US" sz="1575" dirty="0">
                <a:solidFill>
                  <a:srgbClr val="16171D"/>
                </a:solidFill>
                <a:latin typeface="Segoe UI"/>
                <a:cs typeface="Segoe UI"/>
              </a:rPr>
              <a:t xml:space="preserve">: slope </a:t>
            </a:r>
            <a:r>
              <a:rPr lang="en-US" sz="1575" dirty="0" b="1">
                <a:solidFill>
                  <a:srgbClr val="C9561F"/>
                </a:solidFill>
                <a:latin typeface="Segoe UI"/>
                <a:cs typeface="Segoe UI"/>
              </a:rPr>
              <a:t xml:space="preserve">10</a:t>
            </a:r>
            <a:r>
              <a:rPr lang="en-US" sz="1575" dirty="0">
                <a:solidFill>
                  <a:srgbClr val="16171D"/>
                </a:solidFill>
                <a:latin typeface="Segoe UI"/>
                <a:cs typeface="Segoe UI"/>
              </a:rPr>
              <a:t xml:space="preserve">, </a:t>
            </a:r>
            <a:r>
              <a:rPr lang="en-US" sz="1575" dirty="0" b="1">
                <a:solidFill>
                  <a:srgbClr val="3050B8"/>
                </a:solidFill>
                <a:latin typeface="Segoe UI"/>
                <a:cs typeface="Segoe UI"/>
              </a:rPr>
              <a:t xml:space="preserve">(0, −45)</a:t>
            </a:r>
            <a:endParaRPr lang="en-US" sz="1575" dirty="0"/>
          </a:p>
        </p:txBody>
      </p:sp>
      <p:sp>
        <p:nvSpPr>
          <p:cNvPr id="15" name="Shape 15"/>
          <p:cNvSpPr txBox="1"/>
          <p:nvPr/>
        </p:nvSpPr>
        <p:spPr>
          <a:xfrm>
            <a:off x="685800" y="3115056"/>
            <a:ext cx="3492398" cy="138226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3" name="Shape 13"/>
          <p:cNvSpPr txBox="1"/>
          <p:nvPr/>
        </p:nvSpPr>
        <p:spPr>
          <a:xfrm>
            <a:off x="895350" y="328650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4. 8</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−6</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+ 24</a:t>
            </a:r>
            <a:endParaRPr lang="en-US" sz="2325" dirty="0"/>
          </a:p>
        </p:txBody>
      </p:sp>
      <p:sp>
        <p:nvSpPr>
          <p:cNvPr id="14" name="Shape 14"/>
          <p:cNvSpPr txBox="1"/>
          <p:nvPr/>
        </p:nvSpPr>
        <p:spPr>
          <a:xfrm>
            <a:off x="895350" y="3790950"/>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 −</a:t>
            </a:r>
            <a:r>
              <a:rPr lang="en-US" sz="1575" dirty="0">
                <a:solidFill>
                  <a:srgbClr val="16171D"/>
                </a:solidFill>
                <a:latin typeface="Cambria"/>
                <a:cs typeface="Cambria"/>
              </a:rPr>
              <a:t xml:space="preserve">3</a:t>
            </a:r>
            <a:r>
              <a:rPr lang="en-US" sz="1575" dirty="0">
                <a:solidFill>
                  <a:srgbClr val="16171D"/>
                </a:solidFill>
                <a:latin typeface="Cambria"/>
                <a:cs typeface="Cambria"/>
              </a:rPr>
              <a:t xml:space="preserve">/</a:t>
            </a:r>
            <a:r>
              <a:rPr lang="en-US" sz="1575" dirty="0">
                <a:solidFill>
                  <a:srgbClr val="16171D"/>
                </a:solidFill>
                <a:latin typeface="Cambria"/>
                <a:cs typeface="Cambria"/>
              </a:rPr>
              <a:t xml:space="preserve">4</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+ 3</a:t>
            </a:r>
            <a:r>
              <a:rPr lang="en-US" sz="1575" dirty="0">
                <a:solidFill>
                  <a:srgbClr val="16171D"/>
                </a:solidFill>
                <a:latin typeface="Segoe UI"/>
                <a:cs typeface="Segoe UI"/>
              </a:rPr>
              <a:t xml:space="preserve">: slope </a:t>
            </a:r>
            <a:r>
              <a:rPr lang="en-US" sz="1575" dirty="0" b="1">
                <a:solidFill>
                  <a:srgbClr val="C9561F"/>
                </a:solidFill>
                <a:latin typeface="Segoe UI"/>
                <a:cs typeface="Segoe UI"/>
              </a:rPr>
              <a:t xml:space="preserve">−</a:t>
            </a:r>
            <a:r>
              <a:rPr lang="en-US" sz="1575" dirty="0" b="1">
                <a:solidFill>
                  <a:srgbClr val="C9561F"/>
                </a:solidFill>
                <a:latin typeface="Segoe UI"/>
                <a:cs typeface="Segoe UI"/>
              </a:rPr>
              <a:t xml:space="preserve">3</a:t>
            </a:r>
            <a:r>
              <a:rPr lang="en-US" sz="1575" dirty="0" b="1">
                <a:solidFill>
                  <a:srgbClr val="C9561F"/>
                </a:solidFill>
                <a:latin typeface="Segoe UI"/>
                <a:cs typeface="Segoe UI"/>
              </a:rPr>
              <a:t xml:space="preserve">/</a:t>
            </a:r>
            <a:r>
              <a:rPr lang="en-US" sz="1575" dirty="0" b="1">
                <a:solidFill>
                  <a:srgbClr val="C9561F"/>
                </a:solidFill>
                <a:latin typeface="Segoe UI"/>
                <a:cs typeface="Segoe UI"/>
              </a:rPr>
              <a:t xml:space="preserve">4</a:t>
            </a:r>
            <a:r>
              <a:rPr lang="en-US" sz="1575" dirty="0">
                <a:solidFill>
                  <a:srgbClr val="16171D"/>
                </a:solidFill>
                <a:latin typeface="Segoe UI"/>
                <a:cs typeface="Segoe UI"/>
              </a:rPr>
              <a:t xml:space="preserve">, </a:t>
            </a:r>
            <a:r>
              <a:rPr lang="en-US" sz="1575" dirty="0" b="1">
                <a:solidFill>
                  <a:srgbClr val="3050B8"/>
                </a:solidFill>
                <a:latin typeface="Segoe UI"/>
                <a:cs typeface="Segoe UI"/>
              </a:rPr>
              <a:t xml:space="preserve">(0, 3)</a:t>
            </a:r>
            <a:endParaRPr lang="en-US" sz="1575" dirty="0"/>
          </a:p>
        </p:txBody>
      </p:sp>
      <p:sp>
        <p:nvSpPr>
          <p:cNvPr id="18" name="Shape 18"/>
          <p:cNvSpPr txBox="1"/>
          <p:nvPr/>
        </p:nvSpPr>
        <p:spPr>
          <a:xfrm>
            <a:off x="4349648" y="3115056"/>
            <a:ext cx="3492398" cy="138226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6" name="Shape 16"/>
          <p:cNvSpPr txBox="1"/>
          <p:nvPr/>
        </p:nvSpPr>
        <p:spPr>
          <a:xfrm>
            <a:off x="4559198" y="328650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5.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+ 9 = 6(</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− 3)</a:t>
            </a:r>
            <a:endParaRPr lang="en-US" sz="2325" dirty="0"/>
          </a:p>
        </p:txBody>
      </p:sp>
      <p:sp>
        <p:nvSpPr>
          <p:cNvPr id="17" name="Shape 17"/>
          <p:cNvSpPr txBox="1"/>
          <p:nvPr/>
        </p:nvSpPr>
        <p:spPr>
          <a:xfrm>
            <a:off x="4559198" y="3790950"/>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 6</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− 27</a:t>
            </a:r>
            <a:r>
              <a:rPr lang="en-US" sz="1575" dirty="0">
                <a:solidFill>
                  <a:srgbClr val="16171D"/>
                </a:solidFill>
                <a:latin typeface="Segoe UI"/>
                <a:cs typeface="Segoe UI"/>
              </a:rPr>
              <a:t xml:space="preserve">: slope </a:t>
            </a:r>
            <a:r>
              <a:rPr lang="en-US" sz="1575" dirty="0" b="1">
                <a:solidFill>
                  <a:srgbClr val="C9561F"/>
                </a:solidFill>
                <a:latin typeface="Segoe UI"/>
                <a:cs typeface="Segoe UI"/>
              </a:rPr>
              <a:t xml:space="preserve">6</a:t>
            </a:r>
            <a:r>
              <a:rPr lang="en-US" sz="1575" dirty="0">
                <a:solidFill>
                  <a:srgbClr val="16171D"/>
                </a:solidFill>
                <a:latin typeface="Segoe UI"/>
                <a:cs typeface="Segoe UI"/>
              </a:rPr>
              <a:t xml:space="preserve">, </a:t>
            </a:r>
            <a:r>
              <a:rPr lang="en-US" sz="1575" dirty="0" b="1">
                <a:solidFill>
                  <a:srgbClr val="3050B8"/>
                </a:solidFill>
                <a:latin typeface="Segoe UI"/>
                <a:cs typeface="Segoe UI"/>
              </a:rPr>
              <a:t xml:space="preserve">(0, −27)</a:t>
            </a:r>
            <a:endParaRPr lang="en-US" sz="1575" dirty="0"/>
          </a:p>
        </p:txBody>
      </p:sp>
      <p:sp>
        <p:nvSpPr>
          <p:cNvPr id="19" name="Shape 19"/>
          <p:cNvSpPr txBox="1"/>
          <p:nvPr/>
        </p:nvSpPr>
        <p:spPr>
          <a:xfrm>
            <a:off x="685800" y="4668774"/>
            <a:ext cx="10511965" cy="397764"/>
          </a:xfrm>
          <a:prstGeom prst="roundRect">
            <a:avLst>
              <a:gd name="adj" fmla="val 8000"/>
            </a:avLst>
          </a:prstGeom>
          <a:solidFill>
            <a:srgbClr val="FDF3E7"/>
          </a:solidFill>
          <a:ln>
            <a:noFill/>
          </a:ln>
        </p:spPr>
        <p:txBody>
          <a:bodyPr wrap="square" lIns="164592" tIns="73152" rIns="164592" bIns="73152" anchor="ctr">
            <a:noAutofit/>
          </a:bodyPr>
          <a:lstStyle/>
          <a:p>
            <a:pPr algn="l">
              <a:lnSpc>
                <a:spcPct val="100000"/>
              </a:lnSpc>
            </a:pPr>
            <a:r>
              <a:rPr lang="en-US" sz="1650" dirty="0">
                <a:solidFill>
                  <a:srgbClr val="16171D"/>
                </a:solidFill>
                <a:latin typeface="Segoe UI"/>
                <a:cs typeface="Segoe UI"/>
              </a:rPr>
              <a:t xml:space="preserve">In standard form, the slope is </a:t>
            </a:r>
            <a:r>
              <a:rPr lang="en-US" sz="1650" dirty="0">
                <a:solidFill>
                  <a:srgbClr val="16171D"/>
                </a:solidFill>
                <a:latin typeface="Cambria"/>
                <a:cs typeface="Cambria"/>
              </a:rPr>
              <a:t xml:space="preserve">−</a:t>
            </a:r>
            <a:r>
              <a:rPr lang="en-US" sz="1650" dirty="0" i="1">
                <a:solidFill>
                  <a:srgbClr val="16171D"/>
                </a:solidFill>
                <a:latin typeface="Cambria"/>
                <a:cs typeface="Cambria"/>
              </a:rPr>
              <a:t xml:space="preserve">A</a:t>
            </a:r>
            <a:r>
              <a:rPr lang="en-US" sz="1650" dirty="0">
                <a:solidFill>
                  <a:srgbClr val="16171D"/>
                </a:solidFill>
                <a:latin typeface="Cambria"/>
                <a:cs typeface="Cambria"/>
              </a:rPr>
              <a:t xml:space="preserve">/</a:t>
            </a:r>
            <a:r>
              <a:rPr lang="en-US" sz="1650" dirty="0" i="1">
                <a:solidFill>
                  <a:srgbClr val="16171D"/>
                </a:solidFill>
                <a:latin typeface="Cambria"/>
                <a:cs typeface="Cambria"/>
              </a:rPr>
              <a:t xml:space="preserve">B</a:t>
            </a:r>
            <a:r>
              <a:rPr lang="en-US" sz="1650" dirty="0">
                <a:solidFill>
                  <a:srgbClr val="16171D"/>
                </a:solidFill>
                <a:latin typeface="Segoe UI"/>
                <a:cs typeface="Segoe UI"/>
              </a:rPr>
              <a:t xml:space="preserve">. To find the </a:t>
            </a:r>
            <a:r>
              <a:rPr lang="en-US" sz="1650" dirty="0" i="1">
                <a:solidFill>
                  <a:srgbClr val="16171D"/>
                </a:solidFill>
                <a:latin typeface="Segoe UI"/>
                <a:cs typeface="Segoe UI"/>
              </a:rPr>
              <a:t xml:space="preserve">y</a:t>
            </a:r>
            <a:r>
              <a:rPr lang="en-US" sz="1650" dirty="0">
                <a:solidFill>
                  <a:srgbClr val="16171D"/>
                </a:solidFill>
                <a:latin typeface="Segoe UI"/>
                <a:cs typeface="Segoe UI"/>
              </a:rPr>
              <a:t xml:space="preserve">-intercept in any form, substitute </a:t>
            </a:r>
            <a:r>
              <a:rPr lang="en-US" sz="1650" dirty="0" i="1">
                <a:solidFill>
                  <a:srgbClr val="16171D"/>
                </a:solidFill>
                <a:latin typeface="Cambria"/>
                <a:cs typeface="Cambria"/>
              </a:rPr>
              <a:t xml:space="preserve">x</a:t>
            </a:r>
            <a:r>
              <a:rPr lang="en-US" sz="1650" dirty="0">
                <a:solidFill>
                  <a:srgbClr val="16171D"/>
                </a:solidFill>
                <a:latin typeface="Cambria"/>
                <a:cs typeface="Cambria"/>
              </a:rPr>
              <a:t xml:space="preserve"> = 0</a:t>
            </a:r>
            <a:r>
              <a:rPr lang="en-US" sz="1650" dirty="0">
                <a:solidFill>
                  <a:srgbClr val="16171D"/>
                </a:solidFill>
                <a:latin typeface="Segoe UI"/>
                <a:cs typeface="Segoe UI"/>
              </a:rPr>
              <a:t xml:space="preserve">.</a:t>
            </a:r>
            <a:endParaRPr lang="en-US" sz="1650" dirty="0"/>
          </a:p>
        </p:txBody>
      </p:sp>
      <p:sp>
        <p:nvSpPr>
          <p:cNvPr id="20" name="Slide Number 20"/>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5</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500"/>
                                        <p:tgtEl>
                                          <p:spTgt spid="8"/>
                                        </p:tgtEl>
                                      </p:cBhvr>
                                    </p:animEffect>
                                    <p:anim calcmode="lin" valueType="num">
                                      <p:cBhvr>
                                        <p:cTn id="12" dur="500" fill="hold"/>
                                        <p:tgtEl>
                                          <p:spTgt spid="8"/>
                                        </p:tgtEl>
                                        <p:attrNameLst>
                                          <p:attrName>ppt_x</p:attrName>
                                        </p:attrNameLst>
                                      </p:cBhvr>
                                      <p:tavLst>
                                        <p:tav tm="0">
                                          <p:val>
                                            <p:strVal val="#ppt_x"/>
                                          </p:val>
                                        </p:tav>
                                        <p:tav tm="100000">
                                          <p:val>
                                            <p:strVal val="#ppt_x"/>
                                          </p:val>
                                        </p:tav>
                                      </p:tavLst>
                                    </p:anim>
                                    <p:anim calcmode="lin" valueType="num">
                                      <p:cBhvr>
                                        <p:cTn id="13"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11"/>
                                        </p:tgtEl>
                                        <p:attrNameLst>
                                          <p:attrName>style.visibility</p:attrName>
                                        </p:attrNameLst>
                                      </p:cBhvr>
                                      <p:to>
                                        <p:strVal val="visible"/>
                                      </p:to>
                                    </p:set>
                                    <p:animEffect transition="in" filter="fade">
                                      <p:cBhvr>
                                        <p:cTn id="18" dur="500"/>
                                        <p:tgtEl>
                                          <p:spTgt spid="11"/>
                                        </p:tgtEl>
                                      </p:cBhvr>
                                    </p:animEffect>
                                    <p:anim calcmode="lin" valueType="num">
                                      <p:cBhvr>
                                        <p:cTn id="19" dur="500" fill="hold"/>
                                        <p:tgtEl>
                                          <p:spTgt spid="11"/>
                                        </p:tgtEl>
                                        <p:attrNameLst>
                                          <p:attrName>ppt_x</p:attrName>
                                        </p:attrNameLst>
                                      </p:cBhvr>
                                      <p:tavLst>
                                        <p:tav tm="0">
                                          <p:val>
                                            <p:strVal val="#ppt_x"/>
                                          </p:val>
                                        </p:tav>
                                        <p:tav tm="100000">
                                          <p:val>
                                            <p:strVal val="#ppt_x"/>
                                          </p:val>
                                        </p:tav>
                                      </p:tavLst>
                                    </p:anim>
                                    <p:anim calcmode="lin" valueType="num">
                                      <p:cBhvr>
                                        <p:cTn id="20" dur="500" fill="hold"/>
                                        <p:tgtEl>
                                          <p:spTgt spid="11"/>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14"/>
                                        </p:tgtEl>
                                        <p:attrNameLst>
                                          <p:attrName>style.visibility</p:attrName>
                                        </p:attrNameLst>
                                      </p:cBhvr>
                                      <p:to>
                                        <p:strVal val="visible"/>
                                      </p:to>
                                    </p:set>
                                    <p:animEffect transition="in" filter="fade">
                                      <p:cBhvr>
                                        <p:cTn id="25" dur="500"/>
                                        <p:tgtEl>
                                          <p:spTgt spid="14"/>
                                        </p:tgtEl>
                                      </p:cBhvr>
                                    </p:animEffect>
                                    <p:anim calcmode="lin" valueType="num">
                                      <p:cBhvr>
                                        <p:cTn id="26" dur="500" fill="hold"/>
                                        <p:tgtEl>
                                          <p:spTgt spid="14"/>
                                        </p:tgtEl>
                                        <p:attrNameLst>
                                          <p:attrName>ppt_x</p:attrName>
                                        </p:attrNameLst>
                                      </p:cBhvr>
                                      <p:tavLst>
                                        <p:tav tm="0">
                                          <p:val>
                                            <p:strVal val="#ppt_x"/>
                                          </p:val>
                                        </p:tav>
                                        <p:tav tm="100000">
                                          <p:val>
                                            <p:strVal val="#ppt_x"/>
                                          </p:val>
                                        </p:tav>
                                      </p:tavLst>
                                    </p:anim>
                                    <p:anim calcmode="lin" valueType="num">
                                      <p:cBhvr>
                                        <p:cTn id="27" dur="500" fill="hold"/>
                                        <p:tgtEl>
                                          <p:spTgt spid="14"/>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17"/>
                                        </p:tgtEl>
                                        <p:attrNameLst>
                                          <p:attrName>style.visibility</p:attrName>
                                        </p:attrNameLst>
                                      </p:cBhvr>
                                      <p:to>
                                        <p:strVal val="visible"/>
                                      </p:to>
                                    </p:set>
                                    <p:animEffect transition="in" filter="fade">
                                      <p:cBhvr>
                                        <p:cTn id="32" dur="500"/>
                                        <p:tgtEl>
                                          <p:spTgt spid="17"/>
                                        </p:tgtEl>
                                      </p:cBhvr>
                                    </p:animEffect>
                                    <p:anim calcmode="lin" valueType="num">
                                      <p:cBhvr>
                                        <p:cTn id="33" dur="500" fill="hold"/>
                                        <p:tgtEl>
                                          <p:spTgt spid="17"/>
                                        </p:tgtEl>
                                        <p:attrNameLst>
                                          <p:attrName>ppt_x</p:attrName>
                                        </p:attrNameLst>
                                      </p:cBhvr>
                                      <p:tavLst>
                                        <p:tav tm="0">
                                          <p:val>
                                            <p:strVal val="#ppt_x"/>
                                          </p:val>
                                        </p:tav>
                                        <p:tav tm="100000">
                                          <p:val>
                                            <p:strVal val="#ppt_x"/>
                                          </p:val>
                                        </p:tav>
                                      </p:tavLst>
                                    </p:anim>
                                    <p:anim calcmode="lin" valueType="num">
                                      <p:cBhvr>
                                        <p:cTn id="34" dur="500" fill="hold"/>
                                        <p:tgtEl>
                                          <p:spTgt spid="17"/>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2" presetID="42" presetClass="entr" presetSubtype="0" fill="hold" nodeType="clickEffect">
                                  <p:stCondLst>
                                    <p:cond delay="0"/>
                                  </p:stCondLst>
                                  <p:childTnLst>
                                    <p:set>
                                      <p:cBhvr>
                                        <p:cTn id="38" dur="1" fill="hold">
                                          <p:stCondLst>
                                            <p:cond delay="0"/>
                                          </p:stCondLst>
                                        </p:cTn>
                                        <p:tgtEl>
                                          <p:spTgt spid="19"/>
                                        </p:tgtEl>
                                        <p:attrNameLst>
                                          <p:attrName>style.visibility</p:attrName>
                                        </p:attrNameLst>
                                      </p:cBhvr>
                                      <p:to>
                                        <p:strVal val="visible"/>
                                      </p:to>
                                    </p:set>
                                    <p:animEffect transition="in" filter="fade">
                                      <p:cBhvr>
                                        <p:cTn id="39" dur="500"/>
                                        <p:tgtEl>
                                          <p:spTgt spid="19"/>
                                        </p:tgtEl>
                                      </p:cBhvr>
                                    </p:animEffect>
                                    <p:anim calcmode="lin" valueType="num">
                                      <p:cBhvr>
                                        <p:cTn id="40" dur="500" fill="hold"/>
                                        <p:tgtEl>
                                          <p:spTgt spid="19"/>
                                        </p:tgtEl>
                                        <p:attrNameLst>
                                          <p:attrName>ppt_x</p:attrName>
                                        </p:attrNameLst>
                                      </p:cBhvr>
                                      <p:tavLst>
                                        <p:tav tm="0">
                                          <p:val>
                                            <p:strVal val="#ppt_x"/>
                                          </p:val>
                                        </p:tav>
                                        <p:tav tm="100000">
                                          <p:val>
                                            <p:strVal val="#ppt_x"/>
                                          </p:val>
                                        </p:tav>
                                      </p:tavLst>
                                    </p:anim>
                                    <p:anim calcmode="lin" valueType="num">
                                      <p:cBhvr>
                                        <p:cTn id="41" dur="500" fill="hold"/>
                                        <p:tgtEl>
                                          <p:spTgt spid="19"/>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Lesson 5 · Talk the Talk · Choose Your Medium · SE p. 232</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Joey's math quiz</a:t>
            </a:r>
            <a:endParaRPr lang="en-US" sz="3450" dirty="0"/>
          </a:p>
        </p:txBody>
      </p:sp>
      <p:sp>
        <p:nvSpPr>
          <p:cNvPr id="4" name="Shape 4"/>
          <p:cNvSpPr txBox="1"/>
          <p:nvPr/>
        </p:nvSpPr>
        <p:spPr>
          <a:xfrm>
            <a:off x="685800" y="1618488"/>
            <a:ext cx="108200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2 points for each correct multiple-choice question, 3 points for each correct short answer. Joey earned </a:t>
            </a:r>
            <a:r>
              <a:rPr lang="en-US" sz="1575" dirty="0" b="1">
                <a:solidFill>
                  <a:srgbClr val="16171D"/>
                </a:solidFill>
                <a:latin typeface="Segoe UI"/>
                <a:cs typeface="Segoe UI"/>
              </a:rPr>
              <a:t xml:space="preserve">36 points</a:t>
            </a:r>
            <a:r>
              <a:rPr lang="en-US" sz="1575" dirty="0">
                <a:solidFill>
                  <a:srgbClr val="16171D"/>
                </a:solidFill>
                <a:latin typeface="Segoe UI"/>
                <a:cs typeface="Segoe UI"/>
              </a:rPr>
              <a:t xml:space="preserve">. Let </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 = multiple-choice correct and </a:t>
            </a:r>
            <a:r>
              <a:rPr lang="en-US" sz="1575" dirty="0" i="1">
                <a:solidFill>
                  <a:srgbClr val="16171D"/>
                </a:solidFill>
                <a:latin typeface="Cambria"/>
                <a:cs typeface="Cambria"/>
              </a:rPr>
              <a:t xml:space="preserve">y</a:t>
            </a:r>
            <a:r>
              <a:rPr lang="en-US" sz="1575" dirty="0">
                <a:solidFill>
                  <a:srgbClr val="16171D"/>
                </a:solidFill>
                <a:latin typeface="Segoe UI"/>
                <a:cs typeface="Segoe UI"/>
              </a:rPr>
              <a:t xml:space="preserve"> = short answer correct.</a:t>
            </a:r>
            <a:endParaRPr lang="en-US" sz="1575" dirty="0"/>
          </a:p>
        </p:txBody>
      </p:sp>
      <p:sp>
        <p:nvSpPr>
          <p:cNvPr id="5" name="Shape 5"/>
          <p:cNvSpPr txBox="1"/>
          <p:nvPr/>
        </p:nvSpPr>
        <p:spPr>
          <a:xfrm>
            <a:off x="685800" y="2324862"/>
            <a:ext cx="4689318" cy="59893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850" dirty="0">
                <a:solidFill>
                  <a:srgbClr val="16171D"/>
                </a:solidFill>
                <a:latin typeface="Cambria"/>
                <a:cs typeface="Cambria"/>
              </a:rPr>
              <a:t xml:space="preserve">2</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+ 3</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36</a:t>
            </a:r>
            <a:endParaRPr lang="en-US" sz="2850" dirty="0"/>
          </a:p>
        </p:txBody>
      </p:sp>
      <p:sp>
        <p:nvSpPr>
          <p:cNvPr id="6" name="Shape 6"/>
          <p:cNvSpPr txBox="1"/>
          <p:nvPr/>
        </p:nvSpPr>
        <p:spPr>
          <a:xfrm>
            <a:off x="685800" y="3019044"/>
            <a:ext cx="6819595"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Form:</a:t>
            </a:r>
            <a:r>
              <a:rPr lang="en-US" sz="1575" dirty="0">
                <a:solidFill>
                  <a:srgbClr val="16171D"/>
                </a:solidFill>
                <a:latin typeface="Segoe UI"/>
                <a:cs typeface="Segoe UI"/>
              </a:rPr>
              <a:t xml:space="preserve"> standard form, because the equation comes straight from the context: two kinds of points add up to one total.</a:t>
            </a:r>
            <a:endParaRPr lang="en-US" sz="1575" dirty="0"/>
          </a:p>
        </p:txBody>
      </p:sp>
      <p:sp>
        <p:nvSpPr>
          <p:cNvPr id="7" name="Shape 7"/>
          <p:cNvSpPr txBox="1"/>
          <p:nvPr/>
        </p:nvSpPr>
        <p:spPr>
          <a:xfrm>
            <a:off x="685800" y="3649218"/>
            <a:ext cx="68195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Graph:</a:t>
            </a:r>
            <a:r>
              <a:rPr lang="en-US" sz="1575" dirty="0">
                <a:solidFill>
                  <a:srgbClr val="16171D"/>
                </a:solidFill>
                <a:latin typeface="Segoe UI"/>
                <a:cs typeface="Segoe UI"/>
              </a:rPr>
              <a:t xml:space="preserve"> use the intercepts.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 0</a:t>
            </a:r>
            <a:r>
              <a:rPr lang="en-US" sz="1575" dirty="0">
                <a:solidFill>
                  <a:srgbClr val="16171D"/>
                </a:solidFill>
                <a:latin typeface="Segoe UI"/>
                <a:cs typeface="Segoe UI"/>
              </a:rPr>
              <a:t xml:space="preserve"> gives </a:t>
            </a:r>
            <a:r>
              <a:rPr lang="en-US" sz="1575" dirty="0" b="1">
                <a:solidFill>
                  <a:srgbClr val="3050B8"/>
                </a:solidFill>
                <a:latin typeface="Segoe UI"/>
                <a:cs typeface="Segoe UI"/>
              </a:rPr>
              <a:t xml:space="preserve">(18, 0)</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0</a:t>
            </a:r>
            <a:r>
              <a:rPr lang="en-US" sz="1575" dirty="0">
                <a:solidFill>
                  <a:srgbClr val="16171D"/>
                </a:solidFill>
                <a:latin typeface="Segoe UI"/>
                <a:cs typeface="Segoe UI"/>
              </a:rPr>
              <a:t xml:space="preserve"> gives </a:t>
            </a:r>
            <a:r>
              <a:rPr lang="en-US" sz="1575" dirty="0" b="1">
                <a:solidFill>
                  <a:srgbClr val="3050B8"/>
                </a:solidFill>
                <a:latin typeface="Segoe UI"/>
                <a:cs typeface="Segoe UI"/>
              </a:rPr>
              <a:t xml:space="preserve">(0, 12)</a:t>
            </a:r>
            <a:r>
              <a:rPr lang="en-US" sz="1575" dirty="0">
                <a:solidFill>
                  <a:srgbClr val="16171D"/>
                </a:solidFill>
                <a:latin typeface="Segoe UI"/>
                <a:cs typeface="Segoe UI"/>
              </a:rPr>
              <a:t xml:space="preserve">.</a:t>
            </a:r>
            <a:endParaRPr lang="en-US" sz="1575" dirty="0"/>
          </a:p>
        </p:txBody>
      </p:sp>
      <p:sp>
        <p:nvSpPr>
          <p:cNvPr id="8" name="Shape 8"/>
          <p:cNvSpPr/>
          <p:nvPr/>
        </p:nvSpPr>
        <p:spPr>
          <a:xfrm>
            <a:off x="7886395" y="2324862"/>
            <a:ext cx="3619500" cy="32385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9" name="Line 9"/>
          <p:cNvCxnSpPr/>
          <p:nvPr/>
        </p:nvCxnSpPr>
        <p:spPr>
          <a:xfrm>
            <a:off x="8210245" y="2439162"/>
            <a:ext cx="0" cy="2876550"/>
          </a:xfrm>
          <a:prstGeom prst="line">
            <a:avLst/>
          </a:prstGeom>
          <a:ln w="9525" cap="flat">
            <a:solidFill>
              <a:srgbClr val="E6E8F2"/>
            </a:solidFill>
          </a:ln>
        </p:spPr>
      </p:cxnSp>
      <p:cxnSp>
        <p:nvCxnSpPr>
          <p:cNvPr id="10" name="Line 10"/>
          <p:cNvCxnSpPr/>
          <p:nvPr/>
        </p:nvCxnSpPr>
        <p:spPr>
          <a:xfrm>
            <a:off x="8369313" y="2439162"/>
            <a:ext cx="0" cy="2876550"/>
          </a:xfrm>
          <a:prstGeom prst="line">
            <a:avLst/>
          </a:prstGeom>
          <a:ln w="9525" cap="flat">
            <a:solidFill>
              <a:srgbClr val="E6E8F2"/>
            </a:solidFill>
          </a:ln>
        </p:spPr>
      </p:cxnSp>
      <p:cxnSp>
        <p:nvCxnSpPr>
          <p:cNvPr id="11" name="Line 11"/>
          <p:cNvCxnSpPr/>
          <p:nvPr/>
        </p:nvCxnSpPr>
        <p:spPr>
          <a:xfrm>
            <a:off x="8528380" y="2439162"/>
            <a:ext cx="0" cy="2876550"/>
          </a:xfrm>
          <a:prstGeom prst="line">
            <a:avLst/>
          </a:prstGeom>
          <a:ln w="9525" cap="flat">
            <a:solidFill>
              <a:srgbClr val="E6E8F2"/>
            </a:solidFill>
          </a:ln>
        </p:spPr>
      </p:cxnSp>
      <p:cxnSp>
        <p:nvCxnSpPr>
          <p:cNvPr id="12" name="Line 12"/>
          <p:cNvCxnSpPr/>
          <p:nvPr/>
        </p:nvCxnSpPr>
        <p:spPr>
          <a:xfrm>
            <a:off x="8687448" y="2439162"/>
            <a:ext cx="0" cy="2876550"/>
          </a:xfrm>
          <a:prstGeom prst="line">
            <a:avLst/>
          </a:prstGeom>
          <a:ln w="9525" cap="flat">
            <a:solidFill>
              <a:srgbClr val="E6E8F2"/>
            </a:solidFill>
          </a:ln>
        </p:spPr>
      </p:cxnSp>
      <p:cxnSp>
        <p:nvCxnSpPr>
          <p:cNvPr id="13" name="Line 13"/>
          <p:cNvCxnSpPr/>
          <p:nvPr/>
        </p:nvCxnSpPr>
        <p:spPr>
          <a:xfrm>
            <a:off x="8846515" y="2439162"/>
            <a:ext cx="0" cy="2876550"/>
          </a:xfrm>
          <a:prstGeom prst="line">
            <a:avLst/>
          </a:prstGeom>
          <a:ln w="9525" cap="flat">
            <a:solidFill>
              <a:srgbClr val="E6E8F2"/>
            </a:solidFill>
          </a:ln>
        </p:spPr>
      </p:cxnSp>
      <p:cxnSp>
        <p:nvCxnSpPr>
          <p:cNvPr id="14" name="Line 14"/>
          <p:cNvCxnSpPr/>
          <p:nvPr/>
        </p:nvCxnSpPr>
        <p:spPr>
          <a:xfrm>
            <a:off x="9005583" y="2439162"/>
            <a:ext cx="0" cy="2876550"/>
          </a:xfrm>
          <a:prstGeom prst="line">
            <a:avLst/>
          </a:prstGeom>
          <a:ln w="9525" cap="flat">
            <a:solidFill>
              <a:srgbClr val="E6E8F2"/>
            </a:solidFill>
          </a:ln>
        </p:spPr>
      </p:cxnSp>
      <p:cxnSp>
        <p:nvCxnSpPr>
          <p:cNvPr id="15" name="Line 15"/>
          <p:cNvCxnSpPr/>
          <p:nvPr/>
        </p:nvCxnSpPr>
        <p:spPr>
          <a:xfrm>
            <a:off x="9164650" y="2439162"/>
            <a:ext cx="0" cy="2876550"/>
          </a:xfrm>
          <a:prstGeom prst="line">
            <a:avLst/>
          </a:prstGeom>
          <a:ln w="9525" cap="flat">
            <a:solidFill>
              <a:srgbClr val="E6E8F2"/>
            </a:solidFill>
          </a:ln>
        </p:spPr>
      </p:cxnSp>
      <p:cxnSp>
        <p:nvCxnSpPr>
          <p:cNvPr id="16" name="Line 16"/>
          <p:cNvCxnSpPr/>
          <p:nvPr/>
        </p:nvCxnSpPr>
        <p:spPr>
          <a:xfrm>
            <a:off x="9323718" y="2439162"/>
            <a:ext cx="0" cy="2876550"/>
          </a:xfrm>
          <a:prstGeom prst="line">
            <a:avLst/>
          </a:prstGeom>
          <a:ln w="9525" cap="flat">
            <a:solidFill>
              <a:srgbClr val="E6E8F2"/>
            </a:solidFill>
          </a:ln>
        </p:spPr>
      </p:cxnSp>
      <p:cxnSp>
        <p:nvCxnSpPr>
          <p:cNvPr id="17" name="Line 17"/>
          <p:cNvCxnSpPr/>
          <p:nvPr/>
        </p:nvCxnSpPr>
        <p:spPr>
          <a:xfrm>
            <a:off x="9482785" y="2439162"/>
            <a:ext cx="0" cy="2876550"/>
          </a:xfrm>
          <a:prstGeom prst="line">
            <a:avLst/>
          </a:prstGeom>
          <a:ln w="9525" cap="flat">
            <a:solidFill>
              <a:srgbClr val="E6E8F2"/>
            </a:solidFill>
          </a:ln>
        </p:spPr>
      </p:cxnSp>
      <p:cxnSp>
        <p:nvCxnSpPr>
          <p:cNvPr id="18" name="Line 18"/>
          <p:cNvCxnSpPr/>
          <p:nvPr/>
        </p:nvCxnSpPr>
        <p:spPr>
          <a:xfrm>
            <a:off x="9641853" y="2439162"/>
            <a:ext cx="0" cy="2876550"/>
          </a:xfrm>
          <a:prstGeom prst="line">
            <a:avLst/>
          </a:prstGeom>
          <a:ln w="9525" cap="flat">
            <a:solidFill>
              <a:srgbClr val="E6E8F2"/>
            </a:solidFill>
          </a:ln>
        </p:spPr>
      </p:cxnSp>
      <p:cxnSp>
        <p:nvCxnSpPr>
          <p:cNvPr id="19" name="Line 19"/>
          <p:cNvCxnSpPr/>
          <p:nvPr/>
        </p:nvCxnSpPr>
        <p:spPr>
          <a:xfrm>
            <a:off x="9800920" y="2439162"/>
            <a:ext cx="0" cy="2876550"/>
          </a:xfrm>
          <a:prstGeom prst="line">
            <a:avLst/>
          </a:prstGeom>
          <a:ln w="9525" cap="flat">
            <a:solidFill>
              <a:srgbClr val="E6E8F2"/>
            </a:solidFill>
          </a:ln>
        </p:spPr>
      </p:cxnSp>
      <p:cxnSp>
        <p:nvCxnSpPr>
          <p:cNvPr id="20" name="Line 20"/>
          <p:cNvCxnSpPr/>
          <p:nvPr/>
        </p:nvCxnSpPr>
        <p:spPr>
          <a:xfrm>
            <a:off x="9959988" y="2439162"/>
            <a:ext cx="0" cy="2876550"/>
          </a:xfrm>
          <a:prstGeom prst="line">
            <a:avLst/>
          </a:prstGeom>
          <a:ln w="9525" cap="flat">
            <a:solidFill>
              <a:srgbClr val="E6E8F2"/>
            </a:solidFill>
          </a:ln>
        </p:spPr>
      </p:cxnSp>
      <p:cxnSp>
        <p:nvCxnSpPr>
          <p:cNvPr id="21" name="Line 21"/>
          <p:cNvCxnSpPr/>
          <p:nvPr/>
        </p:nvCxnSpPr>
        <p:spPr>
          <a:xfrm>
            <a:off x="10119055" y="2439162"/>
            <a:ext cx="0" cy="2876550"/>
          </a:xfrm>
          <a:prstGeom prst="line">
            <a:avLst/>
          </a:prstGeom>
          <a:ln w="9525" cap="flat">
            <a:solidFill>
              <a:srgbClr val="E6E8F2"/>
            </a:solidFill>
          </a:ln>
        </p:spPr>
      </p:cxnSp>
      <p:cxnSp>
        <p:nvCxnSpPr>
          <p:cNvPr id="22" name="Line 22"/>
          <p:cNvCxnSpPr/>
          <p:nvPr/>
        </p:nvCxnSpPr>
        <p:spPr>
          <a:xfrm>
            <a:off x="10278123" y="2439162"/>
            <a:ext cx="0" cy="2876550"/>
          </a:xfrm>
          <a:prstGeom prst="line">
            <a:avLst/>
          </a:prstGeom>
          <a:ln w="9525" cap="flat">
            <a:solidFill>
              <a:srgbClr val="E6E8F2"/>
            </a:solidFill>
          </a:ln>
        </p:spPr>
      </p:cxnSp>
      <p:cxnSp>
        <p:nvCxnSpPr>
          <p:cNvPr id="23" name="Line 23"/>
          <p:cNvCxnSpPr/>
          <p:nvPr/>
        </p:nvCxnSpPr>
        <p:spPr>
          <a:xfrm>
            <a:off x="10437190" y="2439162"/>
            <a:ext cx="0" cy="2876550"/>
          </a:xfrm>
          <a:prstGeom prst="line">
            <a:avLst/>
          </a:prstGeom>
          <a:ln w="9525" cap="flat">
            <a:solidFill>
              <a:srgbClr val="E6E8F2"/>
            </a:solidFill>
          </a:ln>
        </p:spPr>
      </p:cxnSp>
      <p:cxnSp>
        <p:nvCxnSpPr>
          <p:cNvPr id="24" name="Line 24"/>
          <p:cNvCxnSpPr/>
          <p:nvPr/>
        </p:nvCxnSpPr>
        <p:spPr>
          <a:xfrm>
            <a:off x="10596258" y="2439162"/>
            <a:ext cx="0" cy="2876550"/>
          </a:xfrm>
          <a:prstGeom prst="line">
            <a:avLst/>
          </a:prstGeom>
          <a:ln w="9525" cap="flat">
            <a:solidFill>
              <a:srgbClr val="E6E8F2"/>
            </a:solidFill>
          </a:ln>
        </p:spPr>
      </p:cxnSp>
      <p:cxnSp>
        <p:nvCxnSpPr>
          <p:cNvPr id="25" name="Line 25"/>
          <p:cNvCxnSpPr/>
          <p:nvPr/>
        </p:nvCxnSpPr>
        <p:spPr>
          <a:xfrm>
            <a:off x="10755325" y="2439162"/>
            <a:ext cx="0" cy="2876550"/>
          </a:xfrm>
          <a:prstGeom prst="line">
            <a:avLst/>
          </a:prstGeom>
          <a:ln w="9525" cap="flat">
            <a:solidFill>
              <a:srgbClr val="E6E8F2"/>
            </a:solidFill>
          </a:ln>
        </p:spPr>
      </p:cxnSp>
      <p:cxnSp>
        <p:nvCxnSpPr>
          <p:cNvPr id="26" name="Line 26"/>
          <p:cNvCxnSpPr/>
          <p:nvPr/>
        </p:nvCxnSpPr>
        <p:spPr>
          <a:xfrm>
            <a:off x="10914393" y="2439162"/>
            <a:ext cx="0" cy="2876550"/>
          </a:xfrm>
          <a:prstGeom prst="line">
            <a:avLst/>
          </a:prstGeom>
          <a:ln w="9525" cap="flat">
            <a:solidFill>
              <a:srgbClr val="E6E8F2"/>
            </a:solidFill>
          </a:ln>
        </p:spPr>
      </p:cxnSp>
      <p:cxnSp>
        <p:nvCxnSpPr>
          <p:cNvPr id="27" name="Line 27"/>
          <p:cNvCxnSpPr/>
          <p:nvPr/>
        </p:nvCxnSpPr>
        <p:spPr>
          <a:xfrm>
            <a:off x="11073460" y="2439162"/>
            <a:ext cx="0" cy="2876550"/>
          </a:xfrm>
          <a:prstGeom prst="line">
            <a:avLst/>
          </a:prstGeom>
          <a:ln w="9525" cap="flat">
            <a:solidFill>
              <a:srgbClr val="E6E8F2"/>
            </a:solidFill>
          </a:ln>
        </p:spPr>
      </p:cxnSp>
      <p:cxnSp>
        <p:nvCxnSpPr>
          <p:cNvPr id="28" name="Line 28"/>
          <p:cNvCxnSpPr/>
          <p:nvPr/>
        </p:nvCxnSpPr>
        <p:spPr>
          <a:xfrm>
            <a:off x="11232528" y="2439162"/>
            <a:ext cx="0" cy="2876550"/>
          </a:xfrm>
          <a:prstGeom prst="line">
            <a:avLst/>
          </a:prstGeom>
          <a:ln w="9525" cap="flat">
            <a:solidFill>
              <a:srgbClr val="E6E8F2"/>
            </a:solidFill>
          </a:ln>
        </p:spPr>
      </p:cxnSp>
      <p:cxnSp>
        <p:nvCxnSpPr>
          <p:cNvPr id="29" name="Line 29"/>
          <p:cNvCxnSpPr/>
          <p:nvPr/>
        </p:nvCxnSpPr>
        <p:spPr>
          <a:xfrm>
            <a:off x="11391595" y="2439162"/>
            <a:ext cx="0" cy="2876550"/>
          </a:xfrm>
          <a:prstGeom prst="line">
            <a:avLst/>
          </a:prstGeom>
          <a:ln w="9525" cap="flat">
            <a:solidFill>
              <a:srgbClr val="E6E8F2"/>
            </a:solidFill>
          </a:ln>
        </p:spPr>
      </p:cxnSp>
      <p:cxnSp>
        <p:nvCxnSpPr>
          <p:cNvPr id="30" name="Line 30"/>
          <p:cNvCxnSpPr/>
          <p:nvPr/>
        </p:nvCxnSpPr>
        <p:spPr>
          <a:xfrm>
            <a:off x="8210245" y="5315712"/>
            <a:ext cx="3181350" cy="0"/>
          </a:xfrm>
          <a:prstGeom prst="line">
            <a:avLst/>
          </a:prstGeom>
          <a:ln w="9525" cap="flat">
            <a:solidFill>
              <a:srgbClr val="E6E8F2"/>
            </a:solidFill>
          </a:ln>
        </p:spPr>
      </p:cxnSp>
      <p:cxnSp>
        <p:nvCxnSpPr>
          <p:cNvPr id="31" name="Line 31"/>
          <p:cNvCxnSpPr/>
          <p:nvPr/>
        </p:nvCxnSpPr>
        <p:spPr>
          <a:xfrm>
            <a:off x="8210245" y="5135928"/>
            <a:ext cx="3181350" cy="0"/>
          </a:xfrm>
          <a:prstGeom prst="line">
            <a:avLst/>
          </a:prstGeom>
          <a:ln w="9525" cap="flat">
            <a:solidFill>
              <a:srgbClr val="E6E8F2"/>
            </a:solidFill>
          </a:ln>
        </p:spPr>
      </p:cxnSp>
      <p:cxnSp>
        <p:nvCxnSpPr>
          <p:cNvPr id="32" name="Line 32"/>
          <p:cNvCxnSpPr/>
          <p:nvPr/>
        </p:nvCxnSpPr>
        <p:spPr>
          <a:xfrm>
            <a:off x="8210245" y="4956143"/>
            <a:ext cx="3181350" cy="0"/>
          </a:xfrm>
          <a:prstGeom prst="line">
            <a:avLst/>
          </a:prstGeom>
          <a:ln w="9525" cap="flat">
            <a:solidFill>
              <a:srgbClr val="E6E8F2"/>
            </a:solidFill>
          </a:ln>
        </p:spPr>
      </p:cxnSp>
      <p:cxnSp>
        <p:nvCxnSpPr>
          <p:cNvPr id="33" name="Line 33"/>
          <p:cNvCxnSpPr/>
          <p:nvPr/>
        </p:nvCxnSpPr>
        <p:spPr>
          <a:xfrm>
            <a:off x="8210245" y="4776359"/>
            <a:ext cx="3181350" cy="0"/>
          </a:xfrm>
          <a:prstGeom prst="line">
            <a:avLst/>
          </a:prstGeom>
          <a:ln w="9525" cap="flat">
            <a:solidFill>
              <a:srgbClr val="E6E8F2"/>
            </a:solidFill>
          </a:ln>
        </p:spPr>
      </p:cxnSp>
      <p:cxnSp>
        <p:nvCxnSpPr>
          <p:cNvPr id="34" name="Line 34"/>
          <p:cNvCxnSpPr/>
          <p:nvPr/>
        </p:nvCxnSpPr>
        <p:spPr>
          <a:xfrm>
            <a:off x="8210245" y="4596574"/>
            <a:ext cx="3181350" cy="0"/>
          </a:xfrm>
          <a:prstGeom prst="line">
            <a:avLst/>
          </a:prstGeom>
          <a:ln w="9525" cap="flat">
            <a:solidFill>
              <a:srgbClr val="E6E8F2"/>
            </a:solidFill>
          </a:ln>
        </p:spPr>
      </p:cxnSp>
      <p:cxnSp>
        <p:nvCxnSpPr>
          <p:cNvPr id="35" name="Line 35"/>
          <p:cNvCxnSpPr/>
          <p:nvPr/>
        </p:nvCxnSpPr>
        <p:spPr>
          <a:xfrm>
            <a:off x="8210245" y="4416790"/>
            <a:ext cx="3181350" cy="0"/>
          </a:xfrm>
          <a:prstGeom prst="line">
            <a:avLst/>
          </a:prstGeom>
          <a:ln w="9525" cap="flat">
            <a:solidFill>
              <a:srgbClr val="E6E8F2"/>
            </a:solidFill>
          </a:ln>
        </p:spPr>
      </p:cxnSp>
      <p:cxnSp>
        <p:nvCxnSpPr>
          <p:cNvPr id="36" name="Line 36"/>
          <p:cNvCxnSpPr/>
          <p:nvPr/>
        </p:nvCxnSpPr>
        <p:spPr>
          <a:xfrm>
            <a:off x="8210245" y="4237006"/>
            <a:ext cx="3181350" cy="0"/>
          </a:xfrm>
          <a:prstGeom prst="line">
            <a:avLst/>
          </a:prstGeom>
          <a:ln w="9525" cap="flat">
            <a:solidFill>
              <a:srgbClr val="E6E8F2"/>
            </a:solidFill>
          </a:ln>
        </p:spPr>
      </p:cxnSp>
      <p:cxnSp>
        <p:nvCxnSpPr>
          <p:cNvPr id="37" name="Line 37"/>
          <p:cNvCxnSpPr/>
          <p:nvPr/>
        </p:nvCxnSpPr>
        <p:spPr>
          <a:xfrm>
            <a:off x="8210245" y="4057221"/>
            <a:ext cx="3181350" cy="0"/>
          </a:xfrm>
          <a:prstGeom prst="line">
            <a:avLst/>
          </a:prstGeom>
          <a:ln w="9525" cap="flat">
            <a:solidFill>
              <a:srgbClr val="E6E8F2"/>
            </a:solidFill>
          </a:ln>
        </p:spPr>
      </p:cxnSp>
      <p:cxnSp>
        <p:nvCxnSpPr>
          <p:cNvPr id="38" name="Line 38"/>
          <p:cNvCxnSpPr/>
          <p:nvPr/>
        </p:nvCxnSpPr>
        <p:spPr>
          <a:xfrm>
            <a:off x="8210245" y="3877437"/>
            <a:ext cx="3181350" cy="0"/>
          </a:xfrm>
          <a:prstGeom prst="line">
            <a:avLst/>
          </a:prstGeom>
          <a:ln w="9525" cap="flat">
            <a:solidFill>
              <a:srgbClr val="E6E8F2"/>
            </a:solidFill>
          </a:ln>
        </p:spPr>
      </p:cxnSp>
      <p:cxnSp>
        <p:nvCxnSpPr>
          <p:cNvPr id="39" name="Line 39"/>
          <p:cNvCxnSpPr/>
          <p:nvPr/>
        </p:nvCxnSpPr>
        <p:spPr>
          <a:xfrm>
            <a:off x="8210245" y="3697653"/>
            <a:ext cx="3181350" cy="0"/>
          </a:xfrm>
          <a:prstGeom prst="line">
            <a:avLst/>
          </a:prstGeom>
          <a:ln w="9525" cap="flat">
            <a:solidFill>
              <a:srgbClr val="E6E8F2"/>
            </a:solidFill>
          </a:ln>
        </p:spPr>
      </p:cxnSp>
      <p:cxnSp>
        <p:nvCxnSpPr>
          <p:cNvPr id="40" name="Line 40"/>
          <p:cNvCxnSpPr/>
          <p:nvPr/>
        </p:nvCxnSpPr>
        <p:spPr>
          <a:xfrm>
            <a:off x="8210245" y="3517868"/>
            <a:ext cx="3181350" cy="0"/>
          </a:xfrm>
          <a:prstGeom prst="line">
            <a:avLst/>
          </a:prstGeom>
          <a:ln w="9525" cap="flat">
            <a:solidFill>
              <a:srgbClr val="E6E8F2"/>
            </a:solidFill>
          </a:ln>
        </p:spPr>
      </p:cxnSp>
      <p:cxnSp>
        <p:nvCxnSpPr>
          <p:cNvPr id="41" name="Line 41"/>
          <p:cNvCxnSpPr/>
          <p:nvPr/>
        </p:nvCxnSpPr>
        <p:spPr>
          <a:xfrm>
            <a:off x="8210245" y="3338084"/>
            <a:ext cx="3181350" cy="0"/>
          </a:xfrm>
          <a:prstGeom prst="line">
            <a:avLst/>
          </a:prstGeom>
          <a:ln w="9525" cap="flat">
            <a:solidFill>
              <a:srgbClr val="E6E8F2"/>
            </a:solidFill>
          </a:ln>
        </p:spPr>
      </p:cxnSp>
      <p:cxnSp>
        <p:nvCxnSpPr>
          <p:cNvPr id="42" name="Line 42"/>
          <p:cNvCxnSpPr/>
          <p:nvPr/>
        </p:nvCxnSpPr>
        <p:spPr>
          <a:xfrm>
            <a:off x="8210245" y="3158300"/>
            <a:ext cx="3181350" cy="0"/>
          </a:xfrm>
          <a:prstGeom prst="line">
            <a:avLst/>
          </a:prstGeom>
          <a:ln w="9525" cap="flat">
            <a:solidFill>
              <a:srgbClr val="E6E8F2"/>
            </a:solidFill>
          </a:ln>
        </p:spPr>
      </p:cxnSp>
      <p:cxnSp>
        <p:nvCxnSpPr>
          <p:cNvPr id="43" name="Line 43"/>
          <p:cNvCxnSpPr/>
          <p:nvPr/>
        </p:nvCxnSpPr>
        <p:spPr>
          <a:xfrm>
            <a:off x="8210245" y="2978515"/>
            <a:ext cx="3181350" cy="0"/>
          </a:xfrm>
          <a:prstGeom prst="line">
            <a:avLst/>
          </a:prstGeom>
          <a:ln w="9525" cap="flat">
            <a:solidFill>
              <a:srgbClr val="E6E8F2"/>
            </a:solidFill>
          </a:ln>
        </p:spPr>
      </p:cxnSp>
      <p:cxnSp>
        <p:nvCxnSpPr>
          <p:cNvPr id="44" name="Line 44"/>
          <p:cNvCxnSpPr/>
          <p:nvPr/>
        </p:nvCxnSpPr>
        <p:spPr>
          <a:xfrm>
            <a:off x="8210245" y="2798731"/>
            <a:ext cx="3181350" cy="0"/>
          </a:xfrm>
          <a:prstGeom prst="line">
            <a:avLst/>
          </a:prstGeom>
          <a:ln w="9525" cap="flat">
            <a:solidFill>
              <a:srgbClr val="E6E8F2"/>
            </a:solidFill>
          </a:ln>
        </p:spPr>
      </p:cxnSp>
      <p:cxnSp>
        <p:nvCxnSpPr>
          <p:cNvPr id="45" name="Line 45"/>
          <p:cNvCxnSpPr/>
          <p:nvPr/>
        </p:nvCxnSpPr>
        <p:spPr>
          <a:xfrm>
            <a:off x="8210245" y="2618946"/>
            <a:ext cx="3181350" cy="0"/>
          </a:xfrm>
          <a:prstGeom prst="line">
            <a:avLst/>
          </a:prstGeom>
          <a:ln w="9525" cap="flat">
            <a:solidFill>
              <a:srgbClr val="E6E8F2"/>
            </a:solidFill>
          </a:ln>
        </p:spPr>
      </p:cxnSp>
      <p:cxnSp>
        <p:nvCxnSpPr>
          <p:cNvPr id="46" name="Line 46"/>
          <p:cNvCxnSpPr/>
          <p:nvPr/>
        </p:nvCxnSpPr>
        <p:spPr>
          <a:xfrm>
            <a:off x="8210245" y="2439162"/>
            <a:ext cx="3181350" cy="0"/>
          </a:xfrm>
          <a:prstGeom prst="line">
            <a:avLst/>
          </a:prstGeom>
          <a:ln w="9525" cap="flat">
            <a:solidFill>
              <a:srgbClr val="E6E8F2"/>
            </a:solidFill>
          </a:ln>
        </p:spPr>
      </p:cxnSp>
      <p:cxnSp>
        <p:nvCxnSpPr>
          <p:cNvPr id="47" name="Line 47"/>
          <p:cNvCxnSpPr/>
          <p:nvPr/>
        </p:nvCxnSpPr>
        <p:spPr>
          <a:xfrm>
            <a:off x="8210245" y="2439162"/>
            <a:ext cx="0" cy="2876550"/>
          </a:xfrm>
          <a:prstGeom prst="line">
            <a:avLst/>
          </a:prstGeom>
          <a:ln w="19050" cap="flat">
            <a:solidFill>
              <a:srgbClr val="5F6272"/>
            </a:solidFill>
          </a:ln>
        </p:spPr>
      </p:cxnSp>
      <p:cxnSp>
        <p:nvCxnSpPr>
          <p:cNvPr id="48" name="Line 48"/>
          <p:cNvCxnSpPr/>
          <p:nvPr/>
        </p:nvCxnSpPr>
        <p:spPr>
          <a:xfrm>
            <a:off x="8210245" y="5315712"/>
            <a:ext cx="3181350" cy="0"/>
          </a:xfrm>
          <a:prstGeom prst="line">
            <a:avLst/>
          </a:prstGeom>
          <a:ln w="19050" cap="flat">
            <a:solidFill>
              <a:srgbClr val="5F6272"/>
            </a:solidFill>
          </a:ln>
        </p:spPr>
      </p:cxnSp>
      <p:sp>
        <p:nvSpPr>
          <p:cNvPr id="49" name="Shape 49"/>
          <p:cNvSpPr txBox="1"/>
          <p:nvPr/>
        </p:nvSpPr>
        <p:spPr>
          <a:xfrm>
            <a:off x="7935925" y="53347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50" name="Shape 50"/>
          <p:cNvSpPr txBox="1"/>
          <p:nvPr/>
        </p:nvSpPr>
        <p:spPr>
          <a:xfrm>
            <a:off x="8254060" y="53347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51" name="Shape 51"/>
          <p:cNvSpPr txBox="1"/>
          <p:nvPr/>
        </p:nvSpPr>
        <p:spPr>
          <a:xfrm>
            <a:off x="8572195" y="53347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52" name="Shape 52"/>
          <p:cNvSpPr txBox="1"/>
          <p:nvPr/>
        </p:nvSpPr>
        <p:spPr>
          <a:xfrm>
            <a:off x="8890330" y="53347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53" name="Shape 53"/>
          <p:cNvSpPr txBox="1"/>
          <p:nvPr/>
        </p:nvSpPr>
        <p:spPr>
          <a:xfrm>
            <a:off x="9208465" y="53347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54" name="Shape 54"/>
          <p:cNvSpPr txBox="1"/>
          <p:nvPr/>
        </p:nvSpPr>
        <p:spPr>
          <a:xfrm>
            <a:off x="9526600" y="53347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10</a:t>
            </a:r>
            <a:endParaRPr lang="en-US" sz="975" dirty="0"/>
          </a:p>
        </p:txBody>
      </p:sp>
      <p:sp>
        <p:nvSpPr>
          <p:cNvPr id="55" name="Shape 55"/>
          <p:cNvSpPr txBox="1"/>
          <p:nvPr/>
        </p:nvSpPr>
        <p:spPr>
          <a:xfrm>
            <a:off x="9844735" y="53347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12</a:t>
            </a:r>
            <a:endParaRPr lang="en-US" sz="975" dirty="0"/>
          </a:p>
        </p:txBody>
      </p:sp>
      <p:sp>
        <p:nvSpPr>
          <p:cNvPr id="56" name="Shape 56"/>
          <p:cNvSpPr txBox="1"/>
          <p:nvPr/>
        </p:nvSpPr>
        <p:spPr>
          <a:xfrm>
            <a:off x="10162870" y="53347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14</a:t>
            </a:r>
            <a:endParaRPr lang="en-US" sz="975" dirty="0"/>
          </a:p>
        </p:txBody>
      </p:sp>
      <p:sp>
        <p:nvSpPr>
          <p:cNvPr id="57" name="Shape 57"/>
          <p:cNvSpPr txBox="1"/>
          <p:nvPr/>
        </p:nvSpPr>
        <p:spPr>
          <a:xfrm>
            <a:off x="10481005" y="53347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16</a:t>
            </a:r>
            <a:endParaRPr lang="en-US" sz="975" dirty="0"/>
          </a:p>
        </p:txBody>
      </p:sp>
      <p:sp>
        <p:nvSpPr>
          <p:cNvPr id="58" name="Shape 58"/>
          <p:cNvSpPr txBox="1"/>
          <p:nvPr/>
        </p:nvSpPr>
        <p:spPr>
          <a:xfrm>
            <a:off x="10799140" y="53347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18</a:t>
            </a:r>
            <a:endParaRPr lang="en-US" sz="975" dirty="0"/>
          </a:p>
        </p:txBody>
      </p:sp>
      <p:sp>
        <p:nvSpPr>
          <p:cNvPr id="59" name="Shape 59"/>
          <p:cNvSpPr txBox="1"/>
          <p:nvPr/>
        </p:nvSpPr>
        <p:spPr>
          <a:xfrm>
            <a:off x="11117275" y="53347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20</a:t>
            </a:r>
            <a:endParaRPr lang="en-US" sz="975" dirty="0"/>
          </a:p>
        </p:txBody>
      </p:sp>
      <p:sp>
        <p:nvSpPr>
          <p:cNvPr id="60" name="Shape 60"/>
          <p:cNvSpPr txBox="1"/>
          <p:nvPr/>
        </p:nvSpPr>
        <p:spPr>
          <a:xfrm>
            <a:off x="7643317" y="522427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61" name="Shape 61"/>
          <p:cNvSpPr txBox="1"/>
          <p:nvPr/>
        </p:nvSpPr>
        <p:spPr>
          <a:xfrm>
            <a:off x="7643317" y="486470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62" name="Shape 62"/>
          <p:cNvSpPr txBox="1"/>
          <p:nvPr/>
        </p:nvSpPr>
        <p:spPr>
          <a:xfrm>
            <a:off x="7643317" y="4505135"/>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63" name="Shape 63"/>
          <p:cNvSpPr txBox="1"/>
          <p:nvPr/>
        </p:nvSpPr>
        <p:spPr>
          <a:xfrm>
            <a:off x="7643317" y="414556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64" name="Shape 64"/>
          <p:cNvSpPr txBox="1"/>
          <p:nvPr/>
        </p:nvSpPr>
        <p:spPr>
          <a:xfrm>
            <a:off x="7643317" y="3785997"/>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65" name="Shape 65"/>
          <p:cNvSpPr txBox="1"/>
          <p:nvPr/>
        </p:nvSpPr>
        <p:spPr>
          <a:xfrm>
            <a:off x="7643317" y="342642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a:t>
            </a:r>
            <a:endParaRPr lang="en-US" sz="975" dirty="0"/>
          </a:p>
        </p:txBody>
      </p:sp>
      <p:sp>
        <p:nvSpPr>
          <p:cNvPr id="66" name="Shape 66"/>
          <p:cNvSpPr txBox="1"/>
          <p:nvPr/>
        </p:nvSpPr>
        <p:spPr>
          <a:xfrm>
            <a:off x="7643317" y="3066860"/>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12</a:t>
            </a:r>
            <a:endParaRPr lang="en-US" sz="975" dirty="0"/>
          </a:p>
        </p:txBody>
      </p:sp>
      <p:sp>
        <p:nvSpPr>
          <p:cNvPr id="67" name="Shape 67"/>
          <p:cNvSpPr txBox="1"/>
          <p:nvPr/>
        </p:nvSpPr>
        <p:spPr>
          <a:xfrm>
            <a:off x="7643317" y="2707291"/>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14</a:t>
            </a:r>
            <a:endParaRPr lang="en-US" sz="975" dirty="0"/>
          </a:p>
        </p:txBody>
      </p:sp>
      <p:sp>
        <p:nvSpPr>
          <p:cNvPr id="68" name="Shape 68"/>
          <p:cNvSpPr txBox="1"/>
          <p:nvPr/>
        </p:nvSpPr>
        <p:spPr>
          <a:xfrm>
            <a:off x="7643317" y="234772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16</a:t>
            </a:r>
            <a:endParaRPr lang="en-US" sz="975" dirty="0"/>
          </a:p>
        </p:txBody>
      </p:sp>
      <p:sp>
        <p:nvSpPr>
          <p:cNvPr id="69" name="Shape 69"/>
          <p:cNvSpPr/>
          <p:nvPr/>
        </p:nvSpPr>
        <p:spPr>
          <a:xfrm>
            <a:off x="11021073" y="5263324"/>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70" name="Shape 70"/>
          <p:cNvSpPr txBox="1"/>
          <p:nvPr/>
        </p:nvSpPr>
        <p:spPr>
          <a:xfrm>
            <a:off x="11159185" y="5068062"/>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(18, 0)</a:t>
            </a:r>
            <a:endParaRPr lang="en-US" sz="1125" dirty="0"/>
          </a:p>
        </p:txBody>
      </p:sp>
      <p:sp>
        <p:nvSpPr>
          <p:cNvPr id="71" name="Shape 71"/>
          <p:cNvSpPr/>
          <p:nvPr/>
        </p:nvSpPr>
        <p:spPr>
          <a:xfrm>
            <a:off x="8157858" y="3105912"/>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72" name="Shape 72"/>
          <p:cNvSpPr txBox="1"/>
          <p:nvPr/>
        </p:nvSpPr>
        <p:spPr>
          <a:xfrm>
            <a:off x="8295970" y="2910650"/>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(0, 12)</a:t>
            </a:r>
            <a:endParaRPr lang="en-US" sz="1125" dirty="0"/>
          </a:p>
        </p:txBody>
      </p:sp>
      <p:cxnSp>
        <p:nvCxnSpPr>
          <p:cNvPr id="73" name="Line 73"/>
          <p:cNvCxnSpPr/>
          <p:nvPr/>
        </p:nvCxnSpPr>
        <p:spPr>
          <a:xfrm>
            <a:off x="8210245" y="3158300"/>
            <a:ext cx="2863215" cy="2157412"/>
          </a:xfrm>
          <a:prstGeom prst="line">
            <a:avLst/>
          </a:prstGeom>
          <a:ln w="38100" cap="rnd">
            <a:solidFill>
              <a:srgbClr val="16171D"/>
            </a:solidFill>
          </a:ln>
        </p:spPr>
      </p:cxnSp>
      <p:sp>
        <p:nvSpPr>
          <p:cNvPr id="74" name="Slide Number 74"/>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6</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ppt_x</p:attrName>
                                        </p:attrNameLst>
                                      </p:cBhvr>
                                      <p:tavLst>
                                        <p:tav tm="0">
                                          <p:val>
                                            <p:strVal val="#ppt_x"/>
                                          </p:val>
                                        </p:tav>
                                        <p:tav tm="100000">
                                          <p:val>
                                            <p:strVal val="#ppt_x"/>
                                          </p:val>
                                        </p:tav>
                                      </p:tavLst>
                                    </p:anim>
                                    <p:anim calcmode="lin" valueType="num">
                                      <p:cBhvr>
                                        <p:cTn id="13"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500"/>
                                        <p:tgtEl>
                                          <p:spTgt spid="7"/>
                                        </p:tgtEl>
                                      </p:cBhvr>
                                    </p:animEffect>
                                    <p:anim calcmode="lin" valueType="num">
                                      <p:cBhvr>
                                        <p:cTn id="19" dur="500" fill="hold"/>
                                        <p:tgtEl>
                                          <p:spTgt spid="7"/>
                                        </p:tgtEl>
                                        <p:attrNameLst>
                                          <p:attrName>ppt_x</p:attrName>
                                        </p:attrNameLst>
                                      </p:cBhvr>
                                      <p:tavLst>
                                        <p:tav tm="0">
                                          <p:val>
                                            <p:strVal val="#ppt_x"/>
                                          </p:val>
                                        </p:tav>
                                        <p:tav tm="100000">
                                          <p:val>
                                            <p:strVal val="#ppt_x"/>
                                          </p:val>
                                        </p:tav>
                                      </p:tavLst>
                                    </p:anim>
                                    <p:anim calcmode="lin" valueType="num">
                                      <p:cBhvr>
                                        <p:cTn id="20"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34" fill="hold">
                      <p:stCondLst>
                        <p:cond delay="indefinite"/>
                      </p:stCondLst>
                      <p:childTnLst>
                        <p:par>
                          <p:cTn id="35"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69"/>
                                        </p:tgtEl>
                                        <p:attrNameLst>
                                          <p:attrName>style.visibility</p:attrName>
                                        </p:attrNameLst>
                                      </p:cBhvr>
                                      <p:to>
                                        <p:strVal val="visible"/>
                                      </p:to>
                                    </p:set>
                                    <p:animEffect transition="in" filter="fade">
                                      <p:cBhvr>
                                        <p:cTn id="25" dur="500"/>
                                        <p:tgtEl>
                                          <p:spTgt spid="69"/>
                                        </p:tgtEl>
                                      </p:cBhvr>
                                    </p:animEffect>
                                    <p:anim calcmode="lin" valueType="num">
                                      <p:cBhvr>
                                        <p:cTn id="26" dur="500" fill="hold"/>
                                        <p:tgtEl>
                                          <p:spTgt spid="69"/>
                                        </p:tgtEl>
                                        <p:attrNameLst>
                                          <p:attrName>ppt_w</p:attrName>
                                        </p:attrNameLst>
                                      </p:cBhvr>
                                      <p:tavLst>
                                        <p:tav tm="0">
                                          <p:val>
                                            <p:fltVal val="0"/>
                                          </p:val>
                                        </p:tav>
                                        <p:tav tm="100000">
                                          <p:val>
                                            <p:strVal val="#ppt_w"/>
                                          </p:val>
                                        </p:tav>
                                      </p:tavLst>
                                    </p:anim>
                                    <p:anim calcmode="lin" valueType="num">
                                      <p:cBhvr>
                                        <p:cTn id="27" dur="500" fill="hold"/>
                                        <p:tgtEl>
                                          <p:spTgt spid="69"/>
                                        </p:tgtEl>
                                        <p:attrNameLst>
                                          <p:attrName>ppt_h</p:attrName>
                                        </p:attrNameLst>
                                      </p:cBhvr>
                                      <p:tavLst>
                                        <p:tav tm="0">
                                          <p:val>
                                            <p:fltVal val="0"/>
                                          </p:val>
                                        </p:tav>
                                        <p:tav tm="100000">
                                          <p:val>
                                            <p:strVal val="#ppt_h"/>
                                          </p:val>
                                        </p:tav>
                                      </p:tavLst>
                                    </p:anim>
                                  </p:childTnLst>
                                </p:cTn>
                              </p:par>
                              <p:par>
                                <p:cTn id="33" presetID="53" presetClass="entr" presetSubtype="16" fill="hold" nodeType="withEffect">
                                  <p:stCondLst>
                                    <p:cond delay="0"/>
                                  </p:stCondLst>
                                  <p:childTnLst>
                                    <p:set>
                                      <p:cBhvr>
                                        <p:cTn id="29" dur="1" fill="hold">
                                          <p:stCondLst>
                                            <p:cond delay="0"/>
                                          </p:stCondLst>
                                        </p:cTn>
                                        <p:tgtEl>
                                          <p:spTgt spid="70"/>
                                        </p:tgtEl>
                                        <p:attrNameLst>
                                          <p:attrName>style.visibility</p:attrName>
                                        </p:attrNameLst>
                                      </p:cBhvr>
                                      <p:to>
                                        <p:strVal val="visible"/>
                                      </p:to>
                                    </p:set>
                                    <p:animEffect transition="in" filter="fade">
                                      <p:cBhvr>
                                        <p:cTn id="30" dur="500"/>
                                        <p:tgtEl>
                                          <p:spTgt spid="70"/>
                                        </p:tgtEl>
                                      </p:cBhvr>
                                    </p:animEffect>
                                    <p:anim calcmode="lin" valueType="num">
                                      <p:cBhvr>
                                        <p:cTn id="31" dur="500" fill="hold"/>
                                        <p:tgtEl>
                                          <p:spTgt spid="70"/>
                                        </p:tgtEl>
                                        <p:attrNameLst>
                                          <p:attrName>ppt_w</p:attrName>
                                        </p:attrNameLst>
                                      </p:cBhvr>
                                      <p:tavLst>
                                        <p:tav tm="0">
                                          <p:val>
                                            <p:fltVal val="0"/>
                                          </p:val>
                                        </p:tav>
                                        <p:tav tm="100000">
                                          <p:val>
                                            <p:strVal val="#ppt_w"/>
                                          </p:val>
                                        </p:tav>
                                      </p:tavLst>
                                    </p:anim>
                                    <p:anim calcmode="lin" valueType="num">
                                      <p:cBhvr>
                                        <p:cTn id="32" dur="500" fill="hold"/>
                                        <p:tgtEl>
                                          <p:spTgt spid="70"/>
                                        </p:tgtEl>
                                        <p:attrNameLst>
                                          <p:attrName>ppt_h</p:attrName>
                                        </p:attrNameLst>
                                      </p:cBhvr>
                                      <p:tavLst>
                                        <p:tav tm="0">
                                          <p:val>
                                            <p:fltVal val="0"/>
                                          </p:val>
                                        </p:tav>
                                        <p:tav tm="100000">
                                          <p:val>
                                            <p:strVal val="#ppt_h"/>
                                          </p:val>
                                        </p:tav>
                                      </p:tavLst>
                                    </p:anim>
                                  </p:childTnLst>
                                </p:cTn>
                              </p:par>
                            </p:childTnLst>
                          </p:cTn>
                        </p:par>
                      </p:childTnLst>
                    </p:cTn>
                  </p:par>
                  <p:par>
                    <p:cTn id="46" fill="hold">
                      <p:stCondLst>
                        <p:cond delay="indefinite"/>
                      </p:stCondLst>
                      <p:childTnLst>
                        <p:par>
                          <p:cTn id="47" fill="hold">
                            <p:stCondLst>
                              <p:cond delay="0"/>
                            </p:stCondLst>
                            <p:childTnLst>
                              <p:par>
                                <p:cTn id="40" presetID="53" presetClass="entr" presetSubtype="16" fill="hold" nodeType="clickEffect">
                                  <p:stCondLst>
                                    <p:cond delay="0"/>
                                  </p:stCondLst>
                                  <p:childTnLst>
                                    <p:set>
                                      <p:cBhvr>
                                        <p:cTn id="36" dur="1" fill="hold">
                                          <p:stCondLst>
                                            <p:cond delay="0"/>
                                          </p:stCondLst>
                                        </p:cTn>
                                        <p:tgtEl>
                                          <p:spTgt spid="71"/>
                                        </p:tgtEl>
                                        <p:attrNameLst>
                                          <p:attrName>style.visibility</p:attrName>
                                        </p:attrNameLst>
                                      </p:cBhvr>
                                      <p:to>
                                        <p:strVal val="visible"/>
                                      </p:to>
                                    </p:set>
                                    <p:animEffect transition="in" filter="fade">
                                      <p:cBhvr>
                                        <p:cTn id="37" dur="500"/>
                                        <p:tgtEl>
                                          <p:spTgt spid="71"/>
                                        </p:tgtEl>
                                      </p:cBhvr>
                                    </p:animEffect>
                                    <p:anim calcmode="lin" valueType="num">
                                      <p:cBhvr>
                                        <p:cTn id="38" dur="500" fill="hold"/>
                                        <p:tgtEl>
                                          <p:spTgt spid="71"/>
                                        </p:tgtEl>
                                        <p:attrNameLst>
                                          <p:attrName>ppt_w</p:attrName>
                                        </p:attrNameLst>
                                      </p:cBhvr>
                                      <p:tavLst>
                                        <p:tav tm="0">
                                          <p:val>
                                            <p:fltVal val="0"/>
                                          </p:val>
                                        </p:tav>
                                        <p:tav tm="100000">
                                          <p:val>
                                            <p:strVal val="#ppt_w"/>
                                          </p:val>
                                        </p:tav>
                                      </p:tavLst>
                                    </p:anim>
                                    <p:anim calcmode="lin" valueType="num">
                                      <p:cBhvr>
                                        <p:cTn id="39" dur="500" fill="hold"/>
                                        <p:tgtEl>
                                          <p:spTgt spid="71"/>
                                        </p:tgtEl>
                                        <p:attrNameLst>
                                          <p:attrName>ppt_h</p:attrName>
                                        </p:attrNameLst>
                                      </p:cBhvr>
                                      <p:tavLst>
                                        <p:tav tm="0">
                                          <p:val>
                                            <p:fltVal val="0"/>
                                          </p:val>
                                        </p:tav>
                                        <p:tav tm="100000">
                                          <p:val>
                                            <p:strVal val="#ppt_h"/>
                                          </p:val>
                                        </p:tav>
                                      </p:tavLst>
                                    </p:anim>
                                  </p:childTnLst>
                                </p:cTn>
                              </p:par>
                              <p:par>
                                <p:cTn id="45" presetID="53" presetClass="entr" presetSubtype="16" fill="hold" nodeType="withEffect">
                                  <p:stCondLst>
                                    <p:cond delay="0"/>
                                  </p:stCondLst>
                                  <p:childTnLst>
                                    <p:set>
                                      <p:cBhvr>
                                        <p:cTn id="41" dur="1" fill="hold">
                                          <p:stCondLst>
                                            <p:cond delay="0"/>
                                          </p:stCondLst>
                                        </p:cTn>
                                        <p:tgtEl>
                                          <p:spTgt spid="72"/>
                                        </p:tgtEl>
                                        <p:attrNameLst>
                                          <p:attrName>style.visibility</p:attrName>
                                        </p:attrNameLst>
                                      </p:cBhvr>
                                      <p:to>
                                        <p:strVal val="visible"/>
                                      </p:to>
                                    </p:set>
                                    <p:animEffect transition="in" filter="fade">
                                      <p:cBhvr>
                                        <p:cTn id="42" dur="500"/>
                                        <p:tgtEl>
                                          <p:spTgt spid="72"/>
                                        </p:tgtEl>
                                      </p:cBhvr>
                                    </p:animEffect>
                                    <p:anim calcmode="lin" valueType="num">
                                      <p:cBhvr>
                                        <p:cTn id="43" dur="500" fill="hold"/>
                                        <p:tgtEl>
                                          <p:spTgt spid="72"/>
                                        </p:tgtEl>
                                        <p:attrNameLst>
                                          <p:attrName>ppt_w</p:attrName>
                                        </p:attrNameLst>
                                      </p:cBhvr>
                                      <p:tavLst>
                                        <p:tav tm="0">
                                          <p:val>
                                            <p:fltVal val="0"/>
                                          </p:val>
                                        </p:tav>
                                        <p:tav tm="100000">
                                          <p:val>
                                            <p:strVal val="#ppt_w"/>
                                          </p:val>
                                        </p:tav>
                                      </p:tavLst>
                                    </p:anim>
                                    <p:anim calcmode="lin" valueType="num">
                                      <p:cBhvr>
                                        <p:cTn id="44" dur="500" fill="hold"/>
                                        <p:tgtEl>
                                          <p:spTgt spid="72"/>
                                        </p:tgtEl>
                                        <p:attrNameLst>
                                          <p:attrName>ppt_h</p:attrName>
                                        </p:attrNameLst>
                                      </p:cBhvr>
                                      <p:tavLst>
                                        <p:tav tm="0">
                                          <p:val>
                                            <p:fltVal val="0"/>
                                          </p:val>
                                        </p:tav>
                                        <p:tav tm="100000">
                                          <p:val>
                                            <p:strVal val="#ppt_h"/>
                                          </p:val>
                                        </p:tav>
                                      </p:tavLst>
                                    </p:anim>
                                  </p:childTnLst>
                                </p:cTn>
                              </p:par>
                            </p:childTnLst>
                          </p:cTn>
                        </p:par>
                      </p:childTnLst>
                    </p:cTn>
                  </p:par>
                  <p:par>
                    <p:cTn id="51" fill="hold">
                      <p:stCondLst>
                        <p:cond delay="indefinite"/>
                      </p:stCondLst>
                      <p:childTnLst>
                        <p:par>
                          <p:cTn id="52" fill="hold">
                            <p:stCondLst>
                              <p:cond delay="0"/>
                            </p:stCondLst>
                            <p:childTnLst>
                              <p:par>
                                <p:cTn id="50" presetID="22" presetClass="entr" presetSubtype="8" fill="hold" nodeType="clickEffect">
                                  <p:stCondLst>
                                    <p:cond delay="0"/>
                                  </p:stCondLst>
                                  <p:childTnLst>
                                    <p:set>
                                      <p:cBhvr>
                                        <p:cTn id="48" dur="1" fill="hold">
                                          <p:stCondLst>
                                            <p:cond delay="0"/>
                                          </p:stCondLst>
                                        </p:cTn>
                                        <p:tgtEl>
                                          <p:spTgt spid="73"/>
                                        </p:tgtEl>
                                        <p:attrNameLst>
                                          <p:attrName>style.visibility</p:attrName>
                                        </p:attrNameLst>
                                      </p:cBhvr>
                                      <p:to>
                                        <p:strVal val="visible"/>
                                      </p:to>
                                    </p:set>
                                    <p:animEffect transition="in" filter="wipe(left)">
                                      <p:cBhvr>
                                        <p:cTn id="49" dur="700"/>
                                        <p:tgtEl>
                                          <p:spTgt spid="7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Lesson 5 · Talk the Talk · Question 3 · SE pp. 233–234</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Advantages and disadvantages of each form</a:t>
            </a:r>
            <a:endParaRPr lang="en-US" sz="3450" dirty="0"/>
          </a:p>
        </p:txBody>
      </p:sp>
      <p:sp>
        <p:nvSpPr>
          <p:cNvPr id="4" name="Shape 4"/>
          <p:cNvSpPr txBox="1"/>
          <p:nvPr/>
        </p:nvSpPr>
        <p:spPr>
          <a:xfrm>
            <a:off x="685800" y="1618488"/>
            <a:ext cx="2164019" cy="498348"/>
          </a:xfrm>
          <a:prstGeom prst="rect">
            <a:avLst/>
          </a:prstGeom>
          <a:noFill/>
          <a:ln>
            <a:noFill/>
          </a:ln>
        </p:spPr>
        <p:txBody>
          <a:bodyPr wrap="square" lIns="109728" tIns="45720" rIns="109728" bIns="45720" anchor="ctr">
            <a:noAutofit/>
          </a:bodyPr>
          <a:lstStyle/>
          <a:p>
            <a:pPr algn="l">
              <a:lnSpc>
                <a:spcPct val="100000"/>
              </a:lnSpc>
            </a:pPr>
            <a:r>
              <a:rPr lang="en-US" sz="1950" dirty="0" b="1">
                <a:solidFill>
                  <a:srgbClr val="16171D"/>
                </a:solidFill>
                <a:latin typeface="Segoe UI"/>
                <a:cs typeface="Segoe UI"/>
              </a:rPr>
              <a:t xml:space="preserve">Form</a:t>
            </a:r>
            <a:endParaRPr lang="en-US" sz="1950" dirty="0"/>
          </a:p>
        </p:txBody>
      </p:sp>
      <p:sp>
        <p:nvSpPr>
          <p:cNvPr id="5" name="Shape 5"/>
          <p:cNvSpPr txBox="1"/>
          <p:nvPr/>
        </p:nvSpPr>
        <p:spPr>
          <a:xfrm>
            <a:off x="2849819" y="1618488"/>
            <a:ext cx="4328038" cy="498348"/>
          </a:xfrm>
          <a:prstGeom prst="rect">
            <a:avLst/>
          </a:prstGeom>
          <a:noFill/>
          <a:ln>
            <a:noFill/>
          </a:ln>
        </p:spPr>
        <p:txBody>
          <a:bodyPr wrap="square" lIns="109728" tIns="45720" rIns="109728" bIns="45720" anchor="ctr">
            <a:noAutofit/>
          </a:bodyPr>
          <a:lstStyle/>
          <a:p>
            <a:pPr algn="l">
              <a:lnSpc>
                <a:spcPct val="100000"/>
              </a:lnSpc>
            </a:pPr>
            <a:r>
              <a:rPr lang="en-US" sz="1950" dirty="0" b="1">
                <a:solidFill>
                  <a:srgbClr val="16171D"/>
                </a:solidFill>
                <a:latin typeface="Segoe UI"/>
                <a:cs typeface="Segoe UI"/>
              </a:rPr>
              <a:t xml:space="preserve">Advantages</a:t>
            </a:r>
            <a:endParaRPr lang="en-US" sz="1950" dirty="0"/>
          </a:p>
        </p:txBody>
      </p:sp>
      <p:sp>
        <p:nvSpPr>
          <p:cNvPr id="6" name="Shape 6"/>
          <p:cNvSpPr txBox="1"/>
          <p:nvPr/>
        </p:nvSpPr>
        <p:spPr>
          <a:xfrm>
            <a:off x="7177857" y="1618488"/>
            <a:ext cx="4328038" cy="498348"/>
          </a:xfrm>
          <a:prstGeom prst="rect">
            <a:avLst/>
          </a:prstGeom>
          <a:noFill/>
          <a:ln>
            <a:noFill/>
          </a:ln>
        </p:spPr>
        <p:txBody>
          <a:bodyPr wrap="square" lIns="109728" tIns="45720" rIns="109728" bIns="45720" anchor="ctr">
            <a:noAutofit/>
          </a:bodyPr>
          <a:lstStyle/>
          <a:p>
            <a:pPr algn="l">
              <a:lnSpc>
                <a:spcPct val="100000"/>
              </a:lnSpc>
            </a:pPr>
            <a:r>
              <a:rPr lang="en-US" sz="1950" dirty="0" b="1">
                <a:solidFill>
                  <a:srgbClr val="16171D"/>
                </a:solidFill>
                <a:latin typeface="Segoe UI"/>
                <a:cs typeface="Segoe UI"/>
              </a:rPr>
              <a:t xml:space="preserve">Disadvantages</a:t>
            </a:r>
            <a:endParaRPr lang="en-US" sz="1950" dirty="0"/>
          </a:p>
        </p:txBody>
      </p:sp>
      <p:cxnSp>
        <p:nvCxnSpPr>
          <p:cNvPr id="7" name="Line 7"/>
          <p:cNvCxnSpPr/>
          <p:nvPr/>
        </p:nvCxnSpPr>
        <p:spPr>
          <a:xfrm>
            <a:off x="685800" y="2116836"/>
            <a:ext cx="10820095" cy="0"/>
          </a:xfrm>
          <a:prstGeom prst="line">
            <a:avLst/>
          </a:prstGeom>
          <a:ln w="9525" cap="flat">
            <a:solidFill>
              <a:srgbClr val="E3E4EC"/>
            </a:solidFill>
          </a:ln>
        </p:spPr>
      </p:cxnSp>
      <p:sp>
        <p:nvSpPr>
          <p:cNvPr id="8" name="Shape 8"/>
          <p:cNvSpPr txBox="1"/>
          <p:nvPr/>
        </p:nvSpPr>
        <p:spPr>
          <a:xfrm>
            <a:off x="685800" y="2116836"/>
            <a:ext cx="2164019" cy="1298448"/>
          </a:xfrm>
          <a:prstGeom prst="rect">
            <a:avLst/>
          </a:prstGeom>
          <a:noFill/>
          <a:ln>
            <a:noFill/>
          </a:ln>
        </p:spPr>
        <p:txBody>
          <a:bodyPr wrap="square" lIns="109728" tIns="45720" rIns="109728" bIns="45720" anchor="ctr">
            <a:noAutofit/>
          </a:bodyPr>
          <a:lstStyle/>
          <a:p>
            <a:pPr algn="l">
              <a:lnSpc>
                <a:spcPct val="100000"/>
              </a:lnSpc>
            </a:pPr>
            <a:r>
              <a:rPr lang="en-US" sz="1800" dirty="0" b="1">
                <a:solidFill>
                  <a:srgbClr val="16171D"/>
                </a:solidFill>
                <a:latin typeface="Segoe UI"/>
                <a:cs typeface="Segoe UI"/>
              </a:rPr>
              <a:t xml:space="preserve">Slope-intercept</a:t>
            </a:r>
            <a:br>
              <a:rPr lang="en-US" sz="1800" dirty="0">
                <a:solidFill>
                  <a:srgbClr val="16171D"/>
                </a:solidFill>
                <a:latin typeface="Segoe UI"/>
                <a:cs typeface="Segoe UI"/>
              </a:rPr>
            </a:br>
            <a:r>
              <a:rPr lang="en-US" sz="1800" dirty="0" i="1">
                <a:solidFill>
                  <a:srgbClr val="16171D"/>
                </a:solidFill>
                <a:latin typeface="Cambria"/>
                <a:cs typeface="Cambria"/>
              </a:rPr>
              <a:t xml:space="preserve">y</a:t>
            </a:r>
            <a:r>
              <a:rPr lang="en-US" sz="1800" dirty="0">
                <a:solidFill>
                  <a:srgbClr val="16171D"/>
                </a:solidFill>
                <a:latin typeface="Cambria"/>
                <a:cs typeface="Cambria"/>
              </a:rPr>
              <a:t xml:space="preserve"> = </a:t>
            </a:r>
            <a:r>
              <a:rPr lang="en-US" sz="1800" dirty="0" i="1">
                <a:solidFill>
                  <a:srgbClr val="16171D"/>
                </a:solidFill>
                <a:latin typeface="Cambria"/>
                <a:cs typeface="Cambria"/>
              </a:rPr>
              <a:t xml:space="preserve">mx</a:t>
            </a:r>
            <a:r>
              <a:rPr lang="en-US" sz="1800" dirty="0">
                <a:solidFill>
                  <a:srgbClr val="16171D"/>
                </a:solidFill>
                <a:latin typeface="Cambria"/>
                <a:cs typeface="Cambria"/>
              </a:rPr>
              <a:t xml:space="preserve"> + </a:t>
            </a:r>
            <a:r>
              <a:rPr lang="en-US" sz="1800" dirty="0" i="1">
                <a:solidFill>
                  <a:srgbClr val="16171D"/>
                </a:solidFill>
                <a:latin typeface="Cambria"/>
                <a:cs typeface="Cambria"/>
              </a:rPr>
              <a:t xml:space="preserve">b</a:t>
            </a:r>
            <a:endParaRPr lang="en-US" sz="1800" dirty="0"/>
          </a:p>
        </p:txBody>
      </p:sp>
      <p:sp>
        <p:nvSpPr>
          <p:cNvPr id="9" name="Shape 9"/>
          <p:cNvSpPr txBox="1"/>
          <p:nvPr/>
        </p:nvSpPr>
        <p:spPr>
          <a:xfrm>
            <a:off x="2849819" y="2116836"/>
            <a:ext cx="4328038" cy="129844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Shows the slope and </a:t>
            </a:r>
            <a:r>
              <a:rPr lang="en-US" sz="1800" dirty="0" i="1">
                <a:solidFill>
                  <a:srgbClr val="16171D"/>
                </a:solidFill>
                <a:latin typeface="Segoe UI"/>
                <a:cs typeface="Segoe UI"/>
              </a:rPr>
              <a:t xml:space="preserve">y</a:t>
            </a:r>
            <a:r>
              <a:rPr lang="en-US" sz="1800" dirty="0">
                <a:solidFill>
                  <a:srgbClr val="16171D"/>
                </a:solidFill>
                <a:latin typeface="Segoe UI"/>
                <a:cs typeface="Segoe UI"/>
              </a:rPr>
              <a:t xml:space="preserve">-intercept. Easy to write from a starting value and a rate. Graph from the intercept and slope.</a:t>
            </a:r>
            <a:endParaRPr lang="en-US" sz="1800" dirty="0"/>
          </a:p>
        </p:txBody>
      </p:sp>
      <p:sp>
        <p:nvSpPr>
          <p:cNvPr id="10" name="Shape 10"/>
          <p:cNvSpPr txBox="1"/>
          <p:nvPr/>
        </p:nvSpPr>
        <p:spPr>
          <a:xfrm>
            <a:off x="7177857" y="2116836"/>
            <a:ext cx="4328038" cy="129844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Less helpful if the </a:t>
            </a:r>
            <a:r>
              <a:rPr lang="en-US" sz="1800" dirty="0" i="1">
                <a:solidFill>
                  <a:srgbClr val="16171D"/>
                </a:solidFill>
                <a:latin typeface="Segoe UI"/>
                <a:cs typeface="Segoe UI"/>
              </a:rPr>
              <a:t xml:space="preserve">y</a:t>
            </a:r>
            <a:r>
              <a:rPr lang="en-US" sz="1800" dirty="0">
                <a:solidFill>
                  <a:srgbClr val="16171D"/>
                </a:solidFill>
                <a:latin typeface="Segoe UI"/>
                <a:cs typeface="Segoe UI"/>
              </a:rPr>
              <a:t xml:space="preserve">-intercept doesn't make sense or is off the part of the graph you need.</a:t>
            </a:r>
            <a:endParaRPr lang="en-US" sz="1800" dirty="0"/>
          </a:p>
        </p:txBody>
      </p:sp>
      <p:cxnSp>
        <p:nvCxnSpPr>
          <p:cNvPr id="11" name="Line 11"/>
          <p:cNvCxnSpPr/>
          <p:nvPr/>
        </p:nvCxnSpPr>
        <p:spPr>
          <a:xfrm>
            <a:off x="685800" y="3415284"/>
            <a:ext cx="10820095" cy="0"/>
          </a:xfrm>
          <a:prstGeom prst="line">
            <a:avLst/>
          </a:prstGeom>
          <a:ln w="9525" cap="flat">
            <a:solidFill>
              <a:srgbClr val="E3E4EC"/>
            </a:solidFill>
          </a:ln>
        </p:spPr>
      </p:cxnSp>
      <p:sp>
        <p:nvSpPr>
          <p:cNvPr id="12" name="Shape 12"/>
          <p:cNvSpPr txBox="1"/>
          <p:nvPr/>
        </p:nvSpPr>
        <p:spPr>
          <a:xfrm>
            <a:off x="685800" y="3415284"/>
            <a:ext cx="2164019" cy="1298448"/>
          </a:xfrm>
          <a:prstGeom prst="rect">
            <a:avLst/>
          </a:prstGeom>
          <a:noFill/>
          <a:ln>
            <a:noFill/>
          </a:ln>
        </p:spPr>
        <p:txBody>
          <a:bodyPr wrap="square" lIns="109728" tIns="45720" rIns="109728" bIns="45720" anchor="ctr">
            <a:noAutofit/>
          </a:bodyPr>
          <a:lstStyle/>
          <a:p>
            <a:pPr algn="l">
              <a:lnSpc>
                <a:spcPct val="100000"/>
              </a:lnSpc>
            </a:pPr>
            <a:r>
              <a:rPr lang="en-US" sz="1800" dirty="0" b="1">
                <a:solidFill>
                  <a:srgbClr val="16171D"/>
                </a:solidFill>
                <a:latin typeface="Segoe UI"/>
                <a:cs typeface="Segoe UI"/>
              </a:rPr>
              <a:t xml:space="preserve">Point-slope</a:t>
            </a:r>
            <a:br>
              <a:rPr lang="en-US" sz="1800" dirty="0">
                <a:solidFill>
                  <a:srgbClr val="16171D"/>
                </a:solidFill>
                <a:latin typeface="Segoe UI"/>
                <a:cs typeface="Segoe UI"/>
              </a:rPr>
            </a:br>
            <a:r>
              <a:rPr lang="en-US" sz="1800" dirty="0" i="1">
                <a:solidFill>
                  <a:srgbClr val="16171D"/>
                </a:solidFill>
                <a:latin typeface="Cambria"/>
                <a:cs typeface="Cambria"/>
              </a:rPr>
              <a:t xml:space="preserve">y</a:t>
            </a:r>
            <a:r>
              <a:rPr lang="en-US" sz="1800" dirty="0">
                <a:solidFill>
                  <a:srgbClr val="16171D"/>
                </a:solidFill>
                <a:latin typeface="Cambria"/>
                <a:cs typeface="Cambria"/>
              </a:rPr>
              <a:t xml:space="preserve"> − </a:t>
            </a:r>
            <a:r>
              <a:rPr lang="en-US" sz="1800" dirty="0" i="1">
                <a:solidFill>
                  <a:srgbClr val="16171D"/>
                </a:solidFill>
                <a:latin typeface="Cambria"/>
                <a:cs typeface="Cambria"/>
              </a:rPr>
              <a:t xml:space="preserve">y</a:t>
            </a:r>
            <a:r>
              <a:rPr lang="en-US" sz="1530" dirty="0" baseline="-25000">
                <a:solidFill>
                  <a:srgbClr val="16171D"/>
                </a:solidFill>
                <a:latin typeface="Cambria"/>
                <a:cs typeface="Cambria"/>
              </a:rPr>
              <a:t xml:space="preserve">1</a:t>
            </a:r>
            <a:r>
              <a:rPr lang="en-US" sz="1800" dirty="0">
                <a:solidFill>
                  <a:srgbClr val="16171D"/>
                </a:solidFill>
                <a:latin typeface="Cambria"/>
                <a:cs typeface="Cambria"/>
              </a:rPr>
              <a:t xml:space="preserve"> = </a:t>
            </a:r>
            <a:r>
              <a:rPr lang="en-US" sz="1800" dirty="0" i="1">
                <a:solidFill>
                  <a:srgbClr val="16171D"/>
                </a:solidFill>
                <a:latin typeface="Cambria"/>
                <a:cs typeface="Cambria"/>
              </a:rPr>
              <a:t xml:space="preserve">m</a:t>
            </a:r>
            <a:r>
              <a:rPr lang="en-US" sz="1800" dirty="0">
                <a:solidFill>
                  <a:srgbClr val="16171D"/>
                </a:solidFill>
                <a:latin typeface="Cambria"/>
                <a:cs typeface="Cambria"/>
              </a:rPr>
              <a:t xml:space="preserve">(</a:t>
            </a:r>
            <a:r>
              <a:rPr lang="en-US" sz="1800" dirty="0" i="1">
                <a:solidFill>
                  <a:srgbClr val="16171D"/>
                </a:solidFill>
                <a:latin typeface="Cambria"/>
                <a:cs typeface="Cambria"/>
              </a:rPr>
              <a:t xml:space="preserve">x</a:t>
            </a:r>
            <a:r>
              <a:rPr lang="en-US" sz="1800" dirty="0">
                <a:solidFill>
                  <a:srgbClr val="16171D"/>
                </a:solidFill>
                <a:latin typeface="Cambria"/>
                <a:cs typeface="Cambria"/>
              </a:rPr>
              <a:t xml:space="preserve"> − </a:t>
            </a:r>
            <a:r>
              <a:rPr lang="en-US" sz="1800" dirty="0" i="1">
                <a:solidFill>
                  <a:srgbClr val="16171D"/>
                </a:solidFill>
                <a:latin typeface="Cambria"/>
                <a:cs typeface="Cambria"/>
              </a:rPr>
              <a:t xml:space="preserve">x</a:t>
            </a:r>
            <a:r>
              <a:rPr lang="en-US" sz="1530" dirty="0" baseline="-25000">
                <a:solidFill>
                  <a:srgbClr val="16171D"/>
                </a:solidFill>
                <a:latin typeface="Cambria"/>
                <a:cs typeface="Cambria"/>
              </a:rPr>
              <a:t xml:space="preserve">1</a:t>
            </a:r>
            <a:r>
              <a:rPr lang="en-US" sz="1800" dirty="0">
                <a:solidFill>
                  <a:srgbClr val="16171D"/>
                </a:solidFill>
                <a:latin typeface="Cambria"/>
                <a:cs typeface="Cambria"/>
              </a:rPr>
              <a:t xml:space="preserve">)</a:t>
            </a:r>
            <a:endParaRPr lang="en-US" sz="1800" dirty="0"/>
          </a:p>
        </p:txBody>
      </p:sp>
      <p:sp>
        <p:nvSpPr>
          <p:cNvPr id="13" name="Shape 13"/>
          <p:cNvSpPr txBox="1"/>
          <p:nvPr/>
        </p:nvSpPr>
        <p:spPr>
          <a:xfrm>
            <a:off x="2849819" y="3415284"/>
            <a:ext cx="4328038" cy="129844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Shows the slope and a point. Easy to write from two points or a point and a rate. Graph from the point and slope.</a:t>
            </a:r>
            <a:endParaRPr lang="en-US" sz="1800" dirty="0"/>
          </a:p>
        </p:txBody>
      </p:sp>
      <p:sp>
        <p:nvSpPr>
          <p:cNvPr id="14" name="Shape 14"/>
          <p:cNvSpPr txBox="1"/>
          <p:nvPr/>
        </p:nvSpPr>
        <p:spPr>
          <a:xfrm>
            <a:off x="7177857" y="3415284"/>
            <a:ext cx="4328038" cy="129844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Doesn't show the </a:t>
            </a:r>
            <a:r>
              <a:rPr lang="en-US" sz="1800" dirty="0" i="1">
                <a:solidFill>
                  <a:srgbClr val="16171D"/>
                </a:solidFill>
                <a:latin typeface="Segoe UI"/>
                <a:cs typeface="Segoe UI"/>
              </a:rPr>
              <a:t xml:space="preserve">y</a:t>
            </a:r>
            <a:r>
              <a:rPr lang="en-US" sz="1800" dirty="0">
                <a:solidFill>
                  <a:srgbClr val="16171D"/>
                </a:solidFill>
                <a:latin typeface="Segoe UI"/>
                <a:cs typeface="Segoe UI"/>
              </a:rPr>
              <a:t xml:space="preserve">-intercept.</a:t>
            </a:r>
            <a:endParaRPr lang="en-US" sz="1800" dirty="0"/>
          </a:p>
        </p:txBody>
      </p:sp>
      <p:cxnSp>
        <p:nvCxnSpPr>
          <p:cNvPr id="15" name="Line 15"/>
          <p:cNvCxnSpPr/>
          <p:nvPr/>
        </p:nvCxnSpPr>
        <p:spPr>
          <a:xfrm>
            <a:off x="685800" y="4713732"/>
            <a:ext cx="10820095" cy="0"/>
          </a:xfrm>
          <a:prstGeom prst="line">
            <a:avLst/>
          </a:prstGeom>
          <a:ln w="9525" cap="flat">
            <a:solidFill>
              <a:srgbClr val="E3E4EC"/>
            </a:solidFill>
          </a:ln>
        </p:spPr>
      </p:cxnSp>
      <p:sp>
        <p:nvSpPr>
          <p:cNvPr id="16" name="Shape 16"/>
          <p:cNvSpPr txBox="1"/>
          <p:nvPr/>
        </p:nvSpPr>
        <p:spPr>
          <a:xfrm>
            <a:off x="685800" y="4713732"/>
            <a:ext cx="2164019" cy="1024128"/>
          </a:xfrm>
          <a:prstGeom prst="rect">
            <a:avLst/>
          </a:prstGeom>
          <a:noFill/>
          <a:ln>
            <a:noFill/>
          </a:ln>
        </p:spPr>
        <p:txBody>
          <a:bodyPr wrap="square" lIns="109728" tIns="45720" rIns="109728" bIns="45720" anchor="ctr">
            <a:noAutofit/>
          </a:bodyPr>
          <a:lstStyle/>
          <a:p>
            <a:pPr algn="l">
              <a:lnSpc>
                <a:spcPct val="100000"/>
              </a:lnSpc>
            </a:pPr>
            <a:r>
              <a:rPr lang="en-US" sz="1800" dirty="0" b="1">
                <a:solidFill>
                  <a:srgbClr val="16171D"/>
                </a:solidFill>
                <a:latin typeface="Segoe UI"/>
                <a:cs typeface="Segoe UI"/>
              </a:rPr>
              <a:t xml:space="preserve">Standard</a:t>
            </a:r>
            <a:br>
              <a:rPr lang="en-US" sz="1800" dirty="0">
                <a:solidFill>
                  <a:srgbClr val="16171D"/>
                </a:solidFill>
                <a:latin typeface="Segoe UI"/>
                <a:cs typeface="Segoe UI"/>
              </a:rPr>
            </a:br>
            <a:r>
              <a:rPr lang="en-US" sz="1800" dirty="0" i="1">
                <a:solidFill>
                  <a:srgbClr val="16171D"/>
                </a:solidFill>
                <a:latin typeface="Cambria"/>
                <a:cs typeface="Cambria"/>
              </a:rPr>
              <a:t xml:space="preserve">Ax</a:t>
            </a:r>
            <a:r>
              <a:rPr lang="en-US" sz="1800" dirty="0">
                <a:solidFill>
                  <a:srgbClr val="16171D"/>
                </a:solidFill>
                <a:latin typeface="Cambria"/>
                <a:cs typeface="Cambria"/>
              </a:rPr>
              <a:t xml:space="preserve"> + </a:t>
            </a:r>
            <a:r>
              <a:rPr lang="en-US" sz="1800" dirty="0" i="1">
                <a:solidFill>
                  <a:srgbClr val="16171D"/>
                </a:solidFill>
                <a:latin typeface="Cambria"/>
                <a:cs typeface="Cambria"/>
              </a:rPr>
              <a:t xml:space="preserve">By</a:t>
            </a:r>
            <a:r>
              <a:rPr lang="en-US" sz="1800" dirty="0">
                <a:solidFill>
                  <a:srgbClr val="16171D"/>
                </a:solidFill>
                <a:latin typeface="Cambria"/>
                <a:cs typeface="Cambria"/>
              </a:rPr>
              <a:t xml:space="preserve"> = </a:t>
            </a:r>
            <a:r>
              <a:rPr lang="en-US" sz="1800" dirty="0" i="1">
                <a:solidFill>
                  <a:srgbClr val="16171D"/>
                </a:solidFill>
                <a:latin typeface="Cambria"/>
                <a:cs typeface="Cambria"/>
              </a:rPr>
              <a:t xml:space="preserve">C</a:t>
            </a:r>
            <a:endParaRPr lang="en-US" sz="1800" dirty="0"/>
          </a:p>
        </p:txBody>
      </p:sp>
      <p:sp>
        <p:nvSpPr>
          <p:cNvPr id="17" name="Shape 17"/>
          <p:cNvSpPr txBox="1"/>
          <p:nvPr/>
        </p:nvSpPr>
        <p:spPr>
          <a:xfrm>
            <a:off x="2849819" y="4713732"/>
            <a:ext cx="4328038" cy="102412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Fits contexts where two amounts add to a total. Both intercepts are easy to find and graph.</a:t>
            </a:r>
            <a:endParaRPr lang="en-US" sz="1800" dirty="0"/>
          </a:p>
        </p:txBody>
      </p:sp>
      <p:sp>
        <p:nvSpPr>
          <p:cNvPr id="18" name="Shape 18"/>
          <p:cNvSpPr txBox="1"/>
          <p:nvPr/>
        </p:nvSpPr>
        <p:spPr>
          <a:xfrm>
            <a:off x="7177857" y="4713732"/>
            <a:ext cx="4328038" cy="102412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You have to calculate the slope.</a:t>
            </a:r>
            <a:endParaRPr lang="en-US" sz="1800" dirty="0"/>
          </a:p>
        </p:txBody>
      </p:sp>
      <p:cxnSp>
        <p:nvCxnSpPr>
          <p:cNvPr id="19" name="Line 19"/>
          <p:cNvCxnSpPr/>
          <p:nvPr/>
        </p:nvCxnSpPr>
        <p:spPr>
          <a:xfrm>
            <a:off x="685800" y="5737860"/>
            <a:ext cx="10820095" cy="0"/>
          </a:xfrm>
          <a:prstGeom prst="line">
            <a:avLst/>
          </a:prstGeom>
          <a:ln w="9525" cap="flat">
            <a:solidFill>
              <a:srgbClr val="E3E4EC"/>
            </a:solidFill>
          </a:ln>
        </p:spPr>
      </p:cxnSp>
      <p:sp>
        <p:nvSpPr>
          <p:cNvPr id="20" name="Slide Number 20"/>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7</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3" fill="hold">
                      <p:stCondLst>
                        <p:cond delay="indefinite"/>
                      </p:stCondLst>
                      <p:childTnLst>
                        <p:par>
                          <p:cTn id="24"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8"/>
                                        </p:tgtEl>
                                        <p:attrNameLst>
                                          <p:attrName>style.visibility</p:attrName>
                                        </p:attrNameLst>
                                      </p:cBhvr>
                                      <p:to>
                                        <p:strVal val="visible"/>
                                      </p:to>
                                    </p:set>
                                    <p:animEffect transition="in" filter="fade">
                                      <p:cBhvr>
                                        <p:cTn id="4" dur="500"/>
                                        <p:tgtEl>
                                          <p:spTgt spid="8"/>
                                        </p:tgtEl>
                                      </p:cBhvr>
                                    </p:animEffect>
                                    <p:anim calcmode="lin" valueType="num">
                                      <p:cBhvr>
                                        <p:cTn id="5" dur="500" fill="hold"/>
                                        <p:tgtEl>
                                          <p:spTgt spid="8"/>
                                        </p:tgtEl>
                                        <p:attrNameLst>
                                          <p:attrName>ppt_x</p:attrName>
                                        </p:attrNameLst>
                                      </p:cBhvr>
                                      <p:tavLst>
                                        <p:tav tm="0">
                                          <p:val>
                                            <p:strVal val="#ppt_x"/>
                                          </p:val>
                                        </p:tav>
                                        <p:tav tm="100000">
                                          <p:val>
                                            <p:strVal val="#ppt_x"/>
                                          </p:val>
                                        </p:tav>
                                      </p:tavLst>
                                    </p:anim>
                                    <p:anim calcmode="lin" valueType="num">
                                      <p:cBhvr>
                                        <p:cTn id="6" dur="500" fill="hold"/>
                                        <p:tgtEl>
                                          <p:spTgt spid="8"/>
                                        </p:tgtEl>
                                        <p:attrNameLst>
                                          <p:attrName>ppt_y</p:attrName>
                                        </p:attrNameLst>
                                      </p:cBhvr>
                                      <p:tavLst>
                                        <p:tav tm="0">
                                          <p:val>
                                            <p:strVal val="#ppt_y+.1"/>
                                          </p:val>
                                        </p:tav>
                                        <p:tav tm="100000">
                                          <p:val>
                                            <p:strVal val="#ppt_y"/>
                                          </p:val>
                                        </p:tav>
                                      </p:tavLst>
                                    </p:anim>
                                  </p:childTnLst>
                                </p:cTn>
                              </p:par>
                              <p:par>
                                <p:cTn id="12" presetID="42"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animEffect transition="in" filter="fade">
                                      <p:cBhvr>
                                        <p:cTn id="9" dur="500"/>
                                        <p:tgtEl>
                                          <p:spTgt spid="9"/>
                                        </p:tgtEl>
                                      </p:cBhvr>
                                    </p:animEffect>
                                    <p:anim calcmode="lin" valueType="num">
                                      <p:cBhvr>
                                        <p:cTn id="10" dur="500" fill="hold"/>
                                        <p:tgtEl>
                                          <p:spTgt spid="9"/>
                                        </p:tgtEl>
                                        <p:attrNameLst>
                                          <p:attrName>ppt_x</p:attrName>
                                        </p:attrNameLst>
                                      </p:cBhvr>
                                      <p:tavLst>
                                        <p:tav tm="0">
                                          <p:val>
                                            <p:strVal val="#ppt_x"/>
                                          </p:val>
                                        </p:tav>
                                        <p:tav tm="100000">
                                          <p:val>
                                            <p:strVal val="#ppt_x"/>
                                          </p:val>
                                        </p:tav>
                                      </p:tavLst>
                                    </p:anim>
                                    <p:anim calcmode="lin" valueType="num">
                                      <p:cBhvr>
                                        <p:cTn id="11" dur="500" fill="hold"/>
                                        <p:tgtEl>
                                          <p:spTgt spid="9"/>
                                        </p:tgtEl>
                                        <p:attrNameLst>
                                          <p:attrName>ppt_y</p:attrName>
                                        </p:attrNameLst>
                                      </p:cBhvr>
                                      <p:tavLst>
                                        <p:tav tm="0">
                                          <p:val>
                                            <p:strVal val="#ppt_y+.1"/>
                                          </p:val>
                                        </p:tav>
                                        <p:tav tm="100000">
                                          <p:val>
                                            <p:strVal val="#ppt_y"/>
                                          </p:val>
                                        </p:tav>
                                      </p:tavLst>
                                    </p:anim>
                                  </p:childTnLst>
                                </p:cTn>
                              </p:par>
                              <p:par>
                                <p:cTn id="17" presetID="42" presetClass="entr" presetSubtype="0" fill="hold" nodeType="withEffect">
                                  <p:stCondLst>
                                    <p:cond delay="0"/>
                                  </p:stCondLst>
                                  <p:childTnLst>
                                    <p:set>
                                      <p:cBhvr>
                                        <p:cTn id="13" dur="1" fill="hold">
                                          <p:stCondLst>
                                            <p:cond delay="0"/>
                                          </p:stCondLst>
                                        </p:cTn>
                                        <p:tgtEl>
                                          <p:spTgt spid="10"/>
                                        </p:tgtEl>
                                        <p:attrNameLst>
                                          <p:attrName>style.visibility</p:attrName>
                                        </p:attrNameLst>
                                      </p:cBhvr>
                                      <p:to>
                                        <p:strVal val="visible"/>
                                      </p:to>
                                    </p:set>
                                    <p:animEffect transition="in" filter="fade">
                                      <p:cBhvr>
                                        <p:cTn id="14" dur="500"/>
                                        <p:tgtEl>
                                          <p:spTgt spid="10"/>
                                        </p:tgtEl>
                                      </p:cBhvr>
                                    </p:animEffect>
                                    <p:anim calcmode="lin" valueType="num">
                                      <p:cBhvr>
                                        <p:cTn id="15" dur="500" fill="hold"/>
                                        <p:tgtEl>
                                          <p:spTgt spid="10"/>
                                        </p:tgtEl>
                                        <p:attrNameLst>
                                          <p:attrName>ppt_x</p:attrName>
                                        </p:attrNameLst>
                                      </p:cBhvr>
                                      <p:tavLst>
                                        <p:tav tm="0">
                                          <p:val>
                                            <p:strVal val="#ppt_x"/>
                                          </p:val>
                                        </p:tav>
                                        <p:tav tm="100000">
                                          <p:val>
                                            <p:strVal val="#ppt_x"/>
                                          </p:val>
                                        </p:tav>
                                      </p:tavLst>
                                    </p:anim>
                                    <p:anim calcmode="lin" valueType="num">
                                      <p:cBhvr>
                                        <p:cTn id="16" dur="500" fill="hold"/>
                                        <p:tgtEl>
                                          <p:spTgt spid="10"/>
                                        </p:tgtEl>
                                        <p:attrNameLst>
                                          <p:attrName>ppt_y</p:attrName>
                                        </p:attrNameLst>
                                      </p:cBhvr>
                                      <p:tavLst>
                                        <p:tav tm="0">
                                          <p:val>
                                            <p:strVal val="#ppt_y+.1"/>
                                          </p:val>
                                        </p:tav>
                                        <p:tav tm="100000">
                                          <p:val>
                                            <p:strVal val="#ppt_y"/>
                                          </p:val>
                                        </p:tav>
                                      </p:tavLst>
                                    </p:anim>
                                  </p:childTnLst>
                                </p:cTn>
                              </p:par>
                              <p:par>
                                <p:cTn id="22" presetID="42" presetClass="entr" presetSubtype="0" fill="hold" nodeType="with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fade">
                                      <p:cBhvr>
                                        <p:cTn id="19" dur="500"/>
                                        <p:tgtEl>
                                          <p:spTgt spid="11"/>
                                        </p:tgtEl>
                                      </p:cBhvr>
                                    </p:animEffect>
                                    <p:anim calcmode="lin" valueType="num">
                                      <p:cBhvr>
                                        <p:cTn id="20" dur="500" fill="hold"/>
                                        <p:tgtEl>
                                          <p:spTgt spid="11"/>
                                        </p:tgtEl>
                                        <p:attrNameLst>
                                          <p:attrName>ppt_x</p:attrName>
                                        </p:attrNameLst>
                                      </p:cBhvr>
                                      <p:tavLst>
                                        <p:tav tm="0">
                                          <p:val>
                                            <p:strVal val="#ppt_x"/>
                                          </p:val>
                                        </p:tav>
                                        <p:tav tm="100000">
                                          <p:val>
                                            <p:strVal val="#ppt_x"/>
                                          </p:val>
                                        </p:tav>
                                      </p:tavLst>
                                    </p:anim>
                                    <p:anim calcmode="lin" valueType="num">
                                      <p:cBhvr>
                                        <p:cTn id="21" dur="500" fill="hold"/>
                                        <p:tgtEl>
                                          <p:spTgt spid="11"/>
                                        </p:tgtEl>
                                        <p:attrNameLst>
                                          <p:attrName>ppt_y</p:attrName>
                                        </p:attrNameLst>
                                      </p:cBhvr>
                                      <p:tavLst>
                                        <p:tav tm="0">
                                          <p:val>
                                            <p:strVal val="#ppt_y+.1"/>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29" presetID="42" presetClass="entr" presetSubtype="0" fill="hold" nodeType="clickEffect">
                                  <p:stCondLst>
                                    <p:cond delay="0"/>
                                  </p:stCondLst>
                                  <p:childTnLst>
                                    <p:set>
                                      <p:cBhvr>
                                        <p:cTn id="25" dur="1" fill="hold">
                                          <p:stCondLst>
                                            <p:cond delay="0"/>
                                          </p:stCondLst>
                                        </p:cTn>
                                        <p:tgtEl>
                                          <p:spTgt spid="12"/>
                                        </p:tgtEl>
                                        <p:attrNameLst>
                                          <p:attrName>style.visibility</p:attrName>
                                        </p:attrNameLst>
                                      </p:cBhvr>
                                      <p:to>
                                        <p:strVal val="visible"/>
                                      </p:to>
                                    </p:set>
                                    <p:animEffect transition="in" filter="fade">
                                      <p:cBhvr>
                                        <p:cTn id="26" dur="500"/>
                                        <p:tgtEl>
                                          <p:spTgt spid="12"/>
                                        </p:tgtEl>
                                      </p:cBhvr>
                                    </p:animEffect>
                                    <p:anim calcmode="lin" valueType="num">
                                      <p:cBhvr>
                                        <p:cTn id="27" dur="500" fill="hold"/>
                                        <p:tgtEl>
                                          <p:spTgt spid="12"/>
                                        </p:tgtEl>
                                        <p:attrNameLst>
                                          <p:attrName>ppt_x</p:attrName>
                                        </p:attrNameLst>
                                      </p:cBhvr>
                                      <p:tavLst>
                                        <p:tav tm="0">
                                          <p:val>
                                            <p:strVal val="#ppt_x"/>
                                          </p:val>
                                        </p:tav>
                                        <p:tav tm="100000">
                                          <p:val>
                                            <p:strVal val="#ppt_x"/>
                                          </p:val>
                                        </p:tav>
                                      </p:tavLst>
                                    </p:anim>
                                    <p:anim calcmode="lin" valueType="num">
                                      <p:cBhvr>
                                        <p:cTn id="28" dur="500" fill="hold"/>
                                        <p:tgtEl>
                                          <p:spTgt spid="12"/>
                                        </p:tgtEl>
                                        <p:attrNameLst>
                                          <p:attrName>ppt_y</p:attrName>
                                        </p:attrNameLst>
                                      </p:cBhvr>
                                      <p:tavLst>
                                        <p:tav tm="0">
                                          <p:val>
                                            <p:strVal val="#ppt_y+.1"/>
                                          </p:val>
                                        </p:tav>
                                        <p:tav tm="100000">
                                          <p:val>
                                            <p:strVal val="#ppt_y"/>
                                          </p:val>
                                        </p:tav>
                                      </p:tavLst>
                                    </p:anim>
                                  </p:childTnLst>
                                </p:cTn>
                              </p:par>
                              <p:par>
                                <p:cTn id="34" presetID="42" presetClass="entr" presetSubtype="0" fill="hold" nodeType="withEffect">
                                  <p:stCondLst>
                                    <p:cond delay="0"/>
                                  </p:stCondLst>
                                  <p:childTnLst>
                                    <p:set>
                                      <p:cBhvr>
                                        <p:cTn id="30" dur="1" fill="hold">
                                          <p:stCondLst>
                                            <p:cond delay="0"/>
                                          </p:stCondLst>
                                        </p:cTn>
                                        <p:tgtEl>
                                          <p:spTgt spid="13"/>
                                        </p:tgtEl>
                                        <p:attrNameLst>
                                          <p:attrName>style.visibility</p:attrName>
                                        </p:attrNameLst>
                                      </p:cBhvr>
                                      <p:to>
                                        <p:strVal val="visible"/>
                                      </p:to>
                                    </p:set>
                                    <p:animEffect transition="in" filter="fade">
                                      <p:cBhvr>
                                        <p:cTn id="31" dur="500"/>
                                        <p:tgtEl>
                                          <p:spTgt spid="13"/>
                                        </p:tgtEl>
                                      </p:cBhvr>
                                    </p:animEffect>
                                    <p:anim calcmode="lin" valueType="num">
                                      <p:cBhvr>
                                        <p:cTn id="32" dur="500" fill="hold"/>
                                        <p:tgtEl>
                                          <p:spTgt spid="13"/>
                                        </p:tgtEl>
                                        <p:attrNameLst>
                                          <p:attrName>ppt_x</p:attrName>
                                        </p:attrNameLst>
                                      </p:cBhvr>
                                      <p:tavLst>
                                        <p:tav tm="0">
                                          <p:val>
                                            <p:strVal val="#ppt_x"/>
                                          </p:val>
                                        </p:tav>
                                        <p:tav tm="100000">
                                          <p:val>
                                            <p:strVal val="#ppt_x"/>
                                          </p:val>
                                        </p:tav>
                                      </p:tavLst>
                                    </p:anim>
                                    <p:anim calcmode="lin" valueType="num">
                                      <p:cBhvr>
                                        <p:cTn id="33" dur="500" fill="hold"/>
                                        <p:tgtEl>
                                          <p:spTgt spid="13"/>
                                        </p:tgtEl>
                                        <p:attrNameLst>
                                          <p:attrName>ppt_y</p:attrName>
                                        </p:attrNameLst>
                                      </p:cBhvr>
                                      <p:tavLst>
                                        <p:tav tm="0">
                                          <p:val>
                                            <p:strVal val="#ppt_y+.1"/>
                                          </p:val>
                                        </p:tav>
                                        <p:tav tm="100000">
                                          <p:val>
                                            <p:strVal val="#ppt_y"/>
                                          </p:val>
                                        </p:tav>
                                      </p:tavLst>
                                    </p:anim>
                                  </p:childTnLst>
                                </p:cTn>
                              </p:par>
                              <p:par>
                                <p:cTn id="39" presetID="42" presetClass="entr" presetSubtype="0" fill="hold"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500"/>
                                        <p:tgtEl>
                                          <p:spTgt spid="14"/>
                                        </p:tgtEl>
                                      </p:cBhvr>
                                    </p:animEffect>
                                    <p:anim calcmode="lin" valueType="num">
                                      <p:cBhvr>
                                        <p:cTn id="37" dur="500" fill="hold"/>
                                        <p:tgtEl>
                                          <p:spTgt spid="14"/>
                                        </p:tgtEl>
                                        <p:attrNameLst>
                                          <p:attrName>ppt_x</p:attrName>
                                        </p:attrNameLst>
                                      </p:cBhvr>
                                      <p:tavLst>
                                        <p:tav tm="0">
                                          <p:val>
                                            <p:strVal val="#ppt_x"/>
                                          </p:val>
                                        </p:tav>
                                        <p:tav tm="100000">
                                          <p:val>
                                            <p:strVal val="#ppt_x"/>
                                          </p:val>
                                        </p:tav>
                                      </p:tavLst>
                                    </p:anim>
                                    <p:anim calcmode="lin" valueType="num">
                                      <p:cBhvr>
                                        <p:cTn id="38" dur="500" fill="hold"/>
                                        <p:tgtEl>
                                          <p:spTgt spid="14"/>
                                        </p:tgtEl>
                                        <p:attrNameLst>
                                          <p:attrName>ppt_y</p:attrName>
                                        </p:attrNameLst>
                                      </p:cBhvr>
                                      <p:tavLst>
                                        <p:tav tm="0">
                                          <p:val>
                                            <p:strVal val="#ppt_y+.1"/>
                                          </p:val>
                                        </p:tav>
                                        <p:tav tm="100000">
                                          <p:val>
                                            <p:strVal val="#ppt_y"/>
                                          </p:val>
                                        </p:tav>
                                      </p:tavLst>
                                    </p:anim>
                                  </p:childTnLst>
                                </p:cTn>
                              </p:par>
                              <p:par>
                                <p:cTn id="44" presetID="42" presetClass="entr" presetSubtype="0" fill="hold"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500"/>
                                        <p:tgtEl>
                                          <p:spTgt spid="15"/>
                                        </p:tgtEl>
                                      </p:cBhvr>
                                    </p:animEffect>
                                    <p:anim calcmode="lin" valueType="num">
                                      <p:cBhvr>
                                        <p:cTn id="42" dur="500" fill="hold"/>
                                        <p:tgtEl>
                                          <p:spTgt spid="15"/>
                                        </p:tgtEl>
                                        <p:attrNameLst>
                                          <p:attrName>ppt_x</p:attrName>
                                        </p:attrNameLst>
                                      </p:cBhvr>
                                      <p:tavLst>
                                        <p:tav tm="0">
                                          <p:val>
                                            <p:strVal val="#ppt_x"/>
                                          </p:val>
                                        </p:tav>
                                        <p:tav tm="100000">
                                          <p:val>
                                            <p:strVal val="#ppt_x"/>
                                          </p:val>
                                        </p:tav>
                                      </p:tavLst>
                                    </p:anim>
                                    <p:anim calcmode="lin" valueType="num">
                                      <p:cBhvr>
                                        <p:cTn id="43" dur="500" fill="hold"/>
                                        <p:tgtEl>
                                          <p:spTgt spid="15"/>
                                        </p:tgtEl>
                                        <p:attrNameLst>
                                          <p:attrName>ppt_y</p:attrName>
                                        </p:attrNameLst>
                                      </p:cBhvr>
                                      <p:tavLst>
                                        <p:tav tm="0">
                                          <p:val>
                                            <p:strVal val="#ppt_y+.1"/>
                                          </p:val>
                                        </p:tav>
                                        <p:tav tm="100000">
                                          <p:val>
                                            <p:strVal val="#ppt_y"/>
                                          </p:val>
                                        </p:tav>
                                      </p:tavLst>
                                    </p:anim>
                                  </p:childTnLst>
                                </p:cTn>
                              </p:par>
                            </p:childTnLst>
                          </p:cTn>
                        </p:par>
                      </p:childTnLst>
                    </p:cTn>
                  </p:par>
                  <p:par>
                    <p:cTn id="67" fill="hold">
                      <p:stCondLst>
                        <p:cond delay="indefinite"/>
                      </p:stCondLst>
                      <p:childTnLst>
                        <p:par>
                          <p:cTn id="68" fill="hold">
                            <p:stCondLst>
                              <p:cond delay="0"/>
                            </p:stCondLst>
                            <p:childTnLst>
                              <p:par>
                                <p:cTn id="51" presetID="42" presetClass="entr" presetSubtype="0" fill="hold" nodeType="clickEffect">
                                  <p:stCondLst>
                                    <p:cond delay="0"/>
                                  </p:stCondLst>
                                  <p:childTnLst>
                                    <p:set>
                                      <p:cBhvr>
                                        <p:cTn id="47" dur="1" fill="hold">
                                          <p:stCondLst>
                                            <p:cond delay="0"/>
                                          </p:stCondLst>
                                        </p:cTn>
                                        <p:tgtEl>
                                          <p:spTgt spid="16"/>
                                        </p:tgtEl>
                                        <p:attrNameLst>
                                          <p:attrName>style.visibility</p:attrName>
                                        </p:attrNameLst>
                                      </p:cBhvr>
                                      <p:to>
                                        <p:strVal val="visible"/>
                                      </p:to>
                                    </p:set>
                                    <p:animEffect transition="in" filter="fade">
                                      <p:cBhvr>
                                        <p:cTn id="48" dur="500"/>
                                        <p:tgtEl>
                                          <p:spTgt spid="16"/>
                                        </p:tgtEl>
                                      </p:cBhvr>
                                    </p:animEffect>
                                    <p:anim calcmode="lin" valueType="num">
                                      <p:cBhvr>
                                        <p:cTn id="49" dur="500" fill="hold"/>
                                        <p:tgtEl>
                                          <p:spTgt spid="16"/>
                                        </p:tgtEl>
                                        <p:attrNameLst>
                                          <p:attrName>ppt_x</p:attrName>
                                        </p:attrNameLst>
                                      </p:cBhvr>
                                      <p:tavLst>
                                        <p:tav tm="0">
                                          <p:val>
                                            <p:strVal val="#ppt_x"/>
                                          </p:val>
                                        </p:tav>
                                        <p:tav tm="100000">
                                          <p:val>
                                            <p:strVal val="#ppt_x"/>
                                          </p:val>
                                        </p:tav>
                                      </p:tavLst>
                                    </p:anim>
                                    <p:anim calcmode="lin" valueType="num">
                                      <p:cBhvr>
                                        <p:cTn id="50" dur="500" fill="hold"/>
                                        <p:tgtEl>
                                          <p:spTgt spid="16"/>
                                        </p:tgtEl>
                                        <p:attrNameLst>
                                          <p:attrName>ppt_y</p:attrName>
                                        </p:attrNameLst>
                                      </p:cBhvr>
                                      <p:tavLst>
                                        <p:tav tm="0">
                                          <p:val>
                                            <p:strVal val="#ppt_y+.1"/>
                                          </p:val>
                                        </p:tav>
                                        <p:tav tm="100000">
                                          <p:val>
                                            <p:strVal val="#ppt_y"/>
                                          </p:val>
                                        </p:tav>
                                      </p:tavLst>
                                    </p:anim>
                                  </p:childTnLst>
                                </p:cTn>
                              </p:par>
                              <p:par>
                                <p:cTn id="56" presetID="42" presetClass="entr" presetSubtype="0" fill="hold" nodeType="withEffect">
                                  <p:stCondLst>
                                    <p:cond delay="0"/>
                                  </p:stCondLst>
                                  <p:childTnLst>
                                    <p:set>
                                      <p:cBhvr>
                                        <p:cTn id="52" dur="1" fill="hold">
                                          <p:stCondLst>
                                            <p:cond delay="0"/>
                                          </p:stCondLst>
                                        </p:cTn>
                                        <p:tgtEl>
                                          <p:spTgt spid="17"/>
                                        </p:tgtEl>
                                        <p:attrNameLst>
                                          <p:attrName>style.visibility</p:attrName>
                                        </p:attrNameLst>
                                      </p:cBhvr>
                                      <p:to>
                                        <p:strVal val="visible"/>
                                      </p:to>
                                    </p:set>
                                    <p:animEffect transition="in" filter="fade">
                                      <p:cBhvr>
                                        <p:cTn id="53" dur="500"/>
                                        <p:tgtEl>
                                          <p:spTgt spid="17"/>
                                        </p:tgtEl>
                                      </p:cBhvr>
                                    </p:animEffect>
                                    <p:anim calcmode="lin" valueType="num">
                                      <p:cBhvr>
                                        <p:cTn id="54" dur="500" fill="hold"/>
                                        <p:tgtEl>
                                          <p:spTgt spid="17"/>
                                        </p:tgtEl>
                                        <p:attrNameLst>
                                          <p:attrName>ppt_x</p:attrName>
                                        </p:attrNameLst>
                                      </p:cBhvr>
                                      <p:tavLst>
                                        <p:tav tm="0">
                                          <p:val>
                                            <p:strVal val="#ppt_x"/>
                                          </p:val>
                                        </p:tav>
                                        <p:tav tm="100000">
                                          <p:val>
                                            <p:strVal val="#ppt_x"/>
                                          </p:val>
                                        </p:tav>
                                      </p:tavLst>
                                    </p:anim>
                                    <p:anim calcmode="lin" valueType="num">
                                      <p:cBhvr>
                                        <p:cTn id="55" dur="500" fill="hold"/>
                                        <p:tgtEl>
                                          <p:spTgt spid="17"/>
                                        </p:tgtEl>
                                        <p:attrNameLst>
                                          <p:attrName>ppt_y</p:attrName>
                                        </p:attrNameLst>
                                      </p:cBhvr>
                                      <p:tavLst>
                                        <p:tav tm="0">
                                          <p:val>
                                            <p:strVal val="#ppt_y+.1"/>
                                          </p:val>
                                        </p:tav>
                                        <p:tav tm="100000">
                                          <p:val>
                                            <p:strVal val="#ppt_y"/>
                                          </p:val>
                                        </p:tav>
                                      </p:tavLst>
                                    </p:anim>
                                  </p:childTnLst>
                                </p:cTn>
                              </p:par>
                              <p:par>
                                <p:cTn id="61" presetID="42" presetClass="entr" presetSubtype="0" fill="hold" nodeType="with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00"/>
                                        <p:tgtEl>
                                          <p:spTgt spid="18"/>
                                        </p:tgtEl>
                                      </p:cBhvr>
                                    </p:animEffect>
                                    <p:anim calcmode="lin" valueType="num">
                                      <p:cBhvr>
                                        <p:cTn id="59" dur="500" fill="hold"/>
                                        <p:tgtEl>
                                          <p:spTgt spid="18"/>
                                        </p:tgtEl>
                                        <p:attrNameLst>
                                          <p:attrName>ppt_x</p:attrName>
                                        </p:attrNameLst>
                                      </p:cBhvr>
                                      <p:tavLst>
                                        <p:tav tm="0">
                                          <p:val>
                                            <p:strVal val="#ppt_x"/>
                                          </p:val>
                                        </p:tav>
                                        <p:tav tm="100000">
                                          <p:val>
                                            <p:strVal val="#ppt_x"/>
                                          </p:val>
                                        </p:tav>
                                      </p:tavLst>
                                    </p:anim>
                                    <p:anim calcmode="lin" valueType="num">
                                      <p:cBhvr>
                                        <p:cTn id="60" dur="500" fill="hold"/>
                                        <p:tgtEl>
                                          <p:spTgt spid="18"/>
                                        </p:tgtEl>
                                        <p:attrNameLst>
                                          <p:attrName>ppt_y</p:attrName>
                                        </p:attrNameLst>
                                      </p:cBhvr>
                                      <p:tavLst>
                                        <p:tav tm="0">
                                          <p:val>
                                            <p:strVal val="#ppt_y+.1"/>
                                          </p:val>
                                        </p:tav>
                                        <p:tav tm="100000">
                                          <p:val>
                                            <p:strVal val="#ppt_y"/>
                                          </p:val>
                                        </p:tav>
                                      </p:tavLst>
                                    </p:anim>
                                  </p:childTnLst>
                                </p:cTn>
                              </p:par>
                              <p:par>
                                <p:cTn id="66" presetID="42" presetClass="entr" presetSubtype="0" fill="hold" nodeType="withEffect">
                                  <p:stCondLst>
                                    <p:cond delay="0"/>
                                  </p:stCondLst>
                                  <p:childTnLst>
                                    <p:set>
                                      <p:cBhvr>
                                        <p:cTn id="62" dur="1" fill="hold">
                                          <p:stCondLst>
                                            <p:cond delay="0"/>
                                          </p:stCondLst>
                                        </p:cTn>
                                        <p:tgtEl>
                                          <p:spTgt spid="19"/>
                                        </p:tgtEl>
                                        <p:attrNameLst>
                                          <p:attrName>style.visibility</p:attrName>
                                        </p:attrNameLst>
                                      </p:cBhvr>
                                      <p:to>
                                        <p:strVal val="visible"/>
                                      </p:to>
                                    </p:set>
                                    <p:animEffect transition="in" filter="fade">
                                      <p:cBhvr>
                                        <p:cTn id="63" dur="500"/>
                                        <p:tgtEl>
                                          <p:spTgt spid="19"/>
                                        </p:tgtEl>
                                      </p:cBhvr>
                                    </p:animEffect>
                                    <p:anim calcmode="lin" valueType="num">
                                      <p:cBhvr>
                                        <p:cTn id="64" dur="500" fill="hold"/>
                                        <p:tgtEl>
                                          <p:spTgt spid="19"/>
                                        </p:tgtEl>
                                        <p:attrNameLst>
                                          <p:attrName>ppt_x</p:attrName>
                                        </p:attrNameLst>
                                      </p:cBhvr>
                                      <p:tavLst>
                                        <p:tav tm="0">
                                          <p:val>
                                            <p:strVal val="#ppt_x"/>
                                          </p:val>
                                        </p:tav>
                                        <p:tav tm="100000">
                                          <p:val>
                                            <p:strVal val="#ppt_x"/>
                                          </p:val>
                                        </p:tav>
                                      </p:tavLst>
                                    </p:anim>
                                    <p:anim calcmode="lin" valueType="num">
                                      <p:cBhvr>
                                        <p:cTn id="65" dur="500" fill="hold"/>
                                        <p:tgtEl>
                                          <p:spTgt spid="19"/>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2</a:t>
            </a:r>
            <a:endParaRPr lang="en-US" sz="1200" dirty="0"/>
          </a:p>
        </p:txBody>
      </p:sp>
      <p:sp>
        <p:nvSpPr>
          <p:cNvPr id="3" name="Shape 3"/>
          <p:cNvSpPr txBox="1"/>
          <p:nvPr/>
        </p:nvSpPr>
        <p:spPr>
          <a:xfrm>
            <a:off x="685800" y="2512314"/>
            <a:ext cx="10820095" cy="13121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Back to Topic 2</a:t>
            </a:r>
            <a:endParaRPr lang="en-US" sz="8250" dirty="0"/>
          </a:p>
        </p:txBody>
      </p:sp>
      <p:sp>
        <p:nvSpPr>
          <p:cNvPr id="4" name="Shape 4"/>
          <p:cNvSpPr txBox="1"/>
          <p:nvPr/>
        </p:nvSpPr>
        <p:spPr>
          <a:xfrm>
            <a:off x="685800" y="3995928"/>
            <a:ext cx="10820095" cy="3977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Catch-up done. Now today's Topic 2 lesson.</a:t>
            </a:r>
            <a:endParaRPr lang="en-US" sz="2250" dirty="0"/>
          </a:p>
        </p:txBody>
      </p:sp>
      <p:sp>
        <p:nvSpPr>
          <p:cNvPr id="5" name="Slide Number 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8</a:t>
            </a:fld>
          </a:p>
        </p:txBody>
      </p:sp>
    </p:spTree>
  </p:cSld>
  <p:clrMapOvr>
    <a:masterClrMapping/>
  </p:clrMapOvr>
  <p:transition spd="med">
    <p:fade/>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Today's Plan</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Today's plan</a:t>
            </a:r>
            <a:endParaRPr lang="en-US" sz="3450" dirty="0"/>
          </a:p>
        </p:txBody>
      </p:sp>
      <p:sp>
        <p:nvSpPr>
          <p:cNvPr id="4" name="Shape 4"/>
          <p:cNvSpPr txBox="1"/>
          <p:nvPr/>
        </p:nvSpPr>
        <p:spPr>
          <a:xfrm>
            <a:off x="685800" y="161848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Bell work (5 min)</a:t>
            </a:r>
            <a:endParaRPr lang="en-US" sz="1950" dirty="0"/>
          </a:p>
        </p:txBody>
      </p:sp>
      <p:sp>
        <p:nvSpPr>
          <p:cNvPr id="5" name="Shape 5"/>
          <p:cNvSpPr txBox="1"/>
          <p:nvPr/>
        </p:nvSpPr>
        <p:spPr>
          <a:xfrm>
            <a:off x="685800" y="2141982"/>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Getting Started: key characteristics ★ Essential</a:t>
            </a:r>
            <a:endParaRPr lang="en-US" sz="1950" dirty="0"/>
          </a:p>
        </p:txBody>
      </p:sp>
      <p:sp>
        <p:nvSpPr>
          <p:cNvPr id="6" name="Shape 6"/>
          <p:cNvSpPr txBox="1"/>
          <p:nvPr/>
        </p:nvSpPr>
        <p:spPr>
          <a:xfrm>
            <a:off x="685800" y="266547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Activity 2.1: horizontal vs. vertical translations ★ Essential</a:t>
            </a:r>
            <a:endParaRPr lang="en-US" sz="1950" dirty="0"/>
          </a:p>
        </p:txBody>
      </p:sp>
      <p:sp>
        <p:nvSpPr>
          <p:cNvPr id="7" name="Shape 7"/>
          <p:cNvSpPr txBox="1"/>
          <p:nvPr/>
        </p:nvSpPr>
        <p:spPr>
          <a:xfrm>
            <a:off x="685800" y="3188970"/>
            <a:ext cx="7628725" cy="397764"/>
          </a:xfrm>
          <a:prstGeom prst="roundRect">
            <a:avLst>
              <a:gd name="adj" fmla="val 8000"/>
            </a:avLst>
          </a:prstGeom>
          <a:solidFill>
            <a:srgbClr val="FDF3E7"/>
          </a:solidFill>
          <a:ln>
            <a:noFill/>
          </a:ln>
        </p:spPr>
        <p:txBody>
          <a:bodyPr wrap="square" lIns="164592" tIns="73152" rIns="164592" bIns="73152" anchor="ctr">
            <a:noAutofit/>
          </a:bodyPr>
          <a:lstStyle/>
          <a:p>
            <a:pPr algn="l">
              <a:lnSpc>
                <a:spcPct val="100000"/>
              </a:lnSpc>
            </a:pPr>
            <a:r>
              <a:rPr lang="en-US" sz="1650" dirty="0">
                <a:solidFill>
                  <a:srgbClr val="16171D"/>
                </a:solidFill>
                <a:latin typeface="Segoe UI"/>
                <a:cs typeface="Segoe UI"/>
              </a:rPr>
              <a:t xml:space="preserve">One part at a time. Ask for help or a break whenever you need it.</a:t>
            </a:r>
            <a:endParaRPr lang="en-US" sz="1650" dirty="0"/>
          </a:p>
        </p:txBody>
      </p:sp>
      <p:sp>
        <p:nvSpPr>
          <p:cNvPr id="8" name="Slide Number 8"/>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9</a:t>
            </a:fld>
          </a:p>
        </p:txBody>
      </p:sp>
    </p:spTree>
  </p:cSld>
  <p:clrMapOvr>
    <a:masterClrMapping/>
  </p:clrMapOvr>
  <p:transition spd="med">
    <p:fade/>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Lesson 2 · SE p. 287</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Today you will…</a:t>
            </a:r>
            <a:endParaRPr lang="en-US" sz="3450" dirty="0"/>
          </a:p>
        </p:txBody>
      </p:sp>
      <p:sp>
        <p:nvSpPr>
          <p:cNvPr id="4" name="Shape 4"/>
          <p:cNvSpPr txBox="1"/>
          <p:nvPr/>
        </p:nvSpPr>
        <p:spPr>
          <a:xfrm>
            <a:off x="685800" y="165658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Identify key characteristics of linear functions.</a:t>
            </a:r>
            <a:endParaRPr lang="en-US" sz="1950" dirty="0"/>
          </a:p>
        </p:txBody>
      </p:sp>
      <p:sp>
        <p:nvSpPr>
          <p:cNvPr id="5" name="Shape 5"/>
          <p:cNvSpPr txBox="1"/>
          <p:nvPr/>
        </p:nvSpPr>
        <p:spPr>
          <a:xfrm>
            <a:off x="685800" y="2103882"/>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Determine the effects on the graph of a linear function when </a:t>
            </a:r>
            <a:r>
              <a:rPr lang="en-US" sz="1950" dirty="0" i="1">
                <a:solidFill>
                  <a:srgbClr val="16171D"/>
                </a:solidFill>
                <a:latin typeface="Segoe UI"/>
                <a:cs typeface="Segoe UI"/>
              </a:rPr>
              <a:t xml:space="preserve">f</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is replaced by </a:t>
            </a:r>
            <a:r>
              <a:rPr lang="en-US" sz="1950" dirty="0" i="1">
                <a:solidFill>
                  <a:srgbClr val="16171D"/>
                </a:solidFill>
                <a:latin typeface="Segoe UI"/>
                <a:cs typeface="Segoe UI"/>
              </a:rPr>
              <a:t xml:space="preserve">f</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a:t>
            </a:r>
            <a:r>
              <a:rPr lang="en-US" sz="1950" dirty="0" i="1">
                <a:solidFill>
                  <a:srgbClr val="16171D"/>
                </a:solidFill>
                <a:latin typeface="Segoe UI"/>
                <a:cs typeface="Segoe UI"/>
              </a:rPr>
              <a:t xml:space="preserve">d</a:t>
            </a:r>
            <a:r>
              <a:rPr lang="en-US" sz="1950" dirty="0">
                <a:solidFill>
                  <a:srgbClr val="16171D"/>
                </a:solidFill>
                <a:latin typeface="Segoe UI"/>
                <a:cs typeface="Segoe UI"/>
              </a:rPr>
              <a:t xml:space="preserve">, </a:t>
            </a:r>
            <a:r>
              <a:rPr lang="en-US" sz="1950" dirty="0" i="1">
                <a:solidFill>
                  <a:srgbClr val="16171D"/>
                </a:solidFill>
                <a:latin typeface="Segoe UI"/>
                <a:cs typeface="Segoe UI"/>
              </a:rPr>
              <a:t xml:space="preserve">f</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a:t>
            </a:r>
            <a:r>
              <a:rPr lang="en-US" sz="1950" dirty="0" i="1">
                <a:solidFill>
                  <a:srgbClr val="16171D"/>
                </a:solidFill>
                <a:latin typeface="Segoe UI"/>
                <a:cs typeface="Segoe UI"/>
              </a:rPr>
              <a:t xml:space="preserve">c</a:t>
            </a:r>
            <a:r>
              <a:rPr lang="en-US" sz="1950" dirty="0">
                <a:solidFill>
                  <a:srgbClr val="16171D"/>
                </a:solidFill>
                <a:latin typeface="Segoe UI"/>
                <a:cs typeface="Segoe UI"/>
              </a:rPr>
              <a:t xml:space="preserve">), </a:t>
            </a:r>
            <a:r>
              <a:rPr lang="en-US" sz="1950" dirty="0" i="1">
                <a:solidFill>
                  <a:srgbClr val="16171D"/>
                </a:solidFill>
                <a:latin typeface="Segoe UI"/>
                <a:cs typeface="Segoe UI"/>
              </a:rPr>
              <a:t xml:space="preserve">a</a:t>
            </a:r>
            <a:r>
              <a:rPr lang="en-US" sz="1950" dirty="0">
                <a:solidFill>
                  <a:srgbClr val="16171D"/>
                </a:solidFill>
                <a:latin typeface="Segoe UI"/>
                <a:cs typeface="Segoe UI"/>
              </a:rPr>
              <a:t xml:space="preserve"> · </a:t>
            </a:r>
            <a:r>
              <a:rPr lang="en-US" sz="1950" dirty="0" i="1">
                <a:solidFill>
                  <a:srgbClr val="16171D"/>
                </a:solidFill>
                <a:latin typeface="Segoe UI"/>
                <a:cs typeface="Segoe UI"/>
              </a:rPr>
              <a:t xml:space="preserve">f</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and </a:t>
            </a:r>
            <a:r>
              <a:rPr lang="en-US" sz="1950" dirty="0" i="1">
                <a:solidFill>
                  <a:srgbClr val="16171D"/>
                </a:solidFill>
                <a:latin typeface="Segoe UI"/>
                <a:cs typeface="Segoe UI"/>
              </a:rPr>
              <a:t xml:space="preserve">f</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b</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a:t>
            </a:r>
            <a:endParaRPr lang="en-US" sz="1950" dirty="0"/>
          </a:p>
        </p:txBody>
      </p:sp>
      <p:sp>
        <p:nvSpPr>
          <p:cNvPr id="6" name="Slide Number 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10</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500"/>
                                        <p:tgtEl>
                                          <p:spTgt spid="5"/>
                                        </p:tgtEl>
                                      </p:cBhvr>
                                    </p:animEffect>
                                    <p:anim calcmode="lin" valueType="num">
                                      <p:cBhvr>
                                        <p:cTn id="12" dur="500" fill="hold"/>
                                        <p:tgtEl>
                                          <p:spTgt spid="5"/>
                                        </p:tgtEl>
                                        <p:attrNameLst>
                                          <p:attrName>ppt_x</p:attrName>
                                        </p:attrNameLst>
                                      </p:cBhvr>
                                      <p:tavLst>
                                        <p:tav tm="0">
                                          <p:val>
                                            <p:strVal val="#ppt_x"/>
                                          </p:val>
                                        </p:tav>
                                        <p:tav tm="100000">
                                          <p:val>
                                            <p:strVal val="#ppt_x"/>
                                          </p:val>
                                        </p:tav>
                                      </p:tavLst>
                                    </p:anim>
                                    <p:anim calcmode="lin" valueType="num">
                                      <p:cBhvr>
                                        <p:cTn id="13" dur="500" fill="hold"/>
                                        <p:tgtEl>
                                          <p:spTgt spid="5"/>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Lesson 2 · Key Vocabulary</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Key vocabulary</a:t>
            </a:r>
            <a:endParaRPr lang="en-US" sz="3450" dirty="0"/>
          </a:p>
        </p:txBody>
      </p:sp>
      <p:sp>
        <p:nvSpPr>
          <p:cNvPr id="6" name="Shape 6"/>
          <p:cNvSpPr txBox="1"/>
          <p:nvPr/>
        </p:nvSpPr>
        <p:spPr>
          <a:xfrm>
            <a:off x="685800" y="1618488"/>
            <a:ext cx="3492398" cy="161239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Input</a:t>
            </a:r>
            <a:endParaRPr lang="en-US" sz="2100" dirty="0"/>
          </a:p>
        </p:txBody>
      </p:sp>
      <p:sp>
        <p:nvSpPr>
          <p:cNvPr id="5" name="Shape 5"/>
          <p:cNvSpPr txBox="1"/>
          <p:nvPr/>
        </p:nvSpPr>
        <p:spPr>
          <a:xfrm>
            <a:off x="895350" y="2260092"/>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-value you put in.</a:t>
            </a:r>
            <a:endParaRPr lang="en-US" sz="1575" dirty="0"/>
          </a:p>
        </p:txBody>
      </p:sp>
      <p:sp>
        <p:nvSpPr>
          <p:cNvPr id="9" name="Shape 9"/>
          <p:cNvSpPr txBox="1"/>
          <p:nvPr/>
        </p:nvSpPr>
        <p:spPr>
          <a:xfrm>
            <a:off x="4349648" y="1618488"/>
            <a:ext cx="3492398" cy="161239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7" name="Shape 7"/>
          <p:cNvSpPr txBox="1"/>
          <p:nvPr/>
        </p:nvSpPr>
        <p:spPr>
          <a:xfrm>
            <a:off x="4559198"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Output</a:t>
            </a:r>
            <a:endParaRPr lang="en-US" sz="2100" dirty="0"/>
          </a:p>
        </p:txBody>
      </p:sp>
      <p:sp>
        <p:nvSpPr>
          <p:cNvPr id="8" name="Shape 8"/>
          <p:cNvSpPr txBox="1"/>
          <p:nvPr/>
        </p:nvSpPr>
        <p:spPr>
          <a:xfrm>
            <a:off x="4559198" y="226009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value that comes out, </a:t>
            </a:r>
            <a:r>
              <a:rPr lang="en-US" sz="1575" dirty="0" i="1">
                <a:solidFill>
                  <a:srgbClr val="16171D"/>
                </a:solidFill>
                <a:latin typeface="Segoe UI"/>
                <a:cs typeface="Segoe UI"/>
              </a:rPr>
              <a:t xml:space="preserve">f</a:t>
            </a:r>
            <a:r>
              <a:rPr lang="en-US" sz="1575" dirty="0">
                <a:solidFill>
                  <a:srgbClr val="16171D"/>
                </a:solidFill>
                <a:latin typeface="Segoe UI"/>
                <a:cs typeface="Segoe UI"/>
              </a:rPr>
              <a:t xml:space="preserve">(</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or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a:t>
            </a:r>
            <a:endParaRPr lang="en-US" sz="1575" dirty="0"/>
          </a:p>
        </p:txBody>
      </p:sp>
      <p:sp>
        <p:nvSpPr>
          <p:cNvPr id="13" name="Shape 13"/>
          <p:cNvSpPr txBox="1"/>
          <p:nvPr/>
        </p:nvSpPr>
        <p:spPr>
          <a:xfrm>
            <a:off x="8013497" y="1618488"/>
            <a:ext cx="3492398" cy="161239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0" name="Shape 10"/>
          <p:cNvSpPr txBox="1"/>
          <p:nvPr/>
        </p:nvSpPr>
        <p:spPr>
          <a:xfrm>
            <a:off x="8223047"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Horizontal translation</a:t>
            </a:r>
            <a:endParaRPr lang="en-US" sz="2100" dirty="0"/>
          </a:p>
        </p:txBody>
      </p:sp>
      <p:sp>
        <p:nvSpPr>
          <p:cNvPr id="11" name="Shape 11"/>
          <p:cNvSpPr txBox="1"/>
          <p:nvPr/>
        </p:nvSpPr>
        <p:spPr>
          <a:xfrm>
            <a:off x="8223047" y="2260092"/>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Moves the graph left or right.</a:t>
            </a:r>
            <a:endParaRPr lang="en-US" sz="1575" dirty="0"/>
          </a:p>
        </p:txBody>
      </p:sp>
      <p:sp>
        <p:nvSpPr>
          <p:cNvPr id="12" name="Shape 12"/>
          <p:cNvSpPr txBox="1"/>
          <p:nvPr/>
        </p:nvSpPr>
        <p:spPr>
          <a:xfrm>
            <a:off x="8223047" y="265023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a:t>
            </a:r>
            <a:r>
              <a:rPr lang="en-US" sz="2325" dirty="0" b="1">
                <a:solidFill>
                  <a:srgbClr val="3050B8"/>
                </a:solidFill>
                <a:latin typeface="Cambria"/>
                <a:cs typeface="Cambria"/>
              </a:rPr>
              <a:t xml:space="preserve">− 3</a:t>
            </a:r>
            <a:r>
              <a:rPr lang="en-US" sz="2325" dirty="0">
                <a:solidFill>
                  <a:srgbClr val="16171D"/>
                </a:solidFill>
                <a:latin typeface="Cambria"/>
                <a:cs typeface="Cambria"/>
              </a:rPr>
              <a:t xml:space="preserve">): right 3</a:t>
            </a:r>
            <a:endParaRPr lang="en-US" sz="2325" dirty="0"/>
          </a:p>
        </p:txBody>
      </p:sp>
      <p:sp>
        <p:nvSpPr>
          <p:cNvPr id="17" name="Shape 17"/>
          <p:cNvSpPr txBox="1"/>
          <p:nvPr/>
        </p:nvSpPr>
        <p:spPr>
          <a:xfrm>
            <a:off x="685800" y="3402330"/>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4" name="Shape 14"/>
          <p:cNvSpPr txBox="1"/>
          <p:nvPr/>
        </p:nvSpPr>
        <p:spPr>
          <a:xfrm>
            <a:off x="895350" y="3573780"/>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Horizontal dilation</a:t>
            </a:r>
            <a:endParaRPr lang="en-US" sz="2100" dirty="0"/>
          </a:p>
        </p:txBody>
      </p:sp>
      <p:sp>
        <p:nvSpPr>
          <p:cNvPr id="15" name="Shape 15"/>
          <p:cNvSpPr txBox="1"/>
          <p:nvPr/>
        </p:nvSpPr>
        <p:spPr>
          <a:xfrm>
            <a:off x="895350" y="4043934"/>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Stretches or compresses the graph toward the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-axis.</a:t>
            </a:r>
            <a:endParaRPr lang="en-US" sz="1575" dirty="0"/>
          </a:p>
        </p:txBody>
      </p:sp>
      <p:sp>
        <p:nvSpPr>
          <p:cNvPr id="16" name="Shape 16"/>
          <p:cNvSpPr txBox="1"/>
          <p:nvPr/>
        </p:nvSpPr>
        <p:spPr>
          <a:xfrm>
            <a:off x="895350" y="4674108"/>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b="1">
                <a:solidFill>
                  <a:srgbClr val="C9561F"/>
                </a:solidFill>
                <a:latin typeface="Cambria"/>
                <a:cs typeface="Cambria"/>
              </a:rPr>
              <a:t xml:space="preserve">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a:t>
            </a:r>
            <a:endParaRPr lang="en-US" sz="2325" dirty="0"/>
          </a:p>
        </p:txBody>
      </p:sp>
      <p:sp>
        <p:nvSpPr>
          <p:cNvPr id="20" name="Shape 20"/>
          <p:cNvSpPr txBox="1"/>
          <p:nvPr/>
        </p:nvSpPr>
        <p:spPr>
          <a:xfrm>
            <a:off x="4349648" y="3402330"/>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8" name="Shape 18"/>
          <p:cNvSpPr txBox="1"/>
          <p:nvPr/>
        </p:nvSpPr>
        <p:spPr>
          <a:xfrm>
            <a:off x="4559198" y="3573780"/>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Inside vs. outside</a:t>
            </a:r>
            <a:endParaRPr lang="en-US" sz="2100" dirty="0"/>
          </a:p>
        </p:txBody>
      </p:sp>
      <p:sp>
        <p:nvSpPr>
          <p:cNvPr id="19" name="Shape 19"/>
          <p:cNvSpPr txBox="1"/>
          <p:nvPr/>
        </p:nvSpPr>
        <p:spPr>
          <a:xfrm>
            <a:off x="4559198" y="4043934"/>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Inside the parentheses: input. Outside: output.</a:t>
            </a:r>
            <a:endParaRPr lang="en-US" sz="1575" dirty="0"/>
          </a:p>
        </p:txBody>
      </p:sp>
      <p:sp>
        <p:nvSpPr>
          <p:cNvPr id="23" name="Shape 23"/>
          <p:cNvSpPr txBox="1"/>
          <p:nvPr/>
        </p:nvSpPr>
        <p:spPr>
          <a:xfrm>
            <a:off x="8013497" y="3402330"/>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21" name="Shape 21"/>
          <p:cNvSpPr txBox="1"/>
          <p:nvPr/>
        </p:nvSpPr>
        <p:spPr>
          <a:xfrm>
            <a:off x="8223047" y="3573780"/>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Counterexample</a:t>
            </a:r>
            <a:endParaRPr lang="en-US" sz="2100" dirty="0"/>
          </a:p>
        </p:txBody>
      </p:sp>
      <p:sp>
        <p:nvSpPr>
          <p:cNvPr id="22" name="Shape 22"/>
          <p:cNvSpPr txBox="1"/>
          <p:nvPr/>
        </p:nvSpPr>
        <p:spPr>
          <a:xfrm>
            <a:off x="8223047" y="4043934"/>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One example that shows a rule is not always true.</a:t>
            </a:r>
            <a:endParaRPr lang="en-US" sz="1575" dirty="0"/>
          </a:p>
        </p:txBody>
      </p:sp>
      <p:sp>
        <p:nvSpPr>
          <p:cNvPr id="24" name="Slide Number 24"/>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11</a:t>
            </a:fld>
          </a:p>
        </p:txBody>
      </p:sp>
    </p:spTree>
  </p:cSld>
  <p:clrMapOvr>
    <a:masterClrMapping/>
  </p:clrMapOvr>
  <p:transition spd="med">
    <p:fade/>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Essential Question · SE p. 287</a:t>
            </a:r>
            <a:endParaRPr lang="en-US" sz="1200" dirty="0"/>
          </a:p>
        </p:txBody>
      </p:sp>
      <p:sp>
        <p:nvSpPr>
          <p:cNvPr id="3" name="Shape 3"/>
          <p:cNvSpPr txBox="1"/>
          <p:nvPr/>
        </p:nvSpPr>
        <p:spPr>
          <a:xfrm>
            <a:off x="685800" y="866394"/>
            <a:ext cx="10820095" cy="110642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You have learned the effects of vertical transformations on linear functions.</a:t>
            </a:r>
            <a:endParaRPr lang="en-US" sz="3450" dirty="0"/>
          </a:p>
        </p:txBody>
      </p:sp>
      <p:sp>
        <p:nvSpPr>
          <p:cNvPr id="4" name="Shape 4"/>
          <p:cNvSpPr txBox="1"/>
          <p:nvPr/>
        </p:nvSpPr>
        <p:spPr>
          <a:xfrm>
            <a:off x="685800" y="2525268"/>
            <a:ext cx="10820095" cy="877824"/>
          </a:xfrm>
          <a:prstGeom prst="rect">
            <a:avLst/>
          </a:prstGeom>
          <a:noFill/>
          <a:ln>
            <a:noFill/>
          </a:ln>
        </p:spPr>
        <p:txBody>
          <a:bodyPr wrap="square" lIns="36576" tIns="27432" rIns="36576" bIns="27432" anchor="t">
            <a:noAutofit/>
          </a:bodyPr>
          <a:lstStyle/>
          <a:p>
            <a:pPr algn="l">
              <a:lnSpc>
                <a:spcPct val="100000"/>
              </a:lnSpc>
            </a:pPr>
            <a:r>
              <a:rPr lang="en-US" sz="2700" dirty="0">
                <a:solidFill>
                  <a:srgbClr val="16171D"/>
                </a:solidFill>
                <a:latin typeface="Segoe UI"/>
                <a:cs typeface="Segoe UI"/>
              </a:rPr>
              <a:t xml:space="preserve">What effect do horizontal transformations have on linear functions? How do they compare to vertical transformations?</a:t>
            </a:r>
            <a:endParaRPr lang="en-US" sz="2700" dirty="0"/>
          </a:p>
        </p:txBody>
      </p:sp>
      <p:sp>
        <p:nvSpPr>
          <p:cNvPr id="5" name="Slide Number 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12</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Getting Started · Hey, I Remember This! · SE p. 288 · ★ Essential</a:t>
            </a:r>
            <a:endParaRPr lang="en-US" sz="1200" dirty="0"/>
          </a:p>
        </p:txBody>
      </p:sp>
      <p:sp>
        <p:nvSpPr>
          <p:cNvPr id="3" name="Shape 3"/>
          <p:cNvSpPr txBox="1"/>
          <p:nvPr/>
        </p:nvSpPr>
        <p:spPr>
          <a:xfrm>
            <a:off x="685800" y="866394"/>
            <a:ext cx="10820095" cy="110642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Graph each function and describe its key characteristics</a:t>
            </a:r>
            <a:endParaRPr lang="en-US" sz="3450" dirty="0"/>
          </a:p>
        </p:txBody>
      </p:sp>
      <p:sp>
        <p:nvSpPr>
          <p:cNvPr id="4" name="Shape 4"/>
          <p:cNvSpPr txBox="1"/>
          <p:nvPr/>
        </p:nvSpPr>
        <p:spPr>
          <a:xfrm>
            <a:off x="685800" y="2144268"/>
            <a:ext cx="33526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g</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3</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− 8</a:t>
            </a:r>
            <a:endParaRPr lang="en-US" sz="2325" dirty="0"/>
          </a:p>
        </p:txBody>
      </p:sp>
      <p:sp>
        <p:nvSpPr>
          <p:cNvPr id="5" name="Shape 5"/>
          <p:cNvSpPr txBox="1"/>
          <p:nvPr/>
        </p:nvSpPr>
        <p:spPr>
          <a:xfrm>
            <a:off x="685800" y="2648712"/>
            <a:ext cx="1508714" cy="74980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Domain, range</a:t>
            </a:r>
            <a:endParaRPr lang="en-US" sz="1800" dirty="0"/>
          </a:p>
        </p:txBody>
      </p:sp>
      <p:sp>
        <p:nvSpPr>
          <p:cNvPr id="6" name="Shape 6"/>
          <p:cNvSpPr txBox="1"/>
          <p:nvPr/>
        </p:nvSpPr>
        <p:spPr>
          <a:xfrm>
            <a:off x="2194514" y="2648712"/>
            <a:ext cx="1843984" cy="749808"/>
          </a:xfrm>
          <a:prstGeom prst="rect">
            <a:avLst/>
          </a:prstGeom>
          <a:noFill/>
          <a:ln>
            <a:noFill/>
          </a:ln>
        </p:spPr>
        <p:txBody>
          <a:bodyPr wrap="square" lIns="36576" tIns="27432" rIns="36576" bIns="27432" anchor="t">
            <a:noAutofit/>
          </a:bodyPr>
          <a:lstStyle/>
          <a:p>
            <a:pPr algn="ctr">
              <a:lnSpc>
                <a:spcPct val="100000"/>
              </a:lnSpc>
            </a:pPr>
            <a:endParaRPr lang="en-US" sz="1800" dirty="0"/>
          </a:p>
        </p:txBody>
      </p:sp>
      <p:sp>
        <p:nvSpPr>
          <p:cNvPr id="7" name="Shape 7"/>
          <p:cNvSpPr txBox="1"/>
          <p:nvPr/>
        </p:nvSpPr>
        <p:spPr>
          <a:xfrm>
            <a:off x="2194514" y="2648712"/>
            <a:ext cx="1843984" cy="74980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All real numbers</a:t>
            </a:r>
            <a:endParaRPr lang="en-US" sz="1800" dirty="0"/>
          </a:p>
        </p:txBody>
      </p:sp>
      <p:cxnSp>
        <p:nvCxnSpPr>
          <p:cNvPr id="8" name="Line 8"/>
          <p:cNvCxnSpPr/>
          <p:nvPr/>
        </p:nvCxnSpPr>
        <p:spPr>
          <a:xfrm>
            <a:off x="685800" y="3398520"/>
            <a:ext cx="3352698" cy="0"/>
          </a:xfrm>
          <a:prstGeom prst="line">
            <a:avLst/>
          </a:prstGeom>
          <a:ln w="9525" cap="flat">
            <a:solidFill>
              <a:srgbClr val="E3E4EC"/>
            </a:solidFill>
          </a:ln>
        </p:spPr>
      </p:cxnSp>
      <p:sp>
        <p:nvSpPr>
          <p:cNvPr id="9" name="Shape 9"/>
          <p:cNvSpPr txBox="1"/>
          <p:nvPr/>
        </p:nvSpPr>
        <p:spPr>
          <a:xfrm>
            <a:off x="685800" y="3398520"/>
            <a:ext cx="1508714" cy="475488"/>
          </a:xfrm>
          <a:prstGeom prst="rect">
            <a:avLst/>
          </a:prstGeom>
          <a:noFill/>
          <a:ln>
            <a:noFill/>
          </a:ln>
        </p:spPr>
        <p:txBody>
          <a:bodyPr wrap="square" lIns="109728" tIns="45720" rIns="109728" bIns="45720" anchor="ctr">
            <a:noAutofit/>
          </a:bodyPr>
          <a:lstStyle/>
          <a:p>
            <a:pPr algn="l">
              <a:lnSpc>
                <a:spcPct val="100000"/>
              </a:lnSpc>
            </a:pPr>
            <a:r>
              <a:rPr lang="en-US" sz="1800" dirty="0" i="1">
                <a:solidFill>
                  <a:srgbClr val="16171D"/>
                </a:solidFill>
                <a:latin typeface="Segoe UI"/>
                <a:cs typeface="Segoe UI"/>
              </a:rPr>
              <a:t xml:space="preserve">x</a:t>
            </a:r>
            <a:r>
              <a:rPr lang="en-US" sz="1800" dirty="0">
                <a:solidFill>
                  <a:srgbClr val="16171D"/>
                </a:solidFill>
                <a:latin typeface="Segoe UI"/>
                <a:cs typeface="Segoe UI"/>
              </a:rPr>
              <a:t xml:space="preserve">-intercept</a:t>
            </a:r>
            <a:endParaRPr lang="en-US" sz="1800" dirty="0"/>
          </a:p>
        </p:txBody>
      </p:sp>
      <p:sp>
        <p:nvSpPr>
          <p:cNvPr id="10" name="Shape 10"/>
          <p:cNvSpPr txBox="1"/>
          <p:nvPr/>
        </p:nvSpPr>
        <p:spPr>
          <a:xfrm>
            <a:off x="2194514" y="3398520"/>
            <a:ext cx="1843984" cy="475488"/>
          </a:xfrm>
          <a:prstGeom prst="rect">
            <a:avLst/>
          </a:prstGeom>
          <a:noFill/>
          <a:ln>
            <a:noFill/>
          </a:ln>
        </p:spPr>
        <p:txBody>
          <a:bodyPr wrap="square" lIns="36576" tIns="27432" rIns="36576" bIns="27432" anchor="t">
            <a:noAutofit/>
          </a:bodyPr>
          <a:lstStyle/>
          <a:p>
            <a:pPr algn="ctr">
              <a:lnSpc>
                <a:spcPct val="100000"/>
              </a:lnSpc>
            </a:pPr>
            <a:endParaRPr lang="en-US" sz="1800" dirty="0"/>
          </a:p>
        </p:txBody>
      </p:sp>
      <p:sp>
        <p:nvSpPr>
          <p:cNvPr id="11" name="Shape 11"/>
          <p:cNvSpPr txBox="1"/>
          <p:nvPr/>
        </p:nvSpPr>
        <p:spPr>
          <a:xfrm>
            <a:off x="2194514" y="3398520"/>
            <a:ext cx="1843984"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(8/3, 0)</a:t>
            </a:r>
            <a:endParaRPr lang="en-US" sz="1800" dirty="0"/>
          </a:p>
        </p:txBody>
      </p:sp>
      <p:cxnSp>
        <p:nvCxnSpPr>
          <p:cNvPr id="12" name="Line 12"/>
          <p:cNvCxnSpPr/>
          <p:nvPr/>
        </p:nvCxnSpPr>
        <p:spPr>
          <a:xfrm>
            <a:off x="685800" y="3874008"/>
            <a:ext cx="3352698" cy="0"/>
          </a:xfrm>
          <a:prstGeom prst="line">
            <a:avLst/>
          </a:prstGeom>
          <a:ln w="9525" cap="flat">
            <a:solidFill>
              <a:srgbClr val="E3E4EC"/>
            </a:solidFill>
          </a:ln>
        </p:spPr>
      </p:cxnSp>
      <p:sp>
        <p:nvSpPr>
          <p:cNvPr id="13" name="Shape 13"/>
          <p:cNvSpPr txBox="1"/>
          <p:nvPr/>
        </p:nvSpPr>
        <p:spPr>
          <a:xfrm>
            <a:off x="685800" y="3874008"/>
            <a:ext cx="1508714" cy="475488"/>
          </a:xfrm>
          <a:prstGeom prst="rect">
            <a:avLst/>
          </a:prstGeom>
          <a:noFill/>
          <a:ln>
            <a:noFill/>
          </a:ln>
        </p:spPr>
        <p:txBody>
          <a:bodyPr wrap="square" lIns="109728" tIns="45720" rIns="109728" bIns="45720" anchor="ctr">
            <a:noAutofit/>
          </a:bodyPr>
          <a:lstStyle/>
          <a:p>
            <a:pPr algn="l">
              <a:lnSpc>
                <a:spcPct val="100000"/>
              </a:lnSpc>
            </a:pPr>
            <a:r>
              <a:rPr lang="en-US" sz="1800" dirty="0" i="1">
                <a:solidFill>
                  <a:srgbClr val="16171D"/>
                </a:solidFill>
                <a:latin typeface="Segoe UI"/>
                <a:cs typeface="Segoe UI"/>
              </a:rPr>
              <a:t xml:space="preserve">y</a:t>
            </a:r>
            <a:r>
              <a:rPr lang="en-US" sz="1800" dirty="0">
                <a:solidFill>
                  <a:srgbClr val="16171D"/>
                </a:solidFill>
                <a:latin typeface="Segoe UI"/>
                <a:cs typeface="Segoe UI"/>
              </a:rPr>
              <a:t xml:space="preserve">-intercept</a:t>
            </a:r>
            <a:endParaRPr lang="en-US" sz="1800" dirty="0"/>
          </a:p>
        </p:txBody>
      </p:sp>
      <p:sp>
        <p:nvSpPr>
          <p:cNvPr id="14" name="Shape 14"/>
          <p:cNvSpPr txBox="1"/>
          <p:nvPr/>
        </p:nvSpPr>
        <p:spPr>
          <a:xfrm>
            <a:off x="2194514" y="3874008"/>
            <a:ext cx="1843984" cy="475488"/>
          </a:xfrm>
          <a:prstGeom prst="rect">
            <a:avLst/>
          </a:prstGeom>
          <a:noFill/>
          <a:ln>
            <a:noFill/>
          </a:ln>
        </p:spPr>
        <p:txBody>
          <a:bodyPr wrap="square" lIns="36576" tIns="27432" rIns="36576" bIns="27432" anchor="t">
            <a:noAutofit/>
          </a:bodyPr>
          <a:lstStyle/>
          <a:p>
            <a:pPr algn="ctr">
              <a:lnSpc>
                <a:spcPct val="100000"/>
              </a:lnSpc>
            </a:pPr>
            <a:endParaRPr lang="en-US" sz="1800" dirty="0"/>
          </a:p>
        </p:txBody>
      </p:sp>
      <p:sp>
        <p:nvSpPr>
          <p:cNvPr id="15" name="Shape 15"/>
          <p:cNvSpPr txBox="1"/>
          <p:nvPr/>
        </p:nvSpPr>
        <p:spPr>
          <a:xfrm>
            <a:off x="2194514" y="3874008"/>
            <a:ext cx="1843984"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(0, −8)</a:t>
            </a:r>
            <a:endParaRPr lang="en-US" sz="1800" dirty="0"/>
          </a:p>
        </p:txBody>
      </p:sp>
      <p:cxnSp>
        <p:nvCxnSpPr>
          <p:cNvPr id="16" name="Line 16"/>
          <p:cNvCxnSpPr/>
          <p:nvPr/>
        </p:nvCxnSpPr>
        <p:spPr>
          <a:xfrm>
            <a:off x="685800" y="4349496"/>
            <a:ext cx="3352698" cy="0"/>
          </a:xfrm>
          <a:prstGeom prst="line">
            <a:avLst/>
          </a:prstGeom>
          <a:ln w="9525" cap="flat">
            <a:solidFill>
              <a:srgbClr val="E3E4EC"/>
            </a:solidFill>
          </a:ln>
        </p:spPr>
      </p:cxnSp>
      <p:sp>
        <p:nvSpPr>
          <p:cNvPr id="17" name="Shape 17"/>
          <p:cNvSpPr txBox="1"/>
          <p:nvPr/>
        </p:nvSpPr>
        <p:spPr>
          <a:xfrm>
            <a:off x="685800" y="4349496"/>
            <a:ext cx="1508714"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Slope</a:t>
            </a:r>
            <a:endParaRPr lang="en-US" sz="1800" dirty="0"/>
          </a:p>
        </p:txBody>
      </p:sp>
      <p:sp>
        <p:nvSpPr>
          <p:cNvPr id="18" name="Shape 18"/>
          <p:cNvSpPr txBox="1"/>
          <p:nvPr/>
        </p:nvSpPr>
        <p:spPr>
          <a:xfrm>
            <a:off x="2194514" y="4349496"/>
            <a:ext cx="1843984" cy="475488"/>
          </a:xfrm>
          <a:prstGeom prst="rect">
            <a:avLst/>
          </a:prstGeom>
          <a:noFill/>
          <a:ln>
            <a:noFill/>
          </a:ln>
        </p:spPr>
        <p:txBody>
          <a:bodyPr wrap="square" lIns="36576" tIns="27432" rIns="36576" bIns="27432" anchor="t">
            <a:noAutofit/>
          </a:bodyPr>
          <a:lstStyle/>
          <a:p>
            <a:pPr algn="ctr">
              <a:lnSpc>
                <a:spcPct val="100000"/>
              </a:lnSpc>
            </a:pPr>
            <a:endParaRPr lang="en-US" sz="1800" dirty="0"/>
          </a:p>
        </p:txBody>
      </p:sp>
      <p:sp>
        <p:nvSpPr>
          <p:cNvPr id="19" name="Shape 19"/>
          <p:cNvSpPr txBox="1"/>
          <p:nvPr/>
        </p:nvSpPr>
        <p:spPr>
          <a:xfrm>
            <a:off x="2194514" y="4349496"/>
            <a:ext cx="1843984"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3, increasing</a:t>
            </a:r>
            <a:endParaRPr lang="en-US" sz="1800" dirty="0"/>
          </a:p>
        </p:txBody>
      </p:sp>
      <p:cxnSp>
        <p:nvCxnSpPr>
          <p:cNvPr id="20" name="Line 20"/>
          <p:cNvCxnSpPr/>
          <p:nvPr/>
        </p:nvCxnSpPr>
        <p:spPr>
          <a:xfrm>
            <a:off x="685800" y="4824984"/>
            <a:ext cx="3352698" cy="0"/>
          </a:xfrm>
          <a:prstGeom prst="line">
            <a:avLst/>
          </a:prstGeom>
          <a:ln w="9525" cap="flat">
            <a:solidFill>
              <a:srgbClr val="E3E4EC"/>
            </a:solidFill>
          </a:ln>
        </p:spPr>
      </p:cxnSp>
      <p:sp>
        <p:nvSpPr>
          <p:cNvPr id="21" name="Shape 21"/>
          <p:cNvSpPr txBox="1"/>
          <p:nvPr/>
        </p:nvSpPr>
        <p:spPr>
          <a:xfrm>
            <a:off x="4419498" y="2144268"/>
            <a:ext cx="33526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h</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−⅔</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+ 5</a:t>
            </a:r>
            <a:endParaRPr lang="en-US" sz="2325" dirty="0"/>
          </a:p>
        </p:txBody>
      </p:sp>
      <p:sp>
        <p:nvSpPr>
          <p:cNvPr id="22" name="Shape 22"/>
          <p:cNvSpPr txBox="1"/>
          <p:nvPr/>
        </p:nvSpPr>
        <p:spPr>
          <a:xfrm>
            <a:off x="4419498" y="2648712"/>
            <a:ext cx="1508714" cy="74980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Domain, range</a:t>
            </a:r>
            <a:endParaRPr lang="en-US" sz="1800" dirty="0"/>
          </a:p>
        </p:txBody>
      </p:sp>
      <p:sp>
        <p:nvSpPr>
          <p:cNvPr id="23" name="Shape 23"/>
          <p:cNvSpPr txBox="1"/>
          <p:nvPr/>
        </p:nvSpPr>
        <p:spPr>
          <a:xfrm>
            <a:off x="5928213" y="2648712"/>
            <a:ext cx="1843984" cy="749808"/>
          </a:xfrm>
          <a:prstGeom prst="rect">
            <a:avLst/>
          </a:prstGeom>
          <a:noFill/>
          <a:ln>
            <a:noFill/>
          </a:ln>
        </p:spPr>
        <p:txBody>
          <a:bodyPr wrap="square" lIns="36576" tIns="27432" rIns="36576" bIns="27432" anchor="t">
            <a:noAutofit/>
          </a:bodyPr>
          <a:lstStyle/>
          <a:p>
            <a:pPr algn="ctr">
              <a:lnSpc>
                <a:spcPct val="100000"/>
              </a:lnSpc>
            </a:pPr>
            <a:endParaRPr lang="en-US" sz="1800" dirty="0"/>
          </a:p>
        </p:txBody>
      </p:sp>
      <p:sp>
        <p:nvSpPr>
          <p:cNvPr id="24" name="Shape 24"/>
          <p:cNvSpPr txBox="1"/>
          <p:nvPr/>
        </p:nvSpPr>
        <p:spPr>
          <a:xfrm>
            <a:off x="5928213" y="2648712"/>
            <a:ext cx="1843984" cy="74980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All real numbers</a:t>
            </a:r>
            <a:endParaRPr lang="en-US" sz="1800" dirty="0"/>
          </a:p>
        </p:txBody>
      </p:sp>
      <p:cxnSp>
        <p:nvCxnSpPr>
          <p:cNvPr id="25" name="Line 25"/>
          <p:cNvCxnSpPr/>
          <p:nvPr/>
        </p:nvCxnSpPr>
        <p:spPr>
          <a:xfrm>
            <a:off x="4419498" y="3398520"/>
            <a:ext cx="3352698" cy="0"/>
          </a:xfrm>
          <a:prstGeom prst="line">
            <a:avLst/>
          </a:prstGeom>
          <a:ln w="9525" cap="flat">
            <a:solidFill>
              <a:srgbClr val="E3E4EC"/>
            </a:solidFill>
          </a:ln>
        </p:spPr>
      </p:cxnSp>
      <p:sp>
        <p:nvSpPr>
          <p:cNvPr id="26" name="Shape 26"/>
          <p:cNvSpPr txBox="1"/>
          <p:nvPr/>
        </p:nvSpPr>
        <p:spPr>
          <a:xfrm>
            <a:off x="4419498" y="3398520"/>
            <a:ext cx="1508714" cy="475488"/>
          </a:xfrm>
          <a:prstGeom prst="rect">
            <a:avLst/>
          </a:prstGeom>
          <a:noFill/>
          <a:ln>
            <a:noFill/>
          </a:ln>
        </p:spPr>
        <p:txBody>
          <a:bodyPr wrap="square" lIns="109728" tIns="45720" rIns="109728" bIns="45720" anchor="ctr">
            <a:noAutofit/>
          </a:bodyPr>
          <a:lstStyle/>
          <a:p>
            <a:pPr algn="l">
              <a:lnSpc>
                <a:spcPct val="100000"/>
              </a:lnSpc>
            </a:pPr>
            <a:r>
              <a:rPr lang="en-US" sz="1800" dirty="0" i="1">
                <a:solidFill>
                  <a:srgbClr val="16171D"/>
                </a:solidFill>
                <a:latin typeface="Segoe UI"/>
                <a:cs typeface="Segoe UI"/>
              </a:rPr>
              <a:t xml:space="preserve">x</a:t>
            </a:r>
            <a:r>
              <a:rPr lang="en-US" sz="1800" dirty="0">
                <a:solidFill>
                  <a:srgbClr val="16171D"/>
                </a:solidFill>
                <a:latin typeface="Segoe UI"/>
                <a:cs typeface="Segoe UI"/>
              </a:rPr>
              <a:t xml:space="preserve">-intercept</a:t>
            </a:r>
            <a:endParaRPr lang="en-US" sz="1800" dirty="0"/>
          </a:p>
        </p:txBody>
      </p:sp>
      <p:sp>
        <p:nvSpPr>
          <p:cNvPr id="27" name="Shape 27"/>
          <p:cNvSpPr txBox="1"/>
          <p:nvPr/>
        </p:nvSpPr>
        <p:spPr>
          <a:xfrm>
            <a:off x="5928213" y="3398520"/>
            <a:ext cx="1843984" cy="475488"/>
          </a:xfrm>
          <a:prstGeom prst="rect">
            <a:avLst/>
          </a:prstGeom>
          <a:noFill/>
          <a:ln>
            <a:noFill/>
          </a:ln>
        </p:spPr>
        <p:txBody>
          <a:bodyPr wrap="square" lIns="36576" tIns="27432" rIns="36576" bIns="27432" anchor="t">
            <a:noAutofit/>
          </a:bodyPr>
          <a:lstStyle/>
          <a:p>
            <a:pPr algn="ctr">
              <a:lnSpc>
                <a:spcPct val="100000"/>
              </a:lnSpc>
            </a:pPr>
            <a:endParaRPr lang="en-US" sz="1800" dirty="0"/>
          </a:p>
        </p:txBody>
      </p:sp>
      <p:sp>
        <p:nvSpPr>
          <p:cNvPr id="28" name="Shape 28"/>
          <p:cNvSpPr txBox="1"/>
          <p:nvPr/>
        </p:nvSpPr>
        <p:spPr>
          <a:xfrm>
            <a:off x="5928213" y="3398520"/>
            <a:ext cx="1843984"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(7.5, 0)</a:t>
            </a:r>
            <a:endParaRPr lang="en-US" sz="1800" dirty="0"/>
          </a:p>
        </p:txBody>
      </p:sp>
      <p:cxnSp>
        <p:nvCxnSpPr>
          <p:cNvPr id="29" name="Line 29"/>
          <p:cNvCxnSpPr/>
          <p:nvPr/>
        </p:nvCxnSpPr>
        <p:spPr>
          <a:xfrm>
            <a:off x="4419498" y="3874008"/>
            <a:ext cx="3352698" cy="0"/>
          </a:xfrm>
          <a:prstGeom prst="line">
            <a:avLst/>
          </a:prstGeom>
          <a:ln w="9525" cap="flat">
            <a:solidFill>
              <a:srgbClr val="E3E4EC"/>
            </a:solidFill>
          </a:ln>
        </p:spPr>
      </p:cxnSp>
      <p:sp>
        <p:nvSpPr>
          <p:cNvPr id="30" name="Shape 30"/>
          <p:cNvSpPr txBox="1"/>
          <p:nvPr/>
        </p:nvSpPr>
        <p:spPr>
          <a:xfrm>
            <a:off x="4419498" y="3874008"/>
            <a:ext cx="1508714" cy="475488"/>
          </a:xfrm>
          <a:prstGeom prst="rect">
            <a:avLst/>
          </a:prstGeom>
          <a:noFill/>
          <a:ln>
            <a:noFill/>
          </a:ln>
        </p:spPr>
        <p:txBody>
          <a:bodyPr wrap="square" lIns="109728" tIns="45720" rIns="109728" bIns="45720" anchor="ctr">
            <a:noAutofit/>
          </a:bodyPr>
          <a:lstStyle/>
          <a:p>
            <a:pPr algn="l">
              <a:lnSpc>
                <a:spcPct val="100000"/>
              </a:lnSpc>
            </a:pPr>
            <a:r>
              <a:rPr lang="en-US" sz="1800" dirty="0" i="1">
                <a:solidFill>
                  <a:srgbClr val="16171D"/>
                </a:solidFill>
                <a:latin typeface="Segoe UI"/>
                <a:cs typeface="Segoe UI"/>
              </a:rPr>
              <a:t xml:space="preserve">y</a:t>
            </a:r>
            <a:r>
              <a:rPr lang="en-US" sz="1800" dirty="0">
                <a:solidFill>
                  <a:srgbClr val="16171D"/>
                </a:solidFill>
                <a:latin typeface="Segoe UI"/>
                <a:cs typeface="Segoe UI"/>
              </a:rPr>
              <a:t xml:space="preserve">-intercept</a:t>
            </a:r>
            <a:endParaRPr lang="en-US" sz="1800" dirty="0"/>
          </a:p>
        </p:txBody>
      </p:sp>
      <p:sp>
        <p:nvSpPr>
          <p:cNvPr id="31" name="Shape 31"/>
          <p:cNvSpPr txBox="1"/>
          <p:nvPr/>
        </p:nvSpPr>
        <p:spPr>
          <a:xfrm>
            <a:off x="5928213" y="3874008"/>
            <a:ext cx="1843984" cy="475488"/>
          </a:xfrm>
          <a:prstGeom prst="rect">
            <a:avLst/>
          </a:prstGeom>
          <a:noFill/>
          <a:ln>
            <a:noFill/>
          </a:ln>
        </p:spPr>
        <p:txBody>
          <a:bodyPr wrap="square" lIns="36576" tIns="27432" rIns="36576" bIns="27432" anchor="t">
            <a:noAutofit/>
          </a:bodyPr>
          <a:lstStyle/>
          <a:p>
            <a:pPr algn="ctr">
              <a:lnSpc>
                <a:spcPct val="100000"/>
              </a:lnSpc>
            </a:pPr>
            <a:endParaRPr lang="en-US" sz="1800" dirty="0"/>
          </a:p>
        </p:txBody>
      </p:sp>
      <p:sp>
        <p:nvSpPr>
          <p:cNvPr id="32" name="Shape 32"/>
          <p:cNvSpPr txBox="1"/>
          <p:nvPr/>
        </p:nvSpPr>
        <p:spPr>
          <a:xfrm>
            <a:off x="5928213" y="3874008"/>
            <a:ext cx="1843984"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(0, 5)</a:t>
            </a:r>
            <a:endParaRPr lang="en-US" sz="1800" dirty="0"/>
          </a:p>
        </p:txBody>
      </p:sp>
      <p:cxnSp>
        <p:nvCxnSpPr>
          <p:cNvPr id="33" name="Line 33"/>
          <p:cNvCxnSpPr/>
          <p:nvPr/>
        </p:nvCxnSpPr>
        <p:spPr>
          <a:xfrm>
            <a:off x="4419498" y="4349496"/>
            <a:ext cx="3352698" cy="0"/>
          </a:xfrm>
          <a:prstGeom prst="line">
            <a:avLst/>
          </a:prstGeom>
          <a:ln w="9525" cap="flat">
            <a:solidFill>
              <a:srgbClr val="E3E4EC"/>
            </a:solidFill>
          </a:ln>
        </p:spPr>
      </p:cxnSp>
      <p:sp>
        <p:nvSpPr>
          <p:cNvPr id="34" name="Shape 34"/>
          <p:cNvSpPr txBox="1"/>
          <p:nvPr/>
        </p:nvSpPr>
        <p:spPr>
          <a:xfrm>
            <a:off x="4419498" y="4349496"/>
            <a:ext cx="1508714"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Slope</a:t>
            </a:r>
            <a:endParaRPr lang="en-US" sz="1800" dirty="0"/>
          </a:p>
        </p:txBody>
      </p:sp>
      <p:sp>
        <p:nvSpPr>
          <p:cNvPr id="35" name="Shape 35"/>
          <p:cNvSpPr txBox="1"/>
          <p:nvPr/>
        </p:nvSpPr>
        <p:spPr>
          <a:xfrm>
            <a:off x="5928213" y="4349496"/>
            <a:ext cx="1843984" cy="475488"/>
          </a:xfrm>
          <a:prstGeom prst="rect">
            <a:avLst/>
          </a:prstGeom>
          <a:noFill/>
          <a:ln>
            <a:noFill/>
          </a:ln>
        </p:spPr>
        <p:txBody>
          <a:bodyPr wrap="square" lIns="36576" tIns="27432" rIns="36576" bIns="27432" anchor="t">
            <a:noAutofit/>
          </a:bodyPr>
          <a:lstStyle/>
          <a:p>
            <a:pPr algn="ctr">
              <a:lnSpc>
                <a:spcPct val="100000"/>
              </a:lnSpc>
            </a:pPr>
            <a:endParaRPr lang="en-US" sz="1800" dirty="0"/>
          </a:p>
        </p:txBody>
      </p:sp>
      <p:sp>
        <p:nvSpPr>
          <p:cNvPr id="36" name="Shape 36"/>
          <p:cNvSpPr txBox="1"/>
          <p:nvPr/>
        </p:nvSpPr>
        <p:spPr>
          <a:xfrm>
            <a:off x="5928213" y="4349496"/>
            <a:ext cx="1843984"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−⅔, decreasing</a:t>
            </a:r>
            <a:endParaRPr lang="en-US" sz="1800" dirty="0"/>
          </a:p>
        </p:txBody>
      </p:sp>
      <p:cxnSp>
        <p:nvCxnSpPr>
          <p:cNvPr id="37" name="Line 37"/>
          <p:cNvCxnSpPr/>
          <p:nvPr/>
        </p:nvCxnSpPr>
        <p:spPr>
          <a:xfrm>
            <a:off x="4419498" y="4824984"/>
            <a:ext cx="3352698" cy="0"/>
          </a:xfrm>
          <a:prstGeom prst="line">
            <a:avLst/>
          </a:prstGeom>
          <a:ln w="9525" cap="flat">
            <a:solidFill>
              <a:srgbClr val="E3E4EC"/>
            </a:solidFill>
          </a:ln>
        </p:spPr>
      </p:cxnSp>
      <p:sp>
        <p:nvSpPr>
          <p:cNvPr id="38" name="Shape 38"/>
          <p:cNvSpPr/>
          <p:nvPr/>
        </p:nvSpPr>
        <p:spPr>
          <a:xfrm>
            <a:off x="8153197" y="2144268"/>
            <a:ext cx="3048000" cy="30480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39" name="Line 39"/>
          <p:cNvCxnSpPr/>
          <p:nvPr/>
        </p:nvCxnSpPr>
        <p:spPr>
          <a:xfrm>
            <a:off x="8477047" y="2258568"/>
            <a:ext cx="0" cy="2686050"/>
          </a:xfrm>
          <a:prstGeom prst="line">
            <a:avLst/>
          </a:prstGeom>
          <a:ln w="9525" cap="flat">
            <a:solidFill>
              <a:srgbClr val="E6E8F2"/>
            </a:solidFill>
          </a:ln>
        </p:spPr>
      </p:cxnSp>
      <p:cxnSp>
        <p:nvCxnSpPr>
          <p:cNvPr id="40" name="Line 40"/>
          <p:cNvCxnSpPr/>
          <p:nvPr/>
        </p:nvCxnSpPr>
        <p:spPr>
          <a:xfrm>
            <a:off x="8622038" y="2258568"/>
            <a:ext cx="0" cy="2686050"/>
          </a:xfrm>
          <a:prstGeom prst="line">
            <a:avLst/>
          </a:prstGeom>
          <a:ln w="9525" cap="flat">
            <a:solidFill>
              <a:srgbClr val="E6E8F2"/>
            </a:solidFill>
          </a:ln>
        </p:spPr>
      </p:cxnSp>
      <p:cxnSp>
        <p:nvCxnSpPr>
          <p:cNvPr id="41" name="Line 41"/>
          <p:cNvCxnSpPr/>
          <p:nvPr/>
        </p:nvCxnSpPr>
        <p:spPr>
          <a:xfrm>
            <a:off x="8767030" y="2258568"/>
            <a:ext cx="0" cy="2686050"/>
          </a:xfrm>
          <a:prstGeom prst="line">
            <a:avLst/>
          </a:prstGeom>
          <a:ln w="9525" cap="flat">
            <a:solidFill>
              <a:srgbClr val="E6E8F2"/>
            </a:solidFill>
          </a:ln>
        </p:spPr>
      </p:cxnSp>
      <p:cxnSp>
        <p:nvCxnSpPr>
          <p:cNvPr id="42" name="Line 42"/>
          <p:cNvCxnSpPr/>
          <p:nvPr/>
        </p:nvCxnSpPr>
        <p:spPr>
          <a:xfrm>
            <a:off x="8912022" y="2258568"/>
            <a:ext cx="0" cy="2686050"/>
          </a:xfrm>
          <a:prstGeom prst="line">
            <a:avLst/>
          </a:prstGeom>
          <a:ln w="9525" cap="flat">
            <a:solidFill>
              <a:srgbClr val="E6E8F2"/>
            </a:solidFill>
          </a:ln>
        </p:spPr>
      </p:cxnSp>
      <p:cxnSp>
        <p:nvCxnSpPr>
          <p:cNvPr id="43" name="Line 43"/>
          <p:cNvCxnSpPr/>
          <p:nvPr/>
        </p:nvCxnSpPr>
        <p:spPr>
          <a:xfrm>
            <a:off x="9057013" y="2258568"/>
            <a:ext cx="0" cy="2686050"/>
          </a:xfrm>
          <a:prstGeom prst="line">
            <a:avLst/>
          </a:prstGeom>
          <a:ln w="9525" cap="flat">
            <a:solidFill>
              <a:srgbClr val="E6E8F2"/>
            </a:solidFill>
          </a:ln>
        </p:spPr>
      </p:cxnSp>
      <p:cxnSp>
        <p:nvCxnSpPr>
          <p:cNvPr id="44" name="Line 44"/>
          <p:cNvCxnSpPr/>
          <p:nvPr/>
        </p:nvCxnSpPr>
        <p:spPr>
          <a:xfrm>
            <a:off x="9202005" y="2258568"/>
            <a:ext cx="0" cy="2686050"/>
          </a:xfrm>
          <a:prstGeom prst="line">
            <a:avLst/>
          </a:prstGeom>
          <a:ln w="9525" cap="flat">
            <a:solidFill>
              <a:srgbClr val="E6E8F2"/>
            </a:solidFill>
          </a:ln>
        </p:spPr>
      </p:cxnSp>
      <p:cxnSp>
        <p:nvCxnSpPr>
          <p:cNvPr id="45" name="Line 45"/>
          <p:cNvCxnSpPr/>
          <p:nvPr/>
        </p:nvCxnSpPr>
        <p:spPr>
          <a:xfrm>
            <a:off x="9346997" y="2258568"/>
            <a:ext cx="0" cy="2686050"/>
          </a:xfrm>
          <a:prstGeom prst="line">
            <a:avLst/>
          </a:prstGeom>
          <a:ln w="9525" cap="flat">
            <a:solidFill>
              <a:srgbClr val="E6E8F2"/>
            </a:solidFill>
          </a:ln>
        </p:spPr>
      </p:cxnSp>
      <p:cxnSp>
        <p:nvCxnSpPr>
          <p:cNvPr id="46" name="Line 46"/>
          <p:cNvCxnSpPr/>
          <p:nvPr/>
        </p:nvCxnSpPr>
        <p:spPr>
          <a:xfrm>
            <a:off x="9491988" y="2258568"/>
            <a:ext cx="0" cy="2686050"/>
          </a:xfrm>
          <a:prstGeom prst="line">
            <a:avLst/>
          </a:prstGeom>
          <a:ln w="9525" cap="flat">
            <a:solidFill>
              <a:srgbClr val="E6E8F2"/>
            </a:solidFill>
          </a:ln>
        </p:spPr>
      </p:cxnSp>
      <p:cxnSp>
        <p:nvCxnSpPr>
          <p:cNvPr id="47" name="Line 47"/>
          <p:cNvCxnSpPr/>
          <p:nvPr/>
        </p:nvCxnSpPr>
        <p:spPr>
          <a:xfrm>
            <a:off x="9636980" y="2258568"/>
            <a:ext cx="0" cy="2686050"/>
          </a:xfrm>
          <a:prstGeom prst="line">
            <a:avLst/>
          </a:prstGeom>
          <a:ln w="9525" cap="flat">
            <a:solidFill>
              <a:srgbClr val="E6E8F2"/>
            </a:solidFill>
          </a:ln>
        </p:spPr>
      </p:cxnSp>
      <p:cxnSp>
        <p:nvCxnSpPr>
          <p:cNvPr id="48" name="Line 48"/>
          <p:cNvCxnSpPr/>
          <p:nvPr/>
        </p:nvCxnSpPr>
        <p:spPr>
          <a:xfrm>
            <a:off x="9781972" y="2258568"/>
            <a:ext cx="0" cy="2686050"/>
          </a:xfrm>
          <a:prstGeom prst="line">
            <a:avLst/>
          </a:prstGeom>
          <a:ln w="9525" cap="flat">
            <a:solidFill>
              <a:srgbClr val="E6E8F2"/>
            </a:solidFill>
          </a:ln>
        </p:spPr>
      </p:cxnSp>
      <p:cxnSp>
        <p:nvCxnSpPr>
          <p:cNvPr id="49" name="Line 49"/>
          <p:cNvCxnSpPr/>
          <p:nvPr/>
        </p:nvCxnSpPr>
        <p:spPr>
          <a:xfrm>
            <a:off x="9926963" y="2258568"/>
            <a:ext cx="0" cy="2686050"/>
          </a:xfrm>
          <a:prstGeom prst="line">
            <a:avLst/>
          </a:prstGeom>
          <a:ln w="9525" cap="flat">
            <a:solidFill>
              <a:srgbClr val="E6E8F2"/>
            </a:solidFill>
          </a:ln>
        </p:spPr>
      </p:cxnSp>
      <p:cxnSp>
        <p:nvCxnSpPr>
          <p:cNvPr id="50" name="Line 50"/>
          <p:cNvCxnSpPr/>
          <p:nvPr/>
        </p:nvCxnSpPr>
        <p:spPr>
          <a:xfrm>
            <a:off x="10071955" y="2258568"/>
            <a:ext cx="0" cy="2686050"/>
          </a:xfrm>
          <a:prstGeom prst="line">
            <a:avLst/>
          </a:prstGeom>
          <a:ln w="9525" cap="flat">
            <a:solidFill>
              <a:srgbClr val="E6E8F2"/>
            </a:solidFill>
          </a:ln>
        </p:spPr>
      </p:cxnSp>
      <p:cxnSp>
        <p:nvCxnSpPr>
          <p:cNvPr id="51" name="Line 51"/>
          <p:cNvCxnSpPr/>
          <p:nvPr/>
        </p:nvCxnSpPr>
        <p:spPr>
          <a:xfrm>
            <a:off x="10216947" y="2258568"/>
            <a:ext cx="0" cy="2686050"/>
          </a:xfrm>
          <a:prstGeom prst="line">
            <a:avLst/>
          </a:prstGeom>
          <a:ln w="9525" cap="flat">
            <a:solidFill>
              <a:srgbClr val="E6E8F2"/>
            </a:solidFill>
          </a:ln>
        </p:spPr>
      </p:cxnSp>
      <p:cxnSp>
        <p:nvCxnSpPr>
          <p:cNvPr id="52" name="Line 52"/>
          <p:cNvCxnSpPr/>
          <p:nvPr/>
        </p:nvCxnSpPr>
        <p:spPr>
          <a:xfrm>
            <a:off x="10361938" y="2258568"/>
            <a:ext cx="0" cy="2686050"/>
          </a:xfrm>
          <a:prstGeom prst="line">
            <a:avLst/>
          </a:prstGeom>
          <a:ln w="9525" cap="flat">
            <a:solidFill>
              <a:srgbClr val="E6E8F2"/>
            </a:solidFill>
          </a:ln>
        </p:spPr>
      </p:cxnSp>
      <p:cxnSp>
        <p:nvCxnSpPr>
          <p:cNvPr id="53" name="Line 53"/>
          <p:cNvCxnSpPr/>
          <p:nvPr/>
        </p:nvCxnSpPr>
        <p:spPr>
          <a:xfrm>
            <a:off x="10506930" y="2258568"/>
            <a:ext cx="0" cy="2686050"/>
          </a:xfrm>
          <a:prstGeom prst="line">
            <a:avLst/>
          </a:prstGeom>
          <a:ln w="9525" cap="flat">
            <a:solidFill>
              <a:srgbClr val="E6E8F2"/>
            </a:solidFill>
          </a:ln>
        </p:spPr>
      </p:cxnSp>
      <p:cxnSp>
        <p:nvCxnSpPr>
          <p:cNvPr id="54" name="Line 54"/>
          <p:cNvCxnSpPr/>
          <p:nvPr/>
        </p:nvCxnSpPr>
        <p:spPr>
          <a:xfrm>
            <a:off x="10651922" y="2258568"/>
            <a:ext cx="0" cy="2686050"/>
          </a:xfrm>
          <a:prstGeom prst="line">
            <a:avLst/>
          </a:prstGeom>
          <a:ln w="9525" cap="flat">
            <a:solidFill>
              <a:srgbClr val="E6E8F2"/>
            </a:solidFill>
          </a:ln>
        </p:spPr>
      </p:cxnSp>
      <p:cxnSp>
        <p:nvCxnSpPr>
          <p:cNvPr id="55" name="Line 55"/>
          <p:cNvCxnSpPr/>
          <p:nvPr/>
        </p:nvCxnSpPr>
        <p:spPr>
          <a:xfrm>
            <a:off x="10796913" y="2258568"/>
            <a:ext cx="0" cy="2686050"/>
          </a:xfrm>
          <a:prstGeom prst="line">
            <a:avLst/>
          </a:prstGeom>
          <a:ln w="9525" cap="flat">
            <a:solidFill>
              <a:srgbClr val="E6E8F2"/>
            </a:solidFill>
          </a:ln>
        </p:spPr>
      </p:cxnSp>
      <p:cxnSp>
        <p:nvCxnSpPr>
          <p:cNvPr id="56" name="Line 56"/>
          <p:cNvCxnSpPr/>
          <p:nvPr/>
        </p:nvCxnSpPr>
        <p:spPr>
          <a:xfrm>
            <a:off x="10941905" y="2258568"/>
            <a:ext cx="0" cy="2686050"/>
          </a:xfrm>
          <a:prstGeom prst="line">
            <a:avLst/>
          </a:prstGeom>
          <a:ln w="9525" cap="flat">
            <a:solidFill>
              <a:srgbClr val="E6E8F2"/>
            </a:solidFill>
          </a:ln>
        </p:spPr>
      </p:cxnSp>
      <p:cxnSp>
        <p:nvCxnSpPr>
          <p:cNvPr id="57" name="Line 57"/>
          <p:cNvCxnSpPr/>
          <p:nvPr/>
        </p:nvCxnSpPr>
        <p:spPr>
          <a:xfrm>
            <a:off x="11086897" y="2258568"/>
            <a:ext cx="0" cy="2686050"/>
          </a:xfrm>
          <a:prstGeom prst="line">
            <a:avLst/>
          </a:prstGeom>
          <a:ln w="9525" cap="flat">
            <a:solidFill>
              <a:srgbClr val="E6E8F2"/>
            </a:solidFill>
          </a:ln>
        </p:spPr>
      </p:cxnSp>
      <p:cxnSp>
        <p:nvCxnSpPr>
          <p:cNvPr id="58" name="Line 58"/>
          <p:cNvCxnSpPr/>
          <p:nvPr/>
        </p:nvCxnSpPr>
        <p:spPr>
          <a:xfrm>
            <a:off x="8477047" y="4944618"/>
            <a:ext cx="2609850" cy="0"/>
          </a:xfrm>
          <a:prstGeom prst="line">
            <a:avLst/>
          </a:prstGeom>
          <a:ln w="9525" cap="flat">
            <a:solidFill>
              <a:srgbClr val="E6E8F2"/>
            </a:solidFill>
          </a:ln>
        </p:spPr>
      </p:cxnSp>
      <p:cxnSp>
        <p:nvCxnSpPr>
          <p:cNvPr id="59" name="Line 59"/>
          <p:cNvCxnSpPr/>
          <p:nvPr/>
        </p:nvCxnSpPr>
        <p:spPr>
          <a:xfrm>
            <a:off x="8477047" y="4795393"/>
            <a:ext cx="2609850" cy="0"/>
          </a:xfrm>
          <a:prstGeom prst="line">
            <a:avLst/>
          </a:prstGeom>
          <a:ln w="9525" cap="flat">
            <a:solidFill>
              <a:srgbClr val="E6E8F2"/>
            </a:solidFill>
          </a:ln>
        </p:spPr>
      </p:cxnSp>
      <p:cxnSp>
        <p:nvCxnSpPr>
          <p:cNvPr id="60" name="Line 60"/>
          <p:cNvCxnSpPr/>
          <p:nvPr/>
        </p:nvCxnSpPr>
        <p:spPr>
          <a:xfrm>
            <a:off x="8477047" y="4646168"/>
            <a:ext cx="2609850" cy="0"/>
          </a:xfrm>
          <a:prstGeom prst="line">
            <a:avLst/>
          </a:prstGeom>
          <a:ln w="9525" cap="flat">
            <a:solidFill>
              <a:srgbClr val="E6E8F2"/>
            </a:solidFill>
          </a:ln>
        </p:spPr>
      </p:cxnSp>
      <p:cxnSp>
        <p:nvCxnSpPr>
          <p:cNvPr id="61" name="Line 61"/>
          <p:cNvCxnSpPr/>
          <p:nvPr/>
        </p:nvCxnSpPr>
        <p:spPr>
          <a:xfrm>
            <a:off x="8477047" y="4496943"/>
            <a:ext cx="2609850" cy="0"/>
          </a:xfrm>
          <a:prstGeom prst="line">
            <a:avLst/>
          </a:prstGeom>
          <a:ln w="9525" cap="flat">
            <a:solidFill>
              <a:srgbClr val="E6E8F2"/>
            </a:solidFill>
          </a:ln>
        </p:spPr>
      </p:cxnSp>
      <p:cxnSp>
        <p:nvCxnSpPr>
          <p:cNvPr id="62" name="Line 62"/>
          <p:cNvCxnSpPr/>
          <p:nvPr/>
        </p:nvCxnSpPr>
        <p:spPr>
          <a:xfrm>
            <a:off x="8477047" y="4347718"/>
            <a:ext cx="2609850" cy="0"/>
          </a:xfrm>
          <a:prstGeom prst="line">
            <a:avLst/>
          </a:prstGeom>
          <a:ln w="9525" cap="flat">
            <a:solidFill>
              <a:srgbClr val="E6E8F2"/>
            </a:solidFill>
          </a:ln>
        </p:spPr>
      </p:cxnSp>
      <p:cxnSp>
        <p:nvCxnSpPr>
          <p:cNvPr id="63" name="Line 63"/>
          <p:cNvCxnSpPr/>
          <p:nvPr/>
        </p:nvCxnSpPr>
        <p:spPr>
          <a:xfrm>
            <a:off x="8477047" y="4198493"/>
            <a:ext cx="2609850" cy="0"/>
          </a:xfrm>
          <a:prstGeom prst="line">
            <a:avLst/>
          </a:prstGeom>
          <a:ln w="9525" cap="flat">
            <a:solidFill>
              <a:srgbClr val="E6E8F2"/>
            </a:solidFill>
          </a:ln>
        </p:spPr>
      </p:cxnSp>
      <p:cxnSp>
        <p:nvCxnSpPr>
          <p:cNvPr id="64" name="Line 64"/>
          <p:cNvCxnSpPr/>
          <p:nvPr/>
        </p:nvCxnSpPr>
        <p:spPr>
          <a:xfrm>
            <a:off x="8477047" y="4049268"/>
            <a:ext cx="2609850" cy="0"/>
          </a:xfrm>
          <a:prstGeom prst="line">
            <a:avLst/>
          </a:prstGeom>
          <a:ln w="9525" cap="flat">
            <a:solidFill>
              <a:srgbClr val="E6E8F2"/>
            </a:solidFill>
          </a:ln>
        </p:spPr>
      </p:cxnSp>
      <p:cxnSp>
        <p:nvCxnSpPr>
          <p:cNvPr id="65" name="Line 65"/>
          <p:cNvCxnSpPr/>
          <p:nvPr/>
        </p:nvCxnSpPr>
        <p:spPr>
          <a:xfrm>
            <a:off x="8477047" y="3900043"/>
            <a:ext cx="2609850" cy="0"/>
          </a:xfrm>
          <a:prstGeom prst="line">
            <a:avLst/>
          </a:prstGeom>
          <a:ln w="9525" cap="flat">
            <a:solidFill>
              <a:srgbClr val="E6E8F2"/>
            </a:solidFill>
          </a:ln>
        </p:spPr>
      </p:cxnSp>
      <p:cxnSp>
        <p:nvCxnSpPr>
          <p:cNvPr id="66" name="Line 66"/>
          <p:cNvCxnSpPr/>
          <p:nvPr/>
        </p:nvCxnSpPr>
        <p:spPr>
          <a:xfrm>
            <a:off x="8477047" y="3750818"/>
            <a:ext cx="2609850" cy="0"/>
          </a:xfrm>
          <a:prstGeom prst="line">
            <a:avLst/>
          </a:prstGeom>
          <a:ln w="9525" cap="flat">
            <a:solidFill>
              <a:srgbClr val="E6E8F2"/>
            </a:solidFill>
          </a:ln>
        </p:spPr>
      </p:cxnSp>
      <p:cxnSp>
        <p:nvCxnSpPr>
          <p:cNvPr id="67" name="Line 67"/>
          <p:cNvCxnSpPr/>
          <p:nvPr/>
        </p:nvCxnSpPr>
        <p:spPr>
          <a:xfrm>
            <a:off x="8477047" y="3601593"/>
            <a:ext cx="2609850" cy="0"/>
          </a:xfrm>
          <a:prstGeom prst="line">
            <a:avLst/>
          </a:prstGeom>
          <a:ln w="9525" cap="flat">
            <a:solidFill>
              <a:srgbClr val="E6E8F2"/>
            </a:solidFill>
          </a:ln>
        </p:spPr>
      </p:cxnSp>
      <p:cxnSp>
        <p:nvCxnSpPr>
          <p:cNvPr id="68" name="Line 68"/>
          <p:cNvCxnSpPr/>
          <p:nvPr/>
        </p:nvCxnSpPr>
        <p:spPr>
          <a:xfrm>
            <a:off x="8477047" y="3452368"/>
            <a:ext cx="2609850" cy="0"/>
          </a:xfrm>
          <a:prstGeom prst="line">
            <a:avLst/>
          </a:prstGeom>
          <a:ln w="9525" cap="flat">
            <a:solidFill>
              <a:srgbClr val="E6E8F2"/>
            </a:solidFill>
          </a:ln>
        </p:spPr>
      </p:cxnSp>
      <p:cxnSp>
        <p:nvCxnSpPr>
          <p:cNvPr id="69" name="Line 69"/>
          <p:cNvCxnSpPr/>
          <p:nvPr/>
        </p:nvCxnSpPr>
        <p:spPr>
          <a:xfrm>
            <a:off x="8477047" y="3303143"/>
            <a:ext cx="2609850" cy="0"/>
          </a:xfrm>
          <a:prstGeom prst="line">
            <a:avLst/>
          </a:prstGeom>
          <a:ln w="9525" cap="flat">
            <a:solidFill>
              <a:srgbClr val="E6E8F2"/>
            </a:solidFill>
          </a:ln>
        </p:spPr>
      </p:cxnSp>
      <p:cxnSp>
        <p:nvCxnSpPr>
          <p:cNvPr id="70" name="Line 70"/>
          <p:cNvCxnSpPr/>
          <p:nvPr/>
        </p:nvCxnSpPr>
        <p:spPr>
          <a:xfrm>
            <a:off x="8477047" y="3153918"/>
            <a:ext cx="2609850" cy="0"/>
          </a:xfrm>
          <a:prstGeom prst="line">
            <a:avLst/>
          </a:prstGeom>
          <a:ln w="9525" cap="flat">
            <a:solidFill>
              <a:srgbClr val="E6E8F2"/>
            </a:solidFill>
          </a:ln>
        </p:spPr>
      </p:cxnSp>
      <p:cxnSp>
        <p:nvCxnSpPr>
          <p:cNvPr id="71" name="Line 71"/>
          <p:cNvCxnSpPr/>
          <p:nvPr/>
        </p:nvCxnSpPr>
        <p:spPr>
          <a:xfrm>
            <a:off x="8477047" y="3004693"/>
            <a:ext cx="2609850" cy="0"/>
          </a:xfrm>
          <a:prstGeom prst="line">
            <a:avLst/>
          </a:prstGeom>
          <a:ln w="9525" cap="flat">
            <a:solidFill>
              <a:srgbClr val="E6E8F2"/>
            </a:solidFill>
          </a:ln>
        </p:spPr>
      </p:cxnSp>
      <p:cxnSp>
        <p:nvCxnSpPr>
          <p:cNvPr id="72" name="Line 72"/>
          <p:cNvCxnSpPr/>
          <p:nvPr/>
        </p:nvCxnSpPr>
        <p:spPr>
          <a:xfrm>
            <a:off x="8477047" y="2855468"/>
            <a:ext cx="2609850" cy="0"/>
          </a:xfrm>
          <a:prstGeom prst="line">
            <a:avLst/>
          </a:prstGeom>
          <a:ln w="9525" cap="flat">
            <a:solidFill>
              <a:srgbClr val="E6E8F2"/>
            </a:solidFill>
          </a:ln>
        </p:spPr>
      </p:cxnSp>
      <p:cxnSp>
        <p:nvCxnSpPr>
          <p:cNvPr id="73" name="Line 73"/>
          <p:cNvCxnSpPr/>
          <p:nvPr/>
        </p:nvCxnSpPr>
        <p:spPr>
          <a:xfrm>
            <a:off x="8477047" y="2706243"/>
            <a:ext cx="2609850" cy="0"/>
          </a:xfrm>
          <a:prstGeom prst="line">
            <a:avLst/>
          </a:prstGeom>
          <a:ln w="9525" cap="flat">
            <a:solidFill>
              <a:srgbClr val="E6E8F2"/>
            </a:solidFill>
          </a:ln>
        </p:spPr>
      </p:cxnSp>
      <p:cxnSp>
        <p:nvCxnSpPr>
          <p:cNvPr id="74" name="Line 74"/>
          <p:cNvCxnSpPr/>
          <p:nvPr/>
        </p:nvCxnSpPr>
        <p:spPr>
          <a:xfrm>
            <a:off x="8477047" y="2557018"/>
            <a:ext cx="2609850" cy="0"/>
          </a:xfrm>
          <a:prstGeom prst="line">
            <a:avLst/>
          </a:prstGeom>
          <a:ln w="9525" cap="flat">
            <a:solidFill>
              <a:srgbClr val="E6E8F2"/>
            </a:solidFill>
          </a:ln>
        </p:spPr>
      </p:cxnSp>
      <p:cxnSp>
        <p:nvCxnSpPr>
          <p:cNvPr id="75" name="Line 75"/>
          <p:cNvCxnSpPr/>
          <p:nvPr/>
        </p:nvCxnSpPr>
        <p:spPr>
          <a:xfrm>
            <a:off x="8477047" y="2407793"/>
            <a:ext cx="2609850" cy="0"/>
          </a:xfrm>
          <a:prstGeom prst="line">
            <a:avLst/>
          </a:prstGeom>
          <a:ln w="9525" cap="flat">
            <a:solidFill>
              <a:srgbClr val="E6E8F2"/>
            </a:solidFill>
          </a:ln>
        </p:spPr>
      </p:cxnSp>
      <p:cxnSp>
        <p:nvCxnSpPr>
          <p:cNvPr id="76" name="Line 76"/>
          <p:cNvCxnSpPr/>
          <p:nvPr/>
        </p:nvCxnSpPr>
        <p:spPr>
          <a:xfrm>
            <a:off x="8477047" y="2258568"/>
            <a:ext cx="2609850" cy="0"/>
          </a:xfrm>
          <a:prstGeom prst="line">
            <a:avLst/>
          </a:prstGeom>
          <a:ln w="9525" cap="flat">
            <a:solidFill>
              <a:srgbClr val="E6E8F2"/>
            </a:solidFill>
          </a:ln>
        </p:spPr>
      </p:cxnSp>
      <p:cxnSp>
        <p:nvCxnSpPr>
          <p:cNvPr id="77" name="Line 77"/>
          <p:cNvCxnSpPr/>
          <p:nvPr/>
        </p:nvCxnSpPr>
        <p:spPr>
          <a:xfrm>
            <a:off x="9636980" y="2258568"/>
            <a:ext cx="0" cy="2686050"/>
          </a:xfrm>
          <a:prstGeom prst="line">
            <a:avLst/>
          </a:prstGeom>
          <a:ln w="19050" cap="flat">
            <a:solidFill>
              <a:srgbClr val="5F6272"/>
            </a:solidFill>
          </a:ln>
        </p:spPr>
      </p:cxnSp>
      <p:cxnSp>
        <p:nvCxnSpPr>
          <p:cNvPr id="78" name="Line 78"/>
          <p:cNvCxnSpPr/>
          <p:nvPr/>
        </p:nvCxnSpPr>
        <p:spPr>
          <a:xfrm>
            <a:off x="8477047" y="3452368"/>
            <a:ext cx="2609850" cy="0"/>
          </a:xfrm>
          <a:prstGeom prst="line">
            <a:avLst/>
          </a:prstGeom>
          <a:ln w="19050" cap="flat">
            <a:solidFill>
              <a:srgbClr val="5F6272"/>
            </a:solidFill>
          </a:ln>
        </p:spPr>
      </p:cxnSp>
      <p:sp>
        <p:nvSpPr>
          <p:cNvPr id="79" name="Shape 79"/>
          <p:cNvSpPr txBox="1"/>
          <p:nvPr/>
        </p:nvSpPr>
        <p:spPr>
          <a:xfrm>
            <a:off x="8202727" y="496366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80" name="Shape 80"/>
          <p:cNvSpPr txBox="1"/>
          <p:nvPr/>
        </p:nvSpPr>
        <p:spPr>
          <a:xfrm>
            <a:off x="8492710" y="496366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81" name="Shape 81"/>
          <p:cNvSpPr txBox="1"/>
          <p:nvPr/>
        </p:nvSpPr>
        <p:spPr>
          <a:xfrm>
            <a:off x="8782693" y="496366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82" name="Shape 82"/>
          <p:cNvSpPr txBox="1"/>
          <p:nvPr/>
        </p:nvSpPr>
        <p:spPr>
          <a:xfrm>
            <a:off x="9072677" y="496366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83" name="Shape 83"/>
          <p:cNvSpPr txBox="1"/>
          <p:nvPr/>
        </p:nvSpPr>
        <p:spPr>
          <a:xfrm>
            <a:off x="9362660" y="496366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84" name="Shape 84"/>
          <p:cNvSpPr txBox="1"/>
          <p:nvPr/>
        </p:nvSpPr>
        <p:spPr>
          <a:xfrm>
            <a:off x="9652643" y="496366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85" name="Shape 85"/>
          <p:cNvSpPr txBox="1"/>
          <p:nvPr/>
        </p:nvSpPr>
        <p:spPr>
          <a:xfrm>
            <a:off x="9942627" y="496366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86" name="Shape 86"/>
          <p:cNvSpPr txBox="1"/>
          <p:nvPr/>
        </p:nvSpPr>
        <p:spPr>
          <a:xfrm>
            <a:off x="10232610" y="496366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87" name="Shape 87"/>
          <p:cNvSpPr txBox="1"/>
          <p:nvPr/>
        </p:nvSpPr>
        <p:spPr>
          <a:xfrm>
            <a:off x="10522593" y="496366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88" name="Shape 88"/>
          <p:cNvSpPr txBox="1"/>
          <p:nvPr/>
        </p:nvSpPr>
        <p:spPr>
          <a:xfrm>
            <a:off x="10812577" y="496366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10</a:t>
            </a:r>
            <a:endParaRPr lang="en-US" sz="975" dirty="0"/>
          </a:p>
        </p:txBody>
      </p:sp>
      <p:sp>
        <p:nvSpPr>
          <p:cNvPr id="89" name="Shape 89"/>
          <p:cNvSpPr txBox="1"/>
          <p:nvPr/>
        </p:nvSpPr>
        <p:spPr>
          <a:xfrm>
            <a:off x="7910119" y="485317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a:t>
            </a:r>
            <a:endParaRPr lang="en-US" sz="975" dirty="0"/>
          </a:p>
        </p:txBody>
      </p:sp>
      <p:sp>
        <p:nvSpPr>
          <p:cNvPr id="90" name="Shape 90"/>
          <p:cNvSpPr txBox="1"/>
          <p:nvPr/>
        </p:nvSpPr>
        <p:spPr>
          <a:xfrm>
            <a:off x="7910119" y="455472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91" name="Shape 91"/>
          <p:cNvSpPr txBox="1"/>
          <p:nvPr/>
        </p:nvSpPr>
        <p:spPr>
          <a:xfrm>
            <a:off x="7910119" y="425627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92" name="Shape 92"/>
          <p:cNvSpPr txBox="1"/>
          <p:nvPr/>
        </p:nvSpPr>
        <p:spPr>
          <a:xfrm>
            <a:off x="7910119" y="395782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93" name="Shape 93"/>
          <p:cNvSpPr txBox="1"/>
          <p:nvPr/>
        </p:nvSpPr>
        <p:spPr>
          <a:xfrm>
            <a:off x="7910119" y="365937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94" name="Shape 94"/>
          <p:cNvSpPr txBox="1"/>
          <p:nvPr/>
        </p:nvSpPr>
        <p:spPr>
          <a:xfrm>
            <a:off x="7910119" y="336092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95" name="Shape 95"/>
          <p:cNvSpPr txBox="1"/>
          <p:nvPr/>
        </p:nvSpPr>
        <p:spPr>
          <a:xfrm>
            <a:off x="7910119" y="306247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96" name="Shape 96"/>
          <p:cNvSpPr txBox="1"/>
          <p:nvPr/>
        </p:nvSpPr>
        <p:spPr>
          <a:xfrm>
            <a:off x="7910119" y="276402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97" name="Shape 97"/>
          <p:cNvSpPr txBox="1"/>
          <p:nvPr/>
        </p:nvSpPr>
        <p:spPr>
          <a:xfrm>
            <a:off x="7910119" y="246557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98" name="Shape 98"/>
          <p:cNvSpPr txBox="1"/>
          <p:nvPr/>
        </p:nvSpPr>
        <p:spPr>
          <a:xfrm>
            <a:off x="7910119" y="216712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cxnSp>
        <p:nvCxnSpPr>
          <p:cNvPr id="99" name="Line 99"/>
          <p:cNvCxnSpPr/>
          <p:nvPr/>
        </p:nvCxnSpPr>
        <p:spPr>
          <a:xfrm flipV="1">
            <a:off x="9540319" y="2258568"/>
            <a:ext cx="869950" cy="2686050"/>
          </a:xfrm>
          <a:prstGeom prst="line">
            <a:avLst/>
          </a:prstGeom>
          <a:ln w="38100" cap="rnd">
            <a:solidFill>
              <a:srgbClr val="4F8A3C"/>
            </a:solidFill>
          </a:ln>
        </p:spPr>
      </p:cxnSp>
      <p:sp>
        <p:nvSpPr>
          <p:cNvPr id="100" name="Shape 100"/>
          <p:cNvSpPr txBox="1"/>
          <p:nvPr/>
        </p:nvSpPr>
        <p:spPr>
          <a:xfrm>
            <a:off x="7918529" y="2277618"/>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g(x)</a:t>
            </a:r>
            <a:endParaRPr lang="en-US" sz="1275" dirty="0"/>
          </a:p>
        </p:txBody>
      </p:sp>
      <p:cxnSp>
        <p:nvCxnSpPr>
          <p:cNvPr id="101" name="Line 101"/>
          <p:cNvCxnSpPr/>
          <p:nvPr/>
        </p:nvCxnSpPr>
        <p:spPr>
          <a:xfrm>
            <a:off x="8984518" y="2258568"/>
            <a:ext cx="2102379" cy="1442508"/>
          </a:xfrm>
          <a:prstGeom prst="line">
            <a:avLst/>
          </a:prstGeom>
          <a:ln w="38100" cap="rnd">
            <a:solidFill>
              <a:srgbClr val="7A4FC4"/>
            </a:solidFill>
          </a:ln>
        </p:spPr>
      </p:cxnSp>
      <p:sp>
        <p:nvSpPr>
          <p:cNvPr id="102" name="Shape 102"/>
          <p:cNvSpPr txBox="1"/>
          <p:nvPr/>
        </p:nvSpPr>
        <p:spPr>
          <a:xfrm>
            <a:off x="9060718" y="2277618"/>
            <a:ext cx="2377440" cy="228600"/>
          </a:xfrm>
          <a:prstGeom prst="rect">
            <a:avLst/>
          </a:prstGeom>
          <a:noFill/>
          <a:ln>
            <a:noFill/>
          </a:ln>
        </p:spPr>
        <p:txBody>
          <a:bodyPr wrap="square" lIns="0" tIns="0" rIns="0" bIns="0" anchor="t">
            <a:noAutofit/>
          </a:bodyPr>
          <a:lstStyle/>
          <a:p>
            <a:pPr algn="l">
              <a:lnSpc>
                <a:spcPct val="100000"/>
              </a:lnSpc>
            </a:pPr>
            <a:r>
              <a:rPr lang="en-US" sz="1275" dirty="0" i="1">
                <a:solidFill>
                  <a:srgbClr val="16171D"/>
                </a:solidFill>
                <a:latin typeface="Cambria"/>
                <a:cs typeface="Cambria"/>
              </a:rPr>
              <a:t xml:space="preserve">h(x)</a:t>
            </a:r>
            <a:endParaRPr lang="en-US" sz="1275" dirty="0"/>
          </a:p>
        </p:txBody>
      </p:sp>
      <p:sp>
        <p:nvSpPr>
          <p:cNvPr id="103" name="Slide Number 103"/>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13</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7"/>
                                        </p:tgtEl>
                                        <p:attrNameLst>
                                          <p:attrName>style.visibility</p:attrName>
                                        </p:attrNameLst>
                                      </p:cBhvr>
                                      <p:to>
                                        <p:strVal val="visible"/>
                                      </p:to>
                                    </p:set>
                                    <p:animEffect transition="in" filter="fade">
                                      <p:cBhvr>
                                        <p:cTn id="4" dur="500"/>
                                        <p:tgtEl>
                                          <p:spTgt spid="7"/>
                                        </p:tgtEl>
                                      </p:cBhvr>
                                    </p:animEffect>
                                    <p:anim calcmode="lin" valueType="num">
                                      <p:cBhvr>
                                        <p:cTn id="5" dur="500" fill="hold"/>
                                        <p:tgtEl>
                                          <p:spTgt spid="7"/>
                                        </p:tgtEl>
                                        <p:attrNameLst>
                                          <p:attrName>ppt_x</p:attrName>
                                        </p:attrNameLst>
                                      </p:cBhvr>
                                      <p:tavLst>
                                        <p:tav tm="0">
                                          <p:val>
                                            <p:strVal val="#ppt_x"/>
                                          </p:val>
                                        </p:tav>
                                        <p:tav tm="100000">
                                          <p:val>
                                            <p:strVal val="#ppt_x"/>
                                          </p:val>
                                        </p:tav>
                                      </p:tavLst>
                                    </p:anim>
                                    <p:anim calcmode="lin" valueType="num">
                                      <p:cBhvr>
                                        <p:cTn id="6"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11"/>
                                        </p:tgtEl>
                                        <p:attrNameLst>
                                          <p:attrName>style.visibility</p:attrName>
                                        </p:attrNameLst>
                                      </p:cBhvr>
                                      <p:to>
                                        <p:strVal val="visible"/>
                                      </p:to>
                                    </p:set>
                                    <p:animEffect transition="in" filter="fade">
                                      <p:cBhvr>
                                        <p:cTn id="11" dur="500"/>
                                        <p:tgtEl>
                                          <p:spTgt spid="11"/>
                                        </p:tgtEl>
                                      </p:cBhvr>
                                    </p:animEffect>
                                    <p:anim calcmode="lin" valueType="num">
                                      <p:cBhvr>
                                        <p:cTn id="12" dur="500" fill="hold"/>
                                        <p:tgtEl>
                                          <p:spTgt spid="11"/>
                                        </p:tgtEl>
                                        <p:attrNameLst>
                                          <p:attrName>ppt_x</p:attrName>
                                        </p:attrNameLst>
                                      </p:cBhvr>
                                      <p:tavLst>
                                        <p:tav tm="0">
                                          <p:val>
                                            <p:strVal val="#ppt_x"/>
                                          </p:val>
                                        </p:tav>
                                        <p:tav tm="100000">
                                          <p:val>
                                            <p:strVal val="#ppt_x"/>
                                          </p:val>
                                        </p:tav>
                                      </p:tavLst>
                                    </p:anim>
                                    <p:anim calcmode="lin" valueType="num">
                                      <p:cBhvr>
                                        <p:cTn id="13" dur="500" fill="hold"/>
                                        <p:tgtEl>
                                          <p:spTgt spid="11"/>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15"/>
                                        </p:tgtEl>
                                        <p:attrNameLst>
                                          <p:attrName>style.visibility</p:attrName>
                                        </p:attrNameLst>
                                      </p:cBhvr>
                                      <p:to>
                                        <p:strVal val="visible"/>
                                      </p:to>
                                    </p:set>
                                    <p:animEffect transition="in" filter="fade">
                                      <p:cBhvr>
                                        <p:cTn id="18" dur="500"/>
                                        <p:tgtEl>
                                          <p:spTgt spid="15"/>
                                        </p:tgtEl>
                                      </p:cBhvr>
                                    </p:animEffect>
                                    <p:anim calcmode="lin" valueType="num">
                                      <p:cBhvr>
                                        <p:cTn id="19" dur="500" fill="hold"/>
                                        <p:tgtEl>
                                          <p:spTgt spid="15"/>
                                        </p:tgtEl>
                                        <p:attrNameLst>
                                          <p:attrName>ppt_x</p:attrName>
                                        </p:attrNameLst>
                                      </p:cBhvr>
                                      <p:tavLst>
                                        <p:tav tm="0">
                                          <p:val>
                                            <p:strVal val="#ppt_x"/>
                                          </p:val>
                                        </p:tav>
                                        <p:tav tm="100000">
                                          <p:val>
                                            <p:strVal val="#ppt_x"/>
                                          </p:val>
                                        </p:tav>
                                      </p:tavLst>
                                    </p:anim>
                                    <p:anim calcmode="lin" valueType="num">
                                      <p:cBhvr>
                                        <p:cTn id="20" dur="500" fill="hold"/>
                                        <p:tgtEl>
                                          <p:spTgt spid="15"/>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19"/>
                                        </p:tgtEl>
                                        <p:attrNameLst>
                                          <p:attrName>style.visibility</p:attrName>
                                        </p:attrNameLst>
                                      </p:cBhvr>
                                      <p:to>
                                        <p:strVal val="visible"/>
                                      </p:to>
                                    </p:set>
                                    <p:animEffect transition="in" filter="fade">
                                      <p:cBhvr>
                                        <p:cTn id="25" dur="500"/>
                                        <p:tgtEl>
                                          <p:spTgt spid="19"/>
                                        </p:tgtEl>
                                      </p:cBhvr>
                                    </p:animEffect>
                                    <p:anim calcmode="lin" valueType="num">
                                      <p:cBhvr>
                                        <p:cTn id="26" dur="500" fill="hold"/>
                                        <p:tgtEl>
                                          <p:spTgt spid="19"/>
                                        </p:tgtEl>
                                        <p:attrNameLst>
                                          <p:attrName>ppt_x</p:attrName>
                                        </p:attrNameLst>
                                      </p:cBhvr>
                                      <p:tavLst>
                                        <p:tav tm="0">
                                          <p:val>
                                            <p:strVal val="#ppt_x"/>
                                          </p:val>
                                        </p:tav>
                                        <p:tav tm="100000">
                                          <p:val>
                                            <p:strVal val="#ppt_x"/>
                                          </p:val>
                                        </p:tav>
                                      </p:tavLst>
                                    </p:anim>
                                    <p:anim calcmode="lin" valueType="num">
                                      <p:cBhvr>
                                        <p:cTn id="27" dur="500" fill="hold"/>
                                        <p:tgtEl>
                                          <p:spTgt spid="19"/>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24"/>
                                        </p:tgtEl>
                                        <p:attrNameLst>
                                          <p:attrName>style.visibility</p:attrName>
                                        </p:attrNameLst>
                                      </p:cBhvr>
                                      <p:to>
                                        <p:strVal val="visible"/>
                                      </p:to>
                                    </p:set>
                                    <p:animEffect transition="in" filter="fade">
                                      <p:cBhvr>
                                        <p:cTn id="32" dur="500"/>
                                        <p:tgtEl>
                                          <p:spTgt spid="24"/>
                                        </p:tgtEl>
                                      </p:cBhvr>
                                    </p:animEffect>
                                    <p:anim calcmode="lin" valueType="num">
                                      <p:cBhvr>
                                        <p:cTn id="33" dur="500" fill="hold"/>
                                        <p:tgtEl>
                                          <p:spTgt spid="24"/>
                                        </p:tgtEl>
                                        <p:attrNameLst>
                                          <p:attrName>ppt_x</p:attrName>
                                        </p:attrNameLst>
                                      </p:cBhvr>
                                      <p:tavLst>
                                        <p:tav tm="0">
                                          <p:val>
                                            <p:strVal val="#ppt_x"/>
                                          </p:val>
                                        </p:tav>
                                        <p:tav tm="100000">
                                          <p:val>
                                            <p:strVal val="#ppt_x"/>
                                          </p:val>
                                        </p:tav>
                                      </p:tavLst>
                                    </p:anim>
                                    <p:anim calcmode="lin" valueType="num">
                                      <p:cBhvr>
                                        <p:cTn id="34" dur="500" fill="hold"/>
                                        <p:tgtEl>
                                          <p:spTgt spid="24"/>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2" presetID="42" presetClass="entr" presetSubtype="0" fill="hold" nodeType="clickEffect">
                                  <p:stCondLst>
                                    <p:cond delay="0"/>
                                  </p:stCondLst>
                                  <p:childTnLst>
                                    <p:set>
                                      <p:cBhvr>
                                        <p:cTn id="38" dur="1" fill="hold">
                                          <p:stCondLst>
                                            <p:cond delay="0"/>
                                          </p:stCondLst>
                                        </p:cTn>
                                        <p:tgtEl>
                                          <p:spTgt spid="28"/>
                                        </p:tgtEl>
                                        <p:attrNameLst>
                                          <p:attrName>style.visibility</p:attrName>
                                        </p:attrNameLst>
                                      </p:cBhvr>
                                      <p:to>
                                        <p:strVal val="visible"/>
                                      </p:to>
                                    </p:set>
                                    <p:animEffect transition="in" filter="fade">
                                      <p:cBhvr>
                                        <p:cTn id="39" dur="500"/>
                                        <p:tgtEl>
                                          <p:spTgt spid="28"/>
                                        </p:tgtEl>
                                      </p:cBhvr>
                                    </p:animEffect>
                                    <p:anim calcmode="lin" valueType="num">
                                      <p:cBhvr>
                                        <p:cTn id="40" dur="500" fill="hold"/>
                                        <p:tgtEl>
                                          <p:spTgt spid="28"/>
                                        </p:tgtEl>
                                        <p:attrNameLst>
                                          <p:attrName>ppt_x</p:attrName>
                                        </p:attrNameLst>
                                      </p:cBhvr>
                                      <p:tavLst>
                                        <p:tav tm="0">
                                          <p:val>
                                            <p:strVal val="#ppt_x"/>
                                          </p:val>
                                        </p:tav>
                                        <p:tav tm="100000">
                                          <p:val>
                                            <p:strVal val="#ppt_x"/>
                                          </p:val>
                                        </p:tav>
                                      </p:tavLst>
                                    </p:anim>
                                    <p:anim calcmode="lin" valueType="num">
                                      <p:cBhvr>
                                        <p:cTn id="41" dur="500" fill="hold"/>
                                        <p:tgtEl>
                                          <p:spTgt spid="28"/>
                                        </p:tgtEl>
                                        <p:attrNameLst>
                                          <p:attrName>ppt_y</p:attrName>
                                        </p:attrNameLst>
                                      </p:cBhvr>
                                      <p:tavLst>
                                        <p:tav tm="0">
                                          <p:val>
                                            <p:strVal val="#ppt_y+.1"/>
                                          </p:val>
                                        </p:tav>
                                        <p:tav tm="100000">
                                          <p:val>
                                            <p:strVal val="#ppt_y"/>
                                          </p:val>
                                        </p:tav>
                                      </p:tavLst>
                                    </p:anim>
                                  </p:childTnLst>
                                </p:cTn>
                              </p:par>
                            </p:childTnLst>
                          </p:cTn>
                        </p:par>
                      </p:childTnLst>
                    </p:cTn>
                  </p:par>
                  <p:par>
                    <p:cTn id="50" fill="hold">
                      <p:stCondLst>
                        <p:cond delay="indefinite"/>
                      </p:stCondLst>
                      <p:childTnLst>
                        <p:par>
                          <p:cTn id="51" fill="hold">
                            <p:stCondLst>
                              <p:cond delay="0"/>
                            </p:stCondLst>
                            <p:childTnLst>
                              <p:par>
                                <p:cTn id="49" presetID="42" presetClass="entr" presetSubtype="0" fill="hold" nodeType="clickEffect">
                                  <p:stCondLst>
                                    <p:cond delay="0"/>
                                  </p:stCondLst>
                                  <p:childTnLst>
                                    <p:set>
                                      <p:cBhvr>
                                        <p:cTn id="45" dur="1" fill="hold">
                                          <p:stCondLst>
                                            <p:cond delay="0"/>
                                          </p:stCondLst>
                                        </p:cTn>
                                        <p:tgtEl>
                                          <p:spTgt spid="32"/>
                                        </p:tgtEl>
                                        <p:attrNameLst>
                                          <p:attrName>style.visibility</p:attrName>
                                        </p:attrNameLst>
                                      </p:cBhvr>
                                      <p:to>
                                        <p:strVal val="visible"/>
                                      </p:to>
                                    </p:set>
                                    <p:animEffect transition="in" filter="fade">
                                      <p:cBhvr>
                                        <p:cTn id="46" dur="500"/>
                                        <p:tgtEl>
                                          <p:spTgt spid="32"/>
                                        </p:tgtEl>
                                      </p:cBhvr>
                                    </p:animEffect>
                                    <p:anim calcmode="lin" valueType="num">
                                      <p:cBhvr>
                                        <p:cTn id="47" dur="500" fill="hold"/>
                                        <p:tgtEl>
                                          <p:spTgt spid="32"/>
                                        </p:tgtEl>
                                        <p:attrNameLst>
                                          <p:attrName>ppt_x</p:attrName>
                                        </p:attrNameLst>
                                      </p:cBhvr>
                                      <p:tavLst>
                                        <p:tav tm="0">
                                          <p:val>
                                            <p:strVal val="#ppt_x"/>
                                          </p:val>
                                        </p:tav>
                                        <p:tav tm="100000">
                                          <p:val>
                                            <p:strVal val="#ppt_x"/>
                                          </p:val>
                                        </p:tav>
                                      </p:tavLst>
                                    </p:anim>
                                    <p:anim calcmode="lin" valueType="num">
                                      <p:cBhvr>
                                        <p:cTn id="48" dur="500" fill="hold"/>
                                        <p:tgtEl>
                                          <p:spTgt spid="32"/>
                                        </p:tgtEl>
                                        <p:attrNameLst>
                                          <p:attrName>ppt_y</p:attrName>
                                        </p:attrNameLst>
                                      </p:cBhvr>
                                      <p:tavLst>
                                        <p:tav tm="0">
                                          <p:val>
                                            <p:strVal val="#ppt_y+.1"/>
                                          </p:val>
                                        </p:tav>
                                        <p:tav tm="100000">
                                          <p:val>
                                            <p:strVal val="#ppt_y"/>
                                          </p:val>
                                        </p:tav>
                                      </p:tavLst>
                                    </p:anim>
                                  </p:childTnLst>
                                </p:cTn>
                              </p:par>
                            </p:childTnLst>
                          </p:cTn>
                        </p:par>
                      </p:childTnLst>
                    </p:cTn>
                  </p:par>
                  <p:par>
                    <p:cTn id="57" fill="hold">
                      <p:stCondLst>
                        <p:cond delay="indefinite"/>
                      </p:stCondLst>
                      <p:childTnLst>
                        <p:par>
                          <p:cTn id="58" fill="hold">
                            <p:stCondLst>
                              <p:cond delay="0"/>
                            </p:stCondLst>
                            <p:childTnLst>
                              <p:par>
                                <p:cTn id="56" presetID="42" presetClass="entr" presetSubtype="0" fill="hold" nodeType="clickEffect">
                                  <p:stCondLst>
                                    <p:cond delay="0"/>
                                  </p:stCondLst>
                                  <p:childTnLst>
                                    <p:set>
                                      <p:cBhvr>
                                        <p:cTn id="52" dur="1" fill="hold">
                                          <p:stCondLst>
                                            <p:cond delay="0"/>
                                          </p:stCondLst>
                                        </p:cTn>
                                        <p:tgtEl>
                                          <p:spTgt spid="36"/>
                                        </p:tgtEl>
                                        <p:attrNameLst>
                                          <p:attrName>style.visibility</p:attrName>
                                        </p:attrNameLst>
                                      </p:cBhvr>
                                      <p:to>
                                        <p:strVal val="visible"/>
                                      </p:to>
                                    </p:set>
                                    <p:animEffect transition="in" filter="fade">
                                      <p:cBhvr>
                                        <p:cTn id="53" dur="500"/>
                                        <p:tgtEl>
                                          <p:spTgt spid="36"/>
                                        </p:tgtEl>
                                      </p:cBhvr>
                                    </p:animEffect>
                                    <p:anim calcmode="lin" valueType="num">
                                      <p:cBhvr>
                                        <p:cTn id="54" dur="500" fill="hold"/>
                                        <p:tgtEl>
                                          <p:spTgt spid="36"/>
                                        </p:tgtEl>
                                        <p:attrNameLst>
                                          <p:attrName>ppt_x</p:attrName>
                                        </p:attrNameLst>
                                      </p:cBhvr>
                                      <p:tavLst>
                                        <p:tav tm="0">
                                          <p:val>
                                            <p:strVal val="#ppt_x"/>
                                          </p:val>
                                        </p:tav>
                                        <p:tav tm="100000">
                                          <p:val>
                                            <p:strVal val="#ppt_x"/>
                                          </p:val>
                                        </p:tav>
                                      </p:tavLst>
                                    </p:anim>
                                    <p:anim calcmode="lin" valueType="num">
                                      <p:cBhvr>
                                        <p:cTn id="55" dur="500" fill="hold"/>
                                        <p:tgtEl>
                                          <p:spTgt spid="36"/>
                                        </p:tgtEl>
                                        <p:attrNameLst>
                                          <p:attrName>ppt_y</p:attrName>
                                        </p:attrNameLst>
                                      </p:cBhvr>
                                      <p:tavLst>
                                        <p:tav tm="0">
                                          <p:val>
                                            <p:strVal val="#ppt_y+.1"/>
                                          </p:val>
                                        </p:tav>
                                        <p:tav tm="100000">
                                          <p:val>
                                            <p:strVal val="#ppt_y"/>
                                          </p:val>
                                        </p:tav>
                                      </p:tavLst>
                                    </p:anim>
                                  </p:childTnLst>
                                </p:cTn>
                              </p:par>
                            </p:childTnLst>
                          </p:cTn>
                        </p:par>
                      </p:childTnLst>
                    </p:cTn>
                  </p:par>
                  <p:par>
                    <p:cTn id="65" fill="hold">
                      <p:stCondLst>
                        <p:cond delay="indefinite"/>
                      </p:stCondLst>
                      <p:childTnLst>
                        <p:par>
                          <p:cTn id="66" fill="hold">
                            <p:stCondLst>
                              <p:cond delay="0"/>
                            </p:stCondLst>
                            <p:childTnLst>
                              <p:par>
                                <p:cTn id="61" presetID="22" presetClass="entr" presetSubtype="8" fill="hold" nodeType="clickEffect">
                                  <p:stCondLst>
                                    <p:cond delay="0"/>
                                  </p:stCondLst>
                                  <p:childTnLst>
                                    <p:set>
                                      <p:cBhvr>
                                        <p:cTn id="59" dur="1" fill="hold">
                                          <p:stCondLst>
                                            <p:cond delay="0"/>
                                          </p:stCondLst>
                                        </p:cTn>
                                        <p:tgtEl>
                                          <p:spTgt spid="99"/>
                                        </p:tgtEl>
                                        <p:attrNameLst>
                                          <p:attrName>style.visibility</p:attrName>
                                        </p:attrNameLst>
                                      </p:cBhvr>
                                      <p:to>
                                        <p:strVal val="visible"/>
                                      </p:to>
                                    </p:set>
                                    <p:animEffect transition="in" filter="wipe(left)">
                                      <p:cBhvr>
                                        <p:cTn id="60" dur="700"/>
                                        <p:tgtEl>
                                          <p:spTgt spid="99"/>
                                        </p:tgtEl>
                                      </p:cBhvr>
                                    </p:animEffect>
                                  </p:childTnLst>
                                </p:cTn>
                              </p:par>
                              <p:par>
                                <p:cTn id="64" presetID="22" presetClass="entr" presetSubtype="8" fill="hold" nodeType="withEffect">
                                  <p:stCondLst>
                                    <p:cond delay="0"/>
                                  </p:stCondLst>
                                  <p:childTnLst>
                                    <p:set>
                                      <p:cBhvr>
                                        <p:cTn id="62" dur="1" fill="hold">
                                          <p:stCondLst>
                                            <p:cond delay="0"/>
                                          </p:stCondLst>
                                        </p:cTn>
                                        <p:tgtEl>
                                          <p:spTgt spid="100"/>
                                        </p:tgtEl>
                                        <p:attrNameLst>
                                          <p:attrName>style.visibility</p:attrName>
                                        </p:attrNameLst>
                                      </p:cBhvr>
                                      <p:to>
                                        <p:strVal val="visible"/>
                                      </p:to>
                                    </p:set>
                                    <p:animEffect transition="in" filter="wipe(left)">
                                      <p:cBhvr>
                                        <p:cTn id="63" dur="700"/>
                                        <p:tgtEl>
                                          <p:spTgt spid="100"/>
                                        </p:tgtEl>
                                      </p:cBhvr>
                                    </p:animEffect>
                                  </p:childTnLst>
                                </p:cTn>
                              </p:par>
                            </p:childTnLst>
                          </p:cTn>
                        </p:par>
                      </p:childTnLst>
                    </p:cTn>
                  </p:par>
                  <p:par>
                    <p:cTn id="73" fill="hold">
                      <p:stCondLst>
                        <p:cond delay="indefinite"/>
                      </p:stCondLst>
                      <p:childTnLst>
                        <p:par>
                          <p:cTn id="74" fill="hold">
                            <p:stCondLst>
                              <p:cond delay="0"/>
                            </p:stCondLst>
                            <p:childTnLst>
                              <p:par>
                                <p:cTn id="69" presetID="22" presetClass="entr" presetSubtype="8" fill="hold" nodeType="clickEffect">
                                  <p:stCondLst>
                                    <p:cond delay="0"/>
                                  </p:stCondLst>
                                  <p:childTnLst>
                                    <p:set>
                                      <p:cBhvr>
                                        <p:cTn id="67" dur="1" fill="hold">
                                          <p:stCondLst>
                                            <p:cond delay="0"/>
                                          </p:stCondLst>
                                        </p:cTn>
                                        <p:tgtEl>
                                          <p:spTgt spid="101"/>
                                        </p:tgtEl>
                                        <p:attrNameLst>
                                          <p:attrName>style.visibility</p:attrName>
                                        </p:attrNameLst>
                                      </p:cBhvr>
                                      <p:to>
                                        <p:strVal val="visible"/>
                                      </p:to>
                                    </p:set>
                                    <p:animEffect transition="in" filter="wipe(left)">
                                      <p:cBhvr>
                                        <p:cTn id="68" dur="700"/>
                                        <p:tgtEl>
                                          <p:spTgt spid="101"/>
                                        </p:tgtEl>
                                      </p:cBhvr>
                                    </p:animEffect>
                                  </p:childTnLst>
                                </p:cTn>
                              </p:par>
                              <p:par>
                                <p:cTn id="72" presetID="22" presetClass="entr" presetSubtype="8" fill="hold" nodeType="withEffect">
                                  <p:stCondLst>
                                    <p:cond delay="0"/>
                                  </p:stCondLst>
                                  <p:childTnLst>
                                    <p:set>
                                      <p:cBhvr>
                                        <p:cTn id="70" dur="1" fill="hold">
                                          <p:stCondLst>
                                            <p:cond delay="0"/>
                                          </p:stCondLst>
                                        </p:cTn>
                                        <p:tgtEl>
                                          <p:spTgt spid="102"/>
                                        </p:tgtEl>
                                        <p:attrNameLst>
                                          <p:attrName>style.visibility</p:attrName>
                                        </p:attrNameLst>
                                      </p:cBhvr>
                                      <p:to>
                                        <p:strVal val="visible"/>
                                      </p:to>
                                    </p:set>
                                    <p:animEffect transition="in" filter="wipe(left)">
                                      <p:cBhvr>
                                        <p:cTn id="71" dur="700"/>
                                        <p:tgtEl>
                                          <p:spTgt spid="10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2.1 · Comparing Vertical and Horizontal Translations · SE pp. 289–290 · ★ Essential</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Translate </a:t>
            </a:r>
            <a:r>
              <a:rPr lang="en-US" sz="3450" dirty="0" b="1" i="1">
                <a:solidFill>
                  <a:srgbClr val="16171D"/>
                </a:solidFill>
                <a:latin typeface="Cambria"/>
                <a:cs typeface="Cambria"/>
              </a:rPr>
              <a:t xml:space="preserve">f</a:t>
            </a:r>
            <a:r>
              <a:rPr lang="en-US" sz="3450" dirty="0" b="1">
                <a:solidFill>
                  <a:srgbClr val="16171D"/>
                </a:solidFill>
                <a:latin typeface="Cambria"/>
                <a:cs typeface="Cambria"/>
              </a:rPr>
              <a:t xml:space="preserve">(</a:t>
            </a:r>
            <a:r>
              <a:rPr lang="en-US" sz="3450" dirty="0" b="1" i="1">
                <a:solidFill>
                  <a:srgbClr val="16171D"/>
                </a:solidFill>
                <a:latin typeface="Cambria"/>
                <a:cs typeface="Cambria"/>
              </a:rPr>
              <a:t xml:space="preserve">x</a:t>
            </a:r>
            <a:r>
              <a:rPr lang="en-US" sz="3450" dirty="0" b="1">
                <a:solidFill>
                  <a:srgbClr val="16171D"/>
                </a:solidFill>
                <a:latin typeface="Cambria"/>
                <a:cs typeface="Cambria"/>
              </a:rPr>
              <a:t xml:space="preserve">) = </a:t>
            </a:r>
            <a:r>
              <a:rPr lang="en-US" sz="3450" dirty="0" b="1" i="1">
                <a:solidFill>
                  <a:srgbClr val="16171D"/>
                </a:solidFill>
                <a:latin typeface="Cambria"/>
                <a:cs typeface="Cambria"/>
              </a:rPr>
              <a:t xml:space="preserve">x</a:t>
            </a:r>
            <a:r>
              <a:rPr lang="en-US" sz="3450" dirty="0" b="1">
                <a:solidFill>
                  <a:srgbClr val="16171D"/>
                </a:solidFill>
                <a:latin typeface="Segoe UI"/>
                <a:cs typeface="Segoe UI"/>
              </a:rPr>
              <a:t xml:space="preserve"> left 3, then up 3</a:t>
            </a:r>
            <a:endParaRPr lang="en-US" sz="3450" dirty="0"/>
          </a:p>
        </p:txBody>
      </p:sp>
      <p:sp>
        <p:nvSpPr>
          <p:cNvPr id="4" name="Shape 4"/>
          <p:cNvSpPr txBox="1"/>
          <p:nvPr/>
        </p:nvSpPr>
        <p:spPr>
          <a:xfrm>
            <a:off x="685800" y="1618488"/>
            <a:ext cx="33526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Left 3: </a:t>
            </a:r>
            <a:r>
              <a:rPr lang="en-US" sz="1575" dirty="0" i="1">
                <a:solidFill>
                  <a:srgbClr val="16171D"/>
                </a:solidFill>
                <a:latin typeface="Cambria"/>
                <a:cs typeface="Cambria"/>
              </a:rPr>
              <a:t xml:space="preserve">t</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+ 3)</a:t>
            </a:r>
            <a:endParaRPr lang="en-US" sz="1575" dirty="0"/>
          </a:p>
        </p:txBody>
      </p:sp>
      <p:sp>
        <p:nvSpPr>
          <p:cNvPr id="5" name="Shape 5"/>
          <p:cNvSpPr txBox="1"/>
          <p:nvPr/>
        </p:nvSpPr>
        <p:spPr>
          <a:xfrm>
            <a:off x="685800" y="2008632"/>
            <a:ext cx="1143000" cy="39776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650" dirty="0" i="1">
                <a:solidFill>
                  <a:srgbClr val="16171D"/>
                </a:solidFill>
                <a:latin typeface="Cambria"/>
                <a:cs typeface="Cambria"/>
              </a:rPr>
              <a:t xml:space="preserve">x</a:t>
            </a:r>
            <a:endParaRPr lang="en-US" sz="1650" dirty="0"/>
          </a:p>
        </p:txBody>
      </p:sp>
      <p:sp>
        <p:nvSpPr>
          <p:cNvPr id="6" name="Shape 6"/>
          <p:cNvSpPr txBox="1"/>
          <p:nvPr/>
        </p:nvSpPr>
        <p:spPr>
          <a:xfrm>
            <a:off x="1828800" y="2008632"/>
            <a:ext cx="1143000" cy="39776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650" dirty="0" i="1">
                <a:solidFill>
                  <a:srgbClr val="16171D"/>
                </a:solidFill>
                <a:latin typeface="Cambria"/>
                <a:cs typeface="Cambria"/>
              </a:rPr>
              <a:t xml:space="preserve">t(x)</a:t>
            </a:r>
            <a:endParaRPr lang="en-US" sz="1650" dirty="0"/>
          </a:p>
        </p:txBody>
      </p:sp>
      <p:sp>
        <p:nvSpPr>
          <p:cNvPr id="7" name="Shape 7"/>
          <p:cNvSpPr txBox="1"/>
          <p:nvPr/>
        </p:nvSpPr>
        <p:spPr>
          <a:xfrm>
            <a:off x="685800" y="2406396"/>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8" name="Shape 8"/>
          <p:cNvSpPr txBox="1"/>
          <p:nvPr/>
        </p:nvSpPr>
        <p:spPr>
          <a:xfrm>
            <a:off x="685800" y="2406396"/>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−5</a:t>
            </a:r>
            <a:endParaRPr lang="en-US" sz="1650" dirty="0"/>
          </a:p>
        </p:txBody>
      </p:sp>
      <p:sp>
        <p:nvSpPr>
          <p:cNvPr id="9" name="Shape 9"/>
          <p:cNvSpPr txBox="1"/>
          <p:nvPr/>
        </p:nvSpPr>
        <p:spPr>
          <a:xfrm>
            <a:off x="1828800" y="2406396"/>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10" name="Shape 10"/>
          <p:cNvSpPr txBox="1"/>
          <p:nvPr/>
        </p:nvSpPr>
        <p:spPr>
          <a:xfrm>
            <a:off x="1828800" y="2406396"/>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a:t>
            </a:r>
            <a:endParaRPr lang="en-US" sz="1650" dirty="0"/>
          </a:p>
        </p:txBody>
      </p:sp>
      <p:sp>
        <p:nvSpPr>
          <p:cNvPr id="11" name="Shape 11"/>
          <p:cNvSpPr txBox="1"/>
          <p:nvPr/>
        </p:nvSpPr>
        <p:spPr>
          <a:xfrm>
            <a:off x="685800" y="2804160"/>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12" name="Shape 12"/>
          <p:cNvSpPr txBox="1"/>
          <p:nvPr/>
        </p:nvSpPr>
        <p:spPr>
          <a:xfrm>
            <a:off x="685800" y="2804160"/>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−4</a:t>
            </a:r>
            <a:endParaRPr lang="en-US" sz="1650" dirty="0"/>
          </a:p>
        </p:txBody>
      </p:sp>
      <p:sp>
        <p:nvSpPr>
          <p:cNvPr id="13" name="Shape 13"/>
          <p:cNvSpPr txBox="1"/>
          <p:nvPr/>
        </p:nvSpPr>
        <p:spPr>
          <a:xfrm>
            <a:off x="1828800" y="2804160"/>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14" name="Shape 14"/>
          <p:cNvSpPr txBox="1"/>
          <p:nvPr/>
        </p:nvSpPr>
        <p:spPr>
          <a:xfrm>
            <a:off x="1828800" y="2804160"/>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a:t>
            </a:r>
            <a:endParaRPr lang="en-US" sz="1650" dirty="0"/>
          </a:p>
        </p:txBody>
      </p:sp>
      <p:sp>
        <p:nvSpPr>
          <p:cNvPr id="15" name="Shape 15"/>
          <p:cNvSpPr txBox="1"/>
          <p:nvPr/>
        </p:nvSpPr>
        <p:spPr>
          <a:xfrm>
            <a:off x="685800" y="3201924"/>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16" name="Shape 16"/>
          <p:cNvSpPr txBox="1"/>
          <p:nvPr/>
        </p:nvSpPr>
        <p:spPr>
          <a:xfrm>
            <a:off x="685800" y="3201924"/>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−3</a:t>
            </a:r>
            <a:endParaRPr lang="en-US" sz="1650" dirty="0"/>
          </a:p>
        </p:txBody>
      </p:sp>
      <p:sp>
        <p:nvSpPr>
          <p:cNvPr id="17" name="Shape 17"/>
          <p:cNvSpPr txBox="1"/>
          <p:nvPr/>
        </p:nvSpPr>
        <p:spPr>
          <a:xfrm>
            <a:off x="1828800" y="3201924"/>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18" name="Shape 18"/>
          <p:cNvSpPr txBox="1"/>
          <p:nvPr/>
        </p:nvSpPr>
        <p:spPr>
          <a:xfrm>
            <a:off x="1828800" y="3201924"/>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0</a:t>
            </a:r>
            <a:endParaRPr lang="en-US" sz="1650" dirty="0"/>
          </a:p>
        </p:txBody>
      </p:sp>
      <p:sp>
        <p:nvSpPr>
          <p:cNvPr id="19" name="Shape 19"/>
          <p:cNvSpPr txBox="1"/>
          <p:nvPr/>
        </p:nvSpPr>
        <p:spPr>
          <a:xfrm>
            <a:off x="685800" y="3599688"/>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20" name="Shape 20"/>
          <p:cNvSpPr txBox="1"/>
          <p:nvPr/>
        </p:nvSpPr>
        <p:spPr>
          <a:xfrm>
            <a:off x="685800" y="3599688"/>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a:t>
            </a:r>
            <a:endParaRPr lang="en-US" sz="1650" dirty="0"/>
          </a:p>
        </p:txBody>
      </p:sp>
      <p:sp>
        <p:nvSpPr>
          <p:cNvPr id="21" name="Shape 21"/>
          <p:cNvSpPr txBox="1"/>
          <p:nvPr/>
        </p:nvSpPr>
        <p:spPr>
          <a:xfrm>
            <a:off x="1828800" y="3599688"/>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22" name="Shape 22"/>
          <p:cNvSpPr txBox="1"/>
          <p:nvPr/>
        </p:nvSpPr>
        <p:spPr>
          <a:xfrm>
            <a:off x="1828800" y="3599688"/>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a:t>
            </a:r>
            <a:endParaRPr lang="en-US" sz="1650" dirty="0"/>
          </a:p>
        </p:txBody>
      </p:sp>
      <p:sp>
        <p:nvSpPr>
          <p:cNvPr id="23" name="Shape 23"/>
          <p:cNvSpPr txBox="1"/>
          <p:nvPr/>
        </p:nvSpPr>
        <p:spPr>
          <a:xfrm>
            <a:off x="685800" y="3997452"/>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24" name="Shape 24"/>
          <p:cNvSpPr txBox="1"/>
          <p:nvPr/>
        </p:nvSpPr>
        <p:spPr>
          <a:xfrm>
            <a:off x="685800" y="3997452"/>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a:t>
            </a:r>
            <a:endParaRPr lang="en-US" sz="1650" dirty="0"/>
          </a:p>
        </p:txBody>
      </p:sp>
      <p:sp>
        <p:nvSpPr>
          <p:cNvPr id="25" name="Shape 25"/>
          <p:cNvSpPr txBox="1"/>
          <p:nvPr/>
        </p:nvSpPr>
        <p:spPr>
          <a:xfrm>
            <a:off x="1828800" y="3997452"/>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26" name="Shape 26"/>
          <p:cNvSpPr txBox="1"/>
          <p:nvPr/>
        </p:nvSpPr>
        <p:spPr>
          <a:xfrm>
            <a:off x="1828800" y="3997452"/>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a:t>
            </a:r>
            <a:endParaRPr lang="en-US" sz="1650" dirty="0"/>
          </a:p>
        </p:txBody>
      </p:sp>
      <p:sp>
        <p:nvSpPr>
          <p:cNvPr id="27" name="Shape 27"/>
          <p:cNvSpPr txBox="1"/>
          <p:nvPr/>
        </p:nvSpPr>
        <p:spPr>
          <a:xfrm>
            <a:off x="685800" y="4490466"/>
            <a:ext cx="33526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a:t>
            </a:r>
            <a:r>
              <a:rPr lang="en-US" sz="1575" dirty="0" b="1">
                <a:solidFill>
                  <a:srgbClr val="16171D"/>
                </a:solidFill>
                <a:latin typeface="Segoe UI"/>
                <a:cs typeface="Segoe UI"/>
              </a:rPr>
              <a:t xml:space="preserve">inputs</a:t>
            </a:r>
            <a:r>
              <a:rPr lang="en-US" sz="1575" dirty="0">
                <a:solidFill>
                  <a:srgbClr val="16171D"/>
                </a:solidFill>
                <a:latin typeface="Segoe UI"/>
                <a:cs typeface="Segoe UI"/>
              </a:rPr>
              <a:t xml:space="preserve"> change.</a:t>
            </a:r>
            <a:endParaRPr lang="en-US" sz="1575" dirty="0"/>
          </a:p>
        </p:txBody>
      </p:sp>
      <p:sp>
        <p:nvSpPr>
          <p:cNvPr id="28" name="Shape 28"/>
          <p:cNvSpPr txBox="1"/>
          <p:nvPr/>
        </p:nvSpPr>
        <p:spPr>
          <a:xfrm>
            <a:off x="4419498" y="1618488"/>
            <a:ext cx="33526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Up 3: </a:t>
            </a:r>
            <a:r>
              <a:rPr lang="en-US" sz="1575" dirty="0" i="1">
                <a:solidFill>
                  <a:srgbClr val="16171D"/>
                </a:solidFill>
                <a:latin typeface="Cambria"/>
                <a:cs typeface="Cambria"/>
              </a:rPr>
              <a:t xml:space="preserve">w</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+ 3</a:t>
            </a:r>
            <a:endParaRPr lang="en-US" sz="1575" dirty="0"/>
          </a:p>
        </p:txBody>
      </p:sp>
      <p:sp>
        <p:nvSpPr>
          <p:cNvPr id="29" name="Shape 29"/>
          <p:cNvSpPr txBox="1"/>
          <p:nvPr/>
        </p:nvSpPr>
        <p:spPr>
          <a:xfrm>
            <a:off x="4419498" y="2008632"/>
            <a:ext cx="1143000" cy="39776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650" dirty="0" i="1">
                <a:solidFill>
                  <a:srgbClr val="16171D"/>
                </a:solidFill>
                <a:latin typeface="Cambria"/>
                <a:cs typeface="Cambria"/>
              </a:rPr>
              <a:t xml:space="preserve">x</a:t>
            </a:r>
            <a:endParaRPr lang="en-US" sz="1650" dirty="0"/>
          </a:p>
        </p:txBody>
      </p:sp>
      <p:sp>
        <p:nvSpPr>
          <p:cNvPr id="30" name="Shape 30"/>
          <p:cNvSpPr txBox="1"/>
          <p:nvPr/>
        </p:nvSpPr>
        <p:spPr>
          <a:xfrm>
            <a:off x="5562498" y="2008632"/>
            <a:ext cx="1143000" cy="39776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650" dirty="0" i="1">
                <a:solidFill>
                  <a:srgbClr val="16171D"/>
                </a:solidFill>
                <a:latin typeface="Cambria"/>
                <a:cs typeface="Cambria"/>
              </a:rPr>
              <a:t xml:space="preserve">w(x)</a:t>
            </a:r>
            <a:endParaRPr lang="en-US" sz="1650" dirty="0"/>
          </a:p>
        </p:txBody>
      </p:sp>
      <p:sp>
        <p:nvSpPr>
          <p:cNvPr id="31" name="Shape 31"/>
          <p:cNvSpPr txBox="1"/>
          <p:nvPr/>
        </p:nvSpPr>
        <p:spPr>
          <a:xfrm>
            <a:off x="4419498" y="2406396"/>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32" name="Shape 32"/>
          <p:cNvSpPr txBox="1"/>
          <p:nvPr/>
        </p:nvSpPr>
        <p:spPr>
          <a:xfrm>
            <a:off x="4419498" y="2406396"/>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a:t>
            </a:r>
            <a:endParaRPr lang="en-US" sz="1650" dirty="0"/>
          </a:p>
        </p:txBody>
      </p:sp>
      <p:sp>
        <p:nvSpPr>
          <p:cNvPr id="33" name="Shape 33"/>
          <p:cNvSpPr txBox="1"/>
          <p:nvPr/>
        </p:nvSpPr>
        <p:spPr>
          <a:xfrm>
            <a:off x="5562498" y="2406396"/>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34" name="Shape 34"/>
          <p:cNvSpPr txBox="1"/>
          <p:nvPr/>
        </p:nvSpPr>
        <p:spPr>
          <a:xfrm>
            <a:off x="5562498" y="2406396"/>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a:t>
            </a:r>
            <a:endParaRPr lang="en-US" sz="1650" dirty="0"/>
          </a:p>
        </p:txBody>
      </p:sp>
      <p:sp>
        <p:nvSpPr>
          <p:cNvPr id="35" name="Shape 35"/>
          <p:cNvSpPr txBox="1"/>
          <p:nvPr/>
        </p:nvSpPr>
        <p:spPr>
          <a:xfrm>
            <a:off x="4419498" y="2804160"/>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36" name="Shape 36"/>
          <p:cNvSpPr txBox="1"/>
          <p:nvPr/>
        </p:nvSpPr>
        <p:spPr>
          <a:xfrm>
            <a:off x="4419498" y="2804160"/>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a:t>
            </a:r>
            <a:endParaRPr lang="en-US" sz="1650" dirty="0"/>
          </a:p>
        </p:txBody>
      </p:sp>
      <p:sp>
        <p:nvSpPr>
          <p:cNvPr id="37" name="Shape 37"/>
          <p:cNvSpPr txBox="1"/>
          <p:nvPr/>
        </p:nvSpPr>
        <p:spPr>
          <a:xfrm>
            <a:off x="5562498" y="2804160"/>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38" name="Shape 38"/>
          <p:cNvSpPr txBox="1"/>
          <p:nvPr/>
        </p:nvSpPr>
        <p:spPr>
          <a:xfrm>
            <a:off x="5562498" y="2804160"/>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a:t>
            </a:r>
            <a:endParaRPr lang="en-US" sz="1650" dirty="0"/>
          </a:p>
        </p:txBody>
      </p:sp>
      <p:sp>
        <p:nvSpPr>
          <p:cNvPr id="39" name="Shape 39"/>
          <p:cNvSpPr txBox="1"/>
          <p:nvPr/>
        </p:nvSpPr>
        <p:spPr>
          <a:xfrm>
            <a:off x="4419498" y="3201924"/>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40" name="Shape 40"/>
          <p:cNvSpPr txBox="1"/>
          <p:nvPr/>
        </p:nvSpPr>
        <p:spPr>
          <a:xfrm>
            <a:off x="4419498" y="3201924"/>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0</a:t>
            </a:r>
            <a:endParaRPr lang="en-US" sz="1650" dirty="0"/>
          </a:p>
        </p:txBody>
      </p:sp>
      <p:sp>
        <p:nvSpPr>
          <p:cNvPr id="41" name="Shape 41"/>
          <p:cNvSpPr txBox="1"/>
          <p:nvPr/>
        </p:nvSpPr>
        <p:spPr>
          <a:xfrm>
            <a:off x="5562498" y="3201924"/>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42" name="Shape 42"/>
          <p:cNvSpPr txBox="1"/>
          <p:nvPr/>
        </p:nvSpPr>
        <p:spPr>
          <a:xfrm>
            <a:off x="5562498" y="3201924"/>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3</a:t>
            </a:r>
            <a:endParaRPr lang="en-US" sz="1650" dirty="0"/>
          </a:p>
        </p:txBody>
      </p:sp>
      <p:sp>
        <p:nvSpPr>
          <p:cNvPr id="43" name="Shape 43"/>
          <p:cNvSpPr txBox="1"/>
          <p:nvPr/>
        </p:nvSpPr>
        <p:spPr>
          <a:xfrm>
            <a:off x="4419498" y="3599688"/>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44" name="Shape 44"/>
          <p:cNvSpPr txBox="1"/>
          <p:nvPr/>
        </p:nvSpPr>
        <p:spPr>
          <a:xfrm>
            <a:off x="4419498" y="3599688"/>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a:t>
            </a:r>
            <a:endParaRPr lang="en-US" sz="1650" dirty="0"/>
          </a:p>
        </p:txBody>
      </p:sp>
      <p:sp>
        <p:nvSpPr>
          <p:cNvPr id="45" name="Shape 45"/>
          <p:cNvSpPr txBox="1"/>
          <p:nvPr/>
        </p:nvSpPr>
        <p:spPr>
          <a:xfrm>
            <a:off x="5562498" y="3599688"/>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46" name="Shape 46"/>
          <p:cNvSpPr txBox="1"/>
          <p:nvPr/>
        </p:nvSpPr>
        <p:spPr>
          <a:xfrm>
            <a:off x="5562498" y="3599688"/>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4</a:t>
            </a:r>
            <a:endParaRPr lang="en-US" sz="1650" dirty="0"/>
          </a:p>
        </p:txBody>
      </p:sp>
      <p:sp>
        <p:nvSpPr>
          <p:cNvPr id="47" name="Shape 47"/>
          <p:cNvSpPr txBox="1"/>
          <p:nvPr/>
        </p:nvSpPr>
        <p:spPr>
          <a:xfrm>
            <a:off x="4419498" y="3997452"/>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48" name="Shape 48"/>
          <p:cNvSpPr txBox="1"/>
          <p:nvPr/>
        </p:nvSpPr>
        <p:spPr>
          <a:xfrm>
            <a:off x="4419498" y="3997452"/>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a:t>
            </a:r>
            <a:endParaRPr lang="en-US" sz="1650" dirty="0"/>
          </a:p>
        </p:txBody>
      </p:sp>
      <p:sp>
        <p:nvSpPr>
          <p:cNvPr id="49" name="Shape 49"/>
          <p:cNvSpPr txBox="1"/>
          <p:nvPr/>
        </p:nvSpPr>
        <p:spPr>
          <a:xfrm>
            <a:off x="5562498" y="3997452"/>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50" name="Shape 50"/>
          <p:cNvSpPr txBox="1"/>
          <p:nvPr/>
        </p:nvSpPr>
        <p:spPr>
          <a:xfrm>
            <a:off x="5562498" y="3997452"/>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5</a:t>
            </a:r>
            <a:endParaRPr lang="en-US" sz="1650" dirty="0"/>
          </a:p>
        </p:txBody>
      </p:sp>
      <p:sp>
        <p:nvSpPr>
          <p:cNvPr id="51" name="Shape 51"/>
          <p:cNvSpPr txBox="1"/>
          <p:nvPr/>
        </p:nvSpPr>
        <p:spPr>
          <a:xfrm>
            <a:off x="4419498" y="4490466"/>
            <a:ext cx="33526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a:t>
            </a:r>
            <a:r>
              <a:rPr lang="en-US" sz="1575" dirty="0" b="1">
                <a:solidFill>
                  <a:srgbClr val="16171D"/>
                </a:solidFill>
                <a:latin typeface="Segoe UI"/>
                <a:cs typeface="Segoe UI"/>
              </a:rPr>
              <a:t xml:space="preserve">outputs</a:t>
            </a:r>
            <a:r>
              <a:rPr lang="en-US" sz="1575" dirty="0">
                <a:solidFill>
                  <a:srgbClr val="16171D"/>
                </a:solidFill>
                <a:latin typeface="Segoe UI"/>
                <a:cs typeface="Segoe UI"/>
              </a:rPr>
              <a:t xml:space="preserve"> change.</a:t>
            </a:r>
            <a:endParaRPr lang="en-US" sz="1575" dirty="0"/>
          </a:p>
        </p:txBody>
      </p:sp>
      <p:sp>
        <p:nvSpPr>
          <p:cNvPr id="52" name="Shape 52"/>
          <p:cNvSpPr/>
          <p:nvPr/>
        </p:nvSpPr>
        <p:spPr>
          <a:xfrm>
            <a:off x="8153197" y="1618488"/>
            <a:ext cx="3048000" cy="30480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53" name="Line 53"/>
          <p:cNvCxnSpPr/>
          <p:nvPr/>
        </p:nvCxnSpPr>
        <p:spPr>
          <a:xfrm>
            <a:off x="8477047" y="1732788"/>
            <a:ext cx="0" cy="2686050"/>
          </a:xfrm>
          <a:prstGeom prst="line">
            <a:avLst/>
          </a:prstGeom>
          <a:ln w="9525" cap="flat">
            <a:solidFill>
              <a:srgbClr val="E6E8F2"/>
            </a:solidFill>
          </a:ln>
        </p:spPr>
      </p:cxnSp>
      <p:cxnSp>
        <p:nvCxnSpPr>
          <p:cNvPr id="54" name="Line 54"/>
          <p:cNvCxnSpPr/>
          <p:nvPr/>
        </p:nvCxnSpPr>
        <p:spPr>
          <a:xfrm>
            <a:off x="8694534" y="1732788"/>
            <a:ext cx="0" cy="2686050"/>
          </a:xfrm>
          <a:prstGeom prst="line">
            <a:avLst/>
          </a:prstGeom>
          <a:ln w="9525" cap="flat">
            <a:solidFill>
              <a:srgbClr val="E6E8F2"/>
            </a:solidFill>
          </a:ln>
        </p:spPr>
      </p:cxnSp>
      <p:cxnSp>
        <p:nvCxnSpPr>
          <p:cNvPr id="55" name="Line 55"/>
          <p:cNvCxnSpPr/>
          <p:nvPr/>
        </p:nvCxnSpPr>
        <p:spPr>
          <a:xfrm>
            <a:off x="8912022" y="1732788"/>
            <a:ext cx="0" cy="2686050"/>
          </a:xfrm>
          <a:prstGeom prst="line">
            <a:avLst/>
          </a:prstGeom>
          <a:ln w="9525" cap="flat">
            <a:solidFill>
              <a:srgbClr val="E6E8F2"/>
            </a:solidFill>
          </a:ln>
        </p:spPr>
      </p:cxnSp>
      <p:cxnSp>
        <p:nvCxnSpPr>
          <p:cNvPr id="56" name="Line 56"/>
          <p:cNvCxnSpPr/>
          <p:nvPr/>
        </p:nvCxnSpPr>
        <p:spPr>
          <a:xfrm>
            <a:off x="9129509" y="1732788"/>
            <a:ext cx="0" cy="2686050"/>
          </a:xfrm>
          <a:prstGeom prst="line">
            <a:avLst/>
          </a:prstGeom>
          <a:ln w="9525" cap="flat">
            <a:solidFill>
              <a:srgbClr val="E6E8F2"/>
            </a:solidFill>
          </a:ln>
        </p:spPr>
      </p:cxnSp>
      <p:cxnSp>
        <p:nvCxnSpPr>
          <p:cNvPr id="57" name="Line 57"/>
          <p:cNvCxnSpPr/>
          <p:nvPr/>
        </p:nvCxnSpPr>
        <p:spPr>
          <a:xfrm>
            <a:off x="9346997" y="1732788"/>
            <a:ext cx="0" cy="2686050"/>
          </a:xfrm>
          <a:prstGeom prst="line">
            <a:avLst/>
          </a:prstGeom>
          <a:ln w="9525" cap="flat">
            <a:solidFill>
              <a:srgbClr val="E6E8F2"/>
            </a:solidFill>
          </a:ln>
        </p:spPr>
      </p:cxnSp>
      <p:cxnSp>
        <p:nvCxnSpPr>
          <p:cNvPr id="58" name="Line 58"/>
          <p:cNvCxnSpPr/>
          <p:nvPr/>
        </p:nvCxnSpPr>
        <p:spPr>
          <a:xfrm>
            <a:off x="9564484" y="1732788"/>
            <a:ext cx="0" cy="2686050"/>
          </a:xfrm>
          <a:prstGeom prst="line">
            <a:avLst/>
          </a:prstGeom>
          <a:ln w="9525" cap="flat">
            <a:solidFill>
              <a:srgbClr val="E6E8F2"/>
            </a:solidFill>
          </a:ln>
        </p:spPr>
      </p:cxnSp>
      <p:cxnSp>
        <p:nvCxnSpPr>
          <p:cNvPr id="59" name="Line 59"/>
          <p:cNvCxnSpPr/>
          <p:nvPr/>
        </p:nvCxnSpPr>
        <p:spPr>
          <a:xfrm>
            <a:off x="9781972" y="1732788"/>
            <a:ext cx="0" cy="2686050"/>
          </a:xfrm>
          <a:prstGeom prst="line">
            <a:avLst/>
          </a:prstGeom>
          <a:ln w="9525" cap="flat">
            <a:solidFill>
              <a:srgbClr val="E6E8F2"/>
            </a:solidFill>
          </a:ln>
        </p:spPr>
      </p:cxnSp>
      <p:cxnSp>
        <p:nvCxnSpPr>
          <p:cNvPr id="60" name="Line 60"/>
          <p:cNvCxnSpPr/>
          <p:nvPr/>
        </p:nvCxnSpPr>
        <p:spPr>
          <a:xfrm>
            <a:off x="9999459" y="1732788"/>
            <a:ext cx="0" cy="2686050"/>
          </a:xfrm>
          <a:prstGeom prst="line">
            <a:avLst/>
          </a:prstGeom>
          <a:ln w="9525" cap="flat">
            <a:solidFill>
              <a:srgbClr val="E6E8F2"/>
            </a:solidFill>
          </a:ln>
        </p:spPr>
      </p:cxnSp>
      <p:cxnSp>
        <p:nvCxnSpPr>
          <p:cNvPr id="61" name="Line 61"/>
          <p:cNvCxnSpPr/>
          <p:nvPr/>
        </p:nvCxnSpPr>
        <p:spPr>
          <a:xfrm>
            <a:off x="10216947" y="1732788"/>
            <a:ext cx="0" cy="2686050"/>
          </a:xfrm>
          <a:prstGeom prst="line">
            <a:avLst/>
          </a:prstGeom>
          <a:ln w="9525" cap="flat">
            <a:solidFill>
              <a:srgbClr val="E6E8F2"/>
            </a:solidFill>
          </a:ln>
        </p:spPr>
      </p:cxnSp>
      <p:cxnSp>
        <p:nvCxnSpPr>
          <p:cNvPr id="62" name="Line 62"/>
          <p:cNvCxnSpPr/>
          <p:nvPr/>
        </p:nvCxnSpPr>
        <p:spPr>
          <a:xfrm>
            <a:off x="10434434" y="1732788"/>
            <a:ext cx="0" cy="2686050"/>
          </a:xfrm>
          <a:prstGeom prst="line">
            <a:avLst/>
          </a:prstGeom>
          <a:ln w="9525" cap="flat">
            <a:solidFill>
              <a:srgbClr val="E6E8F2"/>
            </a:solidFill>
          </a:ln>
        </p:spPr>
      </p:cxnSp>
      <p:cxnSp>
        <p:nvCxnSpPr>
          <p:cNvPr id="63" name="Line 63"/>
          <p:cNvCxnSpPr/>
          <p:nvPr/>
        </p:nvCxnSpPr>
        <p:spPr>
          <a:xfrm>
            <a:off x="10651922" y="1732788"/>
            <a:ext cx="0" cy="2686050"/>
          </a:xfrm>
          <a:prstGeom prst="line">
            <a:avLst/>
          </a:prstGeom>
          <a:ln w="9525" cap="flat">
            <a:solidFill>
              <a:srgbClr val="E6E8F2"/>
            </a:solidFill>
          </a:ln>
        </p:spPr>
      </p:cxnSp>
      <p:cxnSp>
        <p:nvCxnSpPr>
          <p:cNvPr id="64" name="Line 64"/>
          <p:cNvCxnSpPr/>
          <p:nvPr/>
        </p:nvCxnSpPr>
        <p:spPr>
          <a:xfrm>
            <a:off x="10869409" y="1732788"/>
            <a:ext cx="0" cy="2686050"/>
          </a:xfrm>
          <a:prstGeom prst="line">
            <a:avLst/>
          </a:prstGeom>
          <a:ln w="9525" cap="flat">
            <a:solidFill>
              <a:srgbClr val="E6E8F2"/>
            </a:solidFill>
          </a:ln>
        </p:spPr>
      </p:cxnSp>
      <p:cxnSp>
        <p:nvCxnSpPr>
          <p:cNvPr id="65" name="Line 65"/>
          <p:cNvCxnSpPr/>
          <p:nvPr/>
        </p:nvCxnSpPr>
        <p:spPr>
          <a:xfrm>
            <a:off x="11086897" y="1732788"/>
            <a:ext cx="0" cy="2686050"/>
          </a:xfrm>
          <a:prstGeom prst="line">
            <a:avLst/>
          </a:prstGeom>
          <a:ln w="9525" cap="flat">
            <a:solidFill>
              <a:srgbClr val="E6E8F2"/>
            </a:solidFill>
          </a:ln>
        </p:spPr>
      </p:cxnSp>
      <p:cxnSp>
        <p:nvCxnSpPr>
          <p:cNvPr id="66" name="Line 66"/>
          <p:cNvCxnSpPr/>
          <p:nvPr/>
        </p:nvCxnSpPr>
        <p:spPr>
          <a:xfrm>
            <a:off x="8477047" y="4418838"/>
            <a:ext cx="2609850" cy="0"/>
          </a:xfrm>
          <a:prstGeom prst="line">
            <a:avLst/>
          </a:prstGeom>
          <a:ln w="9525" cap="flat">
            <a:solidFill>
              <a:srgbClr val="E6E8F2"/>
            </a:solidFill>
          </a:ln>
        </p:spPr>
      </p:cxnSp>
      <p:cxnSp>
        <p:nvCxnSpPr>
          <p:cNvPr id="67" name="Line 67"/>
          <p:cNvCxnSpPr/>
          <p:nvPr/>
        </p:nvCxnSpPr>
        <p:spPr>
          <a:xfrm>
            <a:off x="8477047" y="4195000"/>
            <a:ext cx="2609850" cy="0"/>
          </a:xfrm>
          <a:prstGeom prst="line">
            <a:avLst/>
          </a:prstGeom>
          <a:ln w="9525" cap="flat">
            <a:solidFill>
              <a:srgbClr val="E6E8F2"/>
            </a:solidFill>
          </a:ln>
        </p:spPr>
      </p:cxnSp>
      <p:cxnSp>
        <p:nvCxnSpPr>
          <p:cNvPr id="68" name="Line 68"/>
          <p:cNvCxnSpPr/>
          <p:nvPr/>
        </p:nvCxnSpPr>
        <p:spPr>
          <a:xfrm>
            <a:off x="8477047" y="3971163"/>
            <a:ext cx="2609850" cy="0"/>
          </a:xfrm>
          <a:prstGeom prst="line">
            <a:avLst/>
          </a:prstGeom>
          <a:ln w="9525" cap="flat">
            <a:solidFill>
              <a:srgbClr val="E6E8F2"/>
            </a:solidFill>
          </a:ln>
        </p:spPr>
      </p:cxnSp>
      <p:cxnSp>
        <p:nvCxnSpPr>
          <p:cNvPr id="69" name="Line 69"/>
          <p:cNvCxnSpPr/>
          <p:nvPr/>
        </p:nvCxnSpPr>
        <p:spPr>
          <a:xfrm>
            <a:off x="8477047" y="3747325"/>
            <a:ext cx="2609850" cy="0"/>
          </a:xfrm>
          <a:prstGeom prst="line">
            <a:avLst/>
          </a:prstGeom>
          <a:ln w="9525" cap="flat">
            <a:solidFill>
              <a:srgbClr val="E6E8F2"/>
            </a:solidFill>
          </a:ln>
        </p:spPr>
      </p:cxnSp>
      <p:cxnSp>
        <p:nvCxnSpPr>
          <p:cNvPr id="70" name="Line 70"/>
          <p:cNvCxnSpPr/>
          <p:nvPr/>
        </p:nvCxnSpPr>
        <p:spPr>
          <a:xfrm>
            <a:off x="8477047" y="3523488"/>
            <a:ext cx="2609850" cy="0"/>
          </a:xfrm>
          <a:prstGeom prst="line">
            <a:avLst/>
          </a:prstGeom>
          <a:ln w="9525" cap="flat">
            <a:solidFill>
              <a:srgbClr val="E6E8F2"/>
            </a:solidFill>
          </a:ln>
        </p:spPr>
      </p:cxnSp>
      <p:cxnSp>
        <p:nvCxnSpPr>
          <p:cNvPr id="71" name="Line 71"/>
          <p:cNvCxnSpPr/>
          <p:nvPr/>
        </p:nvCxnSpPr>
        <p:spPr>
          <a:xfrm>
            <a:off x="8477047" y="3299650"/>
            <a:ext cx="2609850" cy="0"/>
          </a:xfrm>
          <a:prstGeom prst="line">
            <a:avLst/>
          </a:prstGeom>
          <a:ln w="9525" cap="flat">
            <a:solidFill>
              <a:srgbClr val="E6E8F2"/>
            </a:solidFill>
          </a:ln>
        </p:spPr>
      </p:cxnSp>
      <p:cxnSp>
        <p:nvCxnSpPr>
          <p:cNvPr id="72" name="Line 72"/>
          <p:cNvCxnSpPr/>
          <p:nvPr/>
        </p:nvCxnSpPr>
        <p:spPr>
          <a:xfrm>
            <a:off x="8477047" y="3075813"/>
            <a:ext cx="2609850" cy="0"/>
          </a:xfrm>
          <a:prstGeom prst="line">
            <a:avLst/>
          </a:prstGeom>
          <a:ln w="9525" cap="flat">
            <a:solidFill>
              <a:srgbClr val="E6E8F2"/>
            </a:solidFill>
          </a:ln>
        </p:spPr>
      </p:cxnSp>
      <p:cxnSp>
        <p:nvCxnSpPr>
          <p:cNvPr id="73" name="Line 73"/>
          <p:cNvCxnSpPr/>
          <p:nvPr/>
        </p:nvCxnSpPr>
        <p:spPr>
          <a:xfrm>
            <a:off x="8477047" y="2851976"/>
            <a:ext cx="2609850" cy="0"/>
          </a:xfrm>
          <a:prstGeom prst="line">
            <a:avLst/>
          </a:prstGeom>
          <a:ln w="9525" cap="flat">
            <a:solidFill>
              <a:srgbClr val="E6E8F2"/>
            </a:solidFill>
          </a:ln>
        </p:spPr>
      </p:cxnSp>
      <p:cxnSp>
        <p:nvCxnSpPr>
          <p:cNvPr id="74" name="Line 74"/>
          <p:cNvCxnSpPr/>
          <p:nvPr/>
        </p:nvCxnSpPr>
        <p:spPr>
          <a:xfrm>
            <a:off x="8477047" y="2628138"/>
            <a:ext cx="2609850" cy="0"/>
          </a:xfrm>
          <a:prstGeom prst="line">
            <a:avLst/>
          </a:prstGeom>
          <a:ln w="9525" cap="flat">
            <a:solidFill>
              <a:srgbClr val="E6E8F2"/>
            </a:solidFill>
          </a:ln>
        </p:spPr>
      </p:cxnSp>
      <p:cxnSp>
        <p:nvCxnSpPr>
          <p:cNvPr id="75" name="Line 75"/>
          <p:cNvCxnSpPr/>
          <p:nvPr/>
        </p:nvCxnSpPr>
        <p:spPr>
          <a:xfrm>
            <a:off x="8477047" y="2404300"/>
            <a:ext cx="2609850" cy="0"/>
          </a:xfrm>
          <a:prstGeom prst="line">
            <a:avLst/>
          </a:prstGeom>
          <a:ln w="9525" cap="flat">
            <a:solidFill>
              <a:srgbClr val="E6E8F2"/>
            </a:solidFill>
          </a:ln>
        </p:spPr>
      </p:cxnSp>
      <p:cxnSp>
        <p:nvCxnSpPr>
          <p:cNvPr id="76" name="Line 76"/>
          <p:cNvCxnSpPr/>
          <p:nvPr/>
        </p:nvCxnSpPr>
        <p:spPr>
          <a:xfrm>
            <a:off x="8477047" y="2180463"/>
            <a:ext cx="2609850" cy="0"/>
          </a:xfrm>
          <a:prstGeom prst="line">
            <a:avLst/>
          </a:prstGeom>
          <a:ln w="9525" cap="flat">
            <a:solidFill>
              <a:srgbClr val="E6E8F2"/>
            </a:solidFill>
          </a:ln>
        </p:spPr>
      </p:cxnSp>
      <p:cxnSp>
        <p:nvCxnSpPr>
          <p:cNvPr id="77" name="Line 77"/>
          <p:cNvCxnSpPr/>
          <p:nvPr/>
        </p:nvCxnSpPr>
        <p:spPr>
          <a:xfrm>
            <a:off x="8477047" y="1956625"/>
            <a:ext cx="2609850" cy="0"/>
          </a:xfrm>
          <a:prstGeom prst="line">
            <a:avLst/>
          </a:prstGeom>
          <a:ln w="9525" cap="flat">
            <a:solidFill>
              <a:srgbClr val="E6E8F2"/>
            </a:solidFill>
          </a:ln>
        </p:spPr>
      </p:cxnSp>
      <p:cxnSp>
        <p:nvCxnSpPr>
          <p:cNvPr id="78" name="Line 78"/>
          <p:cNvCxnSpPr/>
          <p:nvPr/>
        </p:nvCxnSpPr>
        <p:spPr>
          <a:xfrm>
            <a:off x="8477047" y="1732788"/>
            <a:ext cx="2609850" cy="0"/>
          </a:xfrm>
          <a:prstGeom prst="line">
            <a:avLst/>
          </a:prstGeom>
          <a:ln w="9525" cap="flat">
            <a:solidFill>
              <a:srgbClr val="E6E8F2"/>
            </a:solidFill>
          </a:ln>
        </p:spPr>
      </p:cxnSp>
      <p:cxnSp>
        <p:nvCxnSpPr>
          <p:cNvPr id="79" name="Line 79"/>
          <p:cNvCxnSpPr/>
          <p:nvPr/>
        </p:nvCxnSpPr>
        <p:spPr>
          <a:xfrm>
            <a:off x="9781972" y="1732788"/>
            <a:ext cx="0" cy="2686050"/>
          </a:xfrm>
          <a:prstGeom prst="line">
            <a:avLst/>
          </a:prstGeom>
          <a:ln w="19050" cap="flat">
            <a:solidFill>
              <a:srgbClr val="5F6272"/>
            </a:solidFill>
          </a:ln>
        </p:spPr>
      </p:cxnSp>
      <p:cxnSp>
        <p:nvCxnSpPr>
          <p:cNvPr id="80" name="Line 80"/>
          <p:cNvCxnSpPr/>
          <p:nvPr/>
        </p:nvCxnSpPr>
        <p:spPr>
          <a:xfrm>
            <a:off x="8477047" y="3075813"/>
            <a:ext cx="2609850" cy="0"/>
          </a:xfrm>
          <a:prstGeom prst="line">
            <a:avLst/>
          </a:prstGeom>
          <a:ln w="19050" cap="flat">
            <a:solidFill>
              <a:srgbClr val="5F6272"/>
            </a:solidFill>
          </a:ln>
        </p:spPr>
      </p:cxnSp>
      <p:sp>
        <p:nvSpPr>
          <p:cNvPr id="81" name="Shape 81"/>
          <p:cNvSpPr txBox="1"/>
          <p:nvPr/>
        </p:nvSpPr>
        <p:spPr>
          <a:xfrm>
            <a:off x="8202727"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82" name="Shape 82"/>
          <p:cNvSpPr txBox="1"/>
          <p:nvPr/>
        </p:nvSpPr>
        <p:spPr>
          <a:xfrm>
            <a:off x="8637702"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83" name="Shape 83"/>
          <p:cNvSpPr txBox="1"/>
          <p:nvPr/>
        </p:nvSpPr>
        <p:spPr>
          <a:xfrm>
            <a:off x="9072677"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84" name="Shape 84"/>
          <p:cNvSpPr txBox="1"/>
          <p:nvPr/>
        </p:nvSpPr>
        <p:spPr>
          <a:xfrm>
            <a:off x="9507652"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85" name="Shape 85"/>
          <p:cNvSpPr txBox="1"/>
          <p:nvPr/>
        </p:nvSpPr>
        <p:spPr>
          <a:xfrm>
            <a:off x="9942627"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86" name="Shape 86"/>
          <p:cNvSpPr txBox="1"/>
          <p:nvPr/>
        </p:nvSpPr>
        <p:spPr>
          <a:xfrm>
            <a:off x="10377602"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87" name="Shape 87"/>
          <p:cNvSpPr txBox="1"/>
          <p:nvPr/>
        </p:nvSpPr>
        <p:spPr>
          <a:xfrm>
            <a:off x="10812577"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88" name="Shape 88"/>
          <p:cNvSpPr txBox="1"/>
          <p:nvPr/>
        </p:nvSpPr>
        <p:spPr>
          <a:xfrm>
            <a:off x="7910119" y="43273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89" name="Shape 89"/>
          <p:cNvSpPr txBox="1"/>
          <p:nvPr/>
        </p:nvSpPr>
        <p:spPr>
          <a:xfrm>
            <a:off x="7910119" y="387972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90" name="Shape 90"/>
          <p:cNvSpPr txBox="1"/>
          <p:nvPr/>
        </p:nvSpPr>
        <p:spPr>
          <a:xfrm>
            <a:off x="7910119" y="34320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91" name="Shape 91"/>
          <p:cNvSpPr txBox="1"/>
          <p:nvPr/>
        </p:nvSpPr>
        <p:spPr>
          <a:xfrm>
            <a:off x="7910119" y="298437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92" name="Shape 92"/>
          <p:cNvSpPr txBox="1"/>
          <p:nvPr/>
        </p:nvSpPr>
        <p:spPr>
          <a:xfrm>
            <a:off x="7910119" y="25366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93" name="Shape 93"/>
          <p:cNvSpPr txBox="1"/>
          <p:nvPr/>
        </p:nvSpPr>
        <p:spPr>
          <a:xfrm>
            <a:off x="7910119" y="208902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94" name="Shape 94"/>
          <p:cNvSpPr txBox="1"/>
          <p:nvPr/>
        </p:nvSpPr>
        <p:spPr>
          <a:xfrm>
            <a:off x="7910119" y="16413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cxnSp>
        <p:nvCxnSpPr>
          <p:cNvPr id="95" name="Line 95"/>
          <p:cNvCxnSpPr/>
          <p:nvPr/>
        </p:nvCxnSpPr>
        <p:spPr>
          <a:xfrm flipV="1">
            <a:off x="8477047" y="1732788"/>
            <a:ext cx="2609850" cy="2686050"/>
          </a:xfrm>
          <a:prstGeom prst="line">
            <a:avLst/>
          </a:prstGeom>
          <a:ln w="38100" cap="rnd">
            <a:solidFill>
              <a:srgbClr val="16171D"/>
            </a:solidFill>
          </a:ln>
        </p:spPr>
      </p:cxnSp>
      <p:sp>
        <p:nvSpPr>
          <p:cNvPr id="96" name="Shape 96"/>
          <p:cNvSpPr txBox="1"/>
          <p:nvPr/>
        </p:nvSpPr>
        <p:spPr>
          <a:xfrm>
            <a:off x="8595157" y="1751838"/>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f(x)</a:t>
            </a:r>
            <a:endParaRPr lang="en-US" sz="1275" dirty="0"/>
          </a:p>
        </p:txBody>
      </p:sp>
      <p:cxnSp>
        <p:nvCxnSpPr>
          <p:cNvPr id="97" name="Line 97"/>
          <p:cNvCxnSpPr/>
          <p:nvPr/>
        </p:nvCxnSpPr>
        <p:spPr>
          <a:xfrm flipV="1">
            <a:off x="8477047" y="1732788"/>
            <a:ext cx="1957388" cy="2014537"/>
          </a:xfrm>
          <a:prstGeom prst="line">
            <a:avLst/>
          </a:prstGeom>
          <a:ln w="38100" cap="rnd">
            <a:solidFill>
              <a:srgbClr val="7A4FC4"/>
            </a:solidFill>
          </a:ln>
        </p:spPr>
      </p:cxnSp>
      <p:sp>
        <p:nvSpPr>
          <p:cNvPr id="98" name="Shape 98"/>
          <p:cNvSpPr txBox="1"/>
          <p:nvPr/>
        </p:nvSpPr>
        <p:spPr>
          <a:xfrm>
            <a:off x="7942694" y="1751838"/>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t(x) = w(x)</a:t>
            </a:r>
            <a:endParaRPr lang="en-US" sz="1275" dirty="0"/>
          </a:p>
        </p:txBody>
      </p:sp>
      <p:sp>
        <p:nvSpPr>
          <p:cNvPr id="99" name="Shape 99"/>
          <p:cNvSpPr txBox="1"/>
          <p:nvPr/>
        </p:nvSpPr>
        <p:spPr>
          <a:xfrm>
            <a:off x="8153197" y="4761738"/>
            <a:ext cx="33526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Same line,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+ 3</a:t>
            </a:r>
            <a:r>
              <a:rPr lang="en-US" sz="1575" dirty="0">
                <a:solidFill>
                  <a:srgbClr val="16171D"/>
                </a:solidFill>
                <a:latin typeface="Segoe UI"/>
                <a:cs typeface="Segoe UI"/>
              </a:rPr>
              <a:t xml:space="preserve">, but different tables.</a:t>
            </a:r>
            <a:endParaRPr lang="en-US" sz="1575" dirty="0"/>
          </a:p>
        </p:txBody>
      </p:sp>
      <p:sp>
        <p:nvSpPr>
          <p:cNvPr id="100" name="Slide Number 100"/>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14</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8"/>
                                        </p:tgtEl>
                                        <p:attrNameLst>
                                          <p:attrName>style.visibility</p:attrName>
                                        </p:attrNameLst>
                                      </p:cBhvr>
                                      <p:to>
                                        <p:strVal val="visible"/>
                                      </p:to>
                                    </p:set>
                                    <p:animEffect transition="in" filter="fade">
                                      <p:cBhvr>
                                        <p:cTn id="4" dur="500"/>
                                        <p:tgtEl>
                                          <p:spTgt spid="8"/>
                                        </p:tgtEl>
                                      </p:cBhvr>
                                    </p:animEffect>
                                    <p:anim calcmode="lin" valueType="num">
                                      <p:cBhvr>
                                        <p:cTn id="5" dur="500" fill="hold"/>
                                        <p:tgtEl>
                                          <p:spTgt spid="8"/>
                                        </p:tgtEl>
                                        <p:attrNameLst>
                                          <p:attrName>ppt_x</p:attrName>
                                        </p:attrNameLst>
                                      </p:cBhvr>
                                      <p:tavLst>
                                        <p:tav tm="0">
                                          <p:val>
                                            <p:strVal val="#ppt_x"/>
                                          </p:val>
                                        </p:tav>
                                        <p:tav tm="100000">
                                          <p:val>
                                            <p:strVal val="#ppt_x"/>
                                          </p:val>
                                        </p:tav>
                                      </p:tavLst>
                                    </p:anim>
                                    <p:anim calcmode="lin" valueType="num">
                                      <p:cBhvr>
                                        <p:cTn id="6"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10"/>
                                        </p:tgtEl>
                                        <p:attrNameLst>
                                          <p:attrName>style.visibility</p:attrName>
                                        </p:attrNameLst>
                                      </p:cBhvr>
                                      <p:to>
                                        <p:strVal val="visible"/>
                                      </p:to>
                                    </p:set>
                                    <p:animEffect transition="in" filter="fade">
                                      <p:cBhvr>
                                        <p:cTn id="11" dur="500"/>
                                        <p:tgtEl>
                                          <p:spTgt spid="10"/>
                                        </p:tgtEl>
                                      </p:cBhvr>
                                    </p:animEffect>
                                    <p:anim calcmode="lin" valueType="num">
                                      <p:cBhvr>
                                        <p:cTn id="12" dur="500" fill="hold"/>
                                        <p:tgtEl>
                                          <p:spTgt spid="10"/>
                                        </p:tgtEl>
                                        <p:attrNameLst>
                                          <p:attrName>ppt_x</p:attrName>
                                        </p:attrNameLst>
                                      </p:cBhvr>
                                      <p:tavLst>
                                        <p:tav tm="0">
                                          <p:val>
                                            <p:strVal val="#ppt_x"/>
                                          </p:val>
                                        </p:tav>
                                        <p:tav tm="100000">
                                          <p:val>
                                            <p:strVal val="#ppt_x"/>
                                          </p:val>
                                        </p:tav>
                                      </p:tavLst>
                                    </p:anim>
                                    <p:anim calcmode="lin" valueType="num">
                                      <p:cBhvr>
                                        <p:cTn id="13" dur="500" fill="hold"/>
                                        <p:tgtEl>
                                          <p:spTgt spid="10"/>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12"/>
                                        </p:tgtEl>
                                        <p:attrNameLst>
                                          <p:attrName>style.visibility</p:attrName>
                                        </p:attrNameLst>
                                      </p:cBhvr>
                                      <p:to>
                                        <p:strVal val="visible"/>
                                      </p:to>
                                    </p:set>
                                    <p:animEffect transition="in" filter="fade">
                                      <p:cBhvr>
                                        <p:cTn id="18" dur="500"/>
                                        <p:tgtEl>
                                          <p:spTgt spid="12"/>
                                        </p:tgtEl>
                                      </p:cBhvr>
                                    </p:animEffect>
                                    <p:anim calcmode="lin" valueType="num">
                                      <p:cBhvr>
                                        <p:cTn id="19" dur="500" fill="hold"/>
                                        <p:tgtEl>
                                          <p:spTgt spid="12"/>
                                        </p:tgtEl>
                                        <p:attrNameLst>
                                          <p:attrName>ppt_x</p:attrName>
                                        </p:attrNameLst>
                                      </p:cBhvr>
                                      <p:tavLst>
                                        <p:tav tm="0">
                                          <p:val>
                                            <p:strVal val="#ppt_x"/>
                                          </p:val>
                                        </p:tav>
                                        <p:tav tm="100000">
                                          <p:val>
                                            <p:strVal val="#ppt_x"/>
                                          </p:val>
                                        </p:tav>
                                      </p:tavLst>
                                    </p:anim>
                                    <p:anim calcmode="lin" valueType="num">
                                      <p:cBhvr>
                                        <p:cTn id="20" dur="5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14"/>
                                        </p:tgtEl>
                                        <p:attrNameLst>
                                          <p:attrName>style.visibility</p:attrName>
                                        </p:attrNameLst>
                                      </p:cBhvr>
                                      <p:to>
                                        <p:strVal val="visible"/>
                                      </p:to>
                                    </p:set>
                                    <p:animEffect transition="in" filter="fade">
                                      <p:cBhvr>
                                        <p:cTn id="25" dur="500"/>
                                        <p:tgtEl>
                                          <p:spTgt spid="14"/>
                                        </p:tgtEl>
                                      </p:cBhvr>
                                    </p:animEffect>
                                    <p:anim calcmode="lin" valueType="num">
                                      <p:cBhvr>
                                        <p:cTn id="26" dur="500" fill="hold"/>
                                        <p:tgtEl>
                                          <p:spTgt spid="14"/>
                                        </p:tgtEl>
                                        <p:attrNameLst>
                                          <p:attrName>ppt_x</p:attrName>
                                        </p:attrNameLst>
                                      </p:cBhvr>
                                      <p:tavLst>
                                        <p:tav tm="0">
                                          <p:val>
                                            <p:strVal val="#ppt_x"/>
                                          </p:val>
                                        </p:tav>
                                        <p:tav tm="100000">
                                          <p:val>
                                            <p:strVal val="#ppt_x"/>
                                          </p:val>
                                        </p:tav>
                                      </p:tavLst>
                                    </p:anim>
                                    <p:anim calcmode="lin" valueType="num">
                                      <p:cBhvr>
                                        <p:cTn id="27" dur="500" fill="hold"/>
                                        <p:tgtEl>
                                          <p:spTgt spid="14"/>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16"/>
                                        </p:tgtEl>
                                        <p:attrNameLst>
                                          <p:attrName>style.visibility</p:attrName>
                                        </p:attrNameLst>
                                      </p:cBhvr>
                                      <p:to>
                                        <p:strVal val="visible"/>
                                      </p:to>
                                    </p:set>
                                    <p:animEffect transition="in" filter="fade">
                                      <p:cBhvr>
                                        <p:cTn id="32" dur="500"/>
                                        <p:tgtEl>
                                          <p:spTgt spid="16"/>
                                        </p:tgtEl>
                                      </p:cBhvr>
                                    </p:animEffect>
                                    <p:anim calcmode="lin" valueType="num">
                                      <p:cBhvr>
                                        <p:cTn id="33" dur="500" fill="hold"/>
                                        <p:tgtEl>
                                          <p:spTgt spid="16"/>
                                        </p:tgtEl>
                                        <p:attrNameLst>
                                          <p:attrName>ppt_x</p:attrName>
                                        </p:attrNameLst>
                                      </p:cBhvr>
                                      <p:tavLst>
                                        <p:tav tm="0">
                                          <p:val>
                                            <p:strVal val="#ppt_x"/>
                                          </p:val>
                                        </p:tav>
                                        <p:tav tm="100000">
                                          <p:val>
                                            <p:strVal val="#ppt_x"/>
                                          </p:val>
                                        </p:tav>
                                      </p:tavLst>
                                    </p:anim>
                                    <p:anim calcmode="lin" valueType="num">
                                      <p:cBhvr>
                                        <p:cTn id="34" dur="500" fill="hold"/>
                                        <p:tgtEl>
                                          <p:spTgt spid="16"/>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2" presetID="42" presetClass="entr" presetSubtype="0" fill="hold" nodeType="clickEffect">
                                  <p:stCondLst>
                                    <p:cond delay="0"/>
                                  </p:stCondLst>
                                  <p:childTnLst>
                                    <p:set>
                                      <p:cBhvr>
                                        <p:cTn id="38" dur="1" fill="hold">
                                          <p:stCondLst>
                                            <p:cond delay="0"/>
                                          </p:stCondLst>
                                        </p:cTn>
                                        <p:tgtEl>
                                          <p:spTgt spid="18"/>
                                        </p:tgtEl>
                                        <p:attrNameLst>
                                          <p:attrName>style.visibility</p:attrName>
                                        </p:attrNameLst>
                                      </p:cBhvr>
                                      <p:to>
                                        <p:strVal val="visible"/>
                                      </p:to>
                                    </p:set>
                                    <p:animEffect transition="in" filter="fade">
                                      <p:cBhvr>
                                        <p:cTn id="39" dur="500"/>
                                        <p:tgtEl>
                                          <p:spTgt spid="18"/>
                                        </p:tgtEl>
                                      </p:cBhvr>
                                    </p:animEffect>
                                    <p:anim calcmode="lin" valueType="num">
                                      <p:cBhvr>
                                        <p:cTn id="40" dur="500" fill="hold"/>
                                        <p:tgtEl>
                                          <p:spTgt spid="18"/>
                                        </p:tgtEl>
                                        <p:attrNameLst>
                                          <p:attrName>ppt_x</p:attrName>
                                        </p:attrNameLst>
                                      </p:cBhvr>
                                      <p:tavLst>
                                        <p:tav tm="0">
                                          <p:val>
                                            <p:strVal val="#ppt_x"/>
                                          </p:val>
                                        </p:tav>
                                        <p:tav tm="100000">
                                          <p:val>
                                            <p:strVal val="#ppt_x"/>
                                          </p:val>
                                        </p:tav>
                                      </p:tavLst>
                                    </p:anim>
                                    <p:anim calcmode="lin" valueType="num">
                                      <p:cBhvr>
                                        <p:cTn id="41" dur="500" fill="hold"/>
                                        <p:tgtEl>
                                          <p:spTgt spid="18"/>
                                        </p:tgtEl>
                                        <p:attrNameLst>
                                          <p:attrName>ppt_y</p:attrName>
                                        </p:attrNameLst>
                                      </p:cBhvr>
                                      <p:tavLst>
                                        <p:tav tm="0">
                                          <p:val>
                                            <p:strVal val="#ppt_y+.1"/>
                                          </p:val>
                                        </p:tav>
                                        <p:tav tm="100000">
                                          <p:val>
                                            <p:strVal val="#ppt_y"/>
                                          </p:val>
                                        </p:tav>
                                      </p:tavLst>
                                    </p:anim>
                                  </p:childTnLst>
                                </p:cTn>
                              </p:par>
                            </p:childTnLst>
                          </p:cTn>
                        </p:par>
                      </p:childTnLst>
                    </p:cTn>
                  </p:par>
                  <p:par>
                    <p:cTn id="50" fill="hold">
                      <p:stCondLst>
                        <p:cond delay="indefinite"/>
                      </p:stCondLst>
                      <p:childTnLst>
                        <p:par>
                          <p:cTn id="51" fill="hold">
                            <p:stCondLst>
                              <p:cond delay="0"/>
                            </p:stCondLst>
                            <p:childTnLst>
                              <p:par>
                                <p:cTn id="49" presetID="42" presetClass="entr" presetSubtype="0" fill="hold" nodeType="clickEffect">
                                  <p:stCondLst>
                                    <p:cond delay="0"/>
                                  </p:stCondLst>
                                  <p:childTnLst>
                                    <p:set>
                                      <p:cBhvr>
                                        <p:cTn id="45" dur="1" fill="hold">
                                          <p:stCondLst>
                                            <p:cond delay="0"/>
                                          </p:stCondLst>
                                        </p:cTn>
                                        <p:tgtEl>
                                          <p:spTgt spid="20"/>
                                        </p:tgtEl>
                                        <p:attrNameLst>
                                          <p:attrName>style.visibility</p:attrName>
                                        </p:attrNameLst>
                                      </p:cBhvr>
                                      <p:to>
                                        <p:strVal val="visible"/>
                                      </p:to>
                                    </p:set>
                                    <p:animEffect transition="in" filter="fade">
                                      <p:cBhvr>
                                        <p:cTn id="46" dur="500"/>
                                        <p:tgtEl>
                                          <p:spTgt spid="20"/>
                                        </p:tgtEl>
                                      </p:cBhvr>
                                    </p:animEffect>
                                    <p:anim calcmode="lin" valueType="num">
                                      <p:cBhvr>
                                        <p:cTn id="47" dur="500" fill="hold"/>
                                        <p:tgtEl>
                                          <p:spTgt spid="20"/>
                                        </p:tgtEl>
                                        <p:attrNameLst>
                                          <p:attrName>ppt_x</p:attrName>
                                        </p:attrNameLst>
                                      </p:cBhvr>
                                      <p:tavLst>
                                        <p:tav tm="0">
                                          <p:val>
                                            <p:strVal val="#ppt_x"/>
                                          </p:val>
                                        </p:tav>
                                        <p:tav tm="100000">
                                          <p:val>
                                            <p:strVal val="#ppt_x"/>
                                          </p:val>
                                        </p:tav>
                                      </p:tavLst>
                                    </p:anim>
                                    <p:anim calcmode="lin" valueType="num">
                                      <p:cBhvr>
                                        <p:cTn id="48" dur="500" fill="hold"/>
                                        <p:tgtEl>
                                          <p:spTgt spid="20"/>
                                        </p:tgtEl>
                                        <p:attrNameLst>
                                          <p:attrName>ppt_y</p:attrName>
                                        </p:attrNameLst>
                                      </p:cBhvr>
                                      <p:tavLst>
                                        <p:tav tm="0">
                                          <p:val>
                                            <p:strVal val="#ppt_y+.1"/>
                                          </p:val>
                                        </p:tav>
                                        <p:tav tm="100000">
                                          <p:val>
                                            <p:strVal val="#ppt_y"/>
                                          </p:val>
                                        </p:tav>
                                      </p:tavLst>
                                    </p:anim>
                                  </p:childTnLst>
                                </p:cTn>
                              </p:par>
                            </p:childTnLst>
                          </p:cTn>
                        </p:par>
                      </p:childTnLst>
                    </p:cTn>
                  </p:par>
                  <p:par>
                    <p:cTn id="57" fill="hold">
                      <p:stCondLst>
                        <p:cond delay="indefinite"/>
                      </p:stCondLst>
                      <p:childTnLst>
                        <p:par>
                          <p:cTn id="58" fill="hold">
                            <p:stCondLst>
                              <p:cond delay="0"/>
                            </p:stCondLst>
                            <p:childTnLst>
                              <p:par>
                                <p:cTn id="56" presetID="42" presetClass="entr" presetSubtype="0" fill="hold" nodeType="clickEffect">
                                  <p:stCondLst>
                                    <p:cond delay="0"/>
                                  </p:stCondLst>
                                  <p:childTnLst>
                                    <p:set>
                                      <p:cBhvr>
                                        <p:cTn id="52" dur="1" fill="hold">
                                          <p:stCondLst>
                                            <p:cond delay="0"/>
                                          </p:stCondLst>
                                        </p:cTn>
                                        <p:tgtEl>
                                          <p:spTgt spid="22"/>
                                        </p:tgtEl>
                                        <p:attrNameLst>
                                          <p:attrName>style.visibility</p:attrName>
                                        </p:attrNameLst>
                                      </p:cBhvr>
                                      <p:to>
                                        <p:strVal val="visible"/>
                                      </p:to>
                                    </p:set>
                                    <p:animEffect transition="in" filter="fade">
                                      <p:cBhvr>
                                        <p:cTn id="53" dur="500"/>
                                        <p:tgtEl>
                                          <p:spTgt spid="22"/>
                                        </p:tgtEl>
                                      </p:cBhvr>
                                    </p:animEffect>
                                    <p:anim calcmode="lin" valueType="num">
                                      <p:cBhvr>
                                        <p:cTn id="54" dur="500" fill="hold"/>
                                        <p:tgtEl>
                                          <p:spTgt spid="22"/>
                                        </p:tgtEl>
                                        <p:attrNameLst>
                                          <p:attrName>ppt_x</p:attrName>
                                        </p:attrNameLst>
                                      </p:cBhvr>
                                      <p:tavLst>
                                        <p:tav tm="0">
                                          <p:val>
                                            <p:strVal val="#ppt_x"/>
                                          </p:val>
                                        </p:tav>
                                        <p:tav tm="100000">
                                          <p:val>
                                            <p:strVal val="#ppt_x"/>
                                          </p:val>
                                        </p:tav>
                                      </p:tavLst>
                                    </p:anim>
                                    <p:anim calcmode="lin" valueType="num">
                                      <p:cBhvr>
                                        <p:cTn id="55" dur="500" fill="hold"/>
                                        <p:tgtEl>
                                          <p:spTgt spid="22"/>
                                        </p:tgtEl>
                                        <p:attrNameLst>
                                          <p:attrName>ppt_y</p:attrName>
                                        </p:attrNameLst>
                                      </p:cBhvr>
                                      <p:tavLst>
                                        <p:tav tm="0">
                                          <p:val>
                                            <p:strVal val="#ppt_y+.1"/>
                                          </p:val>
                                        </p:tav>
                                        <p:tav tm="100000">
                                          <p:val>
                                            <p:strVal val="#ppt_y"/>
                                          </p:val>
                                        </p:tav>
                                      </p:tavLst>
                                    </p:anim>
                                  </p:childTnLst>
                                </p:cTn>
                              </p:par>
                            </p:childTnLst>
                          </p:cTn>
                        </p:par>
                      </p:childTnLst>
                    </p:cTn>
                  </p:par>
                  <p:par>
                    <p:cTn id="64" fill="hold">
                      <p:stCondLst>
                        <p:cond delay="indefinite"/>
                      </p:stCondLst>
                      <p:childTnLst>
                        <p:par>
                          <p:cTn id="65" fill="hold">
                            <p:stCondLst>
                              <p:cond delay="0"/>
                            </p:stCondLst>
                            <p:childTnLst>
                              <p:par>
                                <p:cTn id="63" presetID="42" presetClass="entr" presetSubtype="0" fill="hold" nodeType="clickEffect">
                                  <p:stCondLst>
                                    <p:cond delay="0"/>
                                  </p:stCondLst>
                                  <p:childTnLst>
                                    <p:set>
                                      <p:cBhvr>
                                        <p:cTn id="59" dur="1" fill="hold">
                                          <p:stCondLst>
                                            <p:cond delay="0"/>
                                          </p:stCondLst>
                                        </p:cTn>
                                        <p:tgtEl>
                                          <p:spTgt spid="24"/>
                                        </p:tgtEl>
                                        <p:attrNameLst>
                                          <p:attrName>style.visibility</p:attrName>
                                        </p:attrNameLst>
                                      </p:cBhvr>
                                      <p:to>
                                        <p:strVal val="visible"/>
                                      </p:to>
                                    </p:set>
                                    <p:animEffect transition="in" filter="fade">
                                      <p:cBhvr>
                                        <p:cTn id="60" dur="500"/>
                                        <p:tgtEl>
                                          <p:spTgt spid="24"/>
                                        </p:tgtEl>
                                      </p:cBhvr>
                                    </p:animEffect>
                                    <p:anim calcmode="lin" valueType="num">
                                      <p:cBhvr>
                                        <p:cTn id="61" dur="500" fill="hold"/>
                                        <p:tgtEl>
                                          <p:spTgt spid="24"/>
                                        </p:tgtEl>
                                        <p:attrNameLst>
                                          <p:attrName>ppt_x</p:attrName>
                                        </p:attrNameLst>
                                      </p:cBhvr>
                                      <p:tavLst>
                                        <p:tav tm="0">
                                          <p:val>
                                            <p:strVal val="#ppt_x"/>
                                          </p:val>
                                        </p:tav>
                                        <p:tav tm="100000">
                                          <p:val>
                                            <p:strVal val="#ppt_x"/>
                                          </p:val>
                                        </p:tav>
                                      </p:tavLst>
                                    </p:anim>
                                    <p:anim calcmode="lin" valueType="num">
                                      <p:cBhvr>
                                        <p:cTn id="62" dur="500" fill="hold"/>
                                        <p:tgtEl>
                                          <p:spTgt spid="24"/>
                                        </p:tgtEl>
                                        <p:attrNameLst>
                                          <p:attrName>ppt_y</p:attrName>
                                        </p:attrNameLst>
                                      </p:cBhvr>
                                      <p:tavLst>
                                        <p:tav tm="0">
                                          <p:val>
                                            <p:strVal val="#ppt_y+.1"/>
                                          </p:val>
                                        </p:tav>
                                        <p:tav tm="100000">
                                          <p:val>
                                            <p:strVal val="#ppt_y"/>
                                          </p:val>
                                        </p:tav>
                                      </p:tavLst>
                                    </p:anim>
                                  </p:childTnLst>
                                </p:cTn>
                              </p:par>
                            </p:childTnLst>
                          </p:cTn>
                        </p:par>
                      </p:childTnLst>
                    </p:cTn>
                  </p:par>
                  <p:par>
                    <p:cTn id="71" fill="hold">
                      <p:stCondLst>
                        <p:cond delay="indefinite"/>
                      </p:stCondLst>
                      <p:childTnLst>
                        <p:par>
                          <p:cTn id="72" fill="hold">
                            <p:stCondLst>
                              <p:cond delay="0"/>
                            </p:stCondLst>
                            <p:childTnLst>
                              <p:par>
                                <p:cTn id="70" presetID="42" presetClass="entr" presetSubtype="0" fill="hold" nodeType="clickEffect">
                                  <p:stCondLst>
                                    <p:cond delay="0"/>
                                  </p:stCondLst>
                                  <p:childTnLst>
                                    <p:set>
                                      <p:cBhvr>
                                        <p:cTn id="66" dur="1" fill="hold">
                                          <p:stCondLst>
                                            <p:cond delay="0"/>
                                          </p:stCondLst>
                                        </p:cTn>
                                        <p:tgtEl>
                                          <p:spTgt spid="26"/>
                                        </p:tgtEl>
                                        <p:attrNameLst>
                                          <p:attrName>style.visibility</p:attrName>
                                        </p:attrNameLst>
                                      </p:cBhvr>
                                      <p:to>
                                        <p:strVal val="visible"/>
                                      </p:to>
                                    </p:set>
                                    <p:animEffect transition="in" filter="fade">
                                      <p:cBhvr>
                                        <p:cTn id="67" dur="500"/>
                                        <p:tgtEl>
                                          <p:spTgt spid="26"/>
                                        </p:tgtEl>
                                      </p:cBhvr>
                                    </p:animEffect>
                                    <p:anim calcmode="lin" valueType="num">
                                      <p:cBhvr>
                                        <p:cTn id="68" dur="500" fill="hold"/>
                                        <p:tgtEl>
                                          <p:spTgt spid="26"/>
                                        </p:tgtEl>
                                        <p:attrNameLst>
                                          <p:attrName>ppt_x</p:attrName>
                                        </p:attrNameLst>
                                      </p:cBhvr>
                                      <p:tavLst>
                                        <p:tav tm="0">
                                          <p:val>
                                            <p:strVal val="#ppt_x"/>
                                          </p:val>
                                        </p:tav>
                                        <p:tav tm="100000">
                                          <p:val>
                                            <p:strVal val="#ppt_x"/>
                                          </p:val>
                                        </p:tav>
                                      </p:tavLst>
                                    </p:anim>
                                    <p:anim calcmode="lin" valueType="num">
                                      <p:cBhvr>
                                        <p:cTn id="69" dur="500" fill="hold"/>
                                        <p:tgtEl>
                                          <p:spTgt spid="26"/>
                                        </p:tgtEl>
                                        <p:attrNameLst>
                                          <p:attrName>ppt_y</p:attrName>
                                        </p:attrNameLst>
                                      </p:cBhvr>
                                      <p:tavLst>
                                        <p:tav tm="0">
                                          <p:val>
                                            <p:strVal val="#ppt_y+.1"/>
                                          </p:val>
                                        </p:tav>
                                        <p:tav tm="100000">
                                          <p:val>
                                            <p:strVal val="#ppt_y"/>
                                          </p:val>
                                        </p:tav>
                                      </p:tavLst>
                                    </p:anim>
                                  </p:childTnLst>
                                </p:cTn>
                              </p:par>
                            </p:childTnLst>
                          </p:cTn>
                        </p:par>
                      </p:childTnLst>
                    </p:cTn>
                  </p:par>
                  <p:par>
                    <p:cTn id="78" fill="hold">
                      <p:stCondLst>
                        <p:cond delay="indefinite"/>
                      </p:stCondLst>
                      <p:childTnLst>
                        <p:par>
                          <p:cTn id="79" fill="hold">
                            <p:stCondLst>
                              <p:cond delay="0"/>
                            </p:stCondLst>
                            <p:childTnLst>
                              <p:par>
                                <p:cTn id="77" presetID="42" presetClass="entr" presetSubtype="0" fill="hold" nodeType="clickEffect">
                                  <p:stCondLst>
                                    <p:cond delay="0"/>
                                  </p:stCondLst>
                                  <p:childTnLst>
                                    <p:set>
                                      <p:cBhvr>
                                        <p:cTn id="73" dur="1" fill="hold">
                                          <p:stCondLst>
                                            <p:cond delay="0"/>
                                          </p:stCondLst>
                                        </p:cTn>
                                        <p:tgtEl>
                                          <p:spTgt spid="27"/>
                                        </p:tgtEl>
                                        <p:attrNameLst>
                                          <p:attrName>style.visibility</p:attrName>
                                        </p:attrNameLst>
                                      </p:cBhvr>
                                      <p:to>
                                        <p:strVal val="visible"/>
                                      </p:to>
                                    </p:set>
                                    <p:animEffect transition="in" filter="fade">
                                      <p:cBhvr>
                                        <p:cTn id="74" dur="500"/>
                                        <p:tgtEl>
                                          <p:spTgt spid="27"/>
                                        </p:tgtEl>
                                      </p:cBhvr>
                                    </p:animEffect>
                                    <p:anim calcmode="lin" valueType="num">
                                      <p:cBhvr>
                                        <p:cTn id="75" dur="500" fill="hold"/>
                                        <p:tgtEl>
                                          <p:spTgt spid="27"/>
                                        </p:tgtEl>
                                        <p:attrNameLst>
                                          <p:attrName>ppt_x</p:attrName>
                                        </p:attrNameLst>
                                      </p:cBhvr>
                                      <p:tavLst>
                                        <p:tav tm="0">
                                          <p:val>
                                            <p:strVal val="#ppt_x"/>
                                          </p:val>
                                        </p:tav>
                                        <p:tav tm="100000">
                                          <p:val>
                                            <p:strVal val="#ppt_x"/>
                                          </p:val>
                                        </p:tav>
                                      </p:tavLst>
                                    </p:anim>
                                    <p:anim calcmode="lin" valueType="num">
                                      <p:cBhvr>
                                        <p:cTn id="76" dur="500" fill="hold"/>
                                        <p:tgtEl>
                                          <p:spTgt spid="27"/>
                                        </p:tgtEl>
                                        <p:attrNameLst>
                                          <p:attrName>ppt_y</p:attrName>
                                        </p:attrNameLst>
                                      </p:cBhvr>
                                      <p:tavLst>
                                        <p:tav tm="0">
                                          <p:val>
                                            <p:strVal val="#ppt_y+.1"/>
                                          </p:val>
                                        </p:tav>
                                        <p:tav tm="100000">
                                          <p:val>
                                            <p:strVal val="#ppt_y"/>
                                          </p:val>
                                        </p:tav>
                                      </p:tavLst>
                                    </p:anim>
                                  </p:childTnLst>
                                </p:cTn>
                              </p:par>
                            </p:childTnLst>
                          </p:cTn>
                        </p:par>
                      </p:childTnLst>
                    </p:cTn>
                  </p:par>
                  <p:par>
                    <p:cTn id="85" fill="hold">
                      <p:stCondLst>
                        <p:cond delay="indefinite"/>
                      </p:stCondLst>
                      <p:childTnLst>
                        <p:par>
                          <p:cTn id="86" fill="hold">
                            <p:stCondLst>
                              <p:cond delay="0"/>
                            </p:stCondLst>
                            <p:childTnLst>
                              <p:par>
                                <p:cTn id="84" presetID="42" presetClass="entr" presetSubtype="0" fill="hold" nodeType="clickEffect">
                                  <p:stCondLst>
                                    <p:cond delay="0"/>
                                  </p:stCondLst>
                                  <p:childTnLst>
                                    <p:set>
                                      <p:cBhvr>
                                        <p:cTn id="80" dur="1" fill="hold">
                                          <p:stCondLst>
                                            <p:cond delay="0"/>
                                          </p:stCondLst>
                                        </p:cTn>
                                        <p:tgtEl>
                                          <p:spTgt spid="32"/>
                                        </p:tgtEl>
                                        <p:attrNameLst>
                                          <p:attrName>style.visibility</p:attrName>
                                        </p:attrNameLst>
                                      </p:cBhvr>
                                      <p:to>
                                        <p:strVal val="visible"/>
                                      </p:to>
                                    </p:set>
                                    <p:animEffect transition="in" filter="fade">
                                      <p:cBhvr>
                                        <p:cTn id="81" dur="500"/>
                                        <p:tgtEl>
                                          <p:spTgt spid="32"/>
                                        </p:tgtEl>
                                      </p:cBhvr>
                                    </p:animEffect>
                                    <p:anim calcmode="lin" valueType="num">
                                      <p:cBhvr>
                                        <p:cTn id="82" dur="500" fill="hold"/>
                                        <p:tgtEl>
                                          <p:spTgt spid="32"/>
                                        </p:tgtEl>
                                        <p:attrNameLst>
                                          <p:attrName>ppt_x</p:attrName>
                                        </p:attrNameLst>
                                      </p:cBhvr>
                                      <p:tavLst>
                                        <p:tav tm="0">
                                          <p:val>
                                            <p:strVal val="#ppt_x"/>
                                          </p:val>
                                        </p:tav>
                                        <p:tav tm="100000">
                                          <p:val>
                                            <p:strVal val="#ppt_x"/>
                                          </p:val>
                                        </p:tav>
                                      </p:tavLst>
                                    </p:anim>
                                    <p:anim calcmode="lin" valueType="num">
                                      <p:cBhvr>
                                        <p:cTn id="83" dur="500" fill="hold"/>
                                        <p:tgtEl>
                                          <p:spTgt spid="32"/>
                                        </p:tgtEl>
                                        <p:attrNameLst>
                                          <p:attrName>ppt_y</p:attrName>
                                        </p:attrNameLst>
                                      </p:cBhvr>
                                      <p:tavLst>
                                        <p:tav tm="0">
                                          <p:val>
                                            <p:strVal val="#ppt_y+.1"/>
                                          </p:val>
                                        </p:tav>
                                        <p:tav tm="100000">
                                          <p:val>
                                            <p:strVal val="#ppt_y"/>
                                          </p:val>
                                        </p:tav>
                                      </p:tavLst>
                                    </p:anim>
                                  </p:childTnLst>
                                </p:cTn>
                              </p:par>
                            </p:childTnLst>
                          </p:cTn>
                        </p:par>
                      </p:childTnLst>
                    </p:cTn>
                  </p:par>
                  <p:par>
                    <p:cTn id="92" fill="hold">
                      <p:stCondLst>
                        <p:cond delay="indefinite"/>
                      </p:stCondLst>
                      <p:childTnLst>
                        <p:par>
                          <p:cTn id="93" fill="hold">
                            <p:stCondLst>
                              <p:cond delay="0"/>
                            </p:stCondLst>
                            <p:childTnLst>
                              <p:par>
                                <p:cTn id="91" presetID="42" presetClass="entr" presetSubtype="0" fill="hold" nodeType="clickEffect">
                                  <p:stCondLst>
                                    <p:cond delay="0"/>
                                  </p:stCondLst>
                                  <p:childTnLst>
                                    <p:set>
                                      <p:cBhvr>
                                        <p:cTn id="87" dur="1" fill="hold">
                                          <p:stCondLst>
                                            <p:cond delay="0"/>
                                          </p:stCondLst>
                                        </p:cTn>
                                        <p:tgtEl>
                                          <p:spTgt spid="34"/>
                                        </p:tgtEl>
                                        <p:attrNameLst>
                                          <p:attrName>style.visibility</p:attrName>
                                        </p:attrNameLst>
                                      </p:cBhvr>
                                      <p:to>
                                        <p:strVal val="visible"/>
                                      </p:to>
                                    </p:set>
                                    <p:animEffect transition="in" filter="fade">
                                      <p:cBhvr>
                                        <p:cTn id="88" dur="500"/>
                                        <p:tgtEl>
                                          <p:spTgt spid="34"/>
                                        </p:tgtEl>
                                      </p:cBhvr>
                                    </p:animEffect>
                                    <p:anim calcmode="lin" valueType="num">
                                      <p:cBhvr>
                                        <p:cTn id="89" dur="500" fill="hold"/>
                                        <p:tgtEl>
                                          <p:spTgt spid="34"/>
                                        </p:tgtEl>
                                        <p:attrNameLst>
                                          <p:attrName>ppt_x</p:attrName>
                                        </p:attrNameLst>
                                      </p:cBhvr>
                                      <p:tavLst>
                                        <p:tav tm="0">
                                          <p:val>
                                            <p:strVal val="#ppt_x"/>
                                          </p:val>
                                        </p:tav>
                                        <p:tav tm="100000">
                                          <p:val>
                                            <p:strVal val="#ppt_x"/>
                                          </p:val>
                                        </p:tav>
                                      </p:tavLst>
                                    </p:anim>
                                    <p:anim calcmode="lin" valueType="num">
                                      <p:cBhvr>
                                        <p:cTn id="90" dur="500" fill="hold"/>
                                        <p:tgtEl>
                                          <p:spTgt spid="34"/>
                                        </p:tgtEl>
                                        <p:attrNameLst>
                                          <p:attrName>ppt_y</p:attrName>
                                        </p:attrNameLst>
                                      </p:cBhvr>
                                      <p:tavLst>
                                        <p:tav tm="0">
                                          <p:val>
                                            <p:strVal val="#ppt_y+.1"/>
                                          </p:val>
                                        </p:tav>
                                        <p:tav tm="100000">
                                          <p:val>
                                            <p:strVal val="#ppt_y"/>
                                          </p:val>
                                        </p:tav>
                                      </p:tavLst>
                                    </p:anim>
                                  </p:childTnLst>
                                </p:cTn>
                              </p:par>
                            </p:childTnLst>
                          </p:cTn>
                        </p:par>
                      </p:childTnLst>
                    </p:cTn>
                  </p:par>
                  <p:par>
                    <p:cTn id="99" fill="hold">
                      <p:stCondLst>
                        <p:cond delay="indefinite"/>
                      </p:stCondLst>
                      <p:childTnLst>
                        <p:par>
                          <p:cTn id="100" fill="hold">
                            <p:stCondLst>
                              <p:cond delay="0"/>
                            </p:stCondLst>
                            <p:childTnLst>
                              <p:par>
                                <p:cTn id="98" presetID="42" presetClass="entr" presetSubtype="0" fill="hold" nodeType="clickEffect">
                                  <p:stCondLst>
                                    <p:cond delay="0"/>
                                  </p:stCondLst>
                                  <p:childTnLst>
                                    <p:set>
                                      <p:cBhvr>
                                        <p:cTn id="94" dur="1" fill="hold">
                                          <p:stCondLst>
                                            <p:cond delay="0"/>
                                          </p:stCondLst>
                                        </p:cTn>
                                        <p:tgtEl>
                                          <p:spTgt spid="36"/>
                                        </p:tgtEl>
                                        <p:attrNameLst>
                                          <p:attrName>style.visibility</p:attrName>
                                        </p:attrNameLst>
                                      </p:cBhvr>
                                      <p:to>
                                        <p:strVal val="visible"/>
                                      </p:to>
                                    </p:set>
                                    <p:animEffect transition="in" filter="fade">
                                      <p:cBhvr>
                                        <p:cTn id="95" dur="500"/>
                                        <p:tgtEl>
                                          <p:spTgt spid="36"/>
                                        </p:tgtEl>
                                      </p:cBhvr>
                                    </p:animEffect>
                                    <p:anim calcmode="lin" valueType="num">
                                      <p:cBhvr>
                                        <p:cTn id="96" dur="500" fill="hold"/>
                                        <p:tgtEl>
                                          <p:spTgt spid="36"/>
                                        </p:tgtEl>
                                        <p:attrNameLst>
                                          <p:attrName>ppt_x</p:attrName>
                                        </p:attrNameLst>
                                      </p:cBhvr>
                                      <p:tavLst>
                                        <p:tav tm="0">
                                          <p:val>
                                            <p:strVal val="#ppt_x"/>
                                          </p:val>
                                        </p:tav>
                                        <p:tav tm="100000">
                                          <p:val>
                                            <p:strVal val="#ppt_x"/>
                                          </p:val>
                                        </p:tav>
                                      </p:tavLst>
                                    </p:anim>
                                    <p:anim calcmode="lin" valueType="num">
                                      <p:cBhvr>
                                        <p:cTn id="97" dur="500" fill="hold"/>
                                        <p:tgtEl>
                                          <p:spTgt spid="36"/>
                                        </p:tgtEl>
                                        <p:attrNameLst>
                                          <p:attrName>ppt_y</p:attrName>
                                        </p:attrNameLst>
                                      </p:cBhvr>
                                      <p:tavLst>
                                        <p:tav tm="0">
                                          <p:val>
                                            <p:strVal val="#ppt_y+.1"/>
                                          </p:val>
                                        </p:tav>
                                        <p:tav tm="100000">
                                          <p:val>
                                            <p:strVal val="#ppt_y"/>
                                          </p:val>
                                        </p:tav>
                                      </p:tavLst>
                                    </p:anim>
                                  </p:childTnLst>
                                </p:cTn>
                              </p:par>
                            </p:childTnLst>
                          </p:cTn>
                        </p:par>
                      </p:childTnLst>
                    </p:cTn>
                  </p:par>
                  <p:par>
                    <p:cTn id="106" fill="hold">
                      <p:stCondLst>
                        <p:cond delay="indefinite"/>
                      </p:stCondLst>
                      <p:childTnLst>
                        <p:par>
                          <p:cTn id="107" fill="hold">
                            <p:stCondLst>
                              <p:cond delay="0"/>
                            </p:stCondLst>
                            <p:childTnLst>
                              <p:par>
                                <p:cTn id="105" presetID="42" presetClass="entr" presetSubtype="0" fill="hold" nodeType="clickEffect">
                                  <p:stCondLst>
                                    <p:cond delay="0"/>
                                  </p:stCondLst>
                                  <p:childTnLst>
                                    <p:set>
                                      <p:cBhvr>
                                        <p:cTn id="101" dur="1" fill="hold">
                                          <p:stCondLst>
                                            <p:cond delay="0"/>
                                          </p:stCondLst>
                                        </p:cTn>
                                        <p:tgtEl>
                                          <p:spTgt spid="38"/>
                                        </p:tgtEl>
                                        <p:attrNameLst>
                                          <p:attrName>style.visibility</p:attrName>
                                        </p:attrNameLst>
                                      </p:cBhvr>
                                      <p:to>
                                        <p:strVal val="visible"/>
                                      </p:to>
                                    </p:set>
                                    <p:animEffect transition="in" filter="fade">
                                      <p:cBhvr>
                                        <p:cTn id="102" dur="500"/>
                                        <p:tgtEl>
                                          <p:spTgt spid="38"/>
                                        </p:tgtEl>
                                      </p:cBhvr>
                                    </p:animEffect>
                                    <p:anim calcmode="lin" valueType="num">
                                      <p:cBhvr>
                                        <p:cTn id="103" dur="500" fill="hold"/>
                                        <p:tgtEl>
                                          <p:spTgt spid="38"/>
                                        </p:tgtEl>
                                        <p:attrNameLst>
                                          <p:attrName>ppt_x</p:attrName>
                                        </p:attrNameLst>
                                      </p:cBhvr>
                                      <p:tavLst>
                                        <p:tav tm="0">
                                          <p:val>
                                            <p:strVal val="#ppt_x"/>
                                          </p:val>
                                        </p:tav>
                                        <p:tav tm="100000">
                                          <p:val>
                                            <p:strVal val="#ppt_x"/>
                                          </p:val>
                                        </p:tav>
                                      </p:tavLst>
                                    </p:anim>
                                    <p:anim calcmode="lin" valueType="num">
                                      <p:cBhvr>
                                        <p:cTn id="104" dur="500" fill="hold"/>
                                        <p:tgtEl>
                                          <p:spTgt spid="38"/>
                                        </p:tgtEl>
                                        <p:attrNameLst>
                                          <p:attrName>ppt_y</p:attrName>
                                        </p:attrNameLst>
                                      </p:cBhvr>
                                      <p:tavLst>
                                        <p:tav tm="0">
                                          <p:val>
                                            <p:strVal val="#ppt_y+.1"/>
                                          </p:val>
                                        </p:tav>
                                        <p:tav tm="100000">
                                          <p:val>
                                            <p:strVal val="#ppt_y"/>
                                          </p:val>
                                        </p:tav>
                                      </p:tavLst>
                                    </p:anim>
                                  </p:childTnLst>
                                </p:cTn>
                              </p:par>
                            </p:childTnLst>
                          </p:cTn>
                        </p:par>
                      </p:childTnLst>
                    </p:cTn>
                  </p:par>
                  <p:par>
                    <p:cTn id="113" fill="hold">
                      <p:stCondLst>
                        <p:cond delay="indefinite"/>
                      </p:stCondLst>
                      <p:childTnLst>
                        <p:par>
                          <p:cTn id="114" fill="hold">
                            <p:stCondLst>
                              <p:cond delay="0"/>
                            </p:stCondLst>
                            <p:childTnLst>
                              <p:par>
                                <p:cTn id="112" presetID="42" presetClass="entr" presetSubtype="0" fill="hold" nodeType="clickEffect">
                                  <p:stCondLst>
                                    <p:cond delay="0"/>
                                  </p:stCondLst>
                                  <p:childTnLst>
                                    <p:set>
                                      <p:cBhvr>
                                        <p:cTn id="108" dur="1" fill="hold">
                                          <p:stCondLst>
                                            <p:cond delay="0"/>
                                          </p:stCondLst>
                                        </p:cTn>
                                        <p:tgtEl>
                                          <p:spTgt spid="40"/>
                                        </p:tgtEl>
                                        <p:attrNameLst>
                                          <p:attrName>style.visibility</p:attrName>
                                        </p:attrNameLst>
                                      </p:cBhvr>
                                      <p:to>
                                        <p:strVal val="visible"/>
                                      </p:to>
                                    </p:set>
                                    <p:animEffect transition="in" filter="fade">
                                      <p:cBhvr>
                                        <p:cTn id="109" dur="500"/>
                                        <p:tgtEl>
                                          <p:spTgt spid="40"/>
                                        </p:tgtEl>
                                      </p:cBhvr>
                                    </p:animEffect>
                                    <p:anim calcmode="lin" valueType="num">
                                      <p:cBhvr>
                                        <p:cTn id="110" dur="500" fill="hold"/>
                                        <p:tgtEl>
                                          <p:spTgt spid="40"/>
                                        </p:tgtEl>
                                        <p:attrNameLst>
                                          <p:attrName>ppt_x</p:attrName>
                                        </p:attrNameLst>
                                      </p:cBhvr>
                                      <p:tavLst>
                                        <p:tav tm="0">
                                          <p:val>
                                            <p:strVal val="#ppt_x"/>
                                          </p:val>
                                        </p:tav>
                                        <p:tav tm="100000">
                                          <p:val>
                                            <p:strVal val="#ppt_x"/>
                                          </p:val>
                                        </p:tav>
                                      </p:tavLst>
                                    </p:anim>
                                    <p:anim calcmode="lin" valueType="num">
                                      <p:cBhvr>
                                        <p:cTn id="111" dur="500" fill="hold"/>
                                        <p:tgtEl>
                                          <p:spTgt spid="40"/>
                                        </p:tgtEl>
                                        <p:attrNameLst>
                                          <p:attrName>ppt_y</p:attrName>
                                        </p:attrNameLst>
                                      </p:cBhvr>
                                      <p:tavLst>
                                        <p:tav tm="0">
                                          <p:val>
                                            <p:strVal val="#ppt_y+.1"/>
                                          </p:val>
                                        </p:tav>
                                        <p:tav tm="100000">
                                          <p:val>
                                            <p:strVal val="#ppt_y"/>
                                          </p:val>
                                        </p:tav>
                                      </p:tavLst>
                                    </p:anim>
                                  </p:childTnLst>
                                </p:cTn>
                              </p:par>
                            </p:childTnLst>
                          </p:cTn>
                        </p:par>
                      </p:childTnLst>
                    </p:cTn>
                  </p:par>
                  <p:par>
                    <p:cTn id="120" fill="hold">
                      <p:stCondLst>
                        <p:cond delay="indefinite"/>
                      </p:stCondLst>
                      <p:childTnLst>
                        <p:par>
                          <p:cTn id="121" fill="hold">
                            <p:stCondLst>
                              <p:cond delay="0"/>
                            </p:stCondLst>
                            <p:childTnLst>
                              <p:par>
                                <p:cTn id="119" presetID="42" presetClass="entr" presetSubtype="0" fill="hold" nodeType="clickEffect">
                                  <p:stCondLst>
                                    <p:cond delay="0"/>
                                  </p:stCondLst>
                                  <p:childTnLst>
                                    <p:set>
                                      <p:cBhvr>
                                        <p:cTn id="115" dur="1" fill="hold">
                                          <p:stCondLst>
                                            <p:cond delay="0"/>
                                          </p:stCondLst>
                                        </p:cTn>
                                        <p:tgtEl>
                                          <p:spTgt spid="42"/>
                                        </p:tgtEl>
                                        <p:attrNameLst>
                                          <p:attrName>style.visibility</p:attrName>
                                        </p:attrNameLst>
                                      </p:cBhvr>
                                      <p:to>
                                        <p:strVal val="visible"/>
                                      </p:to>
                                    </p:set>
                                    <p:animEffect transition="in" filter="fade">
                                      <p:cBhvr>
                                        <p:cTn id="116" dur="500"/>
                                        <p:tgtEl>
                                          <p:spTgt spid="42"/>
                                        </p:tgtEl>
                                      </p:cBhvr>
                                    </p:animEffect>
                                    <p:anim calcmode="lin" valueType="num">
                                      <p:cBhvr>
                                        <p:cTn id="117" dur="500" fill="hold"/>
                                        <p:tgtEl>
                                          <p:spTgt spid="42"/>
                                        </p:tgtEl>
                                        <p:attrNameLst>
                                          <p:attrName>ppt_x</p:attrName>
                                        </p:attrNameLst>
                                      </p:cBhvr>
                                      <p:tavLst>
                                        <p:tav tm="0">
                                          <p:val>
                                            <p:strVal val="#ppt_x"/>
                                          </p:val>
                                        </p:tav>
                                        <p:tav tm="100000">
                                          <p:val>
                                            <p:strVal val="#ppt_x"/>
                                          </p:val>
                                        </p:tav>
                                      </p:tavLst>
                                    </p:anim>
                                    <p:anim calcmode="lin" valueType="num">
                                      <p:cBhvr>
                                        <p:cTn id="118" dur="500" fill="hold"/>
                                        <p:tgtEl>
                                          <p:spTgt spid="42"/>
                                        </p:tgtEl>
                                        <p:attrNameLst>
                                          <p:attrName>ppt_y</p:attrName>
                                        </p:attrNameLst>
                                      </p:cBhvr>
                                      <p:tavLst>
                                        <p:tav tm="0">
                                          <p:val>
                                            <p:strVal val="#ppt_y+.1"/>
                                          </p:val>
                                        </p:tav>
                                        <p:tav tm="100000">
                                          <p:val>
                                            <p:strVal val="#ppt_y"/>
                                          </p:val>
                                        </p:tav>
                                      </p:tavLst>
                                    </p:anim>
                                  </p:childTnLst>
                                </p:cTn>
                              </p:par>
                            </p:childTnLst>
                          </p:cTn>
                        </p:par>
                      </p:childTnLst>
                    </p:cTn>
                  </p:par>
                  <p:par>
                    <p:cTn id="127" fill="hold">
                      <p:stCondLst>
                        <p:cond delay="indefinite"/>
                      </p:stCondLst>
                      <p:childTnLst>
                        <p:par>
                          <p:cTn id="128" fill="hold">
                            <p:stCondLst>
                              <p:cond delay="0"/>
                            </p:stCondLst>
                            <p:childTnLst>
                              <p:par>
                                <p:cTn id="126" presetID="42" presetClass="entr" presetSubtype="0" fill="hold" nodeType="clickEffect">
                                  <p:stCondLst>
                                    <p:cond delay="0"/>
                                  </p:stCondLst>
                                  <p:childTnLst>
                                    <p:set>
                                      <p:cBhvr>
                                        <p:cTn id="122" dur="1" fill="hold">
                                          <p:stCondLst>
                                            <p:cond delay="0"/>
                                          </p:stCondLst>
                                        </p:cTn>
                                        <p:tgtEl>
                                          <p:spTgt spid="44"/>
                                        </p:tgtEl>
                                        <p:attrNameLst>
                                          <p:attrName>style.visibility</p:attrName>
                                        </p:attrNameLst>
                                      </p:cBhvr>
                                      <p:to>
                                        <p:strVal val="visible"/>
                                      </p:to>
                                    </p:set>
                                    <p:animEffect transition="in" filter="fade">
                                      <p:cBhvr>
                                        <p:cTn id="123" dur="500"/>
                                        <p:tgtEl>
                                          <p:spTgt spid="44"/>
                                        </p:tgtEl>
                                      </p:cBhvr>
                                    </p:animEffect>
                                    <p:anim calcmode="lin" valueType="num">
                                      <p:cBhvr>
                                        <p:cTn id="124" dur="500" fill="hold"/>
                                        <p:tgtEl>
                                          <p:spTgt spid="44"/>
                                        </p:tgtEl>
                                        <p:attrNameLst>
                                          <p:attrName>ppt_x</p:attrName>
                                        </p:attrNameLst>
                                      </p:cBhvr>
                                      <p:tavLst>
                                        <p:tav tm="0">
                                          <p:val>
                                            <p:strVal val="#ppt_x"/>
                                          </p:val>
                                        </p:tav>
                                        <p:tav tm="100000">
                                          <p:val>
                                            <p:strVal val="#ppt_x"/>
                                          </p:val>
                                        </p:tav>
                                      </p:tavLst>
                                    </p:anim>
                                    <p:anim calcmode="lin" valueType="num">
                                      <p:cBhvr>
                                        <p:cTn id="125" dur="500" fill="hold"/>
                                        <p:tgtEl>
                                          <p:spTgt spid="44"/>
                                        </p:tgtEl>
                                        <p:attrNameLst>
                                          <p:attrName>ppt_y</p:attrName>
                                        </p:attrNameLst>
                                      </p:cBhvr>
                                      <p:tavLst>
                                        <p:tav tm="0">
                                          <p:val>
                                            <p:strVal val="#ppt_y+.1"/>
                                          </p:val>
                                        </p:tav>
                                        <p:tav tm="100000">
                                          <p:val>
                                            <p:strVal val="#ppt_y"/>
                                          </p:val>
                                        </p:tav>
                                      </p:tavLst>
                                    </p:anim>
                                  </p:childTnLst>
                                </p:cTn>
                              </p:par>
                            </p:childTnLst>
                          </p:cTn>
                        </p:par>
                      </p:childTnLst>
                    </p:cTn>
                  </p:par>
                  <p:par>
                    <p:cTn id="134" fill="hold">
                      <p:stCondLst>
                        <p:cond delay="indefinite"/>
                      </p:stCondLst>
                      <p:childTnLst>
                        <p:par>
                          <p:cTn id="135" fill="hold">
                            <p:stCondLst>
                              <p:cond delay="0"/>
                            </p:stCondLst>
                            <p:childTnLst>
                              <p:par>
                                <p:cTn id="133" presetID="42" presetClass="entr" presetSubtype="0" fill="hold" nodeType="clickEffect">
                                  <p:stCondLst>
                                    <p:cond delay="0"/>
                                  </p:stCondLst>
                                  <p:childTnLst>
                                    <p:set>
                                      <p:cBhvr>
                                        <p:cTn id="129" dur="1" fill="hold">
                                          <p:stCondLst>
                                            <p:cond delay="0"/>
                                          </p:stCondLst>
                                        </p:cTn>
                                        <p:tgtEl>
                                          <p:spTgt spid="46"/>
                                        </p:tgtEl>
                                        <p:attrNameLst>
                                          <p:attrName>style.visibility</p:attrName>
                                        </p:attrNameLst>
                                      </p:cBhvr>
                                      <p:to>
                                        <p:strVal val="visible"/>
                                      </p:to>
                                    </p:set>
                                    <p:animEffect transition="in" filter="fade">
                                      <p:cBhvr>
                                        <p:cTn id="130" dur="500"/>
                                        <p:tgtEl>
                                          <p:spTgt spid="46"/>
                                        </p:tgtEl>
                                      </p:cBhvr>
                                    </p:animEffect>
                                    <p:anim calcmode="lin" valueType="num">
                                      <p:cBhvr>
                                        <p:cTn id="131" dur="500" fill="hold"/>
                                        <p:tgtEl>
                                          <p:spTgt spid="46"/>
                                        </p:tgtEl>
                                        <p:attrNameLst>
                                          <p:attrName>ppt_x</p:attrName>
                                        </p:attrNameLst>
                                      </p:cBhvr>
                                      <p:tavLst>
                                        <p:tav tm="0">
                                          <p:val>
                                            <p:strVal val="#ppt_x"/>
                                          </p:val>
                                        </p:tav>
                                        <p:tav tm="100000">
                                          <p:val>
                                            <p:strVal val="#ppt_x"/>
                                          </p:val>
                                        </p:tav>
                                      </p:tavLst>
                                    </p:anim>
                                    <p:anim calcmode="lin" valueType="num">
                                      <p:cBhvr>
                                        <p:cTn id="132" dur="500" fill="hold"/>
                                        <p:tgtEl>
                                          <p:spTgt spid="46"/>
                                        </p:tgtEl>
                                        <p:attrNameLst>
                                          <p:attrName>ppt_y</p:attrName>
                                        </p:attrNameLst>
                                      </p:cBhvr>
                                      <p:tavLst>
                                        <p:tav tm="0">
                                          <p:val>
                                            <p:strVal val="#ppt_y+.1"/>
                                          </p:val>
                                        </p:tav>
                                        <p:tav tm="100000">
                                          <p:val>
                                            <p:strVal val="#ppt_y"/>
                                          </p:val>
                                        </p:tav>
                                      </p:tavLst>
                                    </p:anim>
                                  </p:childTnLst>
                                </p:cTn>
                              </p:par>
                            </p:childTnLst>
                          </p:cTn>
                        </p:par>
                      </p:childTnLst>
                    </p:cTn>
                  </p:par>
                  <p:par>
                    <p:cTn id="141" fill="hold">
                      <p:stCondLst>
                        <p:cond delay="indefinite"/>
                      </p:stCondLst>
                      <p:childTnLst>
                        <p:par>
                          <p:cTn id="142" fill="hold">
                            <p:stCondLst>
                              <p:cond delay="0"/>
                            </p:stCondLst>
                            <p:childTnLst>
                              <p:par>
                                <p:cTn id="140" presetID="42" presetClass="entr" presetSubtype="0" fill="hold" nodeType="clickEffect">
                                  <p:stCondLst>
                                    <p:cond delay="0"/>
                                  </p:stCondLst>
                                  <p:childTnLst>
                                    <p:set>
                                      <p:cBhvr>
                                        <p:cTn id="136" dur="1" fill="hold">
                                          <p:stCondLst>
                                            <p:cond delay="0"/>
                                          </p:stCondLst>
                                        </p:cTn>
                                        <p:tgtEl>
                                          <p:spTgt spid="48"/>
                                        </p:tgtEl>
                                        <p:attrNameLst>
                                          <p:attrName>style.visibility</p:attrName>
                                        </p:attrNameLst>
                                      </p:cBhvr>
                                      <p:to>
                                        <p:strVal val="visible"/>
                                      </p:to>
                                    </p:set>
                                    <p:animEffect transition="in" filter="fade">
                                      <p:cBhvr>
                                        <p:cTn id="137" dur="500"/>
                                        <p:tgtEl>
                                          <p:spTgt spid="48"/>
                                        </p:tgtEl>
                                      </p:cBhvr>
                                    </p:animEffect>
                                    <p:anim calcmode="lin" valueType="num">
                                      <p:cBhvr>
                                        <p:cTn id="138" dur="500" fill="hold"/>
                                        <p:tgtEl>
                                          <p:spTgt spid="48"/>
                                        </p:tgtEl>
                                        <p:attrNameLst>
                                          <p:attrName>ppt_x</p:attrName>
                                        </p:attrNameLst>
                                      </p:cBhvr>
                                      <p:tavLst>
                                        <p:tav tm="0">
                                          <p:val>
                                            <p:strVal val="#ppt_x"/>
                                          </p:val>
                                        </p:tav>
                                        <p:tav tm="100000">
                                          <p:val>
                                            <p:strVal val="#ppt_x"/>
                                          </p:val>
                                        </p:tav>
                                      </p:tavLst>
                                    </p:anim>
                                    <p:anim calcmode="lin" valueType="num">
                                      <p:cBhvr>
                                        <p:cTn id="139" dur="500" fill="hold"/>
                                        <p:tgtEl>
                                          <p:spTgt spid="48"/>
                                        </p:tgtEl>
                                        <p:attrNameLst>
                                          <p:attrName>ppt_y</p:attrName>
                                        </p:attrNameLst>
                                      </p:cBhvr>
                                      <p:tavLst>
                                        <p:tav tm="0">
                                          <p:val>
                                            <p:strVal val="#ppt_y+.1"/>
                                          </p:val>
                                        </p:tav>
                                        <p:tav tm="100000">
                                          <p:val>
                                            <p:strVal val="#ppt_y"/>
                                          </p:val>
                                        </p:tav>
                                      </p:tavLst>
                                    </p:anim>
                                  </p:childTnLst>
                                </p:cTn>
                              </p:par>
                            </p:childTnLst>
                          </p:cTn>
                        </p:par>
                      </p:childTnLst>
                    </p:cTn>
                  </p:par>
                  <p:par>
                    <p:cTn id="148" fill="hold">
                      <p:stCondLst>
                        <p:cond delay="indefinite"/>
                      </p:stCondLst>
                      <p:childTnLst>
                        <p:par>
                          <p:cTn id="149" fill="hold">
                            <p:stCondLst>
                              <p:cond delay="0"/>
                            </p:stCondLst>
                            <p:childTnLst>
                              <p:par>
                                <p:cTn id="147" presetID="42" presetClass="entr" presetSubtype="0" fill="hold" nodeType="clickEffect">
                                  <p:stCondLst>
                                    <p:cond delay="0"/>
                                  </p:stCondLst>
                                  <p:childTnLst>
                                    <p:set>
                                      <p:cBhvr>
                                        <p:cTn id="143" dur="1" fill="hold">
                                          <p:stCondLst>
                                            <p:cond delay="0"/>
                                          </p:stCondLst>
                                        </p:cTn>
                                        <p:tgtEl>
                                          <p:spTgt spid="50"/>
                                        </p:tgtEl>
                                        <p:attrNameLst>
                                          <p:attrName>style.visibility</p:attrName>
                                        </p:attrNameLst>
                                      </p:cBhvr>
                                      <p:to>
                                        <p:strVal val="visible"/>
                                      </p:to>
                                    </p:set>
                                    <p:animEffect transition="in" filter="fade">
                                      <p:cBhvr>
                                        <p:cTn id="144" dur="500"/>
                                        <p:tgtEl>
                                          <p:spTgt spid="50"/>
                                        </p:tgtEl>
                                      </p:cBhvr>
                                    </p:animEffect>
                                    <p:anim calcmode="lin" valueType="num">
                                      <p:cBhvr>
                                        <p:cTn id="145" dur="500" fill="hold"/>
                                        <p:tgtEl>
                                          <p:spTgt spid="50"/>
                                        </p:tgtEl>
                                        <p:attrNameLst>
                                          <p:attrName>ppt_x</p:attrName>
                                        </p:attrNameLst>
                                      </p:cBhvr>
                                      <p:tavLst>
                                        <p:tav tm="0">
                                          <p:val>
                                            <p:strVal val="#ppt_x"/>
                                          </p:val>
                                        </p:tav>
                                        <p:tav tm="100000">
                                          <p:val>
                                            <p:strVal val="#ppt_x"/>
                                          </p:val>
                                        </p:tav>
                                      </p:tavLst>
                                    </p:anim>
                                    <p:anim calcmode="lin" valueType="num">
                                      <p:cBhvr>
                                        <p:cTn id="146" dur="500" fill="hold"/>
                                        <p:tgtEl>
                                          <p:spTgt spid="50"/>
                                        </p:tgtEl>
                                        <p:attrNameLst>
                                          <p:attrName>ppt_y</p:attrName>
                                        </p:attrNameLst>
                                      </p:cBhvr>
                                      <p:tavLst>
                                        <p:tav tm="0">
                                          <p:val>
                                            <p:strVal val="#ppt_y+.1"/>
                                          </p:val>
                                        </p:tav>
                                        <p:tav tm="100000">
                                          <p:val>
                                            <p:strVal val="#ppt_y"/>
                                          </p:val>
                                        </p:tav>
                                      </p:tavLst>
                                    </p:anim>
                                  </p:childTnLst>
                                </p:cTn>
                              </p:par>
                            </p:childTnLst>
                          </p:cTn>
                        </p:par>
                      </p:childTnLst>
                    </p:cTn>
                  </p:par>
                  <p:par>
                    <p:cTn id="155" fill="hold">
                      <p:stCondLst>
                        <p:cond delay="indefinite"/>
                      </p:stCondLst>
                      <p:childTnLst>
                        <p:par>
                          <p:cTn id="156" fill="hold">
                            <p:stCondLst>
                              <p:cond delay="0"/>
                            </p:stCondLst>
                            <p:childTnLst>
                              <p:par>
                                <p:cTn id="154" presetID="42" presetClass="entr" presetSubtype="0" fill="hold" nodeType="clickEffect">
                                  <p:stCondLst>
                                    <p:cond delay="0"/>
                                  </p:stCondLst>
                                  <p:childTnLst>
                                    <p:set>
                                      <p:cBhvr>
                                        <p:cTn id="150" dur="1" fill="hold">
                                          <p:stCondLst>
                                            <p:cond delay="0"/>
                                          </p:stCondLst>
                                        </p:cTn>
                                        <p:tgtEl>
                                          <p:spTgt spid="51"/>
                                        </p:tgtEl>
                                        <p:attrNameLst>
                                          <p:attrName>style.visibility</p:attrName>
                                        </p:attrNameLst>
                                      </p:cBhvr>
                                      <p:to>
                                        <p:strVal val="visible"/>
                                      </p:to>
                                    </p:set>
                                    <p:animEffect transition="in" filter="fade">
                                      <p:cBhvr>
                                        <p:cTn id="151" dur="500"/>
                                        <p:tgtEl>
                                          <p:spTgt spid="51"/>
                                        </p:tgtEl>
                                      </p:cBhvr>
                                    </p:animEffect>
                                    <p:anim calcmode="lin" valueType="num">
                                      <p:cBhvr>
                                        <p:cTn id="152" dur="500" fill="hold"/>
                                        <p:tgtEl>
                                          <p:spTgt spid="51"/>
                                        </p:tgtEl>
                                        <p:attrNameLst>
                                          <p:attrName>ppt_x</p:attrName>
                                        </p:attrNameLst>
                                      </p:cBhvr>
                                      <p:tavLst>
                                        <p:tav tm="0">
                                          <p:val>
                                            <p:strVal val="#ppt_x"/>
                                          </p:val>
                                        </p:tav>
                                        <p:tav tm="100000">
                                          <p:val>
                                            <p:strVal val="#ppt_x"/>
                                          </p:val>
                                        </p:tav>
                                      </p:tavLst>
                                    </p:anim>
                                    <p:anim calcmode="lin" valueType="num">
                                      <p:cBhvr>
                                        <p:cTn id="153" dur="500" fill="hold"/>
                                        <p:tgtEl>
                                          <p:spTgt spid="51"/>
                                        </p:tgtEl>
                                        <p:attrNameLst>
                                          <p:attrName>ppt_y</p:attrName>
                                        </p:attrNameLst>
                                      </p:cBhvr>
                                      <p:tavLst>
                                        <p:tav tm="0">
                                          <p:val>
                                            <p:strVal val="#ppt_y+.1"/>
                                          </p:val>
                                        </p:tav>
                                        <p:tav tm="100000">
                                          <p:val>
                                            <p:strVal val="#ppt_y"/>
                                          </p:val>
                                        </p:tav>
                                      </p:tavLst>
                                    </p:anim>
                                  </p:childTnLst>
                                </p:cTn>
                              </p:par>
                            </p:childTnLst>
                          </p:cTn>
                        </p:par>
                      </p:childTnLst>
                    </p:cTn>
                  </p:par>
                  <p:par>
                    <p:cTn id="163" fill="hold">
                      <p:stCondLst>
                        <p:cond delay="indefinite"/>
                      </p:stCondLst>
                      <p:childTnLst>
                        <p:par>
                          <p:cTn id="164" fill="hold">
                            <p:stCondLst>
                              <p:cond delay="0"/>
                            </p:stCondLst>
                            <p:childTnLst>
                              <p:par>
                                <p:cTn id="159" presetID="22" presetClass="entr" presetSubtype="8" fill="hold" nodeType="clickEffect">
                                  <p:stCondLst>
                                    <p:cond delay="0"/>
                                  </p:stCondLst>
                                  <p:childTnLst>
                                    <p:set>
                                      <p:cBhvr>
                                        <p:cTn id="157" dur="1" fill="hold">
                                          <p:stCondLst>
                                            <p:cond delay="0"/>
                                          </p:stCondLst>
                                        </p:cTn>
                                        <p:tgtEl>
                                          <p:spTgt spid="97"/>
                                        </p:tgtEl>
                                        <p:attrNameLst>
                                          <p:attrName>style.visibility</p:attrName>
                                        </p:attrNameLst>
                                      </p:cBhvr>
                                      <p:to>
                                        <p:strVal val="visible"/>
                                      </p:to>
                                    </p:set>
                                    <p:animEffect transition="in" filter="wipe(left)">
                                      <p:cBhvr>
                                        <p:cTn id="158" dur="700"/>
                                        <p:tgtEl>
                                          <p:spTgt spid="97"/>
                                        </p:tgtEl>
                                      </p:cBhvr>
                                    </p:animEffect>
                                  </p:childTnLst>
                                </p:cTn>
                              </p:par>
                              <p:par>
                                <p:cTn id="162" presetID="22" presetClass="entr" presetSubtype="8" fill="hold" nodeType="withEffect">
                                  <p:stCondLst>
                                    <p:cond delay="0"/>
                                  </p:stCondLst>
                                  <p:childTnLst>
                                    <p:set>
                                      <p:cBhvr>
                                        <p:cTn id="160" dur="1" fill="hold">
                                          <p:stCondLst>
                                            <p:cond delay="0"/>
                                          </p:stCondLst>
                                        </p:cTn>
                                        <p:tgtEl>
                                          <p:spTgt spid="98"/>
                                        </p:tgtEl>
                                        <p:attrNameLst>
                                          <p:attrName>style.visibility</p:attrName>
                                        </p:attrNameLst>
                                      </p:cBhvr>
                                      <p:to>
                                        <p:strVal val="visible"/>
                                      </p:to>
                                    </p:set>
                                    <p:animEffect transition="in" filter="wipe(left)">
                                      <p:cBhvr>
                                        <p:cTn id="161" dur="700"/>
                                        <p:tgtEl>
                                          <p:spTgt spid="98"/>
                                        </p:tgtEl>
                                      </p:cBhvr>
                                    </p:animEffect>
                                  </p:childTnLst>
                                </p:cTn>
                              </p:par>
                            </p:childTnLst>
                          </p:cTn>
                        </p:par>
                      </p:childTnLst>
                    </p:cTn>
                  </p:par>
                  <p:par>
                    <p:cTn id="170" fill="hold">
                      <p:stCondLst>
                        <p:cond delay="indefinite"/>
                      </p:stCondLst>
                      <p:childTnLst>
                        <p:par>
                          <p:cTn id="171" fill="hold">
                            <p:stCondLst>
                              <p:cond delay="0"/>
                            </p:stCondLst>
                            <p:childTnLst>
                              <p:par>
                                <p:cTn id="169" presetID="42" presetClass="entr" presetSubtype="0" fill="hold" nodeType="clickEffect">
                                  <p:stCondLst>
                                    <p:cond delay="0"/>
                                  </p:stCondLst>
                                  <p:childTnLst>
                                    <p:set>
                                      <p:cBhvr>
                                        <p:cTn id="165" dur="1" fill="hold">
                                          <p:stCondLst>
                                            <p:cond delay="0"/>
                                          </p:stCondLst>
                                        </p:cTn>
                                        <p:tgtEl>
                                          <p:spTgt spid="99"/>
                                        </p:tgtEl>
                                        <p:attrNameLst>
                                          <p:attrName>style.visibility</p:attrName>
                                        </p:attrNameLst>
                                      </p:cBhvr>
                                      <p:to>
                                        <p:strVal val="visible"/>
                                      </p:to>
                                    </p:set>
                                    <p:animEffect transition="in" filter="fade">
                                      <p:cBhvr>
                                        <p:cTn id="166" dur="500"/>
                                        <p:tgtEl>
                                          <p:spTgt spid="99"/>
                                        </p:tgtEl>
                                      </p:cBhvr>
                                    </p:animEffect>
                                    <p:anim calcmode="lin" valueType="num">
                                      <p:cBhvr>
                                        <p:cTn id="167" dur="500" fill="hold"/>
                                        <p:tgtEl>
                                          <p:spTgt spid="99"/>
                                        </p:tgtEl>
                                        <p:attrNameLst>
                                          <p:attrName>ppt_x</p:attrName>
                                        </p:attrNameLst>
                                      </p:cBhvr>
                                      <p:tavLst>
                                        <p:tav tm="0">
                                          <p:val>
                                            <p:strVal val="#ppt_x"/>
                                          </p:val>
                                        </p:tav>
                                        <p:tav tm="100000">
                                          <p:val>
                                            <p:strVal val="#ppt_x"/>
                                          </p:val>
                                        </p:tav>
                                      </p:tavLst>
                                    </p:anim>
                                    <p:anim calcmode="lin" valueType="num">
                                      <p:cBhvr>
                                        <p:cTn id="168" dur="500" fill="hold"/>
                                        <p:tgtEl>
                                          <p:spTgt spid="99"/>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2.1 · Definitions · SE p. 291 · ★ Essential</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Horizontal vs. vertical translations</a:t>
            </a:r>
            <a:endParaRPr lang="en-US" sz="3450" dirty="0"/>
          </a:p>
        </p:txBody>
      </p:sp>
      <p:sp>
        <p:nvSpPr>
          <p:cNvPr id="6" name="Shape 6"/>
          <p:cNvSpPr txBox="1"/>
          <p:nvPr/>
        </p:nvSpPr>
        <p:spPr>
          <a:xfrm>
            <a:off x="685800" y="1618488"/>
            <a:ext cx="5219548" cy="134797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4800448" cy="374904"/>
          </a:xfrm>
          <a:prstGeom prst="rect">
            <a:avLst/>
          </a:prstGeom>
          <a:noFill/>
          <a:ln>
            <a:noFill/>
          </a:ln>
        </p:spPr>
        <p:txBody>
          <a:bodyPr wrap="square" lIns="36576" tIns="27432" rIns="36576" bIns="27432" anchor="t">
            <a:noAutofit/>
          </a:bodyPr>
          <a:lstStyle/>
          <a:p>
            <a:pPr algn="l">
              <a:lnSpc>
                <a:spcPct val="100000"/>
              </a:lnSpc>
            </a:pPr>
            <a:r>
              <a:rPr lang="en-US" sz="2100" dirty="0" b="1" i="1">
                <a:solidFill>
                  <a:srgbClr val="16171D"/>
                </a:solidFill>
                <a:latin typeface="Cambria"/>
                <a:cs typeface="Cambria"/>
              </a:rPr>
              <a:t xml:space="preserve">y</a:t>
            </a:r>
            <a:r>
              <a:rPr lang="en-US" sz="2100" dirty="0" b="1">
                <a:solidFill>
                  <a:srgbClr val="16171D"/>
                </a:solidFill>
                <a:latin typeface="Cambria"/>
                <a:cs typeface="Cambria"/>
              </a:rPr>
              <a:t xml:space="preserve"> = </a:t>
            </a:r>
            <a:r>
              <a:rPr lang="en-US" sz="2100" dirty="0" b="1" i="1">
                <a:solidFill>
                  <a:srgbClr val="16171D"/>
                </a:solidFill>
                <a:latin typeface="Cambria"/>
                <a:cs typeface="Cambria"/>
              </a:rPr>
              <a:t xml:space="preserve">f</a:t>
            </a:r>
            <a:r>
              <a:rPr lang="en-US" sz="2100" dirty="0" b="1">
                <a:solidFill>
                  <a:srgbClr val="16171D"/>
                </a:solidFill>
                <a:latin typeface="Cambria"/>
                <a:cs typeface="Cambria"/>
              </a:rPr>
              <a:t xml:space="preserve">(</a:t>
            </a:r>
            <a:r>
              <a:rPr lang="en-US" sz="2100" dirty="0" b="1" i="1">
                <a:solidFill>
                  <a:srgbClr val="16171D"/>
                </a:solidFill>
                <a:latin typeface="Cambria"/>
                <a:cs typeface="Cambria"/>
              </a:rPr>
              <a:t xml:space="preserve">x</a:t>
            </a:r>
            <a:r>
              <a:rPr lang="en-US" sz="2100" dirty="0" b="1">
                <a:solidFill>
                  <a:srgbClr val="16171D"/>
                </a:solidFill>
                <a:latin typeface="Cambria"/>
                <a:cs typeface="Cambria"/>
              </a:rPr>
              <a:t xml:space="preserve"> − </a:t>
            </a:r>
            <a:r>
              <a:rPr lang="en-US" sz="2100" dirty="0" b="1" i="1">
                <a:solidFill>
                  <a:srgbClr val="16171D"/>
                </a:solidFill>
                <a:latin typeface="Cambria"/>
                <a:cs typeface="Cambria"/>
              </a:rPr>
              <a:t xml:space="preserve">c</a:t>
            </a:r>
            <a:r>
              <a:rPr lang="en-US" sz="2100" dirty="0" b="1">
                <a:solidFill>
                  <a:srgbClr val="16171D"/>
                </a:solidFill>
                <a:latin typeface="Cambria"/>
                <a:cs typeface="Cambria"/>
              </a:rPr>
              <a:t xml:space="preserve">)</a:t>
            </a:r>
            <a:endParaRPr lang="en-US" sz="2100" dirty="0"/>
          </a:p>
        </p:txBody>
      </p:sp>
      <p:sp>
        <p:nvSpPr>
          <p:cNvPr id="5" name="Shape 5"/>
          <p:cNvSpPr txBox="1"/>
          <p:nvPr/>
        </p:nvSpPr>
        <p:spPr>
          <a:xfrm>
            <a:off x="895350" y="2260092"/>
            <a:ext cx="480044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Changes the </a:t>
            </a:r>
            <a:r>
              <a:rPr lang="en-US" sz="1575" dirty="0" b="1">
                <a:solidFill>
                  <a:srgbClr val="16171D"/>
                </a:solidFill>
                <a:latin typeface="Segoe UI"/>
                <a:cs typeface="Segoe UI"/>
              </a:rPr>
              <a:t xml:space="preserve">inputs</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c</a:t>
            </a:r>
            <a:r>
              <a:rPr lang="en-US" sz="1575" dirty="0">
                <a:solidFill>
                  <a:srgbClr val="16171D"/>
                </a:solidFill>
                <a:latin typeface="Cambria"/>
                <a:cs typeface="Cambria"/>
              </a:rPr>
              <a:t xml:space="preserve"> &gt; 0</a:t>
            </a:r>
            <a:r>
              <a:rPr lang="en-US" sz="1575" dirty="0">
                <a:solidFill>
                  <a:srgbClr val="16171D"/>
                </a:solidFill>
                <a:latin typeface="Segoe UI"/>
                <a:cs typeface="Segoe UI"/>
              </a:rPr>
              <a:t xml:space="preserve">: shift </a:t>
            </a:r>
            <a:r>
              <a:rPr lang="en-US" sz="1575" dirty="0" b="1">
                <a:solidFill>
                  <a:srgbClr val="16171D"/>
                </a:solidFill>
                <a:latin typeface="Segoe UI"/>
                <a:cs typeface="Segoe UI"/>
              </a:rPr>
              <a:t xml:space="preserve">right</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c</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c</a:t>
            </a:r>
            <a:r>
              <a:rPr lang="en-US" sz="1575" dirty="0">
                <a:solidFill>
                  <a:srgbClr val="16171D"/>
                </a:solidFill>
                <a:latin typeface="Cambria"/>
                <a:cs typeface="Cambria"/>
              </a:rPr>
              <a:t xml:space="preserve"> </a:t>
            </a:r>
            <a:r>
              <a:rPr lang="en-US" sz="1575" dirty="0">
                <a:solidFill>
                  <a:srgbClr val="16171D"/>
                </a:solidFill>
                <a:latin typeface="Cambria"/>
                <a:cs typeface="Cambria"/>
              </a:rPr>
              <a:t xml:space="preserve">&lt;</a:t>
            </a:r>
            <a:r>
              <a:rPr lang="en-US" sz="1575" dirty="0">
                <a:solidFill>
                  <a:srgbClr val="16171D"/>
                </a:solidFill>
                <a:latin typeface="Cambria"/>
                <a:cs typeface="Cambria"/>
              </a:rPr>
              <a:t xml:space="preserve"> 0</a:t>
            </a:r>
            <a:r>
              <a:rPr lang="en-US" sz="1575" dirty="0">
                <a:solidFill>
                  <a:srgbClr val="16171D"/>
                </a:solidFill>
                <a:latin typeface="Segoe UI"/>
                <a:cs typeface="Segoe UI"/>
              </a:rPr>
              <a:t xml:space="preserve">: shift </a:t>
            </a:r>
            <a:r>
              <a:rPr lang="en-US" sz="1575" dirty="0" b="1">
                <a:solidFill>
                  <a:srgbClr val="16171D"/>
                </a:solidFill>
                <a:latin typeface="Segoe UI"/>
                <a:cs typeface="Segoe UI"/>
              </a:rPr>
              <a:t xml:space="preserve">left</a:t>
            </a:r>
            <a:r>
              <a:rPr lang="en-US" sz="1575" dirty="0">
                <a:solidFill>
                  <a:srgbClr val="16171D"/>
                </a:solidFill>
                <a:latin typeface="Segoe UI"/>
                <a:cs typeface="Segoe UI"/>
              </a:rPr>
              <a:t xml:space="preserve">.</a:t>
            </a:r>
            <a:endParaRPr lang="en-US" sz="1575" dirty="0"/>
          </a:p>
        </p:txBody>
      </p:sp>
      <p:sp>
        <p:nvSpPr>
          <p:cNvPr id="9" name="Shape 9"/>
          <p:cNvSpPr txBox="1"/>
          <p:nvPr/>
        </p:nvSpPr>
        <p:spPr>
          <a:xfrm>
            <a:off x="6286348" y="1618488"/>
            <a:ext cx="5219548" cy="134797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7" name="Shape 7"/>
          <p:cNvSpPr txBox="1"/>
          <p:nvPr/>
        </p:nvSpPr>
        <p:spPr>
          <a:xfrm>
            <a:off x="6495898" y="1789938"/>
            <a:ext cx="4800448" cy="374904"/>
          </a:xfrm>
          <a:prstGeom prst="rect">
            <a:avLst/>
          </a:prstGeom>
          <a:noFill/>
          <a:ln>
            <a:noFill/>
          </a:ln>
        </p:spPr>
        <p:txBody>
          <a:bodyPr wrap="square" lIns="36576" tIns="27432" rIns="36576" bIns="27432" anchor="t">
            <a:noAutofit/>
          </a:bodyPr>
          <a:lstStyle/>
          <a:p>
            <a:pPr algn="l">
              <a:lnSpc>
                <a:spcPct val="100000"/>
              </a:lnSpc>
            </a:pPr>
            <a:r>
              <a:rPr lang="en-US" sz="2100" dirty="0" b="1" i="1">
                <a:solidFill>
                  <a:srgbClr val="16171D"/>
                </a:solidFill>
                <a:latin typeface="Cambria"/>
                <a:cs typeface="Cambria"/>
              </a:rPr>
              <a:t xml:space="preserve">y</a:t>
            </a:r>
            <a:r>
              <a:rPr lang="en-US" sz="2100" dirty="0" b="1">
                <a:solidFill>
                  <a:srgbClr val="16171D"/>
                </a:solidFill>
                <a:latin typeface="Cambria"/>
                <a:cs typeface="Cambria"/>
              </a:rPr>
              <a:t xml:space="preserve"> = </a:t>
            </a:r>
            <a:r>
              <a:rPr lang="en-US" sz="2100" dirty="0" b="1" i="1">
                <a:solidFill>
                  <a:srgbClr val="16171D"/>
                </a:solidFill>
                <a:latin typeface="Cambria"/>
                <a:cs typeface="Cambria"/>
              </a:rPr>
              <a:t xml:space="preserve">f</a:t>
            </a:r>
            <a:r>
              <a:rPr lang="en-US" sz="2100" dirty="0" b="1">
                <a:solidFill>
                  <a:srgbClr val="16171D"/>
                </a:solidFill>
                <a:latin typeface="Cambria"/>
                <a:cs typeface="Cambria"/>
              </a:rPr>
              <a:t xml:space="preserve">(</a:t>
            </a:r>
            <a:r>
              <a:rPr lang="en-US" sz="2100" dirty="0" b="1" i="1">
                <a:solidFill>
                  <a:srgbClr val="16171D"/>
                </a:solidFill>
                <a:latin typeface="Cambria"/>
                <a:cs typeface="Cambria"/>
              </a:rPr>
              <a:t xml:space="preserve">x</a:t>
            </a:r>
            <a:r>
              <a:rPr lang="en-US" sz="2100" dirty="0" b="1">
                <a:solidFill>
                  <a:srgbClr val="16171D"/>
                </a:solidFill>
                <a:latin typeface="Cambria"/>
                <a:cs typeface="Cambria"/>
              </a:rPr>
              <a:t xml:space="preserve">) + </a:t>
            </a:r>
            <a:r>
              <a:rPr lang="en-US" sz="2100" dirty="0" b="1" i="1">
                <a:solidFill>
                  <a:srgbClr val="16171D"/>
                </a:solidFill>
                <a:latin typeface="Cambria"/>
                <a:cs typeface="Cambria"/>
              </a:rPr>
              <a:t xml:space="preserve">d</a:t>
            </a:r>
            <a:endParaRPr lang="en-US" sz="2100" dirty="0"/>
          </a:p>
        </p:txBody>
      </p:sp>
      <p:sp>
        <p:nvSpPr>
          <p:cNvPr id="8" name="Shape 8"/>
          <p:cNvSpPr txBox="1"/>
          <p:nvPr/>
        </p:nvSpPr>
        <p:spPr>
          <a:xfrm>
            <a:off x="6495898" y="2260092"/>
            <a:ext cx="480044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Changes the </a:t>
            </a:r>
            <a:r>
              <a:rPr lang="en-US" sz="1575" dirty="0" b="1">
                <a:solidFill>
                  <a:srgbClr val="16171D"/>
                </a:solidFill>
                <a:latin typeface="Segoe UI"/>
                <a:cs typeface="Segoe UI"/>
              </a:rPr>
              <a:t xml:space="preserve">outputs</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d</a:t>
            </a:r>
            <a:r>
              <a:rPr lang="en-US" sz="1575" dirty="0">
                <a:solidFill>
                  <a:srgbClr val="16171D"/>
                </a:solidFill>
                <a:latin typeface="Cambria"/>
                <a:cs typeface="Cambria"/>
              </a:rPr>
              <a:t xml:space="preserve"> &gt; 0</a:t>
            </a:r>
            <a:r>
              <a:rPr lang="en-US" sz="1575" dirty="0">
                <a:solidFill>
                  <a:srgbClr val="16171D"/>
                </a:solidFill>
                <a:latin typeface="Segoe UI"/>
                <a:cs typeface="Segoe UI"/>
              </a:rPr>
              <a:t xml:space="preserve">: shift </a:t>
            </a:r>
            <a:r>
              <a:rPr lang="en-US" sz="1575" dirty="0" b="1">
                <a:solidFill>
                  <a:srgbClr val="16171D"/>
                </a:solidFill>
                <a:latin typeface="Segoe UI"/>
                <a:cs typeface="Segoe UI"/>
              </a:rPr>
              <a:t xml:space="preserve">up</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d</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d</a:t>
            </a:r>
            <a:r>
              <a:rPr lang="en-US" sz="1575" dirty="0">
                <a:solidFill>
                  <a:srgbClr val="16171D"/>
                </a:solidFill>
                <a:latin typeface="Cambria"/>
                <a:cs typeface="Cambria"/>
              </a:rPr>
              <a:t xml:space="preserve"> </a:t>
            </a:r>
            <a:r>
              <a:rPr lang="en-US" sz="1575" dirty="0">
                <a:solidFill>
                  <a:srgbClr val="16171D"/>
                </a:solidFill>
                <a:latin typeface="Cambria"/>
                <a:cs typeface="Cambria"/>
              </a:rPr>
              <a:t xml:space="preserve">&lt;</a:t>
            </a:r>
            <a:r>
              <a:rPr lang="en-US" sz="1575" dirty="0">
                <a:solidFill>
                  <a:srgbClr val="16171D"/>
                </a:solidFill>
                <a:latin typeface="Cambria"/>
                <a:cs typeface="Cambria"/>
              </a:rPr>
              <a:t xml:space="preserve"> 0</a:t>
            </a:r>
            <a:r>
              <a:rPr lang="en-US" sz="1575" dirty="0">
                <a:solidFill>
                  <a:srgbClr val="16171D"/>
                </a:solidFill>
                <a:latin typeface="Segoe UI"/>
                <a:cs typeface="Segoe UI"/>
              </a:rPr>
              <a:t xml:space="preserve">: shift </a:t>
            </a:r>
            <a:r>
              <a:rPr lang="en-US" sz="1575" dirty="0" b="1">
                <a:solidFill>
                  <a:srgbClr val="16171D"/>
                </a:solidFill>
                <a:latin typeface="Segoe UI"/>
                <a:cs typeface="Segoe UI"/>
              </a:rPr>
              <a:t xml:space="preserve">down</a:t>
            </a:r>
            <a:r>
              <a:rPr lang="en-US" sz="1575" dirty="0">
                <a:solidFill>
                  <a:srgbClr val="16171D"/>
                </a:solidFill>
                <a:latin typeface="Segoe UI"/>
                <a:cs typeface="Segoe UI"/>
              </a:rPr>
              <a:t xml:space="preserve">.</a:t>
            </a:r>
            <a:endParaRPr lang="en-US" sz="1575" dirty="0"/>
          </a:p>
        </p:txBody>
      </p:sp>
      <p:sp>
        <p:nvSpPr>
          <p:cNvPr id="10" name="Shape 10"/>
          <p:cNvSpPr txBox="1"/>
          <p:nvPr/>
        </p:nvSpPr>
        <p:spPr>
          <a:xfrm>
            <a:off x="685800" y="3137916"/>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For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 right </a:t>
            </a:r>
            <a:r>
              <a:rPr lang="en-US" sz="1575" dirty="0" i="1">
                <a:solidFill>
                  <a:srgbClr val="16171D"/>
                </a:solidFill>
                <a:latin typeface="Cambria"/>
                <a:cs typeface="Cambria"/>
              </a:rPr>
              <a:t xml:space="preserve">n</a:t>
            </a:r>
            <a:r>
              <a:rPr lang="en-US" sz="1575" dirty="0">
                <a:solidFill>
                  <a:srgbClr val="16171D"/>
                </a:solidFill>
                <a:latin typeface="Segoe UI"/>
                <a:cs typeface="Segoe UI"/>
              </a:rPr>
              <a:t xml:space="preserve"> = down </a:t>
            </a:r>
            <a:r>
              <a:rPr lang="en-US" sz="1575" dirty="0" i="1">
                <a:solidFill>
                  <a:srgbClr val="16171D"/>
                </a:solidFill>
                <a:latin typeface="Cambria"/>
                <a:cs typeface="Cambria"/>
              </a:rPr>
              <a:t xml:space="preserve">n</a:t>
            </a:r>
            <a:r>
              <a:rPr lang="en-US" sz="1575" dirty="0">
                <a:solidFill>
                  <a:srgbClr val="16171D"/>
                </a:solidFill>
                <a:latin typeface="Segoe UI"/>
                <a:cs typeface="Segoe UI"/>
              </a:rPr>
              <a:t xml:space="preserve">, and left </a:t>
            </a:r>
            <a:r>
              <a:rPr lang="en-US" sz="1575" dirty="0" i="1">
                <a:solidFill>
                  <a:srgbClr val="16171D"/>
                </a:solidFill>
                <a:latin typeface="Cambria"/>
                <a:cs typeface="Cambria"/>
              </a:rPr>
              <a:t xml:space="preserve">n</a:t>
            </a:r>
            <a:r>
              <a:rPr lang="en-US" sz="1575" dirty="0">
                <a:solidFill>
                  <a:srgbClr val="16171D"/>
                </a:solidFill>
                <a:latin typeface="Segoe UI"/>
                <a:cs typeface="Segoe UI"/>
              </a:rPr>
              <a:t xml:space="preserve"> = up </a:t>
            </a:r>
            <a:r>
              <a:rPr lang="en-US" sz="1575" dirty="0" i="1">
                <a:solidFill>
                  <a:srgbClr val="16171D"/>
                </a:solidFill>
                <a:latin typeface="Cambria"/>
                <a:cs typeface="Cambria"/>
              </a:rPr>
              <a:t xml:space="preserve">n</a:t>
            </a:r>
            <a:r>
              <a:rPr lang="en-US" sz="1575" dirty="0">
                <a:solidFill>
                  <a:srgbClr val="16171D"/>
                </a:solidFill>
                <a:latin typeface="Segoe UI"/>
                <a:cs typeface="Segoe UI"/>
              </a:rPr>
              <a:t xml:space="preserve">.</a:t>
            </a:r>
            <a:endParaRPr lang="en-US" sz="1575" dirty="0"/>
          </a:p>
        </p:txBody>
      </p:sp>
      <p:sp>
        <p:nvSpPr>
          <p:cNvPr id="11" name="Shape 11"/>
          <p:cNvSpPr txBox="1"/>
          <p:nvPr/>
        </p:nvSpPr>
        <p:spPr>
          <a:xfrm>
            <a:off x="685800" y="3604260"/>
            <a:ext cx="4967272" cy="397764"/>
          </a:xfrm>
          <a:prstGeom prst="roundRect">
            <a:avLst>
              <a:gd name="adj" fmla="val 8000"/>
            </a:avLst>
          </a:prstGeom>
          <a:solidFill>
            <a:srgbClr val="FDF3E7"/>
          </a:solidFill>
          <a:ln>
            <a:noFill/>
          </a:ln>
        </p:spPr>
        <p:txBody>
          <a:bodyPr wrap="square" lIns="164592" tIns="73152" rIns="164592" bIns="73152" anchor="ctr">
            <a:noAutofit/>
          </a:bodyPr>
          <a:lstStyle/>
          <a:p>
            <a:pPr algn="l">
              <a:lnSpc>
                <a:spcPct val="100000"/>
              </a:lnSpc>
            </a:pPr>
            <a:r>
              <a:rPr lang="en-US" sz="1650" dirty="0">
                <a:solidFill>
                  <a:srgbClr val="16171D"/>
                </a:solidFill>
                <a:latin typeface="Segoe UI"/>
                <a:cs typeface="Segoe UI"/>
              </a:rPr>
              <a:t xml:space="preserve">Does that work for </a:t>
            </a:r>
            <a:r>
              <a:rPr lang="en-US" sz="1650" dirty="0" b="1">
                <a:solidFill>
                  <a:srgbClr val="16171D"/>
                </a:solidFill>
                <a:latin typeface="Segoe UI"/>
                <a:cs typeface="Segoe UI"/>
              </a:rPr>
              <a:t xml:space="preserve">every</a:t>
            </a:r>
            <a:r>
              <a:rPr lang="en-US" sz="1650" dirty="0">
                <a:solidFill>
                  <a:srgbClr val="16171D"/>
                </a:solidFill>
                <a:latin typeface="Segoe UI"/>
                <a:cs typeface="Segoe UI"/>
              </a:rPr>
              <a:t xml:space="preserve"> linear function?</a:t>
            </a:r>
            <a:endParaRPr lang="en-US" sz="1650" dirty="0"/>
          </a:p>
        </p:txBody>
      </p:sp>
      <p:sp>
        <p:nvSpPr>
          <p:cNvPr id="12" name="Slide Number 12"/>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15</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10"/>
                                        </p:tgtEl>
                                        <p:attrNameLst>
                                          <p:attrName>style.visibility</p:attrName>
                                        </p:attrNameLst>
                                      </p:cBhvr>
                                      <p:to>
                                        <p:strVal val="visible"/>
                                      </p:to>
                                    </p:set>
                                    <p:animEffect transition="in" filter="fade">
                                      <p:cBhvr>
                                        <p:cTn id="4" dur="500"/>
                                        <p:tgtEl>
                                          <p:spTgt spid="10"/>
                                        </p:tgtEl>
                                      </p:cBhvr>
                                    </p:animEffect>
                                    <p:anim calcmode="lin" valueType="num">
                                      <p:cBhvr>
                                        <p:cTn id="5" dur="500" fill="hold"/>
                                        <p:tgtEl>
                                          <p:spTgt spid="10"/>
                                        </p:tgtEl>
                                        <p:attrNameLst>
                                          <p:attrName>ppt_x</p:attrName>
                                        </p:attrNameLst>
                                      </p:cBhvr>
                                      <p:tavLst>
                                        <p:tav tm="0">
                                          <p:val>
                                            <p:strVal val="#ppt_x"/>
                                          </p:val>
                                        </p:tav>
                                        <p:tav tm="100000">
                                          <p:val>
                                            <p:strVal val="#ppt_x"/>
                                          </p:val>
                                        </p:tav>
                                      </p:tavLst>
                                    </p:anim>
                                    <p:anim calcmode="lin" valueType="num">
                                      <p:cBhvr>
                                        <p:cTn id="6" dur="500" fill="hold"/>
                                        <p:tgtEl>
                                          <p:spTgt spid="10"/>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11"/>
                                        </p:tgtEl>
                                        <p:attrNameLst>
                                          <p:attrName>style.visibility</p:attrName>
                                        </p:attrNameLst>
                                      </p:cBhvr>
                                      <p:to>
                                        <p:strVal val="visible"/>
                                      </p:to>
                                    </p:set>
                                    <p:animEffect transition="in" filter="fade">
                                      <p:cBhvr>
                                        <p:cTn id="11" dur="500"/>
                                        <p:tgtEl>
                                          <p:spTgt spid="11"/>
                                        </p:tgtEl>
                                      </p:cBhvr>
                                    </p:animEffect>
                                    <p:anim calcmode="lin" valueType="num">
                                      <p:cBhvr>
                                        <p:cTn id="12" dur="500" fill="hold"/>
                                        <p:tgtEl>
                                          <p:spTgt spid="11"/>
                                        </p:tgtEl>
                                        <p:attrNameLst>
                                          <p:attrName>ppt_x</p:attrName>
                                        </p:attrNameLst>
                                      </p:cBhvr>
                                      <p:tavLst>
                                        <p:tav tm="0">
                                          <p:val>
                                            <p:strVal val="#ppt_x"/>
                                          </p:val>
                                        </p:tav>
                                        <p:tav tm="100000">
                                          <p:val>
                                            <p:strVal val="#ppt_x"/>
                                          </p:val>
                                        </p:tav>
                                      </p:tavLst>
                                    </p:anim>
                                    <p:anim calcmode="lin" valueType="num">
                                      <p:cBhvr>
                                        <p:cTn id="13" dur="500" fill="hold"/>
                                        <p:tgtEl>
                                          <p:spTgt spid="11"/>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2.1 · Questions 6–9 · SE pp. 292–294 · ★ Essential</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Try it with </a:t>
            </a:r>
            <a:r>
              <a:rPr lang="en-US" sz="3450" dirty="0" b="1" i="1">
                <a:solidFill>
                  <a:srgbClr val="16171D"/>
                </a:solidFill>
                <a:latin typeface="Cambria"/>
                <a:cs typeface="Cambria"/>
              </a:rPr>
              <a:t xml:space="preserve">j</a:t>
            </a:r>
            <a:r>
              <a:rPr lang="en-US" sz="3450" dirty="0" b="1">
                <a:solidFill>
                  <a:srgbClr val="16171D"/>
                </a:solidFill>
                <a:latin typeface="Cambria"/>
                <a:cs typeface="Cambria"/>
              </a:rPr>
              <a:t xml:space="preserve">(</a:t>
            </a:r>
            <a:r>
              <a:rPr lang="en-US" sz="3450" dirty="0" b="1" i="1">
                <a:solidFill>
                  <a:srgbClr val="16171D"/>
                </a:solidFill>
                <a:latin typeface="Cambria"/>
                <a:cs typeface="Cambria"/>
              </a:rPr>
              <a:t xml:space="preserve">x</a:t>
            </a:r>
            <a:r>
              <a:rPr lang="en-US" sz="3450" dirty="0" b="1">
                <a:solidFill>
                  <a:srgbClr val="16171D"/>
                </a:solidFill>
                <a:latin typeface="Cambria"/>
                <a:cs typeface="Cambria"/>
              </a:rPr>
              <a:t xml:space="preserve">) = 2</a:t>
            </a:r>
            <a:r>
              <a:rPr lang="en-US" sz="3450" dirty="0" b="1" i="1">
                <a:solidFill>
                  <a:srgbClr val="16171D"/>
                </a:solidFill>
                <a:latin typeface="Cambria"/>
                <a:cs typeface="Cambria"/>
              </a:rPr>
              <a:t xml:space="preserve">x</a:t>
            </a:r>
            <a:r>
              <a:rPr lang="en-US" sz="3450" dirty="0" b="1">
                <a:solidFill>
                  <a:srgbClr val="16171D"/>
                </a:solidFill>
                <a:latin typeface="Cambria"/>
                <a:cs typeface="Cambria"/>
              </a:rPr>
              <a:t xml:space="preserve"> − 1</a:t>
            </a:r>
            <a:endParaRPr lang="en-US" sz="3450" dirty="0"/>
          </a:p>
        </p:txBody>
      </p:sp>
      <p:sp>
        <p:nvSpPr>
          <p:cNvPr id="4" name="Shape 4"/>
          <p:cNvSpPr txBox="1"/>
          <p:nvPr/>
        </p:nvSpPr>
        <p:spPr>
          <a:xfrm>
            <a:off x="685800" y="1618488"/>
            <a:ext cx="52195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Up 4 and left 4:</a:t>
            </a:r>
            <a:endParaRPr lang="en-US" sz="1575" dirty="0"/>
          </a:p>
        </p:txBody>
      </p:sp>
      <p:sp>
        <p:nvSpPr>
          <p:cNvPr id="5" name="Shape 5"/>
          <p:cNvSpPr txBox="1"/>
          <p:nvPr/>
        </p:nvSpPr>
        <p:spPr>
          <a:xfrm>
            <a:off x="685800" y="2008632"/>
            <a:ext cx="521954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q</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j</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 =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+ 3</a:t>
            </a:r>
            <a:endParaRPr lang="en-US" sz="2325" dirty="0"/>
          </a:p>
        </p:txBody>
      </p:sp>
      <p:sp>
        <p:nvSpPr>
          <p:cNvPr id="6" name="Shape 6"/>
          <p:cNvSpPr txBox="1"/>
          <p:nvPr/>
        </p:nvSpPr>
        <p:spPr>
          <a:xfrm>
            <a:off x="685800" y="2977134"/>
            <a:ext cx="521954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r</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j</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 =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 − 1 =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+ 7</a:t>
            </a:r>
            <a:endParaRPr lang="en-US" sz="2325" dirty="0"/>
          </a:p>
        </p:txBody>
      </p:sp>
      <p:sp>
        <p:nvSpPr>
          <p:cNvPr id="7" name="Shape 7"/>
          <p:cNvSpPr txBox="1"/>
          <p:nvPr/>
        </p:nvSpPr>
        <p:spPr>
          <a:xfrm>
            <a:off x="685800" y="3945636"/>
            <a:ext cx="52195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Right 2 and down 2:</a:t>
            </a:r>
            <a:endParaRPr lang="en-US" sz="1575" dirty="0"/>
          </a:p>
        </p:txBody>
      </p:sp>
      <p:sp>
        <p:nvSpPr>
          <p:cNvPr id="8" name="Shape 8"/>
          <p:cNvSpPr txBox="1"/>
          <p:nvPr/>
        </p:nvSpPr>
        <p:spPr>
          <a:xfrm>
            <a:off x="685800" y="4335780"/>
            <a:ext cx="521954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b</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j</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 =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− 5</a:t>
            </a:r>
            <a:endParaRPr lang="en-US" sz="2325" dirty="0"/>
          </a:p>
        </p:txBody>
      </p:sp>
      <p:sp>
        <p:nvSpPr>
          <p:cNvPr id="9" name="Shape 9"/>
          <p:cNvSpPr txBox="1"/>
          <p:nvPr/>
        </p:nvSpPr>
        <p:spPr>
          <a:xfrm>
            <a:off x="685800" y="5304282"/>
            <a:ext cx="521954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v</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j</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 =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− 3</a:t>
            </a:r>
            <a:endParaRPr lang="en-US" sz="2325" dirty="0"/>
          </a:p>
        </p:txBody>
      </p:sp>
      <p:sp>
        <p:nvSpPr>
          <p:cNvPr id="10" name="Shape 10"/>
          <p:cNvSpPr txBox="1"/>
          <p:nvPr/>
        </p:nvSpPr>
        <p:spPr>
          <a:xfrm>
            <a:off x="685800" y="6272784"/>
            <a:ext cx="52195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Not the same.</a:t>
            </a:r>
            <a:r>
              <a:rPr lang="en-US" sz="1575" dirty="0">
                <a:solidFill>
                  <a:srgbClr val="16171D"/>
                </a:solidFill>
                <a:latin typeface="Segoe UI"/>
                <a:cs typeface="Segoe UI"/>
              </a:rPr>
              <a:t xml:space="preserve"> The lines are parallel with different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-intercepts.</a:t>
            </a:r>
            <a:endParaRPr lang="en-US" sz="1575" dirty="0"/>
          </a:p>
        </p:txBody>
      </p:sp>
      <p:sp>
        <p:nvSpPr>
          <p:cNvPr id="11" name="Shape 11"/>
          <p:cNvSpPr/>
          <p:nvPr/>
        </p:nvSpPr>
        <p:spPr>
          <a:xfrm>
            <a:off x="6286348" y="1618488"/>
            <a:ext cx="3143250" cy="34290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2" name="Line 12"/>
          <p:cNvCxnSpPr/>
          <p:nvPr/>
        </p:nvCxnSpPr>
        <p:spPr>
          <a:xfrm>
            <a:off x="6610198" y="1732788"/>
            <a:ext cx="0" cy="3067050"/>
          </a:xfrm>
          <a:prstGeom prst="line">
            <a:avLst/>
          </a:prstGeom>
          <a:ln w="9525" cap="flat">
            <a:solidFill>
              <a:srgbClr val="E6E8F2"/>
            </a:solidFill>
          </a:ln>
        </p:spPr>
      </p:cxnSp>
      <p:cxnSp>
        <p:nvCxnSpPr>
          <p:cNvPr id="13" name="Line 13"/>
          <p:cNvCxnSpPr/>
          <p:nvPr/>
        </p:nvCxnSpPr>
        <p:spPr>
          <a:xfrm>
            <a:off x="6835623" y="1732788"/>
            <a:ext cx="0" cy="3067050"/>
          </a:xfrm>
          <a:prstGeom prst="line">
            <a:avLst/>
          </a:prstGeom>
          <a:ln w="9525" cap="flat">
            <a:solidFill>
              <a:srgbClr val="E6E8F2"/>
            </a:solidFill>
          </a:ln>
        </p:spPr>
      </p:cxnSp>
      <p:cxnSp>
        <p:nvCxnSpPr>
          <p:cNvPr id="14" name="Line 14"/>
          <p:cNvCxnSpPr/>
          <p:nvPr/>
        </p:nvCxnSpPr>
        <p:spPr>
          <a:xfrm>
            <a:off x="7061048" y="1732788"/>
            <a:ext cx="0" cy="3067050"/>
          </a:xfrm>
          <a:prstGeom prst="line">
            <a:avLst/>
          </a:prstGeom>
          <a:ln w="9525" cap="flat">
            <a:solidFill>
              <a:srgbClr val="E6E8F2"/>
            </a:solidFill>
          </a:ln>
        </p:spPr>
      </p:cxnSp>
      <p:cxnSp>
        <p:nvCxnSpPr>
          <p:cNvPr id="15" name="Line 15"/>
          <p:cNvCxnSpPr/>
          <p:nvPr/>
        </p:nvCxnSpPr>
        <p:spPr>
          <a:xfrm>
            <a:off x="7286473" y="1732788"/>
            <a:ext cx="0" cy="3067050"/>
          </a:xfrm>
          <a:prstGeom prst="line">
            <a:avLst/>
          </a:prstGeom>
          <a:ln w="9525" cap="flat">
            <a:solidFill>
              <a:srgbClr val="E6E8F2"/>
            </a:solidFill>
          </a:ln>
        </p:spPr>
      </p:cxnSp>
      <p:cxnSp>
        <p:nvCxnSpPr>
          <p:cNvPr id="16" name="Line 16"/>
          <p:cNvCxnSpPr/>
          <p:nvPr/>
        </p:nvCxnSpPr>
        <p:spPr>
          <a:xfrm>
            <a:off x="7511898" y="1732788"/>
            <a:ext cx="0" cy="3067050"/>
          </a:xfrm>
          <a:prstGeom prst="line">
            <a:avLst/>
          </a:prstGeom>
          <a:ln w="9525" cap="flat">
            <a:solidFill>
              <a:srgbClr val="E6E8F2"/>
            </a:solidFill>
          </a:ln>
        </p:spPr>
      </p:cxnSp>
      <p:cxnSp>
        <p:nvCxnSpPr>
          <p:cNvPr id="17" name="Line 17"/>
          <p:cNvCxnSpPr/>
          <p:nvPr/>
        </p:nvCxnSpPr>
        <p:spPr>
          <a:xfrm>
            <a:off x="7737323" y="1732788"/>
            <a:ext cx="0" cy="3067050"/>
          </a:xfrm>
          <a:prstGeom prst="line">
            <a:avLst/>
          </a:prstGeom>
          <a:ln w="9525" cap="flat">
            <a:solidFill>
              <a:srgbClr val="E6E8F2"/>
            </a:solidFill>
          </a:ln>
        </p:spPr>
      </p:cxnSp>
      <p:cxnSp>
        <p:nvCxnSpPr>
          <p:cNvPr id="18" name="Line 18"/>
          <p:cNvCxnSpPr/>
          <p:nvPr/>
        </p:nvCxnSpPr>
        <p:spPr>
          <a:xfrm>
            <a:off x="7962748" y="1732788"/>
            <a:ext cx="0" cy="3067050"/>
          </a:xfrm>
          <a:prstGeom prst="line">
            <a:avLst/>
          </a:prstGeom>
          <a:ln w="9525" cap="flat">
            <a:solidFill>
              <a:srgbClr val="E6E8F2"/>
            </a:solidFill>
          </a:ln>
        </p:spPr>
      </p:cxnSp>
      <p:cxnSp>
        <p:nvCxnSpPr>
          <p:cNvPr id="19" name="Line 19"/>
          <p:cNvCxnSpPr/>
          <p:nvPr/>
        </p:nvCxnSpPr>
        <p:spPr>
          <a:xfrm>
            <a:off x="8188173" y="1732788"/>
            <a:ext cx="0" cy="3067050"/>
          </a:xfrm>
          <a:prstGeom prst="line">
            <a:avLst/>
          </a:prstGeom>
          <a:ln w="9525" cap="flat">
            <a:solidFill>
              <a:srgbClr val="E6E8F2"/>
            </a:solidFill>
          </a:ln>
        </p:spPr>
      </p:cxnSp>
      <p:cxnSp>
        <p:nvCxnSpPr>
          <p:cNvPr id="20" name="Line 20"/>
          <p:cNvCxnSpPr/>
          <p:nvPr/>
        </p:nvCxnSpPr>
        <p:spPr>
          <a:xfrm>
            <a:off x="8413598" y="1732788"/>
            <a:ext cx="0" cy="3067050"/>
          </a:xfrm>
          <a:prstGeom prst="line">
            <a:avLst/>
          </a:prstGeom>
          <a:ln w="9525" cap="flat">
            <a:solidFill>
              <a:srgbClr val="E6E8F2"/>
            </a:solidFill>
          </a:ln>
        </p:spPr>
      </p:cxnSp>
      <p:cxnSp>
        <p:nvCxnSpPr>
          <p:cNvPr id="21" name="Line 21"/>
          <p:cNvCxnSpPr/>
          <p:nvPr/>
        </p:nvCxnSpPr>
        <p:spPr>
          <a:xfrm>
            <a:off x="8639023" y="1732788"/>
            <a:ext cx="0" cy="3067050"/>
          </a:xfrm>
          <a:prstGeom prst="line">
            <a:avLst/>
          </a:prstGeom>
          <a:ln w="9525" cap="flat">
            <a:solidFill>
              <a:srgbClr val="E6E8F2"/>
            </a:solidFill>
          </a:ln>
        </p:spPr>
      </p:cxnSp>
      <p:cxnSp>
        <p:nvCxnSpPr>
          <p:cNvPr id="22" name="Line 22"/>
          <p:cNvCxnSpPr/>
          <p:nvPr/>
        </p:nvCxnSpPr>
        <p:spPr>
          <a:xfrm>
            <a:off x="8864448" y="1732788"/>
            <a:ext cx="0" cy="3067050"/>
          </a:xfrm>
          <a:prstGeom prst="line">
            <a:avLst/>
          </a:prstGeom>
          <a:ln w="9525" cap="flat">
            <a:solidFill>
              <a:srgbClr val="E6E8F2"/>
            </a:solidFill>
          </a:ln>
        </p:spPr>
      </p:cxnSp>
      <p:cxnSp>
        <p:nvCxnSpPr>
          <p:cNvPr id="23" name="Line 23"/>
          <p:cNvCxnSpPr/>
          <p:nvPr/>
        </p:nvCxnSpPr>
        <p:spPr>
          <a:xfrm>
            <a:off x="9089873" y="1732788"/>
            <a:ext cx="0" cy="3067050"/>
          </a:xfrm>
          <a:prstGeom prst="line">
            <a:avLst/>
          </a:prstGeom>
          <a:ln w="9525" cap="flat">
            <a:solidFill>
              <a:srgbClr val="E6E8F2"/>
            </a:solidFill>
          </a:ln>
        </p:spPr>
      </p:cxnSp>
      <p:cxnSp>
        <p:nvCxnSpPr>
          <p:cNvPr id="24" name="Line 24"/>
          <p:cNvCxnSpPr/>
          <p:nvPr/>
        </p:nvCxnSpPr>
        <p:spPr>
          <a:xfrm>
            <a:off x="9315298" y="1732788"/>
            <a:ext cx="0" cy="3067050"/>
          </a:xfrm>
          <a:prstGeom prst="line">
            <a:avLst/>
          </a:prstGeom>
          <a:ln w="9525" cap="flat">
            <a:solidFill>
              <a:srgbClr val="E6E8F2"/>
            </a:solidFill>
          </a:ln>
        </p:spPr>
      </p:cxnSp>
      <p:cxnSp>
        <p:nvCxnSpPr>
          <p:cNvPr id="25" name="Line 25"/>
          <p:cNvCxnSpPr/>
          <p:nvPr/>
        </p:nvCxnSpPr>
        <p:spPr>
          <a:xfrm>
            <a:off x="6610198" y="4799838"/>
            <a:ext cx="2705100" cy="0"/>
          </a:xfrm>
          <a:prstGeom prst="line">
            <a:avLst/>
          </a:prstGeom>
          <a:ln w="9525" cap="flat">
            <a:solidFill>
              <a:srgbClr val="E6E8F2"/>
            </a:solidFill>
          </a:ln>
        </p:spPr>
      </p:cxnSp>
      <p:cxnSp>
        <p:nvCxnSpPr>
          <p:cNvPr id="26" name="Line 26"/>
          <p:cNvCxnSpPr/>
          <p:nvPr/>
        </p:nvCxnSpPr>
        <p:spPr>
          <a:xfrm>
            <a:off x="6610198" y="4608147"/>
            <a:ext cx="2705100" cy="0"/>
          </a:xfrm>
          <a:prstGeom prst="line">
            <a:avLst/>
          </a:prstGeom>
          <a:ln w="9525" cap="flat">
            <a:solidFill>
              <a:srgbClr val="E6E8F2"/>
            </a:solidFill>
          </a:ln>
        </p:spPr>
      </p:cxnSp>
      <p:cxnSp>
        <p:nvCxnSpPr>
          <p:cNvPr id="27" name="Line 27"/>
          <p:cNvCxnSpPr/>
          <p:nvPr/>
        </p:nvCxnSpPr>
        <p:spPr>
          <a:xfrm>
            <a:off x="6610198" y="4416457"/>
            <a:ext cx="2705100" cy="0"/>
          </a:xfrm>
          <a:prstGeom prst="line">
            <a:avLst/>
          </a:prstGeom>
          <a:ln w="9525" cap="flat">
            <a:solidFill>
              <a:srgbClr val="E6E8F2"/>
            </a:solidFill>
          </a:ln>
        </p:spPr>
      </p:cxnSp>
      <p:cxnSp>
        <p:nvCxnSpPr>
          <p:cNvPr id="28" name="Line 28"/>
          <p:cNvCxnSpPr/>
          <p:nvPr/>
        </p:nvCxnSpPr>
        <p:spPr>
          <a:xfrm>
            <a:off x="6610198" y="4224766"/>
            <a:ext cx="2705100" cy="0"/>
          </a:xfrm>
          <a:prstGeom prst="line">
            <a:avLst/>
          </a:prstGeom>
          <a:ln w="9525" cap="flat">
            <a:solidFill>
              <a:srgbClr val="E6E8F2"/>
            </a:solidFill>
          </a:ln>
        </p:spPr>
      </p:cxnSp>
      <p:cxnSp>
        <p:nvCxnSpPr>
          <p:cNvPr id="29" name="Line 29"/>
          <p:cNvCxnSpPr/>
          <p:nvPr/>
        </p:nvCxnSpPr>
        <p:spPr>
          <a:xfrm>
            <a:off x="6610198" y="4033075"/>
            <a:ext cx="2705100" cy="0"/>
          </a:xfrm>
          <a:prstGeom prst="line">
            <a:avLst/>
          </a:prstGeom>
          <a:ln w="9525" cap="flat">
            <a:solidFill>
              <a:srgbClr val="E6E8F2"/>
            </a:solidFill>
          </a:ln>
        </p:spPr>
      </p:cxnSp>
      <p:cxnSp>
        <p:nvCxnSpPr>
          <p:cNvPr id="30" name="Line 30"/>
          <p:cNvCxnSpPr/>
          <p:nvPr/>
        </p:nvCxnSpPr>
        <p:spPr>
          <a:xfrm>
            <a:off x="6610198" y="3841385"/>
            <a:ext cx="2705100" cy="0"/>
          </a:xfrm>
          <a:prstGeom prst="line">
            <a:avLst/>
          </a:prstGeom>
          <a:ln w="9525" cap="flat">
            <a:solidFill>
              <a:srgbClr val="E6E8F2"/>
            </a:solidFill>
          </a:ln>
        </p:spPr>
      </p:cxnSp>
      <p:cxnSp>
        <p:nvCxnSpPr>
          <p:cNvPr id="31" name="Line 31"/>
          <p:cNvCxnSpPr/>
          <p:nvPr/>
        </p:nvCxnSpPr>
        <p:spPr>
          <a:xfrm>
            <a:off x="6610198" y="3649694"/>
            <a:ext cx="2705100" cy="0"/>
          </a:xfrm>
          <a:prstGeom prst="line">
            <a:avLst/>
          </a:prstGeom>
          <a:ln w="9525" cap="flat">
            <a:solidFill>
              <a:srgbClr val="E6E8F2"/>
            </a:solidFill>
          </a:ln>
        </p:spPr>
      </p:cxnSp>
      <p:cxnSp>
        <p:nvCxnSpPr>
          <p:cNvPr id="32" name="Line 32"/>
          <p:cNvCxnSpPr/>
          <p:nvPr/>
        </p:nvCxnSpPr>
        <p:spPr>
          <a:xfrm>
            <a:off x="6610198" y="3458004"/>
            <a:ext cx="2705100" cy="0"/>
          </a:xfrm>
          <a:prstGeom prst="line">
            <a:avLst/>
          </a:prstGeom>
          <a:ln w="9525" cap="flat">
            <a:solidFill>
              <a:srgbClr val="E6E8F2"/>
            </a:solidFill>
          </a:ln>
        </p:spPr>
      </p:cxnSp>
      <p:cxnSp>
        <p:nvCxnSpPr>
          <p:cNvPr id="33" name="Line 33"/>
          <p:cNvCxnSpPr/>
          <p:nvPr/>
        </p:nvCxnSpPr>
        <p:spPr>
          <a:xfrm>
            <a:off x="6610198" y="3266313"/>
            <a:ext cx="2705100" cy="0"/>
          </a:xfrm>
          <a:prstGeom prst="line">
            <a:avLst/>
          </a:prstGeom>
          <a:ln w="9525" cap="flat">
            <a:solidFill>
              <a:srgbClr val="E6E8F2"/>
            </a:solidFill>
          </a:ln>
        </p:spPr>
      </p:cxnSp>
      <p:cxnSp>
        <p:nvCxnSpPr>
          <p:cNvPr id="34" name="Line 34"/>
          <p:cNvCxnSpPr/>
          <p:nvPr/>
        </p:nvCxnSpPr>
        <p:spPr>
          <a:xfrm>
            <a:off x="6610198" y="3074622"/>
            <a:ext cx="2705100" cy="0"/>
          </a:xfrm>
          <a:prstGeom prst="line">
            <a:avLst/>
          </a:prstGeom>
          <a:ln w="9525" cap="flat">
            <a:solidFill>
              <a:srgbClr val="E6E8F2"/>
            </a:solidFill>
          </a:ln>
        </p:spPr>
      </p:cxnSp>
      <p:cxnSp>
        <p:nvCxnSpPr>
          <p:cNvPr id="35" name="Line 35"/>
          <p:cNvCxnSpPr/>
          <p:nvPr/>
        </p:nvCxnSpPr>
        <p:spPr>
          <a:xfrm>
            <a:off x="6610198" y="2882932"/>
            <a:ext cx="2705100" cy="0"/>
          </a:xfrm>
          <a:prstGeom prst="line">
            <a:avLst/>
          </a:prstGeom>
          <a:ln w="9525" cap="flat">
            <a:solidFill>
              <a:srgbClr val="E6E8F2"/>
            </a:solidFill>
          </a:ln>
        </p:spPr>
      </p:cxnSp>
      <p:cxnSp>
        <p:nvCxnSpPr>
          <p:cNvPr id="36" name="Line 36"/>
          <p:cNvCxnSpPr/>
          <p:nvPr/>
        </p:nvCxnSpPr>
        <p:spPr>
          <a:xfrm>
            <a:off x="6610198" y="2691241"/>
            <a:ext cx="2705100" cy="0"/>
          </a:xfrm>
          <a:prstGeom prst="line">
            <a:avLst/>
          </a:prstGeom>
          <a:ln w="9525" cap="flat">
            <a:solidFill>
              <a:srgbClr val="E6E8F2"/>
            </a:solidFill>
          </a:ln>
        </p:spPr>
      </p:cxnSp>
      <p:cxnSp>
        <p:nvCxnSpPr>
          <p:cNvPr id="37" name="Line 37"/>
          <p:cNvCxnSpPr/>
          <p:nvPr/>
        </p:nvCxnSpPr>
        <p:spPr>
          <a:xfrm>
            <a:off x="6610198" y="2499550"/>
            <a:ext cx="2705100" cy="0"/>
          </a:xfrm>
          <a:prstGeom prst="line">
            <a:avLst/>
          </a:prstGeom>
          <a:ln w="9525" cap="flat">
            <a:solidFill>
              <a:srgbClr val="E6E8F2"/>
            </a:solidFill>
          </a:ln>
        </p:spPr>
      </p:cxnSp>
      <p:cxnSp>
        <p:nvCxnSpPr>
          <p:cNvPr id="38" name="Line 38"/>
          <p:cNvCxnSpPr/>
          <p:nvPr/>
        </p:nvCxnSpPr>
        <p:spPr>
          <a:xfrm>
            <a:off x="6610198" y="2307860"/>
            <a:ext cx="2705100" cy="0"/>
          </a:xfrm>
          <a:prstGeom prst="line">
            <a:avLst/>
          </a:prstGeom>
          <a:ln w="9525" cap="flat">
            <a:solidFill>
              <a:srgbClr val="E6E8F2"/>
            </a:solidFill>
          </a:ln>
        </p:spPr>
      </p:cxnSp>
      <p:cxnSp>
        <p:nvCxnSpPr>
          <p:cNvPr id="39" name="Line 39"/>
          <p:cNvCxnSpPr/>
          <p:nvPr/>
        </p:nvCxnSpPr>
        <p:spPr>
          <a:xfrm>
            <a:off x="6610198" y="2116169"/>
            <a:ext cx="2705100" cy="0"/>
          </a:xfrm>
          <a:prstGeom prst="line">
            <a:avLst/>
          </a:prstGeom>
          <a:ln w="9525" cap="flat">
            <a:solidFill>
              <a:srgbClr val="E6E8F2"/>
            </a:solidFill>
          </a:ln>
        </p:spPr>
      </p:cxnSp>
      <p:cxnSp>
        <p:nvCxnSpPr>
          <p:cNvPr id="40" name="Line 40"/>
          <p:cNvCxnSpPr/>
          <p:nvPr/>
        </p:nvCxnSpPr>
        <p:spPr>
          <a:xfrm>
            <a:off x="6610198" y="1924479"/>
            <a:ext cx="2705100" cy="0"/>
          </a:xfrm>
          <a:prstGeom prst="line">
            <a:avLst/>
          </a:prstGeom>
          <a:ln w="9525" cap="flat">
            <a:solidFill>
              <a:srgbClr val="E6E8F2"/>
            </a:solidFill>
          </a:ln>
        </p:spPr>
      </p:cxnSp>
      <p:cxnSp>
        <p:nvCxnSpPr>
          <p:cNvPr id="41" name="Line 41"/>
          <p:cNvCxnSpPr/>
          <p:nvPr/>
        </p:nvCxnSpPr>
        <p:spPr>
          <a:xfrm>
            <a:off x="6610198" y="1732788"/>
            <a:ext cx="2705100" cy="0"/>
          </a:xfrm>
          <a:prstGeom prst="line">
            <a:avLst/>
          </a:prstGeom>
          <a:ln w="9525" cap="flat">
            <a:solidFill>
              <a:srgbClr val="E6E8F2"/>
            </a:solidFill>
          </a:ln>
        </p:spPr>
      </p:cxnSp>
      <p:cxnSp>
        <p:nvCxnSpPr>
          <p:cNvPr id="42" name="Line 42"/>
          <p:cNvCxnSpPr/>
          <p:nvPr/>
        </p:nvCxnSpPr>
        <p:spPr>
          <a:xfrm>
            <a:off x="7962748" y="1732788"/>
            <a:ext cx="0" cy="3067050"/>
          </a:xfrm>
          <a:prstGeom prst="line">
            <a:avLst/>
          </a:prstGeom>
          <a:ln w="19050" cap="flat">
            <a:solidFill>
              <a:srgbClr val="5F6272"/>
            </a:solidFill>
          </a:ln>
        </p:spPr>
      </p:cxnSp>
      <p:cxnSp>
        <p:nvCxnSpPr>
          <p:cNvPr id="43" name="Line 43"/>
          <p:cNvCxnSpPr/>
          <p:nvPr/>
        </p:nvCxnSpPr>
        <p:spPr>
          <a:xfrm>
            <a:off x="6610198" y="3266313"/>
            <a:ext cx="2705100" cy="0"/>
          </a:xfrm>
          <a:prstGeom prst="line">
            <a:avLst/>
          </a:prstGeom>
          <a:ln w="19050" cap="flat">
            <a:solidFill>
              <a:srgbClr val="5F6272"/>
            </a:solidFill>
          </a:ln>
        </p:spPr>
      </p:cxnSp>
      <p:sp>
        <p:nvSpPr>
          <p:cNvPr id="44" name="Shape 44"/>
          <p:cNvSpPr txBox="1"/>
          <p:nvPr/>
        </p:nvSpPr>
        <p:spPr>
          <a:xfrm>
            <a:off x="6335878"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45" name="Shape 45"/>
          <p:cNvSpPr txBox="1"/>
          <p:nvPr/>
        </p:nvSpPr>
        <p:spPr>
          <a:xfrm>
            <a:off x="6786728"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6" name="Shape 46"/>
          <p:cNvSpPr txBox="1"/>
          <p:nvPr/>
        </p:nvSpPr>
        <p:spPr>
          <a:xfrm>
            <a:off x="7237578"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7" name="Shape 47"/>
          <p:cNvSpPr txBox="1"/>
          <p:nvPr/>
        </p:nvSpPr>
        <p:spPr>
          <a:xfrm>
            <a:off x="7688428"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48" name="Shape 48"/>
          <p:cNvSpPr txBox="1"/>
          <p:nvPr/>
        </p:nvSpPr>
        <p:spPr>
          <a:xfrm>
            <a:off x="8139278"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9" name="Shape 49"/>
          <p:cNvSpPr txBox="1"/>
          <p:nvPr/>
        </p:nvSpPr>
        <p:spPr>
          <a:xfrm>
            <a:off x="8590128"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50" name="Shape 50"/>
          <p:cNvSpPr txBox="1"/>
          <p:nvPr/>
        </p:nvSpPr>
        <p:spPr>
          <a:xfrm>
            <a:off x="9040978"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51" name="Shape 51"/>
          <p:cNvSpPr txBox="1"/>
          <p:nvPr/>
        </p:nvSpPr>
        <p:spPr>
          <a:xfrm>
            <a:off x="6043270" y="47083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52" name="Shape 52"/>
          <p:cNvSpPr txBox="1"/>
          <p:nvPr/>
        </p:nvSpPr>
        <p:spPr>
          <a:xfrm>
            <a:off x="6043270" y="4325017"/>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53" name="Shape 53"/>
          <p:cNvSpPr txBox="1"/>
          <p:nvPr/>
        </p:nvSpPr>
        <p:spPr>
          <a:xfrm>
            <a:off x="6043270" y="394163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54" name="Shape 54"/>
          <p:cNvSpPr txBox="1"/>
          <p:nvPr/>
        </p:nvSpPr>
        <p:spPr>
          <a:xfrm>
            <a:off x="6043270" y="3558254"/>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55" name="Shape 55"/>
          <p:cNvSpPr txBox="1"/>
          <p:nvPr/>
        </p:nvSpPr>
        <p:spPr>
          <a:xfrm>
            <a:off x="6043270" y="317487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56" name="Shape 56"/>
          <p:cNvSpPr txBox="1"/>
          <p:nvPr/>
        </p:nvSpPr>
        <p:spPr>
          <a:xfrm>
            <a:off x="6043270" y="279149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57" name="Shape 57"/>
          <p:cNvSpPr txBox="1"/>
          <p:nvPr/>
        </p:nvSpPr>
        <p:spPr>
          <a:xfrm>
            <a:off x="6043270" y="2408110"/>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58" name="Shape 58"/>
          <p:cNvSpPr txBox="1"/>
          <p:nvPr/>
        </p:nvSpPr>
        <p:spPr>
          <a:xfrm>
            <a:off x="6043270" y="202472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59" name="Shape 59"/>
          <p:cNvSpPr txBox="1"/>
          <p:nvPr/>
        </p:nvSpPr>
        <p:spPr>
          <a:xfrm>
            <a:off x="6043270" y="16413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cxnSp>
        <p:nvCxnSpPr>
          <p:cNvPr id="60" name="Line 60"/>
          <p:cNvCxnSpPr/>
          <p:nvPr/>
        </p:nvCxnSpPr>
        <p:spPr>
          <a:xfrm flipV="1">
            <a:off x="7173760" y="1732788"/>
            <a:ext cx="1803400" cy="3067050"/>
          </a:xfrm>
          <a:prstGeom prst="line">
            <a:avLst/>
          </a:prstGeom>
          <a:ln w="38100" cap="rnd">
            <a:solidFill>
              <a:srgbClr val="16171D"/>
            </a:solidFill>
          </a:ln>
        </p:spPr>
      </p:cxnSp>
      <p:sp>
        <p:nvSpPr>
          <p:cNvPr id="61" name="Shape 61"/>
          <p:cNvSpPr txBox="1"/>
          <p:nvPr/>
        </p:nvSpPr>
        <p:spPr>
          <a:xfrm>
            <a:off x="6485420" y="1751838"/>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j(x)</a:t>
            </a:r>
            <a:endParaRPr lang="en-US" sz="1275" dirty="0"/>
          </a:p>
        </p:txBody>
      </p:sp>
      <p:cxnSp>
        <p:nvCxnSpPr>
          <p:cNvPr id="62" name="Line 62"/>
          <p:cNvCxnSpPr/>
          <p:nvPr/>
        </p:nvCxnSpPr>
        <p:spPr>
          <a:xfrm flipV="1">
            <a:off x="6722910" y="1732788"/>
            <a:ext cx="1803400" cy="3067050"/>
          </a:xfrm>
          <a:prstGeom prst="line">
            <a:avLst/>
          </a:prstGeom>
          <a:ln w="38100" cap="rnd">
            <a:solidFill>
              <a:srgbClr val="4F8A3C"/>
            </a:solidFill>
          </a:ln>
        </p:spPr>
      </p:cxnSp>
      <p:sp>
        <p:nvSpPr>
          <p:cNvPr id="63" name="Shape 63"/>
          <p:cNvSpPr txBox="1"/>
          <p:nvPr/>
        </p:nvSpPr>
        <p:spPr>
          <a:xfrm>
            <a:off x="6034570" y="1751838"/>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q(x)</a:t>
            </a:r>
            <a:endParaRPr lang="en-US" sz="1275" dirty="0"/>
          </a:p>
        </p:txBody>
      </p:sp>
      <p:cxnSp>
        <p:nvCxnSpPr>
          <p:cNvPr id="64" name="Line 64"/>
          <p:cNvCxnSpPr/>
          <p:nvPr/>
        </p:nvCxnSpPr>
        <p:spPr>
          <a:xfrm flipV="1">
            <a:off x="6610198" y="1732788"/>
            <a:ext cx="1465262" cy="2491978"/>
          </a:xfrm>
          <a:prstGeom prst="line">
            <a:avLst/>
          </a:prstGeom>
          <a:ln w="38100" cap="rnd">
            <a:solidFill>
              <a:srgbClr val="7A4FC4"/>
            </a:solidFill>
          </a:ln>
        </p:spPr>
      </p:cxnSp>
      <p:sp>
        <p:nvSpPr>
          <p:cNvPr id="65" name="Shape 65"/>
          <p:cNvSpPr txBox="1"/>
          <p:nvPr/>
        </p:nvSpPr>
        <p:spPr>
          <a:xfrm>
            <a:off x="5583720" y="1751838"/>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r(x)</a:t>
            </a:r>
            <a:endParaRPr lang="en-US" sz="1275" dirty="0"/>
          </a:p>
        </p:txBody>
      </p:sp>
      <p:sp>
        <p:nvSpPr>
          <p:cNvPr id="66" name="Slide Number 6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16</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ppt_w</p:attrName>
                                        </p:attrNameLst>
                                      </p:cBhvr>
                                      <p:tavLst>
                                        <p:tav tm="0">
                                          <p:val>
                                            <p:fltVal val="0"/>
                                          </p:val>
                                        </p:tav>
                                        <p:tav tm="100000">
                                          <p:val>
                                            <p:strVal val="#ppt_w"/>
                                          </p:val>
                                        </p:tav>
                                      </p:tavLst>
                                    </p:anim>
                                    <p:anim calcmode="lin" valueType="num">
                                      <p:cBhvr>
                                        <p:cTn id="13" dur="500" fill="hold"/>
                                        <p:tgtEl>
                                          <p:spTgt spid="6"/>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500"/>
                                        <p:tgtEl>
                                          <p:spTgt spid="8"/>
                                        </p:tgtEl>
                                      </p:cBhvr>
                                    </p:animEffect>
                                    <p:anim calcmode="lin" valueType="num">
                                      <p:cBhvr>
                                        <p:cTn id="19" dur="500" fill="hold"/>
                                        <p:tgtEl>
                                          <p:spTgt spid="8"/>
                                        </p:tgtEl>
                                        <p:attrNameLst>
                                          <p:attrName>ppt_w</p:attrName>
                                        </p:attrNameLst>
                                      </p:cBhvr>
                                      <p:tavLst>
                                        <p:tav tm="0">
                                          <p:val>
                                            <p:fltVal val="0"/>
                                          </p:val>
                                        </p:tav>
                                        <p:tav tm="100000">
                                          <p:val>
                                            <p:strVal val="#ppt_w"/>
                                          </p:val>
                                        </p:tav>
                                      </p:tavLst>
                                    </p:anim>
                                    <p:anim calcmode="lin" valueType="num">
                                      <p:cBhvr>
                                        <p:cTn id="20" dur="500" fill="hold"/>
                                        <p:tgtEl>
                                          <p:spTgt spid="8"/>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500"/>
                                        <p:tgtEl>
                                          <p:spTgt spid="9"/>
                                        </p:tgtEl>
                                      </p:cBhvr>
                                    </p:animEffect>
                                    <p:anim calcmode="lin" valueType="num">
                                      <p:cBhvr>
                                        <p:cTn id="26" dur="500" fill="hold"/>
                                        <p:tgtEl>
                                          <p:spTgt spid="9"/>
                                        </p:tgtEl>
                                        <p:attrNameLst>
                                          <p:attrName>ppt_w</p:attrName>
                                        </p:attrNameLst>
                                      </p:cBhvr>
                                      <p:tavLst>
                                        <p:tav tm="0">
                                          <p:val>
                                            <p:fltVal val="0"/>
                                          </p:val>
                                        </p:tav>
                                        <p:tav tm="100000">
                                          <p:val>
                                            <p:strVal val="#ppt_w"/>
                                          </p:val>
                                        </p:tav>
                                      </p:tavLst>
                                    </p:anim>
                                    <p:anim calcmode="lin" valueType="num">
                                      <p:cBhvr>
                                        <p:cTn id="27"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10"/>
                                        </p:tgtEl>
                                        <p:attrNameLst>
                                          <p:attrName>style.visibility</p:attrName>
                                        </p:attrNameLst>
                                      </p:cBhvr>
                                      <p:to>
                                        <p:strVal val="visible"/>
                                      </p:to>
                                    </p:set>
                                    <p:animEffect transition="in" filter="fade">
                                      <p:cBhvr>
                                        <p:cTn id="32" dur="500"/>
                                        <p:tgtEl>
                                          <p:spTgt spid="10"/>
                                        </p:tgtEl>
                                      </p:cBhvr>
                                    </p:animEffect>
                                    <p:anim calcmode="lin" valueType="num">
                                      <p:cBhvr>
                                        <p:cTn id="33" dur="500" fill="hold"/>
                                        <p:tgtEl>
                                          <p:spTgt spid="10"/>
                                        </p:tgtEl>
                                        <p:attrNameLst>
                                          <p:attrName>ppt_x</p:attrName>
                                        </p:attrNameLst>
                                      </p:cBhvr>
                                      <p:tavLst>
                                        <p:tav tm="0">
                                          <p:val>
                                            <p:strVal val="#ppt_x"/>
                                          </p:val>
                                        </p:tav>
                                        <p:tav tm="100000">
                                          <p:val>
                                            <p:strVal val="#ppt_x"/>
                                          </p:val>
                                        </p:tav>
                                      </p:tavLst>
                                    </p:anim>
                                    <p:anim calcmode="lin" valueType="num">
                                      <p:cBhvr>
                                        <p:cTn id="34" dur="500" fill="hold"/>
                                        <p:tgtEl>
                                          <p:spTgt spid="10"/>
                                        </p:tgtEl>
                                        <p:attrNameLst>
                                          <p:attrName>ppt_y</p:attrName>
                                        </p:attrNameLst>
                                      </p:cBhvr>
                                      <p:tavLst>
                                        <p:tav tm="0">
                                          <p:val>
                                            <p:strVal val="#ppt_y+.1"/>
                                          </p:val>
                                        </p:tav>
                                        <p:tav tm="100000">
                                          <p:val>
                                            <p:strVal val="#ppt_y"/>
                                          </p:val>
                                        </p:tav>
                                      </p:tavLst>
                                    </p:anim>
                                  </p:childTnLst>
                                </p:cTn>
                              </p:par>
                            </p:childTnLst>
                          </p:cTn>
                        </p:par>
                      </p:childTnLst>
                    </p:cTn>
                  </p:par>
                  <p:par>
                    <p:cTn id="44" fill="hold">
                      <p:stCondLst>
                        <p:cond delay="indefinite"/>
                      </p:stCondLst>
                      <p:childTnLst>
                        <p:par>
                          <p:cTn id="45" fill="hold">
                            <p:stCondLst>
                              <p:cond delay="0"/>
                            </p:stCondLst>
                            <p:childTnLst>
                              <p:par>
                                <p:cTn id="40" presetID="22" presetClass="entr" presetSubtype="8" fill="hold" nodeType="clickEffect">
                                  <p:stCondLst>
                                    <p:cond delay="0"/>
                                  </p:stCondLst>
                                  <p:childTnLst>
                                    <p:set>
                                      <p:cBhvr>
                                        <p:cTn id="38" dur="1" fill="hold">
                                          <p:stCondLst>
                                            <p:cond delay="0"/>
                                          </p:stCondLst>
                                        </p:cTn>
                                        <p:tgtEl>
                                          <p:spTgt spid="62"/>
                                        </p:tgtEl>
                                        <p:attrNameLst>
                                          <p:attrName>style.visibility</p:attrName>
                                        </p:attrNameLst>
                                      </p:cBhvr>
                                      <p:to>
                                        <p:strVal val="visible"/>
                                      </p:to>
                                    </p:set>
                                    <p:animEffect transition="in" filter="wipe(left)">
                                      <p:cBhvr>
                                        <p:cTn id="39" dur="700"/>
                                        <p:tgtEl>
                                          <p:spTgt spid="62"/>
                                        </p:tgtEl>
                                      </p:cBhvr>
                                    </p:animEffect>
                                  </p:childTnLst>
                                </p:cTn>
                              </p:par>
                              <p:par>
                                <p:cTn id="43" presetID="22" presetClass="entr" presetSubtype="8" fill="hold" nodeType="withEffect">
                                  <p:stCondLst>
                                    <p:cond delay="0"/>
                                  </p:stCondLst>
                                  <p:childTnLst>
                                    <p:set>
                                      <p:cBhvr>
                                        <p:cTn id="41" dur="1" fill="hold">
                                          <p:stCondLst>
                                            <p:cond delay="0"/>
                                          </p:stCondLst>
                                        </p:cTn>
                                        <p:tgtEl>
                                          <p:spTgt spid="63"/>
                                        </p:tgtEl>
                                        <p:attrNameLst>
                                          <p:attrName>style.visibility</p:attrName>
                                        </p:attrNameLst>
                                      </p:cBhvr>
                                      <p:to>
                                        <p:strVal val="visible"/>
                                      </p:to>
                                    </p:set>
                                    <p:animEffect transition="in" filter="wipe(left)">
                                      <p:cBhvr>
                                        <p:cTn id="42" dur="700"/>
                                        <p:tgtEl>
                                          <p:spTgt spid="63"/>
                                        </p:tgtEl>
                                      </p:cBhvr>
                                    </p:animEffect>
                                  </p:childTnLst>
                                </p:cTn>
                              </p:par>
                            </p:childTnLst>
                          </p:cTn>
                        </p:par>
                      </p:childTnLst>
                    </p:cTn>
                  </p:par>
                  <p:par>
                    <p:cTn id="52" fill="hold">
                      <p:stCondLst>
                        <p:cond delay="indefinite"/>
                      </p:stCondLst>
                      <p:childTnLst>
                        <p:par>
                          <p:cTn id="53" fill="hold">
                            <p:stCondLst>
                              <p:cond delay="0"/>
                            </p:stCondLst>
                            <p:childTnLst>
                              <p:par>
                                <p:cTn id="48" presetID="22" presetClass="entr" presetSubtype="8" fill="hold" nodeType="clickEffect">
                                  <p:stCondLst>
                                    <p:cond delay="0"/>
                                  </p:stCondLst>
                                  <p:childTnLst>
                                    <p:set>
                                      <p:cBhvr>
                                        <p:cTn id="46" dur="1" fill="hold">
                                          <p:stCondLst>
                                            <p:cond delay="0"/>
                                          </p:stCondLst>
                                        </p:cTn>
                                        <p:tgtEl>
                                          <p:spTgt spid="64"/>
                                        </p:tgtEl>
                                        <p:attrNameLst>
                                          <p:attrName>style.visibility</p:attrName>
                                        </p:attrNameLst>
                                      </p:cBhvr>
                                      <p:to>
                                        <p:strVal val="visible"/>
                                      </p:to>
                                    </p:set>
                                    <p:animEffect transition="in" filter="wipe(left)">
                                      <p:cBhvr>
                                        <p:cTn id="47" dur="700"/>
                                        <p:tgtEl>
                                          <p:spTgt spid="64"/>
                                        </p:tgtEl>
                                      </p:cBhvr>
                                    </p:animEffect>
                                  </p:childTnLst>
                                </p:cTn>
                              </p:par>
                              <p:par>
                                <p:cTn id="51" presetID="22" presetClass="entr" presetSubtype="8" fill="hold" nodeType="withEffect">
                                  <p:stCondLst>
                                    <p:cond delay="0"/>
                                  </p:stCondLst>
                                  <p:childTnLst>
                                    <p:set>
                                      <p:cBhvr>
                                        <p:cTn id="49" dur="1" fill="hold">
                                          <p:stCondLst>
                                            <p:cond delay="0"/>
                                          </p:stCondLst>
                                        </p:cTn>
                                        <p:tgtEl>
                                          <p:spTgt spid="65"/>
                                        </p:tgtEl>
                                        <p:attrNameLst>
                                          <p:attrName>style.visibility</p:attrName>
                                        </p:attrNameLst>
                                      </p:cBhvr>
                                      <p:to>
                                        <p:strVal val="visible"/>
                                      </p:to>
                                    </p:set>
                                    <p:animEffect transition="in" filter="wipe(left)">
                                      <p:cBhvr>
                                        <p:cTn id="50" dur="700"/>
                                        <p:tgtEl>
                                          <p:spTgt spid="6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2.1 · Summary · ★ Essential</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Translations of linear functions</a:t>
            </a:r>
            <a:endParaRPr lang="en-US" sz="3450" dirty="0"/>
          </a:p>
        </p:txBody>
      </p:sp>
      <p:sp>
        <p:nvSpPr>
          <p:cNvPr id="4" name="Shape 4"/>
          <p:cNvSpPr txBox="1"/>
          <p:nvPr/>
        </p:nvSpPr>
        <p:spPr>
          <a:xfrm>
            <a:off x="685800" y="1713738"/>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Inside the parentheses changes the </a:t>
            </a:r>
            <a:r>
              <a:rPr lang="en-US" sz="1950" dirty="0" b="1">
                <a:solidFill>
                  <a:srgbClr val="16171D"/>
                </a:solidFill>
                <a:latin typeface="Segoe UI"/>
                <a:cs typeface="Segoe UI"/>
              </a:rPr>
              <a:t xml:space="preserve">input</a:t>
            </a:r>
            <a:r>
              <a:rPr lang="en-US" sz="1950" dirty="0">
                <a:solidFill>
                  <a:srgbClr val="16171D"/>
                </a:solidFill>
                <a:latin typeface="Segoe UI"/>
                <a:cs typeface="Segoe UI"/>
              </a:rPr>
              <a:t xml:space="preserve"> (horizontal); outside changes the </a:t>
            </a:r>
            <a:r>
              <a:rPr lang="en-US" sz="1950" dirty="0" b="1">
                <a:solidFill>
                  <a:srgbClr val="16171D"/>
                </a:solidFill>
                <a:latin typeface="Segoe UI"/>
                <a:cs typeface="Segoe UI"/>
              </a:rPr>
              <a:t xml:space="preserve">output</a:t>
            </a:r>
            <a:r>
              <a:rPr lang="en-US" sz="1950" dirty="0">
                <a:solidFill>
                  <a:srgbClr val="16171D"/>
                </a:solidFill>
                <a:latin typeface="Segoe UI"/>
                <a:cs typeface="Segoe UI"/>
              </a:rPr>
              <a:t xml:space="preserve"> (vertical).</a:t>
            </a:r>
            <a:endParaRPr lang="en-US" sz="1950" dirty="0"/>
          </a:p>
        </p:txBody>
      </p:sp>
      <p:sp>
        <p:nvSpPr>
          <p:cNvPr id="5" name="Shape 5"/>
          <p:cNvSpPr txBox="1"/>
          <p:nvPr/>
        </p:nvSpPr>
        <p:spPr>
          <a:xfrm>
            <a:off x="685800" y="2572512"/>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c</a:t>
            </a:r>
            <a:r>
              <a:rPr lang="en-US" sz="1950" dirty="0">
                <a:solidFill>
                  <a:srgbClr val="16171D"/>
                </a:solidFill>
                <a:latin typeface="Cambria"/>
                <a:cs typeface="Cambria"/>
              </a:rPr>
              <a:t xml:space="preserve">)</a:t>
            </a:r>
            <a:r>
              <a:rPr lang="en-US" sz="1950" dirty="0">
                <a:solidFill>
                  <a:srgbClr val="16171D"/>
                </a:solidFill>
                <a:latin typeface="Segoe UI"/>
                <a:cs typeface="Segoe UI"/>
              </a:rPr>
              <a:t xml:space="preserve"> moves right </a:t>
            </a:r>
            <a:r>
              <a:rPr lang="en-US" sz="1950" dirty="0" i="1">
                <a:solidFill>
                  <a:srgbClr val="16171D"/>
                </a:solidFill>
                <a:latin typeface="Cambria"/>
                <a:cs typeface="Cambria"/>
              </a:rPr>
              <a:t xml:space="preserve">c</a:t>
            </a:r>
            <a:r>
              <a:rPr lang="en-US" sz="1950" dirty="0">
                <a:solidFill>
                  <a:srgbClr val="16171D"/>
                </a:solidFill>
                <a:latin typeface="Segoe UI"/>
                <a:cs typeface="Segoe UI"/>
              </a:rPr>
              <a:t xml:space="preserve">; the sign flips.</a:t>
            </a:r>
            <a:endParaRPr lang="en-US" sz="1950" dirty="0"/>
          </a:p>
        </p:txBody>
      </p:sp>
      <p:sp>
        <p:nvSpPr>
          <p:cNvPr id="6" name="Shape 6"/>
          <p:cNvSpPr txBox="1"/>
          <p:nvPr/>
        </p:nvSpPr>
        <p:spPr>
          <a:xfrm>
            <a:off x="685800" y="313410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Only for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x</a:t>
            </a:r>
            <a:r>
              <a:rPr lang="en-US" sz="1950" dirty="0">
                <a:solidFill>
                  <a:srgbClr val="16171D"/>
                </a:solidFill>
                <a:latin typeface="Segoe UI"/>
                <a:cs typeface="Segoe UI"/>
              </a:rPr>
              <a:t xml:space="preserve"> does right </a:t>
            </a:r>
            <a:r>
              <a:rPr lang="en-US" sz="1950" dirty="0" i="1">
                <a:solidFill>
                  <a:srgbClr val="16171D"/>
                </a:solidFill>
                <a:latin typeface="Cambria"/>
                <a:cs typeface="Cambria"/>
              </a:rPr>
              <a:t xml:space="preserve">n</a:t>
            </a:r>
            <a:r>
              <a:rPr lang="en-US" sz="1950" dirty="0">
                <a:solidFill>
                  <a:srgbClr val="16171D"/>
                </a:solidFill>
                <a:latin typeface="Segoe UI"/>
                <a:cs typeface="Segoe UI"/>
              </a:rPr>
              <a:t xml:space="preserve"> match down </a:t>
            </a:r>
            <a:r>
              <a:rPr lang="en-US" sz="1950" dirty="0" i="1">
                <a:solidFill>
                  <a:srgbClr val="16171D"/>
                </a:solidFill>
                <a:latin typeface="Cambria"/>
                <a:cs typeface="Cambria"/>
              </a:rPr>
              <a:t xml:space="preserve">n</a:t>
            </a:r>
            <a:r>
              <a:rPr lang="en-US" sz="1950" dirty="0">
                <a:solidFill>
                  <a:srgbClr val="16171D"/>
                </a:solidFill>
                <a:latin typeface="Segoe UI"/>
                <a:cs typeface="Segoe UI"/>
              </a:rPr>
              <a:t xml:space="preserve">.</a:t>
            </a:r>
            <a:endParaRPr lang="en-US" sz="1950" dirty="0"/>
          </a:p>
        </p:txBody>
      </p:sp>
      <p:sp>
        <p:nvSpPr>
          <p:cNvPr id="7" name="Slide Number 7"/>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17</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500"/>
                                        <p:tgtEl>
                                          <p:spTgt spid="5"/>
                                        </p:tgtEl>
                                      </p:cBhvr>
                                    </p:animEffect>
                                    <p:anim calcmode="lin" valueType="num">
                                      <p:cBhvr>
                                        <p:cTn id="12" dur="500" fill="hold"/>
                                        <p:tgtEl>
                                          <p:spTgt spid="5"/>
                                        </p:tgtEl>
                                        <p:attrNameLst>
                                          <p:attrName>ppt_x</p:attrName>
                                        </p:attrNameLst>
                                      </p:cBhvr>
                                      <p:tavLst>
                                        <p:tav tm="0">
                                          <p:val>
                                            <p:strVal val="#ppt_x"/>
                                          </p:val>
                                        </p:tav>
                                        <p:tav tm="100000">
                                          <p:val>
                                            <p:strVal val="#ppt_x"/>
                                          </p:val>
                                        </p:tav>
                                      </p:tavLst>
                                    </p:anim>
                                    <p:anim calcmode="lin" valueType="num">
                                      <p:cBhvr>
                                        <p:cTn id="13"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00"/>
                                        <p:tgtEl>
                                          <p:spTgt spid="6"/>
                                        </p:tgtEl>
                                      </p:cBhvr>
                                    </p:animEffect>
                                    <p:anim calcmode="lin" valueType="num">
                                      <p:cBhvr>
                                        <p:cTn id="19" dur="500" fill="hold"/>
                                        <p:tgtEl>
                                          <p:spTgt spid="6"/>
                                        </p:tgtEl>
                                        <p:attrNameLst>
                                          <p:attrName>ppt_x</p:attrName>
                                        </p:attrNameLst>
                                      </p:cBhvr>
                                      <p:tavLst>
                                        <p:tav tm="0">
                                          <p:val>
                                            <p:strVal val="#ppt_x"/>
                                          </p:val>
                                        </p:tav>
                                        <p:tav tm="100000">
                                          <p:val>
                                            <p:strVal val="#ppt_x"/>
                                          </p:val>
                                        </p:tav>
                                      </p:tavLst>
                                    </p:anim>
                                    <p:anim calcmode="lin" valueType="num">
                                      <p:cBhvr>
                                        <p:cTn id="20" dur="500" fill="hold"/>
                                        <p:tgtEl>
                                          <p:spTgt spid="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Notes to Keep</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Notes to keep: Day 1</a:t>
            </a:r>
            <a:endParaRPr lang="en-US" sz="3450" dirty="0"/>
          </a:p>
        </p:txBody>
      </p:sp>
      <p:sp>
        <p:nvSpPr>
          <p:cNvPr id="7" name="Shape 7"/>
          <p:cNvSpPr txBox="1"/>
          <p:nvPr/>
        </p:nvSpPr>
        <p:spPr>
          <a:xfrm>
            <a:off x="685800" y="1618488"/>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Horizontal</a:t>
            </a:r>
            <a:endParaRPr lang="en-US" sz="2100" dirty="0"/>
          </a:p>
        </p:txBody>
      </p:sp>
      <p:sp>
        <p:nvSpPr>
          <p:cNvPr id="5" name="Shape 5"/>
          <p:cNvSpPr txBox="1"/>
          <p:nvPr/>
        </p:nvSpPr>
        <p:spPr>
          <a:xfrm>
            <a:off x="895350" y="2260092"/>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b="1" i="1">
                <a:solidFill>
                  <a:srgbClr val="3050B8"/>
                </a:solidFill>
                <a:latin typeface="Cambria"/>
                <a:cs typeface="Cambria"/>
              </a:rPr>
              <a:t xml:space="preserve">c</a:t>
            </a:r>
            <a:r>
              <a:rPr lang="en-US" sz="2325" dirty="0">
                <a:solidFill>
                  <a:srgbClr val="16171D"/>
                </a:solidFill>
                <a:latin typeface="Cambria"/>
                <a:cs typeface="Cambria"/>
              </a:rPr>
              <a:t xml:space="preserve">)</a:t>
            </a:r>
            <a:endParaRPr lang="en-US" sz="2325" dirty="0"/>
          </a:p>
        </p:txBody>
      </p:sp>
      <p:sp>
        <p:nvSpPr>
          <p:cNvPr id="6" name="Shape 6"/>
          <p:cNvSpPr txBox="1"/>
          <p:nvPr/>
        </p:nvSpPr>
        <p:spPr>
          <a:xfrm>
            <a:off x="895350" y="2764536"/>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Right </a:t>
            </a:r>
            <a:r>
              <a:rPr lang="en-US" sz="1575" dirty="0" i="1">
                <a:solidFill>
                  <a:srgbClr val="16171D"/>
                </a:solidFill>
                <a:latin typeface="Segoe UI"/>
                <a:cs typeface="Segoe UI"/>
              </a:rPr>
              <a:t xml:space="preserve">c</a:t>
            </a:r>
            <a:r>
              <a:rPr lang="en-US" sz="1575" dirty="0">
                <a:solidFill>
                  <a:srgbClr val="16171D"/>
                </a:solidFill>
                <a:latin typeface="Segoe UI"/>
                <a:cs typeface="Segoe UI"/>
              </a:rPr>
              <a:t xml:space="preserve">. The sign flips: </a:t>
            </a:r>
            <a:r>
              <a:rPr lang="en-US" sz="1575" dirty="0" i="1">
                <a:solidFill>
                  <a:srgbClr val="16171D"/>
                </a:solidFill>
                <a:latin typeface="Segoe UI"/>
                <a:cs typeface="Segoe UI"/>
              </a:rPr>
              <a:t xml:space="preserve">f</a:t>
            </a:r>
            <a:r>
              <a:rPr lang="en-US" sz="1575" dirty="0">
                <a:solidFill>
                  <a:srgbClr val="16171D"/>
                </a:solidFill>
                <a:latin typeface="Segoe UI"/>
                <a:cs typeface="Segoe UI"/>
              </a:rPr>
              <a:t xml:space="preserve">(</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+ 3) is left 3.</a:t>
            </a:r>
            <a:endParaRPr lang="en-US" sz="1575" dirty="0"/>
          </a:p>
        </p:txBody>
      </p:sp>
      <p:sp>
        <p:nvSpPr>
          <p:cNvPr id="11" name="Shape 11"/>
          <p:cNvSpPr txBox="1"/>
          <p:nvPr/>
        </p:nvSpPr>
        <p:spPr>
          <a:xfrm>
            <a:off x="4349648" y="1618488"/>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4559198"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Vertical</a:t>
            </a:r>
            <a:endParaRPr lang="en-US" sz="2100" dirty="0"/>
          </a:p>
        </p:txBody>
      </p:sp>
      <p:sp>
        <p:nvSpPr>
          <p:cNvPr id="9" name="Shape 9"/>
          <p:cNvSpPr txBox="1"/>
          <p:nvPr/>
        </p:nvSpPr>
        <p:spPr>
          <a:xfrm>
            <a:off x="4559198" y="2260092"/>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b="1" i="1">
                <a:solidFill>
                  <a:srgbClr val="3050B8"/>
                </a:solidFill>
                <a:latin typeface="Cambria"/>
                <a:cs typeface="Cambria"/>
              </a:rPr>
              <a:t xml:space="preserve">d</a:t>
            </a:r>
            <a:endParaRPr lang="en-US" sz="2325" dirty="0"/>
          </a:p>
        </p:txBody>
      </p:sp>
      <p:sp>
        <p:nvSpPr>
          <p:cNvPr id="10" name="Shape 10"/>
          <p:cNvSpPr txBox="1"/>
          <p:nvPr/>
        </p:nvSpPr>
        <p:spPr>
          <a:xfrm>
            <a:off x="4559198" y="2764536"/>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Up </a:t>
            </a:r>
            <a:r>
              <a:rPr lang="en-US" sz="1575" dirty="0" i="1">
                <a:solidFill>
                  <a:srgbClr val="16171D"/>
                </a:solidFill>
                <a:latin typeface="Segoe UI"/>
                <a:cs typeface="Segoe UI"/>
              </a:rPr>
              <a:t xml:space="preserve">d</a:t>
            </a:r>
            <a:r>
              <a:rPr lang="en-US" sz="1575" dirty="0">
                <a:solidFill>
                  <a:srgbClr val="16171D"/>
                </a:solidFill>
                <a:latin typeface="Segoe UI"/>
                <a:cs typeface="Segoe UI"/>
              </a:rPr>
              <a:t xml:space="preserve">. No sign flip.</a:t>
            </a:r>
            <a:endParaRPr lang="en-US" sz="1575" dirty="0"/>
          </a:p>
        </p:txBody>
      </p:sp>
      <p:sp>
        <p:nvSpPr>
          <p:cNvPr id="14" name="Shape 14"/>
          <p:cNvSpPr txBox="1"/>
          <p:nvPr/>
        </p:nvSpPr>
        <p:spPr>
          <a:xfrm>
            <a:off x="8013497" y="1618488"/>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2" name="Shape 12"/>
          <p:cNvSpPr txBox="1"/>
          <p:nvPr/>
        </p:nvSpPr>
        <p:spPr>
          <a:xfrm>
            <a:off x="8223047"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Only for </a:t>
            </a:r>
            <a:r>
              <a:rPr lang="en-US" sz="2100" dirty="0" b="1" i="1">
                <a:solidFill>
                  <a:srgbClr val="16171D"/>
                </a:solidFill>
                <a:latin typeface="Segoe UI"/>
                <a:cs typeface="Segoe UI"/>
              </a:rPr>
              <a:t xml:space="preserve">f</a:t>
            </a:r>
            <a:r>
              <a:rPr lang="en-US" sz="2100" dirty="0" b="1">
                <a:solidFill>
                  <a:srgbClr val="16171D"/>
                </a:solidFill>
                <a:latin typeface="Segoe UI"/>
                <a:cs typeface="Segoe UI"/>
              </a:rPr>
              <a:t xml:space="preserve">(</a:t>
            </a:r>
            <a:r>
              <a:rPr lang="en-US" sz="2100" dirty="0" b="1" i="1">
                <a:solidFill>
                  <a:srgbClr val="16171D"/>
                </a:solidFill>
                <a:latin typeface="Segoe UI"/>
                <a:cs typeface="Segoe UI"/>
              </a:rPr>
              <a:t xml:space="preserve">x</a:t>
            </a:r>
            <a:r>
              <a:rPr lang="en-US" sz="2100" dirty="0" b="1">
                <a:solidFill>
                  <a:srgbClr val="16171D"/>
                </a:solidFill>
                <a:latin typeface="Segoe UI"/>
                <a:cs typeface="Segoe UI"/>
              </a:rPr>
              <a:t xml:space="preserve">) = </a:t>
            </a:r>
            <a:r>
              <a:rPr lang="en-US" sz="2100" dirty="0" b="1" i="1">
                <a:solidFill>
                  <a:srgbClr val="16171D"/>
                </a:solidFill>
                <a:latin typeface="Segoe UI"/>
                <a:cs typeface="Segoe UI"/>
              </a:rPr>
              <a:t xml:space="preserve">x</a:t>
            </a:r>
            <a:endParaRPr lang="en-US" sz="2100" dirty="0"/>
          </a:p>
        </p:txBody>
      </p:sp>
      <p:sp>
        <p:nvSpPr>
          <p:cNvPr id="13" name="Shape 13"/>
          <p:cNvSpPr txBox="1"/>
          <p:nvPr/>
        </p:nvSpPr>
        <p:spPr>
          <a:xfrm>
            <a:off x="8223047" y="226009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Right </a:t>
            </a:r>
            <a:r>
              <a:rPr lang="en-US" sz="1575" dirty="0" i="1">
                <a:solidFill>
                  <a:srgbClr val="16171D"/>
                </a:solidFill>
                <a:latin typeface="Segoe UI"/>
                <a:cs typeface="Segoe UI"/>
              </a:rPr>
              <a:t xml:space="preserve">n</a:t>
            </a:r>
            <a:r>
              <a:rPr lang="en-US" sz="1575" dirty="0">
                <a:solidFill>
                  <a:srgbClr val="16171D"/>
                </a:solidFill>
                <a:latin typeface="Segoe UI"/>
                <a:cs typeface="Segoe UI"/>
              </a:rPr>
              <a:t xml:space="preserve"> is the same as down </a:t>
            </a:r>
            <a:r>
              <a:rPr lang="en-US" sz="1575" dirty="0" i="1">
                <a:solidFill>
                  <a:srgbClr val="16171D"/>
                </a:solidFill>
                <a:latin typeface="Segoe UI"/>
                <a:cs typeface="Segoe UI"/>
              </a:rPr>
              <a:t xml:space="preserve">n</a:t>
            </a:r>
            <a:r>
              <a:rPr lang="en-US" sz="1575" dirty="0">
                <a:solidFill>
                  <a:srgbClr val="16171D"/>
                </a:solidFill>
                <a:latin typeface="Segoe UI"/>
                <a:cs typeface="Segoe UI"/>
              </a:rPr>
              <a:t xml:space="preserve">. Not for other lines.</a:t>
            </a:r>
            <a:endParaRPr lang="en-US" sz="1575" dirty="0"/>
          </a:p>
        </p:txBody>
      </p:sp>
      <p:sp>
        <p:nvSpPr>
          <p:cNvPr id="15" name="Shape 15"/>
          <p:cNvSpPr txBox="1"/>
          <p:nvPr/>
        </p:nvSpPr>
        <p:spPr>
          <a:xfrm>
            <a:off x="685800" y="3642360"/>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Copy these into your notes, or ask your teacher for a printed copy.</a:t>
            </a:r>
            <a:endParaRPr lang="en-US" sz="1575" dirty="0"/>
          </a:p>
        </p:txBody>
      </p:sp>
      <p:sp>
        <p:nvSpPr>
          <p:cNvPr id="16" name="Slide Number 1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18</a:t>
            </a:fld>
          </a:p>
        </p:txBody>
      </p:sp>
    </p:spTree>
  </p:cSld>
  <p:clrMapOvr>
    <a:masterClrMapping/>
  </p:clrMapOvr>
  <p:transition spd="med">
    <p:fade/>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2 · End of Day 1</a:t>
            </a:r>
            <a:endParaRPr lang="en-US" sz="1200" dirty="0"/>
          </a:p>
        </p:txBody>
      </p:sp>
      <p:sp>
        <p:nvSpPr>
          <p:cNvPr id="3" name="Shape 3"/>
          <p:cNvSpPr txBox="1"/>
          <p:nvPr/>
        </p:nvSpPr>
        <p:spPr>
          <a:xfrm>
            <a:off x="685800" y="2512314"/>
            <a:ext cx="10820095" cy="25694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Stop here: Monday, October 26</a:t>
            </a:r>
            <a:endParaRPr lang="en-US" sz="8250" dirty="0"/>
          </a:p>
        </p:txBody>
      </p:sp>
      <p:sp>
        <p:nvSpPr>
          <p:cNvPr id="4" name="Shape 4"/>
          <p:cNvSpPr txBox="1"/>
          <p:nvPr/>
        </p:nvSpPr>
        <p:spPr>
          <a:xfrm>
            <a:off x="685800" y="5253228"/>
            <a:ext cx="10820095" cy="10835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Next class: Tuesday, October 27. Lesson 3 starts: open the Lesson 3 deck. (Monday is the Catch-Up Day deck; use the next slide only if you get an extra Lesson 2 day.)</a:t>
            </a:r>
            <a:endParaRPr lang="en-US" sz="2250" dirty="0"/>
          </a:p>
        </p:txBody>
      </p:sp>
      <p:sp>
        <p:nvSpPr>
          <p:cNvPr id="5" name="Slide Number 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19</a:t>
            </a:fld>
          </a:p>
        </p:txBody>
      </p:sp>
    </p:spTree>
  </p:cSld>
  <p:clrMapOvr>
    <a:masterClrMapping/>
  </p:clrMapOvr>
  <p:transition spd="med">
    <p:fade/>
  </p:transition>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9144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2 · Day 2 of 2 · Start here</a:t>
            </a:r>
            <a:endParaRPr lang="en-US" sz="1200" dirty="0"/>
          </a:p>
        </p:txBody>
      </p:sp>
      <p:sp>
        <p:nvSpPr>
          <p:cNvPr id="3" name="Shape 3"/>
          <p:cNvSpPr txBox="1"/>
          <p:nvPr/>
        </p:nvSpPr>
        <p:spPr>
          <a:xfrm>
            <a:off x="685800" y="1323594"/>
            <a:ext cx="10820095" cy="923544"/>
          </a:xfrm>
          <a:prstGeom prst="rect">
            <a:avLst/>
          </a:prstGeom>
          <a:noFill/>
          <a:ln>
            <a:noFill/>
          </a:ln>
        </p:spPr>
        <p:txBody>
          <a:bodyPr wrap="square" lIns="36576" tIns="27432" rIns="36576" bIns="27432" anchor="t">
            <a:noAutofit/>
          </a:bodyPr>
          <a:lstStyle/>
          <a:p>
            <a:pPr algn="l">
              <a:lnSpc>
                <a:spcPct val="100000"/>
              </a:lnSpc>
            </a:pPr>
            <a:r>
              <a:rPr lang="en-US" sz="5700" dirty="0" b="1">
                <a:solidFill>
                  <a:srgbClr val="16171D"/>
                </a:solidFill>
                <a:latin typeface="Segoe UI"/>
                <a:cs typeface="Segoe UI"/>
              </a:rPr>
              <a:t xml:space="preserve">Start: an extra Lesson 2 day</a:t>
            </a:r>
            <a:endParaRPr lang="en-US" sz="5700" dirty="0"/>
          </a:p>
        </p:txBody>
      </p:sp>
      <p:sp>
        <p:nvSpPr>
          <p:cNvPr id="4" name="Shape 4"/>
          <p:cNvSpPr txBox="1"/>
          <p:nvPr/>
        </p:nvSpPr>
        <p:spPr>
          <a:xfrm>
            <a:off x="685800" y="2418588"/>
            <a:ext cx="10820095" cy="374904"/>
          </a:xfrm>
          <a:prstGeom prst="rect">
            <a:avLst/>
          </a:prstGeom>
          <a:noFill/>
          <a:ln>
            <a:noFill/>
          </a:ln>
        </p:spPr>
        <p:txBody>
          <a:bodyPr wrap="square" lIns="36576" tIns="27432" rIns="36576" bIns="27432" anchor="t">
            <a:noAutofit/>
          </a:bodyPr>
          <a:lstStyle/>
          <a:p>
            <a:pPr algn="l">
              <a:lnSpc>
                <a:spcPct val="100000"/>
              </a:lnSpc>
            </a:pPr>
            <a:r>
              <a:rPr lang="en-US" sz="2100" dirty="0">
                <a:solidFill>
                  <a:srgbClr val="16171D"/>
                </a:solidFill>
                <a:latin typeface="Segoe UI"/>
                <a:cs typeface="Segoe UI"/>
              </a:rPr>
              <a:t xml:space="preserve">Today: bell work → Topic 1 catch-up (Linear or nonlinear?) → Lesson 2, Day 2.</a:t>
            </a:r>
            <a:endParaRPr lang="en-US" sz="2100" dirty="0"/>
          </a:p>
        </p:txBody>
      </p:sp>
      <p:sp>
        <p:nvSpPr>
          <p:cNvPr id="5" name="Shape 5"/>
          <p:cNvSpPr txBox="1"/>
          <p:nvPr/>
        </p:nvSpPr>
        <p:spPr>
          <a:xfrm>
            <a:off x="685800" y="2964942"/>
            <a:ext cx="10820095" cy="786384"/>
          </a:xfrm>
          <a:prstGeom prst="rect">
            <a:avLst/>
          </a:prstGeom>
          <a:noFill/>
          <a:ln>
            <a:noFill/>
          </a:ln>
        </p:spPr>
        <p:txBody>
          <a:bodyPr wrap="square" lIns="36576" tIns="27432" rIns="36576" bIns="27432" anchor="t">
            <a:noAutofit/>
          </a:bodyPr>
          <a:lstStyle/>
          <a:p>
            <a:pPr algn="l">
              <a:lnSpc>
                <a:spcPct val="100000"/>
              </a:lnSpc>
            </a:pPr>
            <a:r>
              <a:rPr lang="en-US" sz="2400" dirty="0">
                <a:solidFill>
                  <a:srgbClr val="16171D"/>
                </a:solidFill>
                <a:latin typeface="Segoe UI"/>
                <a:cs typeface="Segoe UI"/>
              </a:rPr>
              <a:t xml:space="preserve">Essential Question: What effect do horizontal transformations have on linear functions? How do they compare to vertical transformations?</a:t>
            </a:r>
            <a:endParaRPr lang="en-US" sz="2400" dirty="0"/>
          </a:p>
        </p:txBody>
      </p:sp>
      <p:sp>
        <p:nvSpPr>
          <p:cNvPr id="6" name="Slide Number 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20</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Bell Work · Review of Day 1 · extra day</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Warm up: work these on your own</a:t>
            </a:r>
            <a:endParaRPr lang="en-US" sz="3450" dirty="0"/>
          </a:p>
        </p:txBody>
      </p:sp>
      <p:sp>
        <p:nvSpPr>
          <p:cNvPr id="4" name="Shape 4"/>
          <p:cNvSpPr txBox="1"/>
          <p:nvPr/>
        </p:nvSpPr>
        <p:spPr>
          <a:xfrm>
            <a:off x="685800" y="1675638"/>
            <a:ext cx="5143348" cy="94640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x</a:t>
            </a:r>
            <a:r>
              <a:rPr lang="en-US" sz="1950" dirty="0">
                <a:solidFill>
                  <a:srgbClr val="16171D"/>
                </a:solidFill>
                <a:latin typeface="Segoe UI"/>
                <a:cs typeface="Segoe UI"/>
              </a:rPr>
              <a:t xml:space="preserve"> is translated right 5 units. Which equation is the new function? </a:t>
            </a:r>
            <a:r>
              <a:rPr lang="en-US" sz="1575" dirty="0">
                <a:solidFill>
                  <a:srgbClr val="5F6272"/>
                </a:solidFill>
                <a:latin typeface="Segoe UI"/>
                <a:cs typeface="Segoe UI"/>
              </a:rPr>
              <a:t xml:space="preserve">(SE p. 289)</a:t>
            </a:r>
            <a:endParaRPr lang="en-US" sz="1950" dirty="0"/>
          </a:p>
        </p:txBody>
      </p:sp>
      <p:sp>
        <p:nvSpPr>
          <p:cNvPr id="5" name="Shape 5"/>
          <p:cNvSpPr txBox="1"/>
          <p:nvPr/>
        </p:nvSpPr>
        <p:spPr>
          <a:xfrm>
            <a:off x="685800" y="2755392"/>
            <a:ext cx="514334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g</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− 5) =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− 5</a:t>
            </a:r>
            <a:endParaRPr lang="en-US" sz="2325" dirty="0"/>
          </a:p>
        </p:txBody>
      </p:sp>
      <p:sp>
        <p:nvSpPr>
          <p:cNvPr id="6" name="Shape 6"/>
          <p:cNvSpPr txBox="1"/>
          <p:nvPr/>
        </p:nvSpPr>
        <p:spPr>
          <a:xfrm>
            <a:off x="685800" y="3895344"/>
            <a:ext cx="5143348" cy="94640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For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x</a:t>
            </a:r>
            <a:r>
              <a:rPr lang="en-US" sz="1950" dirty="0">
                <a:solidFill>
                  <a:srgbClr val="16171D"/>
                </a:solidFill>
                <a:latin typeface="Segoe UI"/>
                <a:cs typeface="Segoe UI"/>
              </a:rPr>
              <a:t xml:space="preserve">, a translation right 5 gives the same graph as which other translation? </a:t>
            </a:r>
            <a:r>
              <a:rPr lang="en-US" sz="1575" dirty="0">
                <a:solidFill>
                  <a:srgbClr val="5F6272"/>
                </a:solidFill>
                <a:latin typeface="Segoe UI"/>
                <a:cs typeface="Segoe UI"/>
              </a:rPr>
              <a:t xml:space="preserve">(SE p. 291)</a:t>
            </a:r>
            <a:endParaRPr lang="en-US" sz="1950" dirty="0"/>
          </a:p>
        </p:txBody>
      </p:sp>
      <p:sp>
        <p:nvSpPr>
          <p:cNvPr id="7" name="Shape 7"/>
          <p:cNvSpPr txBox="1"/>
          <p:nvPr/>
        </p:nvSpPr>
        <p:spPr>
          <a:xfrm>
            <a:off x="685800" y="4975098"/>
            <a:ext cx="3902979"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Down 5 units</a:t>
            </a:r>
            <a:endParaRPr lang="en-US" sz="2325" dirty="0"/>
          </a:p>
        </p:txBody>
      </p:sp>
      <p:sp>
        <p:nvSpPr>
          <p:cNvPr id="8" name="Shape 8"/>
          <p:cNvSpPr txBox="1"/>
          <p:nvPr/>
        </p:nvSpPr>
        <p:spPr>
          <a:xfrm>
            <a:off x="6362548" y="1675638"/>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a:t>
            </a:r>
            <a:r>
              <a:rPr lang="en-US" sz="1950" dirty="0" i="1">
                <a:solidFill>
                  <a:srgbClr val="16171D"/>
                </a:solidFill>
                <a:latin typeface="Cambria"/>
                <a:cs typeface="Cambria"/>
              </a:rPr>
              <a:t xml:space="preserve">j</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2</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− 1</a:t>
            </a:r>
            <a:r>
              <a:rPr lang="en-US" sz="1950" dirty="0">
                <a:solidFill>
                  <a:srgbClr val="16171D"/>
                </a:solidFill>
                <a:latin typeface="Segoe UI"/>
                <a:cs typeface="Segoe UI"/>
              </a:rPr>
              <a:t xml:space="preserve"> and </a:t>
            </a:r>
            <a:r>
              <a:rPr lang="en-US" sz="1950" dirty="0" i="1">
                <a:solidFill>
                  <a:srgbClr val="16171D"/>
                </a:solidFill>
                <a:latin typeface="Cambria"/>
                <a:cs typeface="Cambria"/>
              </a:rPr>
              <a:t xml:space="preserve">r</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j</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+ 4)</a:t>
            </a:r>
            <a:r>
              <a:rPr lang="en-US" sz="1950" dirty="0">
                <a:solidFill>
                  <a:srgbClr val="16171D"/>
                </a:solidFill>
                <a:latin typeface="Segoe UI"/>
                <a:cs typeface="Segoe UI"/>
              </a:rPr>
              <a:t xml:space="preserve">. Simplify </a:t>
            </a:r>
            <a:r>
              <a:rPr lang="en-US" sz="1950" dirty="0" i="1">
                <a:solidFill>
                  <a:srgbClr val="16171D"/>
                </a:solidFill>
                <a:latin typeface="Cambria"/>
                <a:cs typeface="Cambria"/>
              </a:rPr>
              <a:t xml:space="preserve">r</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a:t>
            </a:r>
            <a:r>
              <a:rPr lang="en-US" sz="1950" dirty="0">
                <a:solidFill>
                  <a:srgbClr val="16171D"/>
                </a:solidFill>
                <a:latin typeface="Segoe UI"/>
                <a:cs typeface="Segoe UI"/>
              </a:rPr>
              <a:t xml:space="preserve">. </a:t>
            </a:r>
            <a:r>
              <a:rPr lang="en-US" sz="1575" dirty="0">
                <a:solidFill>
                  <a:srgbClr val="5F6272"/>
                </a:solidFill>
                <a:latin typeface="Segoe UI"/>
                <a:cs typeface="Segoe UI"/>
              </a:rPr>
              <a:t xml:space="preserve">(SE p. 292)</a:t>
            </a:r>
            <a:endParaRPr lang="en-US" sz="1950" dirty="0"/>
          </a:p>
        </p:txBody>
      </p:sp>
      <p:sp>
        <p:nvSpPr>
          <p:cNvPr id="9" name="Shape 9"/>
          <p:cNvSpPr txBox="1"/>
          <p:nvPr/>
        </p:nvSpPr>
        <p:spPr>
          <a:xfrm>
            <a:off x="6362548" y="2458212"/>
            <a:ext cx="406880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r</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+ 7</a:t>
            </a:r>
            <a:endParaRPr lang="en-US" sz="2325" dirty="0"/>
          </a:p>
        </p:txBody>
      </p:sp>
      <p:sp>
        <p:nvSpPr>
          <p:cNvPr id="10" name="Shape 10"/>
          <p:cNvSpPr txBox="1"/>
          <p:nvPr/>
        </p:nvSpPr>
        <p:spPr>
          <a:xfrm>
            <a:off x="6362548" y="3243834"/>
            <a:ext cx="5143348" cy="94640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4. The graph of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3</a:t>
            </a:r>
            <a:r>
              <a:rPr lang="en-US" sz="1950" dirty="0" i="1">
                <a:solidFill>
                  <a:srgbClr val="16171D"/>
                </a:solidFill>
                <a:latin typeface="Cambria"/>
                <a:cs typeface="Cambria"/>
              </a:rPr>
              <a:t xml:space="preserve">x</a:t>
            </a:r>
            <a:r>
              <a:rPr lang="en-US" sz="1950" dirty="0">
                <a:solidFill>
                  <a:srgbClr val="16171D"/>
                </a:solidFill>
                <a:latin typeface="Segoe UI"/>
                <a:cs typeface="Segoe UI"/>
              </a:rPr>
              <a:t xml:space="preserve"> is translated right 2 units. Which function represents the new graph? </a:t>
            </a:r>
            <a:r>
              <a:rPr lang="en-US" sz="1575" dirty="0">
                <a:solidFill>
                  <a:srgbClr val="5F6272"/>
                </a:solidFill>
                <a:latin typeface="Segoe UI"/>
                <a:cs typeface="Segoe UI"/>
              </a:rPr>
              <a:t xml:space="preserve">(SE p. 293)</a:t>
            </a:r>
            <a:endParaRPr lang="en-US" sz="1950" dirty="0"/>
          </a:p>
        </p:txBody>
      </p:sp>
      <p:sp>
        <p:nvSpPr>
          <p:cNvPr id="11" name="Shape 11"/>
          <p:cNvSpPr txBox="1"/>
          <p:nvPr/>
        </p:nvSpPr>
        <p:spPr>
          <a:xfrm>
            <a:off x="6362548" y="4323588"/>
            <a:ext cx="406880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g</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3</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− 6</a:t>
            </a:r>
            <a:endParaRPr lang="en-US" sz="2325" dirty="0"/>
          </a:p>
        </p:txBody>
      </p:sp>
      <p:sp>
        <p:nvSpPr>
          <p:cNvPr id="12" name="Slide Number 12"/>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21</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1"/>
                                        </p:tgtEl>
                                        <p:attrNameLst>
                                          <p:attrName>style.visibility</p:attrName>
                                        </p:attrNameLst>
                                      </p:cBhvr>
                                      <p:to>
                                        <p:strVal val="visible"/>
                                      </p:to>
                                    </p:set>
                                    <p:animEffect transition="in" filter="fade">
                                      <p:cBhvr>
                                        <p:cTn id="25" dur="500"/>
                                        <p:tgtEl>
                                          <p:spTgt spid="11"/>
                                        </p:tgtEl>
                                      </p:cBhvr>
                                    </p:animEffect>
                                    <p:anim calcmode="lin" valueType="num">
                                      <p:cBhvr>
                                        <p:cTn id="26" dur="500" fill="hold"/>
                                        <p:tgtEl>
                                          <p:spTgt spid="11"/>
                                        </p:tgtEl>
                                        <p:attrNameLst>
                                          <p:attrName>ppt_w</p:attrName>
                                        </p:attrNameLst>
                                      </p:cBhvr>
                                      <p:tavLst>
                                        <p:tav tm="0">
                                          <p:val>
                                            <p:fltVal val="0"/>
                                          </p:val>
                                        </p:tav>
                                        <p:tav tm="100000">
                                          <p:val>
                                            <p:strVal val="#ppt_w"/>
                                          </p:val>
                                        </p:tav>
                                      </p:tavLst>
                                    </p:anim>
                                    <p:anim calcmode="lin" valueType="num">
                                      <p:cBhvr>
                                        <p:cTn id="27"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9144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extra day · about 15 minutes</a:t>
            </a:r>
            <a:endParaRPr lang="en-US" sz="1200" dirty="0"/>
          </a:p>
        </p:txBody>
      </p:sp>
      <p:sp>
        <p:nvSpPr>
          <p:cNvPr id="3" name="Shape 3"/>
          <p:cNvSpPr txBox="1"/>
          <p:nvPr/>
        </p:nvSpPr>
        <p:spPr>
          <a:xfrm>
            <a:off x="685800" y="1323594"/>
            <a:ext cx="10820095" cy="1792224"/>
          </a:xfrm>
          <a:prstGeom prst="rect">
            <a:avLst/>
          </a:prstGeom>
          <a:noFill/>
          <a:ln>
            <a:noFill/>
          </a:ln>
        </p:spPr>
        <p:txBody>
          <a:bodyPr wrap="square" lIns="36576" tIns="27432" rIns="36576" bIns="27432" anchor="t">
            <a:noAutofit/>
          </a:bodyPr>
          <a:lstStyle/>
          <a:p>
            <a:pPr algn="l">
              <a:lnSpc>
                <a:spcPct val="100000"/>
              </a:lnSpc>
            </a:pPr>
            <a:r>
              <a:rPr lang="en-US" sz="5700" dirty="0" b="1">
                <a:solidFill>
                  <a:srgbClr val="16171D"/>
                </a:solidFill>
                <a:latin typeface="Segoe UI"/>
                <a:cs typeface="Segoe UI"/>
              </a:rPr>
              <a:t xml:space="preserve">Topic 1 Lesson 6: Linear or nonlinear?</a:t>
            </a:r>
            <a:endParaRPr lang="en-US" sz="5700" dirty="0"/>
          </a:p>
        </p:txBody>
      </p:sp>
      <p:sp>
        <p:nvSpPr>
          <p:cNvPr id="4" name="Shape 4"/>
          <p:cNvSpPr txBox="1"/>
          <p:nvPr/>
        </p:nvSpPr>
        <p:spPr>
          <a:xfrm>
            <a:off x="685800" y="3287268"/>
            <a:ext cx="10820095" cy="7406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A transformation of a linear function is still linear: the rate of change stays constant.</a:t>
            </a:r>
            <a:endParaRPr lang="en-US" sz="2250" dirty="0"/>
          </a:p>
        </p:txBody>
      </p:sp>
      <p:sp>
        <p:nvSpPr>
          <p:cNvPr id="5" name="Shape 5"/>
          <p:cNvSpPr txBox="1"/>
          <p:nvPr/>
        </p:nvSpPr>
        <p:spPr>
          <a:xfrm>
            <a:off x="685800" y="4199382"/>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a:solidFill>
                  <a:srgbClr val="16171D"/>
                </a:solidFill>
                <a:latin typeface="Segoe UI"/>
                <a:cs typeface="Segoe UI"/>
              </a:rPr>
              <a:t xml:space="preserve">Topic 1 Lesson 6 practice: </a:t>
            </a:r>
            <a:r>
              <a:rPr lang="en-US" sz="1800" dirty="0">
                <a:solidFill>
                  <a:srgbClr val="3050B8"/>
                </a:solidFill>
                <a:latin typeface="Segoe UI"/>
                <a:cs typeface="Segoe UI"/>
                <a:hlinkClick r:id="rId3"/>
              </a:rPr>
              <a:t xml:space="preserve">Homework →</a:t>
            </a:r>
            <a:r>
              <a:rPr lang="en-US" sz="1800" dirty="0">
                <a:solidFill>
                  <a:srgbClr val="16171D"/>
                </a:solidFill>
                <a:latin typeface="Segoe UI"/>
                <a:cs typeface="Segoe UI"/>
              </a:rPr>
              <a:t xml:space="preserve"> · </a:t>
            </a:r>
            <a:r>
              <a:rPr lang="en-US" sz="1800" dirty="0">
                <a:solidFill>
                  <a:srgbClr val="3050B8"/>
                </a:solidFill>
                <a:latin typeface="Segoe UI"/>
                <a:cs typeface="Segoe UI"/>
                <a:hlinkClick r:id="rId4"/>
              </a:rPr>
              <a:t xml:space="preserve">Quiz →</a:t>
            </a:r>
            <a:endParaRPr lang="en-US" sz="1800" dirty="0"/>
          </a:p>
        </p:txBody>
      </p:sp>
      <p:sp>
        <p:nvSpPr>
          <p:cNvPr id="6" name="Slide Number 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22</a:t>
            </a:fld>
          </a:p>
        </p:txBody>
      </p:sp>
    </p:spTree>
  </p:cSld>
  <p:clrMapOvr>
    <a:masterClrMapping/>
  </p:clrMapOvr>
  <p:transition spd="med">
    <p:fade/>
  </p:transition>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Lesson 6 · Getting Started · Well, Are Ya or Aren't Ya? · SE p. 240</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Linear or nonlinear? Explain your reasoning.</a:t>
            </a:r>
            <a:endParaRPr lang="en-US" sz="3450" dirty="0"/>
          </a:p>
        </p:txBody>
      </p:sp>
      <p:sp>
        <p:nvSpPr>
          <p:cNvPr id="7" name="Shape 7"/>
          <p:cNvSpPr txBox="1"/>
          <p:nvPr/>
        </p:nvSpPr>
        <p:spPr>
          <a:xfrm>
            <a:off x="685800" y="1618488"/>
            <a:ext cx="3492398" cy="245821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Scenario A</a:t>
            </a:r>
            <a:endParaRPr lang="en-US" sz="2100" dirty="0"/>
          </a:p>
        </p:txBody>
      </p:sp>
      <p:sp>
        <p:nvSpPr>
          <p:cNvPr id="5" name="Shape 5"/>
          <p:cNvSpPr txBox="1"/>
          <p:nvPr/>
        </p:nvSpPr>
        <p:spPr>
          <a:xfrm>
            <a:off x="895350" y="226009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A tree grows 3.5 inches each year.</a:t>
            </a:r>
            <a:endParaRPr lang="en-US" sz="1575" dirty="0"/>
          </a:p>
        </p:txBody>
      </p:sp>
      <p:sp>
        <p:nvSpPr>
          <p:cNvPr id="6" name="Shape 6"/>
          <p:cNvSpPr txBox="1"/>
          <p:nvPr/>
        </p:nvSpPr>
        <p:spPr>
          <a:xfrm>
            <a:off x="895350" y="2890266"/>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4F8A3C"/>
                </a:solidFill>
                <a:latin typeface="Segoe UI"/>
                <a:cs typeface="Segoe UI"/>
              </a:rPr>
              <a:t xml:space="preserve">Linear.</a:t>
            </a:r>
            <a:r>
              <a:rPr lang="en-US" sz="1575" dirty="0">
                <a:solidFill>
                  <a:srgbClr val="16171D"/>
                </a:solidFill>
                <a:latin typeface="Segoe UI"/>
                <a:cs typeface="Segoe UI"/>
              </a:rPr>
              <a:t xml:space="preserve"> Same change, 3.5 in, every year.</a:t>
            </a:r>
            <a:endParaRPr lang="en-US" sz="1575" dirty="0"/>
          </a:p>
        </p:txBody>
      </p:sp>
      <p:sp>
        <p:nvSpPr>
          <p:cNvPr id="11" name="Shape 11"/>
          <p:cNvSpPr txBox="1"/>
          <p:nvPr/>
        </p:nvSpPr>
        <p:spPr>
          <a:xfrm>
            <a:off x="4349648" y="1618488"/>
            <a:ext cx="3492398" cy="245821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4559198"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Scenario B</a:t>
            </a:r>
            <a:endParaRPr lang="en-US" sz="2100" dirty="0"/>
          </a:p>
        </p:txBody>
      </p:sp>
      <p:sp>
        <p:nvSpPr>
          <p:cNvPr id="9" name="Shape 9"/>
          <p:cNvSpPr txBox="1"/>
          <p:nvPr/>
        </p:nvSpPr>
        <p:spPr>
          <a:xfrm>
            <a:off x="4559198" y="2260092"/>
            <a:ext cx="3073298" cy="77495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strength of a medication decreases by 50% each hour it is in the patient's system.</a:t>
            </a:r>
            <a:endParaRPr lang="en-US" sz="1575" dirty="0"/>
          </a:p>
        </p:txBody>
      </p:sp>
      <p:sp>
        <p:nvSpPr>
          <p:cNvPr id="10" name="Shape 10"/>
          <p:cNvSpPr txBox="1"/>
          <p:nvPr/>
        </p:nvSpPr>
        <p:spPr>
          <a:xfrm>
            <a:off x="4559198" y="3130296"/>
            <a:ext cx="3073298" cy="77495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7A4FC4"/>
                </a:solidFill>
                <a:latin typeface="Segoe UI"/>
                <a:cs typeface="Segoe UI"/>
              </a:rPr>
              <a:t xml:space="preserve">Nonlinear.</a:t>
            </a:r>
            <a:r>
              <a:rPr lang="en-US" sz="1575" dirty="0">
                <a:solidFill>
                  <a:srgbClr val="16171D"/>
                </a:solidFill>
                <a:latin typeface="Segoe UI"/>
                <a:cs typeface="Segoe UI"/>
              </a:rPr>
              <a:t xml:space="preserve"> Half of a smaller amount each hour, so the drop shrinks.</a:t>
            </a:r>
            <a:endParaRPr lang="en-US" sz="1575" dirty="0"/>
          </a:p>
        </p:txBody>
      </p:sp>
      <p:sp>
        <p:nvSpPr>
          <p:cNvPr id="15" name="Shape 15"/>
          <p:cNvSpPr txBox="1"/>
          <p:nvPr/>
        </p:nvSpPr>
        <p:spPr>
          <a:xfrm>
            <a:off x="8013497" y="1618488"/>
            <a:ext cx="3492398" cy="245821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2" name="Shape 12"/>
          <p:cNvSpPr txBox="1"/>
          <p:nvPr/>
        </p:nvSpPr>
        <p:spPr>
          <a:xfrm>
            <a:off x="8223047"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Scenario C</a:t>
            </a:r>
            <a:endParaRPr lang="en-US" sz="2100" dirty="0"/>
          </a:p>
        </p:txBody>
      </p:sp>
      <p:sp>
        <p:nvSpPr>
          <p:cNvPr id="13" name="Shape 13"/>
          <p:cNvSpPr txBox="1"/>
          <p:nvPr/>
        </p:nvSpPr>
        <p:spPr>
          <a:xfrm>
            <a:off x="8223047" y="226009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area of a square depends on its side length.</a:t>
            </a:r>
            <a:endParaRPr lang="en-US" sz="1575" dirty="0"/>
          </a:p>
        </p:txBody>
      </p:sp>
      <p:sp>
        <p:nvSpPr>
          <p:cNvPr id="14" name="Shape 14"/>
          <p:cNvSpPr txBox="1"/>
          <p:nvPr/>
        </p:nvSpPr>
        <p:spPr>
          <a:xfrm>
            <a:off x="8223047" y="2890266"/>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7A4FC4"/>
                </a:solidFill>
                <a:latin typeface="Segoe UI"/>
                <a:cs typeface="Segoe UI"/>
              </a:rPr>
              <a:t xml:space="preserve">Nonlinear.</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A</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s</a:t>
            </a:r>
            <a:r>
              <a:rPr lang="en-US" sz="1575" dirty="0">
                <a:solidFill>
                  <a:srgbClr val="16171D"/>
                </a:solidFill>
                <a:latin typeface="Cambria"/>
                <a:cs typeface="Cambria"/>
              </a:rPr>
              <a:t xml:space="preserve">2</a:t>
            </a:r>
            <a:r>
              <a:rPr lang="en-US" sz="1575" dirty="0">
                <a:solidFill>
                  <a:srgbClr val="16171D"/>
                </a:solidFill>
                <a:latin typeface="Segoe UI"/>
                <a:cs typeface="Segoe UI"/>
              </a:rPr>
              <a:t xml:space="preserve">: side 1, 2, 3 gives area 1, 4, 9.</a:t>
            </a:r>
            <a:endParaRPr lang="en-US" sz="1575" dirty="0"/>
          </a:p>
        </p:txBody>
      </p:sp>
      <p:sp>
        <p:nvSpPr>
          <p:cNvPr id="19" name="Shape 19"/>
          <p:cNvSpPr txBox="1"/>
          <p:nvPr/>
        </p:nvSpPr>
        <p:spPr>
          <a:xfrm>
            <a:off x="685800" y="4210050"/>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6" name="Shape 16"/>
          <p:cNvSpPr txBox="1"/>
          <p:nvPr/>
        </p:nvSpPr>
        <p:spPr>
          <a:xfrm>
            <a:off x="895350" y="4381500"/>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Equation A</a:t>
            </a:r>
            <a:endParaRPr lang="en-US" sz="2100" dirty="0"/>
          </a:p>
        </p:txBody>
      </p:sp>
      <p:sp>
        <p:nvSpPr>
          <p:cNvPr id="17" name="Shape 17"/>
          <p:cNvSpPr txBox="1"/>
          <p:nvPr/>
        </p:nvSpPr>
        <p:spPr>
          <a:xfrm>
            <a:off x="895350" y="4851654"/>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14 − 9</a:t>
            </a:r>
            <a:r>
              <a:rPr lang="en-US" sz="2325" dirty="0" i="1">
                <a:solidFill>
                  <a:srgbClr val="16171D"/>
                </a:solidFill>
                <a:latin typeface="Cambria"/>
                <a:cs typeface="Cambria"/>
              </a:rPr>
              <a:t xml:space="preserve">x</a:t>
            </a:r>
            <a:endParaRPr lang="en-US" sz="2325" dirty="0"/>
          </a:p>
        </p:txBody>
      </p:sp>
      <p:sp>
        <p:nvSpPr>
          <p:cNvPr id="18" name="Shape 18"/>
          <p:cNvSpPr txBox="1"/>
          <p:nvPr/>
        </p:nvSpPr>
        <p:spPr>
          <a:xfrm>
            <a:off x="895350" y="5356098"/>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4F8A3C"/>
                </a:solidFill>
                <a:latin typeface="Segoe UI"/>
                <a:cs typeface="Segoe UI"/>
              </a:rPr>
              <a:t xml:space="preserve">Linear.</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 has exponent 1; slope −9.</a:t>
            </a:r>
            <a:endParaRPr lang="en-US" sz="1575" dirty="0"/>
          </a:p>
        </p:txBody>
      </p:sp>
      <p:sp>
        <p:nvSpPr>
          <p:cNvPr id="23" name="Shape 23"/>
          <p:cNvSpPr txBox="1"/>
          <p:nvPr/>
        </p:nvSpPr>
        <p:spPr>
          <a:xfrm>
            <a:off x="4349648" y="4210050"/>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20" name="Shape 20"/>
          <p:cNvSpPr txBox="1"/>
          <p:nvPr/>
        </p:nvSpPr>
        <p:spPr>
          <a:xfrm>
            <a:off x="4559198" y="4381500"/>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Equation B</a:t>
            </a:r>
            <a:endParaRPr lang="en-US" sz="2100" dirty="0"/>
          </a:p>
        </p:txBody>
      </p:sp>
      <p:sp>
        <p:nvSpPr>
          <p:cNvPr id="21" name="Shape 21"/>
          <p:cNvSpPr txBox="1"/>
          <p:nvPr/>
        </p:nvSpPr>
        <p:spPr>
          <a:xfrm>
            <a:off x="4559198" y="4851654"/>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+ 1</a:t>
            </a:r>
            <a:endParaRPr lang="en-US" sz="2325" dirty="0"/>
          </a:p>
        </p:txBody>
      </p:sp>
      <p:sp>
        <p:nvSpPr>
          <p:cNvPr id="22" name="Shape 22"/>
          <p:cNvSpPr txBox="1"/>
          <p:nvPr/>
        </p:nvSpPr>
        <p:spPr>
          <a:xfrm>
            <a:off x="4559198" y="5356098"/>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7A4FC4"/>
                </a:solidFill>
                <a:latin typeface="Segoe UI"/>
                <a:cs typeface="Segoe UI"/>
              </a:rPr>
              <a:t xml:space="preserve">Nonlinear.</a:t>
            </a:r>
            <a:r>
              <a:rPr lang="en-US" sz="1575" dirty="0">
                <a:solidFill>
                  <a:srgbClr val="16171D"/>
                </a:solidFill>
                <a:latin typeface="Segoe UI"/>
                <a:cs typeface="Segoe UI"/>
              </a:rPr>
              <a:t xml:space="preserve"> The variable is in the exponent.</a:t>
            </a:r>
            <a:endParaRPr lang="en-US" sz="1575" dirty="0"/>
          </a:p>
        </p:txBody>
      </p:sp>
      <p:sp>
        <p:nvSpPr>
          <p:cNvPr id="27" name="Shape 27"/>
          <p:cNvSpPr txBox="1"/>
          <p:nvPr/>
        </p:nvSpPr>
        <p:spPr>
          <a:xfrm>
            <a:off x="8013497" y="4210050"/>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24" name="Shape 24"/>
          <p:cNvSpPr txBox="1"/>
          <p:nvPr/>
        </p:nvSpPr>
        <p:spPr>
          <a:xfrm>
            <a:off x="8223047" y="4381500"/>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Equation C</a:t>
            </a:r>
            <a:endParaRPr lang="en-US" sz="2100" dirty="0"/>
          </a:p>
        </p:txBody>
      </p:sp>
      <p:sp>
        <p:nvSpPr>
          <p:cNvPr id="25" name="Shape 25"/>
          <p:cNvSpPr txBox="1"/>
          <p:nvPr/>
        </p:nvSpPr>
        <p:spPr>
          <a:xfrm>
            <a:off x="8223047" y="4851654"/>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4</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+ 7) − 1</a:t>
            </a:r>
            <a:endParaRPr lang="en-US" sz="2325" dirty="0"/>
          </a:p>
        </p:txBody>
      </p:sp>
      <p:sp>
        <p:nvSpPr>
          <p:cNvPr id="26" name="Shape 26"/>
          <p:cNvSpPr txBox="1"/>
          <p:nvPr/>
        </p:nvSpPr>
        <p:spPr>
          <a:xfrm>
            <a:off x="8223047" y="5356098"/>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4F8A3C"/>
                </a:solidFill>
                <a:latin typeface="Segoe UI"/>
                <a:cs typeface="Segoe UI"/>
              </a:rPr>
              <a:t xml:space="preserve">Linear.</a:t>
            </a:r>
            <a:r>
              <a:rPr lang="en-US" sz="1575" dirty="0">
                <a:solidFill>
                  <a:srgbClr val="16171D"/>
                </a:solidFill>
                <a:latin typeface="Segoe UI"/>
                <a:cs typeface="Segoe UI"/>
              </a:rPr>
              <a:t xml:space="preserve"> Point-slope structure; slope </a:t>
            </a:r>
            <a:r>
              <a:rPr lang="en-US" sz="1575" dirty="0">
                <a:solidFill>
                  <a:srgbClr val="16171D"/>
                </a:solidFill>
                <a:latin typeface="Segoe UI"/>
                <a:cs typeface="Segoe UI"/>
              </a:rPr>
              <a:t xml:space="preserve">1</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4</a:t>
            </a:r>
            <a:r>
              <a:rPr lang="en-US" sz="1575" dirty="0">
                <a:solidFill>
                  <a:srgbClr val="16171D"/>
                </a:solidFill>
                <a:latin typeface="Segoe UI"/>
                <a:cs typeface="Segoe UI"/>
              </a:rPr>
              <a:t xml:space="preserve">.</a:t>
            </a:r>
            <a:endParaRPr lang="en-US" sz="1575" dirty="0"/>
          </a:p>
        </p:txBody>
      </p:sp>
      <p:sp>
        <p:nvSpPr>
          <p:cNvPr id="28" name="Slide Number 28"/>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23</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6"/>
                                        </p:tgtEl>
                                        <p:attrNameLst>
                                          <p:attrName>style.visibility</p:attrName>
                                        </p:attrNameLst>
                                      </p:cBhvr>
                                      <p:to>
                                        <p:strVal val="visible"/>
                                      </p:to>
                                    </p:set>
                                    <p:animEffect transition="in" filter="fade">
                                      <p:cBhvr>
                                        <p:cTn id="4" dur="500"/>
                                        <p:tgtEl>
                                          <p:spTgt spid="6"/>
                                        </p:tgtEl>
                                      </p:cBhvr>
                                    </p:animEffect>
                                    <p:anim calcmode="lin" valueType="num">
                                      <p:cBhvr>
                                        <p:cTn id="5" dur="500" fill="hold"/>
                                        <p:tgtEl>
                                          <p:spTgt spid="6"/>
                                        </p:tgtEl>
                                        <p:attrNameLst>
                                          <p:attrName>ppt_x</p:attrName>
                                        </p:attrNameLst>
                                      </p:cBhvr>
                                      <p:tavLst>
                                        <p:tav tm="0">
                                          <p:val>
                                            <p:strVal val="#ppt_x"/>
                                          </p:val>
                                        </p:tav>
                                        <p:tav tm="100000">
                                          <p:val>
                                            <p:strVal val="#ppt_x"/>
                                          </p:val>
                                        </p:tav>
                                      </p:tavLst>
                                    </p:anim>
                                    <p:anim calcmode="lin" valueType="num">
                                      <p:cBhvr>
                                        <p:cTn id="6"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10"/>
                                        </p:tgtEl>
                                        <p:attrNameLst>
                                          <p:attrName>style.visibility</p:attrName>
                                        </p:attrNameLst>
                                      </p:cBhvr>
                                      <p:to>
                                        <p:strVal val="visible"/>
                                      </p:to>
                                    </p:set>
                                    <p:animEffect transition="in" filter="fade">
                                      <p:cBhvr>
                                        <p:cTn id="11" dur="500"/>
                                        <p:tgtEl>
                                          <p:spTgt spid="10"/>
                                        </p:tgtEl>
                                      </p:cBhvr>
                                    </p:animEffect>
                                    <p:anim calcmode="lin" valueType="num">
                                      <p:cBhvr>
                                        <p:cTn id="12" dur="500" fill="hold"/>
                                        <p:tgtEl>
                                          <p:spTgt spid="10"/>
                                        </p:tgtEl>
                                        <p:attrNameLst>
                                          <p:attrName>ppt_x</p:attrName>
                                        </p:attrNameLst>
                                      </p:cBhvr>
                                      <p:tavLst>
                                        <p:tav tm="0">
                                          <p:val>
                                            <p:strVal val="#ppt_x"/>
                                          </p:val>
                                        </p:tav>
                                        <p:tav tm="100000">
                                          <p:val>
                                            <p:strVal val="#ppt_x"/>
                                          </p:val>
                                        </p:tav>
                                      </p:tavLst>
                                    </p:anim>
                                    <p:anim calcmode="lin" valueType="num">
                                      <p:cBhvr>
                                        <p:cTn id="13" dur="500" fill="hold"/>
                                        <p:tgtEl>
                                          <p:spTgt spid="10"/>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14"/>
                                        </p:tgtEl>
                                        <p:attrNameLst>
                                          <p:attrName>style.visibility</p:attrName>
                                        </p:attrNameLst>
                                      </p:cBhvr>
                                      <p:to>
                                        <p:strVal val="visible"/>
                                      </p:to>
                                    </p:set>
                                    <p:animEffect transition="in" filter="fade">
                                      <p:cBhvr>
                                        <p:cTn id="18" dur="500"/>
                                        <p:tgtEl>
                                          <p:spTgt spid="14"/>
                                        </p:tgtEl>
                                      </p:cBhvr>
                                    </p:animEffect>
                                    <p:anim calcmode="lin" valueType="num">
                                      <p:cBhvr>
                                        <p:cTn id="19" dur="500" fill="hold"/>
                                        <p:tgtEl>
                                          <p:spTgt spid="14"/>
                                        </p:tgtEl>
                                        <p:attrNameLst>
                                          <p:attrName>ppt_x</p:attrName>
                                        </p:attrNameLst>
                                      </p:cBhvr>
                                      <p:tavLst>
                                        <p:tav tm="0">
                                          <p:val>
                                            <p:strVal val="#ppt_x"/>
                                          </p:val>
                                        </p:tav>
                                        <p:tav tm="100000">
                                          <p:val>
                                            <p:strVal val="#ppt_x"/>
                                          </p:val>
                                        </p:tav>
                                      </p:tavLst>
                                    </p:anim>
                                    <p:anim calcmode="lin" valueType="num">
                                      <p:cBhvr>
                                        <p:cTn id="20" dur="500" fill="hold"/>
                                        <p:tgtEl>
                                          <p:spTgt spid="14"/>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18"/>
                                        </p:tgtEl>
                                        <p:attrNameLst>
                                          <p:attrName>style.visibility</p:attrName>
                                        </p:attrNameLst>
                                      </p:cBhvr>
                                      <p:to>
                                        <p:strVal val="visible"/>
                                      </p:to>
                                    </p:set>
                                    <p:animEffect transition="in" filter="fade">
                                      <p:cBhvr>
                                        <p:cTn id="25" dur="500"/>
                                        <p:tgtEl>
                                          <p:spTgt spid="18"/>
                                        </p:tgtEl>
                                      </p:cBhvr>
                                    </p:animEffect>
                                    <p:anim calcmode="lin" valueType="num">
                                      <p:cBhvr>
                                        <p:cTn id="26" dur="500" fill="hold"/>
                                        <p:tgtEl>
                                          <p:spTgt spid="18"/>
                                        </p:tgtEl>
                                        <p:attrNameLst>
                                          <p:attrName>ppt_x</p:attrName>
                                        </p:attrNameLst>
                                      </p:cBhvr>
                                      <p:tavLst>
                                        <p:tav tm="0">
                                          <p:val>
                                            <p:strVal val="#ppt_x"/>
                                          </p:val>
                                        </p:tav>
                                        <p:tav tm="100000">
                                          <p:val>
                                            <p:strVal val="#ppt_x"/>
                                          </p:val>
                                        </p:tav>
                                      </p:tavLst>
                                    </p:anim>
                                    <p:anim calcmode="lin" valueType="num">
                                      <p:cBhvr>
                                        <p:cTn id="27" dur="500" fill="hold"/>
                                        <p:tgtEl>
                                          <p:spTgt spid="18"/>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22"/>
                                        </p:tgtEl>
                                        <p:attrNameLst>
                                          <p:attrName>style.visibility</p:attrName>
                                        </p:attrNameLst>
                                      </p:cBhvr>
                                      <p:to>
                                        <p:strVal val="visible"/>
                                      </p:to>
                                    </p:set>
                                    <p:animEffect transition="in" filter="fade">
                                      <p:cBhvr>
                                        <p:cTn id="32" dur="500"/>
                                        <p:tgtEl>
                                          <p:spTgt spid="22"/>
                                        </p:tgtEl>
                                      </p:cBhvr>
                                    </p:animEffect>
                                    <p:anim calcmode="lin" valueType="num">
                                      <p:cBhvr>
                                        <p:cTn id="33" dur="500" fill="hold"/>
                                        <p:tgtEl>
                                          <p:spTgt spid="22"/>
                                        </p:tgtEl>
                                        <p:attrNameLst>
                                          <p:attrName>ppt_x</p:attrName>
                                        </p:attrNameLst>
                                      </p:cBhvr>
                                      <p:tavLst>
                                        <p:tav tm="0">
                                          <p:val>
                                            <p:strVal val="#ppt_x"/>
                                          </p:val>
                                        </p:tav>
                                        <p:tav tm="100000">
                                          <p:val>
                                            <p:strVal val="#ppt_x"/>
                                          </p:val>
                                        </p:tav>
                                      </p:tavLst>
                                    </p:anim>
                                    <p:anim calcmode="lin" valueType="num">
                                      <p:cBhvr>
                                        <p:cTn id="34" dur="500" fill="hold"/>
                                        <p:tgtEl>
                                          <p:spTgt spid="22"/>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2" presetID="42" presetClass="entr" presetSubtype="0" fill="hold" nodeType="clickEffect">
                                  <p:stCondLst>
                                    <p:cond delay="0"/>
                                  </p:stCondLst>
                                  <p:childTnLst>
                                    <p:set>
                                      <p:cBhvr>
                                        <p:cTn id="38" dur="1" fill="hold">
                                          <p:stCondLst>
                                            <p:cond delay="0"/>
                                          </p:stCondLst>
                                        </p:cTn>
                                        <p:tgtEl>
                                          <p:spTgt spid="26"/>
                                        </p:tgtEl>
                                        <p:attrNameLst>
                                          <p:attrName>style.visibility</p:attrName>
                                        </p:attrNameLst>
                                      </p:cBhvr>
                                      <p:to>
                                        <p:strVal val="visible"/>
                                      </p:to>
                                    </p:set>
                                    <p:animEffect transition="in" filter="fade">
                                      <p:cBhvr>
                                        <p:cTn id="39" dur="500"/>
                                        <p:tgtEl>
                                          <p:spTgt spid="26"/>
                                        </p:tgtEl>
                                      </p:cBhvr>
                                    </p:animEffect>
                                    <p:anim calcmode="lin" valueType="num">
                                      <p:cBhvr>
                                        <p:cTn id="40" dur="500" fill="hold"/>
                                        <p:tgtEl>
                                          <p:spTgt spid="26"/>
                                        </p:tgtEl>
                                        <p:attrNameLst>
                                          <p:attrName>ppt_x</p:attrName>
                                        </p:attrNameLst>
                                      </p:cBhvr>
                                      <p:tavLst>
                                        <p:tav tm="0">
                                          <p:val>
                                            <p:strVal val="#ppt_x"/>
                                          </p:val>
                                        </p:tav>
                                        <p:tav tm="100000">
                                          <p:val>
                                            <p:strVal val="#ppt_x"/>
                                          </p:val>
                                        </p:tav>
                                      </p:tavLst>
                                    </p:anim>
                                    <p:anim calcmode="lin" valueType="num">
                                      <p:cBhvr>
                                        <p:cTn id="41" dur="500" fill="hold"/>
                                        <p:tgtEl>
                                          <p:spTgt spid="2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Lesson 6 · Activity 6.1 · Interpreting Linear Functions · SE p. 241</a:t>
            </a:r>
            <a:endParaRPr lang="en-US" sz="1200" dirty="0"/>
          </a:p>
        </p:txBody>
      </p:sp>
      <p:sp>
        <p:nvSpPr>
          <p:cNvPr id="3" name="Shape 3"/>
          <p:cNvSpPr txBox="1"/>
          <p:nvPr/>
        </p:nvSpPr>
        <p:spPr>
          <a:xfrm>
            <a:off x="685800" y="866394"/>
            <a:ext cx="10820095" cy="110642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Inputs not consecutive? Check the slope between every pair.</a:t>
            </a:r>
            <a:endParaRPr lang="en-US" sz="3450" dirty="0"/>
          </a:p>
        </p:txBody>
      </p:sp>
      <p:sp>
        <p:nvSpPr>
          <p:cNvPr id="4" name="Shape 4"/>
          <p:cNvSpPr txBox="1"/>
          <p:nvPr/>
        </p:nvSpPr>
        <p:spPr>
          <a:xfrm>
            <a:off x="685800" y="2144268"/>
            <a:ext cx="2723998"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a.</a:t>
            </a:r>
            <a:endParaRPr lang="en-US" sz="1950" dirty="0"/>
          </a:p>
        </p:txBody>
      </p:sp>
      <p:sp>
        <p:nvSpPr>
          <p:cNvPr id="5" name="Shape 5"/>
          <p:cNvSpPr txBox="1"/>
          <p:nvPr/>
        </p:nvSpPr>
        <p:spPr>
          <a:xfrm>
            <a:off x="3600298" y="2144268"/>
            <a:ext cx="1143000" cy="42062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800" dirty="0" i="1">
                <a:solidFill>
                  <a:srgbClr val="16171D"/>
                </a:solidFill>
                <a:latin typeface="Cambria"/>
                <a:cs typeface="Cambria"/>
              </a:rPr>
              <a:t xml:space="preserve">x</a:t>
            </a:r>
            <a:endParaRPr lang="en-US" sz="1800" dirty="0"/>
          </a:p>
        </p:txBody>
      </p:sp>
      <p:sp>
        <p:nvSpPr>
          <p:cNvPr id="6" name="Shape 6"/>
          <p:cNvSpPr txBox="1"/>
          <p:nvPr/>
        </p:nvSpPr>
        <p:spPr>
          <a:xfrm>
            <a:off x="4743298" y="2144268"/>
            <a:ext cx="1143000" cy="42062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800" dirty="0" i="1">
                <a:solidFill>
                  <a:srgbClr val="16171D"/>
                </a:solidFill>
                <a:latin typeface="Cambria"/>
                <a:cs typeface="Cambria"/>
              </a:rPr>
              <a:t xml:space="preserve">y</a:t>
            </a:r>
            <a:endParaRPr lang="en-US" sz="1800" dirty="0"/>
          </a:p>
        </p:txBody>
      </p:sp>
      <p:sp>
        <p:nvSpPr>
          <p:cNvPr id="7" name="Shape 7"/>
          <p:cNvSpPr txBox="1"/>
          <p:nvPr/>
        </p:nvSpPr>
        <p:spPr>
          <a:xfrm>
            <a:off x="3600298" y="2564892"/>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−2</a:t>
            </a:r>
            <a:endParaRPr lang="en-US" sz="1800" dirty="0"/>
          </a:p>
        </p:txBody>
      </p:sp>
      <p:sp>
        <p:nvSpPr>
          <p:cNvPr id="8" name="Shape 8"/>
          <p:cNvSpPr txBox="1"/>
          <p:nvPr/>
        </p:nvSpPr>
        <p:spPr>
          <a:xfrm>
            <a:off x="4743298" y="2564892"/>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5.5</a:t>
            </a:r>
            <a:endParaRPr lang="en-US" sz="1800" dirty="0"/>
          </a:p>
        </p:txBody>
      </p:sp>
      <p:sp>
        <p:nvSpPr>
          <p:cNvPr id="9" name="Shape 9"/>
          <p:cNvSpPr txBox="1"/>
          <p:nvPr/>
        </p:nvSpPr>
        <p:spPr>
          <a:xfrm>
            <a:off x="3600298" y="2985516"/>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1</a:t>
            </a:r>
            <a:endParaRPr lang="en-US" sz="1800" dirty="0"/>
          </a:p>
        </p:txBody>
      </p:sp>
      <p:sp>
        <p:nvSpPr>
          <p:cNvPr id="10" name="Shape 10"/>
          <p:cNvSpPr txBox="1"/>
          <p:nvPr/>
        </p:nvSpPr>
        <p:spPr>
          <a:xfrm>
            <a:off x="4743298" y="2985516"/>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4.75</a:t>
            </a:r>
            <a:endParaRPr lang="en-US" sz="1800" dirty="0"/>
          </a:p>
        </p:txBody>
      </p:sp>
      <p:sp>
        <p:nvSpPr>
          <p:cNvPr id="11" name="Shape 11"/>
          <p:cNvSpPr txBox="1"/>
          <p:nvPr/>
        </p:nvSpPr>
        <p:spPr>
          <a:xfrm>
            <a:off x="3600298" y="3406140"/>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4</a:t>
            </a:r>
            <a:endParaRPr lang="en-US" sz="1800" dirty="0"/>
          </a:p>
        </p:txBody>
      </p:sp>
      <p:sp>
        <p:nvSpPr>
          <p:cNvPr id="12" name="Shape 12"/>
          <p:cNvSpPr txBox="1"/>
          <p:nvPr/>
        </p:nvSpPr>
        <p:spPr>
          <a:xfrm>
            <a:off x="4743298" y="3406140"/>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4</a:t>
            </a:r>
            <a:endParaRPr lang="en-US" sz="1800" dirty="0"/>
          </a:p>
        </p:txBody>
      </p:sp>
      <p:sp>
        <p:nvSpPr>
          <p:cNvPr id="13" name="Shape 13"/>
          <p:cNvSpPr txBox="1"/>
          <p:nvPr/>
        </p:nvSpPr>
        <p:spPr>
          <a:xfrm>
            <a:off x="3600298" y="3826764"/>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7</a:t>
            </a:r>
            <a:endParaRPr lang="en-US" sz="1800" dirty="0"/>
          </a:p>
        </p:txBody>
      </p:sp>
      <p:sp>
        <p:nvSpPr>
          <p:cNvPr id="14" name="Shape 14"/>
          <p:cNvSpPr txBox="1"/>
          <p:nvPr/>
        </p:nvSpPr>
        <p:spPr>
          <a:xfrm>
            <a:off x="4743298" y="3826764"/>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3.25</a:t>
            </a:r>
            <a:endParaRPr lang="en-US" sz="1800" dirty="0"/>
          </a:p>
        </p:txBody>
      </p:sp>
      <p:sp>
        <p:nvSpPr>
          <p:cNvPr id="15" name="Shape 15"/>
          <p:cNvSpPr txBox="1"/>
          <p:nvPr/>
        </p:nvSpPr>
        <p:spPr>
          <a:xfrm>
            <a:off x="685800" y="4342638"/>
            <a:ext cx="52004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Each step: </a:t>
            </a:r>
            <a:r>
              <a:rPr lang="en-US" sz="1575" dirty="0">
                <a:solidFill>
                  <a:srgbClr val="16171D"/>
                </a:solidFill>
                <a:latin typeface="Cambria"/>
                <a:cs typeface="Cambria"/>
              </a:rPr>
              <a:t xml:space="preserve">−0.75</a:t>
            </a:r>
            <a:r>
              <a:rPr lang="en-US" sz="1575" dirty="0">
                <a:solidFill>
                  <a:srgbClr val="16171D"/>
                </a:solidFill>
                <a:latin typeface="Cambria"/>
                <a:cs typeface="Cambria"/>
              </a:rPr>
              <a:t xml:space="preserve">/</a:t>
            </a:r>
            <a:r>
              <a:rPr lang="en-US" sz="1575" dirty="0">
                <a:solidFill>
                  <a:srgbClr val="16171D"/>
                </a:solidFill>
                <a:latin typeface="Cambria"/>
                <a:cs typeface="Cambria"/>
              </a:rPr>
              <a:t xml:space="preserve">3</a:t>
            </a:r>
            <a:r>
              <a:rPr lang="en-US" sz="1575" dirty="0">
                <a:solidFill>
                  <a:srgbClr val="16171D"/>
                </a:solidFill>
                <a:latin typeface="Cambria"/>
                <a:cs typeface="Cambria"/>
              </a:rPr>
              <a:t xml:space="preserve"> = </a:t>
            </a:r>
            <a:r>
              <a:rPr lang="en-US" sz="1575" dirty="0" b="1">
                <a:solidFill>
                  <a:srgbClr val="C9561F"/>
                </a:solidFill>
                <a:latin typeface="Cambria"/>
                <a:cs typeface="Cambria"/>
              </a:rPr>
              <a:t xml:space="preserve">−0.25</a:t>
            </a:r>
            <a:r>
              <a:rPr lang="en-US" sz="1575" dirty="0">
                <a:solidFill>
                  <a:srgbClr val="16171D"/>
                </a:solidFill>
                <a:latin typeface="Segoe UI"/>
                <a:cs typeface="Segoe UI"/>
              </a:rPr>
              <a:t xml:space="preserve">. Constant, so </a:t>
            </a:r>
            <a:r>
              <a:rPr lang="en-US" sz="1575" dirty="0" b="1">
                <a:solidFill>
                  <a:srgbClr val="16171D"/>
                </a:solidFill>
                <a:latin typeface="Segoe UI"/>
                <a:cs typeface="Segoe UI"/>
              </a:rPr>
              <a:t xml:space="preserve">linear</a:t>
            </a:r>
            <a:r>
              <a:rPr lang="en-US" sz="1575" dirty="0">
                <a:solidFill>
                  <a:srgbClr val="16171D"/>
                </a:solidFill>
                <a:latin typeface="Segoe UI"/>
                <a:cs typeface="Segoe UI"/>
              </a:rPr>
              <a:t xml:space="preserve">.</a:t>
            </a:r>
            <a:endParaRPr lang="en-US" sz="1575" dirty="0"/>
          </a:p>
        </p:txBody>
      </p:sp>
      <p:sp>
        <p:nvSpPr>
          <p:cNvPr id="16" name="Shape 16"/>
          <p:cNvSpPr txBox="1"/>
          <p:nvPr/>
        </p:nvSpPr>
        <p:spPr>
          <a:xfrm>
            <a:off x="685800" y="4732782"/>
            <a:ext cx="52004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Back up from (1, 4.75) to </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0</a:t>
            </a:r>
            <a:r>
              <a:rPr lang="en-US" sz="1575" dirty="0">
                <a:solidFill>
                  <a:srgbClr val="16171D"/>
                </a:solidFill>
                <a:latin typeface="Segoe UI"/>
                <a:cs typeface="Segoe UI"/>
              </a:rPr>
              <a:t xml:space="preserve">: </a:t>
            </a:r>
            <a:r>
              <a:rPr lang="en-US" sz="1575" dirty="0" b="1">
                <a:solidFill>
                  <a:srgbClr val="3050B8"/>
                </a:solidFill>
                <a:latin typeface="Cambria"/>
                <a:cs typeface="Cambria"/>
              </a:rPr>
              <a:t xml:space="preserve">(0, 5)</a:t>
            </a:r>
            <a:r>
              <a:rPr lang="en-US" sz="1575" dirty="0">
                <a:solidFill>
                  <a:srgbClr val="16171D"/>
                </a:solidFill>
                <a:latin typeface="Segoe UI"/>
                <a:cs typeface="Segoe UI"/>
              </a:rPr>
              <a:t xml:space="preserve">.</a:t>
            </a:r>
            <a:endParaRPr lang="en-US" sz="1575" dirty="0"/>
          </a:p>
        </p:txBody>
      </p:sp>
      <p:sp>
        <p:nvSpPr>
          <p:cNvPr id="17" name="Shape 17"/>
          <p:cNvSpPr txBox="1"/>
          <p:nvPr/>
        </p:nvSpPr>
        <p:spPr>
          <a:xfrm>
            <a:off x="685800" y="5122926"/>
            <a:ext cx="473211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−0.25</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5</a:t>
            </a:r>
            <a:endParaRPr lang="en-US" sz="2325" dirty="0"/>
          </a:p>
        </p:txBody>
      </p:sp>
      <p:sp>
        <p:nvSpPr>
          <p:cNvPr id="18" name="Shape 18"/>
          <p:cNvSpPr txBox="1"/>
          <p:nvPr/>
        </p:nvSpPr>
        <p:spPr>
          <a:xfrm>
            <a:off x="6305398" y="2144268"/>
            <a:ext cx="2723998"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b.</a:t>
            </a:r>
            <a:endParaRPr lang="en-US" sz="1950" dirty="0"/>
          </a:p>
        </p:txBody>
      </p:sp>
      <p:sp>
        <p:nvSpPr>
          <p:cNvPr id="19" name="Shape 19"/>
          <p:cNvSpPr txBox="1"/>
          <p:nvPr/>
        </p:nvSpPr>
        <p:spPr>
          <a:xfrm>
            <a:off x="9219895" y="2144268"/>
            <a:ext cx="1143000" cy="42062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800" dirty="0" i="1">
                <a:solidFill>
                  <a:srgbClr val="16171D"/>
                </a:solidFill>
                <a:latin typeface="Cambria"/>
                <a:cs typeface="Cambria"/>
              </a:rPr>
              <a:t xml:space="preserve">x</a:t>
            </a:r>
            <a:endParaRPr lang="en-US" sz="1800" dirty="0"/>
          </a:p>
        </p:txBody>
      </p:sp>
      <p:sp>
        <p:nvSpPr>
          <p:cNvPr id="20" name="Shape 20"/>
          <p:cNvSpPr txBox="1"/>
          <p:nvPr/>
        </p:nvSpPr>
        <p:spPr>
          <a:xfrm>
            <a:off x="10362895" y="2144268"/>
            <a:ext cx="1143000" cy="42062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800" dirty="0" i="1">
                <a:solidFill>
                  <a:srgbClr val="16171D"/>
                </a:solidFill>
                <a:latin typeface="Cambria"/>
                <a:cs typeface="Cambria"/>
              </a:rPr>
              <a:t xml:space="preserve">y</a:t>
            </a:r>
            <a:endParaRPr lang="en-US" sz="1800" dirty="0"/>
          </a:p>
        </p:txBody>
      </p:sp>
      <p:sp>
        <p:nvSpPr>
          <p:cNvPr id="21" name="Shape 21"/>
          <p:cNvSpPr txBox="1"/>
          <p:nvPr/>
        </p:nvSpPr>
        <p:spPr>
          <a:xfrm>
            <a:off x="9219895" y="2564892"/>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0</a:t>
            </a:r>
            <a:endParaRPr lang="en-US" sz="1800" dirty="0"/>
          </a:p>
        </p:txBody>
      </p:sp>
      <p:sp>
        <p:nvSpPr>
          <p:cNvPr id="22" name="Shape 22"/>
          <p:cNvSpPr txBox="1"/>
          <p:nvPr/>
        </p:nvSpPr>
        <p:spPr>
          <a:xfrm>
            <a:off x="10362895" y="2564892"/>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5</a:t>
            </a:r>
            <a:endParaRPr lang="en-US" sz="1800" dirty="0"/>
          </a:p>
        </p:txBody>
      </p:sp>
      <p:sp>
        <p:nvSpPr>
          <p:cNvPr id="23" name="Shape 23"/>
          <p:cNvSpPr txBox="1"/>
          <p:nvPr/>
        </p:nvSpPr>
        <p:spPr>
          <a:xfrm>
            <a:off x="9219895" y="2985516"/>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2</a:t>
            </a:r>
            <a:endParaRPr lang="en-US" sz="1800" dirty="0"/>
          </a:p>
        </p:txBody>
      </p:sp>
      <p:sp>
        <p:nvSpPr>
          <p:cNvPr id="24" name="Shape 24"/>
          <p:cNvSpPr txBox="1"/>
          <p:nvPr/>
        </p:nvSpPr>
        <p:spPr>
          <a:xfrm>
            <a:off x="10362895" y="2985516"/>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13</a:t>
            </a:r>
            <a:endParaRPr lang="en-US" sz="1800" dirty="0"/>
          </a:p>
        </p:txBody>
      </p:sp>
      <p:sp>
        <p:nvSpPr>
          <p:cNvPr id="25" name="Shape 25"/>
          <p:cNvSpPr txBox="1"/>
          <p:nvPr/>
        </p:nvSpPr>
        <p:spPr>
          <a:xfrm>
            <a:off x="9219895" y="3406140"/>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4</a:t>
            </a:r>
            <a:endParaRPr lang="en-US" sz="1800" dirty="0"/>
          </a:p>
        </p:txBody>
      </p:sp>
      <p:sp>
        <p:nvSpPr>
          <p:cNvPr id="26" name="Shape 26"/>
          <p:cNvSpPr txBox="1"/>
          <p:nvPr/>
        </p:nvSpPr>
        <p:spPr>
          <a:xfrm>
            <a:off x="10362895" y="3406140"/>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21</a:t>
            </a:r>
            <a:endParaRPr lang="en-US" sz="1800" dirty="0"/>
          </a:p>
        </p:txBody>
      </p:sp>
      <p:sp>
        <p:nvSpPr>
          <p:cNvPr id="27" name="Shape 27"/>
          <p:cNvSpPr txBox="1"/>
          <p:nvPr/>
        </p:nvSpPr>
        <p:spPr>
          <a:xfrm>
            <a:off x="9219895" y="3826764"/>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8</a:t>
            </a:r>
            <a:endParaRPr lang="en-US" sz="1800" dirty="0"/>
          </a:p>
        </p:txBody>
      </p:sp>
      <p:sp>
        <p:nvSpPr>
          <p:cNvPr id="28" name="Shape 28"/>
          <p:cNvSpPr txBox="1"/>
          <p:nvPr/>
        </p:nvSpPr>
        <p:spPr>
          <a:xfrm>
            <a:off x="10362895" y="3826764"/>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29</a:t>
            </a:r>
            <a:endParaRPr lang="en-US" sz="1800" dirty="0"/>
          </a:p>
        </p:txBody>
      </p:sp>
      <p:sp>
        <p:nvSpPr>
          <p:cNvPr id="29" name="Shape 29"/>
          <p:cNvSpPr txBox="1"/>
          <p:nvPr/>
        </p:nvSpPr>
        <p:spPr>
          <a:xfrm>
            <a:off x="6305398" y="4342638"/>
            <a:ext cx="52004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0 → 2: </a:t>
            </a:r>
            <a:r>
              <a:rPr lang="en-US" sz="1575" dirty="0">
                <a:solidFill>
                  <a:srgbClr val="16171D"/>
                </a:solidFill>
                <a:latin typeface="Cambria"/>
                <a:cs typeface="Cambria"/>
              </a:rPr>
              <a:t xml:space="preserve">8</a:t>
            </a:r>
            <a:r>
              <a:rPr lang="en-US" sz="1575" dirty="0">
                <a:solidFill>
                  <a:srgbClr val="16171D"/>
                </a:solidFill>
                <a:latin typeface="Cambria"/>
                <a:cs typeface="Cambria"/>
              </a:rPr>
              <a:t xml:space="preserve">/</a:t>
            </a:r>
            <a:r>
              <a:rPr lang="en-US" sz="1575" dirty="0">
                <a:solidFill>
                  <a:srgbClr val="16171D"/>
                </a:solidFill>
                <a:latin typeface="Cambria"/>
                <a:cs typeface="Cambria"/>
              </a:rPr>
              <a:t xml:space="preserve">2</a:t>
            </a:r>
            <a:r>
              <a:rPr lang="en-US" sz="1575" dirty="0">
                <a:solidFill>
                  <a:srgbClr val="16171D"/>
                </a:solidFill>
                <a:latin typeface="Cambria"/>
                <a:cs typeface="Cambria"/>
              </a:rPr>
              <a:t xml:space="preserve"> = 4</a:t>
            </a:r>
            <a:r>
              <a:rPr lang="en-US" sz="1575" dirty="0">
                <a:solidFill>
                  <a:srgbClr val="16171D"/>
                </a:solidFill>
                <a:latin typeface="Segoe UI"/>
                <a:cs typeface="Segoe UI"/>
              </a:rPr>
              <a:t xml:space="preserve">. 2 → 4: </a:t>
            </a:r>
            <a:r>
              <a:rPr lang="en-US" sz="1575" dirty="0">
                <a:solidFill>
                  <a:srgbClr val="16171D"/>
                </a:solidFill>
                <a:latin typeface="Cambria"/>
                <a:cs typeface="Cambria"/>
              </a:rPr>
              <a:t xml:space="preserve">8</a:t>
            </a:r>
            <a:r>
              <a:rPr lang="en-US" sz="1575" dirty="0">
                <a:solidFill>
                  <a:srgbClr val="16171D"/>
                </a:solidFill>
                <a:latin typeface="Cambria"/>
                <a:cs typeface="Cambria"/>
              </a:rPr>
              <a:t xml:space="preserve">/</a:t>
            </a:r>
            <a:r>
              <a:rPr lang="en-US" sz="1575" dirty="0">
                <a:solidFill>
                  <a:srgbClr val="16171D"/>
                </a:solidFill>
                <a:latin typeface="Cambria"/>
                <a:cs typeface="Cambria"/>
              </a:rPr>
              <a:t xml:space="preserve">2</a:t>
            </a:r>
            <a:r>
              <a:rPr lang="en-US" sz="1575" dirty="0">
                <a:solidFill>
                  <a:srgbClr val="16171D"/>
                </a:solidFill>
                <a:latin typeface="Cambria"/>
                <a:cs typeface="Cambria"/>
              </a:rPr>
              <a:t xml:space="preserve"> = 4</a:t>
            </a:r>
            <a:r>
              <a:rPr lang="en-US" sz="1575" dirty="0">
                <a:solidFill>
                  <a:srgbClr val="16171D"/>
                </a:solidFill>
                <a:latin typeface="Segoe UI"/>
                <a:cs typeface="Segoe UI"/>
              </a:rPr>
              <a:t xml:space="preserve">. 4 → 8: </a:t>
            </a:r>
            <a:r>
              <a:rPr lang="en-US" sz="1575" dirty="0">
                <a:solidFill>
                  <a:srgbClr val="16171D"/>
                </a:solidFill>
                <a:latin typeface="Cambria"/>
                <a:cs typeface="Cambria"/>
              </a:rPr>
              <a:t xml:space="preserve">8</a:t>
            </a:r>
            <a:r>
              <a:rPr lang="en-US" sz="1575" dirty="0">
                <a:solidFill>
                  <a:srgbClr val="16171D"/>
                </a:solidFill>
                <a:latin typeface="Cambria"/>
                <a:cs typeface="Cambria"/>
              </a:rPr>
              <a:t xml:space="preserve">/</a:t>
            </a:r>
            <a:r>
              <a:rPr lang="en-US" sz="1575" dirty="0">
                <a:solidFill>
                  <a:srgbClr val="16171D"/>
                </a:solidFill>
                <a:latin typeface="Cambria"/>
                <a:cs typeface="Cambria"/>
              </a:rPr>
              <a:t xml:space="preserve">4</a:t>
            </a:r>
            <a:r>
              <a:rPr lang="en-US" sz="1575" dirty="0">
                <a:solidFill>
                  <a:srgbClr val="16171D"/>
                </a:solidFill>
                <a:latin typeface="Cambria"/>
                <a:cs typeface="Cambria"/>
              </a:rPr>
              <a:t xml:space="preserve"> = 2</a:t>
            </a:r>
            <a:r>
              <a:rPr lang="en-US" sz="1575" dirty="0">
                <a:solidFill>
                  <a:srgbClr val="16171D"/>
                </a:solidFill>
                <a:latin typeface="Segoe UI"/>
                <a:cs typeface="Segoe UI"/>
              </a:rPr>
              <a:t xml:space="preserve">.</a:t>
            </a:r>
            <a:endParaRPr lang="en-US" sz="1575" dirty="0"/>
          </a:p>
        </p:txBody>
      </p:sp>
      <p:sp>
        <p:nvSpPr>
          <p:cNvPr id="30" name="Shape 30"/>
          <p:cNvSpPr txBox="1"/>
          <p:nvPr/>
        </p:nvSpPr>
        <p:spPr>
          <a:xfrm>
            <a:off x="6305398" y="4732782"/>
            <a:ext cx="357132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Not linear</a:t>
            </a:r>
            <a:endParaRPr lang="en-US" sz="2325" dirty="0"/>
          </a:p>
        </p:txBody>
      </p:sp>
      <p:sp>
        <p:nvSpPr>
          <p:cNvPr id="31" name="Shape 31"/>
          <p:cNvSpPr txBox="1"/>
          <p:nvPr/>
        </p:nvSpPr>
        <p:spPr>
          <a:xfrm>
            <a:off x="6305398" y="5346954"/>
            <a:ext cx="5200498" cy="626364"/>
          </a:xfrm>
          <a:prstGeom prst="roundRect">
            <a:avLst>
              <a:gd name="adj" fmla="val 8000"/>
            </a:avLst>
          </a:prstGeom>
          <a:solidFill>
            <a:srgbClr val="FDF3E7"/>
          </a:solidFill>
          <a:ln>
            <a:noFill/>
          </a:ln>
        </p:spPr>
        <p:txBody>
          <a:bodyPr wrap="square" lIns="164592" tIns="73152" rIns="164592" bIns="73152" anchor="ctr">
            <a:noAutofit/>
          </a:bodyPr>
          <a:lstStyle/>
          <a:p>
            <a:pPr algn="l">
              <a:lnSpc>
                <a:spcPct val="100000"/>
              </a:lnSpc>
            </a:pPr>
            <a:r>
              <a:rPr lang="en-US" sz="1575" dirty="0">
                <a:solidFill>
                  <a:srgbClr val="16171D"/>
                </a:solidFill>
                <a:latin typeface="Segoe UI"/>
                <a:cs typeface="Segoe UI"/>
              </a:rPr>
              <a:t xml:space="preserve">The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-values go up by 8 each time, but the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-steps aren't equal.</a:t>
            </a:r>
            <a:endParaRPr lang="en-US" sz="1575" dirty="0"/>
          </a:p>
        </p:txBody>
      </p:sp>
      <p:sp>
        <p:nvSpPr>
          <p:cNvPr id="32" name="Slide Number 32"/>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24</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15"/>
                                        </p:tgtEl>
                                        <p:attrNameLst>
                                          <p:attrName>style.visibility</p:attrName>
                                        </p:attrNameLst>
                                      </p:cBhvr>
                                      <p:to>
                                        <p:strVal val="visible"/>
                                      </p:to>
                                    </p:set>
                                    <p:animEffect transition="in" filter="fade">
                                      <p:cBhvr>
                                        <p:cTn id="4" dur="500"/>
                                        <p:tgtEl>
                                          <p:spTgt spid="15"/>
                                        </p:tgtEl>
                                      </p:cBhvr>
                                    </p:animEffect>
                                    <p:anim calcmode="lin" valueType="num">
                                      <p:cBhvr>
                                        <p:cTn id="5" dur="500" fill="hold"/>
                                        <p:tgtEl>
                                          <p:spTgt spid="15"/>
                                        </p:tgtEl>
                                        <p:attrNameLst>
                                          <p:attrName>ppt_x</p:attrName>
                                        </p:attrNameLst>
                                      </p:cBhvr>
                                      <p:tavLst>
                                        <p:tav tm="0">
                                          <p:val>
                                            <p:strVal val="#ppt_x"/>
                                          </p:val>
                                        </p:tav>
                                        <p:tav tm="100000">
                                          <p:val>
                                            <p:strVal val="#ppt_x"/>
                                          </p:val>
                                        </p:tav>
                                      </p:tavLst>
                                    </p:anim>
                                    <p:anim calcmode="lin" valueType="num">
                                      <p:cBhvr>
                                        <p:cTn id="6" dur="500" fill="hold"/>
                                        <p:tgtEl>
                                          <p:spTgt spid="1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16"/>
                                        </p:tgtEl>
                                        <p:attrNameLst>
                                          <p:attrName>style.visibility</p:attrName>
                                        </p:attrNameLst>
                                      </p:cBhvr>
                                      <p:to>
                                        <p:strVal val="visible"/>
                                      </p:to>
                                    </p:set>
                                    <p:animEffect transition="in" filter="fade">
                                      <p:cBhvr>
                                        <p:cTn id="11" dur="500"/>
                                        <p:tgtEl>
                                          <p:spTgt spid="16"/>
                                        </p:tgtEl>
                                      </p:cBhvr>
                                    </p:animEffect>
                                    <p:anim calcmode="lin" valueType="num">
                                      <p:cBhvr>
                                        <p:cTn id="12" dur="500" fill="hold"/>
                                        <p:tgtEl>
                                          <p:spTgt spid="16"/>
                                        </p:tgtEl>
                                        <p:attrNameLst>
                                          <p:attrName>ppt_x</p:attrName>
                                        </p:attrNameLst>
                                      </p:cBhvr>
                                      <p:tavLst>
                                        <p:tav tm="0">
                                          <p:val>
                                            <p:strVal val="#ppt_x"/>
                                          </p:val>
                                        </p:tav>
                                        <p:tav tm="100000">
                                          <p:val>
                                            <p:strVal val="#ppt_x"/>
                                          </p:val>
                                        </p:tav>
                                      </p:tavLst>
                                    </p:anim>
                                    <p:anim calcmode="lin" valueType="num">
                                      <p:cBhvr>
                                        <p:cTn id="13" dur="500" fill="hold"/>
                                        <p:tgtEl>
                                          <p:spTgt spid="16"/>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17"/>
                                        </p:tgtEl>
                                        <p:attrNameLst>
                                          <p:attrName>style.visibility</p:attrName>
                                        </p:attrNameLst>
                                      </p:cBhvr>
                                      <p:to>
                                        <p:strVal val="visible"/>
                                      </p:to>
                                    </p:set>
                                    <p:animEffect transition="in" filter="fade">
                                      <p:cBhvr>
                                        <p:cTn id="18" dur="500"/>
                                        <p:tgtEl>
                                          <p:spTgt spid="17"/>
                                        </p:tgtEl>
                                      </p:cBhvr>
                                    </p:animEffect>
                                    <p:anim calcmode="lin" valueType="num">
                                      <p:cBhvr>
                                        <p:cTn id="19" dur="500" fill="hold"/>
                                        <p:tgtEl>
                                          <p:spTgt spid="17"/>
                                        </p:tgtEl>
                                        <p:attrNameLst>
                                          <p:attrName>ppt_w</p:attrName>
                                        </p:attrNameLst>
                                      </p:cBhvr>
                                      <p:tavLst>
                                        <p:tav tm="0">
                                          <p:val>
                                            <p:fltVal val="0"/>
                                          </p:val>
                                        </p:tav>
                                        <p:tav tm="100000">
                                          <p:val>
                                            <p:strVal val="#ppt_w"/>
                                          </p:val>
                                        </p:tav>
                                      </p:tavLst>
                                    </p:anim>
                                    <p:anim calcmode="lin" valueType="num">
                                      <p:cBhvr>
                                        <p:cTn id="20" dur="500" fill="hold"/>
                                        <p:tgtEl>
                                          <p:spTgt spid="17"/>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29"/>
                                        </p:tgtEl>
                                        <p:attrNameLst>
                                          <p:attrName>style.visibility</p:attrName>
                                        </p:attrNameLst>
                                      </p:cBhvr>
                                      <p:to>
                                        <p:strVal val="visible"/>
                                      </p:to>
                                    </p:set>
                                    <p:animEffect transition="in" filter="fade">
                                      <p:cBhvr>
                                        <p:cTn id="25" dur="500"/>
                                        <p:tgtEl>
                                          <p:spTgt spid="29"/>
                                        </p:tgtEl>
                                      </p:cBhvr>
                                    </p:animEffect>
                                    <p:anim calcmode="lin" valueType="num">
                                      <p:cBhvr>
                                        <p:cTn id="26" dur="500" fill="hold"/>
                                        <p:tgtEl>
                                          <p:spTgt spid="29"/>
                                        </p:tgtEl>
                                        <p:attrNameLst>
                                          <p:attrName>ppt_x</p:attrName>
                                        </p:attrNameLst>
                                      </p:cBhvr>
                                      <p:tavLst>
                                        <p:tav tm="0">
                                          <p:val>
                                            <p:strVal val="#ppt_x"/>
                                          </p:val>
                                        </p:tav>
                                        <p:tav tm="100000">
                                          <p:val>
                                            <p:strVal val="#ppt_x"/>
                                          </p:val>
                                        </p:tav>
                                      </p:tavLst>
                                    </p:anim>
                                    <p:anim calcmode="lin" valueType="num">
                                      <p:cBhvr>
                                        <p:cTn id="27" dur="500" fill="hold"/>
                                        <p:tgtEl>
                                          <p:spTgt spid="29"/>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53" presetClass="entr" presetSubtype="16" fill="hold" nodeType="clickEffect">
                                  <p:stCondLst>
                                    <p:cond delay="0"/>
                                  </p:stCondLst>
                                  <p:childTnLst>
                                    <p:set>
                                      <p:cBhvr>
                                        <p:cTn id="31" dur="1" fill="hold">
                                          <p:stCondLst>
                                            <p:cond delay="0"/>
                                          </p:stCondLst>
                                        </p:cTn>
                                        <p:tgtEl>
                                          <p:spTgt spid="30"/>
                                        </p:tgtEl>
                                        <p:attrNameLst>
                                          <p:attrName>style.visibility</p:attrName>
                                        </p:attrNameLst>
                                      </p:cBhvr>
                                      <p:to>
                                        <p:strVal val="visible"/>
                                      </p:to>
                                    </p:set>
                                    <p:animEffect transition="in" filter="fade">
                                      <p:cBhvr>
                                        <p:cTn id="32" dur="500"/>
                                        <p:tgtEl>
                                          <p:spTgt spid="30"/>
                                        </p:tgtEl>
                                      </p:cBhvr>
                                    </p:animEffect>
                                    <p:anim calcmode="lin" valueType="num">
                                      <p:cBhvr>
                                        <p:cTn id="33" dur="500" fill="hold"/>
                                        <p:tgtEl>
                                          <p:spTgt spid="30"/>
                                        </p:tgtEl>
                                        <p:attrNameLst>
                                          <p:attrName>ppt_w</p:attrName>
                                        </p:attrNameLst>
                                      </p:cBhvr>
                                      <p:tavLst>
                                        <p:tav tm="0">
                                          <p:val>
                                            <p:fltVal val="0"/>
                                          </p:val>
                                        </p:tav>
                                        <p:tav tm="100000">
                                          <p:val>
                                            <p:strVal val="#ppt_w"/>
                                          </p:val>
                                        </p:tav>
                                      </p:tavLst>
                                    </p:anim>
                                    <p:anim calcmode="lin" valueType="num">
                                      <p:cBhvr>
                                        <p:cTn id="34" dur="500" fill="hold"/>
                                        <p:tgtEl>
                                          <p:spTgt spid="30"/>
                                        </p:tgtEl>
                                        <p:attrNameLst>
                                          <p:attrName>ppt_h</p:attrName>
                                        </p:attrNameLst>
                                      </p:cBhvr>
                                      <p:tavLst>
                                        <p:tav tm="0">
                                          <p:val>
                                            <p:fltVal val="0"/>
                                          </p:val>
                                        </p:tav>
                                        <p:tav tm="100000">
                                          <p:val>
                                            <p:strVal val="#ppt_h"/>
                                          </p:val>
                                        </p:tav>
                                      </p:tavLst>
                                    </p:anim>
                                  </p:childTnLst>
                                </p:cTn>
                              </p:par>
                            </p:childTnLst>
                          </p:cTn>
                        </p:par>
                      </p:childTnLst>
                    </p:cTn>
                  </p:par>
                  <p:par>
                    <p:cTn id="43" fill="hold">
                      <p:stCondLst>
                        <p:cond delay="indefinite"/>
                      </p:stCondLst>
                      <p:childTnLst>
                        <p:par>
                          <p:cTn id="44" fill="hold">
                            <p:stCondLst>
                              <p:cond delay="0"/>
                            </p:stCondLst>
                            <p:childTnLst>
                              <p:par>
                                <p:cTn id="42" presetID="42" presetClass="entr" presetSubtype="0" fill="hold" nodeType="clickEffect">
                                  <p:stCondLst>
                                    <p:cond delay="0"/>
                                  </p:stCondLst>
                                  <p:childTnLst>
                                    <p:set>
                                      <p:cBhvr>
                                        <p:cTn id="38" dur="1" fill="hold">
                                          <p:stCondLst>
                                            <p:cond delay="0"/>
                                          </p:stCondLst>
                                        </p:cTn>
                                        <p:tgtEl>
                                          <p:spTgt spid="31"/>
                                        </p:tgtEl>
                                        <p:attrNameLst>
                                          <p:attrName>style.visibility</p:attrName>
                                        </p:attrNameLst>
                                      </p:cBhvr>
                                      <p:to>
                                        <p:strVal val="visible"/>
                                      </p:to>
                                    </p:set>
                                    <p:animEffect transition="in" filter="fade">
                                      <p:cBhvr>
                                        <p:cTn id="39" dur="500"/>
                                        <p:tgtEl>
                                          <p:spTgt spid="31"/>
                                        </p:tgtEl>
                                      </p:cBhvr>
                                    </p:animEffect>
                                    <p:anim calcmode="lin" valueType="num">
                                      <p:cBhvr>
                                        <p:cTn id="40" dur="500" fill="hold"/>
                                        <p:tgtEl>
                                          <p:spTgt spid="31"/>
                                        </p:tgtEl>
                                        <p:attrNameLst>
                                          <p:attrName>ppt_x</p:attrName>
                                        </p:attrNameLst>
                                      </p:cBhvr>
                                      <p:tavLst>
                                        <p:tav tm="0">
                                          <p:val>
                                            <p:strVal val="#ppt_x"/>
                                          </p:val>
                                        </p:tav>
                                        <p:tav tm="100000">
                                          <p:val>
                                            <p:strVal val="#ppt_x"/>
                                          </p:val>
                                        </p:tav>
                                      </p:tavLst>
                                    </p:anim>
                                    <p:anim calcmode="lin" valueType="num">
                                      <p:cBhvr>
                                        <p:cTn id="41" dur="500" fill="hold"/>
                                        <p:tgtEl>
                                          <p:spTgt spid="31"/>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Lesson 6 · Activity 6.1 · Summary</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Is the table linear?</a:t>
            </a:r>
            <a:endParaRPr lang="en-US" sz="3450" dirty="0"/>
          </a:p>
        </p:txBody>
      </p:sp>
      <p:sp>
        <p:nvSpPr>
          <p:cNvPr id="4" name="Shape 4"/>
          <p:cNvSpPr txBox="1"/>
          <p:nvPr/>
        </p:nvSpPr>
        <p:spPr>
          <a:xfrm>
            <a:off x="685800" y="1713738"/>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Check the inputs. If they're </a:t>
            </a:r>
            <a:r>
              <a:rPr lang="en-US" sz="1950" dirty="0" b="1">
                <a:solidFill>
                  <a:srgbClr val="16171D"/>
                </a:solidFill>
                <a:latin typeface="Segoe UI"/>
                <a:cs typeface="Segoe UI"/>
              </a:rPr>
              <a:t xml:space="preserve">not consecutive</a:t>
            </a:r>
            <a:r>
              <a:rPr lang="en-US" sz="1950" dirty="0">
                <a:solidFill>
                  <a:srgbClr val="16171D"/>
                </a:solidFill>
                <a:latin typeface="Segoe UI"/>
                <a:cs typeface="Segoe UI"/>
              </a:rPr>
              <a:t xml:space="preserve"> (or not in order), first differences won't work.</a:t>
            </a:r>
            <a:endParaRPr lang="en-US" sz="1950" dirty="0"/>
          </a:p>
        </p:txBody>
      </p:sp>
      <p:sp>
        <p:nvSpPr>
          <p:cNvPr id="5" name="Shape 5"/>
          <p:cNvSpPr txBox="1"/>
          <p:nvPr/>
        </p:nvSpPr>
        <p:spPr>
          <a:xfrm>
            <a:off x="685800" y="2572512"/>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Calculate the slope, </a:t>
            </a:r>
            <a:r>
              <a:rPr lang="en-US" sz="1950" dirty="0">
                <a:solidFill>
                  <a:srgbClr val="16171D"/>
                </a:solidFill>
                <a:latin typeface="Cambria"/>
                <a:cs typeface="Cambria"/>
              </a:rPr>
              <a:t xml:space="preserve">(</a:t>
            </a:r>
            <a:r>
              <a:rPr lang="en-US" sz="1950" dirty="0">
                <a:solidFill>
                  <a:srgbClr val="16171D"/>
                </a:solidFill>
                <a:latin typeface="Cambria"/>
                <a:cs typeface="Cambria"/>
              </a:rPr>
              <a:t xml:space="preserve">change in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a:t>
            </a:r>
            <a:r>
              <a:rPr lang="en-US" sz="1950" dirty="0">
                <a:solidFill>
                  <a:srgbClr val="16171D"/>
                </a:solidFill>
                <a:latin typeface="Cambria"/>
                <a:cs typeface="Cambria"/>
              </a:rPr>
              <a:t xml:space="preserve">/</a:t>
            </a:r>
            <a:r>
              <a:rPr lang="en-US" sz="1950" dirty="0">
                <a:solidFill>
                  <a:srgbClr val="16171D"/>
                </a:solidFill>
                <a:latin typeface="Cambria"/>
                <a:cs typeface="Cambria"/>
              </a:rPr>
              <a:t xml:space="preserve">(</a:t>
            </a:r>
            <a:r>
              <a:rPr lang="en-US" sz="1950" dirty="0">
                <a:solidFill>
                  <a:srgbClr val="16171D"/>
                </a:solidFill>
                <a:latin typeface="Cambria"/>
                <a:cs typeface="Cambria"/>
              </a:rPr>
              <a:t xml:space="preserve">change in </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a:t>
            </a:r>
            <a:r>
              <a:rPr lang="en-US" sz="1950" dirty="0">
                <a:solidFill>
                  <a:srgbClr val="16171D"/>
                </a:solidFill>
                <a:latin typeface="Segoe UI"/>
                <a:cs typeface="Segoe UI"/>
              </a:rPr>
              <a:t xml:space="preserve">, between </a:t>
            </a:r>
            <a:r>
              <a:rPr lang="en-US" sz="1950" dirty="0" b="1">
                <a:solidFill>
                  <a:srgbClr val="16171D"/>
                </a:solidFill>
                <a:latin typeface="Segoe UI"/>
                <a:cs typeface="Segoe UI"/>
              </a:rPr>
              <a:t xml:space="preserve">every pair</a:t>
            </a:r>
            <a:r>
              <a:rPr lang="en-US" sz="1950" dirty="0">
                <a:solidFill>
                  <a:srgbClr val="16171D"/>
                </a:solidFill>
                <a:latin typeface="Segoe UI"/>
                <a:cs typeface="Segoe UI"/>
              </a:rPr>
              <a:t xml:space="preserve"> of points.</a:t>
            </a:r>
            <a:endParaRPr lang="en-US" sz="1950" dirty="0"/>
          </a:p>
        </p:txBody>
      </p:sp>
      <p:sp>
        <p:nvSpPr>
          <p:cNvPr id="6" name="Shape 6"/>
          <p:cNvSpPr txBox="1"/>
          <p:nvPr/>
        </p:nvSpPr>
        <p:spPr>
          <a:xfrm>
            <a:off x="685800" y="3134106"/>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If the slope is always the same, the table is linear. Use the slope and a point to find </a:t>
            </a:r>
            <a:r>
              <a:rPr lang="en-US" sz="1950" dirty="0" b="1" i="1">
                <a:solidFill>
                  <a:srgbClr val="3050B8"/>
                </a:solidFill>
                <a:latin typeface="Cambria"/>
                <a:cs typeface="Cambria"/>
              </a:rPr>
              <a:t xml:space="preserve">b</a:t>
            </a:r>
            <a:r>
              <a:rPr lang="en-US" sz="1950" dirty="0">
                <a:solidFill>
                  <a:srgbClr val="16171D"/>
                </a:solidFill>
                <a:latin typeface="Segoe UI"/>
                <a:cs typeface="Segoe UI"/>
              </a:rPr>
              <a:t xml:space="preserve">.</a:t>
            </a:r>
            <a:endParaRPr lang="en-US" sz="1950" dirty="0"/>
          </a:p>
        </p:txBody>
      </p:sp>
      <p:sp>
        <p:nvSpPr>
          <p:cNvPr id="7" name="Shape 7"/>
          <p:cNvSpPr txBox="1"/>
          <p:nvPr/>
        </p:nvSpPr>
        <p:spPr>
          <a:xfrm>
            <a:off x="685800" y="399288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4. It's a </a:t>
            </a:r>
            <a:r>
              <a:rPr lang="en-US" sz="1950" dirty="0" b="1">
                <a:solidFill>
                  <a:srgbClr val="16171D"/>
                </a:solidFill>
                <a:latin typeface="Segoe UI"/>
                <a:cs typeface="Segoe UI"/>
              </a:rPr>
              <a:t xml:space="preserve">direct variation</a:t>
            </a:r>
            <a:r>
              <a:rPr lang="en-US" sz="1950" dirty="0">
                <a:solidFill>
                  <a:srgbClr val="16171D"/>
                </a:solidFill>
                <a:latin typeface="Segoe UI"/>
                <a:cs typeface="Segoe UI"/>
              </a:rPr>
              <a:t xml:space="preserve"> only if it passes through </a:t>
            </a:r>
            <a:r>
              <a:rPr lang="en-US" sz="1950" dirty="0" b="1">
                <a:solidFill>
                  <a:srgbClr val="3050B8"/>
                </a:solidFill>
                <a:latin typeface="Cambria"/>
                <a:cs typeface="Cambria"/>
              </a:rPr>
              <a:t xml:space="preserve">(0, 0)</a:t>
            </a:r>
            <a:r>
              <a:rPr lang="en-US" sz="1950" dirty="0">
                <a:solidFill>
                  <a:srgbClr val="16171D"/>
                </a:solidFill>
                <a:latin typeface="Segoe UI"/>
                <a:cs typeface="Segoe UI"/>
              </a:rPr>
              <a:t xml:space="preserve">: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kx</a:t>
            </a:r>
            <a:r>
              <a:rPr lang="en-US" sz="1950" dirty="0">
                <a:solidFill>
                  <a:srgbClr val="16171D"/>
                </a:solidFill>
                <a:latin typeface="Segoe UI"/>
                <a:cs typeface="Segoe UI"/>
              </a:rPr>
              <a:t xml:space="preserve">.</a:t>
            </a:r>
            <a:endParaRPr lang="en-US" sz="1950" dirty="0"/>
          </a:p>
        </p:txBody>
      </p:sp>
      <p:sp>
        <p:nvSpPr>
          <p:cNvPr id="8" name="Slide Number 8"/>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25</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500"/>
                                        <p:tgtEl>
                                          <p:spTgt spid="5"/>
                                        </p:tgtEl>
                                      </p:cBhvr>
                                    </p:animEffect>
                                    <p:anim calcmode="lin" valueType="num">
                                      <p:cBhvr>
                                        <p:cTn id="12" dur="500" fill="hold"/>
                                        <p:tgtEl>
                                          <p:spTgt spid="5"/>
                                        </p:tgtEl>
                                        <p:attrNameLst>
                                          <p:attrName>ppt_x</p:attrName>
                                        </p:attrNameLst>
                                      </p:cBhvr>
                                      <p:tavLst>
                                        <p:tav tm="0">
                                          <p:val>
                                            <p:strVal val="#ppt_x"/>
                                          </p:val>
                                        </p:tav>
                                        <p:tav tm="100000">
                                          <p:val>
                                            <p:strVal val="#ppt_x"/>
                                          </p:val>
                                        </p:tav>
                                      </p:tavLst>
                                    </p:anim>
                                    <p:anim calcmode="lin" valueType="num">
                                      <p:cBhvr>
                                        <p:cTn id="13"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00"/>
                                        <p:tgtEl>
                                          <p:spTgt spid="6"/>
                                        </p:tgtEl>
                                      </p:cBhvr>
                                    </p:animEffect>
                                    <p:anim calcmode="lin" valueType="num">
                                      <p:cBhvr>
                                        <p:cTn id="19" dur="500" fill="hold"/>
                                        <p:tgtEl>
                                          <p:spTgt spid="6"/>
                                        </p:tgtEl>
                                        <p:attrNameLst>
                                          <p:attrName>ppt_x</p:attrName>
                                        </p:attrNameLst>
                                      </p:cBhvr>
                                      <p:tavLst>
                                        <p:tav tm="0">
                                          <p:val>
                                            <p:strVal val="#ppt_x"/>
                                          </p:val>
                                        </p:tav>
                                        <p:tav tm="100000">
                                          <p:val>
                                            <p:strVal val="#ppt_x"/>
                                          </p:val>
                                        </p:tav>
                                      </p:tavLst>
                                    </p:anim>
                                    <p:anim calcmode="lin" valueType="num">
                                      <p:cBhvr>
                                        <p:cTn id="20"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7"/>
                                        </p:tgtEl>
                                        <p:attrNameLst>
                                          <p:attrName>style.visibility</p:attrName>
                                        </p:attrNameLst>
                                      </p:cBhvr>
                                      <p:to>
                                        <p:strVal val="visible"/>
                                      </p:to>
                                    </p:set>
                                    <p:animEffect transition="in" filter="fade">
                                      <p:cBhvr>
                                        <p:cTn id="25" dur="500"/>
                                        <p:tgtEl>
                                          <p:spTgt spid="7"/>
                                        </p:tgtEl>
                                      </p:cBhvr>
                                    </p:animEffect>
                                    <p:anim calcmode="lin" valueType="num">
                                      <p:cBhvr>
                                        <p:cTn id="26" dur="500" fill="hold"/>
                                        <p:tgtEl>
                                          <p:spTgt spid="7"/>
                                        </p:tgtEl>
                                        <p:attrNameLst>
                                          <p:attrName>ppt_x</p:attrName>
                                        </p:attrNameLst>
                                      </p:cBhvr>
                                      <p:tavLst>
                                        <p:tav tm="0">
                                          <p:val>
                                            <p:strVal val="#ppt_x"/>
                                          </p:val>
                                        </p:tav>
                                        <p:tav tm="100000">
                                          <p:val>
                                            <p:strVal val="#ppt_x"/>
                                          </p:val>
                                        </p:tav>
                                      </p:tavLst>
                                    </p:anim>
                                    <p:anim calcmode="lin" valueType="num">
                                      <p:cBhvr>
                                        <p:cTn id="27" dur="500" fill="hold"/>
                                        <p:tgtEl>
                                          <p:spTgt spid="7"/>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2</a:t>
            </a:r>
            <a:endParaRPr lang="en-US" sz="1200" dirty="0"/>
          </a:p>
        </p:txBody>
      </p:sp>
      <p:sp>
        <p:nvSpPr>
          <p:cNvPr id="3" name="Shape 3"/>
          <p:cNvSpPr txBox="1"/>
          <p:nvPr/>
        </p:nvSpPr>
        <p:spPr>
          <a:xfrm>
            <a:off x="685800" y="2512314"/>
            <a:ext cx="10820095" cy="13121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Back to Topic 2</a:t>
            </a:r>
            <a:endParaRPr lang="en-US" sz="8250" dirty="0"/>
          </a:p>
        </p:txBody>
      </p:sp>
      <p:sp>
        <p:nvSpPr>
          <p:cNvPr id="4" name="Shape 4"/>
          <p:cNvSpPr txBox="1"/>
          <p:nvPr/>
        </p:nvSpPr>
        <p:spPr>
          <a:xfrm>
            <a:off x="685800" y="3995928"/>
            <a:ext cx="10820095" cy="3977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Catch-up done. Now today's Topic 2 lesson.</a:t>
            </a:r>
            <a:endParaRPr lang="en-US" sz="2250" dirty="0"/>
          </a:p>
        </p:txBody>
      </p:sp>
      <p:sp>
        <p:nvSpPr>
          <p:cNvPr id="5" name="Slide Number 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26</a:t>
            </a:fld>
          </a:p>
        </p:txBody>
      </p:sp>
    </p:spTree>
  </p:cSld>
  <p:clrMapOvr>
    <a:masterClrMapping/>
  </p:clrMapOvr>
  <p:transition spd="med">
    <p:fade/>
  </p:transition>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Today's Plan</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Today's plan</a:t>
            </a:r>
            <a:endParaRPr lang="en-US" sz="3450" dirty="0"/>
          </a:p>
        </p:txBody>
      </p:sp>
      <p:sp>
        <p:nvSpPr>
          <p:cNvPr id="4" name="Shape 4"/>
          <p:cNvSpPr txBox="1"/>
          <p:nvPr/>
        </p:nvSpPr>
        <p:spPr>
          <a:xfrm>
            <a:off x="685800" y="161848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Bell work (5 min)</a:t>
            </a:r>
            <a:endParaRPr lang="en-US" sz="1950" dirty="0"/>
          </a:p>
        </p:txBody>
      </p:sp>
      <p:sp>
        <p:nvSpPr>
          <p:cNvPr id="5" name="Shape 5"/>
          <p:cNvSpPr txBox="1"/>
          <p:nvPr/>
        </p:nvSpPr>
        <p:spPr>
          <a:xfrm>
            <a:off x="685800" y="2141982"/>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Activity 2.2: horizontal vs. vertical dilations ★ Essential</a:t>
            </a:r>
            <a:endParaRPr lang="en-US" sz="1950" dirty="0"/>
          </a:p>
        </p:txBody>
      </p:sp>
      <p:sp>
        <p:nvSpPr>
          <p:cNvPr id="6" name="Shape 6"/>
          <p:cNvSpPr txBox="1"/>
          <p:nvPr/>
        </p:nvSpPr>
        <p:spPr>
          <a:xfrm>
            <a:off x="685800" y="266547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Activity 2.3: describe and graph ★ Essential</a:t>
            </a:r>
            <a:endParaRPr lang="en-US" sz="1950" dirty="0"/>
          </a:p>
        </p:txBody>
      </p:sp>
      <p:sp>
        <p:nvSpPr>
          <p:cNvPr id="7" name="Shape 7"/>
          <p:cNvSpPr txBox="1"/>
          <p:nvPr/>
        </p:nvSpPr>
        <p:spPr>
          <a:xfrm>
            <a:off x="685800" y="318897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Talk the Talk</a:t>
            </a:r>
            <a:endParaRPr lang="en-US" sz="1950" dirty="0"/>
          </a:p>
        </p:txBody>
      </p:sp>
      <p:sp>
        <p:nvSpPr>
          <p:cNvPr id="8" name="Shape 8"/>
          <p:cNvSpPr txBox="1"/>
          <p:nvPr/>
        </p:nvSpPr>
        <p:spPr>
          <a:xfrm>
            <a:off x="685800" y="3712464"/>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Exit ticket</a:t>
            </a:r>
            <a:endParaRPr lang="en-US" sz="1950" dirty="0"/>
          </a:p>
        </p:txBody>
      </p:sp>
      <p:sp>
        <p:nvSpPr>
          <p:cNvPr id="9" name="Shape 9"/>
          <p:cNvSpPr txBox="1"/>
          <p:nvPr/>
        </p:nvSpPr>
        <p:spPr>
          <a:xfrm>
            <a:off x="685800" y="4235958"/>
            <a:ext cx="7628725" cy="397764"/>
          </a:xfrm>
          <a:prstGeom prst="roundRect">
            <a:avLst>
              <a:gd name="adj" fmla="val 8000"/>
            </a:avLst>
          </a:prstGeom>
          <a:solidFill>
            <a:srgbClr val="FDF3E7"/>
          </a:solidFill>
          <a:ln>
            <a:noFill/>
          </a:ln>
        </p:spPr>
        <p:txBody>
          <a:bodyPr wrap="square" lIns="164592" tIns="73152" rIns="164592" bIns="73152" anchor="ctr">
            <a:noAutofit/>
          </a:bodyPr>
          <a:lstStyle/>
          <a:p>
            <a:pPr algn="l">
              <a:lnSpc>
                <a:spcPct val="100000"/>
              </a:lnSpc>
            </a:pPr>
            <a:r>
              <a:rPr lang="en-US" sz="1650" dirty="0">
                <a:solidFill>
                  <a:srgbClr val="16171D"/>
                </a:solidFill>
                <a:latin typeface="Segoe UI"/>
                <a:cs typeface="Segoe UI"/>
              </a:rPr>
              <a:t xml:space="preserve">One part at a time. Ask for help or a break whenever you need it.</a:t>
            </a:r>
            <a:endParaRPr lang="en-US" sz="1650" dirty="0"/>
          </a:p>
        </p:txBody>
      </p:sp>
      <p:sp>
        <p:nvSpPr>
          <p:cNvPr id="10" name="Slide Number 10"/>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27</a:t>
            </a:fld>
          </a:p>
        </p:txBody>
      </p:sp>
    </p:spTree>
  </p:cSld>
  <p:clrMapOvr>
    <a:masterClrMapping/>
  </p:clrMapOvr>
  <p:transition spd="med">
    <p:fade/>
  </p:transition>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Activity 2.2 · Comparing Vertical and Horizontal Dilations · SE pp. 295–296 · ★ Essential</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Change the outputs or the inputs of </a:t>
            </a:r>
            <a:r>
              <a:rPr lang="en-US" sz="3450" dirty="0" b="1" i="1">
                <a:solidFill>
                  <a:srgbClr val="16171D"/>
                </a:solidFill>
                <a:latin typeface="Cambria"/>
                <a:cs typeface="Cambria"/>
              </a:rPr>
              <a:t xml:space="preserve">f</a:t>
            </a:r>
            <a:r>
              <a:rPr lang="en-US" sz="3450" dirty="0" b="1">
                <a:solidFill>
                  <a:srgbClr val="16171D"/>
                </a:solidFill>
                <a:latin typeface="Cambria"/>
                <a:cs typeface="Cambria"/>
              </a:rPr>
              <a:t xml:space="preserve">(</a:t>
            </a:r>
            <a:r>
              <a:rPr lang="en-US" sz="3450" dirty="0" b="1" i="1">
                <a:solidFill>
                  <a:srgbClr val="16171D"/>
                </a:solidFill>
                <a:latin typeface="Cambria"/>
                <a:cs typeface="Cambria"/>
              </a:rPr>
              <a:t xml:space="preserve">x</a:t>
            </a:r>
            <a:r>
              <a:rPr lang="en-US" sz="3450" dirty="0" b="1">
                <a:solidFill>
                  <a:srgbClr val="16171D"/>
                </a:solidFill>
                <a:latin typeface="Cambria"/>
                <a:cs typeface="Cambria"/>
              </a:rPr>
              <a:t xml:space="preserve">) = </a:t>
            </a:r>
            <a:r>
              <a:rPr lang="en-US" sz="3450" dirty="0" b="1" i="1">
                <a:solidFill>
                  <a:srgbClr val="16171D"/>
                </a:solidFill>
                <a:latin typeface="Cambria"/>
                <a:cs typeface="Cambria"/>
              </a:rPr>
              <a:t xml:space="preserve">x</a:t>
            </a:r>
            <a:endParaRPr lang="en-US" sz="3450" dirty="0"/>
          </a:p>
        </p:txBody>
      </p:sp>
      <p:sp>
        <p:nvSpPr>
          <p:cNvPr id="4" name="Shape 4"/>
          <p:cNvSpPr txBox="1"/>
          <p:nvPr/>
        </p:nvSpPr>
        <p:spPr>
          <a:xfrm>
            <a:off x="685800" y="1618488"/>
            <a:ext cx="33526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Outputs × 2: </a:t>
            </a:r>
            <a:r>
              <a:rPr lang="en-US" sz="1575" dirty="0" i="1">
                <a:solidFill>
                  <a:srgbClr val="16171D"/>
                </a:solidFill>
                <a:latin typeface="Cambria"/>
                <a:cs typeface="Cambria"/>
              </a:rPr>
              <a:t xml:space="preserve">a</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2</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a:t>
            </a:r>
            <a:endParaRPr lang="en-US" sz="1575" dirty="0"/>
          </a:p>
        </p:txBody>
      </p:sp>
      <p:sp>
        <p:nvSpPr>
          <p:cNvPr id="5" name="Shape 5"/>
          <p:cNvSpPr txBox="1"/>
          <p:nvPr/>
        </p:nvSpPr>
        <p:spPr>
          <a:xfrm>
            <a:off x="685800" y="2008632"/>
            <a:ext cx="1143000" cy="39776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650" dirty="0" i="1">
                <a:solidFill>
                  <a:srgbClr val="16171D"/>
                </a:solidFill>
                <a:latin typeface="Cambria"/>
                <a:cs typeface="Cambria"/>
              </a:rPr>
              <a:t xml:space="preserve">x</a:t>
            </a:r>
            <a:endParaRPr lang="en-US" sz="1650" dirty="0"/>
          </a:p>
        </p:txBody>
      </p:sp>
      <p:sp>
        <p:nvSpPr>
          <p:cNvPr id="6" name="Shape 6"/>
          <p:cNvSpPr txBox="1"/>
          <p:nvPr/>
        </p:nvSpPr>
        <p:spPr>
          <a:xfrm>
            <a:off x="1828800" y="2008632"/>
            <a:ext cx="1143000" cy="39776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650" dirty="0" i="1">
                <a:solidFill>
                  <a:srgbClr val="16171D"/>
                </a:solidFill>
                <a:latin typeface="Cambria"/>
                <a:cs typeface="Cambria"/>
              </a:rPr>
              <a:t xml:space="preserve">a(x)</a:t>
            </a:r>
            <a:endParaRPr lang="en-US" sz="1650" dirty="0"/>
          </a:p>
        </p:txBody>
      </p:sp>
      <p:sp>
        <p:nvSpPr>
          <p:cNvPr id="7" name="Shape 7"/>
          <p:cNvSpPr txBox="1"/>
          <p:nvPr/>
        </p:nvSpPr>
        <p:spPr>
          <a:xfrm>
            <a:off x="685800" y="2406396"/>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8" name="Shape 8"/>
          <p:cNvSpPr txBox="1"/>
          <p:nvPr/>
        </p:nvSpPr>
        <p:spPr>
          <a:xfrm>
            <a:off x="685800" y="2406396"/>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a:t>
            </a:r>
            <a:endParaRPr lang="en-US" sz="1650" dirty="0"/>
          </a:p>
        </p:txBody>
      </p:sp>
      <p:sp>
        <p:nvSpPr>
          <p:cNvPr id="9" name="Shape 9"/>
          <p:cNvSpPr txBox="1"/>
          <p:nvPr/>
        </p:nvSpPr>
        <p:spPr>
          <a:xfrm>
            <a:off x="1828800" y="2406396"/>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10" name="Shape 10"/>
          <p:cNvSpPr txBox="1"/>
          <p:nvPr/>
        </p:nvSpPr>
        <p:spPr>
          <a:xfrm>
            <a:off x="1828800" y="2406396"/>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−4</a:t>
            </a:r>
            <a:endParaRPr lang="en-US" sz="1650" dirty="0"/>
          </a:p>
        </p:txBody>
      </p:sp>
      <p:sp>
        <p:nvSpPr>
          <p:cNvPr id="11" name="Shape 11"/>
          <p:cNvSpPr txBox="1"/>
          <p:nvPr/>
        </p:nvSpPr>
        <p:spPr>
          <a:xfrm>
            <a:off x="685800" y="2804160"/>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12" name="Shape 12"/>
          <p:cNvSpPr txBox="1"/>
          <p:nvPr/>
        </p:nvSpPr>
        <p:spPr>
          <a:xfrm>
            <a:off x="685800" y="2804160"/>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a:t>
            </a:r>
            <a:endParaRPr lang="en-US" sz="1650" dirty="0"/>
          </a:p>
        </p:txBody>
      </p:sp>
      <p:sp>
        <p:nvSpPr>
          <p:cNvPr id="13" name="Shape 13"/>
          <p:cNvSpPr txBox="1"/>
          <p:nvPr/>
        </p:nvSpPr>
        <p:spPr>
          <a:xfrm>
            <a:off x="1828800" y="2804160"/>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14" name="Shape 14"/>
          <p:cNvSpPr txBox="1"/>
          <p:nvPr/>
        </p:nvSpPr>
        <p:spPr>
          <a:xfrm>
            <a:off x="1828800" y="2804160"/>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a:t>
            </a:r>
            <a:endParaRPr lang="en-US" sz="1650" dirty="0"/>
          </a:p>
        </p:txBody>
      </p:sp>
      <p:sp>
        <p:nvSpPr>
          <p:cNvPr id="15" name="Shape 15"/>
          <p:cNvSpPr txBox="1"/>
          <p:nvPr/>
        </p:nvSpPr>
        <p:spPr>
          <a:xfrm>
            <a:off x="685800" y="3201924"/>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16" name="Shape 16"/>
          <p:cNvSpPr txBox="1"/>
          <p:nvPr/>
        </p:nvSpPr>
        <p:spPr>
          <a:xfrm>
            <a:off x="685800" y="3201924"/>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0</a:t>
            </a:r>
            <a:endParaRPr lang="en-US" sz="1650" dirty="0"/>
          </a:p>
        </p:txBody>
      </p:sp>
      <p:sp>
        <p:nvSpPr>
          <p:cNvPr id="17" name="Shape 17"/>
          <p:cNvSpPr txBox="1"/>
          <p:nvPr/>
        </p:nvSpPr>
        <p:spPr>
          <a:xfrm>
            <a:off x="1828800" y="3201924"/>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18" name="Shape 18"/>
          <p:cNvSpPr txBox="1"/>
          <p:nvPr/>
        </p:nvSpPr>
        <p:spPr>
          <a:xfrm>
            <a:off x="1828800" y="3201924"/>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0</a:t>
            </a:r>
            <a:endParaRPr lang="en-US" sz="1650" dirty="0"/>
          </a:p>
        </p:txBody>
      </p:sp>
      <p:sp>
        <p:nvSpPr>
          <p:cNvPr id="19" name="Shape 19"/>
          <p:cNvSpPr txBox="1"/>
          <p:nvPr/>
        </p:nvSpPr>
        <p:spPr>
          <a:xfrm>
            <a:off x="685800" y="3599688"/>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20" name="Shape 20"/>
          <p:cNvSpPr txBox="1"/>
          <p:nvPr/>
        </p:nvSpPr>
        <p:spPr>
          <a:xfrm>
            <a:off x="685800" y="3599688"/>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a:t>
            </a:r>
            <a:endParaRPr lang="en-US" sz="1650" dirty="0"/>
          </a:p>
        </p:txBody>
      </p:sp>
      <p:sp>
        <p:nvSpPr>
          <p:cNvPr id="21" name="Shape 21"/>
          <p:cNvSpPr txBox="1"/>
          <p:nvPr/>
        </p:nvSpPr>
        <p:spPr>
          <a:xfrm>
            <a:off x="1828800" y="3599688"/>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22" name="Shape 22"/>
          <p:cNvSpPr txBox="1"/>
          <p:nvPr/>
        </p:nvSpPr>
        <p:spPr>
          <a:xfrm>
            <a:off x="1828800" y="3599688"/>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a:t>
            </a:r>
            <a:endParaRPr lang="en-US" sz="1650" dirty="0"/>
          </a:p>
        </p:txBody>
      </p:sp>
      <p:sp>
        <p:nvSpPr>
          <p:cNvPr id="23" name="Shape 23"/>
          <p:cNvSpPr txBox="1"/>
          <p:nvPr/>
        </p:nvSpPr>
        <p:spPr>
          <a:xfrm>
            <a:off x="685800" y="3997452"/>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24" name="Shape 24"/>
          <p:cNvSpPr txBox="1"/>
          <p:nvPr/>
        </p:nvSpPr>
        <p:spPr>
          <a:xfrm>
            <a:off x="685800" y="3997452"/>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a:t>
            </a:r>
            <a:endParaRPr lang="en-US" sz="1650" dirty="0"/>
          </a:p>
        </p:txBody>
      </p:sp>
      <p:sp>
        <p:nvSpPr>
          <p:cNvPr id="25" name="Shape 25"/>
          <p:cNvSpPr txBox="1"/>
          <p:nvPr/>
        </p:nvSpPr>
        <p:spPr>
          <a:xfrm>
            <a:off x="1828800" y="3997452"/>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26" name="Shape 26"/>
          <p:cNvSpPr txBox="1"/>
          <p:nvPr/>
        </p:nvSpPr>
        <p:spPr>
          <a:xfrm>
            <a:off x="1828800" y="3997452"/>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4</a:t>
            </a:r>
            <a:endParaRPr lang="en-US" sz="1650" dirty="0"/>
          </a:p>
        </p:txBody>
      </p:sp>
      <p:sp>
        <p:nvSpPr>
          <p:cNvPr id="27" name="Shape 27"/>
          <p:cNvSpPr txBox="1"/>
          <p:nvPr/>
        </p:nvSpPr>
        <p:spPr>
          <a:xfrm>
            <a:off x="4419498" y="1618488"/>
            <a:ext cx="33526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Inputs × ½: </a:t>
            </a:r>
            <a:r>
              <a:rPr lang="en-US" sz="1575" dirty="0" i="1">
                <a:solidFill>
                  <a:srgbClr val="16171D"/>
                </a:solidFill>
                <a:latin typeface="Cambria"/>
                <a:cs typeface="Cambria"/>
              </a:rPr>
              <a:t xml:space="preserve">b</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(2</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a:t>
            </a:r>
            <a:endParaRPr lang="en-US" sz="1575" dirty="0"/>
          </a:p>
        </p:txBody>
      </p:sp>
      <p:sp>
        <p:nvSpPr>
          <p:cNvPr id="28" name="Shape 28"/>
          <p:cNvSpPr txBox="1"/>
          <p:nvPr/>
        </p:nvSpPr>
        <p:spPr>
          <a:xfrm>
            <a:off x="4419498" y="2008632"/>
            <a:ext cx="1143000" cy="39776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650" dirty="0" i="1">
                <a:solidFill>
                  <a:srgbClr val="16171D"/>
                </a:solidFill>
                <a:latin typeface="Cambria"/>
                <a:cs typeface="Cambria"/>
              </a:rPr>
              <a:t xml:space="preserve">x</a:t>
            </a:r>
            <a:endParaRPr lang="en-US" sz="1650" dirty="0"/>
          </a:p>
        </p:txBody>
      </p:sp>
      <p:sp>
        <p:nvSpPr>
          <p:cNvPr id="29" name="Shape 29"/>
          <p:cNvSpPr txBox="1"/>
          <p:nvPr/>
        </p:nvSpPr>
        <p:spPr>
          <a:xfrm>
            <a:off x="5562498" y="2008632"/>
            <a:ext cx="1143000" cy="39776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650" dirty="0" i="1">
                <a:solidFill>
                  <a:srgbClr val="16171D"/>
                </a:solidFill>
                <a:latin typeface="Cambria"/>
                <a:cs typeface="Cambria"/>
              </a:rPr>
              <a:t xml:space="preserve">b(x)</a:t>
            </a:r>
            <a:endParaRPr lang="en-US" sz="1650" dirty="0"/>
          </a:p>
        </p:txBody>
      </p:sp>
      <p:sp>
        <p:nvSpPr>
          <p:cNvPr id="30" name="Shape 30"/>
          <p:cNvSpPr txBox="1"/>
          <p:nvPr/>
        </p:nvSpPr>
        <p:spPr>
          <a:xfrm>
            <a:off x="4419498" y="2406396"/>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31" name="Shape 31"/>
          <p:cNvSpPr txBox="1"/>
          <p:nvPr/>
        </p:nvSpPr>
        <p:spPr>
          <a:xfrm>
            <a:off x="4419498" y="2406396"/>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a:t>
            </a:r>
            <a:endParaRPr lang="en-US" sz="1650" dirty="0"/>
          </a:p>
        </p:txBody>
      </p:sp>
      <p:sp>
        <p:nvSpPr>
          <p:cNvPr id="32" name="Shape 32"/>
          <p:cNvSpPr txBox="1"/>
          <p:nvPr/>
        </p:nvSpPr>
        <p:spPr>
          <a:xfrm>
            <a:off x="5562498" y="2406396"/>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33" name="Shape 33"/>
          <p:cNvSpPr txBox="1"/>
          <p:nvPr/>
        </p:nvSpPr>
        <p:spPr>
          <a:xfrm>
            <a:off x="5562498" y="2406396"/>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a:t>
            </a:r>
            <a:endParaRPr lang="en-US" sz="1650" dirty="0"/>
          </a:p>
        </p:txBody>
      </p:sp>
      <p:sp>
        <p:nvSpPr>
          <p:cNvPr id="34" name="Shape 34"/>
          <p:cNvSpPr txBox="1"/>
          <p:nvPr/>
        </p:nvSpPr>
        <p:spPr>
          <a:xfrm>
            <a:off x="4419498" y="2804160"/>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35" name="Shape 35"/>
          <p:cNvSpPr txBox="1"/>
          <p:nvPr/>
        </p:nvSpPr>
        <p:spPr>
          <a:xfrm>
            <a:off x="4419498" y="2804160"/>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−½</a:t>
            </a:r>
            <a:endParaRPr lang="en-US" sz="1650" dirty="0"/>
          </a:p>
        </p:txBody>
      </p:sp>
      <p:sp>
        <p:nvSpPr>
          <p:cNvPr id="36" name="Shape 36"/>
          <p:cNvSpPr txBox="1"/>
          <p:nvPr/>
        </p:nvSpPr>
        <p:spPr>
          <a:xfrm>
            <a:off x="5562498" y="2804160"/>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37" name="Shape 37"/>
          <p:cNvSpPr txBox="1"/>
          <p:nvPr/>
        </p:nvSpPr>
        <p:spPr>
          <a:xfrm>
            <a:off x="5562498" y="2804160"/>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a:t>
            </a:r>
            <a:endParaRPr lang="en-US" sz="1650" dirty="0"/>
          </a:p>
        </p:txBody>
      </p:sp>
      <p:sp>
        <p:nvSpPr>
          <p:cNvPr id="38" name="Shape 38"/>
          <p:cNvSpPr txBox="1"/>
          <p:nvPr/>
        </p:nvSpPr>
        <p:spPr>
          <a:xfrm>
            <a:off x="4419498" y="3201924"/>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39" name="Shape 39"/>
          <p:cNvSpPr txBox="1"/>
          <p:nvPr/>
        </p:nvSpPr>
        <p:spPr>
          <a:xfrm>
            <a:off x="4419498" y="3201924"/>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0</a:t>
            </a:r>
            <a:endParaRPr lang="en-US" sz="1650" dirty="0"/>
          </a:p>
        </p:txBody>
      </p:sp>
      <p:sp>
        <p:nvSpPr>
          <p:cNvPr id="40" name="Shape 40"/>
          <p:cNvSpPr txBox="1"/>
          <p:nvPr/>
        </p:nvSpPr>
        <p:spPr>
          <a:xfrm>
            <a:off x="5562498" y="3201924"/>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41" name="Shape 41"/>
          <p:cNvSpPr txBox="1"/>
          <p:nvPr/>
        </p:nvSpPr>
        <p:spPr>
          <a:xfrm>
            <a:off x="5562498" y="3201924"/>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0</a:t>
            </a:r>
            <a:endParaRPr lang="en-US" sz="1650" dirty="0"/>
          </a:p>
        </p:txBody>
      </p:sp>
      <p:sp>
        <p:nvSpPr>
          <p:cNvPr id="42" name="Shape 42"/>
          <p:cNvSpPr txBox="1"/>
          <p:nvPr/>
        </p:nvSpPr>
        <p:spPr>
          <a:xfrm>
            <a:off x="4419498" y="3599688"/>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43" name="Shape 43"/>
          <p:cNvSpPr txBox="1"/>
          <p:nvPr/>
        </p:nvSpPr>
        <p:spPr>
          <a:xfrm>
            <a:off x="4419498" y="3599688"/>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½</a:t>
            </a:r>
            <a:endParaRPr lang="en-US" sz="1650" dirty="0"/>
          </a:p>
        </p:txBody>
      </p:sp>
      <p:sp>
        <p:nvSpPr>
          <p:cNvPr id="44" name="Shape 44"/>
          <p:cNvSpPr txBox="1"/>
          <p:nvPr/>
        </p:nvSpPr>
        <p:spPr>
          <a:xfrm>
            <a:off x="5562498" y="3599688"/>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45" name="Shape 45"/>
          <p:cNvSpPr txBox="1"/>
          <p:nvPr/>
        </p:nvSpPr>
        <p:spPr>
          <a:xfrm>
            <a:off x="5562498" y="3599688"/>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a:t>
            </a:r>
            <a:endParaRPr lang="en-US" sz="1650" dirty="0"/>
          </a:p>
        </p:txBody>
      </p:sp>
      <p:sp>
        <p:nvSpPr>
          <p:cNvPr id="46" name="Shape 46"/>
          <p:cNvSpPr txBox="1"/>
          <p:nvPr/>
        </p:nvSpPr>
        <p:spPr>
          <a:xfrm>
            <a:off x="4419498" y="3997452"/>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47" name="Shape 47"/>
          <p:cNvSpPr txBox="1"/>
          <p:nvPr/>
        </p:nvSpPr>
        <p:spPr>
          <a:xfrm>
            <a:off x="4419498" y="3997452"/>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a:t>
            </a:r>
            <a:endParaRPr lang="en-US" sz="1650" dirty="0"/>
          </a:p>
        </p:txBody>
      </p:sp>
      <p:sp>
        <p:nvSpPr>
          <p:cNvPr id="48" name="Shape 48"/>
          <p:cNvSpPr txBox="1"/>
          <p:nvPr/>
        </p:nvSpPr>
        <p:spPr>
          <a:xfrm>
            <a:off x="5562498" y="3997452"/>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49" name="Shape 49"/>
          <p:cNvSpPr txBox="1"/>
          <p:nvPr/>
        </p:nvSpPr>
        <p:spPr>
          <a:xfrm>
            <a:off x="5562498" y="3997452"/>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a:t>
            </a:r>
            <a:endParaRPr lang="en-US" sz="1650" dirty="0"/>
          </a:p>
        </p:txBody>
      </p:sp>
      <p:sp>
        <p:nvSpPr>
          <p:cNvPr id="50" name="Shape 50"/>
          <p:cNvSpPr/>
          <p:nvPr/>
        </p:nvSpPr>
        <p:spPr>
          <a:xfrm>
            <a:off x="8153197" y="1618488"/>
            <a:ext cx="2857500" cy="28575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51" name="Line 51"/>
          <p:cNvCxnSpPr/>
          <p:nvPr/>
        </p:nvCxnSpPr>
        <p:spPr>
          <a:xfrm>
            <a:off x="8477047" y="1732788"/>
            <a:ext cx="0" cy="2495550"/>
          </a:xfrm>
          <a:prstGeom prst="line">
            <a:avLst/>
          </a:prstGeom>
          <a:ln w="9525" cap="flat">
            <a:solidFill>
              <a:srgbClr val="E6E8F2"/>
            </a:solidFill>
          </a:ln>
        </p:spPr>
      </p:cxnSp>
      <p:cxnSp>
        <p:nvCxnSpPr>
          <p:cNvPr id="52" name="Line 52"/>
          <p:cNvCxnSpPr/>
          <p:nvPr/>
        </p:nvCxnSpPr>
        <p:spPr>
          <a:xfrm>
            <a:off x="8779466" y="1732788"/>
            <a:ext cx="0" cy="2495550"/>
          </a:xfrm>
          <a:prstGeom prst="line">
            <a:avLst/>
          </a:prstGeom>
          <a:ln w="9525" cap="flat">
            <a:solidFill>
              <a:srgbClr val="E6E8F2"/>
            </a:solidFill>
          </a:ln>
        </p:spPr>
      </p:cxnSp>
      <p:cxnSp>
        <p:nvCxnSpPr>
          <p:cNvPr id="53" name="Line 53"/>
          <p:cNvCxnSpPr/>
          <p:nvPr/>
        </p:nvCxnSpPr>
        <p:spPr>
          <a:xfrm>
            <a:off x="9081884" y="1732788"/>
            <a:ext cx="0" cy="2495550"/>
          </a:xfrm>
          <a:prstGeom prst="line">
            <a:avLst/>
          </a:prstGeom>
          <a:ln w="9525" cap="flat">
            <a:solidFill>
              <a:srgbClr val="E6E8F2"/>
            </a:solidFill>
          </a:ln>
        </p:spPr>
      </p:cxnSp>
      <p:cxnSp>
        <p:nvCxnSpPr>
          <p:cNvPr id="54" name="Line 54"/>
          <p:cNvCxnSpPr/>
          <p:nvPr/>
        </p:nvCxnSpPr>
        <p:spPr>
          <a:xfrm>
            <a:off x="9384303" y="1732788"/>
            <a:ext cx="0" cy="2495550"/>
          </a:xfrm>
          <a:prstGeom prst="line">
            <a:avLst/>
          </a:prstGeom>
          <a:ln w="9525" cap="flat">
            <a:solidFill>
              <a:srgbClr val="E6E8F2"/>
            </a:solidFill>
          </a:ln>
        </p:spPr>
      </p:cxnSp>
      <p:cxnSp>
        <p:nvCxnSpPr>
          <p:cNvPr id="55" name="Line 55"/>
          <p:cNvCxnSpPr/>
          <p:nvPr/>
        </p:nvCxnSpPr>
        <p:spPr>
          <a:xfrm>
            <a:off x="9686722" y="1732788"/>
            <a:ext cx="0" cy="2495550"/>
          </a:xfrm>
          <a:prstGeom prst="line">
            <a:avLst/>
          </a:prstGeom>
          <a:ln w="9525" cap="flat">
            <a:solidFill>
              <a:srgbClr val="E6E8F2"/>
            </a:solidFill>
          </a:ln>
        </p:spPr>
      </p:cxnSp>
      <p:cxnSp>
        <p:nvCxnSpPr>
          <p:cNvPr id="56" name="Line 56"/>
          <p:cNvCxnSpPr/>
          <p:nvPr/>
        </p:nvCxnSpPr>
        <p:spPr>
          <a:xfrm>
            <a:off x="9989141" y="1732788"/>
            <a:ext cx="0" cy="2495550"/>
          </a:xfrm>
          <a:prstGeom prst="line">
            <a:avLst/>
          </a:prstGeom>
          <a:ln w="9525" cap="flat">
            <a:solidFill>
              <a:srgbClr val="E6E8F2"/>
            </a:solidFill>
          </a:ln>
        </p:spPr>
      </p:cxnSp>
      <p:cxnSp>
        <p:nvCxnSpPr>
          <p:cNvPr id="57" name="Line 57"/>
          <p:cNvCxnSpPr/>
          <p:nvPr/>
        </p:nvCxnSpPr>
        <p:spPr>
          <a:xfrm>
            <a:off x="10291559" y="1732788"/>
            <a:ext cx="0" cy="2495550"/>
          </a:xfrm>
          <a:prstGeom prst="line">
            <a:avLst/>
          </a:prstGeom>
          <a:ln w="9525" cap="flat">
            <a:solidFill>
              <a:srgbClr val="E6E8F2"/>
            </a:solidFill>
          </a:ln>
        </p:spPr>
      </p:cxnSp>
      <p:cxnSp>
        <p:nvCxnSpPr>
          <p:cNvPr id="58" name="Line 58"/>
          <p:cNvCxnSpPr/>
          <p:nvPr/>
        </p:nvCxnSpPr>
        <p:spPr>
          <a:xfrm>
            <a:off x="10593978" y="1732788"/>
            <a:ext cx="0" cy="2495550"/>
          </a:xfrm>
          <a:prstGeom prst="line">
            <a:avLst/>
          </a:prstGeom>
          <a:ln w="9525" cap="flat">
            <a:solidFill>
              <a:srgbClr val="E6E8F2"/>
            </a:solidFill>
          </a:ln>
        </p:spPr>
      </p:cxnSp>
      <p:cxnSp>
        <p:nvCxnSpPr>
          <p:cNvPr id="59" name="Line 59"/>
          <p:cNvCxnSpPr/>
          <p:nvPr/>
        </p:nvCxnSpPr>
        <p:spPr>
          <a:xfrm>
            <a:off x="10896397" y="1732788"/>
            <a:ext cx="0" cy="2495550"/>
          </a:xfrm>
          <a:prstGeom prst="line">
            <a:avLst/>
          </a:prstGeom>
          <a:ln w="9525" cap="flat">
            <a:solidFill>
              <a:srgbClr val="E6E8F2"/>
            </a:solidFill>
          </a:ln>
        </p:spPr>
      </p:cxnSp>
      <p:cxnSp>
        <p:nvCxnSpPr>
          <p:cNvPr id="60" name="Line 60"/>
          <p:cNvCxnSpPr/>
          <p:nvPr/>
        </p:nvCxnSpPr>
        <p:spPr>
          <a:xfrm>
            <a:off x="8477047" y="4228338"/>
            <a:ext cx="2419350" cy="0"/>
          </a:xfrm>
          <a:prstGeom prst="line">
            <a:avLst/>
          </a:prstGeom>
          <a:ln w="9525" cap="flat">
            <a:solidFill>
              <a:srgbClr val="E6E8F2"/>
            </a:solidFill>
          </a:ln>
        </p:spPr>
      </p:cxnSp>
      <p:cxnSp>
        <p:nvCxnSpPr>
          <p:cNvPr id="61" name="Line 61"/>
          <p:cNvCxnSpPr/>
          <p:nvPr/>
        </p:nvCxnSpPr>
        <p:spPr>
          <a:xfrm>
            <a:off x="8477047" y="3978783"/>
            <a:ext cx="2419350" cy="0"/>
          </a:xfrm>
          <a:prstGeom prst="line">
            <a:avLst/>
          </a:prstGeom>
          <a:ln w="9525" cap="flat">
            <a:solidFill>
              <a:srgbClr val="E6E8F2"/>
            </a:solidFill>
          </a:ln>
        </p:spPr>
      </p:cxnSp>
      <p:cxnSp>
        <p:nvCxnSpPr>
          <p:cNvPr id="62" name="Line 62"/>
          <p:cNvCxnSpPr/>
          <p:nvPr/>
        </p:nvCxnSpPr>
        <p:spPr>
          <a:xfrm>
            <a:off x="8477047" y="3729228"/>
            <a:ext cx="2419350" cy="0"/>
          </a:xfrm>
          <a:prstGeom prst="line">
            <a:avLst/>
          </a:prstGeom>
          <a:ln w="9525" cap="flat">
            <a:solidFill>
              <a:srgbClr val="E6E8F2"/>
            </a:solidFill>
          </a:ln>
        </p:spPr>
      </p:cxnSp>
      <p:cxnSp>
        <p:nvCxnSpPr>
          <p:cNvPr id="63" name="Line 63"/>
          <p:cNvCxnSpPr/>
          <p:nvPr/>
        </p:nvCxnSpPr>
        <p:spPr>
          <a:xfrm>
            <a:off x="8477047" y="3479673"/>
            <a:ext cx="2419350" cy="0"/>
          </a:xfrm>
          <a:prstGeom prst="line">
            <a:avLst/>
          </a:prstGeom>
          <a:ln w="9525" cap="flat">
            <a:solidFill>
              <a:srgbClr val="E6E8F2"/>
            </a:solidFill>
          </a:ln>
        </p:spPr>
      </p:cxnSp>
      <p:cxnSp>
        <p:nvCxnSpPr>
          <p:cNvPr id="64" name="Line 64"/>
          <p:cNvCxnSpPr/>
          <p:nvPr/>
        </p:nvCxnSpPr>
        <p:spPr>
          <a:xfrm>
            <a:off x="8477047" y="3230118"/>
            <a:ext cx="2419350" cy="0"/>
          </a:xfrm>
          <a:prstGeom prst="line">
            <a:avLst/>
          </a:prstGeom>
          <a:ln w="9525" cap="flat">
            <a:solidFill>
              <a:srgbClr val="E6E8F2"/>
            </a:solidFill>
          </a:ln>
        </p:spPr>
      </p:cxnSp>
      <p:cxnSp>
        <p:nvCxnSpPr>
          <p:cNvPr id="65" name="Line 65"/>
          <p:cNvCxnSpPr/>
          <p:nvPr/>
        </p:nvCxnSpPr>
        <p:spPr>
          <a:xfrm>
            <a:off x="8477047" y="2980563"/>
            <a:ext cx="2419350" cy="0"/>
          </a:xfrm>
          <a:prstGeom prst="line">
            <a:avLst/>
          </a:prstGeom>
          <a:ln w="9525" cap="flat">
            <a:solidFill>
              <a:srgbClr val="E6E8F2"/>
            </a:solidFill>
          </a:ln>
        </p:spPr>
      </p:cxnSp>
      <p:cxnSp>
        <p:nvCxnSpPr>
          <p:cNvPr id="66" name="Line 66"/>
          <p:cNvCxnSpPr/>
          <p:nvPr/>
        </p:nvCxnSpPr>
        <p:spPr>
          <a:xfrm>
            <a:off x="8477047" y="2731008"/>
            <a:ext cx="2419350" cy="0"/>
          </a:xfrm>
          <a:prstGeom prst="line">
            <a:avLst/>
          </a:prstGeom>
          <a:ln w="9525" cap="flat">
            <a:solidFill>
              <a:srgbClr val="E6E8F2"/>
            </a:solidFill>
          </a:ln>
        </p:spPr>
      </p:cxnSp>
      <p:cxnSp>
        <p:nvCxnSpPr>
          <p:cNvPr id="67" name="Line 67"/>
          <p:cNvCxnSpPr/>
          <p:nvPr/>
        </p:nvCxnSpPr>
        <p:spPr>
          <a:xfrm>
            <a:off x="8477047" y="2481453"/>
            <a:ext cx="2419350" cy="0"/>
          </a:xfrm>
          <a:prstGeom prst="line">
            <a:avLst/>
          </a:prstGeom>
          <a:ln w="9525" cap="flat">
            <a:solidFill>
              <a:srgbClr val="E6E8F2"/>
            </a:solidFill>
          </a:ln>
        </p:spPr>
      </p:cxnSp>
      <p:cxnSp>
        <p:nvCxnSpPr>
          <p:cNvPr id="68" name="Line 68"/>
          <p:cNvCxnSpPr/>
          <p:nvPr/>
        </p:nvCxnSpPr>
        <p:spPr>
          <a:xfrm>
            <a:off x="8477047" y="2231898"/>
            <a:ext cx="2419350" cy="0"/>
          </a:xfrm>
          <a:prstGeom prst="line">
            <a:avLst/>
          </a:prstGeom>
          <a:ln w="9525" cap="flat">
            <a:solidFill>
              <a:srgbClr val="E6E8F2"/>
            </a:solidFill>
          </a:ln>
        </p:spPr>
      </p:cxnSp>
      <p:cxnSp>
        <p:nvCxnSpPr>
          <p:cNvPr id="69" name="Line 69"/>
          <p:cNvCxnSpPr/>
          <p:nvPr/>
        </p:nvCxnSpPr>
        <p:spPr>
          <a:xfrm>
            <a:off x="8477047" y="1982343"/>
            <a:ext cx="2419350" cy="0"/>
          </a:xfrm>
          <a:prstGeom prst="line">
            <a:avLst/>
          </a:prstGeom>
          <a:ln w="9525" cap="flat">
            <a:solidFill>
              <a:srgbClr val="E6E8F2"/>
            </a:solidFill>
          </a:ln>
        </p:spPr>
      </p:cxnSp>
      <p:cxnSp>
        <p:nvCxnSpPr>
          <p:cNvPr id="70" name="Line 70"/>
          <p:cNvCxnSpPr/>
          <p:nvPr/>
        </p:nvCxnSpPr>
        <p:spPr>
          <a:xfrm>
            <a:off x="8477047" y="1732788"/>
            <a:ext cx="2419350" cy="0"/>
          </a:xfrm>
          <a:prstGeom prst="line">
            <a:avLst/>
          </a:prstGeom>
          <a:ln w="9525" cap="flat">
            <a:solidFill>
              <a:srgbClr val="E6E8F2"/>
            </a:solidFill>
          </a:ln>
        </p:spPr>
      </p:cxnSp>
      <p:cxnSp>
        <p:nvCxnSpPr>
          <p:cNvPr id="71" name="Line 71"/>
          <p:cNvCxnSpPr/>
          <p:nvPr/>
        </p:nvCxnSpPr>
        <p:spPr>
          <a:xfrm>
            <a:off x="9686722" y="1732788"/>
            <a:ext cx="0" cy="2495550"/>
          </a:xfrm>
          <a:prstGeom prst="line">
            <a:avLst/>
          </a:prstGeom>
          <a:ln w="19050" cap="flat">
            <a:solidFill>
              <a:srgbClr val="5F6272"/>
            </a:solidFill>
          </a:ln>
        </p:spPr>
      </p:cxnSp>
      <p:cxnSp>
        <p:nvCxnSpPr>
          <p:cNvPr id="72" name="Line 72"/>
          <p:cNvCxnSpPr/>
          <p:nvPr/>
        </p:nvCxnSpPr>
        <p:spPr>
          <a:xfrm>
            <a:off x="8477047" y="2980563"/>
            <a:ext cx="2419350" cy="0"/>
          </a:xfrm>
          <a:prstGeom prst="line">
            <a:avLst/>
          </a:prstGeom>
          <a:ln w="19050" cap="flat">
            <a:solidFill>
              <a:srgbClr val="5F6272"/>
            </a:solidFill>
          </a:ln>
        </p:spPr>
      </p:cxnSp>
      <p:sp>
        <p:nvSpPr>
          <p:cNvPr id="73" name="Shape 73"/>
          <p:cNvSpPr txBox="1"/>
          <p:nvPr/>
        </p:nvSpPr>
        <p:spPr>
          <a:xfrm>
            <a:off x="8202727" y="4247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74" name="Shape 74"/>
          <p:cNvSpPr txBox="1"/>
          <p:nvPr/>
        </p:nvSpPr>
        <p:spPr>
          <a:xfrm>
            <a:off x="8505146" y="4247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75" name="Shape 75"/>
          <p:cNvSpPr txBox="1"/>
          <p:nvPr/>
        </p:nvSpPr>
        <p:spPr>
          <a:xfrm>
            <a:off x="8807564" y="4247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76" name="Shape 76"/>
          <p:cNvSpPr txBox="1"/>
          <p:nvPr/>
        </p:nvSpPr>
        <p:spPr>
          <a:xfrm>
            <a:off x="9109983" y="4247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77" name="Shape 77"/>
          <p:cNvSpPr txBox="1"/>
          <p:nvPr/>
        </p:nvSpPr>
        <p:spPr>
          <a:xfrm>
            <a:off x="9412402" y="4247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78" name="Shape 78"/>
          <p:cNvSpPr txBox="1"/>
          <p:nvPr/>
        </p:nvSpPr>
        <p:spPr>
          <a:xfrm>
            <a:off x="9714821" y="4247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79" name="Shape 79"/>
          <p:cNvSpPr txBox="1"/>
          <p:nvPr/>
        </p:nvSpPr>
        <p:spPr>
          <a:xfrm>
            <a:off x="10017239" y="4247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80" name="Shape 80"/>
          <p:cNvSpPr txBox="1"/>
          <p:nvPr/>
        </p:nvSpPr>
        <p:spPr>
          <a:xfrm>
            <a:off x="10319658" y="4247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81" name="Shape 81"/>
          <p:cNvSpPr txBox="1"/>
          <p:nvPr/>
        </p:nvSpPr>
        <p:spPr>
          <a:xfrm>
            <a:off x="10622077" y="4247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82" name="Shape 82"/>
          <p:cNvSpPr txBox="1"/>
          <p:nvPr/>
        </p:nvSpPr>
        <p:spPr>
          <a:xfrm>
            <a:off x="7910119" y="41368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a:t>
            </a:r>
            <a:endParaRPr lang="en-US" sz="975" dirty="0"/>
          </a:p>
        </p:txBody>
      </p:sp>
      <p:sp>
        <p:nvSpPr>
          <p:cNvPr id="83" name="Shape 83"/>
          <p:cNvSpPr txBox="1"/>
          <p:nvPr/>
        </p:nvSpPr>
        <p:spPr>
          <a:xfrm>
            <a:off x="7910119" y="388734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84" name="Shape 84"/>
          <p:cNvSpPr txBox="1"/>
          <p:nvPr/>
        </p:nvSpPr>
        <p:spPr>
          <a:xfrm>
            <a:off x="7910119" y="363778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−3</a:t>
            </a:r>
            <a:endParaRPr lang="en-US" sz="975" dirty="0"/>
          </a:p>
        </p:txBody>
      </p:sp>
      <p:sp>
        <p:nvSpPr>
          <p:cNvPr id="85" name="Shape 85"/>
          <p:cNvSpPr txBox="1"/>
          <p:nvPr/>
        </p:nvSpPr>
        <p:spPr>
          <a:xfrm>
            <a:off x="7910119" y="338823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86" name="Shape 86"/>
          <p:cNvSpPr txBox="1"/>
          <p:nvPr/>
        </p:nvSpPr>
        <p:spPr>
          <a:xfrm>
            <a:off x="7910119" y="313867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a:t>
            </a:r>
            <a:endParaRPr lang="en-US" sz="975" dirty="0"/>
          </a:p>
        </p:txBody>
      </p:sp>
      <p:sp>
        <p:nvSpPr>
          <p:cNvPr id="87" name="Shape 87"/>
          <p:cNvSpPr txBox="1"/>
          <p:nvPr/>
        </p:nvSpPr>
        <p:spPr>
          <a:xfrm>
            <a:off x="7910119" y="288912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88" name="Shape 88"/>
          <p:cNvSpPr txBox="1"/>
          <p:nvPr/>
        </p:nvSpPr>
        <p:spPr>
          <a:xfrm>
            <a:off x="7910119" y="263956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a:t>
            </a:r>
            <a:endParaRPr lang="en-US" sz="975" dirty="0"/>
          </a:p>
        </p:txBody>
      </p:sp>
      <p:sp>
        <p:nvSpPr>
          <p:cNvPr id="89" name="Shape 89"/>
          <p:cNvSpPr txBox="1"/>
          <p:nvPr/>
        </p:nvSpPr>
        <p:spPr>
          <a:xfrm>
            <a:off x="7910119" y="239001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90" name="Shape 90"/>
          <p:cNvSpPr txBox="1"/>
          <p:nvPr/>
        </p:nvSpPr>
        <p:spPr>
          <a:xfrm>
            <a:off x="7910119" y="214045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3</a:t>
            </a:r>
            <a:endParaRPr lang="en-US" sz="975" dirty="0"/>
          </a:p>
        </p:txBody>
      </p:sp>
      <p:sp>
        <p:nvSpPr>
          <p:cNvPr id="91" name="Shape 91"/>
          <p:cNvSpPr txBox="1"/>
          <p:nvPr/>
        </p:nvSpPr>
        <p:spPr>
          <a:xfrm>
            <a:off x="7910119" y="189090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92" name="Shape 92"/>
          <p:cNvSpPr txBox="1"/>
          <p:nvPr/>
        </p:nvSpPr>
        <p:spPr>
          <a:xfrm>
            <a:off x="7910119" y="16413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a:t>
            </a:r>
            <a:endParaRPr lang="en-US" sz="975" dirty="0"/>
          </a:p>
        </p:txBody>
      </p:sp>
      <p:cxnSp>
        <p:nvCxnSpPr>
          <p:cNvPr id="93" name="Line 93"/>
          <p:cNvCxnSpPr/>
          <p:nvPr/>
        </p:nvCxnSpPr>
        <p:spPr>
          <a:xfrm flipV="1">
            <a:off x="8477047" y="1982343"/>
            <a:ext cx="2419350" cy="1996440"/>
          </a:xfrm>
          <a:prstGeom prst="line">
            <a:avLst/>
          </a:prstGeom>
          <a:ln w="38100" cap="rnd">
            <a:solidFill>
              <a:srgbClr val="16171D"/>
            </a:solidFill>
          </a:ln>
        </p:spPr>
      </p:cxnSp>
      <p:sp>
        <p:nvSpPr>
          <p:cNvPr id="94" name="Shape 94"/>
          <p:cNvSpPr txBox="1"/>
          <p:nvPr/>
        </p:nvSpPr>
        <p:spPr>
          <a:xfrm>
            <a:off x="8404657" y="2001393"/>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f(x)</a:t>
            </a:r>
            <a:endParaRPr lang="en-US" sz="1275" dirty="0"/>
          </a:p>
        </p:txBody>
      </p:sp>
      <p:cxnSp>
        <p:nvCxnSpPr>
          <p:cNvPr id="95" name="Line 95"/>
          <p:cNvCxnSpPr/>
          <p:nvPr/>
        </p:nvCxnSpPr>
        <p:spPr>
          <a:xfrm flipV="1">
            <a:off x="8930675" y="1732788"/>
            <a:ext cx="1512094" cy="2495550"/>
          </a:xfrm>
          <a:prstGeom prst="line">
            <a:avLst/>
          </a:prstGeom>
          <a:ln w="38100" cap="rnd">
            <a:solidFill>
              <a:srgbClr val="4F8A3C"/>
            </a:solidFill>
          </a:ln>
        </p:spPr>
      </p:cxnSp>
      <p:sp>
        <p:nvSpPr>
          <p:cNvPr id="96" name="Shape 96"/>
          <p:cNvSpPr txBox="1"/>
          <p:nvPr/>
        </p:nvSpPr>
        <p:spPr>
          <a:xfrm>
            <a:off x="7951029" y="1751838"/>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y = 2x</a:t>
            </a:r>
            <a:endParaRPr lang="en-US" sz="1275" dirty="0"/>
          </a:p>
        </p:txBody>
      </p:sp>
      <p:sp>
        <p:nvSpPr>
          <p:cNvPr id="97" name="Shape 97"/>
          <p:cNvSpPr txBox="1"/>
          <p:nvPr/>
        </p:nvSpPr>
        <p:spPr>
          <a:xfrm>
            <a:off x="8153197" y="4571238"/>
            <a:ext cx="33526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Both are the line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 2</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 with different tables.</a:t>
            </a:r>
            <a:endParaRPr lang="en-US" sz="1575" dirty="0"/>
          </a:p>
        </p:txBody>
      </p:sp>
      <p:sp>
        <p:nvSpPr>
          <p:cNvPr id="98" name="Slide Number 98"/>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28</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8"/>
                                        </p:tgtEl>
                                        <p:attrNameLst>
                                          <p:attrName>style.visibility</p:attrName>
                                        </p:attrNameLst>
                                      </p:cBhvr>
                                      <p:to>
                                        <p:strVal val="visible"/>
                                      </p:to>
                                    </p:set>
                                    <p:animEffect transition="in" filter="fade">
                                      <p:cBhvr>
                                        <p:cTn id="4" dur="500"/>
                                        <p:tgtEl>
                                          <p:spTgt spid="8"/>
                                        </p:tgtEl>
                                      </p:cBhvr>
                                    </p:animEffect>
                                    <p:anim calcmode="lin" valueType="num">
                                      <p:cBhvr>
                                        <p:cTn id="5" dur="500" fill="hold"/>
                                        <p:tgtEl>
                                          <p:spTgt spid="8"/>
                                        </p:tgtEl>
                                        <p:attrNameLst>
                                          <p:attrName>ppt_x</p:attrName>
                                        </p:attrNameLst>
                                      </p:cBhvr>
                                      <p:tavLst>
                                        <p:tav tm="0">
                                          <p:val>
                                            <p:strVal val="#ppt_x"/>
                                          </p:val>
                                        </p:tav>
                                        <p:tav tm="100000">
                                          <p:val>
                                            <p:strVal val="#ppt_x"/>
                                          </p:val>
                                        </p:tav>
                                      </p:tavLst>
                                    </p:anim>
                                    <p:anim calcmode="lin" valueType="num">
                                      <p:cBhvr>
                                        <p:cTn id="6"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10"/>
                                        </p:tgtEl>
                                        <p:attrNameLst>
                                          <p:attrName>style.visibility</p:attrName>
                                        </p:attrNameLst>
                                      </p:cBhvr>
                                      <p:to>
                                        <p:strVal val="visible"/>
                                      </p:to>
                                    </p:set>
                                    <p:animEffect transition="in" filter="fade">
                                      <p:cBhvr>
                                        <p:cTn id="11" dur="500"/>
                                        <p:tgtEl>
                                          <p:spTgt spid="10"/>
                                        </p:tgtEl>
                                      </p:cBhvr>
                                    </p:animEffect>
                                    <p:anim calcmode="lin" valueType="num">
                                      <p:cBhvr>
                                        <p:cTn id="12" dur="500" fill="hold"/>
                                        <p:tgtEl>
                                          <p:spTgt spid="10"/>
                                        </p:tgtEl>
                                        <p:attrNameLst>
                                          <p:attrName>ppt_x</p:attrName>
                                        </p:attrNameLst>
                                      </p:cBhvr>
                                      <p:tavLst>
                                        <p:tav tm="0">
                                          <p:val>
                                            <p:strVal val="#ppt_x"/>
                                          </p:val>
                                        </p:tav>
                                        <p:tav tm="100000">
                                          <p:val>
                                            <p:strVal val="#ppt_x"/>
                                          </p:val>
                                        </p:tav>
                                      </p:tavLst>
                                    </p:anim>
                                    <p:anim calcmode="lin" valueType="num">
                                      <p:cBhvr>
                                        <p:cTn id="13" dur="500" fill="hold"/>
                                        <p:tgtEl>
                                          <p:spTgt spid="10"/>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12"/>
                                        </p:tgtEl>
                                        <p:attrNameLst>
                                          <p:attrName>style.visibility</p:attrName>
                                        </p:attrNameLst>
                                      </p:cBhvr>
                                      <p:to>
                                        <p:strVal val="visible"/>
                                      </p:to>
                                    </p:set>
                                    <p:animEffect transition="in" filter="fade">
                                      <p:cBhvr>
                                        <p:cTn id="18" dur="500"/>
                                        <p:tgtEl>
                                          <p:spTgt spid="12"/>
                                        </p:tgtEl>
                                      </p:cBhvr>
                                    </p:animEffect>
                                    <p:anim calcmode="lin" valueType="num">
                                      <p:cBhvr>
                                        <p:cTn id="19" dur="500" fill="hold"/>
                                        <p:tgtEl>
                                          <p:spTgt spid="12"/>
                                        </p:tgtEl>
                                        <p:attrNameLst>
                                          <p:attrName>ppt_x</p:attrName>
                                        </p:attrNameLst>
                                      </p:cBhvr>
                                      <p:tavLst>
                                        <p:tav tm="0">
                                          <p:val>
                                            <p:strVal val="#ppt_x"/>
                                          </p:val>
                                        </p:tav>
                                        <p:tav tm="100000">
                                          <p:val>
                                            <p:strVal val="#ppt_x"/>
                                          </p:val>
                                        </p:tav>
                                      </p:tavLst>
                                    </p:anim>
                                    <p:anim calcmode="lin" valueType="num">
                                      <p:cBhvr>
                                        <p:cTn id="20" dur="5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14"/>
                                        </p:tgtEl>
                                        <p:attrNameLst>
                                          <p:attrName>style.visibility</p:attrName>
                                        </p:attrNameLst>
                                      </p:cBhvr>
                                      <p:to>
                                        <p:strVal val="visible"/>
                                      </p:to>
                                    </p:set>
                                    <p:animEffect transition="in" filter="fade">
                                      <p:cBhvr>
                                        <p:cTn id="25" dur="500"/>
                                        <p:tgtEl>
                                          <p:spTgt spid="14"/>
                                        </p:tgtEl>
                                      </p:cBhvr>
                                    </p:animEffect>
                                    <p:anim calcmode="lin" valueType="num">
                                      <p:cBhvr>
                                        <p:cTn id="26" dur="500" fill="hold"/>
                                        <p:tgtEl>
                                          <p:spTgt spid="14"/>
                                        </p:tgtEl>
                                        <p:attrNameLst>
                                          <p:attrName>ppt_x</p:attrName>
                                        </p:attrNameLst>
                                      </p:cBhvr>
                                      <p:tavLst>
                                        <p:tav tm="0">
                                          <p:val>
                                            <p:strVal val="#ppt_x"/>
                                          </p:val>
                                        </p:tav>
                                        <p:tav tm="100000">
                                          <p:val>
                                            <p:strVal val="#ppt_x"/>
                                          </p:val>
                                        </p:tav>
                                      </p:tavLst>
                                    </p:anim>
                                    <p:anim calcmode="lin" valueType="num">
                                      <p:cBhvr>
                                        <p:cTn id="27" dur="500" fill="hold"/>
                                        <p:tgtEl>
                                          <p:spTgt spid="14"/>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16"/>
                                        </p:tgtEl>
                                        <p:attrNameLst>
                                          <p:attrName>style.visibility</p:attrName>
                                        </p:attrNameLst>
                                      </p:cBhvr>
                                      <p:to>
                                        <p:strVal val="visible"/>
                                      </p:to>
                                    </p:set>
                                    <p:animEffect transition="in" filter="fade">
                                      <p:cBhvr>
                                        <p:cTn id="32" dur="500"/>
                                        <p:tgtEl>
                                          <p:spTgt spid="16"/>
                                        </p:tgtEl>
                                      </p:cBhvr>
                                    </p:animEffect>
                                    <p:anim calcmode="lin" valueType="num">
                                      <p:cBhvr>
                                        <p:cTn id="33" dur="500" fill="hold"/>
                                        <p:tgtEl>
                                          <p:spTgt spid="16"/>
                                        </p:tgtEl>
                                        <p:attrNameLst>
                                          <p:attrName>ppt_x</p:attrName>
                                        </p:attrNameLst>
                                      </p:cBhvr>
                                      <p:tavLst>
                                        <p:tav tm="0">
                                          <p:val>
                                            <p:strVal val="#ppt_x"/>
                                          </p:val>
                                        </p:tav>
                                        <p:tav tm="100000">
                                          <p:val>
                                            <p:strVal val="#ppt_x"/>
                                          </p:val>
                                        </p:tav>
                                      </p:tavLst>
                                    </p:anim>
                                    <p:anim calcmode="lin" valueType="num">
                                      <p:cBhvr>
                                        <p:cTn id="34" dur="500" fill="hold"/>
                                        <p:tgtEl>
                                          <p:spTgt spid="16"/>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2" presetID="42" presetClass="entr" presetSubtype="0" fill="hold" nodeType="clickEffect">
                                  <p:stCondLst>
                                    <p:cond delay="0"/>
                                  </p:stCondLst>
                                  <p:childTnLst>
                                    <p:set>
                                      <p:cBhvr>
                                        <p:cTn id="38" dur="1" fill="hold">
                                          <p:stCondLst>
                                            <p:cond delay="0"/>
                                          </p:stCondLst>
                                        </p:cTn>
                                        <p:tgtEl>
                                          <p:spTgt spid="18"/>
                                        </p:tgtEl>
                                        <p:attrNameLst>
                                          <p:attrName>style.visibility</p:attrName>
                                        </p:attrNameLst>
                                      </p:cBhvr>
                                      <p:to>
                                        <p:strVal val="visible"/>
                                      </p:to>
                                    </p:set>
                                    <p:animEffect transition="in" filter="fade">
                                      <p:cBhvr>
                                        <p:cTn id="39" dur="500"/>
                                        <p:tgtEl>
                                          <p:spTgt spid="18"/>
                                        </p:tgtEl>
                                      </p:cBhvr>
                                    </p:animEffect>
                                    <p:anim calcmode="lin" valueType="num">
                                      <p:cBhvr>
                                        <p:cTn id="40" dur="500" fill="hold"/>
                                        <p:tgtEl>
                                          <p:spTgt spid="18"/>
                                        </p:tgtEl>
                                        <p:attrNameLst>
                                          <p:attrName>ppt_x</p:attrName>
                                        </p:attrNameLst>
                                      </p:cBhvr>
                                      <p:tavLst>
                                        <p:tav tm="0">
                                          <p:val>
                                            <p:strVal val="#ppt_x"/>
                                          </p:val>
                                        </p:tav>
                                        <p:tav tm="100000">
                                          <p:val>
                                            <p:strVal val="#ppt_x"/>
                                          </p:val>
                                        </p:tav>
                                      </p:tavLst>
                                    </p:anim>
                                    <p:anim calcmode="lin" valueType="num">
                                      <p:cBhvr>
                                        <p:cTn id="41" dur="500" fill="hold"/>
                                        <p:tgtEl>
                                          <p:spTgt spid="18"/>
                                        </p:tgtEl>
                                        <p:attrNameLst>
                                          <p:attrName>ppt_y</p:attrName>
                                        </p:attrNameLst>
                                      </p:cBhvr>
                                      <p:tavLst>
                                        <p:tav tm="0">
                                          <p:val>
                                            <p:strVal val="#ppt_y+.1"/>
                                          </p:val>
                                        </p:tav>
                                        <p:tav tm="100000">
                                          <p:val>
                                            <p:strVal val="#ppt_y"/>
                                          </p:val>
                                        </p:tav>
                                      </p:tavLst>
                                    </p:anim>
                                  </p:childTnLst>
                                </p:cTn>
                              </p:par>
                            </p:childTnLst>
                          </p:cTn>
                        </p:par>
                      </p:childTnLst>
                    </p:cTn>
                  </p:par>
                  <p:par>
                    <p:cTn id="50" fill="hold">
                      <p:stCondLst>
                        <p:cond delay="indefinite"/>
                      </p:stCondLst>
                      <p:childTnLst>
                        <p:par>
                          <p:cTn id="51" fill="hold">
                            <p:stCondLst>
                              <p:cond delay="0"/>
                            </p:stCondLst>
                            <p:childTnLst>
                              <p:par>
                                <p:cTn id="49" presetID="42" presetClass="entr" presetSubtype="0" fill="hold" nodeType="clickEffect">
                                  <p:stCondLst>
                                    <p:cond delay="0"/>
                                  </p:stCondLst>
                                  <p:childTnLst>
                                    <p:set>
                                      <p:cBhvr>
                                        <p:cTn id="45" dur="1" fill="hold">
                                          <p:stCondLst>
                                            <p:cond delay="0"/>
                                          </p:stCondLst>
                                        </p:cTn>
                                        <p:tgtEl>
                                          <p:spTgt spid="20"/>
                                        </p:tgtEl>
                                        <p:attrNameLst>
                                          <p:attrName>style.visibility</p:attrName>
                                        </p:attrNameLst>
                                      </p:cBhvr>
                                      <p:to>
                                        <p:strVal val="visible"/>
                                      </p:to>
                                    </p:set>
                                    <p:animEffect transition="in" filter="fade">
                                      <p:cBhvr>
                                        <p:cTn id="46" dur="500"/>
                                        <p:tgtEl>
                                          <p:spTgt spid="20"/>
                                        </p:tgtEl>
                                      </p:cBhvr>
                                    </p:animEffect>
                                    <p:anim calcmode="lin" valueType="num">
                                      <p:cBhvr>
                                        <p:cTn id="47" dur="500" fill="hold"/>
                                        <p:tgtEl>
                                          <p:spTgt spid="20"/>
                                        </p:tgtEl>
                                        <p:attrNameLst>
                                          <p:attrName>ppt_x</p:attrName>
                                        </p:attrNameLst>
                                      </p:cBhvr>
                                      <p:tavLst>
                                        <p:tav tm="0">
                                          <p:val>
                                            <p:strVal val="#ppt_x"/>
                                          </p:val>
                                        </p:tav>
                                        <p:tav tm="100000">
                                          <p:val>
                                            <p:strVal val="#ppt_x"/>
                                          </p:val>
                                        </p:tav>
                                      </p:tavLst>
                                    </p:anim>
                                    <p:anim calcmode="lin" valueType="num">
                                      <p:cBhvr>
                                        <p:cTn id="48" dur="500" fill="hold"/>
                                        <p:tgtEl>
                                          <p:spTgt spid="20"/>
                                        </p:tgtEl>
                                        <p:attrNameLst>
                                          <p:attrName>ppt_y</p:attrName>
                                        </p:attrNameLst>
                                      </p:cBhvr>
                                      <p:tavLst>
                                        <p:tav tm="0">
                                          <p:val>
                                            <p:strVal val="#ppt_y+.1"/>
                                          </p:val>
                                        </p:tav>
                                        <p:tav tm="100000">
                                          <p:val>
                                            <p:strVal val="#ppt_y"/>
                                          </p:val>
                                        </p:tav>
                                      </p:tavLst>
                                    </p:anim>
                                  </p:childTnLst>
                                </p:cTn>
                              </p:par>
                            </p:childTnLst>
                          </p:cTn>
                        </p:par>
                      </p:childTnLst>
                    </p:cTn>
                  </p:par>
                  <p:par>
                    <p:cTn id="57" fill="hold">
                      <p:stCondLst>
                        <p:cond delay="indefinite"/>
                      </p:stCondLst>
                      <p:childTnLst>
                        <p:par>
                          <p:cTn id="58" fill="hold">
                            <p:stCondLst>
                              <p:cond delay="0"/>
                            </p:stCondLst>
                            <p:childTnLst>
                              <p:par>
                                <p:cTn id="56" presetID="42" presetClass="entr" presetSubtype="0" fill="hold" nodeType="clickEffect">
                                  <p:stCondLst>
                                    <p:cond delay="0"/>
                                  </p:stCondLst>
                                  <p:childTnLst>
                                    <p:set>
                                      <p:cBhvr>
                                        <p:cTn id="52" dur="1" fill="hold">
                                          <p:stCondLst>
                                            <p:cond delay="0"/>
                                          </p:stCondLst>
                                        </p:cTn>
                                        <p:tgtEl>
                                          <p:spTgt spid="22"/>
                                        </p:tgtEl>
                                        <p:attrNameLst>
                                          <p:attrName>style.visibility</p:attrName>
                                        </p:attrNameLst>
                                      </p:cBhvr>
                                      <p:to>
                                        <p:strVal val="visible"/>
                                      </p:to>
                                    </p:set>
                                    <p:animEffect transition="in" filter="fade">
                                      <p:cBhvr>
                                        <p:cTn id="53" dur="500"/>
                                        <p:tgtEl>
                                          <p:spTgt spid="22"/>
                                        </p:tgtEl>
                                      </p:cBhvr>
                                    </p:animEffect>
                                    <p:anim calcmode="lin" valueType="num">
                                      <p:cBhvr>
                                        <p:cTn id="54" dur="500" fill="hold"/>
                                        <p:tgtEl>
                                          <p:spTgt spid="22"/>
                                        </p:tgtEl>
                                        <p:attrNameLst>
                                          <p:attrName>ppt_x</p:attrName>
                                        </p:attrNameLst>
                                      </p:cBhvr>
                                      <p:tavLst>
                                        <p:tav tm="0">
                                          <p:val>
                                            <p:strVal val="#ppt_x"/>
                                          </p:val>
                                        </p:tav>
                                        <p:tav tm="100000">
                                          <p:val>
                                            <p:strVal val="#ppt_x"/>
                                          </p:val>
                                        </p:tav>
                                      </p:tavLst>
                                    </p:anim>
                                    <p:anim calcmode="lin" valueType="num">
                                      <p:cBhvr>
                                        <p:cTn id="55" dur="500" fill="hold"/>
                                        <p:tgtEl>
                                          <p:spTgt spid="22"/>
                                        </p:tgtEl>
                                        <p:attrNameLst>
                                          <p:attrName>ppt_y</p:attrName>
                                        </p:attrNameLst>
                                      </p:cBhvr>
                                      <p:tavLst>
                                        <p:tav tm="0">
                                          <p:val>
                                            <p:strVal val="#ppt_y+.1"/>
                                          </p:val>
                                        </p:tav>
                                        <p:tav tm="100000">
                                          <p:val>
                                            <p:strVal val="#ppt_y"/>
                                          </p:val>
                                        </p:tav>
                                      </p:tavLst>
                                    </p:anim>
                                  </p:childTnLst>
                                </p:cTn>
                              </p:par>
                            </p:childTnLst>
                          </p:cTn>
                        </p:par>
                      </p:childTnLst>
                    </p:cTn>
                  </p:par>
                  <p:par>
                    <p:cTn id="64" fill="hold">
                      <p:stCondLst>
                        <p:cond delay="indefinite"/>
                      </p:stCondLst>
                      <p:childTnLst>
                        <p:par>
                          <p:cTn id="65" fill="hold">
                            <p:stCondLst>
                              <p:cond delay="0"/>
                            </p:stCondLst>
                            <p:childTnLst>
                              <p:par>
                                <p:cTn id="63" presetID="42" presetClass="entr" presetSubtype="0" fill="hold" nodeType="clickEffect">
                                  <p:stCondLst>
                                    <p:cond delay="0"/>
                                  </p:stCondLst>
                                  <p:childTnLst>
                                    <p:set>
                                      <p:cBhvr>
                                        <p:cTn id="59" dur="1" fill="hold">
                                          <p:stCondLst>
                                            <p:cond delay="0"/>
                                          </p:stCondLst>
                                        </p:cTn>
                                        <p:tgtEl>
                                          <p:spTgt spid="24"/>
                                        </p:tgtEl>
                                        <p:attrNameLst>
                                          <p:attrName>style.visibility</p:attrName>
                                        </p:attrNameLst>
                                      </p:cBhvr>
                                      <p:to>
                                        <p:strVal val="visible"/>
                                      </p:to>
                                    </p:set>
                                    <p:animEffect transition="in" filter="fade">
                                      <p:cBhvr>
                                        <p:cTn id="60" dur="500"/>
                                        <p:tgtEl>
                                          <p:spTgt spid="24"/>
                                        </p:tgtEl>
                                      </p:cBhvr>
                                    </p:animEffect>
                                    <p:anim calcmode="lin" valueType="num">
                                      <p:cBhvr>
                                        <p:cTn id="61" dur="500" fill="hold"/>
                                        <p:tgtEl>
                                          <p:spTgt spid="24"/>
                                        </p:tgtEl>
                                        <p:attrNameLst>
                                          <p:attrName>ppt_x</p:attrName>
                                        </p:attrNameLst>
                                      </p:cBhvr>
                                      <p:tavLst>
                                        <p:tav tm="0">
                                          <p:val>
                                            <p:strVal val="#ppt_x"/>
                                          </p:val>
                                        </p:tav>
                                        <p:tav tm="100000">
                                          <p:val>
                                            <p:strVal val="#ppt_x"/>
                                          </p:val>
                                        </p:tav>
                                      </p:tavLst>
                                    </p:anim>
                                    <p:anim calcmode="lin" valueType="num">
                                      <p:cBhvr>
                                        <p:cTn id="62" dur="500" fill="hold"/>
                                        <p:tgtEl>
                                          <p:spTgt spid="24"/>
                                        </p:tgtEl>
                                        <p:attrNameLst>
                                          <p:attrName>ppt_y</p:attrName>
                                        </p:attrNameLst>
                                      </p:cBhvr>
                                      <p:tavLst>
                                        <p:tav tm="0">
                                          <p:val>
                                            <p:strVal val="#ppt_y+.1"/>
                                          </p:val>
                                        </p:tav>
                                        <p:tav tm="100000">
                                          <p:val>
                                            <p:strVal val="#ppt_y"/>
                                          </p:val>
                                        </p:tav>
                                      </p:tavLst>
                                    </p:anim>
                                  </p:childTnLst>
                                </p:cTn>
                              </p:par>
                            </p:childTnLst>
                          </p:cTn>
                        </p:par>
                      </p:childTnLst>
                    </p:cTn>
                  </p:par>
                  <p:par>
                    <p:cTn id="71" fill="hold">
                      <p:stCondLst>
                        <p:cond delay="indefinite"/>
                      </p:stCondLst>
                      <p:childTnLst>
                        <p:par>
                          <p:cTn id="72" fill="hold">
                            <p:stCondLst>
                              <p:cond delay="0"/>
                            </p:stCondLst>
                            <p:childTnLst>
                              <p:par>
                                <p:cTn id="70" presetID="42" presetClass="entr" presetSubtype="0" fill="hold" nodeType="clickEffect">
                                  <p:stCondLst>
                                    <p:cond delay="0"/>
                                  </p:stCondLst>
                                  <p:childTnLst>
                                    <p:set>
                                      <p:cBhvr>
                                        <p:cTn id="66" dur="1" fill="hold">
                                          <p:stCondLst>
                                            <p:cond delay="0"/>
                                          </p:stCondLst>
                                        </p:cTn>
                                        <p:tgtEl>
                                          <p:spTgt spid="26"/>
                                        </p:tgtEl>
                                        <p:attrNameLst>
                                          <p:attrName>style.visibility</p:attrName>
                                        </p:attrNameLst>
                                      </p:cBhvr>
                                      <p:to>
                                        <p:strVal val="visible"/>
                                      </p:to>
                                    </p:set>
                                    <p:animEffect transition="in" filter="fade">
                                      <p:cBhvr>
                                        <p:cTn id="67" dur="500"/>
                                        <p:tgtEl>
                                          <p:spTgt spid="26"/>
                                        </p:tgtEl>
                                      </p:cBhvr>
                                    </p:animEffect>
                                    <p:anim calcmode="lin" valueType="num">
                                      <p:cBhvr>
                                        <p:cTn id="68" dur="500" fill="hold"/>
                                        <p:tgtEl>
                                          <p:spTgt spid="26"/>
                                        </p:tgtEl>
                                        <p:attrNameLst>
                                          <p:attrName>ppt_x</p:attrName>
                                        </p:attrNameLst>
                                      </p:cBhvr>
                                      <p:tavLst>
                                        <p:tav tm="0">
                                          <p:val>
                                            <p:strVal val="#ppt_x"/>
                                          </p:val>
                                        </p:tav>
                                        <p:tav tm="100000">
                                          <p:val>
                                            <p:strVal val="#ppt_x"/>
                                          </p:val>
                                        </p:tav>
                                      </p:tavLst>
                                    </p:anim>
                                    <p:anim calcmode="lin" valueType="num">
                                      <p:cBhvr>
                                        <p:cTn id="69" dur="500" fill="hold"/>
                                        <p:tgtEl>
                                          <p:spTgt spid="26"/>
                                        </p:tgtEl>
                                        <p:attrNameLst>
                                          <p:attrName>ppt_y</p:attrName>
                                        </p:attrNameLst>
                                      </p:cBhvr>
                                      <p:tavLst>
                                        <p:tav tm="0">
                                          <p:val>
                                            <p:strVal val="#ppt_y+.1"/>
                                          </p:val>
                                        </p:tav>
                                        <p:tav tm="100000">
                                          <p:val>
                                            <p:strVal val="#ppt_y"/>
                                          </p:val>
                                        </p:tav>
                                      </p:tavLst>
                                    </p:anim>
                                  </p:childTnLst>
                                </p:cTn>
                              </p:par>
                            </p:childTnLst>
                          </p:cTn>
                        </p:par>
                      </p:childTnLst>
                    </p:cTn>
                  </p:par>
                  <p:par>
                    <p:cTn id="78" fill="hold">
                      <p:stCondLst>
                        <p:cond delay="indefinite"/>
                      </p:stCondLst>
                      <p:childTnLst>
                        <p:par>
                          <p:cTn id="79" fill="hold">
                            <p:stCondLst>
                              <p:cond delay="0"/>
                            </p:stCondLst>
                            <p:childTnLst>
                              <p:par>
                                <p:cTn id="77" presetID="42" presetClass="entr" presetSubtype="0" fill="hold" nodeType="clickEffect">
                                  <p:stCondLst>
                                    <p:cond delay="0"/>
                                  </p:stCondLst>
                                  <p:childTnLst>
                                    <p:set>
                                      <p:cBhvr>
                                        <p:cTn id="73" dur="1" fill="hold">
                                          <p:stCondLst>
                                            <p:cond delay="0"/>
                                          </p:stCondLst>
                                        </p:cTn>
                                        <p:tgtEl>
                                          <p:spTgt spid="31"/>
                                        </p:tgtEl>
                                        <p:attrNameLst>
                                          <p:attrName>style.visibility</p:attrName>
                                        </p:attrNameLst>
                                      </p:cBhvr>
                                      <p:to>
                                        <p:strVal val="visible"/>
                                      </p:to>
                                    </p:set>
                                    <p:animEffect transition="in" filter="fade">
                                      <p:cBhvr>
                                        <p:cTn id="74" dur="500"/>
                                        <p:tgtEl>
                                          <p:spTgt spid="31"/>
                                        </p:tgtEl>
                                      </p:cBhvr>
                                    </p:animEffect>
                                    <p:anim calcmode="lin" valueType="num">
                                      <p:cBhvr>
                                        <p:cTn id="75" dur="500" fill="hold"/>
                                        <p:tgtEl>
                                          <p:spTgt spid="31"/>
                                        </p:tgtEl>
                                        <p:attrNameLst>
                                          <p:attrName>ppt_x</p:attrName>
                                        </p:attrNameLst>
                                      </p:cBhvr>
                                      <p:tavLst>
                                        <p:tav tm="0">
                                          <p:val>
                                            <p:strVal val="#ppt_x"/>
                                          </p:val>
                                        </p:tav>
                                        <p:tav tm="100000">
                                          <p:val>
                                            <p:strVal val="#ppt_x"/>
                                          </p:val>
                                        </p:tav>
                                      </p:tavLst>
                                    </p:anim>
                                    <p:anim calcmode="lin" valueType="num">
                                      <p:cBhvr>
                                        <p:cTn id="76" dur="500" fill="hold"/>
                                        <p:tgtEl>
                                          <p:spTgt spid="31"/>
                                        </p:tgtEl>
                                        <p:attrNameLst>
                                          <p:attrName>ppt_y</p:attrName>
                                        </p:attrNameLst>
                                      </p:cBhvr>
                                      <p:tavLst>
                                        <p:tav tm="0">
                                          <p:val>
                                            <p:strVal val="#ppt_y+.1"/>
                                          </p:val>
                                        </p:tav>
                                        <p:tav tm="100000">
                                          <p:val>
                                            <p:strVal val="#ppt_y"/>
                                          </p:val>
                                        </p:tav>
                                      </p:tavLst>
                                    </p:anim>
                                  </p:childTnLst>
                                </p:cTn>
                              </p:par>
                            </p:childTnLst>
                          </p:cTn>
                        </p:par>
                      </p:childTnLst>
                    </p:cTn>
                  </p:par>
                  <p:par>
                    <p:cTn id="85" fill="hold">
                      <p:stCondLst>
                        <p:cond delay="indefinite"/>
                      </p:stCondLst>
                      <p:childTnLst>
                        <p:par>
                          <p:cTn id="86" fill="hold">
                            <p:stCondLst>
                              <p:cond delay="0"/>
                            </p:stCondLst>
                            <p:childTnLst>
                              <p:par>
                                <p:cTn id="84" presetID="42" presetClass="entr" presetSubtype="0" fill="hold" nodeType="clickEffect">
                                  <p:stCondLst>
                                    <p:cond delay="0"/>
                                  </p:stCondLst>
                                  <p:childTnLst>
                                    <p:set>
                                      <p:cBhvr>
                                        <p:cTn id="80" dur="1" fill="hold">
                                          <p:stCondLst>
                                            <p:cond delay="0"/>
                                          </p:stCondLst>
                                        </p:cTn>
                                        <p:tgtEl>
                                          <p:spTgt spid="33"/>
                                        </p:tgtEl>
                                        <p:attrNameLst>
                                          <p:attrName>style.visibility</p:attrName>
                                        </p:attrNameLst>
                                      </p:cBhvr>
                                      <p:to>
                                        <p:strVal val="visible"/>
                                      </p:to>
                                    </p:set>
                                    <p:animEffect transition="in" filter="fade">
                                      <p:cBhvr>
                                        <p:cTn id="81" dur="500"/>
                                        <p:tgtEl>
                                          <p:spTgt spid="33"/>
                                        </p:tgtEl>
                                      </p:cBhvr>
                                    </p:animEffect>
                                    <p:anim calcmode="lin" valueType="num">
                                      <p:cBhvr>
                                        <p:cTn id="82" dur="500" fill="hold"/>
                                        <p:tgtEl>
                                          <p:spTgt spid="33"/>
                                        </p:tgtEl>
                                        <p:attrNameLst>
                                          <p:attrName>ppt_x</p:attrName>
                                        </p:attrNameLst>
                                      </p:cBhvr>
                                      <p:tavLst>
                                        <p:tav tm="0">
                                          <p:val>
                                            <p:strVal val="#ppt_x"/>
                                          </p:val>
                                        </p:tav>
                                        <p:tav tm="100000">
                                          <p:val>
                                            <p:strVal val="#ppt_x"/>
                                          </p:val>
                                        </p:tav>
                                      </p:tavLst>
                                    </p:anim>
                                    <p:anim calcmode="lin" valueType="num">
                                      <p:cBhvr>
                                        <p:cTn id="83" dur="500" fill="hold"/>
                                        <p:tgtEl>
                                          <p:spTgt spid="33"/>
                                        </p:tgtEl>
                                        <p:attrNameLst>
                                          <p:attrName>ppt_y</p:attrName>
                                        </p:attrNameLst>
                                      </p:cBhvr>
                                      <p:tavLst>
                                        <p:tav tm="0">
                                          <p:val>
                                            <p:strVal val="#ppt_y+.1"/>
                                          </p:val>
                                        </p:tav>
                                        <p:tav tm="100000">
                                          <p:val>
                                            <p:strVal val="#ppt_y"/>
                                          </p:val>
                                        </p:tav>
                                      </p:tavLst>
                                    </p:anim>
                                  </p:childTnLst>
                                </p:cTn>
                              </p:par>
                            </p:childTnLst>
                          </p:cTn>
                        </p:par>
                      </p:childTnLst>
                    </p:cTn>
                  </p:par>
                  <p:par>
                    <p:cTn id="92" fill="hold">
                      <p:stCondLst>
                        <p:cond delay="indefinite"/>
                      </p:stCondLst>
                      <p:childTnLst>
                        <p:par>
                          <p:cTn id="93" fill="hold">
                            <p:stCondLst>
                              <p:cond delay="0"/>
                            </p:stCondLst>
                            <p:childTnLst>
                              <p:par>
                                <p:cTn id="91" presetID="42" presetClass="entr" presetSubtype="0" fill="hold" nodeType="clickEffect">
                                  <p:stCondLst>
                                    <p:cond delay="0"/>
                                  </p:stCondLst>
                                  <p:childTnLst>
                                    <p:set>
                                      <p:cBhvr>
                                        <p:cTn id="87" dur="1" fill="hold">
                                          <p:stCondLst>
                                            <p:cond delay="0"/>
                                          </p:stCondLst>
                                        </p:cTn>
                                        <p:tgtEl>
                                          <p:spTgt spid="35"/>
                                        </p:tgtEl>
                                        <p:attrNameLst>
                                          <p:attrName>style.visibility</p:attrName>
                                        </p:attrNameLst>
                                      </p:cBhvr>
                                      <p:to>
                                        <p:strVal val="visible"/>
                                      </p:to>
                                    </p:set>
                                    <p:animEffect transition="in" filter="fade">
                                      <p:cBhvr>
                                        <p:cTn id="88" dur="500"/>
                                        <p:tgtEl>
                                          <p:spTgt spid="35"/>
                                        </p:tgtEl>
                                      </p:cBhvr>
                                    </p:animEffect>
                                    <p:anim calcmode="lin" valueType="num">
                                      <p:cBhvr>
                                        <p:cTn id="89" dur="500" fill="hold"/>
                                        <p:tgtEl>
                                          <p:spTgt spid="35"/>
                                        </p:tgtEl>
                                        <p:attrNameLst>
                                          <p:attrName>ppt_x</p:attrName>
                                        </p:attrNameLst>
                                      </p:cBhvr>
                                      <p:tavLst>
                                        <p:tav tm="0">
                                          <p:val>
                                            <p:strVal val="#ppt_x"/>
                                          </p:val>
                                        </p:tav>
                                        <p:tav tm="100000">
                                          <p:val>
                                            <p:strVal val="#ppt_x"/>
                                          </p:val>
                                        </p:tav>
                                      </p:tavLst>
                                    </p:anim>
                                    <p:anim calcmode="lin" valueType="num">
                                      <p:cBhvr>
                                        <p:cTn id="90" dur="500" fill="hold"/>
                                        <p:tgtEl>
                                          <p:spTgt spid="35"/>
                                        </p:tgtEl>
                                        <p:attrNameLst>
                                          <p:attrName>ppt_y</p:attrName>
                                        </p:attrNameLst>
                                      </p:cBhvr>
                                      <p:tavLst>
                                        <p:tav tm="0">
                                          <p:val>
                                            <p:strVal val="#ppt_y+.1"/>
                                          </p:val>
                                        </p:tav>
                                        <p:tav tm="100000">
                                          <p:val>
                                            <p:strVal val="#ppt_y"/>
                                          </p:val>
                                        </p:tav>
                                      </p:tavLst>
                                    </p:anim>
                                  </p:childTnLst>
                                </p:cTn>
                              </p:par>
                            </p:childTnLst>
                          </p:cTn>
                        </p:par>
                      </p:childTnLst>
                    </p:cTn>
                  </p:par>
                  <p:par>
                    <p:cTn id="99" fill="hold">
                      <p:stCondLst>
                        <p:cond delay="indefinite"/>
                      </p:stCondLst>
                      <p:childTnLst>
                        <p:par>
                          <p:cTn id="100" fill="hold">
                            <p:stCondLst>
                              <p:cond delay="0"/>
                            </p:stCondLst>
                            <p:childTnLst>
                              <p:par>
                                <p:cTn id="98" presetID="42" presetClass="entr" presetSubtype="0" fill="hold" nodeType="clickEffect">
                                  <p:stCondLst>
                                    <p:cond delay="0"/>
                                  </p:stCondLst>
                                  <p:childTnLst>
                                    <p:set>
                                      <p:cBhvr>
                                        <p:cTn id="94" dur="1" fill="hold">
                                          <p:stCondLst>
                                            <p:cond delay="0"/>
                                          </p:stCondLst>
                                        </p:cTn>
                                        <p:tgtEl>
                                          <p:spTgt spid="37"/>
                                        </p:tgtEl>
                                        <p:attrNameLst>
                                          <p:attrName>style.visibility</p:attrName>
                                        </p:attrNameLst>
                                      </p:cBhvr>
                                      <p:to>
                                        <p:strVal val="visible"/>
                                      </p:to>
                                    </p:set>
                                    <p:animEffect transition="in" filter="fade">
                                      <p:cBhvr>
                                        <p:cTn id="95" dur="500"/>
                                        <p:tgtEl>
                                          <p:spTgt spid="37"/>
                                        </p:tgtEl>
                                      </p:cBhvr>
                                    </p:animEffect>
                                    <p:anim calcmode="lin" valueType="num">
                                      <p:cBhvr>
                                        <p:cTn id="96" dur="500" fill="hold"/>
                                        <p:tgtEl>
                                          <p:spTgt spid="37"/>
                                        </p:tgtEl>
                                        <p:attrNameLst>
                                          <p:attrName>ppt_x</p:attrName>
                                        </p:attrNameLst>
                                      </p:cBhvr>
                                      <p:tavLst>
                                        <p:tav tm="0">
                                          <p:val>
                                            <p:strVal val="#ppt_x"/>
                                          </p:val>
                                        </p:tav>
                                        <p:tav tm="100000">
                                          <p:val>
                                            <p:strVal val="#ppt_x"/>
                                          </p:val>
                                        </p:tav>
                                      </p:tavLst>
                                    </p:anim>
                                    <p:anim calcmode="lin" valueType="num">
                                      <p:cBhvr>
                                        <p:cTn id="97" dur="500" fill="hold"/>
                                        <p:tgtEl>
                                          <p:spTgt spid="37"/>
                                        </p:tgtEl>
                                        <p:attrNameLst>
                                          <p:attrName>ppt_y</p:attrName>
                                        </p:attrNameLst>
                                      </p:cBhvr>
                                      <p:tavLst>
                                        <p:tav tm="0">
                                          <p:val>
                                            <p:strVal val="#ppt_y+.1"/>
                                          </p:val>
                                        </p:tav>
                                        <p:tav tm="100000">
                                          <p:val>
                                            <p:strVal val="#ppt_y"/>
                                          </p:val>
                                        </p:tav>
                                      </p:tavLst>
                                    </p:anim>
                                  </p:childTnLst>
                                </p:cTn>
                              </p:par>
                            </p:childTnLst>
                          </p:cTn>
                        </p:par>
                      </p:childTnLst>
                    </p:cTn>
                  </p:par>
                  <p:par>
                    <p:cTn id="106" fill="hold">
                      <p:stCondLst>
                        <p:cond delay="indefinite"/>
                      </p:stCondLst>
                      <p:childTnLst>
                        <p:par>
                          <p:cTn id="107" fill="hold">
                            <p:stCondLst>
                              <p:cond delay="0"/>
                            </p:stCondLst>
                            <p:childTnLst>
                              <p:par>
                                <p:cTn id="105" presetID="42" presetClass="entr" presetSubtype="0" fill="hold" nodeType="clickEffect">
                                  <p:stCondLst>
                                    <p:cond delay="0"/>
                                  </p:stCondLst>
                                  <p:childTnLst>
                                    <p:set>
                                      <p:cBhvr>
                                        <p:cTn id="101" dur="1" fill="hold">
                                          <p:stCondLst>
                                            <p:cond delay="0"/>
                                          </p:stCondLst>
                                        </p:cTn>
                                        <p:tgtEl>
                                          <p:spTgt spid="39"/>
                                        </p:tgtEl>
                                        <p:attrNameLst>
                                          <p:attrName>style.visibility</p:attrName>
                                        </p:attrNameLst>
                                      </p:cBhvr>
                                      <p:to>
                                        <p:strVal val="visible"/>
                                      </p:to>
                                    </p:set>
                                    <p:animEffect transition="in" filter="fade">
                                      <p:cBhvr>
                                        <p:cTn id="102" dur="500"/>
                                        <p:tgtEl>
                                          <p:spTgt spid="39"/>
                                        </p:tgtEl>
                                      </p:cBhvr>
                                    </p:animEffect>
                                    <p:anim calcmode="lin" valueType="num">
                                      <p:cBhvr>
                                        <p:cTn id="103" dur="500" fill="hold"/>
                                        <p:tgtEl>
                                          <p:spTgt spid="39"/>
                                        </p:tgtEl>
                                        <p:attrNameLst>
                                          <p:attrName>ppt_x</p:attrName>
                                        </p:attrNameLst>
                                      </p:cBhvr>
                                      <p:tavLst>
                                        <p:tav tm="0">
                                          <p:val>
                                            <p:strVal val="#ppt_x"/>
                                          </p:val>
                                        </p:tav>
                                        <p:tav tm="100000">
                                          <p:val>
                                            <p:strVal val="#ppt_x"/>
                                          </p:val>
                                        </p:tav>
                                      </p:tavLst>
                                    </p:anim>
                                    <p:anim calcmode="lin" valueType="num">
                                      <p:cBhvr>
                                        <p:cTn id="104" dur="500" fill="hold"/>
                                        <p:tgtEl>
                                          <p:spTgt spid="39"/>
                                        </p:tgtEl>
                                        <p:attrNameLst>
                                          <p:attrName>ppt_y</p:attrName>
                                        </p:attrNameLst>
                                      </p:cBhvr>
                                      <p:tavLst>
                                        <p:tav tm="0">
                                          <p:val>
                                            <p:strVal val="#ppt_y+.1"/>
                                          </p:val>
                                        </p:tav>
                                        <p:tav tm="100000">
                                          <p:val>
                                            <p:strVal val="#ppt_y"/>
                                          </p:val>
                                        </p:tav>
                                      </p:tavLst>
                                    </p:anim>
                                  </p:childTnLst>
                                </p:cTn>
                              </p:par>
                            </p:childTnLst>
                          </p:cTn>
                        </p:par>
                      </p:childTnLst>
                    </p:cTn>
                  </p:par>
                  <p:par>
                    <p:cTn id="113" fill="hold">
                      <p:stCondLst>
                        <p:cond delay="indefinite"/>
                      </p:stCondLst>
                      <p:childTnLst>
                        <p:par>
                          <p:cTn id="114" fill="hold">
                            <p:stCondLst>
                              <p:cond delay="0"/>
                            </p:stCondLst>
                            <p:childTnLst>
                              <p:par>
                                <p:cTn id="112" presetID="42" presetClass="entr" presetSubtype="0" fill="hold" nodeType="clickEffect">
                                  <p:stCondLst>
                                    <p:cond delay="0"/>
                                  </p:stCondLst>
                                  <p:childTnLst>
                                    <p:set>
                                      <p:cBhvr>
                                        <p:cTn id="108" dur="1" fill="hold">
                                          <p:stCondLst>
                                            <p:cond delay="0"/>
                                          </p:stCondLst>
                                        </p:cTn>
                                        <p:tgtEl>
                                          <p:spTgt spid="41"/>
                                        </p:tgtEl>
                                        <p:attrNameLst>
                                          <p:attrName>style.visibility</p:attrName>
                                        </p:attrNameLst>
                                      </p:cBhvr>
                                      <p:to>
                                        <p:strVal val="visible"/>
                                      </p:to>
                                    </p:set>
                                    <p:animEffect transition="in" filter="fade">
                                      <p:cBhvr>
                                        <p:cTn id="109" dur="500"/>
                                        <p:tgtEl>
                                          <p:spTgt spid="41"/>
                                        </p:tgtEl>
                                      </p:cBhvr>
                                    </p:animEffect>
                                    <p:anim calcmode="lin" valueType="num">
                                      <p:cBhvr>
                                        <p:cTn id="110" dur="500" fill="hold"/>
                                        <p:tgtEl>
                                          <p:spTgt spid="41"/>
                                        </p:tgtEl>
                                        <p:attrNameLst>
                                          <p:attrName>ppt_x</p:attrName>
                                        </p:attrNameLst>
                                      </p:cBhvr>
                                      <p:tavLst>
                                        <p:tav tm="0">
                                          <p:val>
                                            <p:strVal val="#ppt_x"/>
                                          </p:val>
                                        </p:tav>
                                        <p:tav tm="100000">
                                          <p:val>
                                            <p:strVal val="#ppt_x"/>
                                          </p:val>
                                        </p:tav>
                                      </p:tavLst>
                                    </p:anim>
                                    <p:anim calcmode="lin" valueType="num">
                                      <p:cBhvr>
                                        <p:cTn id="111" dur="500" fill="hold"/>
                                        <p:tgtEl>
                                          <p:spTgt spid="41"/>
                                        </p:tgtEl>
                                        <p:attrNameLst>
                                          <p:attrName>ppt_y</p:attrName>
                                        </p:attrNameLst>
                                      </p:cBhvr>
                                      <p:tavLst>
                                        <p:tav tm="0">
                                          <p:val>
                                            <p:strVal val="#ppt_y+.1"/>
                                          </p:val>
                                        </p:tav>
                                        <p:tav tm="100000">
                                          <p:val>
                                            <p:strVal val="#ppt_y"/>
                                          </p:val>
                                        </p:tav>
                                      </p:tavLst>
                                    </p:anim>
                                  </p:childTnLst>
                                </p:cTn>
                              </p:par>
                            </p:childTnLst>
                          </p:cTn>
                        </p:par>
                      </p:childTnLst>
                    </p:cTn>
                  </p:par>
                  <p:par>
                    <p:cTn id="120" fill="hold">
                      <p:stCondLst>
                        <p:cond delay="indefinite"/>
                      </p:stCondLst>
                      <p:childTnLst>
                        <p:par>
                          <p:cTn id="121" fill="hold">
                            <p:stCondLst>
                              <p:cond delay="0"/>
                            </p:stCondLst>
                            <p:childTnLst>
                              <p:par>
                                <p:cTn id="119" presetID="42" presetClass="entr" presetSubtype="0" fill="hold" nodeType="clickEffect">
                                  <p:stCondLst>
                                    <p:cond delay="0"/>
                                  </p:stCondLst>
                                  <p:childTnLst>
                                    <p:set>
                                      <p:cBhvr>
                                        <p:cTn id="115" dur="1" fill="hold">
                                          <p:stCondLst>
                                            <p:cond delay="0"/>
                                          </p:stCondLst>
                                        </p:cTn>
                                        <p:tgtEl>
                                          <p:spTgt spid="43"/>
                                        </p:tgtEl>
                                        <p:attrNameLst>
                                          <p:attrName>style.visibility</p:attrName>
                                        </p:attrNameLst>
                                      </p:cBhvr>
                                      <p:to>
                                        <p:strVal val="visible"/>
                                      </p:to>
                                    </p:set>
                                    <p:animEffect transition="in" filter="fade">
                                      <p:cBhvr>
                                        <p:cTn id="116" dur="500"/>
                                        <p:tgtEl>
                                          <p:spTgt spid="43"/>
                                        </p:tgtEl>
                                      </p:cBhvr>
                                    </p:animEffect>
                                    <p:anim calcmode="lin" valueType="num">
                                      <p:cBhvr>
                                        <p:cTn id="117" dur="500" fill="hold"/>
                                        <p:tgtEl>
                                          <p:spTgt spid="43"/>
                                        </p:tgtEl>
                                        <p:attrNameLst>
                                          <p:attrName>ppt_x</p:attrName>
                                        </p:attrNameLst>
                                      </p:cBhvr>
                                      <p:tavLst>
                                        <p:tav tm="0">
                                          <p:val>
                                            <p:strVal val="#ppt_x"/>
                                          </p:val>
                                        </p:tav>
                                        <p:tav tm="100000">
                                          <p:val>
                                            <p:strVal val="#ppt_x"/>
                                          </p:val>
                                        </p:tav>
                                      </p:tavLst>
                                    </p:anim>
                                    <p:anim calcmode="lin" valueType="num">
                                      <p:cBhvr>
                                        <p:cTn id="118" dur="500" fill="hold"/>
                                        <p:tgtEl>
                                          <p:spTgt spid="43"/>
                                        </p:tgtEl>
                                        <p:attrNameLst>
                                          <p:attrName>ppt_y</p:attrName>
                                        </p:attrNameLst>
                                      </p:cBhvr>
                                      <p:tavLst>
                                        <p:tav tm="0">
                                          <p:val>
                                            <p:strVal val="#ppt_y+.1"/>
                                          </p:val>
                                        </p:tav>
                                        <p:tav tm="100000">
                                          <p:val>
                                            <p:strVal val="#ppt_y"/>
                                          </p:val>
                                        </p:tav>
                                      </p:tavLst>
                                    </p:anim>
                                  </p:childTnLst>
                                </p:cTn>
                              </p:par>
                            </p:childTnLst>
                          </p:cTn>
                        </p:par>
                      </p:childTnLst>
                    </p:cTn>
                  </p:par>
                  <p:par>
                    <p:cTn id="127" fill="hold">
                      <p:stCondLst>
                        <p:cond delay="indefinite"/>
                      </p:stCondLst>
                      <p:childTnLst>
                        <p:par>
                          <p:cTn id="128" fill="hold">
                            <p:stCondLst>
                              <p:cond delay="0"/>
                            </p:stCondLst>
                            <p:childTnLst>
                              <p:par>
                                <p:cTn id="126" presetID="42" presetClass="entr" presetSubtype="0" fill="hold" nodeType="clickEffect">
                                  <p:stCondLst>
                                    <p:cond delay="0"/>
                                  </p:stCondLst>
                                  <p:childTnLst>
                                    <p:set>
                                      <p:cBhvr>
                                        <p:cTn id="122" dur="1" fill="hold">
                                          <p:stCondLst>
                                            <p:cond delay="0"/>
                                          </p:stCondLst>
                                        </p:cTn>
                                        <p:tgtEl>
                                          <p:spTgt spid="45"/>
                                        </p:tgtEl>
                                        <p:attrNameLst>
                                          <p:attrName>style.visibility</p:attrName>
                                        </p:attrNameLst>
                                      </p:cBhvr>
                                      <p:to>
                                        <p:strVal val="visible"/>
                                      </p:to>
                                    </p:set>
                                    <p:animEffect transition="in" filter="fade">
                                      <p:cBhvr>
                                        <p:cTn id="123" dur="500"/>
                                        <p:tgtEl>
                                          <p:spTgt spid="45"/>
                                        </p:tgtEl>
                                      </p:cBhvr>
                                    </p:animEffect>
                                    <p:anim calcmode="lin" valueType="num">
                                      <p:cBhvr>
                                        <p:cTn id="124" dur="500" fill="hold"/>
                                        <p:tgtEl>
                                          <p:spTgt spid="45"/>
                                        </p:tgtEl>
                                        <p:attrNameLst>
                                          <p:attrName>ppt_x</p:attrName>
                                        </p:attrNameLst>
                                      </p:cBhvr>
                                      <p:tavLst>
                                        <p:tav tm="0">
                                          <p:val>
                                            <p:strVal val="#ppt_x"/>
                                          </p:val>
                                        </p:tav>
                                        <p:tav tm="100000">
                                          <p:val>
                                            <p:strVal val="#ppt_x"/>
                                          </p:val>
                                        </p:tav>
                                      </p:tavLst>
                                    </p:anim>
                                    <p:anim calcmode="lin" valueType="num">
                                      <p:cBhvr>
                                        <p:cTn id="125" dur="500" fill="hold"/>
                                        <p:tgtEl>
                                          <p:spTgt spid="45"/>
                                        </p:tgtEl>
                                        <p:attrNameLst>
                                          <p:attrName>ppt_y</p:attrName>
                                        </p:attrNameLst>
                                      </p:cBhvr>
                                      <p:tavLst>
                                        <p:tav tm="0">
                                          <p:val>
                                            <p:strVal val="#ppt_y+.1"/>
                                          </p:val>
                                        </p:tav>
                                        <p:tav tm="100000">
                                          <p:val>
                                            <p:strVal val="#ppt_y"/>
                                          </p:val>
                                        </p:tav>
                                      </p:tavLst>
                                    </p:anim>
                                  </p:childTnLst>
                                </p:cTn>
                              </p:par>
                            </p:childTnLst>
                          </p:cTn>
                        </p:par>
                      </p:childTnLst>
                    </p:cTn>
                  </p:par>
                  <p:par>
                    <p:cTn id="134" fill="hold">
                      <p:stCondLst>
                        <p:cond delay="indefinite"/>
                      </p:stCondLst>
                      <p:childTnLst>
                        <p:par>
                          <p:cTn id="135" fill="hold">
                            <p:stCondLst>
                              <p:cond delay="0"/>
                            </p:stCondLst>
                            <p:childTnLst>
                              <p:par>
                                <p:cTn id="133" presetID="42" presetClass="entr" presetSubtype="0" fill="hold" nodeType="clickEffect">
                                  <p:stCondLst>
                                    <p:cond delay="0"/>
                                  </p:stCondLst>
                                  <p:childTnLst>
                                    <p:set>
                                      <p:cBhvr>
                                        <p:cTn id="129" dur="1" fill="hold">
                                          <p:stCondLst>
                                            <p:cond delay="0"/>
                                          </p:stCondLst>
                                        </p:cTn>
                                        <p:tgtEl>
                                          <p:spTgt spid="47"/>
                                        </p:tgtEl>
                                        <p:attrNameLst>
                                          <p:attrName>style.visibility</p:attrName>
                                        </p:attrNameLst>
                                      </p:cBhvr>
                                      <p:to>
                                        <p:strVal val="visible"/>
                                      </p:to>
                                    </p:set>
                                    <p:animEffect transition="in" filter="fade">
                                      <p:cBhvr>
                                        <p:cTn id="130" dur="500"/>
                                        <p:tgtEl>
                                          <p:spTgt spid="47"/>
                                        </p:tgtEl>
                                      </p:cBhvr>
                                    </p:animEffect>
                                    <p:anim calcmode="lin" valueType="num">
                                      <p:cBhvr>
                                        <p:cTn id="131" dur="500" fill="hold"/>
                                        <p:tgtEl>
                                          <p:spTgt spid="47"/>
                                        </p:tgtEl>
                                        <p:attrNameLst>
                                          <p:attrName>ppt_x</p:attrName>
                                        </p:attrNameLst>
                                      </p:cBhvr>
                                      <p:tavLst>
                                        <p:tav tm="0">
                                          <p:val>
                                            <p:strVal val="#ppt_x"/>
                                          </p:val>
                                        </p:tav>
                                        <p:tav tm="100000">
                                          <p:val>
                                            <p:strVal val="#ppt_x"/>
                                          </p:val>
                                        </p:tav>
                                      </p:tavLst>
                                    </p:anim>
                                    <p:anim calcmode="lin" valueType="num">
                                      <p:cBhvr>
                                        <p:cTn id="132" dur="500" fill="hold"/>
                                        <p:tgtEl>
                                          <p:spTgt spid="47"/>
                                        </p:tgtEl>
                                        <p:attrNameLst>
                                          <p:attrName>ppt_y</p:attrName>
                                        </p:attrNameLst>
                                      </p:cBhvr>
                                      <p:tavLst>
                                        <p:tav tm="0">
                                          <p:val>
                                            <p:strVal val="#ppt_y+.1"/>
                                          </p:val>
                                        </p:tav>
                                        <p:tav tm="100000">
                                          <p:val>
                                            <p:strVal val="#ppt_y"/>
                                          </p:val>
                                        </p:tav>
                                      </p:tavLst>
                                    </p:anim>
                                  </p:childTnLst>
                                </p:cTn>
                              </p:par>
                            </p:childTnLst>
                          </p:cTn>
                        </p:par>
                      </p:childTnLst>
                    </p:cTn>
                  </p:par>
                  <p:par>
                    <p:cTn id="141" fill="hold">
                      <p:stCondLst>
                        <p:cond delay="indefinite"/>
                      </p:stCondLst>
                      <p:childTnLst>
                        <p:par>
                          <p:cTn id="142" fill="hold">
                            <p:stCondLst>
                              <p:cond delay="0"/>
                            </p:stCondLst>
                            <p:childTnLst>
                              <p:par>
                                <p:cTn id="140" presetID="42" presetClass="entr" presetSubtype="0" fill="hold" nodeType="clickEffect">
                                  <p:stCondLst>
                                    <p:cond delay="0"/>
                                  </p:stCondLst>
                                  <p:childTnLst>
                                    <p:set>
                                      <p:cBhvr>
                                        <p:cTn id="136" dur="1" fill="hold">
                                          <p:stCondLst>
                                            <p:cond delay="0"/>
                                          </p:stCondLst>
                                        </p:cTn>
                                        <p:tgtEl>
                                          <p:spTgt spid="49"/>
                                        </p:tgtEl>
                                        <p:attrNameLst>
                                          <p:attrName>style.visibility</p:attrName>
                                        </p:attrNameLst>
                                      </p:cBhvr>
                                      <p:to>
                                        <p:strVal val="visible"/>
                                      </p:to>
                                    </p:set>
                                    <p:animEffect transition="in" filter="fade">
                                      <p:cBhvr>
                                        <p:cTn id="137" dur="500"/>
                                        <p:tgtEl>
                                          <p:spTgt spid="49"/>
                                        </p:tgtEl>
                                      </p:cBhvr>
                                    </p:animEffect>
                                    <p:anim calcmode="lin" valueType="num">
                                      <p:cBhvr>
                                        <p:cTn id="138" dur="500" fill="hold"/>
                                        <p:tgtEl>
                                          <p:spTgt spid="49"/>
                                        </p:tgtEl>
                                        <p:attrNameLst>
                                          <p:attrName>ppt_x</p:attrName>
                                        </p:attrNameLst>
                                      </p:cBhvr>
                                      <p:tavLst>
                                        <p:tav tm="0">
                                          <p:val>
                                            <p:strVal val="#ppt_x"/>
                                          </p:val>
                                        </p:tav>
                                        <p:tav tm="100000">
                                          <p:val>
                                            <p:strVal val="#ppt_x"/>
                                          </p:val>
                                        </p:tav>
                                      </p:tavLst>
                                    </p:anim>
                                    <p:anim calcmode="lin" valueType="num">
                                      <p:cBhvr>
                                        <p:cTn id="139" dur="500" fill="hold"/>
                                        <p:tgtEl>
                                          <p:spTgt spid="49"/>
                                        </p:tgtEl>
                                        <p:attrNameLst>
                                          <p:attrName>ppt_y</p:attrName>
                                        </p:attrNameLst>
                                      </p:cBhvr>
                                      <p:tavLst>
                                        <p:tav tm="0">
                                          <p:val>
                                            <p:strVal val="#ppt_y+.1"/>
                                          </p:val>
                                        </p:tav>
                                        <p:tav tm="100000">
                                          <p:val>
                                            <p:strVal val="#ppt_y"/>
                                          </p:val>
                                        </p:tav>
                                      </p:tavLst>
                                    </p:anim>
                                  </p:childTnLst>
                                </p:cTn>
                              </p:par>
                            </p:childTnLst>
                          </p:cTn>
                        </p:par>
                      </p:childTnLst>
                    </p:cTn>
                  </p:par>
                  <p:par>
                    <p:cTn id="149" fill="hold">
                      <p:stCondLst>
                        <p:cond delay="indefinite"/>
                      </p:stCondLst>
                      <p:childTnLst>
                        <p:par>
                          <p:cTn id="150" fill="hold">
                            <p:stCondLst>
                              <p:cond delay="0"/>
                            </p:stCondLst>
                            <p:childTnLst>
                              <p:par>
                                <p:cTn id="145" presetID="22" presetClass="entr" presetSubtype="8" fill="hold" nodeType="clickEffect">
                                  <p:stCondLst>
                                    <p:cond delay="0"/>
                                  </p:stCondLst>
                                  <p:childTnLst>
                                    <p:set>
                                      <p:cBhvr>
                                        <p:cTn id="143" dur="1" fill="hold">
                                          <p:stCondLst>
                                            <p:cond delay="0"/>
                                          </p:stCondLst>
                                        </p:cTn>
                                        <p:tgtEl>
                                          <p:spTgt spid="95"/>
                                        </p:tgtEl>
                                        <p:attrNameLst>
                                          <p:attrName>style.visibility</p:attrName>
                                        </p:attrNameLst>
                                      </p:cBhvr>
                                      <p:to>
                                        <p:strVal val="visible"/>
                                      </p:to>
                                    </p:set>
                                    <p:animEffect transition="in" filter="wipe(left)">
                                      <p:cBhvr>
                                        <p:cTn id="144" dur="700"/>
                                        <p:tgtEl>
                                          <p:spTgt spid="95"/>
                                        </p:tgtEl>
                                      </p:cBhvr>
                                    </p:animEffect>
                                  </p:childTnLst>
                                </p:cTn>
                              </p:par>
                              <p:par>
                                <p:cTn id="148" presetID="22" presetClass="entr" presetSubtype="8" fill="hold" nodeType="withEffect">
                                  <p:stCondLst>
                                    <p:cond delay="0"/>
                                  </p:stCondLst>
                                  <p:childTnLst>
                                    <p:set>
                                      <p:cBhvr>
                                        <p:cTn id="146" dur="1" fill="hold">
                                          <p:stCondLst>
                                            <p:cond delay="0"/>
                                          </p:stCondLst>
                                        </p:cTn>
                                        <p:tgtEl>
                                          <p:spTgt spid="96"/>
                                        </p:tgtEl>
                                        <p:attrNameLst>
                                          <p:attrName>style.visibility</p:attrName>
                                        </p:attrNameLst>
                                      </p:cBhvr>
                                      <p:to>
                                        <p:strVal val="visible"/>
                                      </p:to>
                                    </p:set>
                                    <p:animEffect transition="in" filter="wipe(left)">
                                      <p:cBhvr>
                                        <p:cTn id="147" dur="700"/>
                                        <p:tgtEl>
                                          <p:spTgt spid="96"/>
                                        </p:tgtEl>
                                      </p:cBhvr>
                                    </p:animEffect>
                                  </p:childTnLst>
                                </p:cTn>
                              </p:par>
                            </p:childTnLst>
                          </p:cTn>
                        </p:par>
                      </p:childTnLst>
                    </p:cTn>
                  </p:par>
                  <p:par>
                    <p:cTn id="156" fill="hold">
                      <p:stCondLst>
                        <p:cond delay="indefinite"/>
                      </p:stCondLst>
                      <p:childTnLst>
                        <p:par>
                          <p:cTn id="157" fill="hold">
                            <p:stCondLst>
                              <p:cond delay="0"/>
                            </p:stCondLst>
                            <p:childTnLst>
                              <p:par>
                                <p:cTn id="155" presetID="42" presetClass="entr" presetSubtype="0" fill="hold" nodeType="clickEffect">
                                  <p:stCondLst>
                                    <p:cond delay="0"/>
                                  </p:stCondLst>
                                  <p:childTnLst>
                                    <p:set>
                                      <p:cBhvr>
                                        <p:cTn id="151" dur="1" fill="hold">
                                          <p:stCondLst>
                                            <p:cond delay="0"/>
                                          </p:stCondLst>
                                        </p:cTn>
                                        <p:tgtEl>
                                          <p:spTgt spid="97"/>
                                        </p:tgtEl>
                                        <p:attrNameLst>
                                          <p:attrName>style.visibility</p:attrName>
                                        </p:attrNameLst>
                                      </p:cBhvr>
                                      <p:to>
                                        <p:strVal val="visible"/>
                                      </p:to>
                                    </p:set>
                                    <p:animEffect transition="in" filter="fade">
                                      <p:cBhvr>
                                        <p:cTn id="152" dur="500"/>
                                        <p:tgtEl>
                                          <p:spTgt spid="97"/>
                                        </p:tgtEl>
                                      </p:cBhvr>
                                    </p:animEffect>
                                    <p:anim calcmode="lin" valueType="num">
                                      <p:cBhvr>
                                        <p:cTn id="153" dur="500" fill="hold"/>
                                        <p:tgtEl>
                                          <p:spTgt spid="97"/>
                                        </p:tgtEl>
                                        <p:attrNameLst>
                                          <p:attrName>ppt_x</p:attrName>
                                        </p:attrNameLst>
                                      </p:cBhvr>
                                      <p:tavLst>
                                        <p:tav tm="0">
                                          <p:val>
                                            <p:strVal val="#ppt_x"/>
                                          </p:val>
                                        </p:tav>
                                        <p:tav tm="100000">
                                          <p:val>
                                            <p:strVal val="#ppt_x"/>
                                          </p:val>
                                        </p:tav>
                                      </p:tavLst>
                                    </p:anim>
                                    <p:anim calcmode="lin" valueType="num">
                                      <p:cBhvr>
                                        <p:cTn id="154" dur="500" fill="hold"/>
                                        <p:tgtEl>
                                          <p:spTgt spid="97"/>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Activity 2.2 · Questions 2–3 · SE p. 296 · ★ Essential</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Factors of ⅘ and 5/4</a:t>
            </a:r>
            <a:endParaRPr lang="en-US" sz="3450" dirty="0"/>
          </a:p>
        </p:txBody>
      </p:sp>
      <p:sp>
        <p:nvSpPr>
          <p:cNvPr id="4" name="Shape 4"/>
          <p:cNvSpPr txBox="1"/>
          <p:nvPr/>
        </p:nvSpPr>
        <p:spPr>
          <a:xfrm>
            <a:off x="685800" y="1618488"/>
            <a:ext cx="34288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Outputs × ⅘: </a:t>
            </a:r>
            <a:r>
              <a:rPr lang="en-US" sz="1575" dirty="0" i="1">
                <a:solidFill>
                  <a:srgbClr val="16171D"/>
                </a:solidFill>
                <a:latin typeface="Cambria"/>
                <a:cs typeface="Cambria"/>
              </a:rPr>
              <a:t xml:space="preserve">c</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⅘</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a:t>
            </a:r>
            <a:endParaRPr lang="en-US" sz="1575" dirty="0"/>
          </a:p>
        </p:txBody>
      </p:sp>
      <p:sp>
        <p:nvSpPr>
          <p:cNvPr id="5" name="Shape 5"/>
          <p:cNvSpPr txBox="1"/>
          <p:nvPr/>
        </p:nvSpPr>
        <p:spPr>
          <a:xfrm>
            <a:off x="685800" y="2008632"/>
            <a:ext cx="1143000" cy="39776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650" dirty="0" i="1">
                <a:solidFill>
                  <a:srgbClr val="16171D"/>
                </a:solidFill>
                <a:latin typeface="Cambria"/>
                <a:cs typeface="Cambria"/>
              </a:rPr>
              <a:t xml:space="preserve">x</a:t>
            </a:r>
            <a:endParaRPr lang="en-US" sz="1650" dirty="0"/>
          </a:p>
        </p:txBody>
      </p:sp>
      <p:sp>
        <p:nvSpPr>
          <p:cNvPr id="6" name="Shape 6"/>
          <p:cNvSpPr txBox="1"/>
          <p:nvPr/>
        </p:nvSpPr>
        <p:spPr>
          <a:xfrm>
            <a:off x="1828800" y="2008632"/>
            <a:ext cx="1143000" cy="39776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650" dirty="0" i="1">
                <a:solidFill>
                  <a:srgbClr val="16171D"/>
                </a:solidFill>
                <a:latin typeface="Cambria"/>
                <a:cs typeface="Cambria"/>
              </a:rPr>
              <a:t xml:space="preserve">c(x)</a:t>
            </a:r>
            <a:endParaRPr lang="en-US" sz="1650" dirty="0"/>
          </a:p>
        </p:txBody>
      </p:sp>
      <p:sp>
        <p:nvSpPr>
          <p:cNvPr id="7" name="Shape 7"/>
          <p:cNvSpPr txBox="1"/>
          <p:nvPr/>
        </p:nvSpPr>
        <p:spPr>
          <a:xfrm>
            <a:off x="685800" y="2406396"/>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8" name="Shape 8"/>
          <p:cNvSpPr txBox="1"/>
          <p:nvPr/>
        </p:nvSpPr>
        <p:spPr>
          <a:xfrm>
            <a:off x="685800" y="2406396"/>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a:t>
            </a:r>
            <a:endParaRPr lang="en-US" sz="1650" dirty="0"/>
          </a:p>
        </p:txBody>
      </p:sp>
      <p:sp>
        <p:nvSpPr>
          <p:cNvPr id="9" name="Shape 9"/>
          <p:cNvSpPr txBox="1"/>
          <p:nvPr/>
        </p:nvSpPr>
        <p:spPr>
          <a:xfrm>
            <a:off x="1828800" y="2406396"/>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10" name="Shape 10"/>
          <p:cNvSpPr txBox="1"/>
          <p:nvPr/>
        </p:nvSpPr>
        <p:spPr>
          <a:xfrm>
            <a:off x="1828800" y="2406396"/>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−8/5</a:t>
            </a:r>
            <a:endParaRPr lang="en-US" sz="1650" dirty="0"/>
          </a:p>
        </p:txBody>
      </p:sp>
      <p:sp>
        <p:nvSpPr>
          <p:cNvPr id="11" name="Shape 11"/>
          <p:cNvSpPr txBox="1"/>
          <p:nvPr/>
        </p:nvSpPr>
        <p:spPr>
          <a:xfrm>
            <a:off x="685800" y="2804160"/>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12" name="Shape 12"/>
          <p:cNvSpPr txBox="1"/>
          <p:nvPr/>
        </p:nvSpPr>
        <p:spPr>
          <a:xfrm>
            <a:off x="685800" y="2804160"/>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a:t>
            </a:r>
            <a:endParaRPr lang="en-US" sz="1650" dirty="0"/>
          </a:p>
        </p:txBody>
      </p:sp>
      <p:sp>
        <p:nvSpPr>
          <p:cNvPr id="13" name="Shape 13"/>
          <p:cNvSpPr txBox="1"/>
          <p:nvPr/>
        </p:nvSpPr>
        <p:spPr>
          <a:xfrm>
            <a:off x="1828800" y="2804160"/>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14" name="Shape 14"/>
          <p:cNvSpPr txBox="1"/>
          <p:nvPr/>
        </p:nvSpPr>
        <p:spPr>
          <a:xfrm>
            <a:off x="1828800" y="2804160"/>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−4/5</a:t>
            </a:r>
            <a:endParaRPr lang="en-US" sz="1650" dirty="0"/>
          </a:p>
        </p:txBody>
      </p:sp>
      <p:sp>
        <p:nvSpPr>
          <p:cNvPr id="15" name="Shape 15"/>
          <p:cNvSpPr txBox="1"/>
          <p:nvPr/>
        </p:nvSpPr>
        <p:spPr>
          <a:xfrm>
            <a:off x="685800" y="3201924"/>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16" name="Shape 16"/>
          <p:cNvSpPr txBox="1"/>
          <p:nvPr/>
        </p:nvSpPr>
        <p:spPr>
          <a:xfrm>
            <a:off x="685800" y="3201924"/>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0</a:t>
            </a:r>
            <a:endParaRPr lang="en-US" sz="1650" dirty="0"/>
          </a:p>
        </p:txBody>
      </p:sp>
      <p:sp>
        <p:nvSpPr>
          <p:cNvPr id="17" name="Shape 17"/>
          <p:cNvSpPr txBox="1"/>
          <p:nvPr/>
        </p:nvSpPr>
        <p:spPr>
          <a:xfrm>
            <a:off x="1828800" y="3201924"/>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18" name="Shape 18"/>
          <p:cNvSpPr txBox="1"/>
          <p:nvPr/>
        </p:nvSpPr>
        <p:spPr>
          <a:xfrm>
            <a:off x="1828800" y="3201924"/>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0</a:t>
            </a:r>
            <a:endParaRPr lang="en-US" sz="1650" dirty="0"/>
          </a:p>
        </p:txBody>
      </p:sp>
      <p:sp>
        <p:nvSpPr>
          <p:cNvPr id="19" name="Shape 19"/>
          <p:cNvSpPr txBox="1"/>
          <p:nvPr/>
        </p:nvSpPr>
        <p:spPr>
          <a:xfrm>
            <a:off x="685800" y="3599688"/>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20" name="Shape 20"/>
          <p:cNvSpPr txBox="1"/>
          <p:nvPr/>
        </p:nvSpPr>
        <p:spPr>
          <a:xfrm>
            <a:off x="685800" y="3599688"/>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a:t>
            </a:r>
            <a:endParaRPr lang="en-US" sz="1650" dirty="0"/>
          </a:p>
        </p:txBody>
      </p:sp>
      <p:sp>
        <p:nvSpPr>
          <p:cNvPr id="21" name="Shape 21"/>
          <p:cNvSpPr txBox="1"/>
          <p:nvPr/>
        </p:nvSpPr>
        <p:spPr>
          <a:xfrm>
            <a:off x="1828800" y="3599688"/>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22" name="Shape 22"/>
          <p:cNvSpPr txBox="1"/>
          <p:nvPr/>
        </p:nvSpPr>
        <p:spPr>
          <a:xfrm>
            <a:off x="1828800" y="3599688"/>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4/5</a:t>
            </a:r>
            <a:endParaRPr lang="en-US" sz="1650" dirty="0"/>
          </a:p>
        </p:txBody>
      </p:sp>
      <p:sp>
        <p:nvSpPr>
          <p:cNvPr id="23" name="Shape 23"/>
          <p:cNvSpPr txBox="1"/>
          <p:nvPr/>
        </p:nvSpPr>
        <p:spPr>
          <a:xfrm>
            <a:off x="685800" y="3997452"/>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24" name="Shape 24"/>
          <p:cNvSpPr txBox="1"/>
          <p:nvPr/>
        </p:nvSpPr>
        <p:spPr>
          <a:xfrm>
            <a:off x="685800" y="3997452"/>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a:t>
            </a:r>
            <a:endParaRPr lang="en-US" sz="1650" dirty="0"/>
          </a:p>
        </p:txBody>
      </p:sp>
      <p:sp>
        <p:nvSpPr>
          <p:cNvPr id="25" name="Shape 25"/>
          <p:cNvSpPr txBox="1"/>
          <p:nvPr/>
        </p:nvSpPr>
        <p:spPr>
          <a:xfrm>
            <a:off x="1828800" y="3997452"/>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26" name="Shape 26"/>
          <p:cNvSpPr txBox="1"/>
          <p:nvPr/>
        </p:nvSpPr>
        <p:spPr>
          <a:xfrm>
            <a:off x="1828800" y="3997452"/>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8/5</a:t>
            </a:r>
            <a:endParaRPr lang="en-US" sz="1650" dirty="0"/>
          </a:p>
        </p:txBody>
      </p:sp>
      <p:sp>
        <p:nvSpPr>
          <p:cNvPr id="27" name="Shape 27"/>
          <p:cNvSpPr txBox="1"/>
          <p:nvPr/>
        </p:nvSpPr>
        <p:spPr>
          <a:xfrm>
            <a:off x="4381398" y="1618488"/>
            <a:ext cx="34288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Inputs × 5/4: </a:t>
            </a:r>
            <a:r>
              <a:rPr lang="en-US" sz="1575" dirty="0" i="1">
                <a:solidFill>
                  <a:srgbClr val="16171D"/>
                </a:solidFill>
                <a:latin typeface="Cambria"/>
                <a:cs typeface="Cambria"/>
              </a:rPr>
              <a:t xml:space="preserve">d</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(⅘</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a:t>
            </a:r>
            <a:endParaRPr lang="en-US" sz="1575" dirty="0"/>
          </a:p>
        </p:txBody>
      </p:sp>
      <p:sp>
        <p:nvSpPr>
          <p:cNvPr id="28" name="Shape 28"/>
          <p:cNvSpPr txBox="1"/>
          <p:nvPr/>
        </p:nvSpPr>
        <p:spPr>
          <a:xfrm>
            <a:off x="4381398" y="2008632"/>
            <a:ext cx="1143000" cy="39776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650" dirty="0" i="1">
                <a:solidFill>
                  <a:srgbClr val="16171D"/>
                </a:solidFill>
                <a:latin typeface="Cambria"/>
                <a:cs typeface="Cambria"/>
              </a:rPr>
              <a:t xml:space="preserve">x</a:t>
            </a:r>
            <a:endParaRPr lang="en-US" sz="1650" dirty="0"/>
          </a:p>
        </p:txBody>
      </p:sp>
      <p:sp>
        <p:nvSpPr>
          <p:cNvPr id="29" name="Shape 29"/>
          <p:cNvSpPr txBox="1"/>
          <p:nvPr/>
        </p:nvSpPr>
        <p:spPr>
          <a:xfrm>
            <a:off x="5524398" y="2008632"/>
            <a:ext cx="1143000" cy="39776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650" dirty="0" i="1">
                <a:solidFill>
                  <a:srgbClr val="16171D"/>
                </a:solidFill>
                <a:latin typeface="Cambria"/>
                <a:cs typeface="Cambria"/>
              </a:rPr>
              <a:t xml:space="preserve">d(x)</a:t>
            </a:r>
            <a:endParaRPr lang="en-US" sz="1650" dirty="0"/>
          </a:p>
        </p:txBody>
      </p:sp>
      <p:sp>
        <p:nvSpPr>
          <p:cNvPr id="30" name="Shape 30"/>
          <p:cNvSpPr txBox="1"/>
          <p:nvPr/>
        </p:nvSpPr>
        <p:spPr>
          <a:xfrm>
            <a:off x="4381398" y="2406396"/>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31" name="Shape 31"/>
          <p:cNvSpPr txBox="1"/>
          <p:nvPr/>
        </p:nvSpPr>
        <p:spPr>
          <a:xfrm>
            <a:off x="4381398" y="2406396"/>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−5/2</a:t>
            </a:r>
            <a:endParaRPr lang="en-US" sz="1650" dirty="0"/>
          </a:p>
        </p:txBody>
      </p:sp>
      <p:sp>
        <p:nvSpPr>
          <p:cNvPr id="32" name="Shape 32"/>
          <p:cNvSpPr txBox="1"/>
          <p:nvPr/>
        </p:nvSpPr>
        <p:spPr>
          <a:xfrm>
            <a:off x="5524398" y="2406396"/>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33" name="Shape 33"/>
          <p:cNvSpPr txBox="1"/>
          <p:nvPr/>
        </p:nvSpPr>
        <p:spPr>
          <a:xfrm>
            <a:off x="5524398" y="2406396"/>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a:t>
            </a:r>
            <a:endParaRPr lang="en-US" sz="1650" dirty="0"/>
          </a:p>
        </p:txBody>
      </p:sp>
      <p:sp>
        <p:nvSpPr>
          <p:cNvPr id="34" name="Shape 34"/>
          <p:cNvSpPr txBox="1"/>
          <p:nvPr/>
        </p:nvSpPr>
        <p:spPr>
          <a:xfrm>
            <a:off x="4381398" y="2804160"/>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35" name="Shape 35"/>
          <p:cNvSpPr txBox="1"/>
          <p:nvPr/>
        </p:nvSpPr>
        <p:spPr>
          <a:xfrm>
            <a:off x="4381398" y="2804160"/>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−5/4</a:t>
            </a:r>
            <a:endParaRPr lang="en-US" sz="1650" dirty="0"/>
          </a:p>
        </p:txBody>
      </p:sp>
      <p:sp>
        <p:nvSpPr>
          <p:cNvPr id="36" name="Shape 36"/>
          <p:cNvSpPr txBox="1"/>
          <p:nvPr/>
        </p:nvSpPr>
        <p:spPr>
          <a:xfrm>
            <a:off x="5524398" y="2804160"/>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37" name="Shape 37"/>
          <p:cNvSpPr txBox="1"/>
          <p:nvPr/>
        </p:nvSpPr>
        <p:spPr>
          <a:xfrm>
            <a:off x="5524398" y="2804160"/>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a:t>
            </a:r>
            <a:endParaRPr lang="en-US" sz="1650" dirty="0"/>
          </a:p>
        </p:txBody>
      </p:sp>
      <p:sp>
        <p:nvSpPr>
          <p:cNvPr id="38" name="Shape 38"/>
          <p:cNvSpPr txBox="1"/>
          <p:nvPr/>
        </p:nvSpPr>
        <p:spPr>
          <a:xfrm>
            <a:off x="4381398" y="3201924"/>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39" name="Shape 39"/>
          <p:cNvSpPr txBox="1"/>
          <p:nvPr/>
        </p:nvSpPr>
        <p:spPr>
          <a:xfrm>
            <a:off x="4381398" y="3201924"/>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0</a:t>
            </a:r>
            <a:endParaRPr lang="en-US" sz="1650" dirty="0"/>
          </a:p>
        </p:txBody>
      </p:sp>
      <p:sp>
        <p:nvSpPr>
          <p:cNvPr id="40" name="Shape 40"/>
          <p:cNvSpPr txBox="1"/>
          <p:nvPr/>
        </p:nvSpPr>
        <p:spPr>
          <a:xfrm>
            <a:off x="5524398" y="3201924"/>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41" name="Shape 41"/>
          <p:cNvSpPr txBox="1"/>
          <p:nvPr/>
        </p:nvSpPr>
        <p:spPr>
          <a:xfrm>
            <a:off x="5524398" y="3201924"/>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0</a:t>
            </a:r>
            <a:endParaRPr lang="en-US" sz="1650" dirty="0"/>
          </a:p>
        </p:txBody>
      </p:sp>
      <p:sp>
        <p:nvSpPr>
          <p:cNvPr id="42" name="Shape 42"/>
          <p:cNvSpPr txBox="1"/>
          <p:nvPr/>
        </p:nvSpPr>
        <p:spPr>
          <a:xfrm>
            <a:off x="4381398" y="3599688"/>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43" name="Shape 43"/>
          <p:cNvSpPr txBox="1"/>
          <p:nvPr/>
        </p:nvSpPr>
        <p:spPr>
          <a:xfrm>
            <a:off x="4381398" y="3599688"/>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5/4</a:t>
            </a:r>
            <a:endParaRPr lang="en-US" sz="1650" dirty="0"/>
          </a:p>
        </p:txBody>
      </p:sp>
      <p:sp>
        <p:nvSpPr>
          <p:cNvPr id="44" name="Shape 44"/>
          <p:cNvSpPr txBox="1"/>
          <p:nvPr/>
        </p:nvSpPr>
        <p:spPr>
          <a:xfrm>
            <a:off x="5524398" y="3599688"/>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45" name="Shape 45"/>
          <p:cNvSpPr txBox="1"/>
          <p:nvPr/>
        </p:nvSpPr>
        <p:spPr>
          <a:xfrm>
            <a:off x="5524398" y="3599688"/>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a:t>
            </a:r>
            <a:endParaRPr lang="en-US" sz="1650" dirty="0"/>
          </a:p>
        </p:txBody>
      </p:sp>
      <p:sp>
        <p:nvSpPr>
          <p:cNvPr id="46" name="Shape 46"/>
          <p:cNvSpPr txBox="1"/>
          <p:nvPr/>
        </p:nvSpPr>
        <p:spPr>
          <a:xfrm>
            <a:off x="4381398" y="3997452"/>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47" name="Shape 47"/>
          <p:cNvSpPr txBox="1"/>
          <p:nvPr/>
        </p:nvSpPr>
        <p:spPr>
          <a:xfrm>
            <a:off x="4381398" y="3997452"/>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5/2</a:t>
            </a:r>
            <a:endParaRPr lang="en-US" sz="1650" dirty="0"/>
          </a:p>
        </p:txBody>
      </p:sp>
      <p:sp>
        <p:nvSpPr>
          <p:cNvPr id="48" name="Shape 48"/>
          <p:cNvSpPr txBox="1"/>
          <p:nvPr/>
        </p:nvSpPr>
        <p:spPr>
          <a:xfrm>
            <a:off x="5524398" y="3997452"/>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49" name="Shape 49"/>
          <p:cNvSpPr txBox="1"/>
          <p:nvPr/>
        </p:nvSpPr>
        <p:spPr>
          <a:xfrm>
            <a:off x="5524398" y="3997452"/>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a:t>
            </a:r>
            <a:endParaRPr lang="en-US" sz="1650" dirty="0"/>
          </a:p>
        </p:txBody>
      </p:sp>
      <p:sp>
        <p:nvSpPr>
          <p:cNvPr id="50" name="Shape 50"/>
          <p:cNvSpPr txBox="1"/>
          <p:nvPr/>
        </p:nvSpPr>
        <p:spPr>
          <a:xfrm>
            <a:off x="8076997" y="1618488"/>
            <a:ext cx="34288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Same line,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 ⅘</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a:t>
            </a:r>
            <a:endParaRPr lang="en-US" sz="1575" dirty="0"/>
          </a:p>
        </p:txBody>
      </p:sp>
      <p:sp>
        <p:nvSpPr>
          <p:cNvPr id="51" name="Shape 51"/>
          <p:cNvSpPr txBox="1"/>
          <p:nvPr/>
        </p:nvSpPr>
        <p:spPr>
          <a:xfrm>
            <a:off x="8076997" y="2008632"/>
            <a:ext cx="3428898" cy="77495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For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 a vertical dilation by </a:t>
            </a:r>
            <a:r>
              <a:rPr lang="en-US" sz="1575" dirty="0" i="1">
                <a:solidFill>
                  <a:srgbClr val="16171D"/>
                </a:solidFill>
                <a:latin typeface="Cambria"/>
                <a:cs typeface="Cambria"/>
              </a:rPr>
              <a:t xml:space="preserve">n</a:t>
            </a:r>
            <a:r>
              <a:rPr lang="en-US" sz="1575" dirty="0">
                <a:solidFill>
                  <a:srgbClr val="16171D"/>
                </a:solidFill>
                <a:latin typeface="Segoe UI"/>
                <a:cs typeface="Segoe UI"/>
              </a:rPr>
              <a:t xml:space="preserve"> = a horizontal dilation by </a:t>
            </a:r>
            <a:r>
              <a:rPr lang="en-US" sz="1575" dirty="0">
                <a:solidFill>
                  <a:srgbClr val="16171D"/>
                </a:solidFill>
                <a:latin typeface="Cambria"/>
                <a:cs typeface="Cambria"/>
              </a:rPr>
              <a:t xml:space="preserve">1/</a:t>
            </a:r>
            <a:r>
              <a:rPr lang="en-US" sz="1575" dirty="0" i="1">
                <a:solidFill>
                  <a:srgbClr val="16171D"/>
                </a:solidFill>
                <a:latin typeface="Cambria"/>
                <a:cs typeface="Cambria"/>
              </a:rPr>
              <a:t xml:space="preserve">n</a:t>
            </a:r>
            <a:r>
              <a:rPr lang="en-US" sz="1575" dirty="0">
                <a:solidFill>
                  <a:srgbClr val="16171D"/>
                </a:solidFill>
                <a:latin typeface="Segoe UI"/>
                <a:cs typeface="Segoe UI"/>
              </a:rPr>
              <a:t xml:space="preserve">.</a:t>
            </a:r>
            <a:endParaRPr lang="en-US" sz="1575" dirty="0"/>
          </a:p>
        </p:txBody>
      </p:sp>
      <p:sp>
        <p:nvSpPr>
          <p:cNvPr id="54" name="Shape 54"/>
          <p:cNvSpPr txBox="1"/>
          <p:nvPr/>
        </p:nvSpPr>
        <p:spPr>
          <a:xfrm>
            <a:off x="8076997" y="2878836"/>
            <a:ext cx="3428898" cy="230809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52" name="Shape 52"/>
          <p:cNvSpPr txBox="1"/>
          <p:nvPr/>
        </p:nvSpPr>
        <p:spPr>
          <a:xfrm>
            <a:off x="8286547" y="3050286"/>
            <a:ext cx="30097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Definitions</a:t>
            </a:r>
            <a:endParaRPr lang="en-US" sz="2100" dirty="0"/>
          </a:p>
        </p:txBody>
      </p:sp>
      <p:sp>
        <p:nvSpPr>
          <p:cNvPr id="53" name="Shape 53"/>
          <p:cNvSpPr txBox="1"/>
          <p:nvPr/>
        </p:nvSpPr>
        <p:spPr>
          <a:xfrm>
            <a:off x="8286547" y="3520440"/>
            <a:ext cx="3009798" cy="1495044"/>
          </a:xfrm>
          <a:prstGeom prst="rect">
            <a:avLst/>
          </a:prstGeom>
          <a:noFill/>
          <a:ln>
            <a:noFill/>
          </a:ln>
        </p:spPr>
        <p:txBody>
          <a:bodyPr wrap="square" lIns="36576" tIns="27432" rIns="36576" bIns="27432" anchor="t">
            <a:noAutofit/>
          </a:bodyPr>
          <a:lstStyle/>
          <a:p>
            <a:pPr algn="l">
              <a:lnSpc>
                <a:spcPct val="100000"/>
              </a:lnSpc>
            </a:pP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a</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a:t>
            </a:r>
            <a:r>
              <a:rPr lang="en-US" sz="1575" dirty="0">
                <a:solidFill>
                  <a:srgbClr val="16171D"/>
                </a:solidFill>
                <a:latin typeface="Segoe UI"/>
                <a:cs typeface="Segoe UI"/>
              </a:rPr>
              <a:t xml:space="preserve">: vertical, changes outputs.</a:t>
            </a:r>
            <a:br>
              <a:rPr lang="en-US" sz="1575" dirty="0">
                <a:solidFill>
                  <a:srgbClr val="16171D"/>
                </a:solidFill>
                <a:latin typeface="Segoe UI"/>
                <a:cs typeface="Segoe UI"/>
              </a:rPr>
            </a:b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b</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a:t>
            </a:r>
            <a:r>
              <a:rPr lang="en-US" sz="1575" dirty="0">
                <a:solidFill>
                  <a:srgbClr val="16171D"/>
                </a:solidFill>
                <a:latin typeface="Segoe UI"/>
                <a:cs typeface="Segoe UI"/>
              </a:rPr>
              <a:t xml:space="preserve">: horizontal, changes inputs; </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b</a:t>
            </a:r>
            <a:r>
              <a:rPr lang="en-US" sz="1575" dirty="0">
                <a:solidFill>
                  <a:srgbClr val="16171D"/>
                </a:solidFill>
                <a:latin typeface="Cambria"/>
                <a:cs typeface="Cambria"/>
              </a:rPr>
              <a:t xml:space="preserve">| &gt; 1</a:t>
            </a:r>
            <a:r>
              <a:rPr lang="en-US" sz="1575" dirty="0">
                <a:solidFill>
                  <a:srgbClr val="16171D"/>
                </a:solidFill>
                <a:latin typeface="Segoe UI"/>
                <a:cs typeface="Segoe UI"/>
              </a:rPr>
              <a:t xml:space="preserve"> compresses, </a:t>
            </a:r>
            <a:r>
              <a:rPr lang="en-US" sz="1575" dirty="0">
                <a:solidFill>
                  <a:srgbClr val="16171D"/>
                </a:solidFill>
                <a:latin typeface="Cambria"/>
                <a:cs typeface="Cambria"/>
              </a:rPr>
              <a:t xml:space="preserve">0 </a:t>
            </a:r>
            <a:r>
              <a:rPr lang="en-US" sz="1575" dirty="0">
                <a:solidFill>
                  <a:srgbClr val="16171D"/>
                </a:solidFill>
                <a:latin typeface="Cambria"/>
                <a:cs typeface="Cambria"/>
              </a:rPr>
              <a:t xml:space="preserve">&lt;</a:t>
            </a:r>
            <a:r>
              <a:rPr lang="en-US" sz="1575" dirty="0">
                <a:solidFill>
                  <a:srgbClr val="16171D"/>
                </a:solidFill>
                <a:latin typeface="Cambria"/>
                <a:cs typeface="Cambria"/>
              </a:rPr>
              <a:t xml:space="preserve"> |</a:t>
            </a:r>
            <a:r>
              <a:rPr lang="en-US" sz="1575" dirty="0" i="1">
                <a:solidFill>
                  <a:srgbClr val="16171D"/>
                </a:solidFill>
                <a:latin typeface="Cambria"/>
                <a:cs typeface="Cambria"/>
              </a:rPr>
              <a:t xml:space="preserve">b</a:t>
            </a:r>
            <a:r>
              <a:rPr lang="en-US" sz="1575" dirty="0">
                <a:solidFill>
                  <a:srgbClr val="16171D"/>
                </a:solidFill>
                <a:latin typeface="Cambria"/>
                <a:cs typeface="Cambria"/>
              </a:rPr>
              <a:t xml:space="preserve">| </a:t>
            </a:r>
            <a:r>
              <a:rPr lang="en-US" sz="1575" dirty="0">
                <a:solidFill>
                  <a:srgbClr val="16171D"/>
                </a:solidFill>
                <a:latin typeface="Cambria"/>
                <a:cs typeface="Cambria"/>
              </a:rPr>
              <a:t xml:space="preserve">&lt;</a:t>
            </a:r>
            <a:r>
              <a:rPr lang="en-US" sz="1575" dirty="0">
                <a:solidFill>
                  <a:srgbClr val="16171D"/>
                </a:solidFill>
                <a:latin typeface="Cambria"/>
                <a:cs typeface="Cambria"/>
              </a:rPr>
              <a:t xml:space="preserve"> 1</a:t>
            </a:r>
            <a:r>
              <a:rPr lang="en-US" sz="1575" dirty="0">
                <a:solidFill>
                  <a:srgbClr val="16171D"/>
                </a:solidFill>
                <a:latin typeface="Segoe UI"/>
                <a:cs typeface="Segoe UI"/>
              </a:rPr>
              <a:t xml:space="preserve"> stretches, </a:t>
            </a:r>
            <a:r>
              <a:rPr lang="en-US" sz="1575" dirty="0" i="1">
                <a:solidFill>
                  <a:srgbClr val="16171D"/>
                </a:solidFill>
                <a:latin typeface="Cambria"/>
                <a:cs typeface="Cambria"/>
              </a:rPr>
              <a:t xml:space="preserve">b</a:t>
            </a:r>
            <a:r>
              <a:rPr lang="en-US" sz="1575" dirty="0">
                <a:solidFill>
                  <a:srgbClr val="16171D"/>
                </a:solidFill>
                <a:latin typeface="Cambria"/>
                <a:cs typeface="Cambria"/>
              </a:rPr>
              <a:t xml:space="preserve"> </a:t>
            </a:r>
            <a:r>
              <a:rPr lang="en-US" sz="1575" dirty="0">
                <a:solidFill>
                  <a:srgbClr val="16171D"/>
                </a:solidFill>
                <a:latin typeface="Cambria"/>
                <a:cs typeface="Cambria"/>
              </a:rPr>
              <a:t xml:space="preserve">&lt;</a:t>
            </a:r>
            <a:r>
              <a:rPr lang="en-US" sz="1575" dirty="0">
                <a:solidFill>
                  <a:srgbClr val="16171D"/>
                </a:solidFill>
                <a:latin typeface="Cambria"/>
                <a:cs typeface="Cambria"/>
              </a:rPr>
              <a:t xml:space="preserve"> 0</a:t>
            </a:r>
            <a:r>
              <a:rPr lang="en-US" sz="1575" dirty="0">
                <a:solidFill>
                  <a:srgbClr val="16171D"/>
                </a:solidFill>
                <a:latin typeface="Segoe UI"/>
                <a:cs typeface="Segoe UI"/>
              </a:rPr>
              <a:t xml:space="preserve"> reflects across the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-axis.</a:t>
            </a:r>
            <a:endParaRPr lang="en-US" sz="1575" dirty="0"/>
          </a:p>
        </p:txBody>
      </p:sp>
      <p:sp>
        <p:nvSpPr>
          <p:cNvPr id="55" name="Slide Number 5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29</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8"/>
                                        </p:tgtEl>
                                        <p:attrNameLst>
                                          <p:attrName>style.visibility</p:attrName>
                                        </p:attrNameLst>
                                      </p:cBhvr>
                                      <p:to>
                                        <p:strVal val="visible"/>
                                      </p:to>
                                    </p:set>
                                    <p:animEffect transition="in" filter="fade">
                                      <p:cBhvr>
                                        <p:cTn id="4" dur="500"/>
                                        <p:tgtEl>
                                          <p:spTgt spid="8"/>
                                        </p:tgtEl>
                                      </p:cBhvr>
                                    </p:animEffect>
                                    <p:anim calcmode="lin" valueType="num">
                                      <p:cBhvr>
                                        <p:cTn id="5" dur="500" fill="hold"/>
                                        <p:tgtEl>
                                          <p:spTgt spid="8"/>
                                        </p:tgtEl>
                                        <p:attrNameLst>
                                          <p:attrName>ppt_x</p:attrName>
                                        </p:attrNameLst>
                                      </p:cBhvr>
                                      <p:tavLst>
                                        <p:tav tm="0">
                                          <p:val>
                                            <p:strVal val="#ppt_x"/>
                                          </p:val>
                                        </p:tav>
                                        <p:tav tm="100000">
                                          <p:val>
                                            <p:strVal val="#ppt_x"/>
                                          </p:val>
                                        </p:tav>
                                      </p:tavLst>
                                    </p:anim>
                                    <p:anim calcmode="lin" valueType="num">
                                      <p:cBhvr>
                                        <p:cTn id="6"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10"/>
                                        </p:tgtEl>
                                        <p:attrNameLst>
                                          <p:attrName>style.visibility</p:attrName>
                                        </p:attrNameLst>
                                      </p:cBhvr>
                                      <p:to>
                                        <p:strVal val="visible"/>
                                      </p:to>
                                    </p:set>
                                    <p:animEffect transition="in" filter="fade">
                                      <p:cBhvr>
                                        <p:cTn id="11" dur="500"/>
                                        <p:tgtEl>
                                          <p:spTgt spid="10"/>
                                        </p:tgtEl>
                                      </p:cBhvr>
                                    </p:animEffect>
                                    <p:anim calcmode="lin" valueType="num">
                                      <p:cBhvr>
                                        <p:cTn id="12" dur="500" fill="hold"/>
                                        <p:tgtEl>
                                          <p:spTgt spid="10"/>
                                        </p:tgtEl>
                                        <p:attrNameLst>
                                          <p:attrName>ppt_x</p:attrName>
                                        </p:attrNameLst>
                                      </p:cBhvr>
                                      <p:tavLst>
                                        <p:tav tm="0">
                                          <p:val>
                                            <p:strVal val="#ppt_x"/>
                                          </p:val>
                                        </p:tav>
                                        <p:tav tm="100000">
                                          <p:val>
                                            <p:strVal val="#ppt_x"/>
                                          </p:val>
                                        </p:tav>
                                      </p:tavLst>
                                    </p:anim>
                                    <p:anim calcmode="lin" valueType="num">
                                      <p:cBhvr>
                                        <p:cTn id="13" dur="500" fill="hold"/>
                                        <p:tgtEl>
                                          <p:spTgt spid="10"/>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12"/>
                                        </p:tgtEl>
                                        <p:attrNameLst>
                                          <p:attrName>style.visibility</p:attrName>
                                        </p:attrNameLst>
                                      </p:cBhvr>
                                      <p:to>
                                        <p:strVal val="visible"/>
                                      </p:to>
                                    </p:set>
                                    <p:animEffect transition="in" filter="fade">
                                      <p:cBhvr>
                                        <p:cTn id="18" dur="500"/>
                                        <p:tgtEl>
                                          <p:spTgt spid="12"/>
                                        </p:tgtEl>
                                      </p:cBhvr>
                                    </p:animEffect>
                                    <p:anim calcmode="lin" valueType="num">
                                      <p:cBhvr>
                                        <p:cTn id="19" dur="500" fill="hold"/>
                                        <p:tgtEl>
                                          <p:spTgt spid="12"/>
                                        </p:tgtEl>
                                        <p:attrNameLst>
                                          <p:attrName>ppt_x</p:attrName>
                                        </p:attrNameLst>
                                      </p:cBhvr>
                                      <p:tavLst>
                                        <p:tav tm="0">
                                          <p:val>
                                            <p:strVal val="#ppt_x"/>
                                          </p:val>
                                        </p:tav>
                                        <p:tav tm="100000">
                                          <p:val>
                                            <p:strVal val="#ppt_x"/>
                                          </p:val>
                                        </p:tav>
                                      </p:tavLst>
                                    </p:anim>
                                    <p:anim calcmode="lin" valueType="num">
                                      <p:cBhvr>
                                        <p:cTn id="20" dur="5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14"/>
                                        </p:tgtEl>
                                        <p:attrNameLst>
                                          <p:attrName>style.visibility</p:attrName>
                                        </p:attrNameLst>
                                      </p:cBhvr>
                                      <p:to>
                                        <p:strVal val="visible"/>
                                      </p:to>
                                    </p:set>
                                    <p:animEffect transition="in" filter="fade">
                                      <p:cBhvr>
                                        <p:cTn id="25" dur="500"/>
                                        <p:tgtEl>
                                          <p:spTgt spid="14"/>
                                        </p:tgtEl>
                                      </p:cBhvr>
                                    </p:animEffect>
                                    <p:anim calcmode="lin" valueType="num">
                                      <p:cBhvr>
                                        <p:cTn id="26" dur="500" fill="hold"/>
                                        <p:tgtEl>
                                          <p:spTgt spid="14"/>
                                        </p:tgtEl>
                                        <p:attrNameLst>
                                          <p:attrName>ppt_x</p:attrName>
                                        </p:attrNameLst>
                                      </p:cBhvr>
                                      <p:tavLst>
                                        <p:tav tm="0">
                                          <p:val>
                                            <p:strVal val="#ppt_x"/>
                                          </p:val>
                                        </p:tav>
                                        <p:tav tm="100000">
                                          <p:val>
                                            <p:strVal val="#ppt_x"/>
                                          </p:val>
                                        </p:tav>
                                      </p:tavLst>
                                    </p:anim>
                                    <p:anim calcmode="lin" valueType="num">
                                      <p:cBhvr>
                                        <p:cTn id="27" dur="500" fill="hold"/>
                                        <p:tgtEl>
                                          <p:spTgt spid="14"/>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16"/>
                                        </p:tgtEl>
                                        <p:attrNameLst>
                                          <p:attrName>style.visibility</p:attrName>
                                        </p:attrNameLst>
                                      </p:cBhvr>
                                      <p:to>
                                        <p:strVal val="visible"/>
                                      </p:to>
                                    </p:set>
                                    <p:animEffect transition="in" filter="fade">
                                      <p:cBhvr>
                                        <p:cTn id="32" dur="500"/>
                                        <p:tgtEl>
                                          <p:spTgt spid="16"/>
                                        </p:tgtEl>
                                      </p:cBhvr>
                                    </p:animEffect>
                                    <p:anim calcmode="lin" valueType="num">
                                      <p:cBhvr>
                                        <p:cTn id="33" dur="500" fill="hold"/>
                                        <p:tgtEl>
                                          <p:spTgt spid="16"/>
                                        </p:tgtEl>
                                        <p:attrNameLst>
                                          <p:attrName>ppt_x</p:attrName>
                                        </p:attrNameLst>
                                      </p:cBhvr>
                                      <p:tavLst>
                                        <p:tav tm="0">
                                          <p:val>
                                            <p:strVal val="#ppt_x"/>
                                          </p:val>
                                        </p:tav>
                                        <p:tav tm="100000">
                                          <p:val>
                                            <p:strVal val="#ppt_x"/>
                                          </p:val>
                                        </p:tav>
                                      </p:tavLst>
                                    </p:anim>
                                    <p:anim calcmode="lin" valueType="num">
                                      <p:cBhvr>
                                        <p:cTn id="34" dur="500" fill="hold"/>
                                        <p:tgtEl>
                                          <p:spTgt spid="16"/>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2" presetID="42" presetClass="entr" presetSubtype="0" fill="hold" nodeType="clickEffect">
                                  <p:stCondLst>
                                    <p:cond delay="0"/>
                                  </p:stCondLst>
                                  <p:childTnLst>
                                    <p:set>
                                      <p:cBhvr>
                                        <p:cTn id="38" dur="1" fill="hold">
                                          <p:stCondLst>
                                            <p:cond delay="0"/>
                                          </p:stCondLst>
                                        </p:cTn>
                                        <p:tgtEl>
                                          <p:spTgt spid="18"/>
                                        </p:tgtEl>
                                        <p:attrNameLst>
                                          <p:attrName>style.visibility</p:attrName>
                                        </p:attrNameLst>
                                      </p:cBhvr>
                                      <p:to>
                                        <p:strVal val="visible"/>
                                      </p:to>
                                    </p:set>
                                    <p:animEffect transition="in" filter="fade">
                                      <p:cBhvr>
                                        <p:cTn id="39" dur="500"/>
                                        <p:tgtEl>
                                          <p:spTgt spid="18"/>
                                        </p:tgtEl>
                                      </p:cBhvr>
                                    </p:animEffect>
                                    <p:anim calcmode="lin" valueType="num">
                                      <p:cBhvr>
                                        <p:cTn id="40" dur="500" fill="hold"/>
                                        <p:tgtEl>
                                          <p:spTgt spid="18"/>
                                        </p:tgtEl>
                                        <p:attrNameLst>
                                          <p:attrName>ppt_x</p:attrName>
                                        </p:attrNameLst>
                                      </p:cBhvr>
                                      <p:tavLst>
                                        <p:tav tm="0">
                                          <p:val>
                                            <p:strVal val="#ppt_x"/>
                                          </p:val>
                                        </p:tav>
                                        <p:tav tm="100000">
                                          <p:val>
                                            <p:strVal val="#ppt_x"/>
                                          </p:val>
                                        </p:tav>
                                      </p:tavLst>
                                    </p:anim>
                                    <p:anim calcmode="lin" valueType="num">
                                      <p:cBhvr>
                                        <p:cTn id="41" dur="500" fill="hold"/>
                                        <p:tgtEl>
                                          <p:spTgt spid="18"/>
                                        </p:tgtEl>
                                        <p:attrNameLst>
                                          <p:attrName>ppt_y</p:attrName>
                                        </p:attrNameLst>
                                      </p:cBhvr>
                                      <p:tavLst>
                                        <p:tav tm="0">
                                          <p:val>
                                            <p:strVal val="#ppt_y+.1"/>
                                          </p:val>
                                        </p:tav>
                                        <p:tav tm="100000">
                                          <p:val>
                                            <p:strVal val="#ppt_y"/>
                                          </p:val>
                                        </p:tav>
                                      </p:tavLst>
                                    </p:anim>
                                  </p:childTnLst>
                                </p:cTn>
                              </p:par>
                            </p:childTnLst>
                          </p:cTn>
                        </p:par>
                      </p:childTnLst>
                    </p:cTn>
                  </p:par>
                  <p:par>
                    <p:cTn id="50" fill="hold">
                      <p:stCondLst>
                        <p:cond delay="indefinite"/>
                      </p:stCondLst>
                      <p:childTnLst>
                        <p:par>
                          <p:cTn id="51" fill="hold">
                            <p:stCondLst>
                              <p:cond delay="0"/>
                            </p:stCondLst>
                            <p:childTnLst>
                              <p:par>
                                <p:cTn id="49" presetID="42" presetClass="entr" presetSubtype="0" fill="hold" nodeType="clickEffect">
                                  <p:stCondLst>
                                    <p:cond delay="0"/>
                                  </p:stCondLst>
                                  <p:childTnLst>
                                    <p:set>
                                      <p:cBhvr>
                                        <p:cTn id="45" dur="1" fill="hold">
                                          <p:stCondLst>
                                            <p:cond delay="0"/>
                                          </p:stCondLst>
                                        </p:cTn>
                                        <p:tgtEl>
                                          <p:spTgt spid="20"/>
                                        </p:tgtEl>
                                        <p:attrNameLst>
                                          <p:attrName>style.visibility</p:attrName>
                                        </p:attrNameLst>
                                      </p:cBhvr>
                                      <p:to>
                                        <p:strVal val="visible"/>
                                      </p:to>
                                    </p:set>
                                    <p:animEffect transition="in" filter="fade">
                                      <p:cBhvr>
                                        <p:cTn id="46" dur="500"/>
                                        <p:tgtEl>
                                          <p:spTgt spid="20"/>
                                        </p:tgtEl>
                                      </p:cBhvr>
                                    </p:animEffect>
                                    <p:anim calcmode="lin" valueType="num">
                                      <p:cBhvr>
                                        <p:cTn id="47" dur="500" fill="hold"/>
                                        <p:tgtEl>
                                          <p:spTgt spid="20"/>
                                        </p:tgtEl>
                                        <p:attrNameLst>
                                          <p:attrName>ppt_x</p:attrName>
                                        </p:attrNameLst>
                                      </p:cBhvr>
                                      <p:tavLst>
                                        <p:tav tm="0">
                                          <p:val>
                                            <p:strVal val="#ppt_x"/>
                                          </p:val>
                                        </p:tav>
                                        <p:tav tm="100000">
                                          <p:val>
                                            <p:strVal val="#ppt_x"/>
                                          </p:val>
                                        </p:tav>
                                      </p:tavLst>
                                    </p:anim>
                                    <p:anim calcmode="lin" valueType="num">
                                      <p:cBhvr>
                                        <p:cTn id="48" dur="500" fill="hold"/>
                                        <p:tgtEl>
                                          <p:spTgt spid="20"/>
                                        </p:tgtEl>
                                        <p:attrNameLst>
                                          <p:attrName>ppt_y</p:attrName>
                                        </p:attrNameLst>
                                      </p:cBhvr>
                                      <p:tavLst>
                                        <p:tav tm="0">
                                          <p:val>
                                            <p:strVal val="#ppt_y+.1"/>
                                          </p:val>
                                        </p:tav>
                                        <p:tav tm="100000">
                                          <p:val>
                                            <p:strVal val="#ppt_y"/>
                                          </p:val>
                                        </p:tav>
                                      </p:tavLst>
                                    </p:anim>
                                  </p:childTnLst>
                                </p:cTn>
                              </p:par>
                            </p:childTnLst>
                          </p:cTn>
                        </p:par>
                      </p:childTnLst>
                    </p:cTn>
                  </p:par>
                  <p:par>
                    <p:cTn id="57" fill="hold">
                      <p:stCondLst>
                        <p:cond delay="indefinite"/>
                      </p:stCondLst>
                      <p:childTnLst>
                        <p:par>
                          <p:cTn id="58" fill="hold">
                            <p:stCondLst>
                              <p:cond delay="0"/>
                            </p:stCondLst>
                            <p:childTnLst>
                              <p:par>
                                <p:cTn id="56" presetID="42" presetClass="entr" presetSubtype="0" fill="hold" nodeType="clickEffect">
                                  <p:stCondLst>
                                    <p:cond delay="0"/>
                                  </p:stCondLst>
                                  <p:childTnLst>
                                    <p:set>
                                      <p:cBhvr>
                                        <p:cTn id="52" dur="1" fill="hold">
                                          <p:stCondLst>
                                            <p:cond delay="0"/>
                                          </p:stCondLst>
                                        </p:cTn>
                                        <p:tgtEl>
                                          <p:spTgt spid="22"/>
                                        </p:tgtEl>
                                        <p:attrNameLst>
                                          <p:attrName>style.visibility</p:attrName>
                                        </p:attrNameLst>
                                      </p:cBhvr>
                                      <p:to>
                                        <p:strVal val="visible"/>
                                      </p:to>
                                    </p:set>
                                    <p:animEffect transition="in" filter="fade">
                                      <p:cBhvr>
                                        <p:cTn id="53" dur="500"/>
                                        <p:tgtEl>
                                          <p:spTgt spid="22"/>
                                        </p:tgtEl>
                                      </p:cBhvr>
                                    </p:animEffect>
                                    <p:anim calcmode="lin" valueType="num">
                                      <p:cBhvr>
                                        <p:cTn id="54" dur="500" fill="hold"/>
                                        <p:tgtEl>
                                          <p:spTgt spid="22"/>
                                        </p:tgtEl>
                                        <p:attrNameLst>
                                          <p:attrName>ppt_x</p:attrName>
                                        </p:attrNameLst>
                                      </p:cBhvr>
                                      <p:tavLst>
                                        <p:tav tm="0">
                                          <p:val>
                                            <p:strVal val="#ppt_x"/>
                                          </p:val>
                                        </p:tav>
                                        <p:tav tm="100000">
                                          <p:val>
                                            <p:strVal val="#ppt_x"/>
                                          </p:val>
                                        </p:tav>
                                      </p:tavLst>
                                    </p:anim>
                                    <p:anim calcmode="lin" valueType="num">
                                      <p:cBhvr>
                                        <p:cTn id="55" dur="500" fill="hold"/>
                                        <p:tgtEl>
                                          <p:spTgt spid="22"/>
                                        </p:tgtEl>
                                        <p:attrNameLst>
                                          <p:attrName>ppt_y</p:attrName>
                                        </p:attrNameLst>
                                      </p:cBhvr>
                                      <p:tavLst>
                                        <p:tav tm="0">
                                          <p:val>
                                            <p:strVal val="#ppt_y+.1"/>
                                          </p:val>
                                        </p:tav>
                                        <p:tav tm="100000">
                                          <p:val>
                                            <p:strVal val="#ppt_y"/>
                                          </p:val>
                                        </p:tav>
                                      </p:tavLst>
                                    </p:anim>
                                  </p:childTnLst>
                                </p:cTn>
                              </p:par>
                            </p:childTnLst>
                          </p:cTn>
                        </p:par>
                      </p:childTnLst>
                    </p:cTn>
                  </p:par>
                  <p:par>
                    <p:cTn id="64" fill="hold">
                      <p:stCondLst>
                        <p:cond delay="indefinite"/>
                      </p:stCondLst>
                      <p:childTnLst>
                        <p:par>
                          <p:cTn id="65" fill="hold">
                            <p:stCondLst>
                              <p:cond delay="0"/>
                            </p:stCondLst>
                            <p:childTnLst>
                              <p:par>
                                <p:cTn id="63" presetID="42" presetClass="entr" presetSubtype="0" fill="hold" nodeType="clickEffect">
                                  <p:stCondLst>
                                    <p:cond delay="0"/>
                                  </p:stCondLst>
                                  <p:childTnLst>
                                    <p:set>
                                      <p:cBhvr>
                                        <p:cTn id="59" dur="1" fill="hold">
                                          <p:stCondLst>
                                            <p:cond delay="0"/>
                                          </p:stCondLst>
                                        </p:cTn>
                                        <p:tgtEl>
                                          <p:spTgt spid="24"/>
                                        </p:tgtEl>
                                        <p:attrNameLst>
                                          <p:attrName>style.visibility</p:attrName>
                                        </p:attrNameLst>
                                      </p:cBhvr>
                                      <p:to>
                                        <p:strVal val="visible"/>
                                      </p:to>
                                    </p:set>
                                    <p:animEffect transition="in" filter="fade">
                                      <p:cBhvr>
                                        <p:cTn id="60" dur="500"/>
                                        <p:tgtEl>
                                          <p:spTgt spid="24"/>
                                        </p:tgtEl>
                                      </p:cBhvr>
                                    </p:animEffect>
                                    <p:anim calcmode="lin" valueType="num">
                                      <p:cBhvr>
                                        <p:cTn id="61" dur="500" fill="hold"/>
                                        <p:tgtEl>
                                          <p:spTgt spid="24"/>
                                        </p:tgtEl>
                                        <p:attrNameLst>
                                          <p:attrName>ppt_x</p:attrName>
                                        </p:attrNameLst>
                                      </p:cBhvr>
                                      <p:tavLst>
                                        <p:tav tm="0">
                                          <p:val>
                                            <p:strVal val="#ppt_x"/>
                                          </p:val>
                                        </p:tav>
                                        <p:tav tm="100000">
                                          <p:val>
                                            <p:strVal val="#ppt_x"/>
                                          </p:val>
                                        </p:tav>
                                      </p:tavLst>
                                    </p:anim>
                                    <p:anim calcmode="lin" valueType="num">
                                      <p:cBhvr>
                                        <p:cTn id="62" dur="500" fill="hold"/>
                                        <p:tgtEl>
                                          <p:spTgt spid="24"/>
                                        </p:tgtEl>
                                        <p:attrNameLst>
                                          <p:attrName>ppt_y</p:attrName>
                                        </p:attrNameLst>
                                      </p:cBhvr>
                                      <p:tavLst>
                                        <p:tav tm="0">
                                          <p:val>
                                            <p:strVal val="#ppt_y+.1"/>
                                          </p:val>
                                        </p:tav>
                                        <p:tav tm="100000">
                                          <p:val>
                                            <p:strVal val="#ppt_y"/>
                                          </p:val>
                                        </p:tav>
                                      </p:tavLst>
                                    </p:anim>
                                  </p:childTnLst>
                                </p:cTn>
                              </p:par>
                            </p:childTnLst>
                          </p:cTn>
                        </p:par>
                      </p:childTnLst>
                    </p:cTn>
                  </p:par>
                  <p:par>
                    <p:cTn id="71" fill="hold">
                      <p:stCondLst>
                        <p:cond delay="indefinite"/>
                      </p:stCondLst>
                      <p:childTnLst>
                        <p:par>
                          <p:cTn id="72" fill="hold">
                            <p:stCondLst>
                              <p:cond delay="0"/>
                            </p:stCondLst>
                            <p:childTnLst>
                              <p:par>
                                <p:cTn id="70" presetID="42" presetClass="entr" presetSubtype="0" fill="hold" nodeType="clickEffect">
                                  <p:stCondLst>
                                    <p:cond delay="0"/>
                                  </p:stCondLst>
                                  <p:childTnLst>
                                    <p:set>
                                      <p:cBhvr>
                                        <p:cTn id="66" dur="1" fill="hold">
                                          <p:stCondLst>
                                            <p:cond delay="0"/>
                                          </p:stCondLst>
                                        </p:cTn>
                                        <p:tgtEl>
                                          <p:spTgt spid="26"/>
                                        </p:tgtEl>
                                        <p:attrNameLst>
                                          <p:attrName>style.visibility</p:attrName>
                                        </p:attrNameLst>
                                      </p:cBhvr>
                                      <p:to>
                                        <p:strVal val="visible"/>
                                      </p:to>
                                    </p:set>
                                    <p:animEffect transition="in" filter="fade">
                                      <p:cBhvr>
                                        <p:cTn id="67" dur="500"/>
                                        <p:tgtEl>
                                          <p:spTgt spid="26"/>
                                        </p:tgtEl>
                                      </p:cBhvr>
                                    </p:animEffect>
                                    <p:anim calcmode="lin" valueType="num">
                                      <p:cBhvr>
                                        <p:cTn id="68" dur="500" fill="hold"/>
                                        <p:tgtEl>
                                          <p:spTgt spid="26"/>
                                        </p:tgtEl>
                                        <p:attrNameLst>
                                          <p:attrName>ppt_x</p:attrName>
                                        </p:attrNameLst>
                                      </p:cBhvr>
                                      <p:tavLst>
                                        <p:tav tm="0">
                                          <p:val>
                                            <p:strVal val="#ppt_x"/>
                                          </p:val>
                                        </p:tav>
                                        <p:tav tm="100000">
                                          <p:val>
                                            <p:strVal val="#ppt_x"/>
                                          </p:val>
                                        </p:tav>
                                      </p:tavLst>
                                    </p:anim>
                                    <p:anim calcmode="lin" valueType="num">
                                      <p:cBhvr>
                                        <p:cTn id="69" dur="500" fill="hold"/>
                                        <p:tgtEl>
                                          <p:spTgt spid="26"/>
                                        </p:tgtEl>
                                        <p:attrNameLst>
                                          <p:attrName>ppt_y</p:attrName>
                                        </p:attrNameLst>
                                      </p:cBhvr>
                                      <p:tavLst>
                                        <p:tav tm="0">
                                          <p:val>
                                            <p:strVal val="#ppt_y+.1"/>
                                          </p:val>
                                        </p:tav>
                                        <p:tav tm="100000">
                                          <p:val>
                                            <p:strVal val="#ppt_y"/>
                                          </p:val>
                                        </p:tav>
                                      </p:tavLst>
                                    </p:anim>
                                  </p:childTnLst>
                                </p:cTn>
                              </p:par>
                            </p:childTnLst>
                          </p:cTn>
                        </p:par>
                      </p:childTnLst>
                    </p:cTn>
                  </p:par>
                  <p:par>
                    <p:cTn id="78" fill="hold">
                      <p:stCondLst>
                        <p:cond delay="indefinite"/>
                      </p:stCondLst>
                      <p:childTnLst>
                        <p:par>
                          <p:cTn id="79" fill="hold">
                            <p:stCondLst>
                              <p:cond delay="0"/>
                            </p:stCondLst>
                            <p:childTnLst>
                              <p:par>
                                <p:cTn id="77" presetID="42" presetClass="entr" presetSubtype="0" fill="hold" nodeType="clickEffect">
                                  <p:stCondLst>
                                    <p:cond delay="0"/>
                                  </p:stCondLst>
                                  <p:childTnLst>
                                    <p:set>
                                      <p:cBhvr>
                                        <p:cTn id="73" dur="1" fill="hold">
                                          <p:stCondLst>
                                            <p:cond delay="0"/>
                                          </p:stCondLst>
                                        </p:cTn>
                                        <p:tgtEl>
                                          <p:spTgt spid="31"/>
                                        </p:tgtEl>
                                        <p:attrNameLst>
                                          <p:attrName>style.visibility</p:attrName>
                                        </p:attrNameLst>
                                      </p:cBhvr>
                                      <p:to>
                                        <p:strVal val="visible"/>
                                      </p:to>
                                    </p:set>
                                    <p:animEffect transition="in" filter="fade">
                                      <p:cBhvr>
                                        <p:cTn id="74" dur="500"/>
                                        <p:tgtEl>
                                          <p:spTgt spid="31"/>
                                        </p:tgtEl>
                                      </p:cBhvr>
                                    </p:animEffect>
                                    <p:anim calcmode="lin" valueType="num">
                                      <p:cBhvr>
                                        <p:cTn id="75" dur="500" fill="hold"/>
                                        <p:tgtEl>
                                          <p:spTgt spid="31"/>
                                        </p:tgtEl>
                                        <p:attrNameLst>
                                          <p:attrName>ppt_x</p:attrName>
                                        </p:attrNameLst>
                                      </p:cBhvr>
                                      <p:tavLst>
                                        <p:tav tm="0">
                                          <p:val>
                                            <p:strVal val="#ppt_x"/>
                                          </p:val>
                                        </p:tav>
                                        <p:tav tm="100000">
                                          <p:val>
                                            <p:strVal val="#ppt_x"/>
                                          </p:val>
                                        </p:tav>
                                      </p:tavLst>
                                    </p:anim>
                                    <p:anim calcmode="lin" valueType="num">
                                      <p:cBhvr>
                                        <p:cTn id="76" dur="500" fill="hold"/>
                                        <p:tgtEl>
                                          <p:spTgt spid="31"/>
                                        </p:tgtEl>
                                        <p:attrNameLst>
                                          <p:attrName>ppt_y</p:attrName>
                                        </p:attrNameLst>
                                      </p:cBhvr>
                                      <p:tavLst>
                                        <p:tav tm="0">
                                          <p:val>
                                            <p:strVal val="#ppt_y+.1"/>
                                          </p:val>
                                        </p:tav>
                                        <p:tav tm="100000">
                                          <p:val>
                                            <p:strVal val="#ppt_y"/>
                                          </p:val>
                                        </p:tav>
                                      </p:tavLst>
                                    </p:anim>
                                  </p:childTnLst>
                                </p:cTn>
                              </p:par>
                            </p:childTnLst>
                          </p:cTn>
                        </p:par>
                      </p:childTnLst>
                    </p:cTn>
                  </p:par>
                  <p:par>
                    <p:cTn id="85" fill="hold">
                      <p:stCondLst>
                        <p:cond delay="indefinite"/>
                      </p:stCondLst>
                      <p:childTnLst>
                        <p:par>
                          <p:cTn id="86" fill="hold">
                            <p:stCondLst>
                              <p:cond delay="0"/>
                            </p:stCondLst>
                            <p:childTnLst>
                              <p:par>
                                <p:cTn id="84" presetID="42" presetClass="entr" presetSubtype="0" fill="hold" nodeType="clickEffect">
                                  <p:stCondLst>
                                    <p:cond delay="0"/>
                                  </p:stCondLst>
                                  <p:childTnLst>
                                    <p:set>
                                      <p:cBhvr>
                                        <p:cTn id="80" dur="1" fill="hold">
                                          <p:stCondLst>
                                            <p:cond delay="0"/>
                                          </p:stCondLst>
                                        </p:cTn>
                                        <p:tgtEl>
                                          <p:spTgt spid="33"/>
                                        </p:tgtEl>
                                        <p:attrNameLst>
                                          <p:attrName>style.visibility</p:attrName>
                                        </p:attrNameLst>
                                      </p:cBhvr>
                                      <p:to>
                                        <p:strVal val="visible"/>
                                      </p:to>
                                    </p:set>
                                    <p:animEffect transition="in" filter="fade">
                                      <p:cBhvr>
                                        <p:cTn id="81" dur="500"/>
                                        <p:tgtEl>
                                          <p:spTgt spid="33"/>
                                        </p:tgtEl>
                                      </p:cBhvr>
                                    </p:animEffect>
                                    <p:anim calcmode="lin" valueType="num">
                                      <p:cBhvr>
                                        <p:cTn id="82" dur="500" fill="hold"/>
                                        <p:tgtEl>
                                          <p:spTgt spid="33"/>
                                        </p:tgtEl>
                                        <p:attrNameLst>
                                          <p:attrName>ppt_x</p:attrName>
                                        </p:attrNameLst>
                                      </p:cBhvr>
                                      <p:tavLst>
                                        <p:tav tm="0">
                                          <p:val>
                                            <p:strVal val="#ppt_x"/>
                                          </p:val>
                                        </p:tav>
                                        <p:tav tm="100000">
                                          <p:val>
                                            <p:strVal val="#ppt_x"/>
                                          </p:val>
                                        </p:tav>
                                      </p:tavLst>
                                    </p:anim>
                                    <p:anim calcmode="lin" valueType="num">
                                      <p:cBhvr>
                                        <p:cTn id="83" dur="500" fill="hold"/>
                                        <p:tgtEl>
                                          <p:spTgt spid="33"/>
                                        </p:tgtEl>
                                        <p:attrNameLst>
                                          <p:attrName>ppt_y</p:attrName>
                                        </p:attrNameLst>
                                      </p:cBhvr>
                                      <p:tavLst>
                                        <p:tav tm="0">
                                          <p:val>
                                            <p:strVal val="#ppt_y+.1"/>
                                          </p:val>
                                        </p:tav>
                                        <p:tav tm="100000">
                                          <p:val>
                                            <p:strVal val="#ppt_y"/>
                                          </p:val>
                                        </p:tav>
                                      </p:tavLst>
                                    </p:anim>
                                  </p:childTnLst>
                                </p:cTn>
                              </p:par>
                            </p:childTnLst>
                          </p:cTn>
                        </p:par>
                      </p:childTnLst>
                    </p:cTn>
                  </p:par>
                  <p:par>
                    <p:cTn id="92" fill="hold">
                      <p:stCondLst>
                        <p:cond delay="indefinite"/>
                      </p:stCondLst>
                      <p:childTnLst>
                        <p:par>
                          <p:cTn id="93" fill="hold">
                            <p:stCondLst>
                              <p:cond delay="0"/>
                            </p:stCondLst>
                            <p:childTnLst>
                              <p:par>
                                <p:cTn id="91" presetID="42" presetClass="entr" presetSubtype="0" fill="hold" nodeType="clickEffect">
                                  <p:stCondLst>
                                    <p:cond delay="0"/>
                                  </p:stCondLst>
                                  <p:childTnLst>
                                    <p:set>
                                      <p:cBhvr>
                                        <p:cTn id="87" dur="1" fill="hold">
                                          <p:stCondLst>
                                            <p:cond delay="0"/>
                                          </p:stCondLst>
                                        </p:cTn>
                                        <p:tgtEl>
                                          <p:spTgt spid="35"/>
                                        </p:tgtEl>
                                        <p:attrNameLst>
                                          <p:attrName>style.visibility</p:attrName>
                                        </p:attrNameLst>
                                      </p:cBhvr>
                                      <p:to>
                                        <p:strVal val="visible"/>
                                      </p:to>
                                    </p:set>
                                    <p:animEffect transition="in" filter="fade">
                                      <p:cBhvr>
                                        <p:cTn id="88" dur="500"/>
                                        <p:tgtEl>
                                          <p:spTgt spid="35"/>
                                        </p:tgtEl>
                                      </p:cBhvr>
                                    </p:animEffect>
                                    <p:anim calcmode="lin" valueType="num">
                                      <p:cBhvr>
                                        <p:cTn id="89" dur="500" fill="hold"/>
                                        <p:tgtEl>
                                          <p:spTgt spid="35"/>
                                        </p:tgtEl>
                                        <p:attrNameLst>
                                          <p:attrName>ppt_x</p:attrName>
                                        </p:attrNameLst>
                                      </p:cBhvr>
                                      <p:tavLst>
                                        <p:tav tm="0">
                                          <p:val>
                                            <p:strVal val="#ppt_x"/>
                                          </p:val>
                                        </p:tav>
                                        <p:tav tm="100000">
                                          <p:val>
                                            <p:strVal val="#ppt_x"/>
                                          </p:val>
                                        </p:tav>
                                      </p:tavLst>
                                    </p:anim>
                                    <p:anim calcmode="lin" valueType="num">
                                      <p:cBhvr>
                                        <p:cTn id="90" dur="500" fill="hold"/>
                                        <p:tgtEl>
                                          <p:spTgt spid="35"/>
                                        </p:tgtEl>
                                        <p:attrNameLst>
                                          <p:attrName>ppt_y</p:attrName>
                                        </p:attrNameLst>
                                      </p:cBhvr>
                                      <p:tavLst>
                                        <p:tav tm="0">
                                          <p:val>
                                            <p:strVal val="#ppt_y+.1"/>
                                          </p:val>
                                        </p:tav>
                                        <p:tav tm="100000">
                                          <p:val>
                                            <p:strVal val="#ppt_y"/>
                                          </p:val>
                                        </p:tav>
                                      </p:tavLst>
                                    </p:anim>
                                  </p:childTnLst>
                                </p:cTn>
                              </p:par>
                            </p:childTnLst>
                          </p:cTn>
                        </p:par>
                      </p:childTnLst>
                    </p:cTn>
                  </p:par>
                  <p:par>
                    <p:cTn id="99" fill="hold">
                      <p:stCondLst>
                        <p:cond delay="indefinite"/>
                      </p:stCondLst>
                      <p:childTnLst>
                        <p:par>
                          <p:cTn id="100" fill="hold">
                            <p:stCondLst>
                              <p:cond delay="0"/>
                            </p:stCondLst>
                            <p:childTnLst>
                              <p:par>
                                <p:cTn id="98" presetID="42" presetClass="entr" presetSubtype="0" fill="hold" nodeType="clickEffect">
                                  <p:stCondLst>
                                    <p:cond delay="0"/>
                                  </p:stCondLst>
                                  <p:childTnLst>
                                    <p:set>
                                      <p:cBhvr>
                                        <p:cTn id="94" dur="1" fill="hold">
                                          <p:stCondLst>
                                            <p:cond delay="0"/>
                                          </p:stCondLst>
                                        </p:cTn>
                                        <p:tgtEl>
                                          <p:spTgt spid="37"/>
                                        </p:tgtEl>
                                        <p:attrNameLst>
                                          <p:attrName>style.visibility</p:attrName>
                                        </p:attrNameLst>
                                      </p:cBhvr>
                                      <p:to>
                                        <p:strVal val="visible"/>
                                      </p:to>
                                    </p:set>
                                    <p:animEffect transition="in" filter="fade">
                                      <p:cBhvr>
                                        <p:cTn id="95" dur="500"/>
                                        <p:tgtEl>
                                          <p:spTgt spid="37"/>
                                        </p:tgtEl>
                                      </p:cBhvr>
                                    </p:animEffect>
                                    <p:anim calcmode="lin" valueType="num">
                                      <p:cBhvr>
                                        <p:cTn id="96" dur="500" fill="hold"/>
                                        <p:tgtEl>
                                          <p:spTgt spid="37"/>
                                        </p:tgtEl>
                                        <p:attrNameLst>
                                          <p:attrName>ppt_x</p:attrName>
                                        </p:attrNameLst>
                                      </p:cBhvr>
                                      <p:tavLst>
                                        <p:tav tm="0">
                                          <p:val>
                                            <p:strVal val="#ppt_x"/>
                                          </p:val>
                                        </p:tav>
                                        <p:tav tm="100000">
                                          <p:val>
                                            <p:strVal val="#ppt_x"/>
                                          </p:val>
                                        </p:tav>
                                      </p:tavLst>
                                    </p:anim>
                                    <p:anim calcmode="lin" valueType="num">
                                      <p:cBhvr>
                                        <p:cTn id="97" dur="500" fill="hold"/>
                                        <p:tgtEl>
                                          <p:spTgt spid="37"/>
                                        </p:tgtEl>
                                        <p:attrNameLst>
                                          <p:attrName>ppt_y</p:attrName>
                                        </p:attrNameLst>
                                      </p:cBhvr>
                                      <p:tavLst>
                                        <p:tav tm="0">
                                          <p:val>
                                            <p:strVal val="#ppt_y+.1"/>
                                          </p:val>
                                        </p:tav>
                                        <p:tav tm="100000">
                                          <p:val>
                                            <p:strVal val="#ppt_y"/>
                                          </p:val>
                                        </p:tav>
                                      </p:tavLst>
                                    </p:anim>
                                  </p:childTnLst>
                                </p:cTn>
                              </p:par>
                            </p:childTnLst>
                          </p:cTn>
                        </p:par>
                      </p:childTnLst>
                    </p:cTn>
                  </p:par>
                  <p:par>
                    <p:cTn id="106" fill="hold">
                      <p:stCondLst>
                        <p:cond delay="indefinite"/>
                      </p:stCondLst>
                      <p:childTnLst>
                        <p:par>
                          <p:cTn id="107" fill="hold">
                            <p:stCondLst>
                              <p:cond delay="0"/>
                            </p:stCondLst>
                            <p:childTnLst>
                              <p:par>
                                <p:cTn id="105" presetID="42" presetClass="entr" presetSubtype="0" fill="hold" nodeType="clickEffect">
                                  <p:stCondLst>
                                    <p:cond delay="0"/>
                                  </p:stCondLst>
                                  <p:childTnLst>
                                    <p:set>
                                      <p:cBhvr>
                                        <p:cTn id="101" dur="1" fill="hold">
                                          <p:stCondLst>
                                            <p:cond delay="0"/>
                                          </p:stCondLst>
                                        </p:cTn>
                                        <p:tgtEl>
                                          <p:spTgt spid="39"/>
                                        </p:tgtEl>
                                        <p:attrNameLst>
                                          <p:attrName>style.visibility</p:attrName>
                                        </p:attrNameLst>
                                      </p:cBhvr>
                                      <p:to>
                                        <p:strVal val="visible"/>
                                      </p:to>
                                    </p:set>
                                    <p:animEffect transition="in" filter="fade">
                                      <p:cBhvr>
                                        <p:cTn id="102" dur="500"/>
                                        <p:tgtEl>
                                          <p:spTgt spid="39"/>
                                        </p:tgtEl>
                                      </p:cBhvr>
                                    </p:animEffect>
                                    <p:anim calcmode="lin" valueType="num">
                                      <p:cBhvr>
                                        <p:cTn id="103" dur="500" fill="hold"/>
                                        <p:tgtEl>
                                          <p:spTgt spid="39"/>
                                        </p:tgtEl>
                                        <p:attrNameLst>
                                          <p:attrName>ppt_x</p:attrName>
                                        </p:attrNameLst>
                                      </p:cBhvr>
                                      <p:tavLst>
                                        <p:tav tm="0">
                                          <p:val>
                                            <p:strVal val="#ppt_x"/>
                                          </p:val>
                                        </p:tav>
                                        <p:tav tm="100000">
                                          <p:val>
                                            <p:strVal val="#ppt_x"/>
                                          </p:val>
                                        </p:tav>
                                      </p:tavLst>
                                    </p:anim>
                                    <p:anim calcmode="lin" valueType="num">
                                      <p:cBhvr>
                                        <p:cTn id="104" dur="500" fill="hold"/>
                                        <p:tgtEl>
                                          <p:spTgt spid="39"/>
                                        </p:tgtEl>
                                        <p:attrNameLst>
                                          <p:attrName>ppt_y</p:attrName>
                                        </p:attrNameLst>
                                      </p:cBhvr>
                                      <p:tavLst>
                                        <p:tav tm="0">
                                          <p:val>
                                            <p:strVal val="#ppt_y+.1"/>
                                          </p:val>
                                        </p:tav>
                                        <p:tav tm="100000">
                                          <p:val>
                                            <p:strVal val="#ppt_y"/>
                                          </p:val>
                                        </p:tav>
                                      </p:tavLst>
                                    </p:anim>
                                  </p:childTnLst>
                                </p:cTn>
                              </p:par>
                            </p:childTnLst>
                          </p:cTn>
                        </p:par>
                      </p:childTnLst>
                    </p:cTn>
                  </p:par>
                  <p:par>
                    <p:cTn id="113" fill="hold">
                      <p:stCondLst>
                        <p:cond delay="indefinite"/>
                      </p:stCondLst>
                      <p:childTnLst>
                        <p:par>
                          <p:cTn id="114" fill="hold">
                            <p:stCondLst>
                              <p:cond delay="0"/>
                            </p:stCondLst>
                            <p:childTnLst>
                              <p:par>
                                <p:cTn id="112" presetID="42" presetClass="entr" presetSubtype="0" fill="hold" nodeType="clickEffect">
                                  <p:stCondLst>
                                    <p:cond delay="0"/>
                                  </p:stCondLst>
                                  <p:childTnLst>
                                    <p:set>
                                      <p:cBhvr>
                                        <p:cTn id="108" dur="1" fill="hold">
                                          <p:stCondLst>
                                            <p:cond delay="0"/>
                                          </p:stCondLst>
                                        </p:cTn>
                                        <p:tgtEl>
                                          <p:spTgt spid="41"/>
                                        </p:tgtEl>
                                        <p:attrNameLst>
                                          <p:attrName>style.visibility</p:attrName>
                                        </p:attrNameLst>
                                      </p:cBhvr>
                                      <p:to>
                                        <p:strVal val="visible"/>
                                      </p:to>
                                    </p:set>
                                    <p:animEffect transition="in" filter="fade">
                                      <p:cBhvr>
                                        <p:cTn id="109" dur="500"/>
                                        <p:tgtEl>
                                          <p:spTgt spid="41"/>
                                        </p:tgtEl>
                                      </p:cBhvr>
                                    </p:animEffect>
                                    <p:anim calcmode="lin" valueType="num">
                                      <p:cBhvr>
                                        <p:cTn id="110" dur="500" fill="hold"/>
                                        <p:tgtEl>
                                          <p:spTgt spid="41"/>
                                        </p:tgtEl>
                                        <p:attrNameLst>
                                          <p:attrName>ppt_x</p:attrName>
                                        </p:attrNameLst>
                                      </p:cBhvr>
                                      <p:tavLst>
                                        <p:tav tm="0">
                                          <p:val>
                                            <p:strVal val="#ppt_x"/>
                                          </p:val>
                                        </p:tav>
                                        <p:tav tm="100000">
                                          <p:val>
                                            <p:strVal val="#ppt_x"/>
                                          </p:val>
                                        </p:tav>
                                      </p:tavLst>
                                    </p:anim>
                                    <p:anim calcmode="lin" valueType="num">
                                      <p:cBhvr>
                                        <p:cTn id="111" dur="500" fill="hold"/>
                                        <p:tgtEl>
                                          <p:spTgt spid="41"/>
                                        </p:tgtEl>
                                        <p:attrNameLst>
                                          <p:attrName>ppt_y</p:attrName>
                                        </p:attrNameLst>
                                      </p:cBhvr>
                                      <p:tavLst>
                                        <p:tav tm="0">
                                          <p:val>
                                            <p:strVal val="#ppt_y+.1"/>
                                          </p:val>
                                        </p:tav>
                                        <p:tav tm="100000">
                                          <p:val>
                                            <p:strVal val="#ppt_y"/>
                                          </p:val>
                                        </p:tav>
                                      </p:tavLst>
                                    </p:anim>
                                  </p:childTnLst>
                                </p:cTn>
                              </p:par>
                            </p:childTnLst>
                          </p:cTn>
                        </p:par>
                      </p:childTnLst>
                    </p:cTn>
                  </p:par>
                  <p:par>
                    <p:cTn id="120" fill="hold">
                      <p:stCondLst>
                        <p:cond delay="indefinite"/>
                      </p:stCondLst>
                      <p:childTnLst>
                        <p:par>
                          <p:cTn id="121" fill="hold">
                            <p:stCondLst>
                              <p:cond delay="0"/>
                            </p:stCondLst>
                            <p:childTnLst>
                              <p:par>
                                <p:cTn id="119" presetID="42" presetClass="entr" presetSubtype="0" fill="hold" nodeType="clickEffect">
                                  <p:stCondLst>
                                    <p:cond delay="0"/>
                                  </p:stCondLst>
                                  <p:childTnLst>
                                    <p:set>
                                      <p:cBhvr>
                                        <p:cTn id="115" dur="1" fill="hold">
                                          <p:stCondLst>
                                            <p:cond delay="0"/>
                                          </p:stCondLst>
                                        </p:cTn>
                                        <p:tgtEl>
                                          <p:spTgt spid="43"/>
                                        </p:tgtEl>
                                        <p:attrNameLst>
                                          <p:attrName>style.visibility</p:attrName>
                                        </p:attrNameLst>
                                      </p:cBhvr>
                                      <p:to>
                                        <p:strVal val="visible"/>
                                      </p:to>
                                    </p:set>
                                    <p:animEffect transition="in" filter="fade">
                                      <p:cBhvr>
                                        <p:cTn id="116" dur="500"/>
                                        <p:tgtEl>
                                          <p:spTgt spid="43"/>
                                        </p:tgtEl>
                                      </p:cBhvr>
                                    </p:animEffect>
                                    <p:anim calcmode="lin" valueType="num">
                                      <p:cBhvr>
                                        <p:cTn id="117" dur="500" fill="hold"/>
                                        <p:tgtEl>
                                          <p:spTgt spid="43"/>
                                        </p:tgtEl>
                                        <p:attrNameLst>
                                          <p:attrName>ppt_x</p:attrName>
                                        </p:attrNameLst>
                                      </p:cBhvr>
                                      <p:tavLst>
                                        <p:tav tm="0">
                                          <p:val>
                                            <p:strVal val="#ppt_x"/>
                                          </p:val>
                                        </p:tav>
                                        <p:tav tm="100000">
                                          <p:val>
                                            <p:strVal val="#ppt_x"/>
                                          </p:val>
                                        </p:tav>
                                      </p:tavLst>
                                    </p:anim>
                                    <p:anim calcmode="lin" valueType="num">
                                      <p:cBhvr>
                                        <p:cTn id="118" dur="500" fill="hold"/>
                                        <p:tgtEl>
                                          <p:spTgt spid="43"/>
                                        </p:tgtEl>
                                        <p:attrNameLst>
                                          <p:attrName>ppt_y</p:attrName>
                                        </p:attrNameLst>
                                      </p:cBhvr>
                                      <p:tavLst>
                                        <p:tav tm="0">
                                          <p:val>
                                            <p:strVal val="#ppt_y+.1"/>
                                          </p:val>
                                        </p:tav>
                                        <p:tav tm="100000">
                                          <p:val>
                                            <p:strVal val="#ppt_y"/>
                                          </p:val>
                                        </p:tav>
                                      </p:tavLst>
                                    </p:anim>
                                  </p:childTnLst>
                                </p:cTn>
                              </p:par>
                            </p:childTnLst>
                          </p:cTn>
                        </p:par>
                      </p:childTnLst>
                    </p:cTn>
                  </p:par>
                  <p:par>
                    <p:cTn id="127" fill="hold">
                      <p:stCondLst>
                        <p:cond delay="indefinite"/>
                      </p:stCondLst>
                      <p:childTnLst>
                        <p:par>
                          <p:cTn id="128" fill="hold">
                            <p:stCondLst>
                              <p:cond delay="0"/>
                            </p:stCondLst>
                            <p:childTnLst>
                              <p:par>
                                <p:cTn id="126" presetID="42" presetClass="entr" presetSubtype="0" fill="hold" nodeType="clickEffect">
                                  <p:stCondLst>
                                    <p:cond delay="0"/>
                                  </p:stCondLst>
                                  <p:childTnLst>
                                    <p:set>
                                      <p:cBhvr>
                                        <p:cTn id="122" dur="1" fill="hold">
                                          <p:stCondLst>
                                            <p:cond delay="0"/>
                                          </p:stCondLst>
                                        </p:cTn>
                                        <p:tgtEl>
                                          <p:spTgt spid="45"/>
                                        </p:tgtEl>
                                        <p:attrNameLst>
                                          <p:attrName>style.visibility</p:attrName>
                                        </p:attrNameLst>
                                      </p:cBhvr>
                                      <p:to>
                                        <p:strVal val="visible"/>
                                      </p:to>
                                    </p:set>
                                    <p:animEffect transition="in" filter="fade">
                                      <p:cBhvr>
                                        <p:cTn id="123" dur="500"/>
                                        <p:tgtEl>
                                          <p:spTgt spid="45"/>
                                        </p:tgtEl>
                                      </p:cBhvr>
                                    </p:animEffect>
                                    <p:anim calcmode="lin" valueType="num">
                                      <p:cBhvr>
                                        <p:cTn id="124" dur="500" fill="hold"/>
                                        <p:tgtEl>
                                          <p:spTgt spid="45"/>
                                        </p:tgtEl>
                                        <p:attrNameLst>
                                          <p:attrName>ppt_x</p:attrName>
                                        </p:attrNameLst>
                                      </p:cBhvr>
                                      <p:tavLst>
                                        <p:tav tm="0">
                                          <p:val>
                                            <p:strVal val="#ppt_x"/>
                                          </p:val>
                                        </p:tav>
                                        <p:tav tm="100000">
                                          <p:val>
                                            <p:strVal val="#ppt_x"/>
                                          </p:val>
                                        </p:tav>
                                      </p:tavLst>
                                    </p:anim>
                                    <p:anim calcmode="lin" valueType="num">
                                      <p:cBhvr>
                                        <p:cTn id="125" dur="500" fill="hold"/>
                                        <p:tgtEl>
                                          <p:spTgt spid="45"/>
                                        </p:tgtEl>
                                        <p:attrNameLst>
                                          <p:attrName>ppt_y</p:attrName>
                                        </p:attrNameLst>
                                      </p:cBhvr>
                                      <p:tavLst>
                                        <p:tav tm="0">
                                          <p:val>
                                            <p:strVal val="#ppt_y+.1"/>
                                          </p:val>
                                        </p:tav>
                                        <p:tav tm="100000">
                                          <p:val>
                                            <p:strVal val="#ppt_y"/>
                                          </p:val>
                                        </p:tav>
                                      </p:tavLst>
                                    </p:anim>
                                  </p:childTnLst>
                                </p:cTn>
                              </p:par>
                            </p:childTnLst>
                          </p:cTn>
                        </p:par>
                      </p:childTnLst>
                    </p:cTn>
                  </p:par>
                  <p:par>
                    <p:cTn id="134" fill="hold">
                      <p:stCondLst>
                        <p:cond delay="indefinite"/>
                      </p:stCondLst>
                      <p:childTnLst>
                        <p:par>
                          <p:cTn id="135" fill="hold">
                            <p:stCondLst>
                              <p:cond delay="0"/>
                            </p:stCondLst>
                            <p:childTnLst>
                              <p:par>
                                <p:cTn id="133" presetID="42" presetClass="entr" presetSubtype="0" fill="hold" nodeType="clickEffect">
                                  <p:stCondLst>
                                    <p:cond delay="0"/>
                                  </p:stCondLst>
                                  <p:childTnLst>
                                    <p:set>
                                      <p:cBhvr>
                                        <p:cTn id="129" dur="1" fill="hold">
                                          <p:stCondLst>
                                            <p:cond delay="0"/>
                                          </p:stCondLst>
                                        </p:cTn>
                                        <p:tgtEl>
                                          <p:spTgt spid="47"/>
                                        </p:tgtEl>
                                        <p:attrNameLst>
                                          <p:attrName>style.visibility</p:attrName>
                                        </p:attrNameLst>
                                      </p:cBhvr>
                                      <p:to>
                                        <p:strVal val="visible"/>
                                      </p:to>
                                    </p:set>
                                    <p:animEffect transition="in" filter="fade">
                                      <p:cBhvr>
                                        <p:cTn id="130" dur="500"/>
                                        <p:tgtEl>
                                          <p:spTgt spid="47"/>
                                        </p:tgtEl>
                                      </p:cBhvr>
                                    </p:animEffect>
                                    <p:anim calcmode="lin" valueType="num">
                                      <p:cBhvr>
                                        <p:cTn id="131" dur="500" fill="hold"/>
                                        <p:tgtEl>
                                          <p:spTgt spid="47"/>
                                        </p:tgtEl>
                                        <p:attrNameLst>
                                          <p:attrName>ppt_x</p:attrName>
                                        </p:attrNameLst>
                                      </p:cBhvr>
                                      <p:tavLst>
                                        <p:tav tm="0">
                                          <p:val>
                                            <p:strVal val="#ppt_x"/>
                                          </p:val>
                                        </p:tav>
                                        <p:tav tm="100000">
                                          <p:val>
                                            <p:strVal val="#ppt_x"/>
                                          </p:val>
                                        </p:tav>
                                      </p:tavLst>
                                    </p:anim>
                                    <p:anim calcmode="lin" valueType="num">
                                      <p:cBhvr>
                                        <p:cTn id="132" dur="500" fill="hold"/>
                                        <p:tgtEl>
                                          <p:spTgt spid="47"/>
                                        </p:tgtEl>
                                        <p:attrNameLst>
                                          <p:attrName>ppt_y</p:attrName>
                                        </p:attrNameLst>
                                      </p:cBhvr>
                                      <p:tavLst>
                                        <p:tav tm="0">
                                          <p:val>
                                            <p:strVal val="#ppt_y+.1"/>
                                          </p:val>
                                        </p:tav>
                                        <p:tav tm="100000">
                                          <p:val>
                                            <p:strVal val="#ppt_y"/>
                                          </p:val>
                                        </p:tav>
                                      </p:tavLst>
                                    </p:anim>
                                  </p:childTnLst>
                                </p:cTn>
                              </p:par>
                            </p:childTnLst>
                          </p:cTn>
                        </p:par>
                      </p:childTnLst>
                    </p:cTn>
                  </p:par>
                  <p:par>
                    <p:cTn id="141" fill="hold">
                      <p:stCondLst>
                        <p:cond delay="indefinite"/>
                      </p:stCondLst>
                      <p:childTnLst>
                        <p:par>
                          <p:cTn id="142" fill="hold">
                            <p:stCondLst>
                              <p:cond delay="0"/>
                            </p:stCondLst>
                            <p:childTnLst>
                              <p:par>
                                <p:cTn id="140" presetID="42" presetClass="entr" presetSubtype="0" fill="hold" nodeType="clickEffect">
                                  <p:stCondLst>
                                    <p:cond delay="0"/>
                                  </p:stCondLst>
                                  <p:childTnLst>
                                    <p:set>
                                      <p:cBhvr>
                                        <p:cTn id="136" dur="1" fill="hold">
                                          <p:stCondLst>
                                            <p:cond delay="0"/>
                                          </p:stCondLst>
                                        </p:cTn>
                                        <p:tgtEl>
                                          <p:spTgt spid="49"/>
                                        </p:tgtEl>
                                        <p:attrNameLst>
                                          <p:attrName>style.visibility</p:attrName>
                                        </p:attrNameLst>
                                      </p:cBhvr>
                                      <p:to>
                                        <p:strVal val="visible"/>
                                      </p:to>
                                    </p:set>
                                    <p:animEffect transition="in" filter="fade">
                                      <p:cBhvr>
                                        <p:cTn id="137" dur="500"/>
                                        <p:tgtEl>
                                          <p:spTgt spid="49"/>
                                        </p:tgtEl>
                                      </p:cBhvr>
                                    </p:animEffect>
                                    <p:anim calcmode="lin" valueType="num">
                                      <p:cBhvr>
                                        <p:cTn id="138" dur="500" fill="hold"/>
                                        <p:tgtEl>
                                          <p:spTgt spid="49"/>
                                        </p:tgtEl>
                                        <p:attrNameLst>
                                          <p:attrName>ppt_x</p:attrName>
                                        </p:attrNameLst>
                                      </p:cBhvr>
                                      <p:tavLst>
                                        <p:tav tm="0">
                                          <p:val>
                                            <p:strVal val="#ppt_x"/>
                                          </p:val>
                                        </p:tav>
                                        <p:tav tm="100000">
                                          <p:val>
                                            <p:strVal val="#ppt_x"/>
                                          </p:val>
                                        </p:tav>
                                      </p:tavLst>
                                    </p:anim>
                                    <p:anim calcmode="lin" valueType="num">
                                      <p:cBhvr>
                                        <p:cTn id="139" dur="500" fill="hold"/>
                                        <p:tgtEl>
                                          <p:spTgt spid="49"/>
                                        </p:tgtEl>
                                        <p:attrNameLst>
                                          <p:attrName>ppt_y</p:attrName>
                                        </p:attrNameLst>
                                      </p:cBhvr>
                                      <p:tavLst>
                                        <p:tav tm="0">
                                          <p:val>
                                            <p:strVal val="#ppt_y+.1"/>
                                          </p:val>
                                        </p:tav>
                                        <p:tav tm="100000">
                                          <p:val>
                                            <p:strVal val="#ppt_y"/>
                                          </p:val>
                                        </p:tav>
                                      </p:tavLst>
                                    </p:anim>
                                  </p:childTnLst>
                                </p:cTn>
                              </p:par>
                            </p:childTnLst>
                          </p:cTn>
                        </p:par>
                      </p:childTnLst>
                    </p:cTn>
                  </p:par>
                  <p:par>
                    <p:cTn id="148" fill="hold">
                      <p:stCondLst>
                        <p:cond delay="indefinite"/>
                      </p:stCondLst>
                      <p:childTnLst>
                        <p:par>
                          <p:cTn id="149" fill="hold">
                            <p:stCondLst>
                              <p:cond delay="0"/>
                            </p:stCondLst>
                            <p:childTnLst>
                              <p:par>
                                <p:cTn id="147" presetID="42" presetClass="entr" presetSubtype="0" fill="hold" nodeType="clickEffect">
                                  <p:stCondLst>
                                    <p:cond delay="0"/>
                                  </p:stCondLst>
                                  <p:childTnLst>
                                    <p:set>
                                      <p:cBhvr>
                                        <p:cTn id="143" dur="1" fill="hold">
                                          <p:stCondLst>
                                            <p:cond delay="0"/>
                                          </p:stCondLst>
                                        </p:cTn>
                                        <p:tgtEl>
                                          <p:spTgt spid="50"/>
                                        </p:tgtEl>
                                        <p:attrNameLst>
                                          <p:attrName>style.visibility</p:attrName>
                                        </p:attrNameLst>
                                      </p:cBhvr>
                                      <p:to>
                                        <p:strVal val="visible"/>
                                      </p:to>
                                    </p:set>
                                    <p:animEffect transition="in" filter="fade">
                                      <p:cBhvr>
                                        <p:cTn id="144" dur="500"/>
                                        <p:tgtEl>
                                          <p:spTgt spid="50"/>
                                        </p:tgtEl>
                                      </p:cBhvr>
                                    </p:animEffect>
                                    <p:anim calcmode="lin" valueType="num">
                                      <p:cBhvr>
                                        <p:cTn id="145" dur="500" fill="hold"/>
                                        <p:tgtEl>
                                          <p:spTgt spid="50"/>
                                        </p:tgtEl>
                                        <p:attrNameLst>
                                          <p:attrName>ppt_x</p:attrName>
                                        </p:attrNameLst>
                                      </p:cBhvr>
                                      <p:tavLst>
                                        <p:tav tm="0">
                                          <p:val>
                                            <p:strVal val="#ppt_x"/>
                                          </p:val>
                                        </p:tav>
                                        <p:tav tm="100000">
                                          <p:val>
                                            <p:strVal val="#ppt_x"/>
                                          </p:val>
                                        </p:tav>
                                      </p:tavLst>
                                    </p:anim>
                                    <p:anim calcmode="lin" valueType="num">
                                      <p:cBhvr>
                                        <p:cTn id="146" dur="500" fill="hold"/>
                                        <p:tgtEl>
                                          <p:spTgt spid="50"/>
                                        </p:tgtEl>
                                        <p:attrNameLst>
                                          <p:attrName>ppt_y</p:attrName>
                                        </p:attrNameLst>
                                      </p:cBhvr>
                                      <p:tavLst>
                                        <p:tav tm="0">
                                          <p:val>
                                            <p:strVal val="#ppt_y+.1"/>
                                          </p:val>
                                        </p:tav>
                                        <p:tav tm="100000">
                                          <p:val>
                                            <p:strVal val="#ppt_y"/>
                                          </p:val>
                                        </p:tav>
                                      </p:tavLst>
                                    </p:anim>
                                  </p:childTnLst>
                                </p:cTn>
                              </p:par>
                            </p:childTnLst>
                          </p:cTn>
                        </p:par>
                      </p:childTnLst>
                    </p:cTn>
                  </p:par>
                  <p:par>
                    <p:cTn id="155" fill="hold">
                      <p:stCondLst>
                        <p:cond delay="indefinite"/>
                      </p:stCondLst>
                      <p:childTnLst>
                        <p:par>
                          <p:cTn id="156" fill="hold">
                            <p:stCondLst>
                              <p:cond delay="0"/>
                            </p:stCondLst>
                            <p:childTnLst>
                              <p:par>
                                <p:cTn id="154" presetID="42" presetClass="entr" presetSubtype="0" fill="hold" nodeType="clickEffect">
                                  <p:stCondLst>
                                    <p:cond delay="0"/>
                                  </p:stCondLst>
                                  <p:childTnLst>
                                    <p:set>
                                      <p:cBhvr>
                                        <p:cTn id="150" dur="1" fill="hold">
                                          <p:stCondLst>
                                            <p:cond delay="0"/>
                                          </p:stCondLst>
                                        </p:cTn>
                                        <p:tgtEl>
                                          <p:spTgt spid="51"/>
                                        </p:tgtEl>
                                        <p:attrNameLst>
                                          <p:attrName>style.visibility</p:attrName>
                                        </p:attrNameLst>
                                      </p:cBhvr>
                                      <p:to>
                                        <p:strVal val="visible"/>
                                      </p:to>
                                    </p:set>
                                    <p:animEffect transition="in" filter="fade">
                                      <p:cBhvr>
                                        <p:cTn id="151" dur="500"/>
                                        <p:tgtEl>
                                          <p:spTgt spid="51"/>
                                        </p:tgtEl>
                                      </p:cBhvr>
                                    </p:animEffect>
                                    <p:anim calcmode="lin" valueType="num">
                                      <p:cBhvr>
                                        <p:cTn id="152" dur="500" fill="hold"/>
                                        <p:tgtEl>
                                          <p:spTgt spid="51"/>
                                        </p:tgtEl>
                                        <p:attrNameLst>
                                          <p:attrName>ppt_x</p:attrName>
                                        </p:attrNameLst>
                                      </p:cBhvr>
                                      <p:tavLst>
                                        <p:tav tm="0">
                                          <p:val>
                                            <p:strVal val="#ppt_x"/>
                                          </p:val>
                                        </p:tav>
                                        <p:tav tm="100000">
                                          <p:val>
                                            <p:strVal val="#ppt_x"/>
                                          </p:val>
                                        </p:tav>
                                      </p:tavLst>
                                    </p:anim>
                                    <p:anim calcmode="lin" valueType="num">
                                      <p:cBhvr>
                                        <p:cTn id="153" dur="500" fill="hold"/>
                                        <p:tgtEl>
                                          <p:spTgt spid="51"/>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Activity 2.2 · Question 4 · SE p. 297 · ★ Essential</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Does this hold for any linear function?</a:t>
            </a:r>
            <a:endParaRPr lang="en-US" sz="3450" dirty="0"/>
          </a:p>
        </p:txBody>
      </p:sp>
      <p:sp>
        <p:nvSpPr>
          <p:cNvPr id="4" name="Shape 4"/>
          <p:cNvSpPr txBox="1"/>
          <p:nvPr/>
        </p:nvSpPr>
        <p:spPr>
          <a:xfrm>
            <a:off x="685800" y="1618488"/>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Counterexample: </a:t>
            </a:r>
            <a:r>
              <a:rPr lang="en-US" sz="1950" dirty="0" i="1">
                <a:solidFill>
                  <a:srgbClr val="16171D"/>
                </a:solidFill>
                <a:latin typeface="Cambria"/>
                <a:cs typeface="Cambria"/>
              </a:rPr>
              <a:t xml:space="preserve">m</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2</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− 1</a:t>
            </a:r>
            <a:endParaRPr lang="en-US" sz="1950" dirty="0"/>
          </a:p>
        </p:txBody>
      </p:sp>
      <p:sp>
        <p:nvSpPr>
          <p:cNvPr id="5" name="Shape 5"/>
          <p:cNvSpPr txBox="1"/>
          <p:nvPr/>
        </p:nvSpPr>
        <p:spPr>
          <a:xfrm>
            <a:off x="685800" y="2065782"/>
            <a:ext cx="473211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b="1">
                <a:solidFill>
                  <a:srgbClr val="4F8A3C"/>
                </a:solidFill>
                <a:latin typeface="Cambria"/>
                <a:cs typeface="Cambria"/>
              </a:rPr>
              <a:t xml:space="preserve">3 · </a:t>
            </a:r>
            <a:r>
              <a:rPr lang="en-US" sz="2325" dirty="0" b="1" i="1">
                <a:solidFill>
                  <a:srgbClr val="4F8A3C"/>
                </a:solidFill>
                <a:latin typeface="Cambria"/>
                <a:cs typeface="Cambria"/>
              </a:rPr>
              <a:t xml:space="preserve">m</a:t>
            </a:r>
            <a:r>
              <a:rPr lang="en-US" sz="2325" dirty="0" b="1">
                <a:solidFill>
                  <a:srgbClr val="4F8A3C"/>
                </a:solidFill>
                <a:latin typeface="Cambria"/>
                <a:cs typeface="Cambria"/>
              </a:rPr>
              <a:t xml:space="preserve">(</a:t>
            </a:r>
            <a:r>
              <a:rPr lang="en-US" sz="2325" dirty="0" b="1" i="1">
                <a:solidFill>
                  <a:srgbClr val="4F8A3C"/>
                </a:solidFill>
                <a:latin typeface="Cambria"/>
                <a:cs typeface="Cambria"/>
              </a:rPr>
              <a:t xml:space="preserve">x</a:t>
            </a:r>
            <a:r>
              <a:rPr lang="en-US" sz="2325" dirty="0" b="1">
                <a:solidFill>
                  <a:srgbClr val="4F8A3C"/>
                </a:solidFill>
                <a:latin typeface="Cambria"/>
                <a:cs typeface="Cambria"/>
              </a:rPr>
              <a:t xml:space="preserve">) = 6</a:t>
            </a:r>
            <a:r>
              <a:rPr lang="en-US" sz="2325" dirty="0" b="1" i="1">
                <a:solidFill>
                  <a:srgbClr val="4F8A3C"/>
                </a:solidFill>
                <a:latin typeface="Cambria"/>
                <a:cs typeface="Cambria"/>
              </a:rPr>
              <a:t xml:space="preserve">x</a:t>
            </a:r>
            <a:r>
              <a:rPr lang="en-US" sz="2325" dirty="0" b="1">
                <a:solidFill>
                  <a:srgbClr val="4F8A3C"/>
                </a:solidFill>
                <a:latin typeface="Cambria"/>
                <a:cs typeface="Cambria"/>
              </a:rPr>
              <a:t xml:space="preserve"> − 3</a:t>
            </a:r>
            <a:endParaRPr lang="en-US" sz="2325" dirty="0"/>
          </a:p>
        </p:txBody>
      </p:sp>
      <p:sp>
        <p:nvSpPr>
          <p:cNvPr id="6" name="Shape 6"/>
          <p:cNvSpPr txBox="1"/>
          <p:nvPr/>
        </p:nvSpPr>
        <p:spPr>
          <a:xfrm>
            <a:off x="685800" y="2679954"/>
            <a:ext cx="4234632"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b="1" i="1">
                <a:solidFill>
                  <a:srgbClr val="7A4FC4"/>
                </a:solidFill>
                <a:latin typeface="Cambria"/>
                <a:cs typeface="Cambria"/>
              </a:rPr>
              <a:t xml:space="preserve">m</a:t>
            </a:r>
            <a:r>
              <a:rPr lang="en-US" sz="2325" dirty="0" b="1">
                <a:solidFill>
                  <a:srgbClr val="7A4FC4"/>
                </a:solidFill>
                <a:latin typeface="Cambria"/>
                <a:cs typeface="Cambria"/>
              </a:rPr>
              <a:t xml:space="preserve">(3</a:t>
            </a:r>
            <a:r>
              <a:rPr lang="en-US" sz="2325" dirty="0" b="1" i="1">
                <a:solidFill>
                  <a:srgbClr val="7A4FC4"/>
                </a:solidFill>
                <a:latin typeface="Cambria"/>
                <a:cs typeface="Cambria"/>
              </a:rPr>
              <a:t xml:space="preserve">x</a:t>
            </a:r>
            <a:r>
              <a:rPr lang="en-US" sz="2325" dirty="0" b="1">
                <a:solidFill>
                  <a:srgbClr val="7A4FC4"/>
                </a:solidFill>
                <a:latin typeface="Cambria"/>
                <a:cs typeface="Cambria"/>
              </a:rPr>
              <a:t xml:space="preserve">) = 6</a:t>
            </a:r>
            <a:r>
              <a:rPr lang="en-US" sz="2325" dirty="0" b="1" i="1">
                <a:solidFill>
                  <a:srgbClr val="7A4FC4"/>
                </a:solidFill>
                <a:latin typeface="Cambria"/>
                <a:cs typeface="Cambria"/>
              </a:rPr>
              <a:t xml:space="preserve">x</a:t>
            </a:r>
            <a:r>
              <a:rPr lang="en-US" sz="2325" dirty="0" b="1">
                <a:solidFill>
                  <a:srgbClr val="7A4FC4"/>
                </a:solidFill>
                <a:latin typeface="Cambria"/>
                <a:cs typeface="Cambria"/>
              </a:rPr>
              <a:t xml:space="preserve"> − 1</a:t>
            </a:r>
            <a:endParaRPr lang="en-US" sz="2325" dirty="0"/>
          </a:p>
        </p:txBody>
      </p:sp>
      <p:sp>
        <p:nvSpPr>
          <p:cNvPr id="7" name="Shape 7"/>
          <p:cNvSpPr txBox="1"/>
          <p:nvPr/>
        </p:nvSpPr>
        <p:spPr>
          <a:xfrm>
            <a:off x="685800" y="3294126"/>
            <a:ext cx="52195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No.</a:t>
            </a:r>
            <a:r>
              <a:rPr lang="en-US" sz="1575" dirty="0">
                <a:solidFill>
                  <a:srgbClr val="16171D"/>
                </a:solidFill>
                <a:latin typeface="Segoe UI"/>
                <a:cs typeface="Segoe UI"/>
              </a:rPr>
              <a:t xml:space="preserve"> The graphs are parallel, not the same. It works only for the parent function.</a:t>
            </a:r>
            <a:endParaRPr lang="en-US" sz="1575" dirty="0"/>
          </a:p>
        </p:txBody>
      </p:sp>
      <p:sp>
        <p:nvSpPr>
          <p:cNvPr id="8" name="Shape 8"/>
          <p:cNvSpPr/>
          <p:nvPr/>
        </p:nvSpPr>
        <p:spPr>
          <a:xfrm>
            <a:off x="6286348" y="1618488"/>
            <a:ext cx="3143250" cy="32385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9" name="Line 9"/>
          <p:cNvCxnSpPr/>
          <p:nvPr/>
        </p:nvCxnSpPr>
        <p:spPr>
          <a:xfrm>
            <a:off x="6610198" y="1732788"/>
            <a:ext cx="0" cy="2876550"/>
          </a:xfrm>
          <a:prstGeom prst="line">
            <a:avLst/>
          </a:prstGeom>
          <a:ln w="9525" cap="flat">
            <a:solidFill>
              <a:srgbClr val="E6E8F2"/>
            </a:solidFill>
          </a:ln>
        </p:spPr>
      </p:cxnSp>
      <p:cxnSp>
        <p:nvCxnSpPr>
          <p:cNvPr id="10" name="Line 10"/>
          <p:cNvCxnSpPr/>
          <p:nvPr/>
        </p:nvCxnSpPr>
        <p:spPr>
          <a:xfrm>
            <a:off x="6948335" y="1732788"/>
            <a:ext cx="0" cy="2876550"/>
          </a:xfrm>
          <a:prstGeom prst="line">
            <a:avLst/>
          </a:prstGeom>
          <a:ln w="9525" cap="flat">
            <a:solidFill>
              <a:srgbClr val="E6E8F2"/>
            </a:solidFill>
          </a:ln>
        </p:spPr>
      </p:cxnSp>
      <p:cxnSp>
        <p:nvCxnSpPr>
          <p:cNvPr id="11" name="Line 11"/>
          <p:cNvCxnSpPr/>
          <p:nvPr/>
        </p:nvCxnSpPr>
        <p:spPr>
          <a:xfrm>
            <a:off x="7286473" y="1732788"/>
            <a:ext cx="0" cy="2876550"/>
          </a:xfrm>
          <a:prstGeom prst="line">
            <a:avLst/>
          </a:prstGeom>
          <a:ln w="9525" cap="flat">
            <a:solidFill>
              <a:srgbClr val="E6E8F2"/>
            </a:solidFill>
          </a:ln>
        </p:spPr>
      </p:cxnSp>
      <p:cxnSp>
        <p:nvCxnSpPr>
          <p:cNvPr id="12" name="Line 12"/>
          <p:cNvCxnSpPr/>
          <p:nvPr/>
        </p:nvCxnSpPr>
        <p:spPr>
          <a:xfrm>
            <a:off x="7624610" y="1732788"/>
            <a:ext cx="0" cy="2876550"/>
          </a:xfrm>
          <a:prstGeom prst="line">
            <a:avLst/>
          </a:prstGeom>
          <a:ln w="9525" cap="flat">
            <a:solidFill>
              <a:srgbClr val="E6E8F2"/>
            </a:solidFill>
          </a:ln>
        </p:spPr>
      </p:cxnSp>
      <p:cxnSp>
        <p:nvCxnSpPr>
          <p:cNvPr id="13" name="Line 13"/>
          <p:cNvCxnSpPr/>
          <p:nvPr/>
        </p:nvCxnSpPr>
        <p:spPr>
          <a:xfrm>
            <a:off x="7962748" y="1732788"/>
            <a:ext cx="0" cy="2876550"/>
          </a:xfrm>
          <a:prstGeom prst="line">
            <a:avLst/>
          </a:prstGeom>
          <a:ln w="9525" cap="flat">
            <a:solidFill>
              <a:srgbClr val="E6E8F2"/>
            </a:solidFill>
          </a:ln>
        </p:spPr>
      </p:cxnSp>
      <p:cxnSp>
        <p:nvCxnSpPr>
          <p:cNvPr id="14" name="Line 14"/>
          <p:cNvCxnSpPr/>
          <p:nvPr/>
        </p:nvCxnSpPr>
        <p:spPr>
          <a:xfrm>
            <a:off x="8300885" y="1732788"/>
            <a:ext cx="0" cy="2876550"/>
          </a:xfrm>
          <a:prstGeom prst="line">
            <a:avLst/>
          </a:prstGeom>
          <a:ln w="9525" cap="flat">
            <a:solidFill>
              <a:srgbClr val="E6E8F2"/>
            </a:solidFill>
          </a:ln>
        </p:spPr>
      </p:cxnSp>
      <p:cxnSp>
        <p:nvCxnSpPr>
          <p:cNvPr id="15" name="Line 15"/>
          <p:cNvCxnSpPr/>
          <p:nvPr/>
        </p:nvCxnSpPr>
        <p:spPr>
          <a:xfrm>
            <a:off x="8639023" y="1732788"/>
            <a:ext cx="0" cy="2876550"/>
          </a:xfrm>
          <a:prstGeom prst="line">
            <a:avLst/>
          </a:prstGeom>
          <a:ln w="9525" cap="flat">
            <a:solidFill>
              <a:srgbClr val="E6E8F2"/>
            </a:solidFill>
          </a:ln>
        </p:spPr>
      </p:cxnSp>
      <p:cxnSp>
        <p:nvCxnSpPr>
          <p:cNvPr id="16" name="Line 16"/>
          <p:cNvCxnSpPr/>
          <p:nvPr/>
        </p:nvCxnSpPr>
        <p:spPr>
          <a:xfrm>
            <a:off x="8977160" y="1732788"/>
            <a:ext cx="0" cy="2876550"/>
          </a:xfrm>
          <a:prstGeom prst="line">
            <a:avLst/>
          </a:prstGeom>
          <a:ln w="9525" cap="flat">
            <a:solidFill>
              <a:srgbClr val="E6E8F2"/>
            </a:solidFill>
          </a:ln>
        </p:spPr>
      </p:cxnSp>
      <p:cxnSp>
        <p:nvCxnSpPr>
          <p:cNvPr id="17" name="Line 17"/>
          <p:cNvCxnSpPr/>
          <p:nvPr/>
        </p:nvCxnSpPr>
        <p:spPr>
          <a:xfrm>
            <a:off x="9315298" y="1732788"/>
            <a:ext cx="0" cy="2876550"/>
          </a:xfrm>
          <a:prstGeom prst="line">
            <a:avLst/>
          </a:prstGeom>
          <a:ln w="9525" cap="flat">
            <a:solidFill>
              <a:srgbClr val="E6E8F2"/>
            </a:solidFill>
          </a:ln>
        </p:spPr>
      </p:cxnSp>
      <p:cxnSp>
        <p:nvCxnSpPr>
          <p:cNvPr id="18" name="Line 18"/>
          <p:cNvCxnSpPr/>
          <p:nvPr/>
        </p:nvCxnSpPr>
        <p:spPr>
          <a:xfrm>
            <a:off x="6610198" y="4609338"/>
            <a:ext cx="2705100" cy="0"/>
          </a:xfrm>
          <a:prstGeom prst="line">
            <a:avLst/>
          </a:prstGeom>
          <a:ln w="9525" cap="flat">
            <a:solidFill>
              <a:srgbClr val="E6E8F2"/>
            </a:solidFill>
          </a:ln>
        </p:spPr>
      </p:cxnSp>
      <p:cxnSp>
        <p:nvCxnSpPr>
          <p:cNvPr id="19" name="Line 19"/>
          <p:cNvCxnSpPr/>
          <p:nvPr/>
        </p:nvCxnSpPr>
        <p:spPr>
          <a:xfrm>
            <a:off x="6610198" y="4369625"/>
            <a:ext cx="2705100" cy="0"/>
          </a:xfrm>
          <a:prstGeom prst="line">
            <a:avLst/>
          </a:prstGeom>
          <a:ln w="9525" cap="flat">
            <a:solidFill>
              <a:srgbClr val="E6E8F2"/>
            </a:solidFill>
          </a:ln>
        </p:spPr>
      </p:cxnSp>
      <p:cxnSp>
        <p:nvCxnSpPr>
          <p:cNvPr id="20" name="Line 20"/>
          <p:cNvCxnSpPr/>
          <p:nvPr/>
        </p:nvCxnSpPr>
        <p:spPr>
          <a:xfrm>
            <a:off x="6610198" y="4129913"/>
            <a:ext cx="2705100" cy="0"/>
          </a:xfrm>
          <a:prstGeom prst="line">
            <a:avLst/>
          </a:prstGeom>
          <a:ln w="9525" cap="flat">
            <a:solidFill>
              <a:srgbClr val="E6E8F2"/>
            </a:solidFill>
          </a:ln>
        </p:spPr>
      </p:cxnSp>
      <p:cxnSp>
        <p:nvCxnSpPr>
          <p:cNvPr id="21" name="Line 21"/>
          <p:cNvCxnSpPr/>
          <p:nvPr/>
        </p:nvCxnSpPr>
        <p:spPr>
          <a:xfrm>
            <a:off x="6610198" y="3890200"/>
            <a:ext cx="2705100" cy="0"/>
          </a:xfrm>
          <a:prstGeom prst="line">
            <a:avLst/>
          </a:prstGeom>
          <a:ln w="9525" cap="flat">
            <a:solidFill>
              <a:srgbClr val="E6E8F2"/>
            </a:solidFill>
          </a:ln>
        </p:spPr>
      </p:cxnSp>
      <p:cxnSp>
        <p:nvCxnSpPr>
          <p:cNvPr id="22" name="Line 22"/>
          <p:cNvCxnSpPr/>
          <p:nvPr/>
        </p:nvCxnSpPr>
        <p:spPr>
          <a:xfrm>
            <a:off x="6610198" y="3650488"/>
            <a:ext cx="2705100" cy="0"/>
          </a:xfrm>
          <a:prstGeom prst="line">
            <a:avLst/>
          </a:prstGeom>
          <a:ln w="9525" cap="flat">
            <a:solidFill>
              <a:srgbClr val="E6E8F2"/>
            </a:solidFill>
          </a:ln>
        </p:spPr>
      </p:cxnSp>
      <p:cxnSp>
        <p:nvCxnSpPr>
          <p:cNvPr id="23" name="Line 23"/>
          <p:cNvCxnSpPr/>
          <p:nvPr/>
        </p:nvCxnSpPr>
        <p:spPr>
          <a:xfrm>
            <a:off x="6610198" y="3410776"/>
            <a:ext cx="2705100" cy="0"/>
          </a:xfrm>
          <a:prstGeom prst="line">
            <a:avLst/>
          </a:prstGeom>
          <a:ln w="9525" cap="flat">
            <a:solidFill>
              <a:srgbClr val="E6E8F2"/>
            </a:solidFill>
          </a:ln>
        </p:spPr>
      </p:cxnSp>
      <p:cxnSp>
        <p:nvCxnSpPr>
          <p:cNvPr id="24" name="Line 24"/>
          <p:cNvCxnSpPr/>
          <p:nvPr/>
        </p:nvCxnSpPr>
        <p:spPr>
          <a:xfrm>
            <a:off x="6610198" y="3171063"/>
            <a:ext cx="2705100" cy="0"/>
          </a:xfrm>
          <a:prstGeom prst="line">
            <a:avLst/>
          </a:prstGeom>
          <a:ln w="9525" cap="flat">
            <a:solidFill>
              <a:srgbClr val="E6E8F2"/>
            </a:solidFill>
          </a:ln>
        </p:spPr>
      </p:cxnSp>
      <p:cxnSp>
        <p:nvCxnSpPr>
          <p:cNvPr id="25" name="Line 25"/>
          <p:cNvCxnSpPr/>
          <p:nvPr/>
        </p:nvCxnSpPr>
        <p:spPr>
          <a:xfrm>
            <a:off x="6610198" y="2931350"/>
            <a:ext cx="2705100" cy="0"/>
          </a:xfrm>
          <a:prstGeom prst="line">
            <a:avLst/>
          </a:prstGeom>
          <a:ln w="9525" cap="flat">
            <a:solidFill>
              <a:srgbClr val="E6E8F2"/>
            </a:solidFill>
          </a:ln>
        </p:spPr>
      </p:cxnSp>
      <p:cxnSp>
        <p:nvCxnSpPr>
          <p:cNvPr id="26" name="Line 26"/>
          <p:cNvCxnSpPr/>
          <p:nvPr/>
        </p:nvCxnSpPr>
        <p:spPr>
          <a:xfrm>
            <a:off x="6610198" y="2691638"/>
            <a:ext cx="2705100" cy="0"/>
          </a:xfrm>
          <a:prstGeom prst="line">
            <a:avLst/>
          </a:prstGeom>
          <a:ln w="9525" cap="flat">
            <a:solidFill>
              <a:srgbClr val="E6E8F2"/>
            </a:solidFill>
          </a:ln>
        </p:spPr>
      </p:cxnSp>
      <p:cxnSp>
        <p:nvCxnSpPr>
          <p:cNvPr id="27" name="Line 27"/>
          <p:cNvCxnSpPr/>
          <p:nvPr/>
        </p:nvCxnSpPr>
        <p:spPr>
          <a:xfrm>
            <a:off x="6610198" y="2451926"/>
            <a:ext cx="2705100" cy="0"/>
          </a:xfrm>
          <a:prstGeom prst="line">
            <a:avLst/>
          </a:prstGeom>
          <a:ln w="9525" cap="flat">
            <a:solidFill>
              <a:srgbClr val="E6E8F2"/>
            </a:solidFill>
          </a:ln>
        </p:spPr>
      </p:cxnSp>
      <p:cxnSp>
        <p:nvCxnSpPr>
          <p:cNvPr id="28" name="Line 28"/>
          <p:cNvCxnSpPr/>
          <p:nvPr/>
        </p:nvCxnSpPr>
        <p:spPr>
          <a:xfrm>
            <a:off x="6610198" y="2212213"/>
            <a:ext cx="2705100" cy="0"/>
          </a:xfrm>
          <a:prstGeom prst="line">
            <a:avLst/>
          </a:prstGeom>
          <a:ln w="9525" cap="flat">
            <a:solidFill>
              <a:srgbClr val="E6E8F2"/>
            </a:solidFill>
          </a:ln>
        </p:spPr>
      </p:cxnSp>
      <p:cxnSp>
        <p:nvCxnSpPr>
          <p:cNvPr id="29" name="Line 29"/>
          <p:cNvCxnSpPr/>
          <p:nvPr/>
        </p:nvCxnSpPr>
        <p:spPr>
          <a:xfrm>
            <a:off x="6610198" y="1972500"/>
            <a:ext cx="2705100" cy="0"/>
          </a:xfrm>
          <a:prstGeom prst="line">
            <a:avLst/>
          </a:prstGeom>
          <a:ln w="9525" cap="flat">
            <a:solidFill>
              <a:srgbClr val="E6E8F2"/>
            </a:solidFill>
          </a:ln>
        </p:spPr>
      </p:cxnSp>
      <p:cxnSp>
        <p:nvCxnSpPr>
          <p:cNvPr id="30" name="Line 30"/>
          <p:cNvCxnSpPr/>
          <p:nvPr/>
        </p:nvCxnSpPr>
        <p:spPr>
          <a:xfrm>
            <a:off x="6610198" y="1732788"/>
            <a:ext cx="2705100" cy="0"/>
          </a:xfrm>
          <a:prstGeom prst="line">
            <a:avLst/>
          </a:prstGeom>
          <a:ln w="9525" cap="flat">
            <a:solidFill>
              <a:srgbClr val="E6E8F2"/>
            </a:solidFill>
          </a:ln>
        </p:spPr>
      </p:cxnSp>
      <p:cxnSp>
        <p:nvCxnSpPr>
          <p:cNvPr id="31" name="Line 31"/>
          <p:cNvCxnSpPr/>
          <p:nvPr/>
        </p:nvCxnSpPr>
        <p:spPr>
          <a:xfrm>
            <a:off x="7962748" y="1732788"/>
            <a:ext cx="0" cy="2876550"/>
          </a:xfrm>
          <a:prstGeom prst="line">
            <a:avLst/>
          </a:prstGeom>
          <a:ln w="19050" cap="flat">
            <a:solidFill>
              <a:srgbClr val="5F6272"/>
            </a:solidFill>
          </a:ln>
        </p:spPr>
      </p:cxnSp>
      <p:cxnSp>
        <p:nvCxnSpPr>
          <p:cNvPr id="32" name="Line 32"/>
          <p:cNvCxnSpPr/>
          <p:nvPr/>
        </p:nvCxnSpPr>
        <p:spPr>
          <a:xfrm>
            <a:off x="6610198" y="3171063"/>
            <a:ext cx="2705100" cy="0"/>
          </a:xfrm>
          <a:prstGeom prst="line">
            <a:avLst/>
          </a:prstGeom>
          <a:ln w="19050" cap="flat">
            <a:solidFill>
              <a:srgbClr val="5F6272"/>
            </a:solidFill>
          </a:ln>
        </p:spPr>
      </p:cxnSp>
      <p:sp>
        <p:nvSpPr>
          <p:cNvPr id="33" name="Shape 33"/>
          <p:cNvSpPr txBox="1"/>
          <p:nvPr/>
        </p:nvSpPr>
        <p:spPr>
          <a:xfrm>
            <a:off x="6335878"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34" name="Shape 34"/>
          <p:cNvSpPr txBox="1"/>
          <p:nvPr/>
        </p:nvSpPr>
        <p:spPr>
          <a:xfrm>
            <a:off x="6674015"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35" name="Shape 35"/>
          <p:cNvSpPr txBox="1"/>
          <p:nvPr/>
        </p:nvSpPr>
        <p:spPr>
          <a:xfrm>
            <a:off x="7012153"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36" name="Shape 36"/>
          <p:cNvSpPr txBox="1"/>
          <p:nvPr/>
        </p:nvSpPr>
        <p:spPr>
          <a:xfrm>
            <a:off x="7350290"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37" name="Shape 37"/>
          <p:cNvSpPr txBox="1"/>
          <p:nvPr/>
        </p:nvSpPr>
        <p:spPr>
          <a:xfrm>
            <a:off x="7688428"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38" name="Shape 38"/>
          <p:cNvSpPr txBox="1"/>
          <p:nvPr/>
        </p:nvSpPr>
        <p:spPr>
          <a:xfrm>
            <a:off x="8026565"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39" name="Shape 39"/>
          <p:cNvSpPr txBox="1"/>
          <p:nvPr/>
        </p:nvSpPr>
        <p:spPr>
          <a:xfrm>
            <a:off x="8364703"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0" name="Shape 40"/>
          <p:cNvSpPr txBox="1"/>
          <p:nvPr/>
        </p:nvSpPr>
        <p:spPr>
          <a:xfrm>
            <a:off x="8702840"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41" name="Shape 41"/>
          <p:cNvSpPr txBox="1"/>
          <p:nvPr/>
        </p:nvSpPr>
        <p:spPr>
          <a:xfrm>
            <a:off x="9040978"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2" name="Shape 42"/>
          <p:cNvSpPr txBox="1"/>
          <p:nvPr/>
        </p:nvSpPr>
        <p:spPr>
          <a:xfrm>
            <a:off x="6043270" y="45178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43" name="Shape 43"/>
          <p:cNvSpPr txBox="1"/>
          <p:nvPr/>
        </p:nvSpPr>
        <p:spPr>
          <a:xfrm>
            <a:off x="6043270" y="403847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44" name="Shape 44"/>
          <p:cNvSpPr txBox="1"/>
          <p:nvPr/>
        </p:nvSpPr>
        <p:spPr>
          <a:xfrm>
            <a:off x="6043270" y="35590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45" name="Shape 45"/>
          <p:cNvSpPr txBox="1"/>
          <p:nvPr/>
        </p:nvSpPr>
        <p:spPr>
          <a:xfrm>
            <a:off x="6043270" y="307962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46" name="Shape 46"/>
          <p:cNvSpPr txBox="1"/>
          <p:nvPr/>
        </p:nvSpPr>
        <p:spPr>
          <a:xfrm>
            <a:off x="6043270" y="26001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47" name="Shape 47"/>
          <p:cNvSpPr txBox="1"/>
          <p:nvPr/>
        </p:nvSpPr>
        <p:spPr>
          <a:xfrm>
            <a:off x="6043270" y="212077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48" name="Shape 48"/>
          <p:cNvSpPr txBox="1"/>
          <p:nvPr/>
        </p:nvSpPr>
        <p:spPr>
          <a:xfrm>
            <a:off x="6043270" y="16413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cxnSp>
        <p:nvCxnSpPr>
          <p:cNvPr id="49" name="Line 49"/>
          <p:cNvCxnSpPr/>
          <p:nvPr/>
        </p:nvCxnSpPr>
        <p:spPr>
          <a:xfrm flipV="1">
            <a:off x="7117404" y="1732788"/>
            <a:ext cx="2028825" cy="2876550"/>
          </a:xfrm>
          <a:prstGeom prst="line">
            <a:avLst/>
          </a:prstGeom>
          <a:ln w="38100" cap="rnd">
            <a:solidFill>
              <a:srgbClr val="16171D"/>
            </a:solidFill>
          </a:ln>
        </p:spPr>
      </p:cxnSp>
      <p:sp>
        <p:nvSpPr>
          <p:cNvPr id="50" name="Shape 50"/>
          <p:cNvSpPr txBox="1"/>
          <p:nvPr/>
        </p:nvSpPr>
        <p:spPr>
          <a:xfrm>
            <a:off x="6654489" y="1751838"/>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m(x)</a:t>
            </a:r>
            <a:endParaRPr lang="en-US" sz="1275" dirty="0"/>
          </a:p>
        </p:txBody>
      </p:sp>
      <p:cxnSp>
        <p:nvCxnSpPr>
          <p:cNvPr id="51" name="Line 51"/>
          <p:cNvCxnSpPr/>
          <p:nvPr/>
        </p:nvCxnSpPr>
        <p:spPr>
          <a:xfrm flipV="1">
            <a:off x="7793679" y="1732788"/>
            <a:ext cx="676275" cy="2876550"/>
          </a:xfrm>
          <a:prstGeom prst="line">
            <a:avLst/>
          </a:prstGeom>
          <a:ln w="38100" cap="rnd">
            <a:solidFill>
              <a:srgbClr val="4F8A3C"/>
            </a:solidFill>
          </a:ln>
        </p:spPr>
      </p:cxnSp>
      <p:cxnSp>
        <p:nvCxnSpPr>
          <p:cNvPr id="52" name="Line 52"/>
          <p:cNvCxnSpPr/>
          <p:nvPr/>
        </p:nvCxnSpPr>
        <p:spPr>
          <a:xfrm flipV="1">
            <a:off x="7680966" y="1732788"/>
            <a:ext cx="676275" cy="2876550"/>
          </a:xfrm>
          <a:prstGeom prst="line">
            <a:avLst/>
          </a:prstGeom>
          <a:ln w="38100" cap="rnd">
            <a:solidFill>
              <a:srgbClr val="7A4FC4"/>
            </a:solidFill>
          </a:ln>
        </p:spPr>
      </p:cxnSp>
      <p:sp>
        <p:nvSpPr>
          <p:cNvPr id="53" name="Slide Number 53"/>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30</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ppt_w</p:attrName>
                                        </p:attrNameLst>
                                      </p:cBhvr>
                                      <p:tavLst>
                                        <p:tav tm="0">
                                          <p:val>
                                            <p:fltVal val="0"/>
                                          </p:val>
                                        </p:tav>
                                        <p:tav tm="100000">
                                          <p:val>
                                            <p:strVal val="#ppt_w"/>
                                          </p:val>
                                        </p:tav>
                                      </p:tavLst>
                                    </p:anim>
                                    <p:anim calcmode="lin" valueType="num">
                                      <p:cBhvr>
                                        <p:cTn id="13" dur="500" fill="hold"/>
                                        <p:tgtEl>
                                          <p:spTgt spid="6"/>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500"/>
                                        <p:tgtEl>
                                          <p:spTgt spid="7"/>
                                        </p:tgtEl>
                                      </p:cBhvr>
                                    </p:animEffect>
                                    <p:anim calcmode="lin" valueType="num">
                                      <p:cBhvr>
                                        <p:cTn id="19" dur="500" fill="hold"/>
                                        <p:tgtEl>
                                          <p:spTgt spid="7"/>
                                        </p:tgtEl>
                                        <p:attrNameLst>
                                          <p:attrName>ppt_x</p:attrName>
                                        </p:attrNameLst>
                                      </p:cBhvr>
                                      <p:tavLst>
                                        <p:tav tm="0">
                                          <p:val>
                                            <p:strVal val="#ppt_x"/>
                                          </p:val>
                                        </p:tav>
                                        <p:tav tm="100000">
                                          <p:val>
                                            <p:strVal val="#ppt_x"/>
                                          </p:val>
                                        </p:tav>
                                      </p:tavLst>
                                    </p:anim>
                                    <p:anim calcmode="lin" valueType="num">
                                      <p:cBhvr>
                                        <p:cTn id="20"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6" presetID="22" presetClass="entr" presetSubtype="8" fill="hold" nodeType="clickEffect">
                                  <p:stCondLst>
                                    <p:cond delay="0"/>
                                  </p:stCondLst>
                                  <p:childTnLst>
                                    <p:set>
                                      <p:cBhvr>
                                        <p:cTn id="24" dur="1" fill="hold">
                                          <p:stCondLst>
                                            <p:cond delay="0"/>
                                          </p:stCondLst>
                                        </p:cTn>
                                        <p:tgtEl>
                                          <p:spTgt spid="51"/>
                                        </p:tgtEl>
                                        <p:attrNameLst>
                                          <p:attrName>style.visibility</p:attrName>
                                        </p:attrNameLst>
                                      </p:cBhvr>
                                      <p:to>
                                        <p:strVal val="visible"/>
                                      </p:to>
                                    </p:set>
                                    <p:animEffect transition="in" filter="wipe(left)">
                                      <p:cBhvr>
                                        <p:cTn id="25" dur="700"/>
                                        <p:tgtEl>
                                          <p:spTgt spid="51"/>
                                        </p:tgtEl>
                                      </p:cBhvr>
                                    </p:animEffect>
                                  </p:childTnLst>
                                </p:cTn>
                              </p:par>
                            </p:childTnLst>
                          </p:cTn>
                        </p:par>
                      </p:childTnLst>
                    </p:cTn>
                  </p:par>
                  <p:par>
                    <p:cTn id="32" fill="hold">
                      <p:stCondLst>
                        <p:cond delay="indefinite"/>
                      </p:stCondLst>
                      <p:childTnLst>
                        <p:par>
                          <p:cTn id="33" fill="hold">
                            <p:stCondLst>
                              <p:cond delay="0"/>
                            </p:stCondLst>
                            <p:childTnLst>
                              <p:par>
                                <p:cTn id="31" presetID="22" presetClass="entr" presetSubtype="8" fill="hold" nodeType="clickEffect">
                                  <p:stCondLst>
                                    <p:cond delay="0"/>
                                  </p:stCondLst>
                                  <p:childTnLst>
                                    <p:set>
                                      <p:cBhvr>
                                        <p:cTn id="29" dur="1" fill="hold">
                                          <p:stCondLst>
                                            <p:cond delay="0"/>
                                          </p:stCondLst>
                                        </p:cTn>
                                        <p:tgtEl>
                                          <p:spTgt spid="52"/>
                                        </p:tgtEl>
                                        <p:attrNameLst>
                                          <p:attrName>style.visibility</p:attrName>
                                        </p:attrNameLst>
                                      </p:cBhvr>
                                      <p:to>
                                        <p:strVal val="visible"/>
                                      </p:to>
                                    </p:set>
                                    <p:animEffect transition="in" filter="wipe(left)">
                                      <p:cBhvr>
                                        <p:cTn id="30" dur="700"/>
                                        <p:tgtEl>
                                          <p:spTgt spid="5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Activity 2.3 · Graphing Linear Transformations · SE pp. 298–300 · ★ Essential</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Describe each transformation of </a:t>
            </a:r>
            <a:r>
              <a:rPr lang="en-US" sz="3450" dirty="0" b="1" i="1">
                <a:solidFill>
                  <a:srgbClr val="16171D"/>
                </a:solidFill>
                <a:latin typeface="Cambria"/>
                <a:cs typeface="Cambria"/>
              </a:rPr>
              <a:t xml:space="preserve">f</a:t>
            </a:r>
            <a:r>
              <a:rPr lang="en-US" sz="3450" dirty="0" b="1">
                <a:solidFill>
                  <a:srgbClr val="16171D"/>
                </a:solidFill>
                <a:latin typeface="Cambria"/>
                <a:cs typeface="Cambria"/>
              </a:rPr>
              <a:t xml:space="preserve">(</a:t>
            </a:r>
            <a:r>
              <a:rPr lang="en-US" sz="3450" dirty="0" b="1" i="1">
                <a:solidFill>
                  <a:srgbClr val="16171D"/>
                </a:solidFill>
                <a:latin typeface="Cambria"/>
                <a:cs typeface="Cambria"/>
              </a:rPr>
              <a:t xml:space="preserve">x</a:t>
            </a:r>
            <a:r>
              <a:rPr lang="en-US" sz="3450" dirty="0" b="1">
                <a:solidFill>
                  <a:srgbClr val="16171D"/>
                </a:solidFill>
                <a:latin typeface="Cambria"/>
                <a:cs typeface="Cambria"/>
              </a:rPr>
              <a:t xml:space="preserve">) = </a:t>
            </a:r>
            <a:r>
              <a:rPr lang="en-US" sz="3450" dirty="0" b="1" i="1">
                <a:solidFill>
                  <a:srgbClr val="16171D"/>
                </a:solidFill>
                <a:latin typeface="Cambria"/>
                <a:cs typeface="Cambria"/>
              </a:rPr>
              <a:t xml:space="preserve">x</a:t>
            </a:r>
            <a:endParaRPr lang="en-US" sz="3450" dirty="0"/>
          </a:p>
        </p:txBody>
      </p:sp>
      <p:sp>
        <p:nvSpPr>
          <p:cNvPr id="7" name="Shape 7"/>
          <p:cNvSpPr txBox="1"/>
          <p:nvPr/>
        </p:nvSpPr>
        <p:spPr>
          <a:xfrm>
            <a:off x="685800" y="1618488"/>
            <a:ext cx="3492398" cy="20764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1. </a:t>
            </a:r>
            <a:r>
              <a:rPr lang="en-US" sz="2100" dirty="0" b="1" i="1">
                <a:solidFill>
                  <a:srgbClr val="16171D"/>
                </a:solidFill>
                <a:latin typeface="Cambria"/>
                <a:cs typeface="Cambria"/>
              </a:rPr>
              <a:t xml:space="preserve">g</a:t>
            </a:r>
            <a:r>
              <a:rPr lang="en-US" sz="2100" dirty="0" b="1">
                <a:solidFill>
                  <a:srgbClr val="16171D"/>
                </a:solidFill>
                <a:latin typeface="Cambria"/>
                <a:cs typeface="Cambria"/>
              </a:rPr>
              <a:t xml:space="preserve">(</a:t>
            </a:r>
            <a:r>
              <a:rPr lang="en-US" sz="2100" dirty="0" b="1" i="1">
                <a:solidFill>
                  <a:srgbClr val="16171D"/>
                </a:solidFill>
                <a:latin typeface="Cambria"/>
                <a:cs typeface="Cambria"/>
              </a:rPr>
              <a:t xml:space="preserve">x</a:t>
            </a:r>
            <a:r>
              <a:rPr lang="en-US" sz="2100" dirty="0" b="1">
                <a:solidFill>
                  <a:srgbClr val="16171D"/>
                </a:solidFill>
                <a:latin typeface="Cambria"/>
                <a:cs typeface="Cambria"/>
              </a:rPr>
              <a:t xml:space="preserve">) = </a:t>
            </a:r>
            <a:r>
              <a:rPr lang="en-US" sz="2100" dirty="0" b="1" i="1">
                <a:solidFill>
                  <a:srgbClr val="16171D"/>
                </a:solidFill>
                <a:latin typeface="Cambria"/>
                <a:cs typeface="Cambria"/>
              </a:rPr>
              <a:t xml:space="preserve">f</a:t>
            </a:r>
            <a:r>
              <a:rPr lang="en-US" sz="2100" dirty="0" b="1">
                <a:solidFill>
                  <a:srgbClr val="16171D"/>
                </a:solidFill>
                <a:latin typeface="Cambria"/>
                <a:cs typeface="Cambria"/>
              </a:rPr>
              <a:t xml:space="preserve">(</a:t>
            </a:r>
            <a:r>
              <a:rPr lang="en-US" sz="2100" dirty="0" b="1" i="1">
                <a:solidFill>
                  <a:srgbClr val="16171D"/>
                </a:solidFill>
                <a:latin typeface="Cambria"/>
                <a:cs typeface="Cambria"/>
              </a:rPr>
              <a:t xml:space="preserve">x</a:t>
            </a:r>
            <a:r>
              <a:rPr lang="en-US" sz="2100" dirty="0" b="1">
                <a:solidFill>
                  <a:srgbClr val="16171D"/>
                </a:solidFill>
                <a:latin typeface="Cambria"/>
                <a:cs typeface="Cambria"/>
              </a:rPr>
              <a:t xml:space="preserve"> − 7)</a:t>
            </a:r>
            <a:endParaRPr lang="en-US" sz="2100" dirty="0"/>
          </a:p>
        </p:txBody>
      </p:sp>
      <p:sp>
        <p:nvSpPr>
          <p:cNvPr id="5" name="Shape 5"/>
          <p:cNvSpPr txBox="1"/>
          <p:nvPr/>
        </p:nvSpPr>
        <p:spPr>
          <a:xfrm>
            <a:off x="895350" y="2260092"/>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Right 7</a:t>
            </a:r>
            <a:endParaRPr lang="en-US" sz="1575" dirty="0"/>
          </a:p>
        </p:txBody>
      </p:sp>
      <p:sp>
        <p:nvSpPr>
          <p:cNvPr id="6" name="Shape 6"/>
          <p:cNvSpPr txBox="1"/>
          <p:nvPr/>
        </p:nvSpPr>
        <p:spPr>
          <a:xfrm>
            <a:off x="895350" y="2650236"/>
            <a:ext cx="307329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g</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− 7</a:t>
            </a:r>
            <a:endParaRPr lang="en-US" sz="2325" dirty="0"/>
          </a:p>
        </p:txBody>
      </p:sp>
      <p:sp>
        <p:nvSpPr>
          <p:cNvPr id="11" name="Shape 11"/>
          <p:cNvSpPr txBox="1"/>
          <p:nvPr/>
        </p:nvSpPr>
        <p:spPr>
          <a:xfrm>
            <a:off x="4349648" y="1618488"/>
            <a:ext cx="3492398" cy="20764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4559198"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2. </a:t>
            </a:r>
            <a:r>
              <a:rPr lang="en-US" sz="2100" dirty="0" b="1" i="1">
                <a:solidFill>
                  <a:srgbClr val="16171D"/>
                </a:solidFill>
                <a:latin typeface="Cambria"/>
                <a:cs typeface="Cambria"/>
              </a:rPr>
              <a:t xml:space="preserve">g</a:t>
            </a:r>
            <a:r>
              <a:rPr lang="en-US" sz="2100" dirty="0" b="1">
                <a:solidFill>
                  <a:srgbClr val="16171D"/>
                </a:solidFill>
                <a:latin typeface="Cambria"/>
                <a:cs typeface="Cambria"/>
              </a:rPr>
              <a:t xml:space="preserve">(</a:t>
            </a:r>
            <a:r>
              <a:rPr lang="en-US" sz="2100" dirty="0" b="1" i="1">
                <a:solidFill>
                  <a:srgbClr val="16171D"/>
                </a:solidFill>
                <a:latin typeface="Cambria"/>
                <a:cs typeface="Cambria"/>
              </a:rPr>
              <a:t xml:space="preserve">x</a:t>
            </a:r>
            <a:r>
              <a:rPr lang="en-US" sz="2100" dirty="0" b="1">
                <a:solidFill>
                  <a:srgbClr val="16171D"/>
                </a:solidFill>
                <a:latin typeface="Cambria"/>
                <a:cs typeface="Cambria"/>
              </a:rPr>
              <a:t xml:space="preserve">) = 3</a:t>
            </a:r>
            <a:r>
              <a:rPr lang="en-US" sz="2100" dirty="0" b="1" i="1">
                <a:solidFill>
                  <a:srgbClr val="16171D"/>
                </a:solidFill>
                <a:latin typeface="Cambria"/>
                <a:cs typeface="Cambria"/>
              </a:rPr>
              <a:t xml:space="preserve">f</a:t>
            </a:r>
            <a:r>
              <a:rPr lang="en-US" sz="2100" dirty="0" b="1">
                <a:solidFill>
                  <a:srgbClr val="16171D"/>
                </a:solidFill>
                <a:latin typeface="Cambria"/>
                <a:cs typeface="Cambria"/>
              </a:rPr>
              <a:t xml:space="preserve">(</a:t>
            </a:r>
            <a:r>
              <a:rPr lang="en-US" sz="2100" dirty="0" b="1" i="1">
                <a:solidFill>
                  <a:srgbClr val="16171D"/>
                </a:solidFill>
                <a:latin typeface="Cambria"/>
                <a:cs typeface="Cambria"/>
              </a:rPr>
              <a:t xml:space="preserve">x</a:t>
            </a:r>
            <a:r>
              <a:rPr lang="en-US" sz="2100" dirty="0" b="1">
                <a:solidFill>
                  <a:srgbClr val="16171D"/>
                </a:solidFill>
                <a:latin typeface="Cambria"/>
                <a:cs typeface="Cambria"/>
              </a:rPr>
              <a:t xml:space="preserve">)</a:t>
            </a:r>
            <a:endParaRPr lang="en-US" sz="2100" dirty="0"/>
          </a:p>
        </p:txBody>
      </p:sp>
      <p:sp>
        <p:nvSpPr>
          <p:cNvPr id="9" name="Shape 9"/>
          <p:cNvSpPr txBox="1"/>
          <p:nvPr/>
        </p:nvSpPr>
        <p:spPr>
          <a:xfrm>
            <a:off x="4559198" y="2260092"/>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Vertical stretch by 3</a:t>
            </a:r>
            <a:endParaRPr lang="en-US" sz="1575" dirty="0"/>
          </a:p>
        </p:txBody>
      </p:sp>
      <p:sp>
        <p:nvSpPr>
          <p:cNvPr id="10" name="Shape 10"/>
          <p:cNvSpPr txBox="1"/>
          <p:nvPr/>
        </p:nvSpPr>
        <p:spPr>
          <a:xfrm>
            <a:off x="4559198" y="2650236"/>
            <a:ext cx="307329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g</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3</a:t>
            </a:r>
            <a:r>
              <a:rPr lang="en-US" sz="2325" dirty="0" i="1">
                <a:solidFill>
                  <a:srgbClr val="16171D"/>
                </a:solidFill>
                <a:latin typeface="Cambria"/>
                <a:cs typeface="Cambria"/>
              </a:rPr>
              <a:t xml:space="preserve">x</a:t>
            </a:r>
            <a:endParaRPr lang="en-US" sz="2325" dirty="0"/>
          </a:p>
        </p:txBody>
      </p:sp>
      <p:sp>
        <p:nvSpPr>
          <p:cNvPr id="15" name="Shape 15"/>
          <p:cNvSpPr txBox="1"/>
          <p:nvPr/>
        </p:nvSpPr>
        <p:spPr>
          <a:xfrm>
            <a:off x="8013497" y="1618488"/>
            <a:ext cx="3492398" cy="20764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2" name="Shape 12"/>
          <p:cNvSpPr txBox="1"/>
          <p:nvPr/>
        </p:nvSpPr>
        <p:spPr>
          <a:xfrm>
            <a:off x="8223047"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3. </a:t>
            </a:r>
            <a:r>
              <a:rPr lang="en-US" sz="2100" dirty="0" b="1" i="1">
                <a:solidFill>
                  <a:srgbClr val="16171D"/>
                </a:solidFill>
                <a:latin typeface="Cambria"/>
                <a:cs typeface="Cambria"/>
              </a:rPr>
              <a:t xml:space="preserve">g</a:t>
            </a:r>
            <a:r>
              <a:rPr lang="en-US" sz="2100" dirty="0" b="1">
                <a:solidFill>
                  <a:srgbClr val="16171D"/>
                </a:solidFill>
                <a:latin typeface="Cambria"/>
                <a:cs typeface="Cambria"/>
              </a:rPr>
              <a:t xml:space="preserve">(</a:t>
            </a:r>
            <a:r>
              <a:rPr lang="en-US" sz="2100" dirty="0" b="1" i="1">
                <a:solidFill>
                  <a:srgbClr val="16171D"/>
                </a:solidFill>
                <a:latin typeface="Cambria"/>
                <a:cs typeface="Cambria"/>
              </a:rPr>
              <a:t xml:space="preserve">x</a:t>
            </a:r>
            <a:r>
              <a:rPr lang="en-US" sz="2100" dirty="0" b="1">
                <a:solidFill>
                  <a:srgbClr val="16171D"/>
                </a:solidFill>
                <a:latin typeface="Cambria"/>
                <a:cs typeface="Cambria"/>
              </a:rPr>
              <a:t xml:space="preserve">) = </a:t>
            </a:r>
            <a:r>
              <a:rPr lang="en-US" sz="2100" dirty="0" b="1" i="1">
                <a:solidFill>
                  <a:srgbClr val="16171D"/>
                </a:solidFill>
                <a:latin typeface="Cambria"/>
                <a:cs typeface="Cambria"/>
              </a:rPr>
              <a:t xml:space="preserve">f</a:t>
            </a:r>
            <a:r>
              <a:rPr lang="en-US" sz="2100" dirty="0" b="1">
                <a:solidFill>
                  <a:srgbClr val="16171D"/>
                </a:solidFill>
                <a:latin typeface="Cambria"/>
                <a:cs typeface="Cambria"/>
              </a:rPr>
              <a:t xml:space="preserve">(</a:t>
            </a:r>
            <a:r>
              <a:rPr lang="en-US" sz="2100" dirty="0" b="1" i="1">
                <a:solidFill>
                  <a:srgbClr val="16171D"/>
                </a:solidFill>
                <a:latin typeface="Cambria"/>
                <a:cs typeface="Cambria"/>
              </a:rPr>
              <a:t xml:space="preserve">x</a:t>
            </a:r>
            <a:r>
              <a:rPr lang="en-US" sz="2100" dirty="0" b="1">
                <a:solidFill>
                  <a:srgbClr val="16171D"/>
                </a:solidFill>
                <a:latin typeface="Cambria"/>
                <a:cs typeface="Cambria"/>
              </a:rPr>
              <a:t xml:space="preserve">) + 2</a:t>
            </a:r>
            <a:endParaRPr lang="en-US" sz="2100" dirty="0"/>
          </a:p>
        </p:txBody>
      </p:sp>
      <p:sp>
        <p:nvSpPr>
          <p:cNvPr id="13" name="Shape 13"/>
          <p:cNvSpPr txBox="1"/>
          <p:nvPr/>
        </p:nvSpPr>
        <p:spPr>
          <a:xfrm>
            <a:off x="8223047" y="2260092"/>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Up 2</a:t>
            </a:r>
            <a:endParaRPr lang="en-US" sz="1575" dirty="0"/>
          </a:p>
        </p:txBody>
      </p:sp>
      <p:sp>
        <p:nvSpPr>
          <p:cNvPr id="14" name="Shape 14"/>
          <p:cNvSpPr txBox="1"/>
          <p:nvPr/>
        </p:nvSpPr>
        <p:spPr>
          <a:xfrm>
            <a:off x="8223047" y="2650236"/>
            <a:ext cx="307329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g</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endParaRPr lang="en-US" sz="2325" dirty="0"/>
          </a:p>
        </p:txBody>
      </p:sp>
      <p:sp>
        <p:nvSpPr>
          <p:cNvPr id="19" name="Shape 19"/>
          <p:cNvSpPr txBox="1"/>
          <p:nvPr/>
        </p:nvSpPr>
        <p:spPr>
          <a:xfrm>
            <a:off x="685800" y="3828288"/>
            <a:ext cx="3492398" cy="20764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6" name="Shape 16"/>
          <p:cNvSpPr txBox="1"/>
          <p:nvPr/>
        </p:nvSpPr>
        <p:spPr>
          <a:xfrm>
            <a:off x="895350" y="39997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4. </a:t>
            </a:r>
            <a:r>
              <a:rPr lang="en-US" sz="2100" dirty="0" b="1" i="1">
                <a:solidFill>
                  <a:srgbClr val="16171D"/>
                </a:solidFill>
                <a:latin typeface="Cambria"/>
                <a:cs typeface="Cambria"/>
              </a:rPr>
              <a:t xml:space="preserve">g</a:t>
            </a:r>
            <a:r>
              <a:rPr lang="en-US" sz="2100" dirty="0" b="1">
                <a:solidFill>
                  <a:srgbClr val="16171D"/>
                </a:solidFill>
                <a:latin typeface="Cambria"/>
                <a:cs typeface="Cambria"/>
              </a:rPr>
              <a:t xml:space="preserve">(</a:t>
            </a:r>
            <a:r>
              <a:rPr lang="en-US" sz="2100" dirty="0" b="1" i="1">
                <a:solidFill>
                  <a:srgbClr val="16171D"/>
                </a:solidFill>
                <a:latin typeface="Cambria"/>
                <a:cs typeface="Cambria"/>
              </a:rPr>
              <a:t xml:space="preserve">x</a:t>
            </a:r>
            <a:r>
              <a:rPr lang="en-US" sz="2100" dirty="0" b="1">
                <a:solidFill>
                  <a:srgbClr val="16171D"/>
                </a:solidFill>
                <a:latin typeface="Cambria"/>
                <a:cs typeface="Cambria"/>
              </a:rPr>
              <a:t xml:space="preserve">) = </a:t>
            </a:r>
            <a:r>
              <a:rPr lang="en-US" sz="2100" dirty="0" b="1" i="1">
                <a:solidFill>
                  <a:srgbClr val="16171D"/>
                </a:solidFill>
                <a:latin typeface="Cambria"/>
                <a:cs typeface="Cambria"/>
              </a:rPr>
              <a:t xml:space="preserve">f</a:t>
            </a:r>
            <a:r>
              <a:rPr lang="en-US" sz="2100" dirty="0" b="1">
                <a:solidFill>
                  <a:srgbClr val="16171D"/>
                </a:solidFill>
                <a:latin typeface="Cambria"/>
                <a:cs typeface="Cambria"/>
              </a:rPr>
              <a:t xml:space="preserve">(½</a:t>
            </a:r>
            <a:r>
              <a:rPr lang="en-US" sz="2100" dirty="0" b="1" i="1">
                <a:solidFill>
                  <a:srgbClr val="16171D"/>
                </a:solidFill>
                <a:latin typeface="Cambria"/>
                <a:cs typeface="Cambria"/>
              </a:rPr>
              <a:t xml:space="preserve">x</a:t>
            </a:r>
            <a:r>
              <a:rPr lang="en-US" sz="2100" dirty="0" b="1">
                <a:solidFill>
                  <a:srgbClr val="16171D"/>
                </a:solidFill>
                <a:latin typeface="Cambria"/>
                <a:cs typeface="Cambria"/>
              </a:rPr>
              <a:t xml:space="preserve">)</a:t>
            </a:r>
            <a:endParaRPr lang="en-US" sz="2100" dirty="0"/>
          </a:p>
        </p:txBody>
      </p:sp>
      <p:sp>
        <p:nvSpPr>
          <p:cNvPr id="17" name="Shape 17"/>
          <p:cNvSpPr txBox="1"/>
          <p:nvPr/>
        </p:nvSpPr>
        <p:spPr>
          <a:xfrm>
            <a:off x="895350" y="4469892"/>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Horizontal stretch by 2</a:t>
            </a:r>
            <a:endParaRPr lang="en-US" sz="1575" dirty="0"/>
          </a:p>
        </p:txBody>
      </p:sp>
      <p:sp>
        <p:nvSpPr>
          <p:cNvPr id="18" name="Shape 18"/>
          <p:cNvSpPr txBox="1"/>
          <p:nvPr/>
        </p:nvSpPr>
        <p:spPr>
          <a:xfrm>
            <a:off x="895350" y="4860036"/>
            <a:ext cx="307329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g</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½</a:t>
            </a:r>
            <a:r>
              <a:rPr lang="en-US" sz="2325" dirty="0" i="1">
                <a:solidFill>
                  <a:srgbClr val="16171D"/>
                </a:solidFill>
                <a:latin typeface="Cambria"/>
                <a:cs typeface="Cambria"/>
              </a:rPr>
              <a:t xml:space="preserve">x</a:t>
            </a:r>
            <a:endParaRPr lang="en-US" sz="2325" dirty="0"/>
          </a:p>
        </p:txBody>
      </p:sp>
      <p:sp>
        <p:nvSpPr>
          <p:cNvPr id="23" name="Shape 23"/>
          <p:cNvSpPr txBox="1"/>
          <p:nvPr/>
        </p:nvSpPr>
        <p:spPr>
          <a:xfrm>
            <a:off x="4349648" y="3828288"/>
            <a:ext cx="3492398" cy="20764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20" name="Shape 20"/>
          <p:cNvSpPr txBox="1"/>
          <p:nvPr/>
        </p:nvSpPr>
        <p:spPr>
          <a:xfrm>
            <a:off x="4559198" y="39997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5. </a:t>
            </a:r>
            <a:r>
              <a:rPr lang="en-US" sz="2100" dirty="0" b="1" i="1">
                <a:solidFill>
                  <a:srgbClr val="16171D"/>
                </a:solidFill>
                <a:latin typeface="Cambria"/>
                <a:cs typeface="Cambria"/>
              </a:rPr>
              <a:t xml:space="preserve">g</a:t>
            </a:r>
            <a:r>
              <a:rPr lang="en-US" sz="2100" dirty="0" b="1">
                <a:solidFill>
                  <a:srgbClr val="16171D"/>
                </a:solidFill>
                <a:latin typeface="Cambria"/>
                <a:cs typeface="Cambria"/>
              </a:rPr>
              <a:t xml:space="preserve">(</a:t>
            </a:r>
            <a:r>
              <a:rPr lang="en-US" sz="2100" dirty="0" b="1" i="1">
                <a:solidFill>
                  <a:srgbClr val="16171D"/>
                </a:solidFill>
                <a:latin typeface="Cambria"/>
                <a:cs typeface="Cambria"/>
              </a:rPr>
              <a:t xml:space="preserve">x</a:t>
            </a:r>
            <a:r>
              <a:rPr lang="en-US" sz="2100" dirty="0" b="1">
                <a:solidFill>
                  <a:srgbClr val="16171D"/>
                </a:solidFill>
                <a:latin typeface="Cambria"/>
                <a:cs typeface="Cambria"/>
              </a:rPr>
              <a:t xml:space="preserve">) = </a:t>
            </a:r>
            <a:r>
              <a:rPr lang="en-US" sz="2100" dirty="0" b="1" i="1">
                <a:solidFill>
                  <a:srgbClr val="16171D"/>
                </a:solidFill>
                <a:latin typeface="Cambria"/>
                <a:cs typeface="Cambria"/>
              </a:rPr>
              <a:t xml:space="preserve">f</a:t>
            </a:r>
            <a:r>
              <a:rPr lang="en-US" sz="2100" dirty="0" b="1">
                <a:solidFill>
                  <a:srgbClr val="16171D"/>
                </a:solidFill>
                <a:latin typeface="Cambria"/>
                <a:cs typeface="Cambria"/>
              </a:rPr>
              <a:t xml:space="preserve">(</a:t>
            </a:r>
            <a:r>
              <a:rPr lang="en-US" sz="2100" dirty="0" b="1" i="1">
                <a:solidFill>
                  <a:srgbClr val="16171D"/>
                </a:solidFill>
                <a:latin typeface="Cambria"/>
                <a:cs typeface="Cambria"/>
              </a:rPr>
              <a:t xml:space="preserve">x</a:t>
            </a:r>
            <a:r>
              <a:rPr lang="en-US" sz="2100" dirty="0" b="1">
                <a:solidFill>
                  <a:srgbClr val="16171D"/>
                </a:solidFill>
                <a:latin typeface="Cambria"/>
                <a:cs typeface="Cambria"/>
              </a:rPr>
              <a:t xml:space="preserve">) − 4</a:t>
            </a:r>
            <a:endParaRPr lang="en-US" sz="2100" dirty="0"/>
          </a:p>
        </p:txBody>
      </p:sp>
      <p:sp>
        <p:nvSpPr>
          <p:cNvPr id="21" name="Shape 21"/>
          <p:cNvSpPr txBox="1"/>
          <p:nvPr/>
        </p:nvSpPr>
        <p:spPr>
          <a:xfrm>
            <a:off x="4559198" y="4469892"/>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Down 4</a:t>
            </a:r>
            <a:endParaRPr lang="en-US" sz="1575" dirty="0"/>
          </a:p>
        </p:txBody>
      </p:sp>
      <p:sp>
        <p:nvSpPr>
          <p:cNvPr id="22" name="Shape 22"/>
          <p:cNvSpPr txBox="1"/>
          <p:nvPr/>
        </p:nvSpPr>
        <p:spPr>
          <a:xfrm>
            <a:off x="4559198" y="4860036"/>
            <a:ext cx="307329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g</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a:t>
            </a:r>
            <a:endParaRPr lang="en-US" sz="2325" dirty="0"/>
          </a:p>
        </p:txBody>
      </p:sp>
      <p:sp>
        <p:nvSpPr>
          <p:cNvPr id="27" name="Shape 27"/>
          <p:cNvSpPr txBox="1"/>
          <p:nvPr/>
        </p:nvSpPr>
        <p:spPr>
          <a:xfrm>
            <a:off x="8013497" y="3828288"/>
            <a:ext cx="3492398" cy="20764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24" name="Shape 24"/>
          <p:cNvSpPr txBox="1"/>
          <p:nvPr/>
        </p:nvSpPr>
        <p:spPr>
          <a:xfrm>
            <a:off x="8223047" y="39997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6. </a:t>
            </a:r>
            <a:r>
              <a:rPr lang="en-US" sz="2100" dirty="0" b="1" i="1">
                <a:solidFill>
                  <a:srgbClr val="16171D"/>
                </a:solidFill>
                <a:latin typeface="Cambria"/>
                <a:cs typeface="Cambria"/>
              </a:rPr>
              <a:t xml:space="preserve">g</a:t>
            </a:r>
            <a:r>
              <a:rPr lang="en-US" sz="2100" dirty="0" b="1">
                <a:solidFill>
                  <a:srgbClr val="16171D"/>
                </a:solidFill>
                <a:latin typeface="Cambria"/>
                <a:cs typeface="Cambria"/>
              </a:rPr>
              <a:t xml:space="preserve">(</a:t>
            </a:r>
            <a:r>
              <a:rPr lang="en-US" sz="2100" dirty="0" b="1" i="1">
                <a:solidFill>
                  <a:srgbClr val="16171D"/>
                </a:solidFill>
                <a:latin typeface="Cambria"/>
                <a:cs typeface="Cambria"/>
              </a:rPr>
              <a:t xml:space="preserve">x</a:t>
            </a:r>
            <a:r>
              <a:rPr lang="en-US" sz="2100" dirty="0" b="1">
                <a:solidFill>
                  <a:srgbClr val="16171D"/>
                </a:solidFill>
                <a:latin typeface="Cambria"/>
                <a:cs typeface="Cambria"/>
              </a:rPr>
              <a:t xml:space="preserve">) = </a:t>
            </a:r>
            <a:r>
              <a:rPr lang="en-US" sz="2100" dirty="0" b="1" i="1">
                <a:solidFill>
                  <a:srgbClr val="16171D"/>
                </a:solidFill>
                <a:latin typeface="Cambria"/>
                <a:cs typeface="Cambria"/>
              </a:rPr>
              <a:t xml:space="preserve">f</a:t>
            </a:r>
            <a:r>
              <a:rPr lang="en-US" sz="2100" dirty="0" b="1">
                <a:solidFill>
                  <a:srgbClr val="16171D"/>
                </a:solidFill>
                <a:latin typeface="Cambria"/>
                <a:cs typeface="Cambria"/>
              </a:rPr>
              <a:t xml:space="preserve">(</a:t>
            </a:r>
            <a:r>
              <a:rPr lang="en-US" sz="2100" dirty="0" b="1" i="1">
                <a:solidFill>
                  <a:srgbClr val="16171D"/>
                </a:solidFill>
                <a:latin typeface="Cambria"/>
                <a:cs typeface="Cambria"/>
              </a:rPr>
              <a:t xml:space="preserve">x</a:t>
            </a:r>
            <a:r>
              <a:rPr lang="en-US" sz="2100" dirty="0" b="1">
                <a:solidFill>
                  <a:srgbClr val="16171D"/>
                </a:solidFill>
                <a:latin typeface="Cambria"/>
                <a:cs typeface="Cambria"/>
              </a:rPr>
              <a:t xml:space="preserve"> + 5)</a:t>
            </a:r>
            <a:endParaRPr lang="en-US" sz="2100" dirty="0"/>
          </a:p>
        </p:txBody>
      </p:sp>
      <p:sp>
        <p:nvSpPr>
          <p:cNvPr id="25" name="Shape 25"/>
          <p:cNvSpPr txBox="1"/>
          <p:nvPr/>
        </p:nvSpPr>
        <p:spPr>
          <a:xfrm>
            <a:off x="8223047" y="4469892"/>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Left 5</a:t>
            </a:r>
            <a:endParaRPr lang="en-US" sz="1575" dirty="0"/>
          </a:p>
        </p:txBody>
      </p:sp>
      <p:sp>
        <p:nvSpPr>
          <p:cNvPr id="26" name="Shape 26"/>
          <p:cNvSpPr txBox="1"/>
          <p:nvPr/>
        </p:nvSpPr>
        <p:spPr>
          <a:xfrm>
            <a:off x="8223047" y="4860036"/>
            <a:ext cx="307329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g</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+ 5</a:t>
            </a:r>
            <a:endParaRPr lang="en-US" sz="2325" dirty="0"/>
          </a:p>
        </p:txBody>
      </p:sp>
      <p:sp>
        <p:nvSpPr>
          <p:cNvPr id="28" name="Slide Number 28"/>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31</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ppt_w</p:attrName>
                                        </p:attrNameLst>
                                      </p:cBhvr>
                                      <p:tavLst>
                                        <p:tav tm="0">
                                          <p:val>
                                            <p:fltVal val="0"/>
                                          </p:val>
                                        </p:tav>
                                        <p:tav tm="100000">
                                          <p:val>
                                            <p:strVal val="#ppt_w"/>
                                          </p:val>
                                        </p:tav>
                                      </p:tavLst>
                                    </p:anim>
                                    <p:anim calcmode="lin" valueType="num">
                                      <p:cBhvr>
                                        <p:cTn id="13" dur="500" fill="hold"/>
                                        <p:tgtEl>
                                          <p:spTgt spid="6"/>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ppt_x</p:attrName>
                                        </p:attrNameLst>
                                      </p:cBhvr>
                                      <p:tavLst>
                                        <p:tav tm="0">
                                          <p:val>
                                            <p:strVal val="#ppt_x"/>
                                          </p:val>
                                        </p:tav>
                                        <p:tav tm="100000">
                                          <p:val>
                                            <p:strVal val="#ppt_x"/>
                                          </p:val>
                                        </p:tav>
                                      </p:tavLst>
                                    </p:anim>
                                    <p:anim calcmode="lin" valueType="num">
                                      <p:cBhvr>
                                        <p:cTn id="20" dur="500" fill="hold"/>
                                        <p:tgtEl>
                                          <p:spTgt spid="9"/>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0"/>
                                        </p:tgtEl>
                                        <p:attrNameLst>
                                          <p:attrName>style.visibility</p:attrName>
                                        </p:attrNameLst>
                                      </p:cBhvr>
                                      <p:to>
                                        <p:strVal val="visible"/>
                                      </p:to>
                                    </p:set>
                                    <p:animEffect transition="in" filter="fade">
                                      <p:cBhvr>
                                        <p:cTn id="25" dur="500"/>
                                        <p:tgtEl>
                                          <p:spTgt spid="10"/>
                                        </p:tgtEl>
                                      </p:cBhvr>
                                    </p:animEffect>
                                    <p:anim calcmode="lin" valueType="num">
                                      <p:cBhvr>
                                        <p:cTn id="26" dur="500" fill="hold"/>
                                        <p:tgtEl>
                                          <p:spTgt spid="10"/>
                                        </p:tgtEl>
                                        <p:attrNameLst>
                                          <p:attrName>ppt_w</p:attrName>
                                        </p:attrNameLst>
                                      </p:cBhvr>
                                      <p:tavLst>
                                        <p:tav tm="0">
                                          <p:val>
                                            <p:fltVal val="0"/>
                                          </p:val>
                                        </p:tav>
                                        <p:tav tm="100000">
                                          <p:val>
                                            <p:strVal val="#ppt_w"/>
                                          </p:val>
                                        </p:tav>
                                      </p:tavLst>
                                    </p:anim>
                                    <p:anim calcmode="lin" valueType="num">
                                      <p:cBhvr>
                                        <p:cTn id="27" dur="500" fill="hold"/>
                                        <p:tgtEl>
                                          <p:spTgt spid="10"/>
                                        </p:tgtEl>
                                        <p:attrNameLst>
                                          <p:attrName>ppt_h</p:attrName>
                                        </p:attrNameLst>
                                      </p:cBhvr>
                                      <p:tavLst>
                                        <p:tav tm="0">
                                          <p:val>
                                            <p:fltVal val="0"/>
                                          </p:val>
                                        </p:tav>
                                        <p:tav tm="100000">
                                          <p:val>
                                            <p:strVal val="#ppt_h"/>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13"/>
                                        </p:tgtEl>
                                        <p:attrNameLst>
                                          <p:attrName>style.visibility</p:attrName>
                                        </p:attrNameLst>
                                      </p:cBhvr>
                                      <p:to>
                                        <p:strVal val="visible"/>
                                      </p:to>
                                    </p:set>
                                    <p:animEffect transition="in" filter="fade">
                                      <p:cBhvr>
                                        <p:cTn id="32" dur="500"/>
                                        <p:tgtEl>
                                          <p:spTgt spid="13"/>
                                        </p:tgtEl>
                                      </p:cBhvr>
                                    </p:animEffect>
                                    <p:anim calcmode="lin" valueType="num">
                                      <p:cBhvr>
                                        <p:cTn id="33" dur="500" fill="hold"/>
                                        <p:tgtEl>
                                          <p:spTgt spid="13"/>
                                        </p:tgtEl>
                                        <p:attrNameLst>
                                          <p:attrName>ppt_x</p:attrName>
                                        </p:attrNameLst>
                                      </p:cBhvr>
                                      <p:tavLst>
                                        <p:tav tm="0">
                                          <p:val>
                                            <p:strVal val="#ppt_x"/>
                                          </p:val>
                                        </p:tav>
                                        <p:tav tm="100000">
                                          <p:val>
                                            <p:strVal val="#ppt_x"/>
                                          </p:val>
                                        </p:tav>
                                      </p:tavLst>
                                    </p:anim>
                                    <p:anim calcmode="lin" valueType="num">
                                      <p:cBhvr>
                                        <p:cTn id="34" dur="500" fill="hold"/>
                                        <p:tgtEl>
                                          <p:spTgt spid="13"/>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2" presetID="53" presetClass="entr" presetSubtype="16" fill="hold" nodeType="clickEffect">
                                  <p:stCondLst>
                                    <p:cond delay="0"/>
                                  </p:stCondLst>
                                  <p:childTnLst>
                                    <p:set>
                                      <p:cBhvr>
                                        <p:cTn id="38" dur="1" fill="hold">
                                          <p:stCondLst>
                                            <p:cond delay="0"/>
                                          </p:stCondLst>
                                        </p:cTn>
                                        <p:tgtEl>
                                          <p:spTgt spid="14"/>
                                        </p:tgtEl>
                                        <p:attrNameLst>
                                          <p:attrName>style.visibility</p:attrName>
                                        </p:attrNameLst>
                                      </p:cBhvr>
                                      <p:to>
                                        <p:strVal val="visible"/>
                                      </p:to>
                                    </p:set>
                                    <p:animEffect transition="in" filter="fade">
                                      <p:cBhvr>
                                        <p:cTn id="39" dur="500"/>
                                        <p:tgtEl>
                                          <p:spTgt spid="14"/>
                                        </p:tgtEl>
                                      </p:cBhvr>
                                    </p:animEffect>
                                    <p:anim calcmode="lin" valueType="num">
                                      <p:cBhvr>
                                        <p:cTn id="40" dur="500" fill="hold"/>
                                        <p:tgtEl>
                                          <p:spTgt spid="14"/>
                                        </p:tgtEl>
                                        <p:attrNameLst>
                                          <p:attrName>ppt_w</p:attrName>
                                        </p:attrNameLst>
                                      </p:cBhvr>
                                      <p:tavLst>
                                        <p:tav tm="0">
                                          <p:val>
                                            <p:fltVal val="0"/>
                                          </p:val>
                                        </p:tav>
                                        <p:tav tm="100000">
                                          <p:val>
                                            <p:strVal val="#ppt_w"/>
                                          </p:val>
                                        </p:tav>
                                      </p:tavLst>
                                    </p:anim>
                                    <p:anim calcmode="lin" valueType="num">
                                      <p:cBhvr>
                                        <p:cTn id="41" dur="500" fill="hold"/>
                                        <p:tgtEl>
                                          <p:spTgt spid="14"/>
                                        </p:tgtEl>
                                        <p:attrNameLst>
                                          <p:attrName>ppt_h</p:attrName>
                                        </p:attrNameLst>
                                      </p:cBhvr>
                                      <p:tavLst>
                                        <p:tav tm="0">
                                          <p:val>
                                            <p:fltVal val="0"/>
                                          </p:val>
                                        </p:tav>
                                        <p:tav tm="100000">
                                          <p:val>
                                            <p:strVal val="#ppt_h"/>
                                          </p:val>
                                        </p:tav>
                                      </p:tavLst>
                                    </p:anim>
                                  </p:childTnLst>
                                </p:cTn>
                              </p:par>
                            </p:childTnLst>
                          </p:cTn>
                        </p:par>
                      </p:childTnLst>
                    </p:cTn>
                  </p:par>
                  <p:par>
                    <p:cTn id="50" fill="hold">
                      <p:stCondLst>
                        <p:cond delay="indefinite"/>
                      </p:stCondLst>
                      <p:childTnLst>
                        <p:par>
                          <p:cTn id="51" fill="hold">
                            <p:stCondLst>
                              <p:cond delay="0"/>
                            </p:stCondLst>
                            <p:childTnLst>
                              <p:par>
                                <p:cTn id="49" presetID="42" presetClass="entr" presetSubtype="0" fill="hold" nodeType="clickEffect">
                                  <p:stCondLst>
                                    <p:cond delay="0"/>
                                  </p:stCondLst>
                                  <p:childTnLst>
                                    <p:set>
                                      <p:cBhvr>
                                        <p:cTn id="45" dur="1" fill="hold">
                                          <p:stCondLst>
                                            <p:cond delay="0"/>
                                          </p:stCondLst>
                                        </p:cTn>
                                        <p:tgtEl>
                                          <p:spTgt spid="17"/>
                                        </p:tgtEl>
                                        <p:attrNameLst>
                                          <p:attrName>style.visibility</p:attrName>
                                        </p:attrNameLst>
                                      </p:cBhvr>
                                      <p:to>
                                        <p:strVal val="visible"/>
                                      </p:to>
                                    </p:set>
                                    <p:animEffect transition="in" filter="fade">
                                      <p:cBhvr>
                                        <p:cTn id="46" dur="500"/>
                                        <p:tgtEl>
                                          <p:spTgt spid="17"/>
                                        </p:tgtEl>
                                      </p:cBhvr>
                                    </p:animEffect>
                                    <p:anim calcmode="lin" valueType="num">
                                      <p:cBhvr>
                                        <p:cTn id="47" dur="500" fill="hold"/>
                                        <p:tgtEl>
                                          <p:spTgt spid="17"/>
                                        </p:tgtEl>
                                        <p:attrNameLst>
                                          <p:attrName>ppt_x</p:attrName>
                                        </p:attrNameLst>
                                      </p:cBhvr>
                                      <p:tavLst>
                                        <p:tav tm="0">
                                          <p:val>
                                            <p:strVal val="#ppt_x"/>
                                          </p:val>
                                        </p:tav>
                                        <p:tav tm="100000">
                                          <p:val>
                                            <p:strVal val="#ppt_x"/>
                                          </p:val>
                                        </p:tav>
                                      </p:tavLst>
                                    </p:anim>
                                    <p:anim calcmode="lin" valueType="num">
                                      <p:cBhvr>
                                        <p:cTn id="48" dur="500" fill="hold"/>
                                        <p:tgtEl>
                                          <p:spTgt spid="17"/>
                                        </p:tgtEl>
                                        <p:attrNameLst>
                                          <p:attrName>ppt_y</p:attrName>
                                        </p:attrNameLst>
                                      </p:cBhvr>
                                      <p:tavLst>
                                        <p:tav tm="0">
                                          <p:val>
                                            <p:strVal val="#ppt_y+.1"/>
                                          </p:val>
                                        </p:tav>
                                        <p:tav tm="100000">
                                          <p:val>
                                            <p:strVal val="#ppt_y"/>
                                          </p:val>
                                        </p:tav>
                                      </p:tavLst>
                                    </p:anim>
                                  </p:childTnLst>
                                </p:cTn>
                              </p:par>
                            </p:childTnLst>
                          </p:cTn>
                        </p:par>
                      </p:childTnLst>
                    </p:cTn>
                  </p:par>
                  <p:par>
                    <p:cTn id="57" fill="hold">
                      <p:stCondLst>
                        <p:cond delay="indefinite"/>
                      </p:stCondLst>
                      <p:childTnLst>
                        <p:par>
                          <p:cTn id="58" fill="hold">
                            <p:stCondLst>
                              <p:cond delay="0"/>
                            </p:stCondLst>
                            <p:childTnLst>
                              <p:par>
                                <p:cTn id="56" presetID="53" presetClass="entr" presetSubtype="16" fill="hold" nodeType="clickEffect">
                                  <p:stCondLst>
                                    <p:cond delay="0"/>
                                  </p:stCondLst>
                                  <p:childTnLst>
                                    <p:set>
                                      <p:cBhvr>
                                        <p:cTn id="52" dur="1" fill="hold">
                                          <p:stCondLst>
                                            <p:cond delay="0"/>
                                          </p:stCondLst>
                                        </p:cTn>
                                        <p:tgtEl>
                                          <p:spTgt spid="18"/>
                                        </p:tgtEl>
                                        <p:attrNameLst>
                                          <p:attrName>style.visibility</p:attrName>
                                        </p:attrNameLst>
                                      </p:cBhvr>
                                      <p:to>
                                        <p:strVal val="visible"/>
                                      </p:to>
                                    </p:set>
                                    <p:animEffect transition="in" filter="fade">
                                      <p:cBhvr>
                                        <p:cTn id="53" dur="500"/>
                                        <p:tgtEl>
                                          <p:spTgt spid="18"/>
                                        </p:tgtEl>
                                      </p:cBhvr>
                                    </p:animEffect>
                                    <p:anim calcmode="lin" valueType="num">
                                      <p:cBhvr>
                                        <p:cTn id="54" dur="500" fill="hold"/>
                                        <p:tgtEl>
                                          <p:spTgt spid="18"/>
                                        </p:tgtEl>
                                        <p:attrNameLst>
                                          <p:attrName>ppt_w</p:attrName>
                                        </p:attrNameLst>
                                      </p:cBhvr>
                                      <p:tavLst>
                                        <p:tav tm="0">
                                          <p:val>
                                            <p:fltVal val="0"/>
                                          </p:val>
                                        </p:tav>
                                        <p:tav tm="100000">
                                          <p:val>
                                            <p:strVal val="#ppt_w"/>
                                          </p:val>
                                        </p:tav>
                                      </p:tavLst>
                                    </p:anim>
                                    <p:anim calcmode="lin" valueType="num">
                                      <p:cBhvr>
                                        <p:cTn id="55" dur="500" fill="hold"/>
                                        <p:tgtEl>
                                          <p:spTgt spid="18"/>
                                        </p:tgtEl>
                                        <p:attrNameLst>
                                          <p:attrName>ppt_h</p:attrName>
                                        </p:attrNameLst>
                                      </p:cBhvr>
                                      <p:tavLst>
                                        <p:tav tm="0">
                                          <p:val>
                                            <p:fltVal val="0"/>
                                          </p:val>
                                        </p:tav>
                                        <p:tav tm="100000">
                                          <p:val>
                                            <p:strVal val="#ppt_h"/>
                                          </p:val>
                                        </p:tav>
                                      </p:tavLst>
                                    </p:anim>
                                  </p:childTnLst>
                                </p:cTn>
                              </p:par>
                            </p:childTnLst>
                          </p:cTn>
                        </p:par>
                      </p:childTnLst>
                    </p:cTn>
                  </p:par>
                  <p:par>
                    <p:cTn id="64" fill="hold">
                      <p:stCondLst>
                        <p:cond delay="indefinite"/>
                      </p:stCondLst>
                      <p:childTnLst>
                        <p:par>
                          <p:cTn id="65" fill="hold">
                            <p:stCondLst>
                              <p:cond delay="0"/>
                            </p:stCondLst>
                            <p:childTnLst>
                              <p:par>
                                <p:cTn id="63" presetID="42" presetClass="entr" presetSubtype="0" fill="hold" nodeType="clickEffect">
                                  <p:stCondLst>
                                    <p:cond delay="0"/>
                                  </p:stCondLst>
                                  <p:childTnLst>
                                    <p:set>
                                      <p:cBhvr>
                                        <p:cTn id="59" dur="1" fill="hold">
                                          <p:stCondLst>
                                            <p:cond delay="0"/>
                                          </p:stCondLst>
                                        </p:cTn>
                                        <p:tgtEl>
                                          <p:spTgt spid="21"/>
                                        </p:tgtEl>
                                        <p:attrNameLst>
                                          <p:attrName>style.visibility</p:attrName>
                                        </p:attrNameLst>
                                      </p:cBhvr>
                                      <p:to>
                                        <p:strVal val="visible"/>
                                      </p:to>
                                    </p:set>
                                    <p:animEffect transition="in" filter="fade">
                                      <p:cBhvr>
                                        <p:cTn id="60" dur="500"/>
                                        <p:tgtEl>
                                          <p:spTgt spid="21"/>
                                        </p:tgtEl>
                                      </p:cBhvr>
                                    </p:animEffect>
                                    <p:anim calcmode="lin" valueType="num">
                                      <p:cBhvr>
                                        <p:cTn id="61" dur="500" fill="hold"/>
                                        <p:tgtEl>
                                          <p:spTgt spid="21"/>
                                        </p:tgtEl>
                                        <p:attrNameLst>
                                          <p:attrName>ppt_x</p:attrName>
                                        </p:attrNameLst>
                                      </p:cBhvr>
                                      <p:tavLst>
                                        <p:tav tm="0">
                                          <p:val>
                                            <p:strVal val="#ppt_x"/>
                                          </p:val>
                                        </p:tav>
                                        <p:tav tm="100000">
                                          <p:val>
                                            <p:strVal val="#ppt_x"/>
                                          </p:val>
                                        </p:tav>
                                      </p:tavLst>
                                    </p:anim>
                                    <p:anim calcmode="lin" valueType="num">
                                      <p:cBhvr>
                                        <p:cTn id="62" dur="500" fill="hold"/>
                                        <p:tgtEl>
                                          <p:spTgt spid="21"/>
                                        </p:tgtEl>
                                        <p:attrNameLst>
                                          <p:attrName>ppt_y</p:attrName>
                                        </p:attrNameLst>
                                      </p:cBhvr>
                                      <p:tavLst>
                                        <p:tav tm="0">
                                          <p:val>
                                            <p:strVal val="#ppt_y+.1"/>
                                          </p:val>
                                        </p:tav>
                                        <p:tav tm="100000">
                                          <p:val>
                                            <p:strVal val="#ppt_y"/>
                                          </p:val>
                                        </p:tav>
                                      </p:tavLst>
                                    </p:anim>
                                  </p:childTnLst>
                                </p:cTn>
                              </p:par>
                            </p:childTnLst>
                          </p:cTn>
                        </p:par>
                      </p:childTnLst>
                    </p:cTn>
                  </p:par>
                  <p:par>
                    <p:cTn id="71" fill="hold">
                      <p:stCondLst>
                        <p:cond delay="indefinite"/>
                      </p:stCondLst>
                      <p:childTnLst>
                        <p:par>
                          <p:cTn id="72" fill="hold">
                            <p:stCondLst>
                              <p:cond delay="0"/>
                            </p:stCondLst>
                            <p:childTnLst>
                              <p:par>
                                <p:cTn id="70" presetID="53" presetClass="entr" presetSubtype="16" fill="hold" nodeType="clickEffect">
                                  <p:stCondLst>
                                    <p:cond delay="0"/>
                                  </p:stCondLst>
                                  <p:childTnLst>
                                    <p:set>
                                      <p:cBhvr>
                                        <p:cTn id="66" dur="1" fill="hold">
                                          <p:stCondLst>
                                            <p:cond delay="0"/>
                                          </p:stCondLst>
                                        </p:cTn>
                                        <p:tgtEl>
                                          <p:spTgt spid="22"/>
                                        </p:tgtEl>
                                        <p:attrNameLst>
                                          <p:attrName>style.visibility</p:attrName>
                                        </p:attrNameLst>
                                      </p:cBhvr>
                                      <p:to>
                                        <p:strVal val="visible"/>
                                      </p:to>
                                    </p:set>
                                    <p:animEffect transition="in" filter="fade">
                                      <p:cBhvr>
                                        <p:cTn id="67" dur="500"/>
                                        <p:tgtEl>
                                          <p:spTgt spid="22"/>
                                        </p:tgtEl>
                                      </p:cBhvr>
                                    </p:animEffect>
                                    <p:anim calcmode="lin" valueType="num">
                                      <p:cBhvr>
                                        <p:cTn id="68" dur="500" fill="hold"/>
                                        <p:tgtEl>
                                          <p:spTgt spid="22"/>
                                        </p:tgtEl>
                                        <p:attrNameLst>
                                          <p:attrName>ppt_w</p:attrName>
                                        </p:attrNameLst>
                                      </p:cBhvr>
                                      <p:tavLst>
                                        <p:tav tm="0">
                                          <p:val>
                                            <p:fltVal val="0"/>
                                          </p:val>
                                        </p:tav>
                                        <p:tav tm="100000">
                                          <p:val>
                                            <p:strVal val="#ppt_w"/>
                                          </p:val>
                                        </p:tav>
                                      </p:tavLst>
                                    </p:anim>
                                    <p:anim calcmode="lin" valueType="num">
                                      <p:cBhvr>
                                        <p:cTn id="69" dur="500" fill="hold"/>
                                        <p:tgtEl>
                                          <p:spTgt spid="22"/>
                                        </p:tgtEl>
                                        <p:attrNameLst>
                                          <p:attrName>ppt_h</p:attrName>
                                        </p:attrNameLst>
                                      </p:cBhvr>
                                      <p:tavLst>
                                        <p:tav tm="0">
                                          <p:val>
                                            <p:fltVal val="0"/>
                                          </p:val>
                                        </p:tav>
                                        <p:tav tm="100000">
                                          <p:val>
                                            <p:strVal val="#ppt_h"/>
                                          </p:val>
                                        </p:tav>
                                      </p:tavLst>
                                    </p:anim>
                                  </p:childTnLst>
                                </p:cTn>
                              </p:par>
                            </p:childTnLst>
                          </p:cTn>
                        </p:par>
                      </p:childTnLst>
                    </p:cTn>
                  </p:par>
                  <p:par>
                    <p:cTn id="78" fill="hold">
                      <p:stCondLst>
                        <p:cond delay="indefinite"/>
                      </p:stCondLst>
                      <p:childTnLst>
                        <p:par>
                          <p:cTn id="79" fill="hold">
                            <p:stCondLst>
                              <p:cond delay="0"/>
                            </p:stCondLst>
                            <p:childTnLst>
                              <p:par>
                                <p:cTn id="77" presetID="42" presetClass="entr" presetSubtype="0" fill="hold" nodeType="clickEffect">
                                  <p:stCondLst>
                                    <p:cond delay="0"/>
                                  </p:stCondLst>
                                  <p:childTnLst>
                                    <p:set>
                                      <p:cBhvr>
                                        <p:cTn id="73" dur="1" fill="hold">
                                          <p:stCondLst>
                                            <p:cond delay="0"/>
                                          </p:stCondLst>
                                        </p:cTn>
                                        <p:tgtEl>
                                          <p:spTgt spid="25"/>
                                        </p:tgtEl>
                                        <p:attrNameLst>
                                          <p:attrName>style.visibility</p:attrName>
                                        </p:attrNameLst>
                                      </p:cBhvr>
                                      <p:to>
                                        <p:strVal val="visible"/>
                                      </p:to>
                                    </p:set>
                                    <p:animEffect transition="in" filter="fade">
                                      <p:cBhvr>
                                        <p:cTn id="74" dur="500"/>
                                        <p:tgtEl>
                                          <p:spTgt spid="25"/>
                                        </p:tgtEl>
                                      </p:cBhvr>
                                    </p:animEffect>
                                    <p:anim calcmode="lin" valueType="num">
                                      <p:cBhvr>
                                        <p:cTn id="75" dur="500" fill="hold"/>
                                        <p:tgtEl>
                                          <p:spTgt spid="25"/>
                                        </p:tgtEl>
                                        <p:attrNameLst>
                                          <p:attrName>ppt_x</p:attrName>
                                        </p:attrNameLst>
                                      </p:cBhvr>
                                      <p:tavLst>
                                        <p:tav tm="0">
                                          <p:val>
                                            <p:strVal val="#ppt_x"/>
                                          </p:val>
                                        </p:tav>
                                        <p:tav tm="100000">
                                          <p:val>
                                            <p:strVal val="#ppt_x"/>
                                          </p:val>
                                        </p:tav>
                                      </p:tavLst>
                                    </p:anim>
                                    <p:anim calcmode="lin" valueType="num">
                                      <p:cBhvr>
                                        <p:cTn id="76" dur="500" fill="hold"/>
                                        <p:tgtEl>
                                          <p:spTgt spid="25"/>
                                        </p:tgtEl>
                                        <p:attrNameLst>
                                          <p:attrName>ppt_y</p:attrName>
                                        </p:attrNameLst>
                                      </p:cBhvr>
                                      <p:tavLst>
                                        <p:tav tm="0">
                                          <p:val>
                                            <p:strVal val="#ppt_y+.1"/>
                                          </p:val>
                                        </p:tav>
                                        <p:tav tm="100000">
                                          <p:val>
                                            <p:strVal val="#ppt_y"/>
                                          </p:val>
                                        </p:tav>
                                      </p:tavLst>
                                    </p:anim>
                                  </p:childTnLst>
                                </p:cTn>
                              </p:par>
                            </p:childTnLst>
                          </p:cTn>
                        </p:par>
                      </p:childTnLst>
                    </p:cTn>
                  </p:par>
                  <p:par>
                    <p:cTn id="85" fill="hold">
                      <p:stCondLst>
                        <p:cond delay="indefinite"/>
                      </p:stCondLst>
                      <p:childTnLst>
                        <p:par>
                          <p:cTn id="86" fill="hold">
                            <p:stCondLst>
                              <p:cond delay="0"/>
                            </p:stCondLst>
                            <p:childTnLst>
                              <p:par>
                                <p:cTn id="84" presetID="53" presetClass="entr" presetSubtype="16" fill="hold" nodeType="clickEffect">
                                  <p:stCondLst>
                                    <p:cond delay="0"/>
                                  </p:stCondLst>
                                  <p:childTnLst>
                                    <p:set>
                                      <p:cBhvr>
                                        <p:cTn id="80" dur="1" fill="hold">
                                          <p:stCondLst>
                                            <p:cond delay="0"/>
                                          </p:stCondLst>
                                        </p:cTn>
                                        <p:tgtEl>
                                          <p:spTgt spid="26"/>
                                        </p:tgtEl>
                                        <p:attrNameLst>
                                          <p:attrName>style.visibility</p:attrName>
                                        </p:attrNameLst>
                                      </p:cBhvr>
                                      <p:to>
                                        <p:strVal val="visible"/>
                                      </p:to>
                                    </p:set>
                                    <p:animEffect transition="in" filter="fade">
                                      <p:cBhvr>
                                        <p:cTn id="81" dur="500"/>
                                        <p:tgtEl>
                                          <p:spTgt spid="26"/>
                                        </p:tgtEl>
                                      </p:cBhvr>
                                    </p:animEffect>
                                    <p:anim calcmode="lin" valueType="num">
                                      <p:cBhvr>
                                        <p:cTn id="82" dur="500" fill="hold"/>
                                        <p:tgtEl>
                                          <p:spTgt spid="26"/>
                                        </p:tgtEl>
                                        <p:attrNameLst>
                                          <p:attrName>ppt_w</p:attrName>
                                        </p:attrNameLst>
                                      </p:cBhvr>
                                      <p:tavLst>
                                        <p:tav tm="0">
                                          <p:val>
                                            <p:fltVal val="0"/>
                                          </p:val>
                                        </p:tav>
                                        <p:tav tm="100000">
                                          <p:val>
                                            <p:strVal val="#ppt_w"/>
                                          </p:val>
                                        </p:tav>
                                      </p:tavLst>
                                    </p:anim>
                                    <p:anim calcmode="lin" valueType="num">
                                      <p:cBhvr>
                                        <p:cTn id="83" dur="500" fill="hold"/>
                                        <p:tgtEl>
                                          <p:spTgt spid="26"/>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Talk the Talk · Show Me What You've Got · SE p. 301</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Match each graph to an equation in terms of </a:t>
            </a:r>
            <a:r>
              <a:rPr lang="en-US" sz="3450" dirty="0" b="1" i="1">
                <a:solidFill>
                  <a:srgbClr val="16171D"/>
                </a:solidFill>
                <a:latin typeface="Cambria"/>
                <a:cs typeface="Cambria"/>
              </a:rPr>
              <a:t xml:space="preserve">f</a:t>
            </a:r>
            <a:r>
              <a:rPr lang="en-US" sz="3450" dirty="0" b="1">
                <a:solidFill>
                  <a:srgbClr val="16171D"/>
                </a:solidFill>
                <a:latin typeface="Cambria"/>
                <a:cs typeface="Cambria"/>
              </a:rPr>
              <a:t xml:space="preserve">(</a:t>
            </a:r>
            <a:r>
              <a:rPr lang="en-US" sz="3450" dirty="0" b="1" i="1">
                <a:solidFill>
                  <a:srgbClr val="16171D"/>
                </a:solidFill>
                <a:latin typeface="Cambria"/>
                <a:cs typeface="Cambria"/>
              </a:rPr>
              <a:t xml:space="preserve">x</a:t>
            </a:r>
            <a:r>
              <a:rPr lang="en-US" sz="3450" dirty="0" b="1">
                <a:solidFill>
                  <a:srgbClr val="16171D"/>
                </a:solidFill>
                <a:latin typeface="Cambria"/>
                <a:cs typeface="Cambria"/>
              </a:rPr>
              <a:t xml:space="preserve">)</a:t>
            </a:r>
            <a:endParaRPr lang="en-US" sz="3450" dirty="0"/>
          </a:p>
        </p:txBody>
      </p:sp>
      <p:sp>
        <p:nvSpPr>
          <p:cNvPr id="6" name="Shape 6"/>
          <p:cNvSpPr txBox="1"/>
          <p:nvPr/>
        </p:nvSpPr>
        <p:spPr>
          <a:xfrm>
            <a:off x="685800" y="1618488"/>
            <a:ext cx="3492398" cy="133197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i="1">
                <a:solidFill>
                  <a:srgbClr val="16171D"/>
                </a:solidFill>
                <a:latin typeface="Cambria"/>
                <a:cs typeface="Cambria"/>
              </a:rPr>
              <a:t xml:space="preserve">k</a:t>
            </a:r>
            <a:r>
              <a:rPr lang="en-US" sz="2100" dirty="0" b="1">
                <a:solidFill>
                  <a:srgbClr val="16171D"/>
                </a:solidFill>
                <a:latin typeface="Cambria"/>
                <a:cs typeface="Cambria"/>
              </a:rPr>
              <a:t xml:space="preserve">(</a:t>
            </a:r>
            <a:r>
              <a:rPr lang="en-US" sz="2100" dirty="0" b="1" i="1">
                <a:solidFill>
                  <a:srgbClr val="16171D"/>
                </a:solidFill>
                <a:latin typeface="Cambria"/>
                <a:cs typeface="Cambria"/>
              </a:rPr>
              <a:t xml:space="preserve">x</a:t>
            </a:r>
            <a:r>
              <a:rPr lang="en-US" sz="2100" dirty="0" b="1">
                <a:solidFill>
                  <a:srgbClr val="16171D"/>
                </a:solidFill>
                <a:latin typeface="Cambria"/>
                <a:cs typeface="Cambria"/>
              </a:rPr>
              <a:t xml:space="preserve">)</a:t>
            </a:r>
            <a:endParaRPr lang="en-US" sz="2100" dirty="0"/>
          </a:p>
        </p:txBody>
      </p:sp>
      <p:sp>
        <p:nvSpPr>
          <p:cNvPr id="5" name="Shape 5"/>
          <p:cNvSpPr txBox="1"/>
          <p:nvPr/>
        </p:nvSpPr>
        <p:spPr>
          <a:xfrm>
            <a:off x="895350" y="2260092"/>
            <a:ext cx="307329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+ 8</a:t>
            </a:r>
            <a:endParaRPr lang="en-US" sz="2325" dirty="0"/>
          </a:p>
        </p:txBody>
      </p:sp>
      <p:sp>
        <p:nvSpPr>
          <p:cNvPr id="9" name="Shape 9"/>
          <p:cNvSpPr txBox="1"/>
          <p:nvPr/>
        </p:nvSpPr>
        <p:spPr>
          <a:xfrm>
            <a:off x="4349648" y="1618488"/>
            <a:ext cx="3492398" cy="133197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7" name="Shape 7"/>
          <p:cNvSpPr txBox="1"/>
          <p:nvPr/>
        </p:nvSpPr>
        <p:spPr>
          <a:xfrm>
            <a:off x="4559198"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i="1">
                <a:solidFill>
                  <a:srgbClr val="16171D"/>
                </a:solidFill>
                <a:latin typeface="Cambria"/>
                <a:cs typeface="Cambria"/>
              </a:rPr>
              <a:t xml:space="preserve">h</a:t>
            </a:r>
            <a:r>
              <a:rPr lang="en-US" sz="2100" dirty="0" b="1">
                <a:solidFill>
                  <a:srgbClr val="16171D"/>
                </a:solidFill>
                <a:latin typeface="Cambria"/>
                <a:cs typeface="Cambria"/>
              </a:rPr>
              <a:t xml:space="preserve">(</a:t>
            </a:r>
            <a:r>
              <a:rPr lang="en-US" sz="2100" dirty="0" b="1" i="1">
                <a:solidFill>
                  <a:srgbClr val="16171D"/>
                </a:solidFill>
                <a:latin typeface="Cambria"/>
                <a:cs typeface="Cambria"/>
              </a:rPr>
              <a:t xml:space="preserve">x</a:t>
            </a:r>
            <a:r>
              <a:rPr lang="en-US" sz="2100" dirty="0" b="1">
                <a:solidFill>
                  <a:srgbClr val="16171D"/>
                </a:solidFill>
                <a:latin typeface="Cambria"/>
                <a:cs typeface="Cambria"/>
              </a:rPr>
              <a:t xml:space="preserve">)</a:t>
            </a:r>
            <a:endParaRPr lang="en-US" sz="2100" dirty="0"/>
          </a:p>
        </p:txBody>
      </p:sp>
      <p:sp>
        <p:nvSpPr>
          <p:cNvPr id="8" name="Shape 8"/>
          <p:cNvSpPr txBox="1"/>
          <p:nvPr/>
        </p:nvSpPr>
        <p:spPr>
          <a:xfrm>
            <a:off x="4559198" y="2260092"/>
            <a:ext cx="2742194"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a:t>
            </a: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a:t>
            </a:r>
            <a:endParaRPr lang="en-US" sz="2325" dirty="0"/>
          </a:p>
        </p:txBody>
      </p:sp>
      <p:sp>
        <p:nvSpPr>
          <p:cNvPr id="12" name="Shape 12"/>
          <p:cNvSpPr txBox="1"/>
          <p:nvPr/>
        </p:nvSpPr>
        <p:spPr>
          <a:xfrm>
            <a:off x="8013497" y="1618488"/>
            <a:ext cx="3492398" cy="133197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0" name="Shape 10"/>
          <p:cNvSpPr txBox="1"/>
          <p:nvPr/>
        </p:nvSpPr>
        <p:spPr>
          <a:xfrm>
            <a:off x="8223047"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i="1">
                <a:solidFill>
                  <a:srgbClr val="16171D"/>
                </a:solidFill>
                <a:latin typeface="Cambria"/>
                <a:cs typeface="Cambria"/>
              </a:rPr>
              <a:t xml:space="preserve">g</a:t>
            </a:r>
            <a:r>
              <a:rPr lang="en-US" sz="2100" dirty="0" b="1">
                <a:solidFill>
                  <a:srgbClr val="16171D"/>
                </a:solidFill>
                <a:latin typeface="Cambria"/>
                <a:cs typeface="Cambria"/>
              </a:rPr>
              <a:t xml:space="preserve">(</a:t>
            </a:r>
            <a:r>
              <a:rPr lang="en-US" sz="2100" dirty="0" b="1" i="1">
                <a:solidFill>
                  <a:srgbClr val="16171D"/>
                </a:solidFill>
                <a:latin typeface="Cambria"/>
                <a:cs typeface="Cambria"/>
              </a:rPr>
              <a:t xml:space="preserve">x</a:t>
            </a:r>
            <a:r>
              <a:rPr lang="en-US" sz="2100" dirty="0" b="1">
                <a:solidFill>
                  <a:srgbClr val="16171D"/>
                </a:solidFill>
                <a:latin typeface="Cambria"/>
                <a:cs typeface="Cambria"/>
              </a:rPr>
              <a:t xml:space="preserve">)</a:t>
            </a:r>
            <a:endParaRPr lang="en-US" sz="2100" dirty="0"/>
          </a:p>
        </p:txBody>
      </p:sp>
      <p:sp>
        <p:nvSpPr>
          <p:cNvPr id="11" name="Shape 11"/>
          <p:cNvSpPr txBox="1"/>
          <p:nvPr/>
        </p:nvSpPr>
        <p:spPr>
          <a:xfrm>
            <a:off x="8223047" y="2260092"/>
            <a:ext cx="2742194"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(⅓</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a:t>
            </a:r>
            <a:endParaRPr lang="en-US" sz="2325" dirty="0"/>
          </a:p>
        </p:txBody>
      </p:sp>
      <p:sp>
        <p:nvSpPr>
          <p:cNvPr id="15" name="Shape 15"/>
          <p:cNvSpPr txBox="1"/>
          <p:nvPr/>
        </p:nvSpPr>
        <p:spPr>
          <a:xfrm>
            <a:off x="685800" y="3083814"/>
            <a:ext cx="3492398" cy="133197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3" name="Shape 13"/>
          <p:cNvSpPr txBox="1"/>
          <p:nvPr/>
        </p:nvSpPr>
        <p:spPr>
          <a:xfrm>
            <a:off x="895350" y="3255264"/>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i="1">
                <a:solidFill>
                  <a:srgbClr val="16171D"/>
                </a:solidFill>
                <a:latin typeface="Cambria"/>
                <a:cs typeface="Cambria"/>
              </a:rPr>
              <a:t xml:space="preserve">j</a:t>
            </a:r>
            <a:r>
              <a:rPr lang="en-US" sz="2100" dirty="0" b="1">
                <a:solidFill>
                  <a:srgbClr val="16171D"/>
                </a:solidFill>
                <a:latin typeface="Cambria"/>
                <a:cs typeface="Cambria"/>
              </a:rPr>
              <a:t xml:space="preserve">(</a:t>
            </a:r>
            <a:r>
              <a:rPr lang="en-US" sz="2100" dirty="0" b="1" i="1">
                <a:solidFill>
                  <a:srgbClr val="16171D"/>
                </a:solidFill>
                <a:latin typeface="Cambria"/>
                <a:cs typeface="Cambria"/>
              </a:rPr>
              <a:t xml:space="preserve">x</a:t>
            </a:r>
            <a:r>
              <a:rPr lang="en-US" sz="2100" dirty="0" b="1">
                <a:solidFill>
                  <a:srgbClr val="16171D"/>
                </a:solidFill>
                <a:latin typeface="Cambria"/>
                <a:cs typeface="Cambria"/>
              </a:rPr>
              <a:t xml:space="preserve">)</a:t>
            </a:r>
            <a:endParaRPr lang="en-US" sz="2100" dirty="0"/>
          </a:p>
        </p:txBody>
      </p:sp>
      <p:sp>
        <p:nvSpPr>
          <p:cNvPr id="14" name="Shape 14"/>
          <p:cNvSpPr txBox="1"/>
          <p:nvPr/>
        </p:nvSpPr>
        <p:spPr>
          <a:xfrm>
            <a:off x="895350" y="3725418"/>
            <a:ext cx="307329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− 7)</a:t>
            </a:r>
            <a:endParaRPr lang="en-US" sz="2325" dirty="0"/>
          </a:p>
        </p:txBody>
      </p:sp>
      <p:sp>
        <p:nvSpPr>
          <p:cNvPr id="16" name="Slide Number 1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32</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500"/>
                                        <p:tgtEl>
                                          <p:spTgt spid="8"/>
                                        </p:tgtEl>
                                      </p:cBhvr>
                                    </p:animEffect>
                                    <p:anim calcmode="lin" valueType="num">
                                      <p:cBhvr>
                                        <p:cTn id="12" dur="500" fill="hold"/>
                                        <p:tgtEl>
                                          <p:spTgt spid="8"/>
                                        </p:tgtEl>
                                        <p:attrNameLst>
                                          <p:attrName>ppt_w</p:attrName>
                                        </p:attrNameLst>
                                      </p:cBhvr>
                                      <p:tavLst>
                                        <p:tav tm="0">
                                          <p:val>
                                            <p:fltVal val="0"/>
                                          </p:val>
                                        </p:tav>
                                        <p:tav tm="100000">
                                          <p:val>
                                            <p:strVal val="#ppt_w"/>
                                          </p:val>
                                        </p:tav>
                                      </p:tavLst>
                                    </p:anim>
                                    <p:anim calcmode="lin" valueType="num">
                                      <p:cBhvr>
                                        <p:cTn id="13" dur="500" fill="hold"/>
                                        <p:tgtEl>
                                          <p:spTgt spid="8"/>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11"/>
                                        </p:tgtEl>
                                        <p:attrNameLst>
                                          <p:attrName>style.visibility</p:attrName>
                                        </p:attrNameLst>
                                      </p:cBhvr>
                                      <p:to>
                                        <p:strVal val="visible"/>
                                      </p:to>
                                    </p:set>
                                    <p:animEffect transition="in" filter="fade">
                                      <p:cBhvr>
                                        <p:cTn id="18" dur="500"/>
                                        <p:tgtEl>
                                          <p:spTgt spid="11"/>
                                        </p:tgtEl>
                                      </p:cBhvr>
                                    </p:animEffect>
                                    <p:anim calcmode="lin" valueType="num">
                                      <p:cBhvr>
                                        <p:cTn id="19" dur="500" fill="hold"/>
                                        <p:tgtEl>
                                          <p:spTgt spid="11"/>
                                        </p:tgtEl>
                                        <p:attrNameLst>
                                          <p:attrName>ppt_w</p:attrName>
                                        </p:attrNameLst>
                                      </p:cBhvr>
                                      <p:tavLst>
                                        <p:tav tm="0">
                                          <p:val>
                                            <p:fltVal val="0"/>
                                          </p:val>
                                        </p:tav>
                                        <p:tav tm="100000">
                                          <p:val>
                                            <p:strVal val="#ppt_w"/>
                                          </p:val>
                                        </p:tav>
                                      </p:tavLst>
                                    </p:anim>
                                    <p:anim calcmode="lin" valueType="num">
                                      <p:cBhvr>
                                        <p:cTn id="20" dur="500" fill="hold"/>
                                        <p:tgtEl>
                                          <p:spTgt spid="11"/>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4"/>
                                        </p:tgtEl>
                                        <p:attrNameLst>
                                          <p:attrName>style.visibility</p:attrName>
                                        </p:attrNameLst>
                                      </p:cBhvr>
                                      <p:to>
                                        <p:strVal val="visible"/>
                                      </p:to>
                                    </p:set>
                                    <p:animEffect transition="in" filter="fade">
                                      <p:cBhvr>
                                        <p:cTn id="25" dur="500"/>
                                        <p:tgtEl>
                                          <p:spTgt spid="14"/>
                                        </p:tgtEl>
                                      </p:cBhvr>
                                    </p:animEffect>
                                    <p:anim calcmode="lin" valueType="num">
                                      <p:cBhvr>
                                        <p:cTn id="26" dur="500" fill="hold"/>
                                        <p:tgtEl>
                                          <p:spTgt spid="14"/>
                                        </p:tgtEl>
                                        <p:attrNameLst>
                                          <p:attrName>ppt_w</p:attrName>
                                        </p:attrNameLst>
                                      </p:cBhvr>
                                      <p:tavLst>
                                        <p:tav tm="0">
                                          <p:val>
                                            <p:fltVal val="0"/>
                                          </p:val>
                                        </p:tav>
                                        <p:tav tm="100000">
                                          <p:val>
                                            <p:strVal val="#ppt_w"/>
                                          </p:val>
                                        </p:tav>
                                      </p:tavLst>
                                    </p:anim>
                                    <p:anim calcmode="lin" valueType="num">
                                      <p:cBhvr>
                                        <p:cTn id="27" dur="500" fill="hold"/>
                                        <p:tgtEl>
                                          <p:spTgt spid="14"/>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Notes to Keep</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Notes to keep: Day 2</a:t>
            </a:r>
            <a:endParaRPr lang="en-US" sz="3450" dirty="0"/>
          </a:p>
        </p:txBody>
      </p:sp>
      <p:sp>
        <p:nvSpPr>
          <p:cNvPr id="7" name="Shape 7"/>
          <p:cNvSpPr txBox="1"/>
          <p:nvPr/>
        </p:nvSpPr>
        <p:spPr>
          <a:xfrm>
            <a:off x="685800" y="1618488"/>
            <a:ext cx="3492398" cy="19667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Horizontal dilation</a:t>
            </a:r>
            <a:endParaRPr lang="en-US" sz="2100" dirty="0"/>
          </a:p>
        </p:txBody>
      </p:sp>
      <p:sp>
        <p:nvSpPr>
          <p:cNvPr id="5" name="Shape 5"/>
          <p:cNvSpPr txBox="1"/>
          <p:nvPr/>
        </p:nvSpPr>
        <p:spPr>
          <a:xfrm>
            <a:off x="895350" y="2260092"/>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b="1" i="1">
                <a:solidFill>
                  <a:srgbClr val="C9561F"/>
                </a:solidFill>
                <a:latin typeface="Cambria"/>
                <a:cs typeface="Cambria"/>
              </a:rPr>
              <a:t xml:space="preserve">b</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a:t>
            </a:r>
            <a:endParaRPr lang="en-US" sz="2325" dirty="0"/>
          </a:p>
        </p:txBody>
      </p:sp>
      <p:sp>
        <p:nvSpPr>
          <p:cNvPr id="6" name="Shape 6"/>
          <p:cNvSpPr txBox="1"/>
          <p:nvPr/>
        </p:nvSpPr>
        <p:spPr>
          <a:xfrm>
            <a:off x="895350" y="2764536"/>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a:t>
            </a:r>
            <a:r>
              <a:rPr lang="en-US" sz="1575" dirty="0" i="1">
                <a:solidFill>
                  <a:srgbClr val="16171D"/>
                </a:solidFill>
                <a:latin typeface="Segoe UI"/>
                <a:cs typeface="Segoe UI"/>
              </a:rPr>
              <a:t xml:space="preserve">b</a:t>
            </a:r>
            <a:r>
              <a:rPr lang="en-US" sz="1575" dirty="0">
                <a:solidFill>
                  <a:srgbClr val="16171D"/>
                </a:solidFill>
                <a:latin typeface="Segoe UI"/>
                <a:cs typeface="Segoe UI"/>
              </a:rPr>
              <a:t xml:space="preserve">| &gt; 1 compresses. 0 &lt; |</a:t>
            </a:r>
            <a:r>
              <a:rPr lang="en-US" sz="1575" dirty="0" i="1">
                <a:solidFill>
                  <a:srgbClr val="16171D"/>
                </a:solidFill>
                <a:latin typeface="Segoe UI"/>
                <a:cs typeface="Segoe UI"/>
              </a:rPr>
              <a:t xml:space="preserve">b</a:t>
            </a:r>
            <a:r>
              <a:rPr lang="en-US" sz="1575" dirty="0">
                <a:solidFill>
                  <a:srgbClr val="16171D"/>
                </a:solidFill>
                <a:latin typeface="Segoe UI"/>
                <a:cs typeface="Segoe UI"/>
              </a:rPr>
              <a:t xml:space="preserve">| &lt; 1 stretches.</a:t>
            </a:r>
            <a:endParaRPr lang="en-US" sz="1575" dirty="0"/>
          </a:p>
        </p:txBody>
      </p:sp>
      <p:sp>
        <p:nvSpPr>
          <p:cNvPr id="10" name="Shape 10"/>
          <p:cNvSpPr txBox="1"/>
          <p:nvPr/>
        </p:nvSpPr>
        <p:spPr>
          <a:xfrm>
            <a:off x="4349648" y="1618488"/>
            <a:ext cx="3492398" cy="19667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4559198"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Matching dilations</a:t>
            </a:r>
            <a:endParaRPr lang="en-US" sz="2100" dirty="0"/>
          </a:p>
        </p:txBody>
      </p:sp>
      <p:sp>
        <p:nvSpPr>
          <p:cNvPr id="9" name="Shape 9"/>
          <p:cNvSpPr txBox="1"/>
          <p:nvPr/>
        </p:nvSpPr>
        <p:spPr>
          <a:xfrm>
            <a:off x="4559198" y="226009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For </a:t>
            </a:r>
            <a:r>
              <a:rPr lang="en-US" sz="1575" dirty="0" i="1">
                <a:solidFill>
                  <a:srgbClr val="16171D"/>
                </a:solidFill>
                <a:latin typeface="Segoe UI"/>
                <a:cs typeface="Segoe UI"/>
              </a:rPr>
              <a:t xml:space="preserve">f</a:t>
            </a:r>
            <a:r>
              <a:rPr lang="en-US" sz="1575" dirty="0">
                <a:solidFill>
                  <a:srgbClr val="16171D"/>
                </a:solidFill>
                <a:latin typeface="Segoe UI"/>
                <a:cs typeface="Segoe UI"/>
              </a:rPr>
              <a:t xml:space="preserve">(</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vertical by </a:t>
            </a:r>
            <a:r>
              <a:rPr lang="en-US" sz="1575" dirty="0" i="1">
                <a:solidFill>
                  <a:srgbClr val="16171D"/>
                </a:solidFill>
                <a:latin typeface="Segoe UI"/>
                <a:cs typeface="Segoe UI"/>
              </a:rPr>
              <a:t xml:space="preserve">n</a:t>
            </a:r>
            <a:r>
              <a:rPr lang="en-US" sz="1575" dirty="0">
                <a:solidFill>
                  <a:srgbClr val="16171D"/>
                </a:solidFill>
                <a:latin typeface="Segoe UI"/>
                <a:cs typeface="Segoe UI"/>
              </a:rPr>
              <a:t xml:space="preserve"> = horizontal by 1/</a:t>
            </a:r>
            <a:r>
              <a:rPr lang="en-US" sz="1575" dirty="0" i="1">
                <a:solidFill>
                  <a:srgbClr val="16171D"/>
                </a:solidFill>
                <a:latin typeface="Segoe UI"/>
                <a:cs typeface="Segoe UI"/>
              </a:rPr>
              <a:t xml:space="preserve">n</a:t>
            </a:r>
            <a:r>
              <a:rPr lang="en-US" sz="1575" dirty="0">
                <a:solidFill>
                  <a:srgbClr val="16171D"/>
                </a:solidFill>
                <a:latin typeface="Segoe UI"/>
                <a:cs typeface="Segoe UI"/>
              </a:rPr>
              <a:t xml:space="preserve">.</a:t>
            </a:r>
            <a:endParaRPr lang="en-US" sz="1575" dirty="0"/>
          </a:p>
        </p:txBody>
      </p:sp>
      <p:sp>
        <p:nvSpPr>
          <p:cNvPr id="14" name="Shape 14"/>
          <p:cNvSpPr txBox="1"/>
          <p:nvPr/>
        </p:nvSpPr>
        <p:spPr>
          <a:xfrm>
            <a:off x="8013497" y="1618488"/>
            <a:ext cx="3492398" cy="19667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1" name="Shape 11"/>
          <p:cNvSpPr txBox="1"/>
          <p:nvPr/>
        </p:nvSpPr>
        <p:spPr>
          <a:xfrm>
            <a:off x="8223047"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Simplify first</a:t>
            </a:r>
            <a:endParaRPr lang="en-US" sz="2100" dirty="0"/>
          </a:p>
        </p:txBody>
      </p:sp>
      <p:sp>
        <p:nvSpPr>
          <p:cNvPr id="12" name="Shape 12"/>
          <p:cNvSpPr txBox="1"/>
          <p:nvPr/>
        </p:nvSpPr>
        <p:spPr>
          <a:xfrm>
            <a:off x="8223047" y="2260092"/>
            <a:ext cx="3073298" cy="76352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j</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 =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 − 1</a:t>
            </a:r>
            <a:endParaRPr lang="en-US" sz="2325" dirty="0"/>
          </a:p>
        </p:txBody>
      </p:sp>
      <p:sp>
        <p:nvSpPr>
          <p:cNvPr id="13" name="Shape 13"/>
          <p:cNvSpPr txBox="1"/>
          <p:nvPr/>
        </p:nvSpPr>
        <p:spPr>
          <a:xfrm>
            <a:off x="8223047" y="3118866"/>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Distribute, then combine.</a:t>
            </a:r>
            <a:endParaRPr lang="en-US" sz="1575" dirty="0"/>
          </a:p>
        </p:txBody>
      </p:sp>
      <p:sp>
        <p:nvSpPr>
          <p:cNvPr id="15" name="Shape 15"/>
          <p:cNvSpPr txBox="1"/>
          <p:nvPr/>
        </p:nvSpPr>
        <p:spPr>
          <a:xfrm>
            <a:off x="685800" y="3756660"/>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Copy these into your notes, or ask your teacher for a printed copy.</a:t>
            </a:r>
            <a:endParaRPr lang="en-US" sz="1575" dirty="0"/>
          </a:p>
        </p:txBody>
      </p:sp>
      <p:sp>
        <p:nvSpPr>
          <p:cNvPr id="16" name="Slide Number 1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33</a:t>
            </a:fld>
          </a:p>
        </p:txBody>
      </p:sp>
    </p:spTree>
  </p:cSld>
  <p:clrMapOvr>
    <a:masterClrMapping/>
  </p:clrMapOvr>
  <p:transition spd="med">
    <p:fade/>
  </p:transition>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Essential Question · Answered</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What do horizontal transformations do?</a:t>
            </a:r>
            <a:endParaRPr lang="en-US" sz="3450" dirty="0"/>
          </a:p>
        </p:txBody>
      </p:sp>
      <p:sp>
        <p:nvSpPr>
          <p:cNvPr id="4" name="Shape 4"/>
          <p:cNvSpPr txBox="1"/>
          <p:nvPr/>
        </p:nvSpPr>
        <p:spPr>
          <a:xfrm>
            <a:off x="685800" y="1675638"/>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In </a:t>
            </a:r>
            <a:r>
              <a:rPr lang="en-US" sz="1950" dirty="0" i="1">
                <a:solidFill>
                  <a:srgbClr val="16171D"/>
                </a:solidFill>
                <a:latin typeface="Cambria"/>
                <a:cs typeface="Cambria"/>
              </a:rPr>
              <a:t xml:space="preserve">a</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b</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c</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d</a:t>
            </a:r>
            <a:r>
              <a:rPr lang="en-US" sz="1950" dirty="0">
                <a:solidFill>
                  <a:srgbClr val="16171D"/>
                </a:solidFill>
                <a:latin typeface="Segoe UI"/>
                <a:cs typeface="Segoe UI"/>
              </a:rPr>
              <a:t xml:space="preserve">, </a:t>
            </a:r>
            <a:r>
              <a:rPr lang="en-US" sz="1950" dirty="0" b="1" i="1">
                <a:solidFill>
                  <a:srgbClr val="C9561F"/>
                </a:solidFill>
                <a:latin typeface="Cambria"/>
                <a:cs typeface="Cambria"/>
              </a:rPr>
              <a:t xml:space="preserve">b</a:t>
            </a:r>
            <a:r>
              <a:rPr lang="en-US" sz="1950" dirty="0">
                <a:solidFill>
                  <a:srgbClr val="16171D"/>
                </a:solidFill>
                <a:latin typeface="Segoe UI"/>
                <a:cs typeface="Segoe UI"/>
              </a:rPr>
              <a:t xml:space="preserve"> and </a:t>
            </a:r>
            <a:r>
              <a:rPr lang="en-US" sz="1950" dirty="0" b="1" i="1">
                <a:solidFill>
                  <a:srgbClr val="3050B8"/>
                </a:solidFill>
                <a:latin typeface="Cambria"/>
                <a:cs typeface="Cambria"/>
              </a:rPr>
              <a:t xml:space="preserve">c</a:t>
            </a:r>
            <a:r>
              <a:rPr lang="en-US" sz="1950" dirty="0">
                <a:solidFill>
                  <a:srgbClr val="16171D"/>
                </a:solidFill>
                <a:latin typeface="Segoe UI"/>
                <a:cs typeface="Segoe UI"/>
              </a:rPr>
              <a:t xml:space="preserve"> change the </a:t>
            </a:r>
            <a:r>
              <a:rPr lang="en-US" sz="1950" dirty="0" b="1">
                <a:solidFill>
                  <a:srgbClr val="16171D"/>
                </a:solidFill>
                <a:latin typeface="Segoe UI"/>
                <a:cs typeface="Segoe UI"/>
              </a:rPr>
              <a:t xml:space="preserve">inputs</a:t>
            </a:r>
            <a:r>
              <a:rPr lang="en-US" sz="1950" dirty="0">
                <a:solidFill>
                  <a:srgbClr val="16171D"/>
                </a:solidFill>
                <a:latin typeface="Segoe UI"/>
                <a:cs typeface="Segoe UI"/>
              </a:rPr>
              <a:t xml:space="preserve"> (horizontal); </a:t>
            </a:r>
            <a:r>
              <a:rPr lang="en-US" sz="1950" dirty="0" b="1" i="1">
                <a:solidFill>
                  <a:srgbClr val="C9561F"/>
                </a:solidFill>
                <a:latin typeface="Cambria"/>
                <a:cs typeface="Cambria"/>
              </a:rPr>
              <a:t xml:space="preserve">a</a:t>
            </a:r>
            <a:r>
              <a:rPr lang="en-US" sz="1950" dirty="0">
                <a:solidFill>
                  <a:srgbClr val="16171D"/>
                </a:solidFill>
                <a:latin typeface="Segoe UI"/>
                <a:cs typeface="Segoe UI"/>
              </a:rPr>
              <a:t xml:space="preserve"> and </a:t>
            </a:r>
            <a:r>
              <a:rPr lang="en-US" sz="1950" dirty="0" b="1" i="1">
                <a:solidFill>
                  <a:srgbClr val="3050B8"/>
                </a:solidFill>
                <a:latin typeface="Cambria"/>
                <a:cs typeface="Cambria"/>
              </a:rPr>
              <a:t xml:space="preserve">d</a:t>
            </a:r>
            <a:r>
              <a:rPr lang="en-US" sz="1950" dirty="0">
                <a:solidFill>
                  <a:srgbClr val="16171D"/>
                </a:solidFill>
                <a:latin typeface="Segoe UI"/>
                <a:cs typeface="Segoe UI"/>
              </a:rPr>
              <a:t xml:space="preserve"> change the </a:t>
            </a:r>
            <a:r>
              <a:rPr lang="en-US" sz="1950" dirty="0" b="1">
                <a:solidFill>
                  <a:srgbClr val="16171D"/>
                </a:solidFill>
                <a:latin typeface="Segoe UI"/>
                <a:cs typeface="Segoe UI"/>
              </a:rPr>
              <a:t xml:space="preserve">outputs</a:t>
            </a:r>
            <a:r>
              <a:rPr lang="en-US" sz="1950" dirty="0">
                <a:solidFill>
                  <a:srgbClr val="16171D"/>
                </a:solidFill>
                <a:latin typeface="Segoe UI"/>
                <a:cs typeface="Segoe UI"/>
              </a:rPr>
              <a:t xml:space="preserve"> (vertical).</a:t>
            </a:r>
            <a:endParaRPr lang="en-US" sz="1950" dirty="0"/>
          </a:p>
        </p:txBody>
      </p:sp>
      <p:sp>
        <p:nvSpPr>
          <p:cNvPr id="5" name="Shape 5"/>
          <p:cNvSpPr txBox="1"/>
          <p:nvPr/>
        </p:nvSpPr>
        <p:spPr>
          <a:xfrm>
            <a:off x="685800" y="2515362"/>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For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x</a:t>
            </a:r>
            <a:r>
              <a:rPr lang="en-US" sz="1950" dirty="0">
                <a:solidFill>
                  <a:srgbClr val="16171D"/>
                </a:solidFill>
                <a:latin typeface="Segoe UI"/>
                <a:cs typeface="Segoe UI"/>
              </a:rPr>
              <a:t xml:space="preserve">: right </a:t>
            </a:r>
            <a:r>
              <a:rPr lang="en-US" sz="1950" dirty="0" i="1">
                <a:solidFill>
                  <a:srgbClr val="16171D"/>
                </a:solidFill>
                <a:latin typeface="Cambria"/>
                <a:cs typeface="Cambria"/>
              </a:rPr>
              <a:t xml:space="preserve">n</a:t>
            </a:r>
            <a:r>
              <a:rPr lang="en-US" sz="1950" dirty="0">
                <a:solidFill>
                  <a:srgbClr val="16171D"/>
                </a:solidFill>
                <a:latin typeface="Segoe UI"/>
                <a:cs typeface="Segoe UI"/>
              </a:rPr>
              <a:t xml:space="preserve"> = down </a:t>
            </a:r>
            <a:r>
              <a:rPr lang="en-US" sz="1950" dirty="0" i="1">
                <a:solidFill>
                  <a:srgbClr val="16171D"/>
                </a:solidFill>
                <a:latin typeface="Cambria"/>
                <a:cs typeface="Cambria"/>
              </a:rPr>
              <a:t xml:space="preserve">n</a:t>
            </a:r>
            <a:r>
              <a:rPr lang="en-US" sz="1950" dirty="0">
                <a:solidFill>
                  <a:srgbClr val="16171D"/>
                </a:solidFill>
                <a:latin typeface="Segoe UI"/>
                <a:cs typeface="Segoe UI"/>
              </a:rPr>
              <a:t xml:space="preserve">, and a vertical dilation by </a:t>
            </a:r>
            <a:r>
              <a:rPr lang="en-US" sz="1950" dirty="0" i="1">
                <a:solidFill>
                  <a:srgbClr val="16171D"/>
                </a:solidFill>
                <a:latin typeface="Cambria"/>
                <a:cs typeface="Cambria"/>
              </a:rPr>
              <a:t xml:space="preserve">n</a:t>
            </a:r>
            <a:r>
              <a:rPr lang="en-US" sz="1950" dirty="0">
                <a:solidFill>
                  <a:srgbClr val="16171D"/>
                </a:solidFill>
                <a:latin typeface="Segoe UI"/>
                <a:cs typeface="Segoe UI"/>
              </a:rPr>
              <a:t xml:space="preserve"> = a horizontal dilation by </a:t>
            </a:r>
            <a:r>
              <a:rPr lang="en-US" sz="1950" dirty="0">
                <a:solidFill>
                  <a:srgbClr val="16171D"/>
                </a:solidFill>
                <a:latin typeface="Cambria"/>
                <a:cs typeface="Cambria"/>
              </a:rPr>
              <a:t xml:space="preserve">1/</a:t>
            </a:r>
            <a:r>
              <a:rPr lang="en-US" sz="1950" dirty="0" i="1">
                <a:solidFill>
                  <a:srgbClr val="16171D"/>
                </a:solidFill>
                <a:latin typeface="Cambria"/>
                <a:cs typeface="Cambria"/>
              </a:rPr>
              <a:t xml:space="preserve">n</a:t>
            </a:r>
            <a:r>
              <a:rPr lang="en-US" sz="1950" dirty="0">
                <a:solidFill>
                  <a:srgbClr val="16171D"/>
                </a:solidFill>
                <a:latin typeface="Segoe UI"/>
                <a:cs typeface="Segoe UI"/>
              </a:rPr>
              <a:t xml:space="preserve">.</a:t>
            </a:r>
            <a:endParaRPr lang="en-US" sz="1950" dirty="0"/>
          </a:p>
        </p:txBody>
      </p:sp>
      <p:sp>
        <p:nvSpPr>
          <p:cNvPr id="6" name="Shape 6"/>
          <p:cNvSpPr txBox="1"/>
          <p:nvPr/>
        </p:nvSpPr>
        <p:spPr>
          <a:xfrm>
            <a:off x="685800" y="335508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For other linear functions these pairs are </a:t>
            </a:r>
            <a:r>
              <a:rPr lang="en-US" sz="1950" dirty="0" b="1">
                <a:solidFill>
                  <a:srgbClr val="16171D"/>
                </a:solidFill>
                <a:latin typeface="Segoe UI"/>
                <a:cs typeface="Segoe UI"/>
              </a:rPr>
              <a:t xml:space="preserve">not</a:t>
            </a:r>
            <a:r>
              <a:rPr lang="en-US" sz="1950" dirty="0">
                <a:solidFill>
                  <a:srgbClr val="16171D"/>
                </a:solidFill>
                <a:latin typeface="Segoe UI"/>
                <a:cs typeface="Segoe UI"/>
              </a:rPr>
              <a:t xml:space="preserve"> the same.</a:t>
            </a:r>
            <a:endParaRPr lang="en-US" sz="1950" dirty="0"/>
          </a:p>
        </p:txBody>
      </p:sp>
      <p:sp>
        <p:nvSpPr>
          <p:cNvPr id="7" name="Slide Number 7"/>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34</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500"/>
                                        <p:tgtEl>
                                          <p:spTgt spid="5"/>
                                        </p:tgtEl>
                                      </p:cBhvr>
                                    </p:animEffect>
                                    <p:anim calcmode="lin" valueType="num">
                                      <p:cBhvr>
                                        <p:cTn id="12" dur="500" fill="hold"/>
                                        <p:tgtEl>
                                          <p:spTgt spid="5"/>
                                        </p:tgtEl>
                                        <p:attrNameLst>
                                          <p:attrName>ppt_x</p:attrName>
                                        </p:attrNameLst>
                                      </p:cBhvr>
                                      <p:tavLst>
                                        <p:tav tm="0">
                                          <p:val>
                                            <p:strVal val="#ppt_x"/>
                                          </p:val>
                                        </p:tav>
                                        <p:tav tm="100000">
                                          <p:val>
                                            <p:strVal val="#ppt_x"/>
                                          </p:val>
                                        </p:tav>
                                      </p:tavLst>
                                    </p:anim>
                                    <p:anim calcmode="lin" valueType="num">
                                      <p:cBhvr>
                                        <p:cTn id="13"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00"/>
                                        <p:tgtEl>
                                          <p:spTgt spid="6"/>
                                        </p:tgtEl>
                                      </p:cBhvr>
                                    </p:animEffect>
                                    <p:anim calcmode="lin" valueType="num">
                                      <p:cBhvr>
                                        <p:cTn id="19" dur="500" fill="hold"/>
                                        <p:tgtEl>
                                          <p:spTgt spid="6"/>
                                        </p:tgtEl>
                                        <p:attrNameLst>
                                          <p:attrName>ppt_x</p:attrName>
                                        </p:attrNameLst>
                                      </p:cBhvr>
                                      <p:tavLst>
                                        <p:tav tm="0">
                                          <p:val>
                                            <p:strVal val="#ppt_x"/>
                                          </p:val>
                                        </p:tav>
                                        <p:tav tm="100000">
                                          <p:val>
                                            <p:strVal val="#ppt_x"/>
                                          </p:val>
                                        </p:tav>
                                      </p:tavLst>
                                    </p:anim>
                                    <p:anim calcmode="lin" valueType="num">
                                      <p:cBhvr>
                                        <p:cTn id="20" dur="500" fill="hold"/>
                                        <p:tgtEl>
                                          <p:spTgt spid="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Exit Ticket</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Show what you know</a:t>
            </a:r>
            <a:endParaRPr lang="en-US" sz="3450" dirty="0"/>
          </a:p>
        </p:txBody>
      </p:sp>
      <p:sp>
        <p:nvSpPr>
          <p:cNvPr id="4" name="Shape 4"/>
          <p:cNvSpPr txBox="1"/>
          <p:nvPr/>
        </p:nvSpPr>
        <p:spPr>
          <a:xfrm>
            <a:off x="685800" y="167563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x</a:t>
            </a:r>
            <a:r>
              <a:rPr lang="en-US" sz="1950" dirty="0">
                <a:solidFill>
                  <a:srgbClr val="16171D"/>
                </a:solidFill>
                <a:latin typeface="Segoe UI"/>
                <a:cs typeface="Segoe UI"/>
              </a:rPr>
              <a:t xml:space="preserve"> and </a:t>
            </a:r>
            <a:r>
              <a:rPr lang="en-US" sz="1950" dirty="0" i="1">
                <a:solidFill>
                  <a:srgbClr val="16171D"/>
                </a:solidFill>
                <a:latin typeface="Cambria"/>
                <a:cs typeface="Cambria"/>
              </a:rPr>
              <a:t xml:space="preserve">g</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+ 6)</a:t>
            </a:r>
            <a:r>
              <a:rPr lang="en-US" sz="1950" dirty="0">
                <a:solidFill>
                  <a:srgbClr val="16171D"/>
                </a:solidFill>
                <a:latin typeface="Segoe UI"/>
                <a:cs typeface="Segoe UI"/>
              </a:rPr>
              <a:t xml:space="preserve">. Describe the transformation.</a:t>
            </a:r>
            <a:endParaRPr lang="en-US" sz="1950" dirty="0"/>
          </a:p>
        </p:txBody>
      </p:sp>
      <p:sp>
        <p:nvSpPr>
          <p:cNvPr id="5" name="Shape 5"/>
          <p:cNvSpPr txBox="1"/>
          <p:nvPr/>
        </p:nvSpPr>
        <p:spPr>
          <a:xfrm>
            <a:off x="685800" y="2141982"/>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Left 6</a:t>
            </a:r>
            <a:endParaRPr lang="en-US" sz="2325" dirty="0"/>
          </a:p>
        </p:txBody>
      </p:sp>
      <p:sp>
        <p:nvSpPr>
          <p:cNvPr id="6" name="Shape 6"/>
          <p:cNvSpPr txBox="1"/>
          <p:nvPr/>
        </p:nvSpPr>
        <p:spPr>
          <a:xfrm>
            <a:off x="685800" y="2775204"/>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a:t>
            </a:r>
            <a:r>
              <a:rPr lang="en-US" sz="1950" dirty="0" i="1">
                <a:solidFill>
                  <a:srgbClr val="16171D"/>
                </a:solidFill>
                <a:latin typeface="Cambria"/>
                <a:cs typeface="Cambria"/>
              </a:rPr>
              <a:t xml:space="preserve">j</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3</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+ 1</a:t>
            </a:r>
            <a:r>
              <a:rPr lang="en-US" sz="1950" dirty="0">
                <a:solidFill>
                  <a:srgbClr val="16171D"/>
                </a:solidFill>
                <a:latin typeface="Segoe UI"/>
                <a:cs typeface="Segoe UI"/>
              </a:rPr>
              <a:t xml:space="preserve">. Simplify </a:t>
            </a:r>
            <a:r>
              <a:rPr lang="en-US" sz="1950" dirty="0" i="1">
                <a:solidFill>
                  <a:srgbClr val="16171D"/>
                </a:solidFill>
                <a:latin typeface="Cambria"/>
                <a:cs typeface="Cambria"/>
              </a:rPr>
              <a:t xml:space="preserve">j</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− 2)</a:t>
            </a:r>
            <a:r>
              <a:rPr lang="en-US" sz="1950" dirty="0">
                <a:solidFill>
                  <a:srgbClr val="16171D"/>
                </a:solidFill>
                <a:latin typeface="Segoe UI"/>
                <a:cs typeface="Segoe UI"/>
              </a:rPr>
              <a:t xml:space="preserve">.</a:t>
            </a:r>
            <a:endParaRPr lang="en-US" sz="1950" dirty="0"/>
          </a:p>
        </p:txBody>
      </p:sp>
      <p:sp>
        <p:nvSpPr>
          <p:cNvPr id="7" name="Shape 7"/>
          <p:cNvSpPr txBox="1"/>
          <p:nvPr/>
        </p:nvSpPr>
        <p:spPr>
          <a:xfrm>
            <a:off x="685800" y="3241548"/>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3</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− 5</a:t>
            </a:r>
            <a:endParaRPr lang="en-US" sz="2325" dirty="0"/>
          </a:p>
        </p:txBody>
      </p:sp>
      <p:sp>
        <p:nvSpPr>
          <p:cNvPr id="8" name="Shape 8"/>
          <p:cNvSpPr txBox="1"/>
          <p:nvPr/>
        </p:nvSpPr>
        <p:spPr>
          <a:xfrm>
            <a:off x="685800" y="387477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For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x</a:t>
            </a:r>
            <a:r>
              <a:rPr lang="en-US" sz="1950" dirty="0">
                <a:solidFill>
                  <a:srgbClr val="16171D"/>
                </a:solidFill>
                <a:latin typeface="Segoe UI"/>
                <a:cs typeface="Segoe UI"/>
              </a:rPr>
              <a:t xml:space="preserve">, which vertical dilation gives the same graph as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(5</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a:t>
            </a:r>
            <a:r>
              <a:rPr lang="en-US" sz="1950" dirty="0">
                <a:solidFill>
                  <a:srgbClr val="16171D"/>
                </a:solidFill>
                <a:latin typeface="Segoe UI"/>
                <a:cs typeface="Segoe UI"/>
              </a:rPr>
              <a:t xml:space="preserve">?</a:t>
            </a:r>
            <a:endParaRPr lang="en-US" sz="1950" dirty="0"/>
          </a:p>
        </p:txBody>
      </p:sp>
      <p:sp>
        <p:nvSpPr>
          <p:cNvPr id="9" name="Shape 9"/>
          <p:cNvSpPr txBox="1"/>
          <p:nvPr/>
        </p:nvSpPr>
        <p:spPr>
          <a:xfrm>
            <a:off x="685800" y="4341114"/>
            <a:ext cx="2742194"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5</a:t>
            </a: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a:t>
            </a:r>
            <a:endParaRPr lang="en-US" sz="2325" dirty="0"/>
          </a:p>
        </p:txBody>
      </p:sp>
      <p:sp>
        <p:nvSpPr>
          <p:cNvPr id="10" name="Slide Number 10"/>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35</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2 · End of Day 2</a:t>
            </a:r>
            <a:endParaRPr lang="en-US" sz="1200" dirty="0"/>
          </a:p>
        </p:txBody>
      </p:sp>
      <p:sp>
        <p:nvSpPr>
          <p:cNvPr id="3" name="Shape 3"/>
          <p:cNvSpPr txBox="1"/>
          <p:nvPr/>
        </p:nvSpPr>
        <p:spPr>
          <a:xfrm>
            <a:off x="685800" y="2512314"/>
            <a:ext cx="10820095" cy="25694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Stop here: an extra Lesson 2 day</a:t>
            </a:r>
            <a:endParaRPr lang="en-US" sz="8250" dirty="0"/>
          </a:p>
        </p:txBody>
      </p:sp>
      <p:sp>
        <p:nvSpPr>
          <p:cNvPr id="4" name="Shape 4"/>
          <p:cNvSpPr txBox="1"/>
          <p:nvPr/>
        </p:nvSpPr>
        <p:spPr>
          <a:xfrm>
            <a:off x="685800" y="5253228"/>
            <a:ext cx="10820095" cy="3977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Next class: Lesson 3. Open the Lesson 3 deck.</a:t>
            </a:r>
            <a:endParaRPr lang="en-US" sz="2250" dirty="0"/>
          </a:p>
        </p:txBody>
      </p:sp>
      <p:sp>
        <p:nvSpPr>
          <p:cNvPr id="5" name="Slide Number 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36</a:t>
            </a:fld>
          </a:p>
        </p:txBody>
      </p:sp>
    </p:spTree>
  </p:cSld>
  <p:clrMapOvr>
    <a:masterClrMapping/>
  </p:clrMapOvr>
  <p:transition spd="med">
    <p:fade/>
  </p:transition>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Prepare · SE p. 304</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Determine the reciprocal of each value</a:t>
            </a:r>
            <a:endParaRPr lang="en-US" sz="3450" dirty="0"/>
          </a:p>
        </p:txBody>
      </p:sp>
      <p:sp>
        <p:nvSpPr>
          <p:cNvPr id="4" name="Shape 4"/>
          <p:cNvSpPr txBox="1"/>
          <p:nvPr/>
        </p:nvSpPr>
        <p:spPr>
          <a:xfrm>
            <a:off x="685800" y="1618488"/>
            <a:ext cx="521954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1. 3</a:t>
            </a:r>
            <a:endParaRPr lang="en-US" sz="2325" dirty="0"/>
          </a:p>
        </p:txBody>
      </p:sp>
      <p:sp>
        <p:nvSpPr>
          <p:cNvPr id="5" name="Shape 5"/>
          <p:cNvSpPr txBox="1"/>
          <p:nvPr/>
        </p:nvSpPr>
        <p:spPr>
          <a:xfrm>
            <a:off x="685800" y="2122932"/>
            <a:ext cx="241054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1/3</a:t>
            </a:r>
            <a:endParaRPr lang="en-US" sz="2325" dirty="0"/>
          </a:p>
        </p:txBody>
      </p:sp>
      <p:sp>
        <p:nvSpPr>
          <p:cNvPr id="6" name="Shape 6"/>
          <p:cNvSpPr txBox="1"/>
          <p:nvPr/>
        </p:nvSpPr>
        <p:spPr>
          <a:xfrm>
            <a:off x="685800" y="2737104"/>
            <a:ext cx="521954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3. 1/5</a:t>
            </a:r>
            <a:endParaRPr lang="en-US" sz="2325" dirty="0"/>
          </a:p>
        </p:txBody>
      </p:sp>
      <p:sp>
        <p:nvSpPr>
          <p:cNvPr id="7" name="Shape 7"/>
          <p:cNvSpPr txBox="1"/>
          <p:nvPr/>
        </p:nvSpPr>
        <p:spPr>
          <a:xfrm>
            <a:off x="685800" y="3241548"/>
            <a:ext cx="207888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5</a:t>
            </a:r>
            <a:endParaRPr lang="en-US" sz="2325" dirty="0"/>
          </a:p>
        </p:txBody>
      </p:sp>
      <p:sp>
        <p:nvSpPr>
          <p:cNvPr id="8" name="Shape 8"/>
          <p:cNvSpPr txBox="1"/>
          <p:nvPr/>
        </p:nvSpPr>
        <p:spPr>
          <a:xfrm>
            <a:off x="685800" y="3855720"/>
            <a:ext cx="521954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5. −</a:t>
            </a:r>
            <a:r>
              <a:rPr lang="en-US" sz="2325" dirty="0" i="1">
                <a:solidFill>
                  <a:srgbClr val="16171D"/>
                </a:solidFill>
                <a:latin typeface="Cambria"/>
                <a:cs typeface="Cambria"/>
              </a:rPr>
              <a:t xml:space="preserve">c</a:t>
            </a:r>
            <a:endParaRPr lang="en-US" sz="2325" dirty="0"/>
          </a:p>
        </p:txBody>
      </p:sp>
      <p:sp>
        <p:nvSpPr>
          <p:cNvPr id="9" name="Shape 9"/>
          <p:cNvSpPr txBox="1"/>
          <p:nvPr/>
        </p:nvSpPr>
        <p:spPr>
          <a:xfrm>
            <a:off x="685800" y="4360164"/>
            <a:ext cx="257636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−1/</a:t>
            </a:r>
            <a:r>
              <a:rPr lang="en-US" sz="2325" dirty="0" i="1">
                <a:solidFill>
                  <a:srgbClr val="16171D"/>
                </a:solidFill>
                <a:latin typeface="Cambria"/>
                <a:cs typeface="Cambria"/>
              </a:rPr>
              <a:t xml:space="preserve">c</a:t>
            </a:r>
            <a:endParaRPr lang="en-US" sz="2325" dirty="0"/>
          </a:p>
        </p:txBody>
      </p:sp>
      <p:sp>
        <p:nvSpPr>
          <p:cNvPr id="10" name="Shape 10"/>
          <p:cNvSpPr txBox="1"/>
          <p:nvPr/>
        </p:nvSpPr>
        <p:spPr>
          <a:xfrm>
            <a:off x="6286348" y="1618488"/>
            <a:ext cx="521954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2. −10</a:t>
            </a:r>
            <a:endParaRPr lang="en-US" sz="2325" dirty="0"/>
          </a:p>
        </p:txBody>
      </p:sp>
      <p:sp>
        <p:nvSpPr>
          <p:cNvPr id="11" name="Shape 11"/>
          <p:cNvSpPr txBox="1"/>
          <p:nvPr/>
        </p:nvSpPr>
        <p:spPr>
          <a:xfrm>
            <a:off x="6286348" y="2122932"/>
            <a:ext cx="2742194"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−1/10</a:t>
            </a:r>
            <a:endParaRPr lang="en-US" sz="2325" dirty="0"/>
          </a:p>
        </p:txBody>
      </p:sp>
      <p:sp>
        <p:nvSpPr>
          <p:cNvPr id="12" name="Shape 12"/>
          <p:cNvSpPr txBox="1"/>
          <p:nvPr/>
        </p:nvSpPr>
        <p:spPr>
          <a:xfrm>
            <a:off x="6286348" y="2737104"/>
            <a:ext cx="521954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4. −5/4</a:t>
            </a:r>
            <a:endParaRPr lang="en-US" sz="2325" dirty="0"/>
          </a:p>
        </p:txBody>
      </p:sp>
      <p:sp>
        <p:nvSpPr>
          <p:cNvPr id="13" name="Shape 13"/>
          <p:cNvSpPr txBox="1"/>
          <p:nvPr/>
        </p:nvSpPr>
        <p:spPr>
          <a:xfrm>
            <a:off x="6286348" y="3241548"/>
            <a:ext cx="257636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−4/5</a:t>
            </a:r>
            <a:endParaRPr lang="en-US" sz="2325" dirty="0"/>
          </a:p>
        </p:txBody>
      </p:sp>
      <p:sp>
        <p:nvSpPr>
          <p:cNvPr id="14" name="Shape 14"/>
          <p:cNvSpPr txBox="1"/>
          <p:nvPr/>
        </p:nvSpPr>
        <p:spPr>
          <a:xfrm>
            <a:off x="6286348" y="3855720"/>
            <a:ext cx="521954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6. </a:t>
            </a:r>
            <a:r>
              <a:rPr lang="en-US" sz="2325" dirty="0" i="1">
                <a:solidFill>
                  <a:srgbClr val="16171D"/>
                </a:solidFill>
                <a:latin typeface="Cambria"/>
                <a:cs typeface="Cambria"/>
              </a:rPr>
              <a:t xml:space="preserve">a</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b</a:t>
            </a:r>
            <a:endParaRPr lang="en-US" sz="2325" dirty="0"/>
          </a:p>
        </p:txBody>
      </p:sp>
      <p:sp>
        <p:nvSpPr>
          <p:cNvPr id="15" name="Shape 15"/>
          <p:cNvSpPr txBox="1"/>
          <p:nvPr/>
        </p:nvSpPr>
        <p:spPr>
          <a:xfrm>
            <a:off x="6286348" y="4360164"/>
            <a:ext cx="241054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b</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a</a:t>
            </a:r>
            <a:endParaRPr lang="en-US" sz="2325" dirty="0"/>
          </a:p>
        </p:txBody>
      </p:sp>
      <p:sp>
        <p:nvSpPr>
          <p:cNvPr id="16" name="Slide Number 1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37</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1"/>
                                        </p:tgtEl>
                                        <p:attrNameLst>
                                          <p:attrName>style.visibility</p:attrName>
                                        </p:attrNameLst>
                                      </p:cBhvr>
                                      <p:to>
                                        <p:strVal val="visible"/>
                                      </p:to>
                                    </p:set>
                                    <p:animEffect transition="in" filter="fade">
                                      <p:cBhvr>
                                        <p:cTn id="25" dur="500"/>
                                        <p:tgtEl>
                                          <p:spTgt spid="11"/>
                                        </p:tgtEl>
                                      </p:cBhvr>
                                    </p:animEffect>
                                    <p:anim calcmode="lin" valueType="num">
                                      <p:cBhvr>
                                        <p:cTn id="26" dur="500" fill="hold"/>
                                        <p:tgtEl>
                                          <p:spTgt spid="11"/>
                                        </p:tgtEl>
                                        <p:attrNameLst>
                                          <p:attrName>ppt_w</p:attrName>
                                        </p:attrNameLst>
                                      </p:cBhvr>
                                      <p:tavLst>
                                        <p:tav tm="0">
                                          <p:val>
                                            <p:fltVal val="0"/>
                                          </p:val>
                                        </p:tav>
                                        <p:tav tm="100000">
                                          <p:val>
                                            <p:strVal val="#ppt_w"/>
                                          </p:val>
                                        </p:tav>
                                      </p:tavLst>
                                    </p:anim>
                                    <p:anim calcmode="lin" valueType="num">
                                      <p:cBhvr>
                                        <p:cTn id="27" dur="500" fill="hold"/>
                                        <p:tgtEl>
                                          <p:spTgt spid="11"/>
                                        </p:tgtEl>
                                        <p:attrNameLst>
                                          <p:attrName>ppt_h</p:attrName>
                                        </p:attrNameLst>
                                      </p:cBhvr>
                                      <p:tavLst>
                                        <p:tav tm="0">
                                          <p:val>
                                            <p:fltVal val="0"/>
                                          </p:val>
                                        </p:tav>
                                        <p:tav tm="100000">
                                          <p:val>
                                            <p:strVal val="#ppt_h"/>
                                          </p:val>
                                        </p:tav>
                                      </p:tavLst>
                                    </p:anim>
                                  </p:childTnLst>
                                </p:cTn>
                              </p:par>
                            </p:childTnLst>
                          </p:cTn>
                        </p:par>
                      </p:childTnLst>
                    </p:cTn>
                  </p:par>
                  <p:par>
                    <p:cTn id="36" fill="hold">
                      <p:stCondLst>
                        <p:cond delay="indefinite"/>
                      </p:stCondLst>
                      <p:childTnLst>
                        <p:par>
                          <p:cTn id="37" fill="hold">
                            <p:stCondLst>
                              <p:cond delay="0"/>
                            </p:stCondLst>
                            <p:childTnLst>
                              <p:par>
                                <p:cTn id="35" presetID="53" presetClass="entr" presetSubtype="16" fill="hold" nodeType="clickEffect">
                                  <p:stCondLst>
                                    <p:cond delay="0"/>
                                  </p:stCondLst>
                                  <p:childTnLst>
                                    <p:set>
                                      <p:cBhvr>
                                        <p:cTn id="31" dur="1" fill="hold">
                                          <p:stCondLst>
                                            <p:cond delay="0"/>
                                          </p:stCondLst>
                                        </p:cTn>
                                        <p:tgtEl>
                                          <p:spTgt spid="13"/>
                                        </p:tgtEl>
                                        <p:attrNameLst>
                                          <p:attrName>style.visibility</p:attrName>
                                        </p:attrNameLst>
                                      </p:cBhvr>
                                      <p:to>
                                        <p:strVal val="visible"/>
                                      </p:to>
                                    </p:set>
                                    <p:animEffect transition="in" filter="fade">
                                      <p:cBhvr>
                                        <p:cTn id="32" dur="500"/>
                                        <p:tgtEl>
                                          <p:spTgt spid="13"/>
                                        </p:tgtEl>
                                      </p:cBhvr>
                                    </p:animEffect>
                                    <p:anim calcmode="lin" valueType="num">
                                      <p:cBhvr>
                                        <p:cTn id="33" dur="500" fill="hold"/>
                                        <p:tgtEl>
                                          <p:spTgt spid="13"/>
                                        </p:tgtEl>
                                        <p:attrNameLst>
                                          <p:attrName>ppt_w</p:attrName>
                                        </p:attrNameLst>
                                      </p:cBhvr>
                                      <p:tavLst>
                                        <p:tav tm="0">
                                          <p:val>
                                            <p:fltVal val="0"/>
                                          </p:val>
                                        </p:tav>
                                        <p:tav tm="100000">
                                          <p:val>
                                            <p:strVal val="#ppt_w"/>
                                          </p:val>
                                        </p:tav>
                                      </p:tavLst>
                                    </p:anim>
                                    <p:anim calcmode="lin" valueType="num">
                                      <p:cBhvr>
                                        <p:cTn id="34" dur="500" fill="hold"/>
                                        <p:tgtEl>
                                          <p:spTgt spid="13"/>
                                        </p:tgtEl>
                                        <p:attrNameLst>
                                          <p:attrName>ppt_h</p:attrName>
                                        </p:attrNameLst>
                                      </p:cBhvr>
                                      <p:tavLst>
                                        <p:tav tm="0">
                                          <p:val>
                                            <p:fltVal val="0"/>
                                          </p:val>
                                        </p:tav>
                                        <p:tav tm="100000">
                                          <p:val>
                                            <p:strVal val="#ppt_h"/>
                                          </p:val>
                                        </p:tav>
                                      </p:tavLst>
                                    </p:anim>
                                  </p:childTnLst>
                                </p:cTn>
                              </p:par>
                            </p:childTnLst>
                          </p:cTn>
                        </p:par>
                      </p:childTnLst>
                    </p:cTn>
                  </p:par>
                  <p:par>
                    <p:cTn id="43" fill="hold">
                      <p:stCondLst>
                        <p:cond delay="indefinite"/>
                      </p:stCondLst>
                      <p:childTnLst>
                        <p:par>
                          <p:cTn id="44" fill="hold">
                            <p:stCondLst>
                              <p:cond delay="0"/>
                            </p:stCondLst>
                            <p:childTnLst>
                              <p:par>
                                <p:cTn id="42" presetID="53" presetClass="entr" presetSubtype="16" fill="hold" nodeType="clickEffect">
                                  <p:stCondLst>
                                    <p:cond delay="0"/>
                                  </p:stCondLst>
                                  <p:childTnLst>
                                    <p:set>
                                      <p:cBhvr>
                                        <p:cTn id="38" dur="1" fill="hold">
                                          <p:stCondLst>
                                            <p:cond delay="0"/>
                                          </p:stCondLst>
                                        </p:cTn>
                                        <p:tgtEl>
                                          <p:spTgt spid="15"/>
                                        </p:tgtEl>
                                        <p:attrNameLst>
                                          <p:attrName>style.visibility</p:attrName>
                                        </p:attrNameLst>
                                      </p:cBhvr>
                                      <p:to>
                                        <p:strVal val="visible"/>
                                      </p:to>
                                    </p:set>
                                    <p:animEffect transition="in" filter="fade">
                                      <p:cBhvr>
                                        <p:cTn id="39" dur="500"/>
                                        <p:tgtEl>
                                          <p:spTgt spid="15"/>
                                        </p:tgtEl>
                                      </p:cBhvr>
                                    </p:animEffect>
                                    <p:anim calcmode="lin" valueType="num">
                                      <p:cBhvr>
                                        <p:cTn id="40" dur="500" fill="hold"/>
                                        <p:tgtEl>
                                          <p:spTgt spid="15"/>
                                        </p:tgtEl>
                                        <p:attrNameLst>
                                          <p:attrName>ppt_w</p:attrName>
                                        </p:attrNameLst>
                                      </p:cBhvr>
                                      <p:tavLst>
                                        <p:tav tm="0">
                                          <p:val>
                                            <p:fltVal val="0"/>
                                          </p:val>
                                        </p:tav>
                                        <p:tav tm="100000">
                                          <p:val>
                                            <p:strVal val="#ppt_w"/>
                                          </p:val>
                                        </p:tav>
                                      </p:tavLst>
                                    </p:anim>
                                    <p:anim calcmode="lin" valueType="num">
                                      <p:cBhvr>
                                        <p:cTn id="41" dur="500" fill="hold"/>
                                        <p:tgtEl>
                                          <p:spTgt spid="15"/>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Practice Online</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Bell Work, Homework and Quiz</a:t>
            </a:r>
            <a:endParaRPr lang="en-US" sz="3450" dirty="0"/>
          </a:p>
        </p:txBody>
      </p:sp>
      <p:sp>
        <p:nvSpPr>
          <p:cNvPr id="7" name="Shape 7"/>
          <p:cNvSpPr txBox="1"/>
          <p:nvPr/>
        </p:nvSpPr>
        <p:spPr>
          <a:xfrm>
            <a:off x="685800" y="1808988"/>
            <a:ext cx="3378098" cy="197815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980438"/>
            <a:ext cx="29589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Bell work</a:t>
            </a:r>
            <a:endParaRPr lang="en-US" sz="2100" dirty="0"/>
          </a:p>
        </p:txBody>
      </p:sp>
      <p:sp>
        <p:nvSpPr>
          <p:cNvPr id="5" name="Shape 5"/>
          <p:cNvSpPr txBox="1"/>
          <p:nvPr/>
        </p:nvSpPr>
        <p:spPr>
          <a:xfrm>
            <a:off x="895350" y="2450592"/>
            <a:ext cx="295899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3050B8"/>
                </a:solidFill>
                <a:latin typeface="Segoe UI"/>
                <a:cs typeface="Segoe UI"/>
                <a:hlinkClick r:id="rId3"/>
              </a:rPr>
              <a:t xml:space="preserve">Day 1 →</a:t>
            </a:r>
            <a:r>
              <a:rPr lang="en-US" sz="1575" dirty="0">
                <a:solidFill>
                  <a:srgbClr val="16171D"/>
                </a:solidFill>
                <a:latin typeface="Segoe UI"/>
                <a:cs typeface="Segoe UI"/>
              </a:rPr>
              <a:t xml:space="preserve"> · </a:t>
            </a:r>
            <a:r>
              <a:rPr lang="en-US" sz="1575" dirty="0" b="1">
                <a:solidFill>
                  <a:srgbClr val="3050B8"/>
                </a:solidFill>
                <a:latin typeface="Segoe UI"/>
                <a:cs typeface="Segoe UI"/>
                <a:hlinkClick r:id="rId4"/>
              </a:rPr>
              <a:t xml:space="preserve">Day 2 →</a:t>
            </a:r>
            <a:endParaRPr lang="en-US" sz="1575" dirty="0"/>
          </a:p>
        </p:txBody>
      </p:sp>
      <p:sp>
        <p:nvSpPr>
          <p:cNvPr id="6" name="Shape 6"/>
          <p:cNvSpPr txBox="1"/>
          <p:nvPr/>
        </p:nvSpPr>
        <p:spPr>
          <a:xfrm>
            <a:off x="895350" y="2840736"/>
            <a:ext cx="2958998" cy="77495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4 questions each, the same as the bell work slides. Scored when students submit.</a:t>
            </a:r>
            <a:endParaRPr lang="en-US" sz="1575" dirty="0"/>
          </a:p>
        </p:txBody>
      </p:sp>
      <p:sp>
        <p:nvSpPr>
          <p:cNvPr id="10" name="Shape 10"/>
          <p:cNvSpPr txBox="1"/>
          <p:nvPr/>
        </p:nvSpPr>
        <p:spPr>
          <a:xfrm>
            <a:off x="4406798" y="1808988"/>
            <a:ext cx="3378098" cy="158800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4616348" y="1980438"/>
            <a:ext cx="29589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3050B8"/>
                </a:solidFill>
                <a:latin typeface="Segoe UI"/>
                <a:cs typeface="Segoe UI"/>
                <a:hlinkClick r:id="rId5"/>
              </a:rPr>
              <a:t xml:space="preserve">Homework →</a:t>
            </a:r>
            <a:endParaRPr lang="en-US" sz="2100" dirty="0"/>
          </a:p>
        </p:txBody>
      </p:sp>
      <p:sp>
        <p:nvSpPr>
          <p:cNvPr id="9" name="Shape 9"/>
          <p:cNvSpPr txBox="1"/>
          <p:nvPr/>
        </p:nvSpPr>
        <p:spPr>
          <a:xfrm>
            <a:off x="4616348" y="2450592"/>
            <a:ext cx="2958998" cy="77495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10 practice questions. Each answer is checked right away, with an explanation.</a:t>
            </a:r>
            <a:endParaRPr lang="en-US" sz="1575" dirty="0"/>
          </a:p>
        </p:txBody>
      </p:sp>
      <p:sp>
        <p:nvSpPr>
          <p:cNvPr id="13" name="Shape 13"/>
          <p:cNvSpPr txBox="1"/>
          <p:nvPr/>
        </p:nvSpPr>
        <p:spPr>
          <a:xfrm>
            <a:off x="8127797" y="1808988"/>
            <a:ext cx="3378098" cy="158800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1" name="Shape 11"/>
          <p:cNvSpPr txBox="1"/>
          <p:nvPr/>
        </p:nvSpPr>
        <p:spPr>
          <a:xfrm>
            <a:off x="8337347" y="1980438"/>
            <a:ext cx="29589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3050B8"/>
                </a:solidFill>
                <a:latin typeface="Segoe UI"/>
                <a:cs typeface="Segoe UI"/>
                <a:hlinkClick r:id="rId6"/>
              </a:rPr>
              <a:t xml:space="preserve">Quiz →</a:t>
            </a:r>
            <a:endParaRPr lang="en-US" sz="2100" dirty="0"/>
          </a:p>
        </p:txBody>
      </p:sp>
      <p:sp>
        <p:nvSpPr>
          <p:cNvPr id="12" name="Shape 12"/>
          <p:cNvSpPr txBox="1"/>
          <p:nvPr/>
        </p:nvSpPr>
        <p:spPr>
          <a:xfrm>
            <a:off x="8337347" y="2450592"/>
            <a:ext cx="2958998" cy="77495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10 questions, scored when students submit. Correct answers are shown after submitting.</a:t>
            </a:r>
            <a:endParaRPr lang="en-US" sz="1575" dirty="0"/>
          </a:p>
        </p:txBody>
      </p:sp>
      <p:sp>
        <p:nvSpPr>
          <p:cNvPr id="14" name="Shape 14"/>
          <p:cNvSpPr txBox="1"/>
          <p:nvPr/>
        </p:nvSpPr>
        <p:spPr>
          <a:xfrm>
            <a:off x="685800" y="4015740"/>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All are multiple choice. The homework follows the Lesson 2 Assignment (SE pp. 303–304).</a:t>
            </a:r>
            <a:endParaRPr lang="en-US" sz="1575" dirty="0"/>
          </a:p>
        </p:txBody>
      </p:sp>
      <p:sp>
        <p:nvSpPr>
          <p:cNvPr id="15" name="Slide Number 1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38</a:t>
            </a:fld>
          </a:p>
        </p:txBody>
      </p:sp>
    </p:spTree>
  </p:cSld>
  <p:clrMapOvr>
    <a:masterClrMapping/>
  </p:clrMapOvr>
  <p:transition spd="med">
    <p:fade/>
  </p:transition>
</p:sld>
</file>

<file path=ppt/theme/theme1.xml><?xml version="1.0" encoding="utf-8"?>
<a:theme xmlns:a="http://schemas.openxmlformats.org/drawingml/2006/main" name="Vertical and Horizontal Transformations of Linear Functions">
  <a:themeElements>
    <a:clrScheme name="Lesson">
      <a:dk1>
        <a:srgbClr val="16171D"/>
      </a:dk1>
      <a:lt1>
        <a:srgbClr val="FFFFFF"/>
      </a:lt1>
      <a:dk2>
        <a:srgbClr val="233D94"/>
      </a:dk2>
      <a:lt2>
        <a:srgbClr val="F7F7FB"/>
      </a:lt2>
      <a:accent1>
        <a:srgbClr val="C9561F"/>
      </a:accent1>
      <a:accent2>
        <a:srgbClr val="3050B8"/>
      </a:accent2>
      <a:accent3>
        <a:srgbClr val="4F8A3C"/>
      </a:accent3>
      <a:accent4>
        <a:srgbClr val="7A5AC8"/>
      </a:accent4>
      <a:accent5>
        <a:srgbClr val="C23B6B"/>
      </a:accent5>
      <a:accent6>
        <a:srgbClr val="4F8A3C"/>
      </a:accent6>
      <a:hlink>
        <a:srgbClr val="3050B8"/>
      </a:hlink>
      <a:folHlink>
        <a:srgbClr val="7A5AC8"/>
      </a:folHlink>
    </a:clrScheme>
    <a:fontScheme name="Lesson">
      <a:majorFont>
        <a:latin typeface="Segoe UI"/>
        <a:ea typeface=""/>
        <a:cs typeface=""/>
      </a:majorFont>
      <a:minorFont>
        <a:latin typeface="Segoe UI"/>
        <a:ea typeface=""/>
        <a:cs typeface=""/>
      </a:minorFont>
    </a:fontScheme>
    <a:fmtScheme name="Lesson">
      <a:fillStyleLst>
        <a:solidFill>
          <a:schemeClr val="phClr"/>
        </a:solidFill>
        <a:solidFill>
          <a:schemeClr val="phClr"/>
        </a:solidFill>
        <a:solidFill>
          <a:schemeClr val="phClr"/>
        </a:solidFill>
      </a:fillStyleLst>
      <a:lnStyleLst>
        <a:ln w="9525" cap="flat" cmpd="sng" algn="ctr">
          <a:solidFill>
            <a:schemeClr val="phClr"/>
          </a:solidFill>
          <a:prstDash val="solid"/>
        </a:ln>
        <a:ln w="9525" cap="flat" cmpd="sng" algn="ctr">
          <a:solidFill>
            <a:schemeClr val="phClr"/>
          </a:solidFill>
          <a:prstDash val="solid"/>
        </a:ln>
        <a:ln w="9525"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ppt/theme/theme2.xml><?xml version="1.0" encoding="utf-8"?>
<a:theme xmlns:a="http://schemas.openxmlformats.org/drawingml/2006/main" name="Notes">
  <a:themeElements>
    <a:clrScheme name="Lesson">
      <a:dk1>
        <a:srgbClr val="16171D"/>
      </a:dk1>
      <a:lt1>
        <a:srgbClr val="FFFFFF"/>
      </a:lt1>
      <a:dk2>
        <a:srgbClr val="233D94"/>
      </a:dk2>
      <a:lt2>
        <a:srgbClr val="F7F7FB"/>
      </a:lt2>
      <a:accent1>
        <a:srgbClr val="C9561F"/>
      </a:accent1>
      <a:accent2>
        <a:srgbClr val="3050B8"/>
      </a:accent2>
      <a:accent3>
        <a:srgbClr val="4F8A3C"/>
      </a:accent3>
      <a:accent4>
        <a:srgbClr val="7A5AC8"/>
      </a:accent4>
      <a:accent5>
        <a:srgbClr val="C23B6B"/>
      </a:accent5>
      <a:accent6>
        <a:srgbClr val="4F8A3C"/>
      </a:accent6>
      <a:hlink>
        <a:srgbClr val="3050B8"/>
      </a:hlink>
      <a:folHlink>
        <a:srgbClr val="7A5AC8"/>
      </a:folHlink>
    </a:clrScheme>
    <a:fontScheme name="Lesson">
      <a:majorFont>
        <a:latin typeface="Segoe UI"/>
        <a:ea typeface=""/>
        <a:cs typeface=""/>
      </a:majorFont>
      <a:minorFont>
        <a:latin typeface="Segoe UI"/>
        <a:ea typeface=""/>
        <a:cs typeface=""/>
      </a:minorFont>
    </a:fontScheme>
    <a:fmtScheme name="Lesson">
      <a:fillStyleLst>
        <a:solidFill>
          <a:schemeClr val="phClr"/>
        </a:solidFill>
        <a:solidFill>
          <a:schemeClr val="phClr"/>
        </a:solidFill>
        <a:solidFill>
          <a:schemeClr val="phClr"/>
        </a:solidFill>
      </a:fillStyleLst>
      <a:lnStyleLst>
        <a:ln w="9525" cap="flat" cmpd="sng" algn="ctr">
          <a:solidFill>
            <a:schemeClr val="phClr"/>
          </a:solidFill>
          <a:prstDash val="solid"/>
        </a:ln>
        <a:ln w="9525" cap="flat" cmpd="sng" algn="ctr">
          <a:solidFill>
            <a:schemeClr val="phClr"/>
          </a:solidFill>
          <a:prstDash val="solid"/>
        </a:ln>
        <a:ln w="9525"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Application>Microsoft Office PowerPoint</Application>
  <Slides>38</Slides>
  <Notes>38</Notes>
</Properties>
</file>

<file path=docProps/core.xml><?xml version="1.0" encoding="utf-8"?>
<cp:coreProperties xmlns:cp="http://schemas.openxmlformats.org/package/2006/metadata/core-properties" xmlns:dc="http://purl.org/dc/elements/1.1/">
  <dc:title>Vertical and Horizontal Transformations of Linear Functions</dc:title>
  <dc:subject>Bluebonnet Algebra I</dc:subject>
</cp:coreProperties>
</file>