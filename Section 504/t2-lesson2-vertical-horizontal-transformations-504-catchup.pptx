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Replace f(x) with x: g(x) = 2x − 3, a vertical dilation by 2 and a translation down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Right 2 means f(x − 2) = 3(x − 2). Distribute: 3x − 6.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Let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Which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in slope-intercept form?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key characteristics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2.1: horizontal vs. vertical translations ★ Essential</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Input</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you put in.</a:t>
            </a:r>
            <a:endParaRPr lang="en-US" sz="1575" dirty="0"/>
          </a:p>
        </p:txBody>
      </p:sp>
      <p:sp>
        <p:nvSpPr>
          <p:cNvPr id="9" name="Shape 9"/>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Output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value that comes out,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translation</a:t>
            </a:r>
            <a:endParaRPr lang="en-US" sz="2100" dirty="0"/>
          </a:p>
        </p:txBody>
      </p:sp>
      <p:sp>
        <p:nvSpPr>
          <p:cNvPr id="11" name="Shape 11"/>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left or right.</a:t>
            </a:r>
            <a:endParaRPr lang="en-US" sz="1575" dirty="0"/>
          </a:p>
        </p:txBody>
      </p:sp>
      <p:sp>
        <p:nvSpPr>
          <p:cNvPr id="12" name="Shape 12"/>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 right 3</a:t>
            </a:r>
            <a:endParaRPr lang="en-US" sz="2325" dirty="0"/>
          </a:p>
        </p:txBody>
      </p:sp>
      <p:sp>
        <p:nvSpPr>
          <p:cNvPr id="17" name="Shape 17"/>
          <p:cNvSpPr txBox="1"/>
          <p:nvPr/>
        </p:nvSpPr>
        <p:spPr>
          <a:xfrm>
            <a:off x="685800"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95350"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15" name="Shape 15"/>
          <p:cNvSpPr txBox="1"/>
          <p:nvPr/>
        </p:nvSpPr>
        <p:spPr>
          <a:xfrm>
            <a:off x="895350"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toward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6" name="Shape 16"/>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0" name="Shape 20"/>
          <p:cNvSpPr txBox="1"/>
          <p:nvPr/>
        </p:nvSpPr>
        <p:spPr>
          <a:xfrm>
            <a:off x="4349648"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8" name="Shape 18"/>
          <p:cNvSpPr txBox="1"/>
          <p:nvPr/>
        </p:nvSpPr>
        <p:spPr>
          <a:xfrm>
            <a:off x="4559198"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 vs. outside</a:t>
            </a:r>
            <a:endParaRPr lang="en-US" sz="2100" dirty="0"/>
          </a:p>
        </p:txBody>
      </p:sp>
      <p:sp>
        <p:nvSpPr>
          <p:cNvPr id="19" name="Shape 19"/>
          <p:cNvSpPr txBox="1"/>
          <p:nvPr/>
        </p:nvSpPr>
        <p:spPr>
          <a:xfrm>
            <a:off x="4559198"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the parentheses: input. Outside: output.</a:t>
            </a:r>
            <a:endParaRPr lang="en-US" sz="1575" dirty="0"/>
          </a:p>
        </p:txBody>
      </p:sp>
      <p:sp>
        <p:nvSpPr>
          <p:cNvPr id="23" name="Shape 23"/>
          <p:cNvSpPr txBox="1"/>
          <p:nvPr/>
        </p:nvSpPr>
        <p:spPr>
          <a:xfrm>
            <a:off x="8013497"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23047"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Counterexample</a:t>
            </a:r>
            <a:endParaRPr lang="en-US" sz="2100" dirty="0"/>
          </a:p>
        </p:txBody>
      </p:sp>
      <p:sp>
        <p:nvSpPr>
          <p:cNvPr id="22" name="Shape 22"/>
          <p:cNvSpPr txBox="1"/>
          <p:nvPr/>
        </p:nvSpPr>
        <p:spPr>
          <a:xfrm>
            <a:off x="8223047"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One example that shows a rule is not always true.</a:t>
            </a:r>
            <a:endParaRPr lang="en-US" sz="1575" dirty="0"/>
          </a:p>
        </p:txBody>
      </p:sp>
      <p:sp>
        <p:nvSpPr>
          <p:cNvPr id="24" name="Slide Number 2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 · ★ Essential</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
        <p:nvSpPr>
          <p:cNvPr id="103" name="Slide Number 10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The sign flips: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left 3.</a:t>
            </a:r>
            <a:endParaRPr lang="en-US" sz="157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d</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No sign flip.</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Only 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is the same as down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Not for other lines.</a:t>
            </a:r>
            <a:endParaRPr lang="en-US" sz="1575" dirty="0"/>
          </a:p>
        </p:txBody>
      </p:sp>
      <p:sp>
        <p:nvSpPr>
          <p:cNvPr id="15" name="Shape 15"/>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27</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2 units. Which function represents the new graph? </a:t>
            </a:r>
            <a:r>
              <a:rPr lang="en-US" sz="1575" dirty="0">
                <a:solidFill>
                  <a:srgbClr val="5F6272"/>
                </a:solidFill>
                <a:latin typeface="Segoe UI"/>
                <a:cs typeface="Segoe UI"/>
              </a:rPr>
              <a:t xml:space="preserve">(SE p. 293)</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
        <p:nvSpPr>
          <p:cNvPr id="32" name="Slide Number 3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2.2: horizontal vs. vertical dilations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2.3: describe and graph ★ Essential</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
        <p:nvSpPr>
          <p:cNvPr id="98" name="Slide Number 9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i="1">
                <a:solidFill>
                  <a:srgbClr val="C9561F"/>
                </a:solidFill>
                <a:latin typeface="Cambria"/>
                <a:cs typeface="Cambria"/>
              </a:rPr>
              <a:t xml:space="preserve">b</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&gt; 1 compresses. 0 &lt;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&lt; 1 stretches.</a:t>
            </a:r>
            <a:endParaRPr lang="en-US" sz="1575" dirty="0"/>
          </a:p>
        </p:txBody>
      </p:sp>
      <p:sp>
        <p:nvSpPr>
          <p:cNvPr id="10" name="Shape 10"/>
          <p:cNvSpPr txBox="1"/>
          <p:nvPr/>
        </p:nvSpPr>
        <p:spPr>
          <a:xfrm>
            <a:off x="4349648"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Matching dilations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vertical by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 horizontal by 1/</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Simplify first</a:t>
            </a:r>
            <a:endParaRPr lang="en-US" sz="2100" dirty="0"/>
          </a:p>
        </p:txBody>
      </p:sp>
      <p:sp>
        <p:nvSpPr>
          <p:cNvPr id="12" name="Shape 12"/>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13" name="Shape 13"/>
          <p:cNvSpPr txBox="1"/>
          <p:nvPr/>
        </p:nvSpPr>
        <p:spPr>
          <a:xfrm>
            <a:off x="8223047" y="311886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then combine.</a:t>
            </a:r>
            <a:endParaRPr lang="en-US" sz="1575" dirty="0"/>
          </a:p>
        </p:txBody>
      </p:sp>
      <p:sp>
        <p:nvSpPr>
          <p:cNvPr id="15" name="Shape 15"/>
          <p:cNvSpPr txBox="1"/>
          <p:nvPr/>
        </p:nvSpPr>
        <p:spPr>
          <a:xfrm>
            <a:off x="685800" y="37566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Lesson 3 starts: open the Lesson 3 deck. Tonight: the Lesson 2 quiz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38</Slides>
  <Notes>38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