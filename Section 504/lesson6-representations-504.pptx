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last lesson of Topic 1. Students decide whether a table, graph, equation, or scenario is linear, write functions from tables, and read meaning from two forms of a linear function: general form f(x) = ax + b and factored form f(x) = a(x − c). Same color code as Lessons 4 and 5: orange means slope (the a-value), blue means a point or intercept. The lesson runs three days, and each day opens with bell work while you take attendance (slide 2 for Day 1, slide 14 for Day 2, slide 26 for Day 3). Day 1 covers Getting Started and Activity 6.1. Day 2 covers Activities 6.2 and 6.3. Day 3 covers Activity 6.4 and Talk the Talk. Materials: the Problem-Solving Model and the Graphic Organizer (SE p. 254). The links under your name open the multiple-choice bell work for each day, the homework, and the quiz (also on the last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what today builds on: slope between two points (the Lesson 5 Prepare page), evaluating a function, solving a two-step equation, and direct variation. Reveal the answers one at a time. Answer key: 1. (15 − 7)/(6 − 2) = 8/4 = 2. 2. f(5) = 4(5) − 3 = 17. 3. 3x = 18, so x = 6. 4. y = 3x is a direct variation: it passes through (0, 0), so y is always 3 times x. y = 3x + 2 starts at (0, 2), so it is not.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Have students write the four new key terms in their notes; they are defined in Activity 6.3 (Day 2). Teacher-guide tip for emergent bilingual students: review the term average rate of change and connect it to the slope of a line. Ask a student to explain the slope formula with an example.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preview the key terms before the lesson. Leave this slide up or print it as a reference card.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and answer it on slide 32.</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complete Question 1 before you reveal anything, then share as a class. Teacher-guide misconception: students may think that because they know a formula for a relationship, like Scenario C, the relationship must be linear. Have them use the formula to make a table (side 1, 2, 3 → area 1, 4, 9; the differences are 3 and 5, not constant). Ask: What is another way to describe "decreases by 50% each hour"? (Multiplied by one-half each hour.) Which feature identifies whether an equation is a linear function? (The variable's exponent is 1 and it isn't in an exponent.)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Describe why Table B is a linear function and Table A is not. (Table B is y = 1, a constant function whose graph is a horizontal line. Table A has the same input with three outputs, so it isn't a function at all; it would be part of the vertical line x = 1.) What strategy can you use for Table C? (The inputs are consecutive, so check the first differences: −15 each time.) This idea of a constant rate of change is exactly what Activity 6.1 extends to tables whose inputs are NOT consecutive.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table does Graph C model? (Something like Table A: the same x-value paired with many y-values.) Why isn't this line a linear function? (It fails the vertical line test; its slope is undefined.) Summary, from the teacher guide: methods exist to determine whether a context, equation, table, or graph represents a linear function. Teacher-guide tip: students who are stuck can convert a representation into the one they're most comfortable with, often a table.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6.1, 25–30 minutes. Read the introduction together, then have pairs complete Questions 1–4 and share. Teacher-guide misconception: students try first differences even though the inputs aren't consecutive. In part (b) the y-values go up by 8 every time, which looks linear, but the last x-step is 4, not 2, so the rate drops to 2. Ask: Why can't you use first differences here? How did you find the y-intercept in part (a)? (Go back 1 from x = 1: y goes up 0.25 to 5.) The teacher guide writes the answer as f(x) = −0.25x + 5.</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inputs are in random order, which is the point of this question. Ask: How can the column titles help you relate the slope to the context? (Dollars over pretzels = dollars per pretzel.) The Remember box on SE p. 241: when the dependent variable is directly proportional to the independent variable, the relationship is a direct variation; "varies directly" means the same thing. Look for students who are confused when the question doesn't say which quantity is x and which is 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do you know whether the slope is the price of a ticket or the entrance fee? (The slope is the rate, dollars per ticket; the y-intercept is the one-time fee.) From the teacher guide: "Why doesn't tripling the table results for 6 result in $20?" (Tripling would triple the entrance fee too.) For part (d), round down: she can't buy part of a ticket, and 19 tickets would cost $20.25. Check the last row: (14.25 − 10.5)/(11 − 6) = 0.75, so the table is linear. Question 3 is a good check of today's content; for more practice with direct variation, assign Skills Practice Set 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Did you use the table or the equation to find the tank's capacity? How can you represent the empty tank mathematically? (y = 0.) How did you calculate when the tank will be empty? (175/24 ≈ 7.29 hours; 0.29 hours × 60 ≈ 17.5 minutes.) The slope is negative because the water goes down. The x-values here are fractions, so dividing by 1/4 is the same as multiplying by 4.</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"If a table represents a linear function, the slope, or average rate of change, is constant between all given points." To close Day 1, have students reread the Essential Question and read the activity summaries to the class. End of Day 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ask two or three students to summarize Day 1: How can you tell whether a table is linear when the inputs aren't consecutive?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1. Watch #1: the inputs jump from 2 to 6, so students must divide by 4, not 2. Answer key: 1. (7 − 3)/(2 − 0) = 2 and (15 − 7)/(6 − 2) = 2. Same slope, so linear, and (0, 3) is the y-intercept: y = 2x + 3. 2. (5 − 1)/2 = 2 but (13 − 5)/2 = 4. Different slopes, so not one line. 3. y = 3x; yes, it passes through (0, 0), since 0 pretzels cost $0. 4. 0.75x = 9, so x = 12.</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6.2, 20–25 minutes. To begin Day 2, have a student read the Essential Question aloud. Have pairs complete Questions 1–5, then share. Axes: x = Number of T-Shirts, y = Potential Earnings (dollars). The Ask Yourself: What do the slope, intercepts, domain, and range mean in this situation? Teacher-guide look-for: students give the domain and range of the function (all real numbers) rather than of the scenario (whole numbers of shirts, multiples of $15). Ask: Did you use one or two points to calculate the earnings per T-shirt?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Does E(t) represent a direct variation? (Yes: it passes through the origin and has the form y = kx.) Teacher-guide support: relate function notation back to x and y: (t, E(t)) is the same as (x, f(x)), which is the same as (x, y). Ask: Why doesn't the equation have a constant term? (She starts with $0.) E(2.75) is a point on the line, but it isn't a solution in the context.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Worked Examples and complete Questions 6 and 7 as a class. The Worked Example is explicit instruction: have students restate each step in their own words. Ask: How do you know whether to substitute the given value for t or for E(t)? (It's dollars, so it's the output.) How did you decide 7 instead of 6? How much does she earn with 6 shirts? 7? ($90 and $105.)</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box: the graph of an equation represents the set of all its solutions. Ask: Why does it make sense to rely on technology when using a graph? (Reading 6.67 by eye is hard.) How could you solve this using a table on a calculator? Stamp the learning, from the teacher guide: "An equation or a graph can be used to determine the value of an independent variable. Sometimes a graph can only give an approximate answer; however, using an equation always results in an exact answer." For more practice, assign Skills Practice Set B.</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6.3, 20–25 minutes. Have pairs complete Questions 1–4, then share. The last two clicks label the points on the graph. Ask Yourself: Does G(t) vary directly with t? (No: it doesn't pass through the origin.) Ask: How do the parallel lines relate to the context? (Same price per shirt.) Does this notation represent the x-intercept or the y-intercept? (G(0) is the y-intercept; G(t) = 0 gives the x-intercept.) Look for the statements students use to interpret y = G(0) and G(t) = 0.</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property did you apply to show the equations are equivalent? (The Distributive Property.) Explain how Brianna's and Hailey's perspectives are different: Brianna thinks in shirts (3 fewer to sell), Hailey thinks in dollars ($45 lost). Compare Question 3 with the Worked Example in Activity 6.2: on the graph, the line G(t) crosses y = 100 at about (9.67, 100), and in context she needs 10 shirts.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fill in their own table first: the unit, then the contextual meaning, then the mathematical meaning. Reveal the teacher-guide answers one row at a time. Teacher-guide support: provide a word bank for the mathematical meanings (input, output, rate of change, y-intercept, constant). Ask: How does the unit of each expression guide your thinking? (Dollars per T-shirt must be a rate; plain dollars is an amount.)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read the definitions aloud. "Polynomial" comes from poly- (many) and -nomial (term): many terms. Teacher-guide questions: Rewrite the constant 7 with a variable and an exponent (7x⁰). What is the exponent of the variable in a linear function? (1.) What is an example of a linear function with a leading coefficient of 1? (P(x) = x + 4.) Write an example of a cubic function with four terms (x³ + 2x² − x + 5). The leading coefficient of 3x² − 2x + 4 is 3. Students learn more about polynomials in later courses.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information about general form aloud, then complete Question 5 as a class. The degree of a linear polynomial is 1, so its graph crosses the x-axis at most once. Teacher-guide sidebar: the letters used are irrelevant; think about the position of each number, as the leading coefficient or as the constant, and its effect on the function. The dashed slope triangle on the graph goes from (5, 30), right 2 and up 30 to (7, 60): 30/2 = 15. The last click marks b. Ask: Explain how your label for a makes sense. Where is another possible location for a? (Any slope triangle on the line.)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of zero of a function aloud, then have pairs complete Questions 6 and 7. Teacher-guide misconception: students mix up whether to give an x-intercept or a zero as one number or an ordered pair. Intercepts are locations, written as ordered pairs like (3, 0). Zeros are the values where f(x) = 0, written as numbers like 3. Ask: What information do general form and factored form both give? (The slope, a.) What does each give that the other doesn't? (General: the y-intercept. Factored: the zero.) Stamp the learning: the general form and the factored form each have a structure that identifies characteristics of the graph. For more practice, assign Skills Practice Set C. To close Day 2, have students reread the Essential Question and read the activity summaries. End of Day 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have a student read the Essential Question aloud and summarize Day 2: What does general form show? What does factored form show?</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2. Watch #2: the zero is the number 7, not the point (7, 0) and not −7. Answer key: 1. Distribute: 4x − 20. 2. x − 7 = 0 when x = 7. 3. The greatest exponent is 3, and the number in front of x³ is 5. 4. E(4) = 15(4) = 60: selling 4 T-shirts earns $60.</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6.4, 15–20 minutes. To begin Day 3, have a student read the Essential Question aloud. Hand out the Problem-Solving Model and have pairs complete Questions 1 and 2, then share. Ask Yourself: Is F(t) directly proportional to t? (No.) Ask: Explain what the new y-intercept means in this context. (Before selling anything she is $80 behind: $45 in free shirts plus the $35 fee.) How did the fee affect how many shirts she needs to earn $100? (12 instead of 10.) Note: the teacher guide's answer to 1d says she "needs to sell an additional 6 T-shirts to earn $100"; that doesn't match its own numbers. 12 is 2 more than the 10 shirts from Activity 6.3, and 5 more than the 7 from Activity 6.2. The last two clicks label (0, −80) and (12, 100).</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G(t) − 35 = 15t − 45 − 35 = 15t − 80. To factor, divide 80 by 15: 15t − 80 = 15(t − 80/15) = 15(t − 16/3). Check: 15 × 16/3 = 80. Ask: How can you rewrite general form to get factored form? (Factor out the leading coefficient.) How can you use what you know about factored form to find the factor (t − 16/3)? (Set F(t) = 0 and solve.) The zero 16/3 ≈ 5.33 matches 1c: she needs 6 shirts before she has any money. Stamp the learning: in general form f(x) = ax + b, a is the slope and b is the y-intercept; in factored form f(x) = a(x − c), a is the slope and c is the x-intercept, or zero.</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Students complete each sentence, a–f, with always, sometimes, or never; the cells reveal in order a–f. Have students commit to an answer for each before you reveal it. A table or a graph gives an exact value only when the value you need happens to be listed or lands on a gridline; an equation always gives the exact value, which you can round. Stamp the learning, from the teacher guide: "The equation always provides exact answers, while the graph and table sometimes may only be able to provide approximate values."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Teacher-guide look-fors: students who use only the first two columns to write the equation (check it against every column), and students who don't notice that the inputs in table (b) go up by 2, not 1. In (b), g goes down 12 for every 2, so the slope is −6, not −12. To find b: g(1) = 18 = −6 + b, so b = 24. Ask: Explain how to determine the value of x for a given f(x). (Set the function equal to the value and solve.)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Graphic Organizer on SE p. 254 for f(x) = 2x − 8. Reveal one representation at a time. Any table of values on the line is correct; the teacher guide's samples are (−1, −10), (0, −8), (1, −6), (2, −4), and (0, −8), (2, −4), (4, 0), (6, 4). Ask: How did you know each function is linear? How did you calculate the slope and the y-intercept? For Question 3c: the degree is 1, and the zero x = 4 is the only value that makes f(x) = 0. Stamp the learning: both forms relate to the graph and table of the function they model.</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 This is the teacher guide's sample answer: "The general form of a linear function is f(x) = ax + b, where a and b are real numbers and a ≠ 0. In this form, the a-value is the leading coefficient that describes the steepness and direction of the line. The b-value describes the y-intercept. The factored form of a linear function is f(x) = a(x − c), where a and c are real numbers and a ≠ 0. In this form, the a-value is the slope and the value of x that makes the factor (x − c) equal to zero is the x-intercept."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A–C. Work: 1. (10 − 4)/(3 − 1) = 3 and (22 − 10)/(7 − 3) = 3, so linear; 4 = 3(1) + b gives b = 1. 2. Factor out 5: 5(x − 4); the zero is 4. 3. 10x − 30 = 100, so 10x = 130 and x = 13.</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6 Assignment. Assign it as homework or use it as a warm-up. Work: 1. −2(3) − 5 = −11. 2. h(−2) = 4 − 5 = −1, and 2 · (−1) = −2. 3. h(1) = −7, and −1 · (−7) + 5 = 12. 4. h(0) = −5, and 5 · (−5) + 5 = −20. The Lesson 6 Assignment (SE pp. 255–256) is the practice for this lesson. Its answers: 1. Yes, y = −⅓x + 5. 2. Not linear. 3. f(x) = 14.99(x − 5) = 14.99x − 74.95; 22 shirts printed earns $254.83; 19 shirts to earn $200. 4. f(x) = 35(x − 3) = 35x − 105; 17 vases earns $490; 21 vases to earn $600. 5. f(x) = 12x − 50 = 12(x − 25/6); 35 toys earns $370; 25 toys to earn $250.</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Assign the homework after Day 2 or Day 3; give the quiz after the Exit Ticket. Students can't open the links until you share them: share the claude.ai artifacts, or turn off Vercel protection for the site.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Section 504/lesson6-bellwork-day1-504.html" TargetMode="External"/><Relationship Id="rId4" Type="http://schemas.openxmlformats.org/officeDocument/2006/relationships/hyperlink" Target="https://algebra1m2u1l4.vercel.app/Section 504/lesson6-bellwork-day2-504.html" TargetMode="External"/><Relationship Id="rId5" Type="http://schemas.openxmlformats.org/officeDocument/2006/relationships/hyperlink" Target="https://algebra1m2u1l4.vercel.app/Section 504/lesson6-bellwork-day3-504.html" TargetMode="External"/><Relationship Id="rId6" Type="http://schemas.openxmlformats.org/officeDocument/2006/relationships/hyperlink" Target="https://algebra1m2u1l4.vercel.app/Section 504/lesson6-homework-504.html" TargetMode="External"/><Relationship Id="rId7" Type="http://schemas.openxmlformats.org/officeDocument/2006/relationships/hyperlink" Target="https://algebra1m2u1l4.vercel.app/Section 504/lesson6-quiz-504.html" TargetMode="External"/><Relationship Id="rId8"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algebra1m2u1l4.vercel.app/Section 504/lesson6-bellwork-day1-504.html" TargetMode="External"/><Relationship Id="rId4" Type="http://schemas.openxmlformats.org/officeDocument/2006/relationships/hyperlink" Target="https://algebra1m2u1l4.vercel.app/Section 504/lesson6-bellwork-day2-504.html" TargetMode="External"/><Relationship Id="rId5" Type="http://schemas.openxmlformats.org/officeDocument/2006/relationships/hyperlink" Target="https://algebra1m2u1l4.vercel.app/Section 504/lesson6-bellwork-day3-504.html" TargetMode="External"/><Relationship Id="rId6" Type="http://schemas.openxmlformats.org/officeDocument/2006/relationships/hyperlink" Target="https://algebra1m2u1l4.vercel.app/Section 504/lesson6-homework-504.html" TargetMode="External"/><Relationship Id="rId7" Type="http://schemas.openxmlformats.org/officeDocument/2006/relationships/hyperlink" Target="https://algebra1m2u1l4.vercel.app/Section 504/lesson6-quiz-504.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6 · Student Edition pp. 239–256</a:t>
            </a:r>
            <a:endParaRPr lang="en-US" sz="1200" dirty="0"/>
          </a:p>
        </p:txBody>
      </p:sp>
      <p:sp>
        <p:nvSpPr>
          <p:cNvPr id="3" name="Shape 3"/>
          <p:cNvSpPr txBox="1"/>
          <p:nvPr/>
        </p:nvSpPr>
        <p:spPr>
          <a:xfrm>
            <a:off x="685800" y="923544"/>
            <a:ext cx="10820095" cy="133502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Making Sense of Different Representations of a Linear Function</a:t>
            </a:r>
            <a:endParaRPr lang="en-US" sz="4200" dirty="0"/>
          </a:p>
        </p:txBody>
      </p:sp>
      <p:sp>
        <p:nvSpPr>
          <p:cNvPr id="4" name="Shape 4"/>
          <p:cNvSpPr txBox="1"/>
          <p:nvPr/>
        </p:nvSpPr>
        <p:spPr>
          <a:xfrm>
            <a:off x="685800" y="2506218"/>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b</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c</a:t>
            </a:r>
            <a:r>
              <a:rPr lang="en-US" sz="3000" dirty="0">
                <a:solidFill>
                  <a:srgbClr val="16171D"/>
                </a:solidFill>
                <a:latin typeface="Cambria"/>
                <a:cs typeface="Cambria"/>
              </a:rPr>
              <a:t xml:space="preserve">)</a:t>
            </a:r>
            <a:endParaRPr lang="en-US" sz="3000" dirty="0"/>
          </a:p>
        </p:txBody>
      </p:sp>
      <p:sp>
        <p:nvSpPr>
          <p:cNvPr id="5" name="Shape 5"/>
          <p:cNvSpPr txBox="1"/>
          <p:nvPr/>
        </p:nvSpPr>
        <p:spPr>
          <a:xfrm>
            <a:off x="685800" y="32468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b="1">
                <a:solidFill>
                  <a:srgbClr val="16171D"/>
                </a:solidFill>
                <a:latin typeface="Segoe UI"/>
                <a:cs typeface="Segoe UI"/>
              </a:rPr>
              <a:t xml:space="preserve">Section 504 Version</a:t>
            </a:r>
            <a:endParaRPr lang="en-US" sz="1800" dirty="0"/>
          </a:p>
        </p:txBody>
      </p:sp>
      <p:sp>
        <p:nvSpPr>
          <p:cNvPr id="6" name="Shape 6"/>
          <p:cNvSpPr txBox="1"/>
          <p:nvPr/>
        </p:nvSpPr>
        <p:spPr>
          <a:xfrm>
            <a:off x="685800" y="380466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7" name="Shape 7"/>
          <p:cNvSpPr txBox="1"/>
          <p:nvPr/>
        </p:nvSpPr>
        <p:spPr>
          <a:xfrm>
            <a:off x="685800" y="430530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8" name="Shape 8"/>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8"/>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between </a:t>
            </a:r>
            <a:r>
              <a:rPr lang="en-US" sz="1950" dirty="0">
                <a:solidFill>
                  <a:srgbClr val="16171D"/>
                </a:solidFill>
                <a:latin typeface="Cambria"/>
                <a:cs typeface="Cambria"/>
              </a:rPr>
              <a:t xml:space="preserve">(2, 7)</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(6, 15)</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94665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(5)</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43204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(5) = 17</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Solve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12</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362548"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10" name="Shape 10"/>
          <p:cNvSpPr txBox="1"/>
          <p:nvPr/>
        </p:nvSpPr>
        <p:spPr>
          <a:xfrm>
            <a:off x="6362548"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Which is a direct variation: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or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72922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Getting Started: linear or nonlinear?</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6.1: tables whose inputs skip</a:t>
            </a:r>
            <a:endParaRPr lang="en-US" sz="1950" dirty="0"/>
          </a:p>
        </p:txBody>
      </p:sp>
      <p:sp>
        <p:nvSpPr>
          <p:cNvPr id="7" name="Shape 7"/>
          <p:cNvSpPr txBox="1"/>
          <p:nvPr/>
        </p:nvSpPr>
        <p:spPr>
          <a:xfrm>
            <a:off x="685800" y="3188970"/>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 · SE p. 239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Determine whether a scenario, equation, table, or graph represents a </a:t>
            </a:r>
            <a:r>
              <a:rPr lang="en-US" sz="1950" dirty="0" b="1">
                <a:solidFill>
                  <a:srgbClr val="16171D"/>
                </a:solidFill>
                <a:latin typeface="Segoe UI"/>
                <a:cs typeface="Segoe UI"/>
              </a:rPr>
              <a:t xml:space="preserve">linear</a:t>
            </a:r>
            <a:r>
              <a:rPr lang="en-US" sz="1950" dirty="0">
                <a:solidFill>
                  <a:srgbClr val="16171D"/>
                </a:solidFill>
                <a:latin typeface="Segoe UI"/>
                <a:cs typeface="Segoe UI"/>
              </a:rPr>
              <a:t xml:space="preserve"> relationship.</a:t>
            </a:r>
            <a:endParaRPr lang="en-US" sz="1950" dirty="0"/>
          </a:p>
        </p:txBody>
      </p:sp>
      <p:sp>
        <p:nvSpPr>
          <p:cNvPr id="5" name="Shape 5"/>
          <p:cNvSpPr txBox="1"/>
          <p:nvPr/>
        </p:nvSpPr>
        <p:spPr>
          <a:xfrm>
            <a:off x="685800" y="24010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a:t>
            </a:r>
            <a:r>
              <a:rPr lang="en-US" sz="1950" dirty="0" b="1">
                <a:solidFill>
                  <a:srgbClr val="16171D"/>
                </a:solidFill>
                <a:latin typeface="Segoe UI"/>
                <a:cs typeface="Segoe UI"/>
              </a:rPr>
              <a:t xml:space="preserve">average rate of change</a:t>
            </a:r>
            <a:r>
              <a:rPr lang="en-US" sz="1950" dirty="0">
                <a:solidFill>
                  <a:srgbClr val="16171D"/>
                </a:solidFill>
                <a:latin typeface="Segoe UI"/>
                <a:cs typeface="Segoe UI"/>
              </a:rPr>
              <a:t xml:space="preserve"> from a table.</a:t>
            </a:r>
            <a:endParaRPr lang="en-US" sz="1950" dirty="0"/>
          </a:p>
        </p:txBody>
      </p:sp>
      <p:sp>
        <p:nvSpPr>
          <p:cNvPr id="6" name="Shape 6"/>
          <p:cNvSpPr txBox="1"/>
          <p:nvPr/>
        </p:nvSpPr>
        <p:spPr>
          <a:xfrm>
            <a:off x="685800" y="284835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b="1">
                <a:solidFill>
                  <a:srgbClr val="16171D"/>
                </a:solidFill>
                <a:latin typeface="Segoe UI"/>
                <a:cs typeface="Segoe UI"/>
              </a:rPr>
              <a:t xml:space="preserve">Write functions</a:t>
            </a:r>
            <a:r>
              <a:rPr lang="en-US" sz="1950" dirty="0">
                <a:solidFill>
                  <a:srgbClr val="16171D"/>
                </a:solidFill>
                <a:latin typeface="Segoe UI"/>
                <a:cs typeface="Segoe UI"/>
              </a:rPr>
              <a:t xml:space="preserve"> given a table of values.</a:t>
            </a:r>
            <a:endParaRPr lang="en-US" sz="1950" dirty="0"/>
          </a:p>
        </p:txBody>
      </p:sp>
      <p:sp>
        <p:nvSpPr>
          <p:cNvPr id="7" name="Shape 7"/>
          <p:cNvSpPr txBox="1"/>
          <p:nvPr/>
        </p:nvSpPr>
        <p:spPr>
          <a:xfrm>
            <a:off x="685800" y="329565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b="1">
                <a:solidFill>
                  <a:srgbClr val="16171D"/>
                </a:solidFill>
                <a:latin typeface="Segoe UI"/>
                <a:cs typeface="Segoe UI"/>
              </a:rPr>
              <a:t xml:space="preserve">Interpret expressions</a:t>
            </a:r>
            <a:r>
              <a:rPr lang="en-US" sz="1950" dirty="0">
                <a:solidFill>
                  <a:srgbClr val="16171D"/>
                </a:solidFill>
                <a:latin typeface="Segoe UI"/>
                <a:cs typeface="Segoe UI"/>
              </a:rPr>
              <a:t xml:space="preserve"> that represent different quantities in terms of a context and a graph.</a:t>
            </a:r>
            <a:endParaRPr lang="en-US" sz="1950" dirty="0"/>
          </a:p>
        </p:txBody>
      </p:sp>
      <p:sp>
        <p:nvSpPr>
          <p:cNvPr id="8" name="Shape 8"/>
          <p:cNvSpPr txBox="1"/>
          <p:nvPr/>
        </p:nvSpPr>
        <p:spPr>
          <a:xfrm>
            <a:off x="685800" y="404012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5. </a:t>
            </a:r>
            <a:r>
              <a:rPr lang="en-US" sz="1950" dirty="0" b="1">
                <a:solidFill>
                  <a:srgbClr val="16171D"/>
                </a:solidFill>
                <a:latin typeface="Segoe UI"/>
                <a:cs typeface="Segoe UI"/>
              </a:rPr>
              <a:t xml:space="preserve">Compare</a:t>
            </a:r>
            <a:r>
              <a:rPr lang="en-US" sz="1950" dirty="0">
                <a:solidFill>
                  <a:srgbClr val="16171D"/>
                </a:solidFill>
                <a:latin typeface="Segoe UI"/>
                <a:cs typeface="Segoe UI"/>
              </a:rPr>
              <a:t xml:space="preserve"> different equation representations of linear functions.</a:t>
            </a:r>
            <a:endParaRPr lang="en-US" sz="1950" dirty="0"/>
          </a:p>
        </p:txBody>
      </p:sp>
      <p:sp>
        <p:nvSpPr>
          <p:cNvPr id="9" name="Shape 9"/>
          <p:cNvSpPr txBox="1"/>
          <p:nvPr/>
        </p:nvSpPr>
        <p:spPr>
          <a:xfrm>
            <a:off x="685800" y="456361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New key terms: </a:t>
            </a:r>
            <a:r>
              <a:rPr lang="en-US" sz="1575" dirty="0" b="1">
                <a:solidFill>
                  <a:srgbClr val="5F6272"/>
                </a:solidFill>
                <a:latin typeface="Segoe UI"/>
                <a:cs typeface="Segoe UI"/>
              </a:rPr>
              <a:t xml:space="preserve">polynomial</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degree</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leading coefficient</a:t>
            </a:r>
            <a:r>
              <a:rPr lang="en-US" sz="1575" dirty="0">
                <a:solidFill>
                  <a:srgbClr val="5F6272"/>
                </a:solidFill>
                <a:latin typeface="Segoe UI"/>
                <a:cs typeface="Segoe UI"/>
              </a:rPr>
              <a:t xml:space="preserve"> · </a:t>
            </a:r>
            <a:r>
              <a:rPr lang="en-US" sz="1575" dirty="0" b="1">
                <a:solidFill>
                  <a:srgbClr val="5F6272"/>
                </a:solidFill>
                <a:latin typeface="Segoe UI"/>
                <a:cs typeface="Segoe UI"/>
              </a:rPr>
              <a:t xml:space="preserve">zero of a function</a:t>
            </a:r>
            <a:endParaRPr lang="en-US" sz="157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 · Key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Key vocabulary</a:t>
            </a:r>
            <a:endParaRPr lang="en-US" sz="3450" dirty="0"/>
          </a:p>
        </p:txBody>
      </p:sp>
      <p:sp>
        <p:nvSpPr>
          <p:cNvPr id="7" name="Shape 7"/>
          <p:cNvSpPr txBox="1"/>
          <p:nvPr/>
        </p:nvSpPr>
        <p:spPr>
          <a:xfrm>
            <a:off x="685800" y="1618488"/>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Linear function</a:t>
            </a:r>
            <a:endParaRPr lang="en-US" sz="2100" dirty="0"/>
          </a:p>
        </p:txBody>
      </p:sp>
      <p:sp>
        <p:nvSpPr>
          <p:cNvPr id="5" name="Shape 5"/>
          <p:cNvSpPr txBox="1"/>
          <p:nvPr/>
        </p:nvSpPr>
        <p:spPr>
          <a:xfrm>
            <a:off x="895350"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Its rate of change is always the same, so its graph is a straight line.</a:t>
            </a:r>
            <a:endParaRPr lang="en-US" sz="1575" dirty="0"/>
          </a:p>
        </p:txBody>
      </p:sp>
      <p:sp>
        <p:nvSpPr>
          <p:cNvPr id="6" name="Shape 6"/>
          <p:cNvSpPr txBox="1"/>
          <p:nvPr/>
        </p:nvSpPr>
        <p:spPr>
          <a:xfrm>
            <a:off x="895350" y="313029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1" name="Shape 11"/>
          <p:cNvSpPr txBox="1"/>
          <p:nvPr/>
        </p:nvSpPr>
        <p:spPr>
          <a:xfrm>
            <a:off x="4349648" y="1618488"/>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Rate of change</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change in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For a line, this is the slope.</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8</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 4</a:t>
            </a:r>
            <a:endParaRPr lang="en-US" sz="2325" dirty="0"/>
          </a:p>
        </p:txBody>
      </p:sp>
      <p:sp>
        <p:nvSpPr>
          <p:cNvPr id="15" name="Shape 15"/>
          <p:cNvSpPr txBox="1"/>
          <p:nvPr/>
        </p:nvSpPr>
        <p:spPr>
          <a:xfrm>
            <a:off x="8013497" y="1618488"/>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Direct variation</a:t>
            </a:r>
            <a:endParaRPr lang="en-US" sz="2100" dirty="0"/>
          </a:p>
        </p:txBody>
      </p:sp>
      <p:sp>
        <p:nvSpPr>
          <p:cNvPr id="13" name="Shape 13"/>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line through (0, 0):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kx</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223047"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2.5</a:t>
            </a:r>
            <a:r>
              <a:rPr lang="en-US" sz="2325" dirty="0" i="1">
                <a:solidFill>
                  <a:srgbClr val="16171D"/>
                </a:solidFill>
                <a:latin typeface="Cambria"/>
                <a:cs typeface="Cambria"/>
              </a:rPr>
              <a:t xml:space="preserve">x</a:t>
            </a:r>
            <a:endParaRPr lang="en-US" sz="2325" dirty="0"/>
          </a:p>
        </p:txBody>
      </p:sp>
      <p:sp>
        <p:nvSpPr>
          <p:cNvPr id="19" name="Shape 19"/>
          <p:cNvSpPr txBox="1"/>
          <p:nvPr/>
        </p:nvSpPr>
        <p:spPr>
          <a:xfrm>
            <a:off x="685800" y="3882390"/>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0538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17" name="Shape 17"/>
          <p:cNvSpPr txBox="1"/>
          <p:nvPr/>
        </p:nvSpPr>
        <p:spPr>
          <a:xfrm>
            <a:off x="895350" y="452399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ax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is the slope,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is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8" name="Shape 18"/>
          <p:cNvSpPr txBox="1"/>
          <p:nvPr/>
        </p:nvSpPr>
        <p:spPr>
          <a:xfrm>
            <a:off x="895350" y="515416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− 45</a:t>
            </a:r>
            <a:endParaRPr lang="en-US" sz="2325" dirty="0"/>
          </a:p>
        </p:txBody>
      </p:sp>
      <p:sp>
        <p:nvSpPr>
          <p:cNvPr id="23" name="Shape 23"/>
          <p:cNvSpPr txBox="1"/>
          <p:nvPr/>
        </p:nvSpPr>
        <p:spPr>
          <a:xfrm>
            <a:off x="4349648" y="3882390"/>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0538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21" name="Shape 21"/>
          <p:cNvSpPr txBox="1"/>
          <p:nvPr/>
        </p:nvSpPr>
        <p:spPr>
          <a:xfrm>
            <a:off x="4559198" y="452399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is the slope,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is the zero.</a:t>
            </a:r>
            <a:endParaRPr lang="en-US" sz="1575" dirty="0"/>
          </a:p>
        </p:txBody>
      </p:sp>
      <p:sp>
        <p:nvSpPr>
          <p:cNvPr id="22" name="Shape 22"/>
          <p:cNvSpPr txBox="1"/>
          <p:nvPr/>
        </p:nvSpPr>
        <p:spPr>
          <a:xfrm>
            <a:off x="4559198" y="515416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a:t>
            </a:r>
            <a:endParaRPr lang="en-US" sz="2325" dirty="0"/>
          </a:p>
        </p:txBody>
      </p:sp>
      <p:sp>
        <p:nvSpPr>
          <p:cNvPr id="27" name="Shape 27"/>
          <p:cNvSpPr txBox="1"/>
          <p:nvPr/>
        </p:nvSpPr>
        <p:spPr>
          <a:xfrm>
            <a:off x="8013497" y="3882390"/>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0538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Zero</a:t>
            </a:r>
            <a:endParaRPr lang="en-US" sz="2100" dirty="0"/>
          </a:p>
        </p:txBody>
      </p:sp>
      <p:sp>
        <p:nvSpPr>
          <p:cNvPr id="25" name="Shape 25"/>
          <p:cNvSpPr txBox="1"/>
          <p:nvPr/>
        </p:nvSpPr>
        <p:spPr>
          <a:xfrm>
            <a:off x="8223047" y="4523994"/>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-value that makes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The graph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there.</a:t>
            </a:r>
            <a:endParaRPr lang="en-US" sz="1575" dirty="0"/>
          </a:p>
        </p:txBody>
      </p:sp>
      <p:sp>
        <p:nvSpPr>
          <p:cNvPr id="26" name="Shape 26"/>
          <p:cNvSpPr txBox="1"/>
          <p:nvPr/>
        </p:nvSpPr>
        <p:spPr>
          <a:xfrm>
            <a:off x="8223047" y="5394198"/>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15(3 − 3) = 0 → zero is 3</a:t>
            </a:r>
            <a:endParaRPr lang="en-US" sz="2325" dirty="0"/>
          </a:p>
        </p:txBody>
      </p:sp>
      <p:sp>
        <p:nvSpPr>
          <p:cNvPr id="28" name="Slide Number 2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239</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know how to tell whether a relationship is a linear function, and how to write its equation.</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can you use the </a:t>
            </a:r>
            <a:r>
              <a:rPr lang="en-US" sz="2700" dirty="0" b="1">
                <a:solidFill>
                  <a:srgbClr val="16171D"/>
                </a:solidFill>
                <a:latin typeface="Segoe UI"/>
                <a:cs typeface="Segoe UI"/>
              </a:rPr>
              <a:t xml:space="preserve">structure of the equation</a:t>
            </a:r>
            <a:r>
              <a:rPr lang="en-US" sz="2700" dirty="0">
                <a:solidFill>
                  <a:srgbClr val="16171D"/>
                </a:solidFill>
                <a:latin typeface="Segoe UI"/>
                <a:cs typeface="Segoe UI"/>
              </a:rPr>
              <a:t xml:space="preserve"> to identify characteristics of the function?</a:t>
            </a:r>
            <a:endParaRPr lang="en-US" sz="27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Well, Are Ya or Aren't Ya?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7" name="Shape 7"/>
          <p:cNvSpPr txBox="1"/>
          <p:nvPr/>
        </p:nvSpPr>
        <p:spPr>
          <a:xfrm>
            <a:off x="685800"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A</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tree grows 3.5 inches each year.</a:t>
            </a:r>
            <a:endParaRPr lang="en-US" sz="1575" dirty="0"/>
          </a:p>
        </p:txBody>
      </p:sp>
      <p:sp>
        <p:nvSpPr>
          <p:cNvPr id="6" name="Shape 6"/>
          <p:cNvSpPr txBox="1"/>
          <p:nvPr/>
        </p:nvSpPr>
        <p:spPr>
          <a:xfrm>
            <a:off x="895350"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Same change, 3.5 in, every year.</a:t>
            </a:r>
            <a:endParaRPr lang="en-US" sz="1575" dirty="0"/>
          </a:p>
        </p:txBody>
      </p:sp>
      <p:sp>
        <p:nvSpPr>
          <p:cNvPr id="11" name="Shape 11"/>
          <p:cNvSpPr txBox="1"/>
          <p:nvPr/>
        </p:nvSpPr>
        <p:spPr>
          <a:xfrm>
            <a:off x="4349648"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B</a:t>
            </a:r>
            <a:endParaRPr lang="en-US" sz="2100" dirty="0"/>
          </a:p>
        </p:txBody>
      </p:sp>
      <p:sp>
        <p:nvSpPr>
          <p:cNvPr id="9" name="Shape 9"/>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strength of a medication decreases by 50% each hour it is in the patient's system.</a:t>
            </a:r>
            <a:endParaRPr lang="en-US" sz="1575" dirty="0"/>
          </a:p>
        </p:txBody>
      </p:sp>
      <p:sp>
        <p:nvSpPr>
          <p:cNvPr id="10" name="Shape 10"/>
          <p:cNvSpPr txBox="1"/>
          <p:nvPr/>
        </p:nvSpPr>
        <p:spPr>
          <a:xfrm>
            <a:off x="4559198" y="3130296"/>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Half of a smaller amount each hour, so the drop shrinks.</a:t>
            </a:r>
            <a:endParaRPr lang="en-US" sz="1575" dirty="0"/>
          </a:p>
        </p:txBody>
      </p:sp>
      <p:sp>
        <p:nvSpPr>
          <p:cNvPr id="15" name="Shape 15"/>
          <p:cNvSpPr txBox="1"/>
          <p:nvPr/>
        </p:nvSpPr>
        <p:spPr>
          <a:xfrm>
            <a:off x="8013497"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C</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area of a square depends on its side length.</a:t>
            </a:r>
            <a:endParaRPr lang="en-US" sz="1575" dirty="0"/>
          </a:p>
        </p:txBody>
      </p:sp>
      <p:sp>
        <p:nvSpPr>
          <p:cNvPr id="14" name="Shape 14"/>
          <p:cNvSpPr txBox="1"/>
          <p:nvPr/>
        </p:nvSpPr>
        <p:spPr>
          <a:xfrm>
            <a:off x="8223047"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s</a:t>
            </a:r>
            <a:r>
              <a:rPr lang="en-US" sz="1575" dirty="0">
                <a:solidFill>
                  <a:srgbClr val="16171D"/>
                </a:solidFill>
                <a:latin typeface="Cambria"/>
                <a:cs typeface="Cambria"/>
              </a:rPr>
              <a:t xml:space="preserve">2</a:t>
            </a:r>
            <a:r>
              <a:rPr lang="en-US" sz="1575" dirty="0">
                <a:solidFill>
                  <a:srgbClr val="16171D"/>
                </a:solidFill>
                <a:latin typeface="Segoe UI"/>
                <a:cs typeface="Segoe UI"/>
              </a:rPr>
              <a:t xml:space="preserve">: side 1, 2, 3 gives area 1, 4, 9.</a:t>
            </a:r>
            <a:endParaRPr lang="en-US" sz="1575" dirty="0"/>
          </a:p>
        </p:txBody>
      </p:sp>
      <p:sp>
        <p:nvSpPr>
          <p:cNvPr id="19" name="Shape 19"/>
          <p:cNvSpPr txBox="1"/>
          <p:nvPr/>
        </p:nvSpPr>
        <p:spPr>
          <a:xfrm>
            <a:off x="685800"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A</a:t>
            </a:r>
            <a:endParaRPr lang="en-US" sz="2100" dirty="0"/>
          </a:p>
        </p:txBody>
      </p:sp>
      <p:sp>
        <p:nvSpPr>
          <p:cNvPr id="17" name="Shape 17"/>
          <p:cNvSpPr txBox="1"/>
          <p:nvPr/>
        </p:nvSpPr>
        <p:spPr>
          <a:xfrm>
            <a:off x="895350"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14 − 9</a:t>
            </a:r>
            <a:r>
              <a:rPr lang="en-US" sz="2325" dirty="0" i="1">
                <a:solidFill>
                  <a:srgbClr val="16171D"/>
                </a:solidFill>
                <a:latin typeface="Cambria"/>
                <a:cs typeface="Cambria"/>
              </a:rPr>
              <a:t xml:space="preserve">x</a:t>
            </a:r>
            <a:endParaRPr lang="en-US" sz="2325" dirty="0"/>
          </a:p>
        </p:txBody>
      </p:sp>
      <p:sp>
        <p:nvSpPr>
          <p:cNvPr id="18" name="Shape 18"/>
          <p:cNvSpPr txBox="1"/>
          <p:nvPr/>
        </p:nvSpPr>
        <p:spPr>
          <a:xfrm>
            <a:off x="895350"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has exponent 1; slope −9.</a:t>
            </a:r>
            <a:endParaRPr lang="en-US" sz="1575" dirty="0"/>
          </a:p>
        </p:txBody>
      </p:sp>
      <p:sp>
        <p:nvSpPr>
          <p:cNvPr id="23" name="Shape 23"/>
          <p:cNvSpPr txBox="1"/>
          <p:nvPr/>
        </p:nvSpPr>
        <p:spPr>
          <a:xfrm>
            <a:off x="4349648"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B</a:t>
            </a:r>
            <a:endParaRPr lang="en-US" sz="2100" dirty="0"/>
          </a:p>
        </p:txBody>
      </p:sp>
      <p:sp>
        <p:nvSpPr>
          <p:cNvPr id="21" name="Shape 21"/>
          <p:cNvSpPr txBox="1"/>
          <p:nvPr/>
        </p:nvSpPr>
        <p:spPr>
          <a:xfrm>
            <a:off x="4559198"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22" name="Shape 22"/>
          <p:cNvSpPr txBox="1"/>
          <p:nvPr/>
        </p:nvSpPr>
        <p:spPr>
          <a:xfrm>
            <a:off x="4559198"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The variable is in the exponent.</a:t>
            </a:r>
            <a:endParaRPr lang="en-US" sz="1575" dirty="0"/>
          </a:p>
        </p:txBody>
      </p:sp>
      <p:sp>
        <p:nvSpPr>
          <p:cNvPr id="27" name="Shape 27"/>
          <p:cNvSpPr txBox="1"/>
          <p:nvPr/>
        </p:nvSpPr>
        <p:spPr>
          <a:xfrm>
            <a:off x="8013497"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C</a:t>
            </a:r>
            <a:endParaRPr lang="en-US" sz="2100" dirty="0"/>
          </a:p>
        </p:txBody>
      </p:sp>
      <p:sp>
        <p:nvSpPr>
          <p:cNvPr id="25" name="Shape 25"/>
          <p:cNvSpPr txBox="1"/>
          <p:nvPr/>
        </p:nvSpPr>
        <p:spPr>
          <a:xfrm>
            <a:off x="8223047"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 − 1</a:t>
            </a:r>
            <a:endParaRPr lang="en-US" sz="2325" dirty="0"/>
          </a:p>
        </p:txBody>
      </p:sp>
      <p:sp>
        <p:nvSpPr>
          <p:cNvPr id="26" name="Shape 26"/>
          <p:cNvSpPr txBox="1"/>
          <p:nvPr/>
        </p:nvSpPr>
        <p:spPr>
          <a:xfrm>
            <a:off x="8223047"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Point-slope structure; slope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28" name="Slide Number 2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ppt_x</p:attrName>
                                        </p:attrNameLst>
                                      </p:cBhvr>
                                      <p:tavLst>
                                        <p:tav tm="0">
                                          <p:val>
                                            <p:strVal val="#ppt_x"/>
                                          </p:val>
                                        </p:tav>
                                        <p:tav tm="100000">
                                          <p:val>
                                            <p:strVal val="#ppt_x"/>
                                          </p:val>
                                        </p:tav>
                                      </p:tavLst>
                                    </p:anim>
                                    <p:anim calcmode="lin" valueType="num">
                                      <p:cBhvr>
                                        <p:cTn id="27"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anim calcmode="lin" valueType="num">
                                      <p:cBhvr>
                                        <p:cTn id="33" dur="500" fill="hold"/>
                                        <p:tgtEl>
                                          <p:spTgt spid="22"/>
                                        </p:tgtEl>
                                        <p:attrNameLst>
                                          <p:attrName>ppt_x</p:attrName>
                                        </p:attrNameLst>
                                      </p:cBhvr>
                                      <p:tavLst>
                                        <p:tav tm="0">
                                          <p:val>
                                            <p:strVal val="#ppt_x"/>
                                          </p:val>
                                        </p:tav>
                                        <p:tav tm="100000">
                                          <p:val>
                                            <p:strVal val="#ppt_x"/>
                                          </p:val>
                                        </p:tav>
                                      </p:tavLst>
                                    </p:anim>
                                    <p:anim calcmode="lin" valueType="num">
                                      <p:cBhvr>
                                        <p:cTn id="34"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anim calcmode="lin" valueType="num">
                                      <p:cBhvr>
                                        <p:cTn id="40" dur="500" fill="hold"/>
                                        <p:tgtEl>
                                          <p:spTgt spid="26"/>
                                        </p:tgtEl>
                                        <p:attrNameLst>
                                          <p:attrName>ppt_x</p:attrName>
                                        </p:attrNameLst>
                                      </p:cBhvr>
                                      <p:tavLst>
                                        <p:tav tm="0">
                                          <p:val>
                                            <p:strVal val="#ppt_x"/>
                                          </p:val>
                                        </p:tav>
                                        <p:tav tm="100000">
                                          <p:val>
                                            <p:strVal val="#ppt_x"/>
                                          </p:val>
                                        </p:tav>
                                      </p:tavLst>
                                    </p:anim>
                                    <p:anim calcmode="lin" valueType="num">
                                      <p:cBhvr>
                                        <p:cTn id="41"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Tables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4" name="Shape 4"/>
          <p:cNvSpPr txBox="1"/>
          <p:nvPr/>
        </p:nvSpPr>
        <p:spPr>
          <a:xfrm>
            <a:off x="685800"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A</a:t>
            </a:r>
            <a:endParaRPr lang="en-US" sz="2100" dirty="0"/>
          </a:p>
        </p:txBody>
      </p:sp>
      <p:sp>
        <p:nvSpPr>
          <p:cNvPr id="5" name="Shape 5"/>
          <p:cNvSpPr txBox="1"/>
          <p:nvPr/>
        </p:nvSpPr>
        <p:spPr>
          <a:xfrm>
            <a:off x="685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6" name="Shape 6"/>
          <p:cNvSpPr txBox="1"/>
          <p:nvPr/>
        </p:nvSpPr>
        <p:spPr>
          <a:xfrm>
            <a:off x="1828800"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7" name="Shape 7"/>
          <p:cNvSpPr txBox="1"/>
          <p:nvPr/>
        </p:nvSpPr>
        <p:spPr>
          <a:xfrm>
            <a:off x="685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8" name="Shape 8"/>
          <p:cNvSpPr txBox="1"/>
          <p:nvPr/>
        </p:nvSpPr>
        <p:spPr>
          <a:xfrm>
            <a:off x="1828800"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9" name="Shape 9"/>
          <p:cNvSpPr txBox="1"/>
          <p:nvPr/>
        </p:nvSpPr>
        <p:spPr>
          <a:xfrm>
            <a:off x="685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0" name="Shape 10"/>
          <p:cNvSpPr txBox="1"/>
          <p:nvPr/>
        </p:nvSpPr>
        <p:spPr>
          <a:xfrm>
            <a:off x="1828800"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11" name="Shape 11"/>
          <p:cNvSpPr txBox="1"/>
          <p:nvPr/>
        </p:nvSpPr>
        <p:spPr>
          <a:xfrm>
            <a:off x="685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2" name="Shape 12"/>
          <p:cNvSpPr txBox="1"/>
          <p:nvPr/>
        </p:nvSpPr>
        <p:spPr>
          <a:xfrm>
            <a:off x="1828800"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13" name="Shape 13"/>
          <p:cNvSpPr txBox="1"/>
          <p:nvPr/>
        </p:nvSpPr>
        <p:spPr>
          <a:xfrm>
            <a:off x="685800"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a function.</a:t>
            </a:r>
            <a:r>
              <a:rPr lang="en-US" sz="1575" dirty="0">
                <a:solidFill>
                  <a:srgbClr val="16171D"/>
                </a:solidFill>
                <a:latin typeface="Segoe UI"/>
                <a:cs typeface="Segoe UI"/>
              </a:rPr>
              <a:t xml:space="preserve"> The input 1 has three different outputs.</a:t>
            </a:r>
            <a:endParaRPr lang="en-US" sz="1575" dirty="0"/>
          </a:p>
        </p:txBody>
      </p:sp>
      <p:sp>
        <p:nvSpPr>
          <p:cNvPr id="14" name="Shape 14"/>
          <p:cNvSpPr txBox="1"/>
          <p:nvPr/>
        </p:nvSpPr>
        <p:spPr>
          <a:xfrm>
            <a:off x="4419498"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B</a:t>
            </a:r>
            <a:endParaRPr lang="en-US" sz="2100" dirty="0"/>
          </a:p>
        </p:txBody>
      </p:sp>
      <p:sp>
        <p:nvSpPr>
          <p:cNvPr id="15" name="Shape 15"/>
          <p:cNvSpPr txBox="1"/>
          <p:nvPr/>
        </p:nvSpPr>
        <p:spPr>
          <a:xfrm>
            <a:off x="4419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16" name="Shape 16"/>
          <p:cNvSpPr txBox="1"/>
          <p:nvPr/>
        </p:nvSpPr>
        <p:spPr>
          <a:xfrm>
            <a:off x="5562498"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17" name="Shape 17"/>
          <p:cNvSpPr txBox="1"/>
          <p:nvPr/>
        </p:nvSpPr>
        <p:spPr>
          <a:xfrm>
            <a:off x="4419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a:t>
            </a:r>
            <a:endParaRPr lang="en-US" sz="2250" dirty="0"/>
          </a:p>
        </p:txBody>
      </p:sp>
      <p:sp>
        <p:nvSpPr>
          <p:cNvPr id="18" name="Shape 18"/>
          <p:cNvSpPr txBox="1"/>
          <p:nvPr/>
        </p:nvSpPr>
        <p:spPr>
          <a:xfrm>
            <a:off x="5562498"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19" name="Shape 19"/>
          <p:cNvSpPr txBox="1"/>
          <p:nvPr/>
        </p:nvSpPr>
        <p:spPr>
          <a:xfrm>
            <a:off x="4419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20" name="Shape 20"/>
          <p:cNvSpPr txBox="1"/>
          <p:nvPr/>
        </p:nvSpPr>
        <p:spPr>
          <a:xfrm>
            <a:off x="5562498"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1" name="Shape 21"/>
          <p:cNvSpPr txBox="1"/>
          <p:nvPr/>
        </p:nvSpPr>
        <p:spPr>
          <a:xfrm>
            <a:off x="4419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22" name="Shape 22"/>
          <p:cNvSpPr txBox="1"/>
          <p:nvPr/>
        </p:nvSpPr>
        <p:spPr>
          <a:xfrm>
            <a:off x="5562498"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23" name="Shape 23"/>
          <p:cNvSpPr txBox="1"/>
          <p:nvPr/>
        </p:nvSpPr>
        <p:spPr>
          <a:xfrm>
            <a:off x="4419498"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The output never changes: a horizontal line, slope 0.</a:t>
            </a:r>
            <a:endParaRPr lang="en-US" sz="1575" dirty="0"/>
          </a:p>
        </p:txBody>
      </p:sp>
      <p:sp>
        <p:nvSpPr>
          <p:cNvPr id="24" name="Shape 24"/>
          <p:cNvSpPr txBox="1"/>
          <p:nvPr/>
        </p:nvSpPr>
        <p:spPr>
          <a:xfrm>
            <a:off x="8153197"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C</a:t>
            </a:r>
            <a:endParaRPr lang="en-US" sz="2100" dirty="0"/>
          </a:p>
        </p:txBody>
      </p:sp>
      <p:sp>
        <p:nvSpPr>
          <p:cNvPr id="25" name="Shape 25"/>
          <p:cNvSpPr txBox="1"/>
          <p:nvPr/>
        </p:nvSpPr>
        <p:spPr>
          <a:xfrm>
            <a:off x="8153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26" name="Shape 26"/>
          <p:cNvSpPr txBox="1"/>
          <p:nvPr/>
        </p:nvSpPr>
        <p:spPr>
          <a:xfrm>
            <a:off x="9296197" y="212674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27" name="Shape 27"/>
          <p:cNvSpPr txBox="1"/>
          <p:nvPr/>
        </p:nvSpPr>
        <p:spPr>
          <a:xfrm>
            <a:off x="8153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−9</a:t>
            </a:r>
            <a:endParaRPr lang="en-US" sz="2250" dirty="0"/>
          </a:p>
        </p:txBody>
      </p:sp>
      <p:sp>
        <p:nvSpPr>
          <p:cNvPr id="28" name="Shape 28"/>
          <p:cNvSpPr txBox="1"/>
          <p:nvPr/>
        </p:nvSpPr>
        <p:spPr>
          <a:xfrm>
            <a:off x="9296197" y="261594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45</a:t>
            </a:r>
            <a:endParaRPr lang="en-US" sz="2250" dirty="0"/>
          </a:p>
        </p:txBody>
      </p:sp>
      <p:sp>
        <p:nvSpPr>
          <p:cNvPr id="29" name="Shape 29"/>
          <p:cNvSpPr txBox="1"/>
          <p:nvPr/>
        </p:nvSpPr>
        <p:spPr>
          <a:xfrm>
            <a:off x="8153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−8</a:t>
            </a:r>
            <a:endParaRPr lang="en-US" sz="2250" dirty="0"/>
          </a:p>
        </p:txBody>
      </p:sp>
      <p:sp>
        <p:nvSpPr>
          <p:cNvPr id="30" name="Shape 30"/>
          <p:cNvSpPr txBox="1"/>
          <p:nvPr/>
        </p:nvSpPr>
        <p:spPr>
          <a:xfrm>
            <a:off x="9296197" y="310515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30</a:t>
            </a:r>
            <a:endParaRPr lang="en-US" sz="2250" dirty="0"/>
          </a:p>
        </p:txBody>
      </p:sp>
      <p:sp>
        <p:nvSpPr>
          <p:cNvPr id="31" name="Shape 31"/>
          <p:cNvSpPr txBox="1"/>
          <p:nvPr/>
        </p:nvSpPr>
        <p:spPr>
          <a:xfrm>
            <a:off x="8153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−7</a:t>
            </a:r>
            <a:endParaRPr lang="en-US" sz="2250" dirty="0"/>
          </a:p>
        </p:txBody>
      </p:sp>
      <p:sp>
        <p:nvSpPr>
          <p:cNvPr id="32" name="Shape 32"/>
          <p:cNvSpPr txBox="1"/>
          <p:nvPr/>
        </p:nvSpPr>
        <p:spPr>
          <a:xfrm>
            <a:off x="9296197" y="359435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15</a:t>
            </a:r>
            <a:endParaRPr lang="en-US" sz="2250" dirty="0"/>
          </a:p>
        </p:txBody>
      </p:sp>
      <p:sp>
        <p:nvSpPr>
          <p:cNvPr id="33" name="Shape 33"/>
          <p:cNvSpPr txBox="1"/>
          <p:nvPr/>
        </p:nvSpPr>
        <p:spPr>
          <a:xfrm>
            <a:off x="8153197" y="421690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goes up by 1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goes down by 15 each time.</a:t>
            </a:r>
            <a:endParaRPr lang="en-US" sz="1575" dirty="0"/>
          </a:p>
        </p:txBody>
      </p:sp>
      <p:sp>
        <p:nvSpPr>
          <p:cNvPr id="34" name="Slide Number 3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ppt_x</p:attrName>
                                        </p:attrNameLst>
                                      </p:cBhvr>
                                      <p:tavLst>
                                        <p:tav tm="0">
                                          <p:val>
                                            <p:strVal val="#ppt_x"/>
                                          </p:val>
                                        </p:tav>
                                        <p:tav tm="100000">
                                          <p:val>
                                            <p:strVal val="#ppt_x"/>
                                          </p:val>
                                        </p:tav>
                                      </p:tavLst>
                                    </p:anim>
                                    <p:anim calcmode="lin" valueType="num">
                                      <p:cBhvr>
                                        <p:cTn id="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anim calcmode="lin" valueType="num">
                                      <p:cBhvr>
                                        <p:cTn id="12" dur="500" fill="hold"/>
                                        <p:tgtEl>
                                          <p:spTgt spid="23"/>
                                        </p:tgtEl>
                                        <p:attrNameLst>
                                          <p:attrName>ppt_x</p:attrName>
                                        </p:attrNameLst>
                                      </p:cBhvr>
                                      <p:tavLst>
                                        <p:tav tm="0">
                                          <p:val>
                                            <p:strVal val="#ppt_x"/>
                                          </p:val>
                                        </p:tav>
                                        <p:tav tm="100000">
                                          <p:val>
                                            <p:strVal val="#ppt_x"/>
                                          </p:val>
                                        </p:tav>
                                      </p:tavLst>
                                    </p:anim>
                                    <p:anim calcmode="lin" valueType="num">
                                      <p:cBhvr>
                                        <p:cTn id="13"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anim calcmode="lin" valueType="num">
                                      <p:cBhvr>
                                        <p:cTn id="19" dur="500" fill="hold"/>
                                        <p:tgtEl>
                                          <p:spTgt spid="33"/>
                                        </p:tgtEl>
                                        <p:attrNameLst>
                                          <p:attrName>ppt_x</p:attrName>
                                        </p:attrNameLst>
                                      </p:cBhvr>
                                      <p:tavLst>
                                        <p:tav tm="0">
                                          <p:val>
                                            <p:strVal val="#ppt_x"/>
                                          </p:val>
                                        </p:tav>
                                        <p:tav tm="100000">
                                          <p:val>
                                            <p:strVal val="#ppt_x"/>
                                          </p:val>
                                        </p:tav>
                                      </p:tavLst>
                                    </p:anim>
                                    <p:anim calcmode="lin" valueType="num">
                                      <p:cBhvr>
                                        <p:cTn id="20"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Graphs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4" name="Shape 4"/>
          <p:cNvSpPr txBox="1"/>
          <p:nvPr/>
        </p:nvSpPr>
        <p:spPr>
          <a:xfrm>
            <a:off x="685800"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A</a:t>
            </a:r>
            <a:endParaRPr lang="en-US" sz="2100" dirty="0"/>
          </a:p>
        </p:txBody>
      </p:sp>
      <p:sp>
        <p:nvSpPr>
          <p:cNvPr id="5" name="Shape 5"/>
          <p:cNvSpPr/>
          <p:nvPr/>
        </p:nvSpPr>
        <p:spPr>
          <a:xfrm>
            <a:off x="685800"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009650" y="2241042"/>
            <a:ext cx="0" cy="2114550"/>
          </a:xfrm>
          <a:prstGeom prst="line">
            <a:avLst/>
          </a:prstGeom>
          <a:ln w="9525" cap="flat">
            <a:solidFill>
              <a:srgbClr val="E6E8F2"/>
            </a:solidFill>
          </a:ln>
        </p:spPr>
      </p:cxnSp>
      <p:cxnSp>
        <p:nvCxnSpPr>
          <p:cNvPr id="7" name="Line 7"/>
          <p:cNvCxnSpPr/>
          <p:nvPr/>
        </p:nvCxnSpPr>
        <p:spPr>
          <a:xfrm>
            <a:off x="1251585" y="2241042"/>
            <a:ext cx="0" cy="2114550"/>
          </a:xfrm>
          <a:prstGeom prst="line">
            <a:avLst/>
          </a:prstGeom>
          <a:ln w="9525" cap="flat">
            <a:solidFill>
              <a:srgbClr val="E6E8F2"/>
            </a:solidFill>
          </a:ln>
        </p:spPr>
      </p:cxnSp>
      <p:cxnSp>
        <p:nvCxnSpPr>
          <p:cNvPr id="8" name="Line 8"/>
          <p:cNvCxnSpPr/>
          <p:nvPr/>
        </p:nvCxnSpPr>
        <p:spPr>
          <a:xfrm>
            <a:off x="1493520" y="2241042"/>
            <a:ext cx="0" cy="2114550"/>
          </a:xfrm>
          <a:prstGeom prst="line">
            <a:avLst/>
          </a:prstGeom>
          <a:ln w="9525" cap="flat">
            <a:solidFill>
              <a:srgbClr val="E6E8F2"/>
            </a:solidFill>
          </a:ln>
        </p:spPr>
      </p:cxnSp>
      <p:cxnSp>
        <p:nvCxnSpPr>
          <p:cNvPr id="9" name="Line 9"/>
          <p:cNvCxnSpPr/>
          <p:nvPr/>
        </p:nvCxnSpPr>
        <p:spPr>
          <a:xfrm>
            <a:off x="1735455" y="2241042"/>
            <a:ext cx="0" cy="2114550"/>
          </a:xfrm>
          <a:prstGeom prst="line">
            <a:avLst/>
          </a:prstGeom>
          <a:ln w="9525" cap="flat">
            <a:solidFill>
              <a:srgbClr val="E6E8F2"/>
            </a:solidFill>
          </a:ln>
        </p:spPr>
      </p:cxnSp>
      <p:cxnSp>
        <p:nvCxnSpPr>
          <p:cNvPr id="10" name="Line 10"/>
          <p:cNvCxnSpPr/>
          <p:nvPr/>
        </p:nvCxnSpPr>
        <p:spPr>
          <a:xfrm>
            <a:off x="1977390" y="2241042"/>
            <a:ext cx="0" cy="2114550"/>
          </a:xfrm>
          <a:prstGeom prst="line">
            <a:avLst/>
          </a:prstGeom>
          <a:ln w="9525" cap="flat">
            <a:solidFill>
              <a:srgbClr val="E6E8F2"/>
            </a:solidFill>
          </a:ln>
        </p:spPr>
      </p:cxnSp>
      <p:cxnSp>
        <p:nvCxnSpPr>
          <p:cNvPr id="11" name="Line 11"/>
          <p:cNvCxnSpPr/>
          <p:nvPr/>
        </p:nvCxnSpPr>
        <p:spPr>
          <a:xfrm>
            <a:off x="2219325" y="2241042"/>
            <a:ext cx="0" cy="2114550"/>
          </a:xfrm>
          <a:prstGeom prst="line">
            <a:avLst/>
          </a:prstGeom>
          <a:ln w="9525" cap="flat">
            <a:solidFill>
              <a:srgbClr val="E6E8F2"/>
            </a:solidFill>
          </a:ln>
        </p:spPr>
      </p:cxnSp>
      <p:cxnSp>
        <p:nvCxnSpPr>
          <p:cNvPr id="12" name="Line 12"/>
          <p:cNvCxnSpPr/>
          <p:nvPr/>
        </p:nvCxnSpPr>
        <p:spPr>
          <a:xfrm>
            <a:off x="2461260" y="2241042"/>
            <a:ext cx="0" cy="2114550"/>
          </a:xfrm>
          <a:prstGeom prst="line">
            <a:avLst/>
          </a:prstGeom>
          <a:ln w="9525" cap="flat">
            <a:solidFill>
              <a:srgbClr val="E6E8F2"/>
            </a:solidFill>
          </a:ln>
        </p:spPr>
      </p:cxnSp>
      <p:cxnSp>
        <p:nvCxnSpPr>
          <p:cNvPr id="13" name="Line 13"/>
          <p:cNvCxnSpPr/>
          <p:nvPr/>
        </p:nvCxnSpPr>
        <p:spPr>
          <a:xfrm>
            <a:off x="2703195" y="2241042"/>
            <a:ext cx="0" cy="2114550"/>
          </a:xfrm>
          <a:prstGeom prst="line">
            <a:avLst/>
          </a:prstGeom>
          <a:ln w="9525" cap="flat">
            <a:solidFill>
              <a:srgbClr val="E6E8F2"/>
            </a:solidFill>
          </a:ln>
        </p:spPr>
      </p:cxnSp>
      <p:cxnSp>
        <p:nvCxnSpPr>
          <p:cNvPr id="14" name="Line 14"/>
          <p:cNvCxnSpPr/>
          <p:nvPr/>
        </p:nvCxnSpPr>
        <p:spPr>
          <a:xfrm>
            <a:off x="2945130" y="2241042"/>
            <a:ext cx="0" cy="2114550"/>
          </a:xfrm>
          <a:prstGeom prst="line">
            <a:avLst/>
          </a:prstGeom>
          <a:ln w="9525" cap="flat">
            <a:solidFill>
              <a:srgbClr val="E6E8F2"/>
            </a:solidFill>
          </a:ln>
        </p:spPr>
      </p:cxnSp>
      <p:cxnSp>
        <p:nvCxnSpPr>
          <p:cNvPr id="15" name="Line 15"/>
          <p:cNvCxnSpPr/>
          <p:nvPr/>
        </p:nvCxnSpPr>
        <p:spPr>
          <a:xfrm>
            <a:off x="3187065" y="2241042"/>
            <a:ext cx="0" cy="2114550"/>
          </a:xfrm>
          <a:prstGeom prst="line">
            <a:avLst/>
          </a:prstGeom>
          <a:ln w="9525" cap="flat">
            <a:solidFill>
              <a:srgbClr val="E6E8F2"/>
            </a:solidFill>
          </a:ln>
        </p:spPr>
      </p:cxnSp>
      <p:cxnSp>
        <p:nvCxnSpPr>
          <p:cNvPr id="16" name="Line 16"/>
          <p:cNvCxnSpPr/>
          <p:nvPr/>
        </p:nvCxnSpPr>
        <p:spPr>
          <a:xfrm>
            <a:off x="3429000" y="2241042"/>
            <a:ext cx="0" cy="2114550"/>
          </a:xfrm>
          <a:prstGeom prst="line">
            <a:avLst/>
          </a:prstGeom>
          <a:ln w="9525" cap="flat">
            <a:solidFill>
              <a:srgbClr val="E6E8F2"/>
            </a:solidFill>
          </a:ln>
        </p:spPr>
      </p:cxnSp>
      <p:cxnSp>
        <p:nvCxnSpPr>
          <p:cNvPr id="17" name="Line 17"/>
          <p:cNvCxnSpPr/>
          <p:nvPr/>
        </p:nvCxnSpPr>
        <p:spPr>
          <a:xfrm>
            <a:off x="1009650" y="4355592"/>
            <a:ext cx="2419350" cy="0"/>
          </a:xfrm>
          <a:prstGeom prst="line">
            <a:avLst/>
          </a:prstGeom>
          <a:ln w="9525" cap="flat">
            <a:solidFill>
              <a:srgbClr val="E6E8F2"/>
            </a:solidFill>
          </a:ln>
        </p:spPr>
      </p:cxnSp>
      <p:cxnSp>
        <p:nvCxnSpPr>
          <p:cNvPr id="18" name="Line 18"/>
          <p:cNvCxnSpPr/>
          <p:nvPr/>
        </p:nvCxnSpPr>
        <p:spPr>
          <a:xfrm>
            <a:off x="1009650" y="4144137"/>
            <a:ext cx="2419350" cy="0"/>
          </a:xfrm>
          <a:prstGeom prst="line">
            <a:avLst/>
          </a:prstGeom>
          <a:ln w="9525" cap="flat">
            <a:solidFill>
              <a:srgbClr val="E6E8F2"/>
            </a:solidFill>
          </a:ln>
        </p:spPr>
      </p:cxnSp>
      <p:cxnSp>
        <p:nvCxnSpPr>
          <p:cNvPr id="19" name="Line 19"/>
          <p:cNvCxnSpPr/>
          <p:nvPr/>
        </p:nvCxnSpPr>
        <p:spPr>
          <a:xfrm>
            <a:off x="1009650" y="3932682"/>
            <a:ext cx="2419350" cy="0"/>
          </a:xfrm>
          <a:prstGeom prst="line">
            <a:avLst/>
          </a:prstGeom>
          <a:ln w="9525" cap="flat">
            <a:solidFill>
              <a:srgbClr val="E6E8F2"/>
            </a:solidFill>
          </a:ln>
        </p:spPr>
      </p:cxnSp>
      <p:cxnSp>
        <p:nvCxnSpPr>
          <p:cNvPr id="20" name="Line 20"/>
          <p:cNvCxnSpPr/>
          <p:nvPr/>
        </p:nvCxnSpPr>
        <p:spPr>
          <a:xfrm>
            <a:off x="1009650" y="3721227"/>
            <a:ext cx="2419350" cy="0"/>
          </a:xfrm>
          <a:prstGeom prst="line">
            <a:avLst/>
          </a:prstGeom>
          <a:ln w="9525" cap="flat">
            <a:solidFill>
              <a:srgbClr val="E6E8F2"/>
            </a:solidFill>
          </a:ln>
        </p:spPr>
      </p:cxnSp>
      <p:cxnSp>
        <p:nvCxnSpPr>
          <p:cNvPr id="21" name="Line 21"/>
          <p:cNvCxnSpPr/>
          <p:nvPr/>
        </p:nvCxnSpPr>
        <p:spPr>
          <a:xfrm>
            <a:off x="1009650" y="3509772"/>
            <a:ext cx="2419350" cy="0"/>
          </a:xfrm>
          <a:prstGeom prst="line">
            <a:avLst/>
          </a:prstGeom>
          <a:ln w="9525" cap="flat">
            <a:solidFill>
              <a:srgbClr val="E6E8F2"/>
            </a:solidFill>
          </a:ln>
        </p:spPr>
      </p:cxnSp>
      <p:cxnSp>
        <p:nvCxnSpPr>
          <p:cNvPr id="22" name="Line 22"/>
          <p:cNvCxnSpPr/>
          <p:nvPr/>
        </p:nvCxnSpPr>
        <p:spPr>
          <a:xfrm>
            <a:off x="1009650" y="3298317"/>
            <a:ext cx="2419350" cy="0"/>
          </a:xfrm>
          <a:prstGeom prst="line">
            <a:avLst/>
          </a:prstGeom>
          <a:ln w="9525" cap="flat">
            <a:solidFill>
              <a:srgbClr val="E6E8F2"/>
            </a:solidFill>
          </a:ln>
        </p:spPr>
      </p:cxnSp>
      <p:cxnSp>
        <p:nvCxnSpPr>
          <p:cNvPr id="23" name="Line 23"/>
          <p:cNvCxnSpPr/>
          <p:nvPr/>
        </p:nvCxnSpPr>
        <p:spPr>
          <a:xfrm>
            <a:off x="1009650" y="3086862"/>
            <a:ext cx="2419350" cy="0"/>
          </a:xfrm>
          <a:prstGeom prst="line">
            <a:avLst/>
          </a:prstGeom>
          <a:ln w="9525" cap="flat">
            <a:solidFill>
              <a:srgbClr val="E6E8F2"/>
            </a:solidFill>
          </a:ln>
        </p:spPr>
      </p:cxnSp>
      <p:cxnSp>
        <p:nvCxnSpPr>
          <p:cNvPr id="24" name="Line 24"/>
          <p:cNvCxnSpPr/>
          <p:nvPr/>
        </p:nvCxnSpPr>
        <p:spPr>
          <a:xfrm>
            <a:off x="1009650" y="2875407"/>
            <a:ext cx="2419350" cy="0"/>
          </a:xfrm>
          <a:prstGeom prst="line">
            <a:avLst/>
          </a:prstGeom>
          <a:ln w="9525" cap="flat">
            <a:solidFill>
              <a:srgbClr val="E6E8F2"/>
            </a:solidFill>
          </a:ln>
        </p:spPr>
      </p:cxnSp>
      <p:cxnSp>
        <p:nvCxnSpPr>
          <p:cNvPr id="25" name="Line 25"/>
          <p:cNvCxnSpPr/>
          <p:nvPr/>
        </p:nvCxnSpPr>
        <p:spPr>
          <a:xfrm>
            <a:off x="1009650" y="2663952"/>
            <a:ext cx="2419350" cy="0"/>
          </a:xfrm>
          <a:prstGeom prst="line">
            <a:avLst/>
          </a:prstGeom>
          <a:ln w="9525" cap="flat">
            <a:solidFill>
              <a:srgbClr val="E6E8F2"/>
            </a:solidFill>
          </a:ln>
        </p:spPr>
      </p:cxnSp>
      <p:cxnSp>
        <p:nvCxnSpPr>
          <p:cNvPr id="26" name="Line 26"/>
          <p:cNvCxnSpPr/>
          <p:nvPr/>
        </p:nvCxnSpPr>
        <p:spPr>
          <a:xfrm>
            <a:off x="1009650" y="2452497"/>
            <a:ext cx="2419350" cy="0"/>
          </a:xfrm>
          <a:prstGeom prst="line">
            <a:avLst/>
          </a:prstGeom>
          <a:ln w="9525" cap="flat">
            <a:solidFill>
              <a:srgbClr val="E6E8F2"/>
            </a:solidFill>
          </a:ln>
        </p:spPr>
      </p:cxnSp>
      <p:cxnSp>
        <p:nvCxnSpPr>
          <p:cNvPr id="27" name="Line 27"/>
          <p:cNvCxnSpPr/>
          <p:nvPr/>
        </p:nvCxnSpPr>
        <p:spPr>
          <a:xfrm>
            <a:off x="1009650" y="2241042"/>
            <a:ext cx="2419350" cy="0"/>
          </a:xfrm>
          <a:prstGeom prst="line">
            <a:avLst/>
          </a:prstGeom>
          <a:ln w="9525" cap="flat">
            <a:solidFill>
              <a:srgbClr val="E6E8F2"/>
            </a:solidFill>
          </a:ln>
        </p:spPr>
      </p:cxnSp>
      <p:cxnSp>
        <p:nvCxnSpPr>
          <p:cNvPr id="28" name="Line 28"/>
          <p:cNvCxnSpPr/>
          <p:nvPr/>
        </p:nvCxnSpPr>
        <p:spPr>
          <a:xfrm>
            <a:off x="2219325" y="2241042"/>
            <a:ext cx="0" cy="2114550"/>
          </a:xfrm>
          <a:prstGeom prst="line">
            <a:avLst/>
          </a:prstGeom>
          <a:ln w="19050" cap="flat">
            <a:solidFill>
              <a:srgbClr val="5F6272"/>
            </a:solidFill>
          </a:ln>
        </p:spPr>
      </p:cxnSp>
      <p:cxnSp>
        <p:nvCxnSpPr>
          <p:cNvPr id="29" name="Line 29"/>
          <p:cNvCxnSpPr/>
          <p:nvPr/>
        </p:nvCxnSpPr>
        <p:spPr>
          <a:xfrm>
            <a:off x="1009650" y="3298317"/>
            <a:ext cx="2419350" cy="0"/>
          </a:xfrm>
          <a:prstGeom prst="line">
            <a:avLst/>
          </a:prstGeom>
          <a:ln w="19050" cap="flat">
            <a:solidFill>
              <a:srgbClr val="5F6272"/>
            </a:solidFill>
          </a:ln>
        </p:spPr>
      </p:cxnSp>
      <p:sp>
        <p:nvSpPr>
          <p:cNvPr id="30" name="Shape 30"/>
          <p:cNvSpPr txBox="1"/>
          <p:nvPr/>
        </p:nvSpPr>
        <p:spPr>
          <a:xfrm>
            <a:off x="735330"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1" name="Shape 31"/>
          <p:cNvSpPr txBox="1"/>
          <p:nvPr/>
        </p:nvSpPr>
        <p:spPr>
          <a:xfrm>
            <a:off x="1945005"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3154680"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3" name="Shape 33"/>
          <p:cNvSpPr txBox="1"/>
          <p:nvPr/>
        </p:nvSpPr>
        <p:spPr>
          <a:xfrm>
            <a:off x="442722"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34" name="Shape 34"/>
          <p:cNvSpPr txBox="1"/>
          <p:nvPr/>
        </p:nvSpPr>
        <p:spPr>
          <a:xfrm>
            <a:off x="442722"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442722"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36" name="Line 36"/>
          <p:cNvCxnSpPr/>
          <p:nvPr/>
        </p:nvCxnSpPr>
        <p:spPr>
          <a:xfrm flipV="1">
            <a:off x="1009650" y="3209506"/>
            <a:ext cx="241935" cy="21145"/>
          </a:xfrm>
          <a:prstGeom prst="line">
            <a:avLst/>
          </a:prstGeom>
          <a:ln w="38100" cap="rnd">
            <a:solidFill>
              <a:srgbClr val="16171D"/>
            </a:solidFill>
          </a:ln>
        </p:spPr>
      </p:cxnSp>
      <p:cxnSp>
        <p:nvCxnSpPr>
          <p:cNvPr id="37" name="Line 37"/>
          <p:cNvCxnSpPr/>
          <p:nvPr/>
        </p:nvCxnSpPr>
        <p:spPr>
          <a:xfrm flipV="1">
            <a:off x="1251585" y="3182017"/>
            <a:ext cx="241935" cy="27489"/>
          </a:xfrm>
          <a:prstGeom prst="line">
            <a:avLst/>
          </a:prstGeom>
          <a:ln w="38100" cap="rnd">
            <a:solidFill>
              <a:srgbClr val="16171D"/>
            </a:solidFill>
          </a:ln>
        </p:spPr>
      </p:cxnSp>
      <p:cxnSp>
        <p:nvCxnSpPr>
          <p:cNvPr id="38" name="Line 38"/>
          <p:cNvCxnSpPr/>
          <p:nvPr/>
        </p:nvCxnSpPr>
        <p:spPr>
          <a:xfrm flipV="1">
            <a:off x="1493520" y="3148184"/>
            <a:ext cx="241935" cy="33833"/>
          </a:xfrm>
          <a:prstGeom prst="line">
            <a:avLst/>
          </a:prstGeom>
          <a:ln w="38100" cap="rnd">
            <a:solidFill>
              <a:srgbClr val="16171D"/>
            </a:solidFill>
          </a:ln>
        </p:spPr>
      </p:cxnSp>
      <p:cxnSp>
        <p:nvCxnSpPr>
          <p:cNvPr id="39" name="Line 39"/>
          <p:cNvCxnSpPr/>
          <p:nvPr/>
        </p:nvCxnSpPr>
        <p:spPr>
          <a:xfrm flipV="1">
            <a:off x="1735455" y="3103778"/>
            <a:ext cx="241935" cy="44406"/>
          </a:xfrm>
          <a:prstGeom prst="line">
            <a:avLst/>
          </a:prstGeom>
          <a:ln w="38100" cap="rnd">
            <a:solidFill>
              <a:srgbClr val="16171D"/>
            </a:solidFill>
          </a:ln>
        </p:spPr>
      </p:cxnSp>
      <p:cxnSp>
        <p:nvCxnSpPr>
          <p:cNvPr id="40" name="Line 40"/>
          <p:cNvCxnSpPr/>
          <p:nvPr/>
        </p:nvCxnSpPr>
        <p:spPr>
          <a:xfrm flipV="1">
            <a:off x="1977390" y="3044571"/>
            <a:ext cx="241935" cy="59207"/>
          </a:xfrm>
          <a:prstGeom prst="line">
            <a:avLst/>
          </a:prstGeom>
          <a:ln w="38100" cap="rnd">
            <a:solidFill>
              <a:srgbClr val="16171D"/>
            </a:solidFill>
          </a:ln>
        </p:spPr>
      </p:cxnSp>
      <p:cxnSp>
        <p:nvCxnSpPr>
          <p:cNvPr id="41" name="Line 41"/>
          <p:cNvCxnSpPr/>
          <p:nvPr/>
        </p:nvCxnSpPr>
        <p:spPr>
          <a:xfrm flipV="1">
            <a:off x="2219325" y="2968447"/>
            <a:ext cx="241935" cy="76124"/>
          </a:xfrm>
          <a:prstGeom prst="line">
            <a:avLst/>
          </a:prstGeom>
          <a:ln w="38100" cap="rnd">
            <a:solidFill>
              <a:srgbClr val="16171D"/>
            </a:solidFill>
          </a:ln>
        </p:spPr>
      </p:cxnSp>
      <p:cxnSp>
        <p:nvCxnSpPr>
          <p:cNvPr id="42" name="Line 42"/>
          <p:cNvCxnSpPr/>
          <p:nvPr/>
        </p:nvCxnSpPr>
        <p:spPr>
          <a:xfrm flipV="1">
            <a:off x="2461260" y="2869063"/>
            <a:ext cx="241935" cy="99384"/>
          </a:xfrm>
          <a:prstGeom prst="line">
            <a:avLst/>
          </a:prstGeom>
          <a:ln w="38100" cap="rnd">
            <a:solidFill>
              <a:srgbClr val="16171D"/>
            </a:solidFill>
          </a:ln>
        </p:spPr>
      </p:cxnSp>
      <p:cxnSp>
        <p:nvCxnSpPr>
          <p:cNvPr id="43" name="Line 43"/>
          <p:cNvCxnSpPr/>
          <p:nvPr/>
        </p:nvCxnSpPr>
        <p:spPr>
          <a:xfrm flipV="1">
            <a:off x="2703195" y="2740076"/>
            <a:ext cx="241935" cy="128988"/>
          </a:xfrm>
          <a:prstGeom prst="line">
            <a:avLst/>
          </a:prstGeom>
          <a:ln w="38100" cap="rnd">
            <a:solidFill>
              <a:srgbClr val="16171D"/>
            </a:solidFill>
          </a:ln>
        </p:spPr>
      </p:cxnSp>
      <p:cxnSp>
        <p:nvCxnSpPr>
          <p:cNvPr id="44" name="Line 44"/>
          <p:cNvCxnSpPr/>
          <p:nvPr/>
        </p:nvCxnSpPr>
        <p:spPr>
          <a:xfrm flipV="1">
            <a:off x="2945130" y="2573026"/>
            <a:ext cx="241935" cy="167049"/>
          </a:xfrm>
          <a:prstGeom prst="line">
            <a:avLst/>
          </a:prstGeom>
          <a:ln w="38100" cap="rnd">
            <a:solidFill>
              <a:srgbClr val="16171D"/>
            </a:solidFill>
          </a:ln>
        </p:spPr>
      </p:cxnSp>
      <p:cxnSp>
        <p:nvCxnSpPr>
          <p:cNvPr id="45" name="Line 45"/>
          <p:cNvCxnSpPr/>
          <p:nvPr/>
        </p:nvCxnSpPr>
        <p:spPr>
          <a:xfrm flipV="1">
            <a:off x="3187065" y="2355228"/>
            <a:ext cx="241935" cy="217799"/>
          </a:xfrm>
          <a:prstGeom prst="line">
            <a:avLst/>
          </a:prstGeom>
          <a:ln w="38100" cap="rnd">
            <a:solidFill>
              <a:srgbClr val="16171D"/>
            </a:solidFill>
          </a:ln>
        </p:spPr>
      </p:cxnSp>
      <p:sp>
        <p:nvSpPr>
          <p:cNvPr id="46" name="Shape 46"/>
          <p:cNvSpPr txBox="1"/>
          <p:nvPr/>
        </p:nvSpPr>
        <p:spPr>
          <a:xfrm>
            <a:off x="685800"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It's a curve; the rate of change grows.</a:t>
            </a:r>
            <a:endParaRPr lang="en-US" sz="1575" dirty="0"/>
          </a:p>
        </p:txBody>
      </p:sp>
      <p:sp>
        <p:nvSpPr>
          <p:cNvPr id="47" name="Shape 47"/>
          <p:cNvSpPr txBox="1"/>
          <p:nvPr/>
        </p:nvSpPr>
        <p:spPr>
          <a:xfrm>
            <a:off x="4419498"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B</a:t>
            </a:r>
            <a:endParaRPr lang="en-US" sz="2100" dirty="0"/>
          </a:p>
        </p:txBody>
      </p:sp>
      <p:sp>
        <p:nvSpPr>
          <p:cNvPr id="48" name="Shape 48"/>
          <p:cNvSpPr/>
          <p:nvPr/>
        </p:nvSpPr>
        <p:spPr>
          <a:xfrm>
            <a:off x="4419498"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49" name="Line 49"/>
          <p:cNvCxnSpPr/>
          <p:nvPr/>
        </p:nvCxnSpPr>
        <p:spPr>
          <a:xfrm>
            <a:off x="4743348" y="2241042"/>
            <a:ext cx="0" cy="2114550"/>
          </a:xfrm>
          <a:prstGeom prst="line">
            <a:avLst/>
          </a:prstGeom>
          <a:ln w="9525" cap="flat">
            <a:solidFill>
              <a:srgbClr val="E6E8F2"/>
            </a:solidFill>
          </a:ln>
        </p:spPr>
      </p:cxnSp>
      <p:cxnSp>
        <p:nvCxnSpPr>
          <p:cNvPr id="50" name="Line 50"/>
          <p:cNvCxnSpPr/>
          <p:nvPr/>
        </p:nvCxnSpPr>
        <p:spPr>
          <a:xfrm>
            <a:off x="4985283" y="2241042"/>
            <a:ext cx="0" cy="2114550"/>
          </a:xfrm>
          <a:prstGeom prst="line">
            <a:avLst/>
          </a:prstGeom>
          <a:ln w="9525" cap="flat">
            <a:solidFill>
              <a:srgbClr val="E6E8F2"/>
            </a:solidFill>
          </a:ln>
        </p:spPr>
      </p:cxnSp>
      <p:cxnSp>
        <p:nvCxnSpPr>
          <p:cNvPr id="51" name="Line 51"/>
          <p:cNvCxnSpPr/>
          <p:nvPr/>
        </p:nvCxnSpPr>
        <p:spPr>
          <a:xfrm>
            <a:off x="5227218" y="2241042"/>
            <a:ext cx="0" cy="2114550"/>
          </a:xfrm>
          <a:prstGeom prst="line">
            <a:avLst/>
          </a:prstGeom>
          <a:ln w="9525" cap="flat">
            <a:solidFill>
              <a:srgbClr val="E6E8F2"/>
            </a:solidFill>
          </a:ln>
        </p:spPr>
      </p:cxnSp>
      <p:cxnSp>
        <p:nvCxnSpPr>
          <p:cNvPr id="52" name="Line 52"/>
          <p:cNvCxnSpPr/>
          <p:nvPr/>
        </p:nvCxnSpPr>
        <p:spPr>
          <a:xfrm>
            <a:off x="5469153" y="2241042"/>
            <a:ext cx="0" cy="2114550"/>
          </a:xfrm>
          <a:prstGeom prst="line">
            <a:avLst/>
          </a:prstGeom>
          <a:ln w="9525" cap="flat">
            <a:solidFill>
              <a:srgbClr val="E6E8F2"/>
            </a:solidFill>
          </a:ln>
        </p:spPr>
      </p:cxnSp>
      <p:cxnSp>
        <p:nvCxnSpPr>
          <p:cNvPr id="53" name="Line 53"/>
          <p:cNvCxnSpPr/>
          <p:nvPr/>
        </p:nvCxnSpPr>
        <p:spPr>
          <a:xfrm>
            <a:off x="5711088" y="2241042"/>
            <a:ext cx="0" cy="2114550"/>
          </a:xfrm>
          <a:prstGeom prst="line">
            <a:avLst/>
          </a:prstGeom>
          <a:ln w="9525" cap="flat">
            <a:solidFill>
              <a:srgbClr val="E6E8F2"/>
            </a:solidFill>
          </a:ln>
        </p:spPr>
      </p:cxnSp>
      <p:cxnSp>
        <p:nvCxnSpPr>
          <p:cNvPr id="54" name="Line 54"/>
          <p:cNvCxnSpPr/>
          <p:nvPr/>
        </p:nvCxnSpPr>
        <p:spPr>
          <a:xfrm>
            <a:off x="5953023" y="2241042"/>
            <a:ext cx="0" cy="2114550"/>
          </a:xfrm>
          <a:prstGeom prst="line">
            <a:avLst/>
          </a:prstGeom>
          <a:ln w="9525" cap="flat">
            <a:solidFill>
              <a:srgbClr val="E6E8F2"/>
            </a:solidFill>
          </a:ln>
        </p:spPr>
      </p:cxnSp>
      <p:cxnSp>
        <p:nvCxnSpPr>
          <p:cNvPr id="55" name="Line 55"/>
          <p:cNvCxnSpPr/>
          <p:nvPr/>
        </p:nvCxnSpPr>
        <p:spPr>
          <a:xfrm>
            <a:off x="6194958" y="2241042"/>
            <a:ext cx="0" cy="2114550"/>
          </a:xfrm>
          <a:prstGeom prst="line">
            <a:avLst/>
          </a:prstGeom>
          <a:ln w="9525" cap="flat">
            <a:solidFill>
              <a:srgbClr val="E6E8F2"/>
            </a:solidFill>
          </a:ln>
        </p:spPr>
      </p:cxnSp>
      <p:cxnSp>
        <p:nvCxnSpPr>
          <p:cNvPr id="56" name="Line 56"/>
          <p:cNvCxnSpPr/>
          <p:nvPr/>
        </p:nvCxnSpPr>
        <p:spPr>
          <a:xfrm>
            <a:off x="6436893" y="2241042"/>
            <a:ext cx="0" cy="2114550"/>
          </a:xfrm>
          <a:prstGeom prst="line">
            <a:avLst/>
          </a:prstGeom>
          <a:ln w="9525" cap="flat">
            <a:solidFill>
              <a:srgbClr val="E6E8F2"/>
            </a:solidFill>
          </a:ln>
        </p:spPr>
      </p:cxnSp>
      <p:cxnSp>
        <p:nvCxnSpPr>
          <p:cNvPr id="57" name="Line 57"/>
          <p:cNvCxnSpPr/>
          <p:nvPr/>
        </p:nvCxnSpPr>
        <p:spPr>
          <a:xfrm>
            <a:off x="6678828" y="2241042"/>
            <a:ext cx="0" cy="2114550"/>
          </a:xfrm>
          <a:prstGeom prst="line">
            <a:avLst/>
          </a:prstGeom>
          <a:ln w="9525" cap="flat">
            <a:solidFill>
              <a:srgbClr val="E6E8F2"/>
            </a:solidFill>
          </a:ln>
        </p:spPr>
      </p:cxnSp>
      <p:cxnSp>
        <p:nvCxnSpPr>
          <p:cNvPr id="58" name="Line 58"/>
          <p:cNvCxnSpPr/>
          <p:nvPr/>
        </p:nvCxnSpPr>
        <p:spPr>
          <a:xfrm>
            <a:off x="6920763" y="2241042"/>
            <a:ext cx="0" cy="2114550"/>
          </a:xfrm>
          <a:prstGeom prst="line">
            <a:avLst/>
          </a:prstGeom>
          <a:ln w="9525" cap="flat">
            <a:solidFill>
              <a:srgbClr val="E6E8F2"/>
            </a:solidFill>
          </a:ln>
        </p:spPr>
      </p:cxnSp>
      <p:cxnSp>
        <p:nvCxnSpPr>
          <p:cNvPr id="59" name="Line 59"/>
          <p:cNvCxnSpPr/>
          <p:nvPr/>
        </p:nvCxnSpPr>
        <p:spPr>
          <a:xfrm>
            <a:off x="7162698" y="2241042"/>
            <a:ext cx="0" cy="2114550"/>
          </a:xfrm>
          <a:prstGeom prst="line">
            <a:avLst/>
          </a:prstGeom>
          <a:ln w="9525" cap="flat">
            <a:solidFill>
              <a:srgbClr val="E6E8F2"/>
            </a:solidFill>
          </a:ln>
        </p:spPr>
      </p:cxnSp>
      <p:cxnSp>
        <p:nvCxnSpPr>
          <p:cNvPr id="60" name="Line 60"/>
          <p:cNvCxnSpPr/>
          <p:nvPr/>
        </p:nvCxnSpPr>
        <p:spPr>
          <a:xfrm>
            <a:off x="4743348" y="4355592"/>
            <a:ext cx="2419350" cy="0"/>
          </a:xfrm>
          <a:prstGeom prst="line">
            <a:avLst/>
          </a:prstGeom>
          <a:ln w="9525" cap="flat">
            <a:solidFill>
              <a:srgbClr val="E6E8F2"/>
            </a:solidFill>
          </a:ln>
        </p:spPr>
      </p:cxnSp>
      <p:cxnSp>
        <p:nvCxnSpPr>
          <p:cNvPr id="61" name="Line 61"/>
          <p:cNvCxnSpPr/>
          <p:nvPr/>
        </p:nvCxnSpPr>
        <p:spPr>
          <a:xfrm>
            <a:off x="4743348" y="4144137"/>
            <a:ext cx="2419350" cy="0"/>
          </a:xfrm>
          <a:prstGeom prst="line">
            <a:avLst/>
          </a:prstGeom>
          <a:ln w="9525" cap="flat">
            <a:solidFill>
              <a:srgbClr val="E6E8F2"/>
            </a:solidFill>
          </a:ln>
        </p:spPr>
      </p:cxnSp>
      <p:cxnSp>
        <p:nvCxnSpPr>
          <p:cNvPr id="62" name="Line 62"/>
          <p:cNvCxnSpPr/>
          <p:nvPr/>
        </p:nvCxnSpPr>
        <p:spPr>
          <a:xfrm>
            <a:off x="4743348" y="3932682"/>
            <a:ext cx="2419350" cy="0"/>
          </a:xfrm>
          <a:prstGeom prst="line">
            <a:avLst/>
          </a:prstGeom>
          <a:ln w="9525" cap="flat">
            <a:solidFill>
              <a:srgbClr val="E6E8F2"/>
            </a:solidFill>
          </a:ln>
        </p:spPr>
      </p:cxnSp>
      <p:cxnSp>
        <p:nvCxnSpPr>
          <p:cNvPr id="63" name="Line 63"/>
          <p:cNvCxnSpPr/>
          <p:nvPr/>
        </p:nvCxnSpPr>
        <p:spPr>
          <a:xfrm>
            <a:off x="4743348" y="3721227"/>
            <a:ext cx="2419350" cy="0"/>
          </a:xfrm>
          <a:prstGeom prst="line">
            <a:avLst/>
          </a:prstGeom>
          <a:ln w="9525" cap="flat">
            <a:solidFill>
              <a:srgbClr val="E6E8F2"/>
            </a:solidFill>
          </a:ln>
        </p:spPr>
      </p:cxnSp>
      <p:cxnSp>
        <p:nvCxnSpPr>
          <p:cNvPr id="64" name="Line 64"/>
          <p:cNvCxnSpPr/>
          <p:nvPr/>
        </p:nvCxnSpPr>
        <p:spPr>
          <a:xfrm>
            <a:off x="4743348" y="3509772"/>
            <a:ext cx="2419350" cy="0"/>
          </a:xfrm>
          <a:prstGeom prst="line">
            <a:avLst/>
          </a:prstGeom>
          <a:ln w="9525" cap="flat">
            <a:solidFill>
              <a:srgbClr val="E6E8F2"/>
            </a:solidFill>
          </a:ln>
        </p:spPr>
      </p:cxnSp>
      <p:cxnSp>
        <p:nvCxnSpPr>
          <p:cNvPr id="65" name="Line 65"/>
          <p:cNvCxnSpPr/>
          <p:nvPr/>
        </p:nvCxnSpPr>
        <p:spPr>
          <a:xfrm>
            <a:off x="4743348" y="3298317"/>
            <a:ext cx="2419350" cy="0"/>
          </a:xfrm>
          <a:prstGeom prst="line">
            <a:avLst/>
          </a:prstGeom>
          <a:ln w="9525" cap="flat">
            <a:solidFill>
              <a:srgbClr val="E6E8F2"/>
            </a:solidFill>
          </a:ln>
        </p:spPr>
      </p:cxnSp>
      <p:cxnSp>
        <p:nvCxnSpPr>
          <p:cNvPr id="66" name="Line 66"/>
          <p:cNvCxnSpPr/>
          <p:nvPr/>
        </p:nvCxnSpPr>
        <p:spPr>
          <a:xfrm>
            <a:off x="4743348" y="3086862"/>
            <a:ext cx="2419350" cy="0"/>
          </a:xfrm>
          <a:prstGeom prst="line">
            <a:avLst/>
          </a:prstGeom>
          <a:ln w="9525" cap="flat">
            <a:solidFill>
              <a:srgbClr val="E6E8F2"/>
            </a:solidFill>
          </a:ln>
        </p:spPr>
      </p:cxnSp>
      <p:cxnSp>
        <p:nvCxnSpPr>
          <p:cNvPr id="67" name="Line 67"/>
          <p:cNvCxnSpPr/>
          <p:nvPr/>
        </p:nvCxnSpPr>
        <p:spPr>
          <a:xfrm>
            <a:off x="4743348" y="2875407"/>
            <a:ext cx="2419350" cy="0"/>
          </a:xfrm>
          <a:prstGeom prst="line">
            <a:avLst/>
          </a:prstGeom>
          <a:ln w="9525" cap="flat">
            <a:solidFill>
              <a:srgbClr val="E6E8F2"/>
            </a:solidFill>
          </a:ln>
        </p:spPr>
      </p:cxnSp>
      <p:cxnSp>
        <p:nvCxnSpPr>
          <p:cNvPr id="68" name="Line 68"/>
          <p:cNvCxnSpPr/>
          <p:nvPr/>
        </p:nvCxnSpPr>
        <p:spPr>
          <a:xfrm>
            <a:off x="4743348" y="2663952"/>
            <a:ext cx="2419350" cy="0"/>
          </a:xfrm>
          <a:prstGeom prst="line">
            <a:avLst/>
          </a:prstGeom>
          <a:ln w="9525" cap="flat">
            <a:solidFill>
              <a:srgbClr val="E6E8F2"/>
            </a:solidFill>
          </a:ln>
        </p:spPr>
      </p:cxnSp>
      <p:cxnSp>
        <p:nvCxnSpPr>
          <p:cNvPr id="69" name="Line 69"/>
          <p:cNvCxnSpPr/>
          <p:nvPr/>
        </p:nvCxnSpPr>
        <p:spPr>
          <a:xfrm>
            <a:off x="4743348" y="2452497"/>
            <a:ext cx="2419350" cy="0"/>
          </a:xfrm>
          <a:prstGeom prst="line">
            <a:avLst/>
          </a:prstGeom>
          <a:ln w="9525" cap="flat">
            <a:solidFill>
              <a:srgbClr val="E6E8F2"/>
            </a:solidFill>
          </a:ln>
        </p:spPr>
      </p:cxnSp>
      <p:cxnSp>
        <p:nvCxnSpPr>
          <p:cNvPr id="70" name="Line 70"/>
          <p:cNvCxnSpPr/>
          <p:nvPr/>
        </p:nvCxnSpPr>
        <p:spPr>
          <a:xfrm>
            <a:off x="4743348" y="2241042"/>
            <a:ext cx="2419350" cy="0"/>
          </a:xfrm>
          <a:prstGeom prst="line">
            <a:avLst/>
          </a:prstGeom>
          <a:ln w="9525" cap="flat">
            <a:solidFill>
              <a:srgbClr val="E6E8F2"/>
            </a:solidFill>
          </a:ln>
        </p:spPr>
      </p:cxnSp>
      <p:cxnSp>
        <p:nvCxnSpPr>
          <p:cNvPr id="71" name="Line 71"/>
          <p:cNvCxnSpPr/>
          <p:nvPr/>
        </p:nvCxnSpPr>
        <p:spPr>
          <a:xfrm>
            <a:off x="5953023" y="2241042"/>
            <a:ext cx="0" cy="2114550"/>
          </a:xfrm>
          <a:prstGeom prst="line">
            <a:avLst/>
          </a:prstGeom>
          <a:ln w="19050" cap="flat">
            <a:solidFill>
              <a:srgbClr val="5F6272"/>
            </a:solidFill>
          </a:ln>
        </p:spPr>
      </p:cxnSp>
      <p:cxnSp>
        <p:nvCxnSpPr>
          <p:cNvPr id="72" name="Line 72"/>
          <p:cNvCxnSpPr/>
          <p:nvPr/>
        </p:nvCxnSpPr>
        <p:spPr>
          <a:xfrm>
            <a:off x="4743348" y="3298317"/>
            <a:ext cx="2419350" cy="0"/>
          </a:xfrm>
          <a:prstGeom prst="line">
            <a:avLst/>
          </a:prstGeom>
          <a:ln w="19050" cap="flat">
            <a:solidFill>
              <a:srgbClr val="5F6272"/>
            </a:solidFill>
          </a:ln>
        </p:spPr>
      </p:cxnSp>
      <p:sp>
        <p:nvSpPr>
          <p:cNvPr id="73" name="Shape 73"/>
          <p:cNvSpPr txBox="1"/>
          <p:nvPr/>
        </p:nvSpPr>
        <p:spPr>
          <a:xfrm>
            <a:off x="4469028"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74" name="Shape 74"/>
          <p:cNvSpPr txBox="1"/>
          <p:nvPr/>
        </p:nvSpPr>
        <p:spPr>
          <a:xfrm>
            <a:off x="5678703"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5" name="Shape 75"/>
          <p:cNvSpPr txBox="1"/>
          <p:nvPr/>
        </p:nvSpPr>
        <p:spPr>
          <a:xfrm>
            <a:off x="6888378"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76" name="Shape 76"/>
          <p:cNvSpPr txBox="1"/>
          <p:nvPr/>
        </p:nvSpPr>
        <p:spPr>
          <a:xfrm>
            <a:off x="4176420"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77" name="Shape 77"/>
          <p:cNvSpPr txBox="1"/>
          <p:nvPr/>
        </p:nvSpPr>
        <p:spPr>
          <a:xfrm>
            <a:off x="4176420"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8" name="Shape 78"/>
          <p:cNvSpPr txBox="1"/>
          <p:nvPr/>
        </p:nvSpPr>
        <p:spPr>
          <a:xfrm>
            <a:off x="4176420"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79" name="Line 79"/>
          <p:cNvCxnSpPr/>
          <p:nvPr/>
        </p:nvCxnSpPr>
        <p:spPr>
          <a:xfrm>
            <a:off x="5953023" y="2346770"/>
            <a:ext cx="362903" cy="1903095"/>
          </a:xfrm>
          <a:prstGeom prst="line">
            <a:avLst/>
          </a:prstGeom>
          <a:ln w="38100" cap="rnd">
            <a:solidFill>
              <a:srgbClr val="16171D"/>
            </a:solidFill>
          </a:ln>
        </p:spPr>
      </p:cxnSp>
      <p:sp>
        <p:nvSpPr>
          <p:cNvPr id="80" name="Shape 80"/>
          <p:cNvSpPr txBox="1"/>
          <p:nvPr/>
        </p:nvSpPr>
        <p:spPr>
          <a:xfrm>
            <a:off x="4419498"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 straight line with a constant (negative) slope.</a:t>
            </a:r>
            <a:endParaRPr lang="en-US" sz="1575" dirty="0"/>
          </a:p>
        </p:txBody>
      </p:sp>
      <p:sp>
        <p:nvSpPr>
          <p:cNvPr id="81" name="Shape 81"/>
          <p:cNvSpPr txBox="1"/>
          <p:nvPr/>
        </p:nvSpPr>
        <p:spPr>
          <a:xfrm>
            <a:off x="8153197" y="1618488"/>
            <a:ext cx="33526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C</a:t>
            </a:r>
            <a:endParaRPr lang="en-US" sz="2100" dirty="0"/>
          </a:p>
        </p:txBody>
      </p:sp>
      <p:sp>
        <p:nvSpPr>
          <p:cNvPr id="82" name="Shape 82"/>
          <p:cNvSpPr/>
          <p:nvPr/>
        </p:nvSpPr>
        <p:spPr>
          <a:xfrm>
            <a:off x="8153197" y="2126742"/>
            <a:ext cx="2857500" cy="2476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3" name="Line 83"/>
          <p:cNvCxnSpPr/>
          <p:nvPr/>
        </p:nvCxnSpPr>
        <p:spPr>
          <a:xfrm>
            <a:off x="8477047" y="2241042"/>
            <a:ext cx="0" cy="2114550"/>
          </a:xfrm>
          <a:prstGeom prst="line">
            <a:avLst/>
          </a:prstGeom>
          <a:ln w="9525" cap="flat">
            <a:solidFill>
              <a:srgbClr val="E6E8F2"/>
            </a:solidFill>
          </a:ln>
        </p:spPr>
      </p:cxnSp>
      <p:cxnSp>
        <p:nvCxnSpPr>
          <p:cNvPr id="84" name="Line 84"/>
          <p:cNvCxnSpPr/>
          <p:nvPr/>
        </p:nvCxnSpPr>
        <p:spPr>
          <a:xfrm>
            <a:off x="8718982" y="2241042"/>
            <a:ext cx="0" cy="2114550"/>
          </a:xfrm>
          <a:prstGeom prst="line">
            <a:avLst/>
          </a:prstGeom>
          <a:ln w="9525" cap="flat">
            <a:solidFill>
              <a:srgbClr val="E6E8F2"/>
            </a:solidFill>
          </a:ln>
        </p:spPr>
      </p:cxnSp>
      <p:cxnSp>
        <p:nvCxnSpPr>
          <p:cNvPr id="85" name="Line 85"/>
          <p:cNvCxnSpPr/>
          <p:nvPr/>
        </p:nvCxnSpPr>
        <p:spPr>
          <a:xfrm>
            <a:off x="8960917" y="2241042"/>
            <a:ext cx="0" cy="2114550"/>
          </a:xfrm>
          <a:prstGeom prst="line">
            <a:avLst/>
          </a:prstGeom>
          <a:ln w="9525" cap="flat">
            <a:solidFill>
              <a:srgbClr val="E6E8F2"/>
            </a:solidFill>
          </a:ln>
        </p:spPr>
      </p:cxnSp>
      <p:cxnSp>
        <p:nvCxnSpPr>
          <p:cNvPr id="86" name="Line 86"/>
          <p:cNvCxnSpPr/>
          <p:nvPr/>
        </p:nvCxnSpPr>
        <p:spPr>
          <a:xfrm>
            <a:off x="9202852" y="2241042"/>
            <a:ext cx="0" cy="2114550"/>
          </a:xfrm>
          <a:prstGeom prst="line">
            <a:avLst/>
          </a:prstGeom>
          <a:ln w="9525" cap="flat">
            <a:solidFill>
              <a:srgbClr val="E6E8F2"/>
            </a:solidFill>
          </a:ln>
        </p:spPr>
      </p:cxnSp>
      <p:cxnSp>
        <p:nvCxnSpPr>
          <p:cNvPr id="87" name="Line 87"/>
          <p:cNvCxnSpPr/>
          <p:nvPr/>
        </p:nvCxnSpPr>
        <p:spPr>
          <a:xfrm>
            <a:off x="9444787" y="2241042"/>
            <a:ext cx="0" cy="2114550"/>
          </a:xfrm>
          <a:prstGeom prst="line">
            <a:avLst/>
          </a:prstGeom>
          <a:ln w="9525" cap="flat">
            <a:solidFill>
              <a:srgbClr val="E6E8F2"/>
            </a:solidFill>
          </a:ln>
        </p:spPr>
      </p:cxnSp>
      <p:cxnSp>
        <p:nvCxnSpPr>
          <p:cNvPr id="88" name="Line 88"/>
          <p:cNvCxnSpPr/>
          <p:nvPr/>
        </p:nvCxnSpPr>
        <p:spPr>
          <a:xfrm>
            <a:off x="9686722" y="2241042"/>
            <a:ext cx="0" cy="2114550"/>
          </a:xfrm>
          <a:prstGeom prst="line">
            <a:avLst/>
          </a:prstGeom>
          <a:ln w="9525" cap="flat">
            <a:solidFill>
              <a:srgbClr val="E6E8F2"/>
            </a:solidFill>
          </a:ln>
        </p:spPr>
      </p:cxnSp>
      <p:cxnSp>
        <p:nvCxnSpPr>
          <p:cNvPr id="89" name="Line 89"/>
          <p:cNvCxnSpPr/>
          <p:nvPr/>
        </p:nvCxnSpPr>
        <p:spPr>
          <a:xfrm>
            <a:off x="9928657" y="2241042"/>
            <a:ext cx="0" cy="2114550"/>
          </a:xfrm>
          <a:prstGeom prst="line">
            <a:avLst/>
          </a:prstGeom>
          <a:ln w="9525" cap="flat">
            <a:solidFill>
              <a:srgbClr val="E6E8F2"/>
            </a:solidFill>
          </a:ln>
        </p:spPr>
      </p:cxnSp>
      <p:cxnSp>
        <p:nvCxnSpPr>
          <p:cNvPr id="90" name="Line 90"/>
          <p:cNvCxnSpPr/>
          <p:nvPr/>
        </p:nvCxnSpPr>
        <p:spPr>
          <a:xfrm>
            <a:off x="10170592" y="2241042"/>
            <a:ext cx="0" cy="2114550"/>
          </a:xfrm>
          <a:prstGeom prst="line">
            <a:avLst/>
          </a:prstGeom>
          <a:ln w="9525" cap="flat">
            <a:solidFill>
              <a:srgbClr val="E6E8F2"/>
            </a:solidFill>
          </a:ln>
        </p:spPr>
      </p:cxnSp>
      <p:cxnSp>
        <p:nvCxnSpPr>
          <p:cNvPr id="91" name="Line 91"/>
          <p:cNvCxnSpPr/>
          <p:nvPr/>
        </p:nvCxnSpPr>
        <p:spPr>
          <a:xfrm>
            <a:off x="10412527" y="2241042"/>
            <a:ext cx="0" cy="2114550"/>
          </a:xfrm>
          <a:prstGeom prst="line">
            <a:avLst/>
          </a:prstGeom>
          <a:ln w="9525" cap="flat">
            <a:solidFill>
              <a:srgbClr val="E6E8F2"/>
            </a:solidFill>
          </a:ln>
        </p:spPr>
      </p:cxnSp>
      <p:cxnSp>
        <p:nvCxnSpPr>
          <p:cNvPr id="92" name="Line 92"/>
          <p:cNvCxnSpPr/>
          <p:nvPr/>
        </p:nvCxnSpPr>
        <p:spPr>
          <a:xfrm>
            <a:off x="10654462" y="2241042"/>
            <a:ext cx="0" cy="2114550"/>
          </a:xfrm>
          <a:prstGeom prst="line">
            <a:avLst/>
          </a:prstGeom>
          <a:ln w="9525" cap="flat">
            <a:solidFill>
              <a:srgbClr val="E6E8F2"/>
            </a:solidFill>
          </a:ln>
        </p:spPr>
      </p:cxnSp>
      <p:cxnSp>
        <p:nvCxnSpPr>
          <p:cNvPr id="93" name="Line 93"/>
          <p:cNvCxnSpPr/>
          <p:nvPr/>
        </p:nvCxnSpPr>
        <p:spPr>
          <a:xfrm>
            <a:off x="10896397" y="2241042"/>
            <a:ext cx="0" cy="2114550"/>
          </a:xfrm>
          <a:prstGeom prst="line">
            <a:avLst/>
          </a:prstGeom>
          <a:ln w="9525" cap="flat">
            <a:solidFill>
              <a:srgbClr val="E6E8F2"/>
            </a:solidFill>
          </a:ln>
        </p:spPr>
      </p:cxnSp>
      <p:cxnSp>
        <p:nvCxnSpPr>
          <p:cNvPr id="94" name="Line 94"/>
          <p:cNvCxnSpPr/>
          <p:nvPr/>
        </p:nvCxnSpPr>
        <p:spPr>
          <a:xfrm>
            <a:off x="8477047" y="4355592"/>
            <a:ext cx="2419350" cy="0"/>
          </a:xfrm>
          <a:prstGeom prst="line">
            <a:avLst/>
          </a:prstGeom>
          <a:ln w="9525" cap="flat">
            <a:solidFill>
              <a:srgbClr val="E6E8F2"/>
            </a:solidFill>
          </a:ln>
        </p:spPr>
      </p:cxnSp>
      <p:cxnSp>
        <p:nvCxnSpPr>
          <p:cNvPr id="95" name="Line 95"/>
          <p:cNvCxnSpPr/>
          <p:nvPr/>
        </p:nvCxnSpPr>
        <p:spPr>
          <a:xfrm>
            <a:off x="8477047" y="4144137"/>
            <a:ext cx="2419350" cy="0"/>
          </a:xfrm>
          <a:prstGeom prst="line">
            <a:avLst/>
          </a:prstGeom>
          <a:ln w="9525" cap="flat">
            <a:solidFill>
              <a:srgbClr val="E6E8F2"/>
            </a:solidFill>
          </a:ln>
        </p:spPr>
      </p:cxnSp>
      <p:cxnSp>
        <p:nvCxnSpPr>
          <p:cNvPr id="96" name="Line 96"/>
          <p:cNvCxnSpPr/>
          <p:nvPr/>
        </p:nvCxnSpPr>
        <p:spPr>
          <a:xfrm>
            <a:off x="8477047" y="3932682"/>
            <a:ext cx="2419350" cy="0"/>
          </a:xfrm>
          <a:prstGeom prst="line">
            <a:avLst/>
          </a:prstGeom>
          <a:ln w="9525" cap="flat">
            <a:solidFill>
              <a:srgbClr val="E6E8F2"/>
            </a:solidFill>
          </a:ln>
        </p:spPr>
      </p:cxnSp>
      <p:cxnSp>
        <p:nvCxnSpPr>
          <p:cNvPr id="97" name="Line 97"/>
          <p:cNvCxnSpPr/>
          <p:nvPr/>
        </p:nvCxnSpPr>
        <p:spPr>
          <a:xfrm>
            <a:off x="8477047" y="3721227"/>
            <a:ext cx="2419350" cy="0"/>
          </a:xfrm>
          <a:prstGeom prst="line">
            <a:avLst/>
          </a:prstGeom>
          <a:ln w="9525" cap="flat">
            <a:solidFill>
              <a:srgbClr val="E6E8F2"/>
            </a:solidFill>
          </a:ln>
        </p:spPr>
      </p:cxnSp>
      <p:cxnSp>
        <p:nvCxnSpPr>
          <p:cNvPr id="98" name="Line 98"/>
          <p:cNvCxnSpPr/>
          <p:nvPr/>
        </p:nvCxnSpPr>
        <p:spPr>
          <a:xfrm>
            <a:off x="8477047" y="3509772"/>
            <a:ext cx="2419350" cy="0"/>
          </a:xfrm>
          <a:prstGeom prst="line">
            <a:avLst/>
          </a:prstGeom>
          <a:ln w="9525" cap="flat">
            <a:solidFill>
              <a:srgbClr val="E6E8F2"/>
            </a:solidFill>
          </a:ln>
        </p:spPr>
      </p:cxnSp>
      <p:cxnSp>
        <p:nvCxnSpPr>
          <p:cNvPr id="99" name="Line 99"/>
          <p:cNvCxnSpPr/>
          <p:nvPr/>
        </p:nvCxnSpPr>
        <p:spPr>
          <a:xfrm>
            <a:off x="8477047" y="3298317"/>
            <a:ext cx="2419350" cy="0"/>
          </a:xfrm>
          <a:prstGeom prst="line">
            <a:avLst/>
          </a:prstGeom>
          <a:ln w="9525" cap="flat">
            <a:solidFill>
              <a:srgbClr val="E6E8F2"/>
            </a:solidFill>
          </a:ln>
        </p:spPr>
      </p:cxnSp>
      <p:cxnSp>
        <p:nvCxnSpPr>
          <p:cNvPr id="100" name="Line 100"/>
          <p:cNvCxnSpPr/>
          <p:nvPr/>
        </p:nvCxnSpPr>
        <p:spPr>
          <a:xfrm>
            <a:off x="8477047" y="3086862"/>
            <a:ext cx="2419350" cy="0"/>
          </a:xfrm>
          <a:prstGeom prst="line">
            <a:avLst/>
          </a:prstGeom>
          <a:ln w="9525" cap="flat">
            <a:solidFill>
              <a:srgbClr val="E6E8F2"/>
            </a:solidFill>
          </a:ln>
        </p:spPr>
      </p:cxnSp>
      <p:cxnSp>
        <p:nvCxnSpPr>
          <p:cNvPr id="101" name="Line 101"/>
          <p:cNvCxnSpPr/>
          <p:nvPr/>
        </p:nvCxnSpPr>
        <p:spPr>
          <a:xfrm>
            <a:off x="8477047" y="2875407"/>
            <a:ext cx="2419350" cy="0"/>
          </a:xfrm>
          <a:prstGeom prst="line">
            <a:avLst/>
          </a:prstGeom>
          <a:ln w="9525" cap="flat">
            <a:solidFill>
              <a:srgbClr val="E6E8F2"/>
            </a:solidFill>
          </a:ln>
        </p:spPr>
      </p:cxnSp>
      <p:cxnSp>
        <p:nvCxnSpPr>
          <p:cNvPr id="102" name="Line 102"/>
          <p:cNvCxnSpPr/>
          <p:nvPr/>
        </p:nvCxnSpPr>
        <p:spPr>
          <a:xfrm>
            <a:off x="8477047" y="2663952"/>
            <a:ext cx="2419350" cy="0"/>
          </a:xfrm>
          <a:prstGeom prst="line">
            <a:avLst/>
          </a:prstGeom>
          <a:ln w="9525" cap="flat">
            <a:solidFill>
              <a:srgbClr val="E6E8F2"/>
            </a:solidFill>
          </a:ln>
        </p:spPr>
      </p:cxnSp>
      <p:cxnSp>
        <p:nvCxnSpPr>
          <p:cNvPr id="103" name="Line 103"/>
          <p:cNvCxnSpPr/>
          <p:nvPr/>
        </p:nvCxnSpPr>
        <p:spPr>
          <a:xfrm>
            <a:off x="8477047" y="2452497"/>
            <a:ext cx="2419350" cy="0"/>
          </a:xfrm>
          <a:prstGeom prst="line">
            <a:avLst/>
          </a:prstGeom>
          <a:ln w="9525" cap="flat">
            <a:solidFill>
              <a:srgbClr val="E6E8F2"/>
            </a:solidFill>
          </a:ln>
        </p:spPr>
      </p:cxnSp>
      <p:cxnSp>
        <p:nvCxnSpPr>
          <p:cNvPr id="104" name="Line 104"/>
          <p:cNvCxnSpPr/>
          <p:nvPr/>
        </p:nvCxnSpPr>
        <p:spPr>
          <a:xfrm>
            <a:off x="8477047" y="2241042"/>
            <a:ext cx="2419350" cy="0"/>
          </a:xfrm>
          <a:prstGeom prst="line">
            <a:avLst/>
          </a:prstGeom>
          <a:ln w="9525" cap="flat">
            <a:solidFill>
              <a:srgbClr val="E6E8F2"/>
            </a:solidFill>
          </a:ln>
        </p:spPr>
      </p:cxnSp>
      <p:cxnSp>
        <p:nvCxnSpPr>
          <p:cNvPr id="105" name="Line 105"/>
          <p:cNvCxnSpPr/>
          <p:nvPr/>
        </p:nvCxnSpPr>
        <p:spPr>
          <a:xfrm>
            <a:off x="9686722" y="2241042"/>
            <a:ext cx="0" cy="2114550"/>
          </a:xfrm>
          <a:prstGeom prst="line">
            <a:avLst/>
          </a:prstGeom>
          <a:ln w="19050" cap="flat">
            <a:solidFill>
              <a:srgbClr val="5F6272"/>
            </a:solidFill>
          </a:ln>
        </p:spPr>
      </p:cxnSp>
      <p:cxnSp>
        <p:nvCxnSpPr>
          <p:cNvPr id="106" name="Line 106"/>
          <p:cNvCxnSpPr/>
          <p:nvPr/>
        </p:nvCxnSpPr>
        <p:spPr>
          <a:xfrm>
            <a:off x="8477047" y="3298317"/>
            <a:ext cx="2419350" cy="0"/>
          </a:xfrm>
          <a:prstGeom prst="line">
            <a:avLst/>
          </a:prstGeom>
          <a:ln w="19050" cap="flat">
            <a:solidFill>
              <a:srgbClr val="5F6272"/>
            </a:solidFill>
          </a:ln>
        </p:spPr>
      </p:cxnSp>
      <p:sp>
        <p:nvSpPr>
          <p:cNvPr id="107" name="Shape 107"/>
          <p:cNvSpPr txBox="1"/>
          <p:nvPr/>
        </p:nvSpPr>
        <p:spPr>
          <a:xfrm>
            <a:off x="8202727"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108" name="Shape 108"/>
          <p:cNvSpPr txBox="1"/>
          <p:nvPr/>
        </p:nvSpPr>
        <p:spPr>
          <a:xfrm>
            <a:off x="9412402"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09" name="Shape 109"/>
          <p:cNvSpPr txBox="1"/>
          <p:nvPr/>
        </p:nvSpPr>
        <p:spPr>
          <a:xfrm>
            <a:off x="10622077" y="437464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110" name="Shape 110"/>
          <p:cNvSpPr txBox="1"/>
          <p:nvPr/>
        </p:nvSpPr>
        <p:spPr>
          <a:xfrm>
            <a:off x="7910119" y="4264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111" name="Shape 111"/>
          <p:cNvSpPr txBox="1"/>
          <p:nvPr/>
        </p:nvSpPr>
        <p:spPr>
          <a:xfrm>
            <a:off x="7910119" y="320687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7910119" y="2149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113" name="Line 113"/>
          <p:cNvCxnSpPr/>
          <p:nvPr/>
        </p:nvCxnSpPr>
        <p:spPr>
          <a:xfrm flipV="1">
            <a:off x="9202852" y="2241042"/>
            <a:ext cx="0" cy="2114550"/>
          </a:xfrm>
          <a:prstGeom prst="line">
            <a:avLst/>
          </a:prstGeom>
          <a:ln w="38100" cap="rnd">
            <a:solidFill>
              <a:srgbClr val="16171D"/>
            </a:solidFill>
          </a:ln>
        </p:spPr>
      </p:cxnSp>
      <p:sp>
        <p:nvSpPr>
          <p:cNvPr id="114" name="Shape 114"/>
          <p:cNvSpPr txBox="1"/>
          <p:nvPr/>
        </p:nvSpPr>
        <p:spPr>
          <a:xfrm>
            <a:off x="8153197" y="4736592"/>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a function.</a:t>
            </a:r>
            <a:r>
              <a:rPr lang="en-US" sz="1575" dirty="0">
                <a:solidFill>
                  <a:srgbClr val="16171D"/>
                </a:solidFill>
                <a:latin typeface="Segoe UI"/>
                <a:cs typeface="Segoe UI"/>
              </a:rPr>
              <a:t xml:space="preserve"> A vertical line: one input, every output.</a:t>
            </a:r>
            <a:endParaRPr lang="en-US" sz="1575" dirty="0"/>
          </a:p>
        </p:txBody>
      </p:sp>
      <p:sp>
        <p:nvSpPr>
          <p:cNvPr id="115" name="Slide Number 1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6"/>
                                        </p:tgtEl>
                                        <p:attrNameLst>
                                          <p:attrName>style.visibility</p:attrName>
                                        </p:attrNameLst>
                                      </p:cBhvr>
                                      <p:to>
                                        <p:strVal val="visible"/>
                                      </p:to>
                                    </p:set>
                                    <p:animEffect transition="in" filter="fade">
                                      <p:cBhvr>
                                        <p:cTn id="4" dur="500"/>
                                        <p:tgtEl>
                                          <p:spTgt spid="46"/>
                                        </p:tgtEl>
                                      </p:cBhvr>
                                    </p:animEffect>
                                    <p:anim calcmode="lin" valueType="num">
                                      <p:cBhvr>
                                        <p:cTn id="5" dur="500" fill="hold"/>
                                        <p:tgtEl>
                                          <p:spTgt spid="46"/>
                                        </p:tgtEl>
                                        <p:attrNameLst>
                                          <p:attrName>ppt_x</p:attrName>
                                        </p:attrNameLst>
                                      </p:cBhvr>
                                      <p:tavLst>
                                        <p:tav tm="0">
                                          <p:val>
                                            <p:strVal val="#ppt_x"/>
                                          </p:val>
                                        </p:tav>
                                        <p:tav tm="100000">
                                          <p:val>
                                            <p:strVal val="#ppt_x"/>
                                          </p:val>
                                        </p:tav>
                                      </p:tavLst>
                                    </p:anim>
                                    <p:anim calcmode="lin" valueType="num">
                                      <p:cBhvr>
                                        <p:cTn id="6"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fade">
                                      <p:cBhvr>
                                        <p:cTn id="11" dur="500"/>
                                        <p:tgtEl>
                                          <p:spTgt spid="80"/>
                                        </p:tgtEl>
                                      </p:cBhvr>
                                    </p:animEffect>
                                    <p:anim calcmode="lin" valueType="num">
                                      <p:cBhvr>
                                        <p:cTn id="12" dur="500" fill="hold"/>
                                        <p:tgtEl>
                                          <p:spTgt spid="80"/>
                                        </p:tgtEl>
                                        <p:attrNameLst>
                                          <p:attrName>ppt_x</p:attrName>
                                        </p:attrNameLst>
                                      </p:cBhvr>
                                      <p:tavLst>
                                        <p:tav tm="0">
                                          <p:val>
                                            <p:strVal val="#ppt_x"/>
                                          </p:val>
                                        </p:tav>
                                        <p:tav tm="100000">
                                          <p:val>
                                            <p:strVal val="#ppt_x"/>
                                          </p:val>
                                        </p:tav>
                                      </p:tavLst>
                                    </p:anim>
                                    <p:anim calcmode="lin" valueType="num">
                                      <p:cBhvr>
                                        <p:cTn id="13" dur="5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4"/>
                                        </p:tgtEl>
                                        <p:attrNameLst>
                                          <p:attrName>style.visibility</p:attrName>
                                        </p:attrNameLst>
                                      </p:cBhvr>
                                      <p:to>
                                        <p:strVal val="visible"/>
                                      </p:to>
                                    </p:set>
                                    <p:animEffect transition="in" filter="fade">
                                      <p:cBhvr>
                                        <p:cTn id="18" dur="500"/>
                                        <p:tgtEl>
                                          <p:spTgt spid="114"/>
                                        </p:tgtEl>
                                      </p:cBhvr>
                                    </p:animEffect>
                                    <p:anim calcmode="lin" valueType="num">
                                      <p:cBhvr>
                                        <p:cTn id="19" dur="500" fill="hold"/>
                                        <p:tgtEl>
                                          <p:spTgt spid="114"/>
                                        </p:tgtEl>
                                        <p:attrNameLst>
                                          <p:attrName>ppt_x</p:attrName>
                                        </p:attrNameLst>
                                      </p:cBhvr>
                                      <p:tavLst>
                                        <p:tav tm="0">
                                          <p:val>
                                            <p:strVal val="#ppt_x"/>
                                          </p:val>
                                        </p:tav>
                                        <p:tav tm="100000">
                                          <p:val>
                                            <p:strVal val="#ppt_x"/>
                                          </p:val>
                                        </p:tav>
                                      </p:tavLst>
                                    </p:anim>
                                    <p:anim calcmode="lin" valueType="num">
                                      <p:cBhvr>
                                        <p:cTn id="20" dur="500" fill="hold"/>
                                        <p:tgtEl>
                                          <p:spTgt spid="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Interpreting Linear Functions · SE p. 241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Inputs not consecutive? Check the slope between every pair.</a:t>
            </a:r>
            <a:endParaRPr lang="en-US" sz="3450" dirty="0"/>
          </a:p>
        </p:txBody>
      </p:sp>
      <p:sp>
        <p:nvSpPr>
          <p:cNvPr id="4" name="Shape 4"/>
          <p:cNvSpPr txBox="1"/>
          <p:nvPr/>
        </p:nvSpPr>
        <p:spPr>
          <a:xfrm>
            <a:off x="685800"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endParaRPr lang="en-US" sz="1950" dirty="0"/>
          </a:p>
        </p:txBody>
      </p:sp>
      <p:sp>
        <p:nvSpPr>
          <p:cNvPr id="5" name="Shape 5"/>
          <p:cNvSpPr txBox="1"/>
          <p:nvPr/>
        </p:nvSpPr>
        <p:spPr>
          <a:xfrm>
            <a:off x="3600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6" name="Shape 6"/>
          <p:cNvSpPr txBox="1"/>
          <p:nvPr/>
        </p:nvSpPr>
        <p:spPr>
          <a:xfrm>
            <a:off x="4743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7" name="Shape 7"/>
          <p:cNvSpPr txBox="1"/>
          <p:nvPr/>
        </p:nvSpPr>
        <p:spPr>
          <a:xfrm>
            <a:off x="3600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8" name="Shape 8"/>
          <p:cNvSpPr txBox="1"/>
          <p:nvPr/>
        </p:nvSpPr>
        <p:spPr>
          <a:xfrm>
            <a:off x="4743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9" name="Shape 9"/>
          <p:cNvSpPr txBox="1"/>
          <p:nvPr/>
        </p:nvSpPr>
        <p:spPr>
          <a:xfrm>
            <a:off x="3600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10" name="Shape 10"/>
          <p:cNvSpPr txBox="1"/>
          <p:nvPr/>
        </p:nvSpPr>
        <p:spPr>
          <a:xfrm>
            <a:off x="4743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4.75</a:t>
            </a:r>
            <a:endParaRPr lang="en-US" sz="1800" dirty="0"/>
          </a:p>
        </p:txBody>
      </p:sp>
      <p:sp>
        <p:nvSpPr>
          <p:cNvPr id="11" name="Shape 11"/>
          <p:cNvSpPr txBox="1"/>
          <p:nvPr/>
        </p:nvSpPr>
        <p:spPr>
          <a:xfrm>
            <a:off x="3600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2" name="Shape 12"/>
          <p:cNvSpPr txBox="1"/>
          <p:nvPr/>
        </p:nvSpPr>
        <p:spPr>
          <a:xfrm>
            <a:off x="4743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3" name="Shape 13"/>
          <p:cNvSpPr txBox="1"/>
          <p:nvPr/>
        </p:nvSpPr>
        <p:spPr>
          <a:xfrm>
            <a:off x="3600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14" name="Shape 14"/>
          <p:cNvSpPr txBox="1"/>
          <p:nvPr/>
        </p:nvSpPr>
        <p:spPr>
          <a:xfrm>
            <a:off x="4743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3.25</a:t>
            </a:r>
            <a:endParaRPr lang="en-US" sz="1800" dirty="0"/>
          </a:p>
        </p:txBody>
      </p:sp>
      <p:sp>
        <p:nvSpPr>
          <p:cNvPr id="15" name="Shape 15"/>
          <p:cNvSpPr txBox="1"/>
          <p:nvPr/>
        </p:nvSpPr>
        <p:spPr>
          <a:xfrm>
            <a:off x="685800"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step: </a:t>
            </a:r>
            <a:r>
              <a:rPr lang="en-US" sz="1575" dirty="0">
                <a:solidFill>
                  <a:srgbClr val="16171D"/>
                </a:solidFill>
                <a:latin typeface="Cambria"/>
                <a:cs typeface="Cambria"/>
              </a:rPr>
              <a:t xml:space="preserve">−0.75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−0.25</a:t>
            </a:r>
            <a:r>
              <a:rPr lang="en-US" sz="1575" dirty="0">
                <a:solidFill>
                  <a:srgbClr val="16171D"/>
                </a:solidFill>
                <a:latin typeface="Segoe UI"/>
                <a:cs typeface="Segoe UI"/>
              </a:rPr>
              <a:t xml:space="preserve">. Constant, so </a:t>
            </a:r>
            <a:r>
              <a:rPr lang="en-US" sz="1575" dirty="0" b="1">
                <a:solidFill>
                  <a:srgbClr val="16171D"/>
                </a:solidFill>
                <a:latin typeface="Segoe UI"/>
                <a:cs typeface="Segoe UI"/>
              </a:rPr>
              <a:t xml:space="preserve">linear</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85800" y="4732782"/>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from (1, 4.75) to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b="1">
                <a:solidFill>
                  <a:srgbClr val="3050B8"/>
                </a:solidFill>
                <a:latin typeface="Cambria"/>
                <a:cs typeface="Cambria"/>
              </a:rPr>
              <a:t xml:space="preserve">(0, 5)</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85800" y="5122926"/>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endParaRPr lang="en-US" sz="2325" dirty="0"/>
          </a:p>
        </p:txBody>
      </p:sp>
      <p:sp>
        <p:nvSpPr>
          <p:cNvPr id="18" name="Shape 18"/>
          <p:cNvSpPr txBox="1"/>
          <p:nvPr/>
        </p:nvSpPr>
        <p:spPr>
          <a:xfrm>
            <a:off x="6305398"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endParaRPr lang="en-US" sz="1950" dirty="0"/>
          </a:p>
        </p:txBody>
      </p:sp>
      <p:sp>
        <p:nvSpPr>
          <p:cNvPr id="19" name="Shape 19"/>
          <p:cNvSpPr txBox="1"/>
          <p:nvPr/>
        </p:nvSpPr>
        <p:spPr>
          <a:xfrm>
            <a:off x="9219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10362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21" name="Shape 21"/>
          <p:cNvSpPr txBox="1"/>
          <p:nvPr/>
        </p:nvSpPr>
        <p:spPr>
          <a:xfrm>
            <a:off x="9219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2" name="Shape 22"/>
          <p:cNvSpPr txBox="1"/>
          <p:nvPr/>
        </p:nvSpPr>
        <p:spPr>
          <a:xfrm>
            <a:off x="10362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9219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4" name="Shape 24"/>
          <p:cNvSpPr txBox="1"/>
          <p:nvPr/>
        </p:nvSpPr>
        <p:spPr>
          <a:xfrm>
            <a:off x="10362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13</a:t>
            </a:r>
            <a:endParaRPr lang="en-US" sz="1800" dirty="0"/>
          </a:p>
        </p:txBody>
      </p:sp>
      <p:sp>
        <p:nvSpPr>
          <p:cNvPr id="25" name="Shape 25"/>
          <p:cNvSpPr txBox="1"/>
          <p:nvPr/>
        </p:nvSpPr>
        <p:spPr>
          <a:xfrm>
            <a:off x="9219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10362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21</a:t>
            </a:r>
            <a:endParaRPr lang="en-US" sz="1800" dirty="0"/>
          </a:p>
        </p:txBody>
      </p:sp>
      <p:sp>
        <p:nvSpPr>
          <p:cNvPr id="27" name="Shape 27"/>
          <p:cNvSpPr txBox="1"/>
          <p:nvPr/>
        </p:nvSpPr>
        <p:spPr>
          <a:xfrm>
            <a:off x="9219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8" name="Shape 28"/>
          <p:cNvSpPr txBox="1"/>
          <p:nvPr/>
        </p:nvSpPr>
        <p:spPr>
          <a:xfrm>
            <a:off x="10362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29</a:t>
            </a:r>
            <a:endParaRPr lang="en-US" sz="1800" dirty="0"/>
          </a:p>
        </p:txBody>
      </p:sp>
      <p:sp>
        <p:nvSpPr>
          <p:cNvPr id="29" name="Shape 29"/>
          <p:cNvSpPr txBox="1"/>
          <p:nvPr/>
        </p:nvSpPr>
        <p:spPr>
          <a:xfrm>
            <a:off x="6305398"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0 → 2: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2 → 4: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4 → 8: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a:t>
            </a:r>
            <a:endParaRPr lang="en-US" sz="1575" dirty="0"/>
          </a:p>
        </p:txBody>
      </p:sp>
      <p:sp>
        <p:nvSpPr>
          <p:cNvPr id="30" name="Shape 30"/>
          <p:cNvSpPr txBox="1"/>
          <p:nvPr/>
        </p:nvSpPr>
        <p:spPr>
          <a:xfrm>
            <a:off x="6305398" y="473278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Not linear</a:t>
            </a:r>
            <a:endParaRPr lang="en-US" sz="2325" dirty="0"/>
          </a:p>
        </p:txBody>
      </p:sp>
      <p:sp>
        <p:nvSpPr>
          <p:cNvPr id="31" name="Shape 31"/>
          <p:cNvSpPr txBox="1"/>
          <p:nvPr/>
        </p:nvSpPr>
        <p:spPr>
          <a:xfrm>
            <a:off x="6305398" y="5346954"/>
            <a:ext cx="5200498" cy="6263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go up by 8 each time, but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-steps aren't equal.</a:t>
            </a:r>
            <a:endParaRPr lang="en-US" sz="1575" dirty="0"/>
          </a:p>
        </p:txBody>
      </p:sp>
      <p:sp>
        <p:nvSpPr>
          <p:cNvPr id="32" name="Slide Number 3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anim calcmode="lin" valueType="num">
                                      <p:cBhvr>
                                        <p:cTn id="26" dur="500" fill="hold"/>
                                        <p:tgtEl>
                                          <p:spTgt spid="29"/>
                                        </p:tgtEl>
                                        <p:attrNameLst>
                                          <p:attrName>ppt_x</p:attrName>
                                        </p:attrNameLst>
                                      </p:cBhvr>
                                      <p:tavLst>
                                        <p:tav tm="0">
                                          <p:val>
                                            <p:strVal val="#ppt_x"/>
                                          </p:val>
                                        </p:tav>
                                        <p:tav tm="100000">
                                          <p:val>
                                            <p:strVal val="#ppt_x"/>
                                          </p:val>
                                        </p:tav>
                                      </p:tavLst>
                                    </p:anim>
                                    <p:anim calcmode="lin" valueType="num">
                                      <p:cBhvr>
                                        <p:cTn id="27"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anim calcmode="lin" valueType="num">
                                      <p:cBhvr>
                                        <p:cTn id="33" dur="500" fill="hold"/>
                                        <p:tgtEl>
                                          <p:spTgt spid="30"/>
                                        </p:tgtEl>
                                        <p:attrNameLst>
                                          <p:attrName>ppt_w</p:attrName>
                                        </p:attrNameLst>
                                      </p:cBhvr>
                                      <p:tavLst>
                                        <p:tav tm="0">
                                          <p:val>
                                            <p:fltVal val="0"/>
                                          </p:val>
                                        </p:tav>
                                        <p:tav tm="100000">
                                          <p:val>
                                            <p:strVal val="#ppt_w"/>
                                          </p:val>
                                        </p:tav>
                                      </p:tavLst>
                                    </p:anim>
                                    <p:anim calcmode="lin" valueType="num">
                                      <p:cBhvr>
                                        <p:cTn id="34"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anim calcmode="lin" valueType="num">
                                      <p:cBhvr>
                                        <p:cTn id="40" dur="500" fill="hold"/>
                                        <p:tgtEl>
                                          <p:spTgt spid="31"/>
                                        </p:tgtEl>
                                        <p:attrNameLst>
                                          <p:attrName>ppt_x</p:attrName>
                                        </p:attrNameLst>
                                      </p:cBhvr>
                                      <p:tavLst>
                                        <p:tav tm="0">
                                          <p:val>
                                            <p:strVal val="#ppt_x"/>
                                          </p:val>
                                        </p:tav>
                                        <p:tav tm="100000">
                                          <p:val>
                                            <p:strVal val="#ppt_x"/>
                                          </p:val>
                                        </p:tav>
                                      </p:tavLst>
                                    </p:anim>
                                    <p:anim calcmode="lin" valueType="num">
                                      <p:cBhvr>
                                        <p:cTn id="4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2 · SE p. 241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Nakota's pretzels</a:t>
            </a:r>
            <a:endParaRPr lang="en-US" sz="3450" dirty="0"/>
          </a:p>
        </p:txBody>
      </p:sp>
      <p:sp>
        <p:nvSpPr>
          <p:cNvPr id="4" name="Shape 4"/>
          <p:cNvSpPr txBox="1"/>
          <p:nvPr/>
        </p:nvSpPr>
        <p:spPr>
          <a:xfrm>
            <a:off x="685800" y="1618488"/>
            <a:ext cx="222275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Pretzels Sold</a:t>
            </a:r>
            <a:endParaRPr lang="en-US" sz="1950" dirty="0"/>
          </a:p>
        </p:txBody>
      </p:sp>
      <p:sp>
        <p:nvSpPr>
          <p:cNvPr id="5" name="Shape 5"/>
          <p:cNvSpPr txBox="1"/>
          <p:nvPr/>
        </p:nvSpPr>
        <p:spPr>
          <a:xfrm>
            <a:off x="2908554" y="1618488"/>
            <a:ext cx="260908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Earned ($)</a:t>
            </a:r>
            <a:endParaRPr lang="en-US" sz="1950" dirty="0"/>
          </a:p>
        </p:txBody>
      </p:sp>
      <p:sp>
        <p:nvSpPr>
          <p:cNvPr id="6" name="Shape 6"/>
          <p:cNvSpPr txBox="1"/>
          <p:nvPr/>
        </p:nvSpPr>
        <p:spPr>
          <a:xfrm>
            <a:off x="685800" y="2061972"/>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a:t>
            </a:r>
            <a:endParaRPr lang="en-US" sz="1950" dirty="0"/>
          </a:p>
        </p:txBody>
      </p:sp>
      <p:sp>
        <p:nvSpPr>
          <p:cNvPr id="7" name="Shape 7"/>
          <p:cNvSpPr txBox="1"/>
          <p:nvPr/>
        </p:nvSpPr>
        <p:spPr>
          <a:xfrm>
            <a:off x="2908554" y="2061972"/>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37.5</a:t>
            </a:r>
            <a:endParaRPr lang="en-US" sz="1950" dirty="0"/>
          </a:p>
        </p:txBody>
      </p:sp>
      <p:sp>
        <p:nvSpPr>
          <p:cNvPr id="8" name="Shape 8"/>
          <p:cNvSpPr txBox="1"/>
          <p:nvPr/>
        </p:nvSpPr>
        <p:spPr>
          <a:xfrm>
            <a:off x="685800" y="2505456"/>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42</a:t>
            </a:r>
            <a:endParaRPr lang="en-US" sz="1950" dirty="0"/>
          </a:p>
        </p:txBody>
      </p:sp>
      <p:sp>
        <p:nvSpPr>
          <p:cNvPr id="9" name="Shape 9"/>
          <p:cNvSpPr txBox="1"/>
          <p:nvPr/>
        </p:nvSpPr>
        <p:spPr>
          <a:xfrm>
            <a:off x="2908554" y="2505456"/>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105</a:t>
            </a:r>
            <a:endParaRPr lang="en-US" sz="1950" dirty="0"/>
          </a:p>
        </p:txBody>
      </p:sp>
      <p:sp>
        <p:nvSpPr>
          <p:cNvPr id="10" name="Shape 10"/>
          <p:cNvSpPr txBox="1"/>
          <p:nvPr/>
        </p:nvSpPr>
        <p:spPr>
          <a:xfrm>
            <a:off x="685800" y="2948940"/>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58</a:t>
            </a:r>
            <a:endParaRPr lang="en-US" sz="1950" dirty="0"/>
          </a:p>
        </p:txBody>
      </p:sp>
      <p:sp>
        <p:nvSpPr>
          <p:cNvPr id="11" name="Shape 11"/>
          <p:cNvSpPr txBox="1"/>
          <p:nvPr/>
        </p:nvSpPr>
        <p:spPr>
          <a:xfrm>
            <a:off x="2908554" y="2948940"/>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145</a:t>
            </a:r>
            <a:endParaRPr lang="en-US" sz="1950" dirty="0"/>
          </a:p>
        </p:txBody>
      </p:sp>
      <p:sp>
        <p:nvSpPr>
          <p:cNvPr id="12" name="Shape 12"/>
          <p:cNvSpPr txBox="1"/>
          <p:nvPr/>
        </p:nvSpPr>
        <p:spPr>
          <a:xfrm>
            <a:off x="685800" y="3392424"/>
            <a:ext cx="222275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29</a:t>
            </a:r>
            <a:endParaRPr lang="en-US" sz="1950" dirty="0"/>
          </a:p>
        </p:txBody>
      </p:sp>
      <p:sp>
        <p:nvSpPr>
          <p:cNvPr id="13" name="Shape 13"/>
          <p:cNvSpPr txBox="1"/>
          <p:nvPr/>
        </p:nvSpPr>
        <p:spPr>
          <a:xfrm>
            <a:off x="2908554" y="3392424"/>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72.5</a:t>
            </a:r>
            <a:endParaRPr lang="en-US" sz="1950" dirty="0"/>
          </a:p>
        </p:txBody>
      </p:sp>
      <p:sp>
        <p:nvSpPr>
          <p:cNvPr id="14" name="Shape 14"/>
          <p:cNvSpPr txBox="1"/>
          <p:nvPr/>
        </p:nvSpPr>
        <p:spPr>
          <a:xfrm>
            <a:off x="5936742" y="1618488"/>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What does the table tell you about his sales?</a:t>
            </a:r>
            <a:endParaRPr lang="en-US" sz="1575" dirty="0"/>
          </a:p>
        </p:txBody>
      </p:sp>
      <p:sp>
        <p:nvSpPr>
          <p:cNvPr id="15" name="Shape 15"/>
          <p:cNvSpPr txBox="1"/>
          <p:nvPr/>
        </p:nvSpPr>
        <p:spPr>
          <a:xfrm>
            <a:off x="5936742" y="1989582"/>
            <a:ext cx="556915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Every row gives </a:t>
            </a:r>
            <a:r>
              <a:rPr lang="en-US" sz="1575" dirty="0">
                <a:solidFill>
                  <a:srgbClr val="16171D"/>
                </a:solidFill>
                <a:latin typeface="Cambria"/>
                <a:cs typeface="Cambria"/>
              </a:rPr>
              <a:t xml:space="preserve">37.5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15</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105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42</a:t>
            </a:r>
            <a:r>
              <a:rPr lang="en-US" sz="1575" dirty="0">
                <a:solidFill>
                  <a:srgbClr val="16171D"/>
                </a:solidFill>
                <a:latin typeface="Cambria"/>
                <a:cs typeface="Cambria"/>
              </a:rPr>
              <a:t xml:space="preserve"> = … = </a:t>
            </a:r>
            <a:r>
              <a:rPr lang="en-US" sz="1575" dirty="0" b="1">
                <a:solidFill>
                  <a:srgbClr val="C9561F"/>
                </a:solidFill>
                <a:latin typeface="Cambria"/>
                <a:cs typeface="Cambria"/>
              </a:rPr>
              <a:t xml:space="preserve">2.5</a:t>
            </a:r>
            <a:r>
              <a:rPr lang="en-US" sz="1575" dirty="0">
                <a:solidFill>
                  <a:srgbClr val="16171D"/>
                </a:solidFill>
                <a:latin typeface="Segoe UI"/>
                <a:cs typeface="Segoe UI"/>
              </a:rPr>
              <a:t xml:space="preserve">: </a:t>
            </a:r>
            <a:r>
              <a:rPr lang="en-US" sz="1575" dirty="0" b="1">
                <a:solidFill>
                  <a:srgbClr val="16171D"/>
                </a:solidFill>
                <a:latin typeface="Segoe UI"/>
                <a:cs typeface="Segoe UI"/>
              </a:rPr>
              <a:t xml:space="preserve">$2.50 per pretzel</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5936742" y="2600706"/>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Is the money directly proportional to pretzels sold?</a:t>
            </a:r>
            <a:endParaRPr lang="en-US" sz="1575" dirty="0"/>
          </a:p>
        </p:txBody>
      </p:sp>
      <p:sp>
        <p:nvSpPr>
          <p:cNvPr id="17" name="Shape 17"/>
          <p:cNvSpPr txBox="1"/>
          <p:nvPr/>
        </p:nvSpPr>
        <p:spPr>
          <a:xfrm>
            <a:off x="5936742" y="2971800"/>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Yes.</a:t>
            </a:r>
            <a:r>
              <a:rPr lang="en-US" sz="1575" dirty="0">
                <a:solidFill>
                  <a:srgbClr val="16171D"/>
                </a:solidFill>
                <a:latin typeface="Segoe UI"/>
                <a:cs typeface="Segoe UI"/>
              </a:rPr>
              <a:t xml:space="preserve"> The ratio is constant, and 0 pretzels earns $0.</a:t>
            </a:r>
            <a:endParaRPr lang="en-US" sz="1575" dirty="0"/>
          </a:p>
        </p:txBody>
      </p:sp>
      <p:sp>
        <p:nvSpPr>
          <p:cNvPr id="18" name="Shape 18"/>
          <p:cNvSpPr txBox="1"/>
          <p:nvPr/>
        </p:nvSpPr>
        <p:spPr>
          <a:xfrm>
            <a:off x="5936742" y="3342894"/>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9" name="Shape 19"/>
          <p:cNvSpPr txBox="1"/>
          <p:nvPr/>
        </p:nvSpPr>
        <p:spPr>
          <a:xfrm>
            <a:off x="5936742" y="371398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2.5</a:t>
            </a:r>
            <a:r>
              <a:rPr lang="en-US" sz="2325" dirty="0" i="1">
                <a:solidFill>
                  <a:srgbClr val="16171D"/>
                </a:solidFill>
                <a:latin typeface="Cambria"/>
                <a:cs typeface="Cambria"/>
              </a:rPr>
              <a:t xml:space="preserve">x</a:t>
            </a:r>
            <a:endParaRPr lang="en-US" sz="2325" dirty="0"/>
          </a:p>
        </p:txBody>
      </p:sp>
      <p:sp>
        <p:nvSpPr>
          <p:cNvPr id="20" name="Shape 20"/>
          <p:cNvSpPr txBox="1"/>
          <p:nvPr/>
        </p:nvSpPr>
        <p:spPr>
          <a:xfrm>
            <a:off x="5936742" y="4309110"/>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How much does he earn for 75 pretzels?</a:t>
            </a:r>
            <a:endParaRPr lang="en-US" sz="1575" dirty="0"/>
          </a:p>
        </p:txBody>
      </p:sp>
      <p:sp>
        <p:nvSpPr>
          <p:cNvPr id="21" name="Shape 21"/>
          <p:cNvSpPr txBox="1"/>
          <p:nvPr/>
        </p:nvSpPr>
        <p:spPr>
          <a:xfrm>
            <a:off x="5936742" y="4680204"/>
            <a:ext cx="5569153"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2.5(75) = 187.5</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$187.50</a:t>
            </a:r>
            <a:r>
              <a:rPr lang="en-US" sz="1575" dirty="0">
                <a:solidFill>
                  <a:srgbClr val="16171D"/>
                </a:solidFill>
                <a:latin typeface="Segoe UI"/>
                <a:cs typeface="Segoe UI"/>
              </a:rPr>
              <a:t xml:space="preserve">.</a:t>
            </a:r>
            <a:endParaRPr lang="en-US" sz="1575" dirty="0"/>
          </a:p>
        </p:txBody>
      </p:sp>
      <p:sp>
        <p:nvSpPr>
          <p:cNvPr id="22" name="Slide Number 2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3 · SE p. 242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Alejandra's trip to the fair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paid an entrance fee, then bought 1 ticket for each ride.</a:t>
            </a:r>
            <a:endParaRPr lang="en-US" sz="1575" dirty="0"/>
          </a:p>
        </p:txBody>
      </p:sp>
      <p:sp>
        <p:nvSpPr>
          <p:cNvPr id="5" name="Shape 5"/>
          <p:cNvSpPr txBox="1"/>
          <p:nvPr/>
        </p:nvSpPr>
        <p:spPr>
          <a:xfrm>
            <a:off x="685800" y="2084832"/>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Ride Tickets</a:t>
            </a:r>
            <a:endParaRPr lang="en-US" sz="1950" dirty="0"/>
          </a:p>
        </p:txBody>
      </p:sp>
      <p:sp>
        <p:nvSpPr>
          <p:cNvPr id="6" name="Shape 6"/>
          <p:cNvSpPr txBox="1"/>
          <p:nvPr/>
        </p:nvSpPr>
        <p:spPr>
          <a:xfrm>
            <a:off x="2779776" y="2084832"/>
            <a:ext cx="248031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Spent ($)</a:t>
            </a:r>
            <a:endParaRPr lang="en-US" sz="1950" dirty="0"/>
          </a:p>
        </p:txBody>
      </p:sp>
      <p:sp>
        <p:nvSpPr>
          <p:cNvPr id="7" name="Shape 7"/>
          <p:cNvSpPr txBox="1"/>
          <p:nvPr/>
        </p:nvSpPr>
        <p:spPr>
          <a:xfrm>
            <a:off x="685800" y="2528316"/>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8" name="Shape 8"/>
          <p:cNvSpPr txBox="1"/>
          <p:nvPr/>
        </p:nvSpPr>
        <p:spPr>
          <a:xfrm>
            <a:off x="2779776" y="2528316"/>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7.5</a:t>
            </a:r>
            <a:endParaRPr lang="en-US" sz="1950" dirty="0"/>
          </a:p>
        </p:txBody>
      </p:sp>
      <p:sp>
        <p:nvSpPr>
          <p:cNvPr id="9" name="Shape 9"/>
          <p:cNvSpPr txBox="1"/>
          <p:nvPr/>
        </p:nvSpPr>
        <p:spPr>
          <a:xfrm>
            <a:off x="685800" y="2971800"/>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0" name="Shape 10"/>
          <p:cNvSpPr txBox="1"/>
          <p:nvPr/>
        </p:nvSpPr>
        <p:spPr>
          <a:xfrm>
            <a:off x="2779776" y="2971800"/>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9</a:t>
            </a:r>
            <a:endParaRPr lang="en-US" sz="1950" dirty="0"/>
          </a:p>
        </p:txBody>
      </p:sp>
      <p:sp>
        <p:nvSpPr>
          <p:cNvPr id="11" name="Shape 11"/>
          <p:cNvSpPr txBox="1"/>
          <p:nvPr/>
        </p:nvSpPr>
        <p:spPr>
          <a:xfrm>
            <a:off x="685800" y="3415284"/>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2" name="Shape 12"/>
          <p:cNvSpPr txBox="1"/>
          <p:nvPr/>
        </p:nvSpPr>
        <p:spPr>
          <a:xfrm>
            <a:off x="2779776" y="3415284"/>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10.5</a:t>
            </a:r>
            <a:endParaRPr lang="en-US" sz="1950" dirty="0"/>
          </a:p>
        </p:txBody>
      </p:sp>
      <p:sp>
        <p:nvSpPr>
          <p:cNvPr id="13" name="Shape 13"/>
          <p:cNvSpPr txBox="1"/>
          <p:nvPr/>
        </p:nvSpPr>
        <p:spPr>
          <a:xfrm>
            <a:off x="685800" y="3858768"/>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11</a:t>
            </a:r>
            <a:endParaRPr lang="en-US" sz="1950" dirty="0"/>
          </a:p>
        </p:txBody>
      </p:sp>
      <p:sp>
        <p:nvSpPr>
          <p:cNvPr id="14" name="Shape 14"/>
          <p:cNvSpPr txBox="1"/>
          <p:nvPr/>
        </p:nvSpPr>
        <p:spPr>
          <a:xfrm>
            <a:off x="2779776" y="3858768"/>
            <a:ext cx="248031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14.25</a:t>
            </a:r>
            <a:endParaRPr lang="en-US" sz="1950" dirty="0"/>
          </a:p>
        </p:txBody>
      </p:sp>
      <p:sp>
        <p:nvSpPr>
          <p:cNvPr id="15" name="Shape 15"/>
          <p:cNvSpPr txBox="1"/>
          <p:nvPr/>
        </p:nvSpPr>
        <p:spPr>
          <a:xfrm>
            <a:off x="5679186" y="2084832"/>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What does the table tell you about the costs?</a:t>
            </a:r>
            <a:endParaRPr lang="en-US" sz="1575" dirty="0"/>
          </a:p>
        </p:txBody>
      </p:sp>
      <p:sp>
        <p:nvSpPr>
          <p:cNvPr id="16" name="Shape 16"/>
          <p:cNvSpPr txBox="1"/>
          <p:nvPr/>
        </p:nvSpPr>
        <p:spPr>
          <a:xfrm>
            <a:off x="5679186" y="2455926"/>
            <a:ext cx="5826709"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9 − 7.5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4 − 2</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0.75</a:t>
            </a:r>
            <a:r>
              <a:rPr lang="en-US" sz="1575" dirty="0">
                <a:solidFill>
                  <a:srgbClr val="16171D"/>
                </a:solidFill>
                <a:latin typeface="Segoe UI"/>
                <a:cs typeface="Segoe UI"/>
              </a:rPr>
              <a:t xml:space="preserve">: tickets cost </a:t>
            </a:r>
            <a:r>
              <a:rPr lang="en-US" sz="1575" dirty="0" b="1">
                <a:solidFill>
                  <a:srgbClr val="16171D"/>
                </a:solidFill>
                <a:latin typeface="Segoe UI"/>
                <a:cs typeface="Segoe UI"/>
              </a:rPr>
              <a:t xml:space="preserve">$0.75</a:t>
            </a:r>
            <a:r>
              <a:rPr lang="en-US" sz="1575" dirty="0">
                <a:solidFill>
                  <a:srgbClr val="16171D"/>
                </a:solidFill>
                <a:latin typeface="Segoe UI"/>
                <a:cs typeface="Segoe UI"/>
              </a:rPr>
              <a:t xml:space="preserve">. Back up 2 tickets: </a:t>
            </a:r>
            <a:r>
              <a:rPr lang="en-US" sz="1575" dirty="0">
                <a:solidFill>
                  <a:srgbClr val="16171D"/>
                </a:solidFill>
                <a:latin typeface="Cambria"/>
                <a:cs typeface="Cambria"/>
              </a:rPr>
              <a:t xml:space="preserve">7.5 − 1.5 = </a:t>
            </a:r>
            <a:r>
              <a:rPr lang="en-US" sz="1575" dirty="0" b="1">
                <a:solidFill>
                  <a:srgbClr val="3050B8"/>
                </a:solidFill>
                <a:latin typeface="Cambria"/>
                <a:cs typeface="Cambria"/>
              </a:rPr>
              <a:t xml:space="preserve">6</a:t>
            </a:r>
            <a:r>
              <a:rPr lang="en-US" sz="1575" dirty="0">
                <a:solidFill>
                  <a:srgbClr val="16171D"/>
                </a:solidFill>
                <a:latin typeface="Segoe UI"/>
                <a:cs typeface="Segoe UI"/>
              </a:rPr>
              <a:t xml:space="preserve">, a </a:t>
            </a: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entrance fee.</a:t>
            </a:r>
            <a:endParaRPr lang="en-US" sz="1575" dirty="0"/>
          </a:p>
        </p:txBody>
      </p:sp>
      <p:sp>
        <p:nvSpPr>
          <p:cNvPr id="17" name="Shape 17"/>
          <p:cNvSpPr txBox="1"/>
          <p:nvPr/>
        </p:nvSpPr>
        <p:spPr>
          <a:xfrm>
            <a:off x="5679186" y="3067050"/>
            <a:ext cx="5826709"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Does the money vary directly with the tickets? </a:t>
            </a: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8" name="Shape 18"/>
          <p:cNvSpPr txBox="1"/>
          <p:nvPr/>
        </p:nvSpPr>
        <p:spPr>
          <a:xfrm>
            <a:off x="5679186" y="3678174"/>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Because of the entrance fee, 0 tickets still costs $6.</a:t>
            </a:r>
            <a:endParaRPr lang="en-US" sz="1575" dirty="0"/>
          </a:p>
        </p:txBody>
      </p:sp>
      <p:sp>
        <p:nvSpPr>
          <p:cNvPr id="19" name="Shape 19"/>
          <p:cNvSpPr txBox="1"/>
          <p:nvPr/>
        </p:nvSpPr>
        <p:spPr>
          <a:xfrm>
            <a:off x="5679186" y="404926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0.75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endParaRPr lang="en-US" sz="2325" dirty="0"/>
          </a:p>
        </p:txBody>
      </p:sp>
      <p:sp>
        <p:nvSpPr>
          <p:cNvPr id="20" name="Shape 20"/>
          <p:cNvSpPr txBox="1"/>
          <p:nvPr/>
        </p:nvSpPr>
        <p:spPr>
          <a:xfrm>
            <a:off x="5679186" y="4644390"/>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Lauren has $20. How many ride tickets can she buy?</a:t>
            </a:r>
            <a:endParaRPr lang="en-US" sz="1575" dirty="0"/>
          </a:p>
        </p:txBody>
      </p:sp>
      <p:sp>
        <p:nvSpPr>
          <p:cNvPr id="21" name="Shape 21"/>
          <p:cNvSpPr txBox="1"/>
          <p:nvPr/>
        </p:nvSpPr>
        <p:spPr>
          <a:xfrm>
            <a:off x="5679186" y="5015484"/>
            <a:ext cx="5826709"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0.75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+ 6 = 20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18.7</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18 tickets</a:t>
            </a:r>
            <a:r>
              <a:rPr lang="en-US" sz="1575" dirty="0">
                <a:solidFill>
                  <a:srgbClr val="16171D"/>
                </a:solidFill>
                <a:latin typeface="Segoe UI"/>
                <a:cs typeface="Segoe UI"/>
              </a:rPr>
              <a:t xml:space="preserve">.</a:t>
            </a:r>
            <a:endParaRPr lang="en-US" sz="1575" dirty="0"/>
          </a:p>
        </p:txBody>
      </p:sp>
      <p:sp>
        <p:nvSpPr>
          <p:cNvPr id="22" name="Slide Number 2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ppt_x</p:attrName>
                                        </p:attrNameLst>
                                      </p:cBhvr>
                                      <p:tavLst>
                                        <p:tav tm="0">
                                          <p:val>
                                            <p:strVal val="#ppt_x"/>
                                          </p:val>
                                        </p:tav>
                                        <p:tav tm="100000">
                                          <p:val>
                                            <p:strVal val="#ppt_x"/>
                                          </p:val>
                                        </p:tav>
                                      </p:tavLst>
                                    </p:anim>
                                    <p:anim calcmode="lin" valueType="num">
                                      <p:cBhvr>
                                        <p:cTn id="6"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ppt_x</p:attrName>
                                        </p:attrNameLst>
                                      </p:cBhvr>
                                      <p:tavLst>
                                        <p:tav tm="0">
                                          <p:val>
                                            <p:strVal val="#ppt_x"/>
                                          </p:val>
                                        </p:tav>
                                        <p:tav tm="100000">
                                          <p:val>
                                            <p:strVal val="#ppt_x"/>
                                          </p:val>
                                        </p:tav>
                                      </p:tavLst>
                                    </p:anim>
                                    <p:anim calcmode="lin" valueType="num">
                                      <p:cBhvr>
                                        <p:cTn id="1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Question 4 · SE p. 242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Draining the fish tank</a:t>
            </a:r>
            <a:endParaRPr lang="en-US" sz="3450" dirty="0"/>
          </a:p>
        </p:txBody>
      </p:sp>
      <p:sp>
        <p:nvSpPr>
          <p:cNvPr id="4" name="Shape 4"/>
          <p:cNvSpPr txBox="1"/>
          <p:nvPr/>
        </p:nvSpPr>
        <p:spPr>
          <a:xfrm>
            <a:off x="685800" y="1618488"/>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Time (hours)</a:t>
            </a:r>
            <a:endParaRPr lang="en-US" sz="1950" dirty="0"/>
          </a:p>
        </p:txBody>
      </p:sp>
      <p:sp>
        <p:nvSpPr>
          <p:cNvPr id="5" name="Shape 5"/>
          <p:cNvSpPr txBox="1"/>
          <p:nvPr/>
        </p:nvSpPr>
        <p:spPr>
          <a:xfrm>
            <a:off x="2779776" y="1618488"/>
            <a:ext cx="260908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Water Left (gal)</a:t>
            </a:r>
            <a:endParaRPr lang="en-US" sz="1950" dirty="0"/>
          </a:p>
        </p:txBody>
      </p:sp>
      <p:sp>
        <p:nvSpPr>
          <p:cNvPr id="6" name="Shape 6"/>
          <p:cNvSpPr txBox="1"/>
          <p:nvPr/>
        </p:nvSpPr>
        <p:spPr>
          <a:xfrm>
            <a:off x="685800" y="2061972"/>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7" name="Shape 7"/>
          <p:cNvSpPr txBox="1"/>
          <p:nvPr/>
        </p:nvSpPr>
        <p:spPr>
          <a:xfrm>
            <a:off x="2779776" y="2061972"/>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169</a:t>
            </a:r>
            <a:endParaRPr lang="en-US" sz="1950" dirty="0"/>
          </a:p>
        </p:txBody>
      </p:sp>
      <p:sp>
        <p:nvSpPr>
          <p:cNvPr id="8" name="Shape 8"/>
          <p:cNvSpPr txBox="1"/>
          <p:nvPr/>
        </p:nvSpPr>
        <p:spPr>
          <a:xfrm>
            <a:off x="685800" y="2505456"/>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2779776" y="2505456"/>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163</a:t>
            </a:r>
            <a:endParaRPr lang="en-US" sz="1950" dirty="0"/>
          </a:p>
        </p:txBody>
      </p:sp>
      <p:sp>
        <p:nvSpPr>
          <p:cNvPr id="10" name="Shape 10"/>
          <p:cNvSpPr txBox="1"/>
          <p:nvPr/>
        </p:nvSpPr>
        <p:spPr>
          <a:xfrm>
            <a:off x="685800" y="2948940"/>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4</a:t>
            </a:r>
            <a:endParaRPr lang="en-US" sz="1950" dirty="0"/>
          </a:p>
        </p:txBody>
      </p:sp>
      <p:sp>
        <p:nvSpPr>
          <p:cNvPr id="11" name="Shape 11"/>
          <p:cNvSpPr txBox="1"/>
          <p:nvPr/>
        </p:nvSpPr>
        <p:spPr>
          <a:xfrm>
            <a:off x="2779776" y="2948940"/>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157</a:t>
            </a:r>
            <a:endParaRPr lang="en-US" sz="1950" dirty="0"/>
          </a:p>
        </p:txBody>
      </p:sp>
      <p:sp>
        <p:nvSpPr>
          <p:cNvPr id="12" name="Shape 12"/>
          <p:cNvSpPr txBox="1"/>
          <p:nvPr/>
        </p:nvSpPr>
        <p:spPr>
          <a:xfrm>
            <a:off x="685800" y="3392424"/>
            <a:ext cx="2093976"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3" name="Shape 13"/>
          <p:cNvSpPr txBox="1"/>
          <p:nvPr/>
        </p:nvSpPr>
        <p:spPr>
          <a:xfrm>
            <a:off x="2779776" y="3392424"/>
            <a:ext cx="260908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151</a:t>
            </a:r>
            <a:endParaRPr lang="en-US" sz="1950" dirty="0"/>
          </a:p>
        </p:txBody>
      </p:sp>
      <p:sp>
        <p:nvSpPr>
          <p:cNvPr id="14" name="Shape 14"/>
          <p:cNvSpPr txBox="1"/>
          <p:nvPr/>
        </p:nvSpPr>
        <p:spPr>
          <a:xfrm>
            <a:off x="5807964" y="1618488"/>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Is the water left directly proportional to the time?</a:t>
            </a:r>
            <a:endParaRPr lang="en-US" sz="1575" dirty="0"/>
          </a:p>
        </p:txBody>
      </p:sp>
      <p:sp>
        <p:nvSpPr>
          <p:cNvPr id="15" name="Shape 15"/>
          <p:cNvSpPr txBox="1"/>
          <p:nvPr/>
        </p:nvSpPr>
        <p:spPr>
          <a:xfrm>
            <a:off x="5807964" y="1989582"/>
            <a:ext cx="569793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Rate: </a:t>
            </a:r>
            <a:r>
              <a:rPr lang="en-US" sz="1575" dirty="0">
                <a:solidFill>
                  <a:srgbClr val="16171D"/>
                </a:solidFill>
                <a:latin typeface="Cambria"/>
                <a:cs typeface="Cambria"/>
              </a:rPr>
              <a:t xml:space="preserve">−6</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1/4</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−24</a:t>
            </a:r>
            <a:r>
              <a:rPr lang="en-US" sz="1575" dirty="0">
                <a:solidFill>
                  <a:srgbClr val="16171D"/>
                </a:solidFill>
                <a:latin typeface="Segoe UI"/>
                <a:cs typeface="Segoe UI"/>
              </a:rPr>
              <a:t xml:space="preserve"> gallons per hour. </a:t>
            </a: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at 0 hours the tank isn't empty.</a:t>
            </a:r>
            <a:endParaRPr lang="en-US" sz="1575" dirty="0"/>
          </a:p>
        </p:txBody>
      </p:sp>
      <p:sp>
        <p:nvSpPr>
          <p:cNvPr id="16" name="Shape 16"/>
          <p:cNvSpPr txBox="1"/>
          <p:nvPr/>
        </p:nvSpPr>
        <p:spPr>
          <a:xfrm>
            <a:off x="5807964" y="2600706"/>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How many gallons did the tank hold?</a:t>
            </a:r>
            <a:endParaRPr lang="en-US" sz="1575" dirty="0"/>
          </a:p>
        </p:txBody>
      </p:sp>
      <p:sp>
        <p:nvSpPr>
          <p:cNvPr id="17" name="Shape 17"/>
          <p:cNvSpPr txBox="1"/>
          <p:nvPr/>
        </p:nvSpPr>
        <p:spPr>
          <a:xfrm>
            <a:off x="5807964" y="2971800"/>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hour: </a:t>
            </a:r>
            <a:r>
              <a:rPr lang="en-US" sz="1575" dirty="0">
                <a:solidFill>
                  <a:srgbClr val="16171D"/>
                </a:solidFill>
                <a:latin typeface="Cambria"/>
                <a:cs typeface="Cambria"/>
              </a:rPr>
              <a:t xml:space="preserve">169 + 6 = </a:t>
            </a:r>
            <a:r>
              <a:rPr lang="en-US" sz="1575" dirty="0" b="1">
                <a:solidFill>
                  <a:srgbClr val="3050B8"/>
                </a:solidFill>
                <a:latin typeface="Cambria"/>
                <a:cs typeface="Cambria"/>
              </a:rPr>
              <a:t xml:space="preserve">175</a:t>
            </a:r>
            <a:r>
              <a:rPr lang="en-US" sz="1575" dirty="0">
                <a:solidFill>
                  <a:srgbClr val="16171D"/>
                </a:solidFill>
                <a:latin typeface="Segoe UI"/>
                <a:cs typeface="Segoe UI"/>
              </a:rPr>
              <a:t xml:space="preserve"> gallons.</a:t>
            </a:r>
            <a:endParaRPr lang="en-US" sz="1575" dirty="0"/>
          </a:p>
        </p:txBody>
      </p:sp>
      <p:sp>
        <p:nvSpPr>
          <p:cNvPr id="18" name="Shape 18"/>
          <p:cNvSpPr txBox="1"/>
          <p:nvPr/>
        </p:nvSpPr>
        <p:spPr>
          <a:xfrm>
            <a:off x="5807964" y="3342894"/>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Write an equation.</a:t>
            </a:r>
            <a:endParaRPr lang="en-US" sz="1575" dirty="0"/>
          </a:p>
        </p:txBody>
      </p:sp>
      <p:sp>
        <p:nvSpPr>
          <p:cNvPr id="19" name="Shape 19"/>
          <p:cNvSpPr txBox="1"/>
          <p:nvPr/>
        </p:nvSpPr>
        <p:spPr>
          <a:xfrm>
            <a:off x="5807964" y="371398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175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24</a:t>
            </a:r>
            <a:r>
              <a:rPr lang="en-US" sz="2325" dirty="0" i="1">
                <a:solidFill>
                  <a:srgbClr val="16171D"/>
                </a:solidFill>
                <a:latin typeface="Cambria"/>
                <a:cs typeface="Cambria"/>
              </a:rPr>
              <a:t xml:space="preserve">x</a:t>
            </a:r>
            <a:endParaRPr lang="en-US" sz="2325" dirty="0"/>
          </a:p>
        </p:txBody>
      </p:sp>
      <p:sp>
        <p:nvSpPr>
          <p:cNvPr id="20" name="Shape 20"/>
          <p:cNvSpPr txBox="1"/>
          <p:nvPr/>
        </p:nvSpPr>
        <p:spPr>
          <a:xfrm>
            <a:off x="5807964" y="4309110"/>
            <a:ext cx="5697931"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d.</a:t>
            </a:r>
            <a:r>
              <a:rPr lang="en-US" sz="1575" dirty="0">
                <a:solidFill>
                  <a:srgbClr val="16171D"/>
                </a:solidFill>
                <a:latin typeface="Segoe UI"/>
                <a:cs typeface="Segoe UI"/>
              </a:rPr>
              <a:t xml:space="preserve"> When will the tank be empty?</a:t>
            </a:r>
            <a:endParaRPr lang="en-US" sz="1575" dirty="0"/>
          </a:p>
        </p:txBody>
      </p:sp>
      <p:sp>
        <p:nvSpPr>
          <p:cNvPr id="21" name="Shape 21"/>
          <p:cNvSpPr txBox="1"/>
          <p:nvPr/>
        </p:nvSpPr>
        <p:spPr>
          <a:xfrm>
            <a:off x="5807964" y="4680204"/>
            <a:ext cx="569793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0 = 175 − 24</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7.29</a:t>
            </a:r>
            <a:r>
              <a:rPr lang="en-US" sz="1575" dirty="0">
                <a:solidFill>
                  <a:srgbClr val="16171D"/>
                </a:solidFill>
                <a:latin typeface="Segoe UI"/>
                <a:cs typeface="Segoe UI"/>
              </a:rPr>
              <a:t xml:space="preserve"> hours, about </a:t>
            </a:r>
            <a:r>
              <a:rPr lang="en-US" sz="1575" dirty="0" b="1">
                <a:solidFill>
                  <a:srgbClr val="16171D"/>
                </a:solidFill>
                <a:latin typeface="Segoe UI"/>
                <a:cs typeface="Segoe UI"/>
              </a:rPr>
              <a:t xml:space="preserve">7 hours 17.5 minutes</a:t>
            </a:r>
            <a:r>
              <a:rPr lang="en-US" sz="1575" dirty="0">
                <a:solidFill>
                  <a:srgbClr val="16171D"/>
                </a:solidFill>
                <a:latin typeface="Segoe UI"/>
                <a:cs typeface="Segoe UI"/>
              </a:rPr>
              <a:t xml:space="preserve">.</a:t>
            </a:r>
            <a:endParaRPr lang="en-US" sz="1575" dirty="0"/>
          </a:p>
        </p:txBody>
      </p:sp>
      <p:sp>
        <p:nvSpPr>
          <p:cNvPr id="22" name="Slide Number 2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6.1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the table linear?</a:t>
            </a:r>
            <a:endParaRPr lang="en-US" sz="3450" dirty="0"/>
          </a:p>
        </p:txBody>
      </p:sp>
      <p:sp>
        <p:nvSpPr>
          <p:cNvPr id="4" name="Shape 4"/>
          <p:cNvSpPr txBox="1"/>
          <p:nvPr/>
        </p:nvSpPr>
        <p:spPr>
          <a:xfrm>
            <a:off x="685800" y="17137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Check the inputs. If they're </a:t>
            </a:r>
            <a:r>
              <a:rPr lang="en-US" sz="1950" dirty="0" b="1">
                <a:solidFill>
                  <a:srgbClr val="16171D"/>
                </a:solidFill>
                <a:latin typeface="Segoe UI"/>
                <a:cs typeface="Segoe UI"/>
              </a:rPr>
              <a:t xml:space="preserve">not consecutive</a:t>
            </a:r>
            <a:r>
              <a:rPr lang="en-US" sz="1950" dirty="0">
                <a:solidFill>
                  <a:srgbClr val="16171D"/>
                </a:solidFill>
                <a:latin typeface="Segoe UI"/>
                <a:cs typeface="Segoe UI"/>
              </a:rPr>
              <a:t xml:space="preserve"> (or not in order), first differences won't work.</a:t>
            </a:r>
            <a:endParaRPr lang="en-US" sz="1950" dirty="0"/>
          </a:p>
        </p:txBody>
      </p:sp>
      <p:sp>
        <p:nvSpPr>
          <p:cNvPr id="5" name="Shape 5"/>
          <p:cNvSpPr txBox="1"/>
          <p:nvPr/>
        </p:nvSpPr>
        <p:spPr>
          <a:xfrm>
            <a:off x="685800" y="257251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slope, </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between </a:t>
            </a:r>
            <a:r>
              <a:rPr lang="en-US" sz="1950" dirty="0" b="1">
                <a:solidFill>
                  <a:srgbClr val="16171D"/>
                </a:solidFill>
                <a:latin typeface="Segoe UI"/>
                <a:cs typeface="Segoe UI"/>
              </a:rPr>
              <a:t xml:space="preserve">every pair</a:t>
            </a:r>
            <a:r>
              <a:rPr lang="en-US" sz="1950" dirty="0">
                <a:solidFill>
                  <a:srgbClr val="16171D"/>
                </a:solidFill>
                <a:latin typeface="Segoe UI"/>
                <a:cs typeface="Segoe UI"/>
              </a:rPr>
              <a:t xml:space="preserve"> of points.</a:t>
            </a:r>
            <a:endParaRPr lang="en-US" sz="1950" dirty="0"/>
          </a:p>
        </p:txBody>
      </p:sp>
      <p:sp>
        <p:nvSpPr>
          <p:cNvPr id="6" name="Shape 6"/>
          <p:cNvSpPr txBox="1"/>
          <p:nvPr/>
        </p:nvSpPr>
        <p:spPr>
          <a:xfrm>
            <a:off x="685800" y="313410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If the slope is always the same, the table is linear. Use the slope and a point to find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9928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It's a </a:t>
            </a:r>
            <a:r>
              <a:rPr lang="en-US" sz="1950" dirty="0" b="1">
                <a:solidFill>
                  <a:srgbClr val="16171D"/>
                </a:solidFill>
                <a:latin typeface="Segoe UI"/>
                <a:cs typeface="Segoe UI"/>
              </a:rPr>
              <a:t xml:space="preserve">direct variation</a:t>
            </a:r>
            <a:r>
              <a:rPr lang="en-US" sz="1950" dirty="0">
                <a:solidFill>
                  <a:srgbClr val="16171D"/>
                </a:solidFill>
                <a:latin typeface="Segoe UI"/>
                <a:cs typeface="Segoe UI"/>
              </a:rPr>
              <a:t xml:space="preserve"> only if it passes through </a:t>
            </a:r>
            <a:r>
              <a:rPr lang="en-US" sz="1950" dirty="0" b="1">
                <a:solidFill>
                  <a:srgbClr val="3050B8"/>
                </a:solidFill>
                <a:latin typeface="Cambria"/>
                <a:cs typeface="Cambria"/>
              </a:rPr>
              <a:t xml:space="preserve">(0, 0)</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kx</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1</a:t>
            </a:r>
            <a:endParaRPr lang="en-US" sz="3450" dirty="0"/>
          </a:p>
        </p:txBody>
      </p:sp>
      <p:sp>
        <p:nvSpPr>
          <p:cNvPr id="6" name="Shape 6"/>
          <p:cNvSpPr txBox="1"/>
          <p:nvPr/>
        </p:nvSpPr>
        <p:spPr>
          <a:xfrm>
            <a:off x="685800"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Is the table linear?</a:t>
            </a:r>
            <a:endParaRPr lang="en-US" sz="2100" dirty="0"/>
          </a:p>
        </p:txBody>
      </p:sp>
      <p:sp>
        <p:nvSpPr>
          <p:cNvPr id="5" name="Shape 5"/>
          <p:cNvSpPr txBox="1"/>
          <p:nvPr/>
        </p:nvSpPr>
        <p:spPr>
          <a:xfrm>
            <a:off x="895350"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Find </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 between every pair.</a:t>
            </a:r>
            <a:br>
              <a:rPr lang="en-US" sz="1575" dirty="0">
                <a:solidFill>
                  <a:srgbClr val="16171D"/>
                </a:solidFill>
                <a:latin typeface="Segoe UI"/>
                <a:cs typeface="Segoe UI"/>
              </a:rPr>
            </a:br>
            <a:r>
              <a:rPr lang="en-US" sz="1575" dirty="0">
                <a:solidFill>
                  <a:srgbClr val="16171D"/>
                </a:solidFill>
                <a:latin typeface="Segoe UI"/>
                <a:cs typeface="Segoe UI"/>
              </a:rPr>
              <a:t xml:space="preserve">2. Always the same → linear.</a:t>
            </a:r>
            <a:endParaRPr lang="en-US" sz="1575" dirty="0"/>
          </a:p>
        </p:txBody>
      </p:sp>
      <p:sp>
        <p:nvSpPr>
          <p:cNvPr id="9" name="Shape 9"/>
          <p:cNvSpPr txBox="1"/>
          <p:nvPr/>
        </p:nvSpPr>
        <p:spPr>
          <a:xfrm>
            <a:off x="4349648"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Write the function</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Use the slope and a point to find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the value when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a:t>
            </a:r>
            <a:endParaRPr lang="en-US" sz="1575" dirty="0"/>
          </a:p>
        </p:txBody>
      </p:sp>
      <p:sp>
        <p:nvSpPr>
          <p:cNvPr id="12" name="Shape 12"/>
          <p:cNvSpPr txBox="1"/>
          <p:nvPr/>
        </p:nvSpPr>
        <p:spPr>
          <a:xfrm>
            <a:off x="8013497"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Direct variation</a:t>
            </a:r>
            <a:endParaRPr lang="en-US" sz="2100" dirty="0"/>
          </a:p>
        </p:txBody>
      </p:sp>
      <p:sp>
        <p:nvSpPr>
          <p:cNvPr id="11" name="Shape 11"/>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if the line passes through (0, 0):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kx</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85800" y="337794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
        <p:nvSpPr>
          <p:cNvPr id="14" name="Slide Number 1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use the structure of the equation to identify characteristics of the function?</a:t>
            </a:r>
            <a:endParaRPr lang="en-US" sz="24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Do </a:t>
            </a:r>
            <a:r>
              <a:rPr lang="en-US" sz="1950" dirty="0">
                <a:solidFill>
                  <a:srgbClr val="16171D"/>
                </a:solidFill>
                <a:latin typeface="Cambria"/>
                <a:cs typeface="Cambria"/>
              </a:rPr>
              <a:t xml:space="preserve">(0, 3), (2, 7), (6, 15)</a:t>
            </a:r>
            <a:r>
              <a:rPr lang="en-US" sz="1950" dirty="0">
                <a:solidFill>
                  <a:srgbClr val="16171D"/>
                </a:solidFill>
                <a:latin typeface="Segoe UI"/>
                <a:cs typeface="Segoe UI"/>
              </a:rPr>
              <a:t xml:space="preserve"> lie on one line? If so, write the equation. </a:t>
            </a:r>
            <a:r>
              <a:rPr lang="en-US" sz="1575" dirty="0">
                <a:solidFill>
                  <a:srgbClr val="5F6272"/>
                </a:solidFill>
                <a:latin typeface="Segoe UI"/>
                <a:cs typeface="Segoe UI"/>
              </a:rPr>
              <a:t xml:space="preserve">(SE p. 241)</a:t>
            </a:r>
            <a:endParaRPr lang="en-US" sz="1950" dirty="0"/>
          </a:p>
        </p:txBody>
      </p:sp>
      <p:sp>
        <p:nvSpPr>
          <p:cNvPr id="5" name="Shape 5"/>
          <p:cNvSpPr txBox="1"/>
          <p:nvPr/>
        </p:nvSpPr>
        <p:spPr>
          <a:xfrm>
            <a:off x="685800" y="2755392"/>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354101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Do </a:t>
            </a:r>
            <a:r>
              <a:rPr lang="en-US" sz="1950" dirty="0">
                <a:solidFill>
                  <a:srgbClr val="16171D"/>
                </a:solidFill>
                <a:latin typeface="Cambria"/>
                <a:cs typeface="Cambria"/>
              </a:rPr>
              <a:t xml:space="preserve">(0, 1), (2, 5), (4, 13)</a:t>
            </a:r>
            <a:r>
              <a:rPr lang="en-US" sz="1950" dirty="0">
                <a:solidFill>
                  <a:srgbClr val="16171D"/>
                </a:solidFill>
                <a:latin typeface="Segoe UI"/>
                <a:cs typeface="Segoe UI"/>
              </a:rPr>
              <a:t xml:space="preserve"> lie on one line? </a:t>
            </a:r>
            <a:r>
              <a:rPr lang="en-US" sz="1575" dirty="0">
                <a:solidFill>
                  <a:srgbClr val="5F6272"/>
                </a:solidFill>
                <a:latin typeface="Segoe UI"/>
                <a:cs typeface="Segoe UI"/>
              </a:rPr>
              <a:t xml:space="preserve">(SE p. 241)</a:t>
            </a:r>
            <a:endParaRPr lang="en-US" sz="1950" dirty="0"/>
          </a:p>
        </p:txBody>
      </p:sp>
      <p:sp>
        <p:nvSpPr>
          <p:cNvPr id="7" name="Shape 7"/>
          <p:cNvSpPr txBox="1"/>
          <p:nvPr/>
        </p:nvSpPr>
        <p:spPr>
          <a:xfrm>
            <a:off x="685800" y="432358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a:t>
            </a:r>
            <a:endParaRPr lang="en-US" sz="2325" dirty="0"/>
          </a:p>
        </p:txBody>
      </p:sp>
      <p:sp>
        <p:nvSpPr>
          <p:cNvPr id="8" name="Shape 8"/>
          <p:cNvSpPr txBox="1"/>
          <p:nvPr/>
        </p:nvSpPr>
        <p:spPr>
          <a:xfrm>
            <a:off x="6362548"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Pretzels cost $3 each. Write the equation. Is it a direct variation? </a:t>
            </a:r>
            <a:r>
              <a:rPr lang="en-US" sz="1575" dirty="0">
                <a:solidFill>
                  <a:srgbClr val="5F6272"/>
                </a:solidFill>
                <a:latin typeface="Segoe UI"/>
                <a:cs typeface="Segoe UI"/>
              </a:rPr>
              <a:t xml:space="preserve">(SE p. 241)</a:t>
            </a:r>
            <a:endParaRPr lang="en-US" sz="1950" dirty="0"/>
          </a:p>
        </p:txBody>
      </p:sp>
      <p:sp>
        <p:nvSpPr>
          <p:cNvPr id="9" name="Shape 9"/>
          <p:cNvSpPr txBox="1"/>
          <p:nvPr/>
        </p:nvSpPr>
        <p:spPr>
          <a:xfrm>
            <a:off x="6362548" y="275539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yes</a:t>
            </a:r>
            <a:endParaRPr lang="en-US" sz="2325" dirty="0"/>
          </a:p>
        </p:txBody>
      </p:sp>
      <p:sp>
        <p:nvSpPr>
          <p:cNvPr id="10" name="Shape 10"/>
          <p:cNvSpPr txBox="1"/>
          <p:nvPr/>
        </p:nvSpPr>
        <p:spPr>
          <a:xfrm>
            <a:off x="6362548" y="354101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Solve </a:t>
            </a:r>
            <a:r>
              <a:rPr lang="en-US" sz="1950" dirty="0">
                <a:solidFill>
                  <a:srgbClr val="16171D"/>
                </a:solidFill>
                <a:latin typeface="Cambria"/>
                <a:cs typeface="Cambria"/>
              </a:rPr>
              <a:t xml:space="preserve">0.75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15</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242)</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6.2: read a graph (Gracie's T-shirts)</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6.3: general form and factored form</a:t>
            </a:r>
            <a:endParaRPr lang="en-US" sz="1950" dirty="0"/>
          </a:p>
        </p:txBody>
      </p:sp>
      <p:sp>
        <p:nvSpPr>
          <p:cNvPr id="7" name="Shape 7"/>
          <p:cNvSpPr txBox="1"/>
          <p:nvPr/>
        </p:nvSpPr>
        <p:spPr>
          <a:xfrm>
            <a:off x="685800" y="3188970"/>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Interpreting Graphs of Linear Functions · SE p. 243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Gracie's T-shirt sales</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Gracie sells T-shirts for her mom at festivals and returns what she earns. The graph shows her potential earnings.</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List as many facts as you can.</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line passes through </a:t>
            </a:r>
            <a:r>
              <a:rPr lang="en-US" sz="1575" dirty="0" b="1">
                <a:solidFill>
                  <a:srgbClr val="3050B8"/>
                </a:solidFill>
                <a:latin typeface="Segoe UI"/>
                <a:cs typeface="Segoe UI"/>
              </a:rPr>
              <a:t xml:space="preserve">(0, 0)</a:t>
            </a:r>
            <a:r>
              <a:rPr lang="en-US" sz="1575" dirty="0">
                <a:solidFill>
                  <a:srgbClr val="16171D"/>
                </a:solidFill>
                <a:latin typeface="Segoe UI"/>
                <a:cs typeface="Segoe UI"/>
              </a:rPr>
              <a:t xml:space="preserve">: no shirts, no money.</a:t>
            </a:r>
            <a:endParaRPr lang="en-US" sz="1575" dirty="0"/>
          </a:p>
        </p:txBody>
      </p:sp>
      <p:sp>
        <p:nvSpPr>
          <p:cNvPr id="7" name="Shape 7"/>
          <p:cNvSpPr txBox="1"/>
          <p:nvPr/>
        </p:nvSpPr>
        <p:spPr>
          <a:xfrm>
            <a:off x="685800" y="3086100"/>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15 for every 1 shirt: </a:t>
            </a:r>
            <a:r>
              <a:rPr lang="en-US" sz="1575" dirty="0" b="1">
                <a:solidFill>
                  <a:srgbClr val="C9561F"/>
                </a:solidFill>
                <a:latin typeface="Segoe UI"/>
                <a:cs typeface="Segoe UI"/>
              </a:rPr>
              <a:t xml:space="preserve">$15 per T-shirt</a:t>
            </a:r>
            <a:r>
              <a:rPr lang="en-US" sz="1575" dirty="0">
                <a:solidFill>
                  <a:srgbClr val="16171D"/>
                </a:solidFill>
                <a:latin typeface="Segoe UI"/>
                <a:cs typeface="Segoe UI"/>
              </a:rPr>
              <a:t xml:space="preserve">. Selling 4 shirts earns $60.</a:t>
            </a:r>
            <a:endParaRPr lang="en-US" sz="1575" dirty="0"/>
          </a:p>
        </p:txBody>
      </p:sp>
      <p:sp>
        <p:nvSpPr>
          <p:cNvPr id="8" name="Shape 8"/>
          <p:cNvSpPr txBox="1"/>
          <p:nvPr/>
        </p:nvSpPr>
        <p:spPr>
          <a:xfrm>
            <a:off x="685800" y="3735324"/>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Domain of the situation: </a:t>
            </a:r>
            <a:r>
              <a:rPr lang="en-US" sz="1575" dirty="0" b="1">
                <a:solidFill>
                  <a:srgbClr val="16171D"/>
                </a:solidFill>
                <a:latin typeface="Segoe UI"/>
                <a:cs typeface="Segoe UI"/>
              </a:rPr>
              <a:t xml:space="preserve">whole numbers</a:t>
            </a:r>
            <a:r>
              <a:rPr lang="en-US" sz="1575" dirty="0">
                <a:solidFill>
                  <a:srgbClr val="16171D"/>
                </a:solidFill>
                <a:latin typeface="Segoe UI"/>
                <a:cs typeface="Segoe UI"/>
              </a:rPr>
              <a:t xml:space="preserve"> of shirts, 0 or more. Range: 0, 15, 30, 45, …</a:t>
            </a:r>
            <a:endParaRPr lang="en-US" sz="1575" dirty="0"/>
          </a:p>
        </p:txBody>
      </p:sp>
      <p:sp>
        <p:nvSpPr>
          <p:cNvPr id="9" name="Shape 9"/>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7638745" y="1732788"/>
            <a:ext cx="0" cy="3638550"/>
          </a:xfrm>
          <a:prstGeom prst="line">
            <a:avLst/>
          </a:prstGeom>
          <a:ln w="9525" cap="flat">
            <a:solidFill>
              <a:srgbClr val="E6E8F2"/>
            </a:solidFill>
          </a:ln>
        </p:spPr>
      </p:cxnSp>
      <p:cxnSp>
        <p:nvCxnSpPr>
          <p:cNvPr id="11" name="Line 11"/>
          <p:cNvCxnSpPr/>
          <p:nvPr/>
        </p:nvCxnSpPr>
        <p:spPr>
          <a:xfrm>
            <a:off x="7809329" y="1732788"/>
            <a:ext cx="0" cy="3638550"/>
          </a:xfrm>
          <a:prstGeom prst="line">
            <a:avLst/>
          </a:prstGeom>
          <a:ln w="9525" cap="flat">
            <a:solidFill>
              <a:srgbClr val="E6E8F2"/>
            </a:solidFill>
          </a:ln>
        </p:spPr>
      </p:cxnSp>
      <p:cxnSp>
        <p:nvCxnSpPr>
          <p:cNvPr id="12" name="Line 12"/>
          <p:cNvCxnSpPr/>
          <p:nvPr/>
        </p:nvCxnSpPr>
        <p:spPr>
          <a:xfrm>
            <a:off x="7979913" y="1732788"/>
            <a:ext cx="0" cy="3638550"/>
          </a:xfrm>
          <a:prstGeom prst="line">
            <a:avLst/>
          </a:prstGeom>
          <a:ln w="9525" cap="flat">
            <a:solidFill>
              <a:srgbClr val="E6E8F2"/>
            </a:solidFill>
          </a:ln>
        </p:spPr>
      </p:cxnSp>
      <p:cxnSp>
        <p:nvCxnSpPr>
          <p:cNvPr id="13" name="Line 13"/>
          <p:cNvCxnSpPr/>
          <p:nvPr/>
        </p:nvCxnSpPr>
        <p:spPr>
          <a:xfrm>
            <a:off x="8150497" y="1732788"/>
            <a:ext cx="0" cy="3638550"/>
          </a:xfrm>
          <a:prstGeom prst="line">
            <a:avLst/>
          </a:prstGeom>
          <a:ln w="9525" cap="flat">
            <a:solidFill>
              <a:srgbClr val="E6E8F2"/>
            </a:solidFill>
          </a:ln>
        </p:spPr>
      </p:cxnSp>
      <p:cxnSp>
        <p:nvCxnSpPr>
          <p:cNvPr id="14" name="Line 14"/>
          <p:cNvCxnSpPr/>
          <p:nvPr/>
        </p:nvCxnSpPr>
        <p:spPr>
          <a:xfrm>
            <a:off x="8321082" y="1732788"/>
            <a:ext cx="0" cy="3638550"/>
          </a:xfrm>
          <a:prstGeom prst="line">
            <a:avLst/>
          </a:prstGeom>
          <a:ln w="9525" cap="flat">
            <a:solidFill>
              <a:srgbClr val="E6E8F2"/>
            </a:solidFill>
          </a:ln>
        </p:spPr>
      </p:cxnSp>
      <p:cxnSp>
        <p:nvCxnSpPr>
          <p:cNvPr id="15" name="Line 15"/>
          <p:cNvCxnSpPr/>
          <p:nvPr/>
        </p:nvCxnSpPr>
        <p:spPr>
          <a:xfrm>
            <a:off x="8491666" y="1732788"/>
            <a:ext cx="0" cy="3638550"/>
          </a:xfrm>
          <a:prstGeom prst="line">
            <a:avLst/>
          </a:prstGeom>
          <a:ln w="9525" cap="flat">
            <a:solidFill>
              <a:srgbClr val="E6E8F2"/>
            </a:solidFill>
          </a:ln>
        </p:spPr>
      </p:cxnSp>
      <p:cxnSp>
        <p:nvCxnSpPr>
          <p:cNvPr id="16" name="Line 16"/>
          <p:cNvCxnSpPr/>
          <p:nvPr/>
        </p:nvCxnSpPr>
        <p:spPr>
          <a:xfrm>
            <a:off x="8662250" y="1732788"/>
            <a:ext cx="0" cy="3638550"/>
          </a:xfrm>
          <a:prstGeom prst="line">
            <a:avLst/>
          </a:prstGeom>
          <a:ln w="9525" cap="flat">
            <a:solidFill>
              <a:srgbClr val="E6E8F2"/>
            </a:solidFill>
          </a:ln>
        </p:spPr>
      </p:cxnSp>
      <p:cxnSp>
        <p:nvCxnSpPr>
          <p:cNvPr id="17" name="Line 17"/>
          <p:cNvCxnSpPr/>
          <p:nvPr/>
        </p:nvCxnSpPr>
        <p:spPr>
          <a:xfrm>
            <a:off x="8832834" y="1732788"/>
            <a:ext cx="0" cy="3638550"/>
          </a:xfrm>
          <a:prstGeom prst="line">
            <a:avLst/>
          </a:prstGeom>
          <a:ln w="9525" cap="flat">
            <a:solidFill>
              <a:srgbClr val="E6E8F2"/>
            </a:solidFill>
          </a:ln>
        </p:spPr>
      </p:cxnSp>
      <p:cxnSp>
        <p:nvCxnSpPr>
          <p:cNvPr id="18" name="Line 18"/>
          <p:cNvCxnSpPr/>
          <p:nvPr/>
        </p:nvCxnSpPr>
        <p:spPr>
          <a:xfrm>
            <a:off x="9003418" y="1732788"/>
            <a:ext cx="0" cy="3638550"/>
          </a:xfrm>
          <a:prstGeom prst="line">
            <a:avLst/>
          </a:prstGeom>
          <a:ln w="9525" cap="flat">
            <a:solidFill>
              <a:srgbClr val="E6E8F2"/>
            </a:solidFill>
          </a:ln>
        </p:spPr>
      </p:cxnSp>
      <p:cxnSp>
        <p:nvCxnSpPr>
          <p:cNvPr id="19" name="Line 19"/>
          <p:cNvCxnSpPr/>
          <p:nvPr/>
        </p:nvCxnSpPr>
        <p:spPr>
          <a:xfrm>
            <a:off x="9174002" y="1732788"/>
            <a:ext cx="0" cy="3638550"/>
          </a:xfrm>
          <a:prstGeom prst="line">
            <a:avLst/>
          </a:prstGeom>
          <a:ln w="9525" cap="flat">
            <a:solidFill>
              <a:srgbClr val="E6E8F2"/>
            </a:solidFill>
          </a:ln>
        </p:spPr>
      </p:cxnSp>
      <p:cxnSp>
        <p:nvCxnSpPr>
          <p:cNvPr id="20" name="Line 20"/>
          <p:cNvCxnSpPr/>
          <p:nvPr/>
        </p:nvCxnSpPr>
        <p:spPr>
          <a:xfrm>
            <a:off x="9344586" y="1732788"/>
            <a:ext cx="0" cy="3638550"/>
          </a:xfrm>
          <a:prstGeom prst="line">
            <a:avLst/>
          </a:prstGeom>
          <a:ln w="9525" cap="flat">
            <a:solidFill>
              <a:srgbClr val="E6E8F2"/>
            </a:solidFill>
          </a:ln>
        </p:spPr>
      </p:cxnSp>
      <p:cxnSp>
        <p:nvCxnSpPr>
          <p:cNvPr id="21" name="Line 21"/>
          <p:cNvCxnSpPr/>
          <p:nvPr/>
        </p:nvCxnSpPr>
        <p:spPr>
          <a:xfrm>
            <a:off x="9515170" y="1732788"/>
            <a:ext cx="0" cy="3638550"/>
          </a:xfrm>
          <a:prstGeom prst="line">
            <a:avLst/>
          </a:prstGeom>
          <a:ln w="9525" cap="flat">
            <a:solidFill>
              <a:srgbClr val="E6E8F2"/>
            </a:solidFill>
          </a:ln>
        </p:spPr>
      </p:cxnSp>
      <p:cxnSp>
        <p:nvCxnSpPr>
          <p:cNvPr id="22" name="Line 22"/>
          <p:cNvCxnSpPr/>
          <p:nvPr/>
        </p:nvCxnSpPr>
        <p:spPr>
          <a:xfrm>
            <a:off x="9685754" y="1732788"/>
            <a:ext cx="0" cy="3638550"/>
          </a:xfrm>
          <a:prstGeom prst="line">
            <a:avLst/>
          </a:prstGeom>
          <a:ln w="9525" cap="flat">
            <a:solidFill>
              <a:srgbClr val="E6E8F2"/>
            </a:solidFill>
          </a:ln>
        </p:spPr>
      </p:cxnSp>
      <p:cxnSp>
        <p:nvCxnSpPr>
          <p:cNvPr id="23" name="Line 23"/>
          <p:cNvCxnSpPr/>
          <p:nvPr/>
        </p:nvCxnSpPr>
        <p:spPr>
          <a:xfrm>
            <a:off x="9856338" y="1732788"/>
            <a:ext cx="0" cy="3638550"/>
          </a:xfrm>
          <a:prstGeom prst="line">
            <a:avLst/>
          </a:prstGeom>
          <a:ln w="9525" cap="flat">
            <a:solidFill>
              <a:srgbClr val="E6E8F2"/>
            </a:solidFill>
          </a:ln>
        </p:spPr>
      </p:cxnSp>
      <p:cxnSp>
        <p:nvCxnSpPr>
          <p:cNvPr id="24" name="Line 24"/>
          <p:cNvCxnSpPr/>
          <p:nvPr/>
        </p:nvCxnSpPr>
        <p:spPr>
          <a:xfrm>
            <a:off x="10026922" y="1732788"/>
            <a:ext cx="0" cy="3638550"/>
          </a:xfrm>
          <a:prstGeom prst="line">
            <a:avLst/>
          </a:prstGeom>
          <a:ln w="9525" cap="flat">
            <a:solidFill>
              <a:srgbClr val="E6E8F2"/>
            </a:solidFill>
          </a:ln>
        </p:spPr>
      </p:cxnSp>
      <p:cxnSp>
        <p:nvCxnSpPr>
          <p:cNvPr id="25" name="Line 25"/>
          <p:cNvCxnSpPr/>
          <p:nvPr/>
        </p:nvCxnSpPr>
        <p:spPr>
          <a:xfrm>
            <a:off x="10197507" y="1732788"/>
            <a:ext cx="0" cy="3638550"/>
          </a:xfrm>
          <a:prstGeom prst="line">
            <a:avLst/>
          </a:prstGeom>
          <a:ln w="9525" cap="flat">
            <a:solidFill>
              <a:srgbClr val="E6E8F2"/>
            </a:solidFill>
          </a:ln>
        </p:spPr>
      </p:cxnSp>
      <p:cxnSp>
        <p:nvCxnSpPr>
          <p:cNvPr id="26" name="Line 26"/>
          <p:cNvCxnSpPr/>
          <p:nvPr/>
        </p:nvCxnSpPr>
        <p:spPr>
          <a:xfrm>
            <a:off x="10368091" y="1732788"/>
            <a:ext cx="0" cy="3638550"/>
          </a:xfrm>
          <a:prstGeom prst="line">
            <a:avLst/>
          </a:prstGeom>
          <a:ln w="9525" cap="flat">
            <a:solidFill>
              <a:srgbClr val="E6E8F2"/>
            </a:solidFill>
          </a:ln>
        </p:spPr>
      </p:cxnSp>
      <p:cxnSp>
        <p:nvCxnSpPr>
          <p:cNvPr id="27" name="Line 27"/>
          <p:cNvCxnSpPr/>
          <p:nvPr/>
        </p:nvCxnSpPr>
        <p:spPr>
          <a:xfrm>
            <a:off x="10538675" y="1732788"/>
            <a:ext cx="0" cy="3638550"/>
          </a:xfrm>
          <a:prstGeom prst="line">
            <a:avLst/>
          </a:prstGeom>
          <a:ln w="9525" cap="flat">
            <a:solidFill>
              <a:srgbClr val="E6E8F2"/>
            </a:solidFill>
          </a:ln>
        </p:spPr>
      </p:cxnSp>
      <p:cxnSp>
        <p:nvCxnSpPr>
          <p:cNvPr id="28" name="Line 28"/>
          <p:cNvCxnSpPr/>
          <p:nvPr/>
        </p:nvCxnSpPr>
        <p:spPr>
          <a:xfrm>
            <a:off x="10709259" y="1732788"/>
            <a:ext cx="0" cy="3638550"/>
          </a:xfrm>
          <a:prstGeom prst="line">
            <a:avLst/>
          </a:prstGeom>
          <a:ln w="9525" cap="flat">
            <a:solidFill>
              <a:srgbClr val="E6E8F2"/>
            </a:solidFill>
          </a:ln>
        </p:spPr>
      </p:cxnSp>
      <p:cxnSp>
        <p:nvCxnSpPr>
          <p:cNvPr id="29" name="Line 29"/>
          <p:cNvCxnSpPr/>
          <p:nvPr/>
        </p:nvCxnSpPr>
        <p:spPr>
          <a:xfrm>
            <a:off x="10879843" y="1732788"/>
            <a:ext cx="0" cy="3638550"/>
          </a:xfrm>
          <a:prstGeom prst="line">
            <a:avLst/>
          </a:prstGeom>
          <a:ln w="9525" cap="flat">
            <a:solidFill>
              <a:srgbClr val="E6E8F2"/>
            </a:solidFill>
          </a:ln>
        </p:spPr>
      </p:cxnSp>
      <p:cxnSp>
        <p:nvCxnSpPr>
          <p:cNvPr id="30" name="Line 30"/>
          <p:cNvCxnSpPr/>
          <p:nvPr/>
        </p:nvCxnSpPr>
        <p:spPr>
          <a:xfrm>
            <a:off x="11050427" y="1732788"/>
            <a:ext cx="0" cy="3638550"/>
          </a:xfrm>
          <a:prstGeom prst="line">
            <a:avLst/>
          </a:prstGeom>
          <a:ln w="9525" cap="flat">
            <a:solidFill>
              <a:srgbClr val="E6E8F2"/>
            </a:solidFill>
          </a:ln>
        </p:spPr>
      </p:cxnSp>
      <p:cxnSp>
        <p:nvCxnSpPr>
          <p:cNvPr id="31" name="Line 31"/>
          <p:cNvCxnSpPr/>
          <p:nvPr/>
        </p:nvCxnSpPr>
        <p:spPr>
          <a:xfrm>
            <a:off x="11221011" y="1732788"/>
            <a:ext cx="0" cy="3638550"/>
          </a:xfrm>
          <a:prstGeom prst="line">
            <a:avLst/>
          </a:prstGeom>
          <a:ln w="9525" cap="flat">
            <a:solidFill>
              <a:srgbClr val="E6E8F2"/>
            </a:solidFill>
          </a:ln>
        </p:spPr>
      </p:cxnSp>
      <p:cxnSp>
        <p:nvCxnSpPr>
          <p:cNvPr id="32" name="Line 32"/>
          <p:cNvCxnSpPr/>
          <p:nvPr/>
        </p:nvCxnSpPr>
        <p:spPr>
          <a:xfrm>
            <a:off x="11391595" y="1732788"/>
            <a:ext cx="0" cy="3638550"/>
          </a:xfrm>
          <a:prstGeom prst="line">
            <a:avLst/>
          </a:prstGeom>
          <a:ln w="9525" cap="flat">
            <a:solidFill>
              <a:srgbClr val="E6E8F2"/>
            </a:solidFill>
          </a:ln>
        </p:spPr>
      </p:cxnSp>
      <p:cxnSp>
        <p:nvCxnSpPr>
          <p:cNvPr id="33" name="Line 33"/>
          <p:cNvCxnSpPr/>
          <p:nvPr/>
        </p:nvCxnSpPr>
        <p:spPr>
          <a:xfrm>
            <a:off x="7638745" y="5371338"/>
            <a:ext cx="3752850" cy="0"/>
          </a:xfrm>
          <a:prstGeom prst="line">
            <a:avLst/>
          </a:prstGeom>
          <a:ln w="9525" cap="flat">
            <a:solidFill>
              <a:srgbClr val="E6E8F2"/>
            </a:solidFill>
          </a:ln>
        </p:spPr>
      </p:cxnSp>
      <p:cxnSp>
        <p:nvCxnSpPr>
          <p:cNvPr id="34" name="Line 34"/>
          <p:cNvCxnSpPr/>
          <p:nvPr/>
        </p:nvCxnSpPr>
        <p:spPr>
          <a:xfrm>
            <a:off x="7638745" y="5205949"/>
            <a:ext cx="3752850" cy="0"/>
          </a:xfrm>
          <a:prstGeom prst="line">
            <a:avLst/>
          </a:prstGeom>
          <a:ln w="9525" cap="flat">
            <a:solidFill>
              <a:srgbClr val="E6E8F2"/>
            </a:solidFill>
          </a:ln>
        </p:spPr>
      </p:cxnSp>
      <p:cxnSp>
        <p:nvCxnSpPr>
          <p:cNvPr id="35" name="Line 35"/>
          <p:cNvCxnSpPr/>
          <p:nvPr/>
        </p:nvCxnSpPr>
        <p:spPr>
          <a:xfrm>
            <a:off x="7638745" y="5040561"/>
            <a:ext cx="3752850" cy="0"/>
          </a:xfrm>
          <a:prstGeom prst="line">
            <a:avLst/>
          </a:prstGeom>
          <a:ln w="9525" cap="flat">
            <a:solidFill>
              <a:srgbClr val="E6E8F2"/>
            </a:solidFill>
          </a:ln>
        </p:spPr>
      </p:cxnSp>
      <p:cxnSp>
        <p:nvCxnSpPr>
          <p:cNvPr id="36" name="Line 36"/>
          <p:cNvCxnSpPr/>
          <p:nvPr/>
        </p:nvCxnSpPr>
        <p:spPr>
          <a:xfrm>
            <a:off x="7638745" y="4875172"/>
            <a:ext cx="3752850" cy="0"/>
          </a:xfrm>
          <a:prstGeom prst="line">
            <a:avLst/>
          </a:prstGeom>
          <a:ln w="9525" cap="flat">
            <a:solidFill>
              <a:srgbClr val="E6E8F2"/>
            </a:solidFill>
          </a:ln>
        </p:spPr>
      </p:cxnSp>
      <p:cxnSp>
        <p:nvCxnSpPr>
          <p:cNvPr id="37" name="Line 37"/>
          <p:cNvCxnSpPr/>
          <p:nvPr/>
        </p:nvCxnSpPr>
        <p:spPr>
          <a:xfrm>
            <a:off x="7638745" y="4709783"/>
            <a:ext cx="3752850" cy="0"/>
          </a:xfrm>
          <a:prstGeom prst="line">
            <a:avLst/>
          </a:prstGeom>
          <a:ln w="9525" cap="flat">
            <a:solidFill>
              <a:srgbClr val="E6E8F2"/>
            </a:solidFill>
          </a:ln>
        </p:spPr>
      </p:cxnSp>
      <p:cxnSp>
        <p:nvCxnSpPr>
          <p:cNvPr id="38" name="Line 38"/>
          <p:cNvCxnSpPr/>
          <p:nvPr/>
        </p:nvCxnSpPr>
        <p:spPr>
          <a:xfrm>
            <a:off x="7638745" y="4544395"/>
            <a:ext cx="3752850" cy="0"/>
          </a:xfrm>
          <a:prstGeom prst="line">
            <a:avLst/>
          </a:prstGeom>
          <a:ln w="9525" cap="flat">
            <a:solidFill>
              <a:srgbClr val="E6E8F2"/>
            </a:solidFill>
          </a:ln>
        </p:spPr>
      </p:cxnSp>
      <p:cxnSp>
        <p:nvCxnSpPr>
          <p:cNvPr id="39" name="Line 39"/>
          <p:cNvCxnSpPr/>
          <p:nvPr/>
        </p:nvCxnSpPr>
        <p:spPr>
          <a:xfrm>
            <a:off x="7638745" y="4379006"/>
            <a:ext cx="3752850" cy="0"/>
          </a:xfrm>
          <a:prstGeom prst="line">
            <a:avLst/>
          </a:prstGeom>
          <a:ln w="9525" cap="flat">
            <a:solidFill>
              <a:srgbClr val="E6E8F2"/>
            </a:solidFill>
          </a:ln>
        </p:spPr>
      </p:cxnSp>
      <p:cxnSp>
        <p:nvCxnSpPr>
          <p:cNvPr id="40" name="Line 40"/>
          <p:cNvCxnSpPr/>
          <p:nvPr/>
        </p:nvCxnSpPr>
        <p:spPr>
          <a:xfrm>
            <a:off x="7638745" y="4213618"/>
            <a:ext cx="3752850" cy="0"/>
          </a:xfrm>
          <a:prstGeom prst="line">
            <a:avLst/>
          </a:prstGeom>
          <a:ln w="9525" cap="flat">
            <a:solidFill>
              <a:srgbClr val="E6E8F2"/>
            </a:solidFill>
          </a:ln>
        </p:spPr>
      </p:cxnSp>
      <p:cxnSp>
        <p:nvCxnSpPr>
          <p:cNvPr id="41" name="Line 41"/>
          <p:cNvCxnSpPr/>
          <p:nvPr/>
        </p:nvCxnSpPr>
        <p:spPr>
          <a:xfrm>
            <a:off x="7638745" y="4048229"/>
            <a:ext cx="3752850" cy="0"/>
          </a:xfrm>
          <a:prstGeom prst="line">
            <a:avLst/>
          </a:prstGeom>
          <a:ln w="9525" cap="flat">
            <a:solidFill>
              <a:srgbClr val="E6E8F2"/>
            </a:solidFill>
          </a:ln>
        </p:spPr>
      </p:cxnSp>
      <p:cxnSp>
        <p:nvCxnSpPr>
          <p:cNvPr id="42" name="Line 42"/>
          <p:cNvCxnSpPr/>
          <p:nvPr/>
        </p:nvCxnSpPr>
        <p:spPr>
          <a:xfrm>
            <a:off x="7638745" y="3882840"/>
            <a:ext cx="3752850" cy="0"/>
          </a:xfrm>
          <a:prstGeom prst="line">
            <a:avLst/>
          </a:prstGeom>
          <a:ln w="9525" cap="flat">
            <a:solidFill>
              <a:srgbClr val="E6E8F2"/>
            </a:solidFill>
          </a:ln>
        </p:spPr>
      </p:cxnSp>
      <p:cxnSp>
        <p:nvCxnSpPr>
          <p:cNvPr id="43" name="Line 43"/>
          <p:cNvCxnSpPr/>
          <p:nvPr/>
        </p:nvCxnSpPr>
        <p:spPr>
          <a:xfrm>
            <a:off x="7638745" y="3717452"/>
            <a:ext cx="3752850" cy="0"/>
          </a:xfrm>
          <a:prstGeom prst="line">
            <a:avLst/>
          </a:prstGeom>
          <a:ln w="9525" cap="flat">
            <a:solidFill>
              <a:srgbClr val="E6E8F2"/>
            </a:solidFill>
          </a:ln>
        </p:spPr>
      </p:cxnSp>
      <p:cxnSp>
        <p:nvCxnSpPr>
          <p:cNvPr id="44" name="Line 44"/>
          <p:cNvCxnSpPr/>
          <p:nvPr/>
        </p:nvCxnSpPr>
        <p:spPr>
          <a:xfrm>
            <a:off x="7638745" y="3552063"/>
            <a:ext cx="3752850" cy="0"/>
          </a:xfrm>
          <a:prstGeom prst="line">
            <a:avLst/>
          </a:prstGeom>
          <a:ln w="9525" cap="flat">
            <a:solidFill>
              <a:srgbClr val="E6E8F2"/>
            </a:solidFill>
          </a:ln>
        </p:spPr>
      </p:cxnSp>
      <p:cxnSp>
        <p:nvCxnSpPr>
          <p:cNvPr id="45" name="Line 45"/>
          <p:cNvCxnSpPr/>
          <p:nvPr/>
        </p:nvCxnSpPr>
        <p:spPr>
          <a:xfrm>
            <a:off x="7638745" y="3386674"/>
            <a:ext cx="3752850" cy="0"/>
          </a:xfrm>
          <a:prstGeom prst="line">
            <a:avLst/>
          </a:prstGeom>
          <a:ln w="9525" cap="flat">
            <a:solidFill>
              <a:srgbClr val="E6E8F2"/>
            </a:solidFill>
          </a:ln>
        </p:spPr>
      </p:cxnSp>
      <p:cxnSp>
        <p:nvCxnSpPr>
          <p:cNvPr id="46" name="Line 46"/>
          <p:cNvCxnSpPr/>
          <p:nvPr/>
        </p:nvCxnSpPr>
        <p:spPr>
          <a:xfrm>
            <a:off x="7638745" y="3221286"/>
            <a:ext cx="3752850" cy="0"/>
          </a:xfrm>
          <a:prstGeom prst="line">
            <a:avLst/>
          </a:prstGeom>
          <a:ln w="9525" cap="flat">
            <a:solidFill>
              <a:srgbClr val="E6E8F2"/>
            </a:solidFill>
          </a:ln>
        </p:spPr>
      </p:cxnSp>
      <p:cxnSp>
        <p:nvCxnSpPr>
          <p:cNvPr id="47" name="Line 47"/>
          <p:cNvCxnSpPr/>
          <p:nvPr/>
        </p:nvCxnSpPr>
        <p:spPr>
          <a:xfrm>
            <a:off x="7638745" y="3055897"/>
            <a:ext cx="3752850" cy="0"/>
          </a:xfrm>
          <a:prstGeom prst="line">
            <a:avLst/>
          </a:prstGeom>
          <a:ln w="9525" cap="flat">
            <a:solidFill>
              <a:srgbClr val="E6E8F2"/>
            </a:solidFill>
          </a:ln>
        </p:spPr>
      </p:cxnSp>
      <p:cxnSp>
        <p:nvCxnSpPr>
          <p:cNvPr id="48" name="Line 48"/>
          <p:cNvCxnSpPr/>
          <p:nvPr/>
        </p:nvCxnSpPr>
        <p:spPr>
          <a:xfrm>
            <a:off x="7638745" y="2890508"/>
            <a:ext cx="3752850" cy="0"/>
          </a:xfrm>
          <a:prstGeom prst="line">
            <a:avLst/>
          </a:prstGeom>
          <a:ln w="9525" cap="flat">
            <a:solidFill>
              <a:srgbClr val="E6E8F2"/>
            </a:solidFill>
          </a:ln>
        </p:spPr>
      </p:cxnSp>
      <p:cxnSp>
        <p:nvCxnSpPr>
          <p:cNvPr id="49" name="Line 49"/>
          <p:cNvCxnSpPr/>
          <p:nvPr/>
        </p:nvCxnSpPr>
        <p:spPr>
          <a:xfrm>
            <a:off x="7638745" y="2725120"/>
            <a:ext cx="3752850" cy="0"/>
          </a:xfrm>
          <a:prstGeom prst="line">
            <a:avLst/>
          </a:prstGeom>
          <a:ln w="9525" cap="flat">
            <a:solidFill>
              <a:srgbClr val="E6E8F2"/>
            </a:solidFill>
          </a:ln>
        </p:spPr>
      </p:cxnSp>
      <p:cxnSp>
        <p:nvCxnSpPr>
          <p:cNvPr id="50" name="Line 50"/>
          <p:cNvCxnSpPr/>
          <p:nvPr/>
        </p:nvCxnSpPr>
        <p:spPr>
          <a:xfrm>
            <a:off x="7638745" y="2559731"/>
            <a:ext cx="3752850" cy="0"/>
          </a:xfrm>
          <a:prstGeom prst="line">
            <a:avLst/>
          </a:prstGeom>
          <a:ln w="9525" cap="flat">
            <a:solidFill>
              <a:srgbClr val="E6E8F2"/>
            </a:solidFill>
          </a:ln>
        </p:spPr>
      </p:cxnSp>
      <p:cxnSp>
        <p:nvCxnSpPr>
          <p:cNvPr id="51" name="Line 51"/>
          <p:cNvCxnSpPr/>
          <p:nvPr/>
        </p:nvCxnSpPr>
        <p:spPr>
          <a:xfrm>
            <a:off x="7638745" y="2394343"/>
            <a:ext cx="3752850" cy="0"/>
          </a:xfrm>
          <a:prstGeom prst="line">
            <a:avLst/>
          </a:prstGeom>
          <a:ln w="9525" cap="flat">
            <a:solidFill>
              <a:srgbClr val="E6E8F2"/>
            </a:solidFill>
          </a:ln>
        </p:spPr>
      </p:cxnSp>
      <p:cxnSp>
        <p:nvCxnSpPr>
          <p:cNvPr id="52" name="Line 52"/>
          <p:cNvCxnSpPr/>
          <p:nvPr/>
        </p:nvCxnSpPr>
        <p:spPr>
          <a:xfrm>
            <a:off x="7638745" y="2228954"/>
            <a:ext cx="3752850" cy="0"/>
          </a:xfrm>
          <a:prstGeom prst="line">
            <a:avLst/>
          </a:prstGeom>
          <a:ln w="9525" cap="flat">
            <a:solidFill>
              <a:srgbClr val="E6E8F2"/>
            </a:solidFill>
          </a:ln>
        </p:spPr>
      </p:cxnSp>
      <p:cxnSp>
        <p:nvCxnSpPr>
          <p:cNvPr id="53" name="Line 53"/>
          <p:cNvCxnSpPr/>
          <p:nvPr/>
        </p:nvCxnSpPr>
        <p:spPr>
          <a:xfrm>
            <a:off x="7638745" y="2063565"/>
            <a:ext cx="3752850" cy="0"/>
          </a:xfrm>
          <a:prstGeom prst="line">
            <a:avLst/>
          </a:prstGeom>
          <a:ln w="9525" cap="flat">
            <a:solidFill>
              <a:srgbClr val="E6E8F2"/>
            </a:solidFill>
          </a:ln>
        </p:spPr>
      </p:cxnSp>
      <p:cxnSp>
        <p:nvCxnSpPr>
          <p:cNvPr id="54" name="Line 54"/>
          <p:cNvCxnSpPr/>
          <p:nvPr/>
        </p:nvCxnSpPr>
        <p:spPr>
          <a:xfrm>
            <a:off x="7638745" y="1898177"/>
            <a:ext cx="3752850" cy="0"/>
          </a:xfrm>
          <a:prstGeom prst="line">
            <a:avLst/>
          </a:prstGeom>
          <a:ln w="9525" cap="flat">
            <a:solidFill>
              <a:srgbClr val="E6E8F2"/>
            </a:solidFill>
          </a:ln>
        </p:spPr>
      </p:cxnSp>
      <p:cxnSp>
        <p:nvCxnSpPr>
          <p:cNvPr id="55" name="Line 55"/>
          <p:cNvCxnSpPr/>
          <p:nvPr/>
        </p:nvCxnSpPr>
        <p:spPr>
          <a:xfrm>
            <a:off x="7638745" y="1732788"/>
            <a:ext cx="3752850" cy="0"/>
          </a:xfrm>
          <a:prstGeom prst="line">
            <a:avLst/>
          </a:prstGeom>
          <a:ln w="9525" cap="flat">
            <a:solidFill>
              <a:srgbClr val="E6E8F2"/>
            </a:solidFill>
          </a:ln>
        </p:spPr>
      </p:cxnSp>
      <p:cxnSp>
        <p:nvCxnSpPr>
          <p:cNvPr id="56" name="Line 56"/>
          <p:cNvCxnSpPr/>
          <p:nvPr/>
        </p:nvCxnSpPr>
        <p:spPr>
          <a:xfrm>
            <a:off x="8662250" y="1732788"/>
            <a:ext cx="0" cy="3638550"/>
          </a:xfrm>
          <a:prstGeom prst="line">
            <a:avLst/>
          </a:prstGeom>
          <a:ln w="19050" cap="flat">
            <a:solidFill>
              <a:srgbClr val="5F6272"/>
            </a:solidFill>
          </a:ln>
        </p:spPr>
      </p:cxnSp>
      <p:cxnSp>
        <p:nvCxnSpPr>
          <p:cNvPr id="57" name="Line 57"/>
          <p:cNvCxnSpPr/>
          <p:nvPr/>
        </p:nvCxnSpPr>
        <p:spPr>
          <a:xfrm>
            <a:off x="7638745" y="3552063"/>
            <a:ext cx="3752850" cy="0"/>
          </a:xfrm>
          <a:prstGeom prst="line">
            <a:avLst/>
          </a:prstGeom>
          <a:ln w="19050" cap="flat">
            <a:solidFill>
              <a:srgbClr val="5F6272"/>
            </a:solidFill>
          </a:ln>
        </p:spPr>
      </p:cxnSp>
      <p:sp>
        <p:nvSpPr>
          <p:cNvPr id="58" name="Shape 58"/>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0" name="Shape 60"/>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2" name="Shape 62"/>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3" name="Shape 63"/>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4" name="Shape 64"/>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5" name="Shape 65"/>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6" name="Shape 66"/>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cxnSp>
        <p:nvCxnSpPr>
          <p:cNvPr id="68" name="Line 68"/>
          <p:cNvCxnSpPr/>
          <p:nvPr/>
        </p:nvCxnSpPr>
        <p:spPr>
          <a:xfrm flipV="1">
            <a:off x="7638745" y="1732788"/>
            <a:ext cx="2274455" cy="3307773"/>
          </a:xfrm>
          <a:prstGeom prst="line">
            <a:avLst/>
          </a:prstGeom>
          <a:ln w="38100" cap="rnd">
            <a:solidFill>
              <a:srgbClr val="16171D"/>
            </a:solidFill>
          </a:ln>
        </p:spPr>
      </p:cxnSp>
      <p:sp>
        <p:nvSpPr>
          <p:cNvPr id="69" name="Shape 69"/>
          <p:cNvSpPr/>
          <p:nvPr/>
        </p:nvSpPr>
        <p:spPr>
          <a:xfrm>
            <a:off x="9292199" y="25073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9430311" y="231208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(4, 60)</a:t>
            </a:r>
            <a:endParaRPr lang="en-US" sz="1125" dirty="0"/>
          </a:p>
        </p:txBody>
      </p:sp>
      <p:sp>
        <p:nvSpPr>
          <p:cNvPr id="71" name="Slide Number 7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Questions 2–5 · SE p. 244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and evaluate </a:t>
            </a:r>
            <a:r>
              <a:rPr lang="en-US" sz="3450" dirty="0" b="1" i="1">
                <a:solidFill>
                  <a:srgbClr val="16171D"/>
                </a:solidFill>
                <a:latin typeface="Cambria"/>
                <a:cs typeface="Cambria"/>
              </a:rPr>
              <a:t xml:space="preserve">E</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t</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Interpret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a:t>
            </a:r>
            <a:endParaRPr lang="en-US" sz="1575" dirty="0"/>
          </a:p>
        </p:txBody>
      </p:sp>
      <p:sp>
        <p:nvSpPr>
          <p:cNvPr id="5" name="Shape 5"/>
          <p:cNvSpPr txBox="1"/>
          <p:nvPr/>
        </p:nvSpPr>
        <p:spPr>
          <a:xfrm>
            <a:off x="685800" y="19895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are </a:t>
            </a:r>
            <a:r>
              <a:rPr lang="en-US" sz="1575" dirty="0" b="1">
                <a:solidFill>
                  <a:srgbClr val="3050B8"/>
                </a:solidFill>
                <a:latin typeface="Cambria"/>
                <a:cs typeface="Cambria"/>
              </a:rPr>
              <a:t xml:space="preserve">(0, 0)</a:t>
            </a:r>
            <a:r>
              <a:rPr lang="en-US" sz="1575" dirty="0">
                <a:solidFill>
                  <a:srgbClr val="16171D"/>
                </a:solidFill>
                <a:latin typeface="Segoe UI"/>
                <a:cs typeface="Segoe UI"/>
              </a:rPr>
              <a:t xml:space="preserve">: selling 0 shirts earns $0.</a:t>
            </a:r>
            <a:endParaRPr lang="en-US" sz="1575" dirty="0"/>
          </a:p>
        </p:txBody>
      </p:sp>
      <p:sp>
        <p:nvSpPr>
          <p:cNvPr id="6" name="Shape 6"/>
          <p:cNvSpPr txBox="1"/>
          <p:nvPr/>
        </p:nvSpPr>
        <p:spPr>
          <a:xfrm>
            <a:off x="685800" y="236067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Write a function for her earnings.</a:t>
            </a:r>
            <a:endParaRPr lang="en-US" sz="1575" dirty="0"/>
          </a:p>
        </p:txBody>
      </p:sp>
      <p:sp>
        <p:nvSpPr>
          <p:cNvPr id="7" name="Shape 7"/>
          <p:cNvSpPr txBox="1"/>
          <p:nvPr/>
        </p:nvSpPr>
        <p:spPr>
          <a:xfrm>
            <a:off x="685800" y="2731770"/>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endParaRPr lang="en-US" sz="2325" dirty="0"/>
          </a:p>
        </p:txBody>
      </p:sp>
      <p:sp>
        <p:nvSpPr>
          <p:cNvPr id="8" name="Shape 8"/>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What does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represent?</a:t>
            </a:r>
            <a:endParaRPr lang="en-US" sz="1575" dirty="0"/>
          </a:p>
        </p:txBody>
      </p:sp>
      <p:sp>
        <p:nvSpPr>
          <p:cNvPr id="9" name="Shape 9"/>
          <p:cNvSpPr txBox="1"/>
          <p:nvPr/>
        </p:nvSpPr>
        <p:spPr>
          <a:xfrm>
            <a:off x="6286348" y="1989582"/>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point on the line: </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shirts sold and the dollars earned for them.</a:t>
            </a:r>
            <a:endParaRPr lang="en-US" sz="1575" dirty="0"/>
          </a:p>
        </p:txBody>
      </p:sp>
      <p:sp>
        <p:nvSpPr>
          <p:cNvPr id="10" name="Shape 10"/>
          <p:cNvSpPr txBox="1"/>
          <p:nvPr/>
        </p:nvSpPr>
        <p:spPr>
          <a:xfrm>
            <a:off x="685800" y="338404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Evaluate and interpret.</a:t>
            </a:r>
            <a:endParaRPr lang="en-US" sz="1575" dirty="0"/>
          </a:p>
        </p:txBody>
      </p:sp>
      <p:sp>
        <p:nvSpPr>
          <p:cNvPr id="13" name="Shape 13"/>
          <p:cNvSpPr txBox="1"/>
          <p:nvPr/>
        </p:nvSpPr>
        <p:spPr>
          <a:xfrm>
            <a:off x="685800" y="375513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95350"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(2) = 30</a:t>
            </a:r>
            <a:endParaRPr lang="en-US" sz="2325" dirty="0"/>
          </a:p>
        </p:txBody>
      </p:sp>
      <p:sp>
        <p:nvSpPr>
          <p:cNvPr id="12" name="Shape 12"/>
          <p:cNvSpPr txBox="1"/>
          <p:nvPr/>
        </p:nvSpPr>
        <p:spPr>
          <a:xfrm>
            <a:off x="895350" y="443103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30): 2 shirts earn $30.</a:t>
            </a:r>
            <a:endParaRPr lang="en-US" sz="1575" dirty="0"/>
          </a:p>
        </p:txBody>
      </p:sp>
      <p:sp>
        <p:nvSpPr>
          <p:cNvPr id="16" name="Shape 16"/>
          <p:cNvSpPr txBox="1"/>
          <p:nvPr/>
        </p:nvSpPr>
        <p:spPr>
          <a:xfrm>
            <a:off x="4349648" y="3755136"/>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4559198"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(5) = 75</a:t>
            </a:r>
            <a:endParaRPr lang="en-US" sz="2325" dirty="0"/>
          </a:p>
        </p:txBody>
      </p:sp>
      <p:sp>
        <p:nvSpPr>
          <p:cNvPr id="15" name="Shape 15"/>
          <p:cNvSpPr txBox="1"/>
          <p:nvPr/>
        </p:nvSpPr>
        <p:spPr>
          <a:xfrm>
            <a:off x="4559198" y="443103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(5, 75): 5 shirts earn $75.</a:t>
            </a:r>
            <a:endParaRPr lang="en-US" sz="1575" dirty="0"/>
          </a:p>
        </p:txBody>
      </p:sp>
      <p:sp>
        <p:nvSpPr>
          <p:cNvPr id="19" name="Shape 19"/>
          <p:cNvSpPr txBox="1"/>
          <p:nvPr/>
        </p:nvSpPr>
        <p:spPr>
          <a:xfrm>
            <a:off x="8013497" y="375513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8223047" y="392658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(2.75) = 41.25</a:t>
            </a:r>
            <a:endParaRPr lang="en-US" sz="2325" dirty="0"/>
          </a:p>
        </p:txBody>
      </p:sp>
      <p:sp>
        <p:nvSpPr>
          <p:cNvPr id="18" name="Shape 18"/>
          <p:cNvSpPr txBox="1"/>
          <p:nvPr/>
        </p:nvSpPr>
        <p:spPr>
          <a:xfrm>
            <a:off x="8223047" y="443103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Doesn't make sense: she can't sell 2.75 shirts.</a:t>
            </a:r>
            <a:endParaRPr lang="en-US" sz="157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anim calcmode="lin" valueType="num">
                                      <p:cBhvr>
                                        <p:cTn id="26" dur="500" fill="hold"/>
                                        <p:tgtEl>
                                          <p:spTgt spid="13"/>
                                        </p:tgtEl>
                                        <p:attrNameLst>
                                          <p:attrName>ppt_x</p:attrName>
                                        </p:attrNameLst>
                                      </p:cBhvr>
                                      <p:tavLst>
                                        <p:tav tm="0">
                                          <p:val>
                                            <p:strVal val="#ppt_x"/>
                                          </p:val>
                                        </p:tav>
                                        <p:tav tm="100000">
                                          <p:val>
                                            <p:strVal val="#ppt_x"/>
                                          </p:val>
                                        </p:tav>
                                      </p:tavLst>
                                    </p:anim>
                                    <p:anim calcmode="lin" valueType="num">
                                      <p:cBhvr>
                                        <p:cTn id="27" dur="500" fill="hold"/>
                                        <p:tgtEl>
                                          <p:spTgt spid="13"/>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45" presetID="42"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p:cTn id="48" dur="500" fill="hold"/>
                                        <p:tgtEl>
                                          <p:spTgt spid="14"/>
                                        </p:tgtEl>
                                        <p:attrNameLst>
                                          <p:attrName>ppt_x</p:attrName>
                                        </p:attrNameLst>
                                      </p:cBhvr>
                                      <p:tavLst>
                                        <p:tav tm="0">
                                          <p:val>
                                            <p:strVal val="#ppt_x"/>
                                          </p:val>
                                        </p:tav>
                                        <p:tav tm="100000">
                                          <p:val>
                                            <p:strVal val="#ppt_x"/>
                                          </p:val>
                                        </p:tav>
                                      </p:tavLst>
                                    </p:anim>
                                    <p:anim calcmode="lin" valueType="num">
                                      <p:cBhvr>
                                        <p:cTn id="49" dur="5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anim calcmode="lin" valueType="num">
                                      <p:cBhvr>
                                        <p:cTn id="53" dur="500" fill="hold"/>
                                        <p:tgtEl>
                                          <p:spTgt spid="15"/>
                                        </p:tgtEl>
                                        <p:attrNameLst>
                                          <p:attrName>ppt_x</p:attrName>
                                        </p:attrNameLst>
                                      </p:cBhvr>
                                      <p:tavLst>
                                        <p:tav tm="0">
                                          <p:val>
                                            <p:strVal val="#ppt_x"/>
                                          </p:val>
                                        </p:tav>
                                        <p:tav tm="100000">
                                          <p:val>
                                            <p:strVal val="#ppt_x"/>
                                          </p:val>
                                        </p:tav>
                                      </p:tavLst>
                                    </p:anim>
                                    <p:anim calcmode="lin" valueType="num">
                                      <p:cBhvr>
                                        <p:cTn id="5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62" presetID="42"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anim calcmode="lin" valueType="num">
                                      <p:cBhvr>
                                        <p:cTn id="60" dur="500" fill="hold"/>
                                        <p:tgtEl>
                                          <p:spTgt spid="19"/>
                                        </p:tgtEl>
                                        <p:attrNameLst>
                                          <p:attrName>ppt_x</p:attrName>
                                        </p:attrNameLst>
                                      </p:cBhvr>
                                      <p:tavLst>
                                        <p:tav tm="0">
                                          <p:val>
                                            <p:strVal val="#ppt_x"/>
                                          </p:val>
                                        </p:tav>
                                        <p:tav tm="100000">
                                          <p:val>
                                            <p:strVal val="#ppt_x"/>
                                          </p:val>
                                        </p:tav>
                                      </p:tavLst>
                                    </p:anim>
                                    <p:anim calcmode="lin" valueType="num">
                                      <p:cBhvr>
                                        <p:cTn id="61" dur="500" fill="hold"/>
                                        <p:tgtEl>
                                          <p:spTgt spid="19"/>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anim calcmode="lin" valueType="num">
                                      <p:cBhvr>
                                        <p:cTn id="65" dur="500" fill="hold"/>
                                        <p:tgtEl>
                                          <p:spTgt spid="17"/>
                                        </p:tgtEl>
                                        <p:attrNameLst>
                                          <p:attrName>ppt_x</p:attrName>
                                        </p:attrNameLst>
                                      </p:cBhvr>
                                      <p:tavLst>
                                        <p:tav tm="0">
                                          <p:val>
                                            <p:strVal val="#ppt_x"/>
                                          </p:val>
                                        </p:tav>
                                        <p:tav tm="100000">
                                          <p:val>
                                            <p:strVal val="#ppt_x"/>
                                          </p:val>
                                        </p:tav>
                                      </p:tavLst>
                                    </p:anim>
                                    <p:anim calcmode="lin" valueType="num">
                                      <p:cBhvr>
                                        <p:cTn id="66" dur="50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anim calcmode="lin" valueType="num">
                                      <p:cBhvr>
                                        <p:cTn id="70" dur="500" fill="hold"/>
                                        <p:tgtEl>
                                          <p:spTgt spid="18"/>
                                        </p:tgtEl>
                                        <p:attrNameLst>
                                          <p:attrName>ppt_x</p:attrName>
                                        </p:attrNameLst>
                                      </p:cBhvr>
                                      <p:tavLst>
                                        <p:tav tm="0">
                                          <p:val>
                                            <p:strVal val="#ppt_x"/>
                                          </p:val>
                                        </p:tav>
                                        <p:tav tm="100000">
                                          <p:val>
                                            <p:strVal val="#ppt_x"/>
                                          </p:val>
                                        </p:tav>
                                      </p:tavLst>
                                    </p:anim>
                                    <p:anim calcmode="lin" valueType="num">
                                      <p:cBhvr>
                                        <p:cTn id="7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Worked Example · SE p. 244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many shirts to earn $100? Use the equation.</a:t>
            </a:r>
            <a:endParaRPr lang="en-US" sz="3450" dirty="0"/>
          </a:p>
        </p:txBody>
      </p:sp>
      <p:sp>
        <p:nvSpPr>
          <p:cNvPr id="4" name="Shape 4"/>
          <p:cNvSpPr txBox="1"/>
          <p:nvPr/>
        </p:nvSpPr>
        <p:spPr>
          <a:xfrm>
            <a:off x="685800" y="161848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endParaRPr lang="en-US" sz="2325" dirty="0"/>
          </a:p>
        </p:txBody>
      </p:sp>
      <p:sp>
        <p:nvSpPr>
          <p:cNvPr id="5" name="Shape 5"/>
          <p:cNvSpPr txBox="1"/>
          <p:nvPr/>
        </p:nvSpPr>
        <p:spPr>
          <a:xfrm>
            <a:off x="685800" y="2084832"/>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3050B8"/>
                </a:solidFill>
                <a:latin typeface="Cambria"/>
                <a:cs typeface="Cambria"/>
              </a:rPr>
              <a:t xml:space="preserve">100</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endParaRPr lang="en-US" sz="2325" dirty="0"/>
          </a:p>
        </p:txBody>
      </p:sp>
      <p:sp>
        <p:nvSpPr>
          <p:cNvPr id="6" name="Shape 6"/>
          <p:cNvSpPr txBox="1"/>
          <p:nvPr/>
        </p:nvSpPr>
        <p:spPr>
          <a:xfrm>
            <a:off x="685800" y="2551176"/>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15</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t</a:t>
            </a:r>
            <a:endParaRPr lang="en-US" sz="2325" dirty="0"/>
          </a:p>
        </p:txBody>
      </p:sp>
      <p:sp>
        <p:nvSpPr>
          <p:cNvPr id="7" name="Shape 7"/>
          <p:cNvSpPr txBox="1"/>
          <p:nvPr/>
        </p:nvSpPr>
        <p:spPr>
          <a:xfrm>
            <a:off x="685800" y="3017520"/>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6.67 ≈ </a:t>
            </a:r>
            <a:r>
              <a:rPr lang="en-US" sz="2325" dirty="0" i="1">
                <a:solidFill>
                  <a:srgbClr val="16171D"/>
                </a:solidFill>
                <a:latin typeface="Cambria"/>
                <a:cs typeface="Cambria"/>
              </a:rPr>
              <a:t xml:space="preserve">t</a:t>
            </a:r>
            <a:endParaRPr lang="en-US" sz="2325" dirty="0"/>
          </a:p>
        </p:txBody>
      </p:sp>
      <p:sp>
        <p:nvSpPr>
          <p:cNvPr id="8" name="Shape 8"/>
          <p:cNvSpPr txBox="1"/>
          <p:nvPr/>
        </p:nvSpPr>
        <p:spPr>
          <a:xfrm>
            <a:off x="6362548" y="161848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6a.</a:t>
            </a:r>
            <a:r>
              <a:rPr lang="en-US" sz="1950" dirty="0">
                <a:solidFill>
                  <a:srgbClr val="16171D"/>
                </a:solidFill>
                <a:latin typeface="Segoe UI"/>
                <a:cs typeface="Segoe UI"/>
              </a:rPr>
              <a:t xml:space="preserve"> What does </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6.67</a:t>
            </a:r>
            <a:r>
              <a:rPr lang="en-US" sz="1950" dirty="0">
                <a:solidFill>
                  <a:srgbClr val="16171D"/>
                </a:solidFill>
                <a:latin typeface="Segoe UI"/>
                <a:cs typeface="Segoe UI"/>
              </a:rPr>
              <a:t xml:space="preserve"> mean?</a:t>
            </a:r>
            <a:endParaRPr lang="en-US" sz="1950" dirty="0"/>
          </a:p>
        </p:txBody>
      </p:sp>
      <p:sp>
        <p:nvSpPr>
          <p:cNvPr id="9" name="Shape 9"/>
          <p:cNvSpPr txBox="1"/>
          <p:nvPr/>
        </p:nvSpPr>
        <p:spPr>
          <a:xfrm>
            <a:off x="6362548" y="2103882"/>
            <a:ext cx="51433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6.67 shirts earns exactly $100. She can't sell part of a shirt: 6 shirts earn only $90, so she must sell </a:t>
            </a:r>
            <a:r>
              <a:rPr lang="en-US" sz="1575" dirty="0" b="1">
                <a:solidFill>
                  <a:srgbClr val="16171D"/>
                </a:solidFill>
                <a:latin typeface="Segoe UI"/>
                <a:cs typeface="Segoe UI"/>
              </a:rPr>
              <a:t xml:space="preserve">7 T-shirts</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362548" y="3012186"/>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6b.</a:t>
            </a:r>
            <a:r>
              <a:rPr lang="en-US" sz="1950" dirty="0">
                <a:solidFill>
                  <a:srgbClr val="16171D"/>
                </a:solidFill>
                <a:latin typeface="Segoe UI"/>
                <a:cs typeface="Segoe UI"/>
              </a:rPr>
              <a:t xml:space="preserve"> Why can you substitute 100 for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497580"/>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is the dollars earned. $100 is the dollars she wants to earn.</a:t>
            </a:r>
            <a:endParaRPr lang="en-US" sz="157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6.2 · Worked Example · SE p. 245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many shirts to earn $100? Use the graph.</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each side of </a:t>
            </a:r>
            <a:r>
              <a:rPr lang="en-US" sz="1575" dirty="0">
                <a:solidFill>
                  <a:srgbClr val="16171D"/>
                </a:solidFill>
                <a:latin typeface="Cambria"/>
                <a:cs typeface="Cambria"/>
              </a:rPr>
              <a:t xml:space="preserve">100 = 15</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as its own function: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100</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 solution is where they </a:t>
            </a:r>
            <a:r>
              <a:rPr lang="en-US" sz="1575" dirty="0" b="1">
                <a:solidFill>
                  <a:srgbClr val="16171D"/>
                </a:solidFill>
                <a:latin typeface="Segoe UI"/>
                <a:cs typeface="Segoe UI"/>
              </a:rPr>
              <a:t xml:space="preserve">intersect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Intersection: </a:t>
            </a:r>
            <a:r>
              <a:rPr lang="en-US" sz="1575" dirty="0" b="1">
                <a:solidFill>
                  <a:srgbClr val="3050B8"/>
                </a:solidFill>
                <a:latin typeface="Cambria"/>
                <a:cs typeface="Cambria"/>
              </a:rPr>
              <a:t xml:space="preserve">(6.67, 100)</a:t>
            </a:r>
            <a:r>
              <a:rPr lang="en-US" sz="1575" dirty="0">
                <a:solidFill>
                  <a:srgbClr val="16171D"/>
                </a:solidFill>
                <a:latin typeface="Segoe UI"/>
                <a:cs typeface="Segoe UI"/>
              </a:rPr>
              <a:t xml:space="preserve">. On the graph, 6.67 shirts; in context, </a:t>
            </a:r>
            <a:r>
              <a:rPr lang="en-US" sz="1575" dirty="0" b="1">
                <a:solidFill>
                  <a:srgbClr val="16171D"/>
                </a:solidFill>
                <a:latin typeface="Segoe UI"/>
                <a:cs typeface="Segoe UI"/>
              </a:rPr>
              <a:t xml:space="preserve">7 shirts</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Limitations of each method?</a:t>
            </a:r>
            <a:endParaRPr lang="en-US" sz="1575" dirty="0"/>
          </a:p>
        </p:txBody>
      </p:sp>
      <p:sp>
        <p:nvSpPr>
          <p:cNvPr id="7" name="Shape 7"/>
          <p:cNvSpPr txBox="1"/>
          <p:nvPr/>
        </p:nvSpPr>
        <p:spPr>
          <a:xfrm>
            <a:off x="685800" y="3326130"/>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Equation:</a:t>
            </a:r>
            <a:r>
              <a:rPr lang="en-US" sz="1575" dirty="0">
                <a:solidFill>
                  <a:srgbClr val="16171D"/>
                </a:solidFill>
                <a:latin typeface="Segoe UI"/>
                <a:cs typeface="Segoe UI"/>
              </a:rPr>
              <a:t xml:space="preserve"> the answer may not make sense in context, so you must round up or down.</a:t>
            </a:r>
            <a:endParaRPr lang="en-US" sz="1575" dirty="0"/>
          </a:p>
        </p:txBody>
      </p:sp>
      <p:sp>
        <p:nvSpPr>
          <p:cNvPr id="8" name="Shape 8"/>
          <p:cNvSpPr txBox="1"/>
          <p:nvPr/>
        </p:nvSpPr>
        <p:spPr>
          <a:xfrm>
            <a:off x="685800" y="397535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it can be hard to read an exact answer.</a:t>
            </a:r>
            <a:endParaRPr lang="en-US" sz="1575" dirty="0"/>
          </a:p>
        </p:txBody>
      </p:sp>
      <p:sp>
        <p:nvSpPr>
          <p:cNvPr id="9" name="Shape 9"/>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7638745" y="1732788"/>
            <a:ext cx="0" cy="3638550"/>
          </a:xfrm>
          <a:prstGeom prst="line">
            <a:avLst/>
          </a:prstGeom>
          <a:ln w="9525" cap="flat">
            <a:solidFill>
              <a:srgbClr val="E6E8F2"/>
            </a:solidFill>
          </a:ln>
        </p:spPr>
      </p:cxnSp>
      <p:cxnSp>
        <p:nvCxnSpPr>
          <p:cNvPr id="11" name="Line 11"/>
          <p:cNvCxnSpPr/>
          <p:nvPr/>
        </p:nvCxnSpPr>
        <p:spPr>
          <a:xfrm>
            <a:off x="7809329" y="1732788"/>
            <a:ext cx="0" cy="3638550"/>
          </a:xfrm>
          <a:prstGeom prst="line">
            <a:avLst/>
          </a:prstGeom>
          <a:ln w="9525" cap="flat">
            <a:solidFill>
              <a:srgbClr val="E6E8F2"/>
            </a:solidFill>
          </a:ln>
        </p:spPr>
      </p:cxnSp>
      <p:cxnSp>
        <p:nvCxnSpPr>
          <p:cNvPr id="12" name="Line 12"/>
          <p:cNvCxnSpPr/>
          <p:nvPr/>
        </p:nvCxnSpPr>
        <p:spPr>
          <a:xfrm>
            <a:off x="7979913" y="1732788"/>
            <a:ext cx="0" cy="3638550"/>
          </a:xfrm>
          <a:prstGeom prst="line">
            <a:avLst/>
          </a:prstGeom>
          <a:ln w="9525" cap="flat">
            <a:solidFill>
              <a:srgbClr val="E6E8F2"/>
            </a:solidFill>
          </a:ln>
        </p:spPr>
      </p:cxnSp>
      <p:cxnSp>
        <p:nvCxnSpPr>
          <p:cNvPr id="13" name="Line 13"/>
          <p:cNvCxnSpPr/>
          <p:nvPr/>
        </p:nvCxnSpPr>
        <p:spPr>
          <a:xfrm>
            <a:off x="8150497" y="1732788"/>
            <a:ext cx="0" cy="3638550"/>
          </a:xfrm>
          <a:prstGeom prst="line">
            <a:avLst/>
          </a:prstGeom>
          <a:ln w="9525" cap="flat">
            <a:solidFill>
              <a:srgbClr val="E6E8F2"/>
            </a:solidFill>
          </a:ln>
        </p:spPr>
      </p:cxnSp>
      <p:cxnSp>
        <p:nvCxnSpPr>
          <p:cNvPr id="14" name="Line 14"/>
          <p:cNvCxnSpPr/>
          <p:nvPr/>
        </p:nvCxnSpPr>
        <p:spPr>
          <a:xfrm>
            <a:off x="8321082" y="1732788"/>
            <a:ext cx="0" cy="3638550"/>
          </a:xfrm>
          <a:prstGeom prst="line">
            <a:avLst/>
          </a:prstGeom>
          <a:ln w="9525" cap="flat">
            <a:solidFill>
              <a:srgbClr val="E6E8F2"/>
            </a:solidFill>
          </a:ln>
        </p:spPr>
      </p:cxnSp>
      <p:cxnSp>
        <p:nvCxnSpPr>
          <p:cNvPr id="15" name="Line 15"/>
          <p:cNvCxnSpPr/>
          <p:nvPr/>
        </p:nvCxnSpPr>
        <p:spPr>
          <a:xfrm>
            <a:off x="8491666" y="1732788"/>
            <a:ext cx="0" cy="3638550"/>
          </a:xfrm>
          <a:prstGeom prst="line">
            <a:avLst/>
          </a:prstGeom>
          <a:ln w="9525" cap="flat">
            <a:solidFill>
              <a:srgbClr val="E6E8F2"/>
            </a:solidFill>
          </a:ln>
        </p:spPr>
      </p:cxnSp>
      <p:cxnSp>
        <p:nvCxnSpPr>
          <p:cNvPr id="16" name="Line 16"/>
          <p:cNvCxnSpPr/>
          <p:nvPr/>
        </p:nvCxnSpPr>
        <p:spPr>
          <a:xfrm>
            <a:off x="8662250" y="1732788"/>
            <a:ext cx="0" cy="3638550"/>
          </a:xfrm>
          <a:prstGeom prst="line">
            <a:avLst/>
          </a:prstGeom>
          <a:ln w="9525" cap="flat">
            <a:solidFill>
              <a:srgbClr val="E6E8F2"/>
            </a:solidFill>
          </a:ln>
        </p:spPr>
      </p:cxnSp>
      <p:cxnSp>
        <p:nvCxnSpPr>
          <p:cNvPr id="17" name="Line 17"/>
          <p:cNvCxnSpPr/>
          <p:nvPr/>
        </p:nvCxnSpPr>
        <p:spPr>
          <a:xfrm>
            <a:off x="8832834" y="1732788"/>
            <a:ext cx="0" cy="3638550"/>
          </a:xfrm>
          <a:prstGeom prst="line">
            <a:avLst/>
          </a:prstGeom>
          <a:ln w="9525" cap="flat">
            <a:solidFill>
              <a:srgbClr val="E6E8F2"/>
            </a:solidFill>
          </a:ln>
        </p:spPr>
      </p:cxnSp>
      <p:cxnSp>
        <p:nvCxnSpPr>
          <p:cNvPr id="18" name="Line 18"/>
          <p:cNvCxnSpPr/>
          <p:nvPr/>
        </p:nvCxnSpPr>
        <p:spPr>
          <a:xfrm>
            <a:off x="9003418" y="1732788"/>
            <a:ext cx="0" cy="3638550"/>
          </a:xfrm>
          <a:prstGeom prst="line">
            <a:avLst/>
          </a:prstGeom>
          <a:ln w="9525" cap="flat">
            <a:solidFill>
              <a:srgbClr val="E6E8F2"/>
            </a:solidFill>
          </a:ln>
        </p:spPr>
      </p:cxnSp>
      <p:cxnSp>
        <p:nvCxnSpPr>
          <p:cNvPr id="19" name="Line 19"/>
          <p:cNvCxnSpPr/>
          <p:nvPr/>
        </p:nvCxnSpPr>
        <p:spPr>
          <a:xfrm>
            <a:off x="9174002" y="1732788"/>
            <a:ext cx="0" cy="3638550"/>
          </a:xfrm>
          <a:prstGeom prst="line">
            <a:avLst/>
          </a:prstGeom>
          <a:ln w="9525" cap="flat">
            <a:solidFill>
              <a:srgbClr val="E6E8F2"/>
            </a:solidFill>
          </a:ln>
        </p:spPr>
      </p:cxnSp>
      <p:cxnSp>
        <p:nvCxnSpPr>
          <p:cNvPr id="20" name="Line 20"/>
          <p:cNvCxnSpPr/>
          <p:nvPr/>
        </p:nvCxnSpPr>
        <p:spPr>
          <a:xfrm>
            <a:off x="9344586" y="1732788"/>
            <a:ext cx="0" cy="3638550"/>
          </a:xfrm>
          <a:prstGeom prst="line">
            <a:avLst/>
          </a:prstGeom>
          <a:ln w="9525" cap="flat">
            <a:solidFill>
              <a:srgbClr val="E6E8F2"/>
            </a:solidFill>
          </a:ln>
        </p:spPr>
      </p:cxnSp>
      <p:cxnSp>
        <p:nvCxnSpPr>
          <p:cNvPr id="21" name="Line 21"/>
          <p:cNvCxnSpPr/>
          <p:nvPr/>
        </p:nvCxnSpPr>
        <p:spPr>
          <a:xfrm>
            <a:off x="9515170" y="1732788"/>
            <a:ext cx="0" cy="3638550"/>
          </a:xfrm>
          <a:prstGeom prst="line">
            <a:avLst/>
          </a:prstGeom>
          <a:ln w="9525" cap="flat">
            <a:solidFill>
              <a:srgbClr val="E6E8F2"/>
            </a:solidFill>
          </a:ln>
        </p:spPr>
      </p:cxnSp>
      <p:cxnSp>
        <p:nvCxnSpPr>
          <p:cNvPr id="22" name="Line 22"/>
          <p:cNvCxnSpPr/>
          <p:nvPr/>
        </p:nvCxnSpPr>
        <p:spPr>
          <a:xfrm>
            <a:off x="9685754" y="1732788"/>
            <a:ext cx="0" cy="3638550"/>
          </a:xfrm>
          <a:prstGeom prst="line">
            <a:avLst/>
          </a:prstGeom>
          <a:ln w="9525" cap="flat">
            <a:solidFill>
              <a:srgbClr val="E6E8F2"/>
            </a:solidFill>
          </a:ln>
        </p:spPr>
      </p:cxnSp>
      <p:cxnSp>
        <p:nvCxnSpPr>
          <p:cNvPr id="23" name="Line 23"/>
          <p:cNvCxnSpPr/>
          <p:nvPr/>
        </p:nvCxnSpPr>
        <p:spPr>
          <a:xfrm>
            <a:off x="9856338" y="1732788"/>
            <a:ext cx="0" cy="3638550"/>
          </a:xfrm>
          <a:prstGeom prst="line">
            <a:avLst/>
          </a:prstGeom>
          <a:ln w="9525" cap="flat">
            <a:solidFill>
              <a:srgbClr val="E6E8F2"/>
            </a:solidFill>
          </a:ln>
        </p:spPr>
      </p:cxnSp>
      <p:cxnSp>
        <p:nvCxnSpPr>
          <p:cNvPr id="24" name="Line 24"/>
          <p:cNvCxnSpPr/>
          <p:nvPr/>
        </p:nvCxnSpPr>
        <p:spPr>
          <a:xfrm>
            <a:off x="10026922" y="1732788"/>
            <a:ext cx="0" cy="3638550"/>
          </a:xfrm>
          <a:prstGeom prst="line">
            <a:avLst/>
          </a:prstGeom>
          <a:ln w="9525" cap="flat">
            <a:solidFill>
              <a:srgbClr val="E6E8F2"/>
            </a:solidFill>
          </a:ln>
        </p:spPr>
      </p:cxnSp>
      <p:cxnSp>
        <p:nvCxnSpPr>
          <p:cNvPr id="25" name="Line 25"/>
          <p:cNvCxnSpPr/>
          <p:nvPr/>
        </p:nvCxnSpPr>
        <p:spPr>
          <a:xfrm>
            <a:off x="10197507" y="1732788"/>
            <a:ext cx="0" cy="3638550"/>
          </a:xfrm>
          <a:prstGeom prst="line">
            <a:avLst/>
          </a:prstGeom>
          <a:ln w="9525" cap="flat">
            <a:solidFill>
              <a:srgbClr val="E6E8F2"/>
            </a:solidFill>
          </a:ln>
        </p:spPr>
      </p:cxnSp>
      <p:cxnSp>
        <p:nvCxnSpPr>
          <p:cNvPr id="26" name="Line 26"/>
          <p:cNvCxnSpPr/>
          <p:nvPr/>
        </p:nvCxnSpPr>
        <p:spPr>
          <a:xfrm>
            <a:off x="10368091" y="1732788"/>
            <a:ext cx="0" cy="3638550"/>
          </a:xfrm>
          <a:prstGeom prst="line">
            <a:avLst/>
          </a:prstGeom>
          <a:ln w="9525" cap="flat">
            <a:solidFill>
              <a:srgbClr val="E6E8F2"/>
            </a:solidFill>
          </a:ln>
        </p:spPr>
      </p:cxnSp>
      <p:cxnSp>
        <p:nvCxnSpPr>
          <p:cNvPr id="27" name="Line 27"/>
          <p:cNvCxnSpPr/>
          <p:nvPr/>
        </p:nvCxnSpPr>
        <p:spPr>
          <a:xfrm>
            <a:off x="10538675" y="1732788"/>
            <a:ext cx="0" cy="3638550"/>
          </a:xfrm>
          <a:prstGeom prst="line">
            <a:avLst/>
          </a:prstGeom>
          <a:ln w="9525" cap="flat">
            <a:solidFill>
              <a:srgbClr val="E6E8F2"/>
            </a:solidFill>
          </a:ln>
        </p:spPr>
      </p:cxnSp>
      <p:cxnSp>
        <p:nvCxnSpPr>
          <p:cNvPr id="28" name="Line 28"/>
          <p:cNvCxnSpPr/>
          <p:nvPr/>
        </p:nvCxnSpPr>
        <p:spPr>
          <a:xfrm>
            <a:off x="10709259" y="1732788"/>
            <a:ext cx="0" cy="3638550"/>
          </a:xfrm>
          <a:prstGeom prst="line">
            <a:avLst/>
          </a:prstGeom>
          <a:ln w="9525" cap="flat">
            <a:solidFill>
              <a:srgbClr val="E6E8F2"/>
            </a:solidFill>
          </a:ln>
        </p:spPr>
      </p:cxnSp>
      <p:cxnSp>
        <p:nvCxnSpPr>
          <p:cNvPr id="29" name="Line 29"/>
          <p:cNvCxnSpPr/>
          <p:nvPr/>
        </p:nvCxnSpPr>
        <p:spPr>
          <a:xfrm>
            <a:off x="10879843" y="1732788"/>
            <a:ext cx="0" cy="3638550"/>
          </a:xfrm>
          <a:prstGeom prst="line">
            <a:avLst/>
          </a:prstGeom>
          <a:ln w="9525" cap="flat">
            <a:solidFill>
              <a:srgbClr val="E6E8F2"/>
            </a:solidFill>
          </a:ln>
        </p:spPr>
      </p:cxnSp>
      <p:cxnSp>
        <p:nvCxnSpPr>
          <p:cNvPr id="30" name="Line 30"/>
          <p:cNvCxnSpPr/>
          <p:nvPr/>
        </p:nvCxnSpPr>
        <p:spPr>
          <a:xfrm>
            <a:off x="11050427" y="1732788"/>
            <a:ext cx="0" cy="3638550"/>
          </a:xfrm>
          <a:prstGeom prst="line">
            <a:avLst/>
          </a:prstGeom>
          <a:ln w="9525" cap="flat">
            <a:solidFill>
              <a:srgbClr val="E6E8F2"/>
            </a:solidFill>
          </a:ln>
        </p:spPr>
      </p:cxnSp>
      <p:cxnSp>
        <p:nvCxnSpPr>
          <p:cNvPr id="31" name="Line 31"/>
          <p:cNvCxnSpPr/>
          <p:nvPr/>
        </p:nvCxnSpPr>
        <p:spPr>
          <a:xfrm>
            <a:off x="11221011" y="1732788"/>
            <a:ext cx="0" cy="3638550"/>
          </a:xfrm>
          <a:prstGeom prst="line">
            <a:avLst/>
          </a:prstGeom>
          <a:ln w="9525" cap="flat">
            <a:solidFill>
              <a:srgbClr val="E6E8F2"/>
            </a:solidFill>
          </a:ln>
        </p:spPr>
      </p:cxnSp>
      <p:cxnSp>
        <p:nvCxnSpPr>
          <p:cNvPr id="32" name="Line 32"/>
          <p:cNvCxnSpPr/>
          <p:nvPr/>
        </p:nvCxnSpPr>
        <p:spPr>
          <a:xfrm>
            <a:off x="11391595" y="1732788"/>
            <a:ext cx="0" cy="3638550"/>
          </a:xfrm>
          <a:prstGeom prst="line">
            <a:avLst/>
          </a:prstGeom>
          <a:ln w="9525" cap="flat">
            <a:solidFill>
              <a:srgbClr val="E6E8F2"/>
            </a:solidFill>
          </a:ln>
        </p:spPr>
      </p:cxnSp>
      <p:cxnSp>
        <p:nvCxnSpPr>
          <p:cNvPr id="33" name="Line 33"/>
          <p:cNvCxnSpPr/>
          <p:nvPr/>
        </p:nvCxnSpPr>
        <p:spPr>
          <a:xfrm>
            <a:off x="7638745" y="5371338"/>
            <a:ext cx="3752850" cy="0"/>
          </a:xfrm>
          <a:prstGeom prst="line">
            <a:avLst/>
          </a:prstGeom>
          <a:ln w="9525" cap="flat">
            <a:solidFill>
              <a:srgbClr val="E6E8F2"/>
            </a:solidFill>
          </a:ln>
        </p:spPr>
      </p:cxnSp>
      <p:cxnSp>
        <p:nvCxnSpPr>
          <p:cNvPr id="34" name="Line 34"/>
          <p:cNvCxnSpPr/>
          <p:nvPr/>
        </p:nvCxnSpPr>
        <p:spPr>
          <a:xfrm>
            <a:off x="7638745" y="5205949"/>
            <a:ext cx="3752850" cy="0"/>
          </a:xfrm>
          <a:prstGeom prst="line">
            <a:avLst/>
          </a:prstGeom>
          <a:ln w="9525" cap="flat">
            <a:solidFill>
              <a:srgbClr val="E6E8F2"/>
            </a:solidFill>
          </a:ln>
        </p:spPr>
      </p:cxnSp>
      <p:cxnSp>
        <p:nvCxnSpPr>
          <p:cNvPr id="35" name="Line 35"/>
          <p:cNvCxnSpPr/>
          <p:nvPr/>
        </p:nvCxnSpPr>
        <p:spPr>
          <a:xfrm>
            <a:off x="7638745" y="5040561"/>
            <a:ext cx="3752850" cy="0"/>
          </a:xfrm>
          <a:prstGeom prst="line">
            <a:avLst/>
          </a:prstGeom>
          <a:ln w="9525" cap="flat">
            <a:solidFill>
              <a:srgbClr val="E6E8F2"/>
            </a:solidFill>
          </a:ln>
        </p:spPr>
      </p:cxnSp>
      <p:cxnSp>
        <p:nvCxnSpPr>
          <p:cNvPr id="36" name="Line 36"/>
          <p:cNvCxnSpPr/>
          <p:nvPr/>
        </p:nvCxnSpPr>
        <p:spPr>
          <a:xfrm>
            <a:off x="7638745" y="4875172"/>
            <a:ext cx="3752850" cy="0"/>
          </a:xfrm>
          <a:prstGeom prst="line">
            <a:avLst/>
          </a:prstGeom>
          <a:ln w="9525" cap="flat">
            <a:solidFill>
              <a:srgbClr val="E6E8F2"/>
            </a:solidFill>
          </a:ln>
        </p:spPr>
      </p:cxnSp>
      <p:cxnSp>
        <p:nvCxnSpPr>
          <p:cNvPr id="37" name="Line 37"/>
          <p:cNvCxnSpPr/>
          <p:nvPr/>
        </p:nvCxnSpPr>
        <p:spPr>
          <a:xfrm>
            <a:off x="7638745" y="4709783"/>
            <a:ext cx="3752850" cy="0"/>
          </a:xfrm>
          <a:prstGeom prst="line">
            <a:avLst/>
          </a:prstGeom>
          <a:ln w="9525" cap="flat">
            <a:solidFill>
              <a:srgbClr val="E6E8F2"/>
            </a:solidFill>
          </a:ln>
        </p:spPr>
      </p:cxnSp>
      <p:cxnSp>
        <p:nvCxnSpPr>
          <p:cNvPr id="38" name="Line 38"/>
          <p:cNvCxnSpPr/>
          <p:nvPr/>
        </p:nvCxnSpPr>
        <p:spPr>
          <a:xfrm>
            <a:off x="7638745" y="4544395"/>
            <a:ext cx="3752850" cy="0"/>
          </a:xfrm>
          <a:prstGeom prst="line">
            <a:avLst/>
          </a:prstGeom>
          <a:ln w="9525" cap="flat">
            <a:solidFill>
              <a:srgbClr val="E6E8F2"/>
            </a:solidFill>
          </a:ln>
        </p:spPr>
      </p:cxnSp>
      <p:cxnSp>
        <p:nvCxnSpPr>
          <p:cNvPr id="39" name="Line 39"/>
          <p:cNvCxnSpPr/>
          <p:nvPr/>
        </p:nvCxnSpPr>
        <p:spPr>
          <a:xfrm>
            <a:off x="7638745" y="4379006"/>
            <a:ext cx="3752850" cy="0"/>
          </a:xfrm>
          <a:prstGeom prst="line">
            <a:avLst/>
          </a:prstGeom>
          <a:ln w="9525" cap="flat">
            <a:solidFill>
              <a:srgbClr val="E6E8F2"/>
            </a:solidFill>
          </a:ln>
        </p:spPr>
      </p:cxnSp>
      <p:cxnSp>
        <p:nvCxnSpPr>
          <p:cNvPr id="40" name="Line 40"/>
          <p:cNvCxnSpPr/>
          <p:nvPr/>
        </p:nvCxnSpPr>
        <p:spPr>
          <a:xfrm>
            <a:off x="7638745" y="4213618"/>
            <a:ext cx="3752850" cy="0"/>
          </a:xfrm>
          <a:prstGeom prst="line">
            <a:avLst/>
          </a:prstGeom>
          <a:ln w="9525" cap="flat">
            <a:solidFill>
              <a:srgbClr val="E6E8F2"/>
            </a:solidFill>
          </a:ln>
        </p:spPr>
      </p:cxnSp>
      <p:cxnSp>
        <p:nvCxnSpPr>
          <p:cNvPr id="41" name="Line 41"/>
          <p:cNvCxnSpPr/>
          <p:nvPr/>
        </p:nvCxnSpPr>
        <p:spPr>
          <a:xfrm>
            <a:off x="7638745" y="4048229"/>
            <a:ext cx="3752850" cy="0"/>
          </a:xfrm>
          <a:prstGeom prst="line">
            <a:avLst/>
          </a:prstGeom>
          <a:ln w="9525" cap="flat">
            <a:solidFill>
              <a:srgbClr val="E6E8F2"/>
            </a:solidFill>
          </a:ln>
        </p:spPr>
      </p:cxnSp>
      <p:cxnSp>
        <p:nvCxnSpPr>
          <p:cNvPr id="42" name="Line 42"/>
          <p:cNvCxnSpPr/>
          <p:nvPr/>
        </p:nvCxnSpPr>
        <p:spPr>
          <a:xfrm>
            <a:off x="7638745" y="3882840"/>
            <a:ext cx="3752850" cy="0"/>
          </a:xfrm>
          <a:prstGeom prst="line">
            <a:avLst/>
          </a:prstGeom>
          <a:ln w="9525" cap="flat">
            <a:solidFill>
              <a:srgbClr val="E6E8F2"/>
            </a:solidFill>
          </a:ln>
        </p:spPr>
      </p:cxnSp>
      <p:cxnSp>
        <p:nvCxnSpPr>
          <p:cNvPr id="43" name="Line 43"/>
          <p:cNvCxnSpPr/>
          <p:nvPr/>
        </p:nvCxnSpPr>
        <p:spPr>
          <a:xfrm>
            <a:off x="7638745" y="3717452"/>
            <a:ext cx="3752850" cy="0"/>
          </a:xfrm>
          <a:prstGeom prst="line">
            <a:avLst/>
          </a:prstGeom>
          <a:ln w="9525" cap="flat">
            <a:solidFill>
              <a:srgbClr val="E6E8F2"/>
            </a:solidFill>
          </a:ln>
        </p:spPr>
      </p:cxnSp>
      <p:cxnSp>
        <p:nvCxnSpPr>
          <p:cNvPr id="44" name="Line 44"/>
          <p:cNvCxnSpPr/>
          <p:nvPr/>
        </p:nvCxnSpPr>
        <p:spPr>
          <a:xfrm>
            <a:off x="7638745" y="3552063"/>
            <a:ext cx="3752850" cy="0"/>
          </a:xfrm>
          <a:prstGeom prst="line">
            <a:avLst/>
          </a:prstGeom>
          <a:ln w="9525" cap="flat">
            <a:solidFill>
              <a:srgbClr val="E6E8F2"/>
            </a:solidFill>
          </a:ln>
        </p:spPr>
      </p:cxnSp>
      <p:cxnSp>
        <p:nvCxnSpPr>
          <p:cNvPr id="45" name="Line 45"/>
          <p:cNvCxnSpPr/>
          <p:nvPr/>
        </p:nvCxnSpPr>
        <p:spPr>
          <a:xfrm>
            <a:off x="7638745" y="3386674"/>
            <a:ext cx="3752850" cy="0"/>
          </a:xfrm>
          <a:prstGeom prst="line">
            <a:avLst/>
          </a:prstGeom>
          <a:ln w="9525" cap="flat">
            <a:solidFill>
              <a:srgbClr val="E6E8F2"/>
            </a:solidFill>
          </a:ln>
        </p:spPr>
      </p:cxnSp>
      <p:cxnSp>
        <p:nvCxnSpPr>
          <p:cNvPr id="46" name="Line 46"/>
          <p:cNvCxnSpPr/>
          <p:nvPr/>
        </p:nvCxnSpPr>
        <p:spPr>
          <a:xfrm>
            <a:off x="7638745" y="3221286"/>
            <a:ext cx="3752850" cy="0"/>
          </a:xfrm>
          <a:prstGeom prst="line">
            <a:avLst/>
          </a:prstGeom>
          <a:ln w="9525" cap="flat">
            <a:solidFill>
              <a:srgbClr val="E6E8F2"/>
            </a:solidFill>
          </a:ln>
        </p:spPr>
      </p:cxnSp>
      <p:cxnSp>
        <p:nvCxnSpPr>
          <p:cNvPr id="47" name="Line 47"/>
          <p:cNvCxnSpPr/>
          <p:nvPr/>
        </p:nvCxnSpPr>
        <p:spPr>
          <a:xfrm>
            <a:off x="7638745" y="3055897"/>
            <a:ext cx="3752850" cy="0"/>
          </a:xfrm>
          <a:prstGeom prst="line">
            <a:avLst/>
          </a:prstGeom>
          <a:ln w="9525" cap="flat">
            <a:solidFill>
              <a:srgbClr val="E6E8F2"/>
            </a:solidFill>
          </a:ln>
        </p:spPr>
      </p:cxnSp>
      <p:cxnSp>
        <p:nvCxnSpPr>
          <p:cNvPr id="48" name="Line 48"/>
          <p:cNvCxnSpPr/>
          <p:nvPr/>
        </p:nvCxnSpPr>
        <p:spPr>
          <a:xfrm>
            <a:off x="7638745" y="2890508"/>
            <a:ext cx="3752850" cy="0"/>
          </a:xfrm>
          <a:prstGeom prst="line">
            <a:avLst/>
          </a:prstGeom>
          <a:ln w="9525" cap="flat">
            <a:solidFill>
              <a:srgbClr val="E6E8F2"/>
            </a:solidFill>
          </a:ln>
        </p:spPr>
      </p:cxnSp>
      <p:cxnSp>
        <p:nvCxnSpPr>
          <p:cNvPr id="49" name="Line 49"/>
          <p:cNvCxnSpPr/>
          <p:nvPr/>
        </p:nvCxnSpPr>
        <p:spPr>
          <a:xfrm>
            <a:off x="7638745" y="2725120"/>
            <a:ext cx="3752850" cy="0"/>
          </a:xfrm>
          <a:prstGeom prst="line">
            <a:avLst/>
          </a:prstGeom>
          <a:ln w="9525" cap="flat">
            <a:solidFill>
              <a:srgbClr val="E6E8F2"/>
            </a:solidFill>
          </a:ln>
        </p:spPr>
      </p:cxnSp>
      <p:cxnSp>
        <p:nvCxnSpPr>
          <p:cNvPr id="50" name="Line 50"/>
          <p:cNvCxnSpPr/>
          <p:nvPr/>
        </p:nvCxnSpPr>
        <p:spPr>
          <a:xfrm>
            <a:off x="7638745" y="2559731"/>
            <a:ext cx="3752850" cy="0"/>
          </a:xfrm>
          <a:prstGeom prst="line">
            <a:avLst/>
          </a:prstGeom>
          <a:ln w="9525" cap="flat">
            <a:solidFill>
              <a:srgbClr val="E6E8F2"/>
            </a:solidFill>
          </a:ln>
        </p:spPr>
      </p:cxnSp>
      <p:cxnSp>
        <p:nvCxnSpPr>
          <p:cNvPr id="51" name="Line 51"/>
          <p:cNvCxnSpPr/>
          <p:nvPr/>
        </p:nvCxnSpPr>
        <p:spPr>
          <a:xfrm>
            <a:off x="7638745" y="2394343"/>
            <a:ext cx="3752850" cy="0"/>
          </a:xfrm>
          <a:prstGeom prst="line">
            <a:avLst/>
          </a:prstGeom>
          <a:ln w="9525" cap="flat">
            <a:solidFill>
              <a:srgbClr val="E6E8F2"/>
            </a:solidFill>
          </a:ln>
        </p:spPr>
      </p:cxnSp>
      <p:cxnSp>
        <p:nvCxnSpPr>
          <p:cNvPr id="52" name="Line 52"/>
          <p:cNvCxnSpPr/>
          <p:nvPr/>
        </p:nvCxnSpPr>
        <p:spPr>
          <a:xfrm>
            <a:off x="7638745" y="2228954"/>
            <a:ext cx="3752850" cy="0"/>
          </a:xfrm>
          <a:prstGeom prst="line">
            <a:avLst/>
          </a:prstGeom>
          <a:ln w="9525" cap="flat">
            <a:solidFill>
              <a:srgbClr val="E6E8F2"/>
            </a:solidFill>
          </a:ln>
        </p:spPr>
      </p:cxnSp>
      <p:cxnSp>
        <p:nvCxnSpPr>
          <p:cNvPr id="53" name="Line 53"/>
          <p:cNvCxnSpPr/>
          <p:nvPr/>
        </p:nvCxnSpPr>
        <p:spPr>
          <a:xfrm>
            <a:off x="7638745" y="2063565"/>
            <a:ext cx="3752850" cy="0"/>
          </a:xfrm>
          <a:prstGeom prst="line">
            <a:avLst/>
          </a:prstGeom>
          <a:ln w="9525" cap="flat">
            <a:solidFill>
              <a:srgbClr val="E6E8F2"/>
            </a:solidFill>
          </a:ln>
        </p:spPr>
      </p:cxnSp>
      <p:cxnSp>
        <p:nvCxnSpPr>
          <p:cNvPr id="54" name="Line 54"/>
          <p:cNvCxnSpPr/>
          <p:nvPr/>
        </p:nvCxnSpPr>
        <p:spPr>
          <a:xfrm>
            <a:off x="7638745" y="1898177"/>
            <a:ext cx="3752850" cy="0"/>
          </a:xfrm>
          <a:prstGeom prst="line">
            <a:avLst/>
          </a:prstGeom>
          <a:ln w="9525" cap="flat">
            <a:solidFill>
              <a:srgbClr val="E6E8F2"/>
            </a:solidFill>
          </a:ln>
        </p:spPr>
      </p:cxnSp>
      <p:cxnSp>
        <p:nvCxnSpPr>
          <p:cNvPr id="55" name="Line 55"/>
          <p:cNvCxnSpPr/>
          <p:nvPr/>
        </p:nvCxnSpPr>
        <p:spPr>
          <a:xfrm>
            <a:off x="7638745" y="1732788"/>
            <a:ext cx="3752850" cy="0"/>
          </a:xfrm>
          <a:prstGeom prst="line">
            <a:avLst/>
          </a:prstGeom>
          <a:ln w="9525" cap="flat">
            <a:solidFill>
              <a:srgbClr val="E6E8F2"/>
            </a:solidFill>
          </a:ln>
        </p:spPr>
      </p:cxnSp>
      <p:cxnSp>
        <p:nvCxnSpPr>
          <p:cNvPr id="56" name="Line 56"/>
          <p:cNvCxnSpPr/>
          <p:nvPr/>
        </p:nvCxnSpPr>
        <p:spPr>
          <a:xfrm>
            <a:off x="8662250" y="1732788"/>
            <a:ext cx="0" cy="3638550"/>
          </a:xfrm>
          <a:prstGeom prst="line">
            <a:avLst/>
          </a:prstGeom>
          <a:ln w="19050" cap="flat">
            <a:solidFill>
              <a:srgbClr val="5F6272"/>
            </a:solidFill>
          </a:ln>
        </p:spPr>
      </p:cxnSp>
      <p:cxnSp>
        <p:nvCxnSpPr>
          <p:cNvPr id="57" name="Line 57"/>
          <p:cNvCxnSpPr/>
          <p:nvPr/>
        </p:nvCxnSpPr>
        <p:spPr>
          <a:xfrm>
            <a:off x="7638745" y="3552063"/>
            <a:ext cx="3752850" cy="0"/>
          </a:xfrm>
          <a:prstGeom prst="line">
            <a:avLst/>
          </a:prstGeom>
          <a:ln w="19050" cap="flat">
            <a:solidFill>
              <a:srgbClr val="5F6272"/>
            </a:solidFill>
          </a:ln>
        </p:spPr>
      </p:cxnSp>
      <p:sp>
        <p:nvSpPr>
          <p:cNvPr id="58" name="Shape 58"/>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0" name="Shape 60"/>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2" name="Shape 62"/>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3" name="Shape 63"/>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4" name="Shape 64"/>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5" name="Shape 65"/>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6" name="Shape 66"/>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cxnSp>
        <p:nvCxnSpPr>
          <p:cNvPr id="68" name="Line 68"/>
          <p:cNvCxnSpPr/>
          <p:nvPr/>
        </p:nvCxnSpPr>
        <p:spPr>
          <a:xfrm>
            <a:off x="7638745" y="1898177"/>
            <a:ext cx="3752850" cy="0"/>
          </a:xfrm>
          <a:prstGeom prst="line">
            <a:avLst/>
          </a:prstGeom>
          <a:ln w="38100" cap="rnd">
            <a:solidFill>
              <a:srgbClr val="16171D"/>
            </a:solidFill>
            <a:prstDash val="dash"/>
          </a:ln>
        </p:spPr>
      </p:cxnSp>
      <p:sp>
        <p:nvSpPr>
          <p:cNvPr id="69" name="Shape 69"/>
          <p:cNvSpPr txBox="1"/>
          <p:nvPr/>
        </p:nvSpPr>
        <p:spPr>
          <a:xfrm>
            <a:off x="8899855" y="1917227"/>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100</a:t>
            </a:r>
            <a:endParaRPr lang="en-US" sz="1275" dirty="0"/>
          </a:p>
        </p:txBody>
      </p:sp>
      <p:cxnSp>
        <p:nvCxnSpPr>
          <p:cNvPr id="70" name="Line 70"/>
          <p:cNvCxnSpPr/>
          <p:nvPr/>
        </p:nvCxnSpPr>
        <p:spPr>
          <a:xfrm flipV="1">
            <a:off x="7638745" y="1732788"/>
            <a:ext cx="2274455" cy="3307773"/>
          </a:xfrm>
          <a:prstGeom prst="line">
            <a:avLst/>
          </a:prstGeom>
          <a:ln w="38100" cap="rnd">
            <a:solidFill>
              <a:srgbClr val="16171D"/>
            </a:solidFill>
          </a:ln>
        </p:spPr>
      </p:cxnSp>
      <p:sp>
        <p:nvSpPr>
          <p:cNvPr id="71" name="Shape 71"/>
          <p:cNvSpPr txBox="1"/>
          <p:nvPr/>
        </p:nvSpPr>
        <p:spPr>
          <a:xfrm>
            <a:off x="742146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15x</a:t>
            </a:r>
            <a:endParaRPr lang="en-US" sz="1275" dirty="0"/>
          </a:p>
        </p:txBody>
      </p:sp>
      <p:sp>
        <p:nvSpPr>
          <p:cNvPr id="72" name="Shape 72"/>
          <p:cNvSpPr/>
          <p:nvPr/>
        </p:nvSpPr>
        <p:spPr>
          <a:xfrm>
            <a:off x="9747658"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9885771"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(6.67, 100)</a:t>
            </a:r>
            <a:endParaRPr lang="en-US" sz="1125" dirty="0"/>
          </a:p>
        </p:txBody>
      </p:sp>
      <p:sp>
        <p:nvSpPr>
          <p:cNvPr id="74" name="Slide Number 7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Interpreting Changes to the Graph · SE p. 246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 gives away 3 T-shirts in a raffle</a:t>
            </a:r>
            <a:endParaRPr lang="en-US" sz="3450" dirty="0"/>
          </a:p>
        </p:txBody>
      </p:sp>
      <p:sp>
        <p:nvSpPr>
          <p:cNvPr id="4" name="Shape 4"/>
          <p:cNvSpPr txBox="1"/>
          <p:nvPr/>
        </p:nvSpPr>
        <p:spPr>
          <a:xfrm>
            <a:off x="685800" y="161848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The new relationship is </a:t>
            </a:r>
            <a:r>
              <a:rPr lang="en-US" sz="1575" dirty="0" b="1" i="1">
                <a:solidFill>
                  <a:srgbClr val="7A4FC4"/>
                </a:solidFill>
                <a:latin typeface="Cambria"/>
                <a:cs typeface="Cambria"/>
              </a:rPr>
              <a:t xml:space="preserve">G</a:t>
            </a:r>
            <a:r>
              <a:rPr lang="en-US" sz="1575" dirty="0" b="1">
                <a:solidFill>
                  <a:srgbClr val="7A4FC4"/>
                </a:solidFill>
                <a:latin typeface="Cambria"/>
                <a:cs typeface="Cambria"/>
              </a:rPr>
              <a:t xml:space="preserve">(</a:t>
            </a:r>
            <a:r>
              <a:rPr lang="en-US" sz="1575" dirty="0" b="1" i="1">
                <a:solidFill>
                  <a:srgbClr val="7A4FC4"/>
                </a:solidFill>
                <a:latin typeface="Cambria"/>
                <a:cs typeface="Cambria"/>
              </a:rPr>
              <a:t xml:space="preserve">t</a:t>
            </a:r>
            <a:r>
              <a:rPr lang="en-US" sz="1575" dirty="0" b="1">
                <a:solidFill>
                  <a:srgbClr val="7A4FC4"/>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198958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36067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lines are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7317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Interpret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102864"/>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with 0 shirts sold, earnings are −$45. That doesn't make sense in this situation.</a:t>
            </a:r>
            <a:endParaRPr lang="en-US" sz="1575" dirty="0"/>
          </a:p>
        </p:txBody>
      </p:sp>
      <p:sp>
        <p:nvSpPr>
          <p:cNvPr id="9" name="Shape 9"/>
          <p:cNvSpPr txBox="1"/>
          <p:nvPr/>
        </p:nvSpPr>
        <p:spPr>
          <a:xfrm>
            <a:off x="685800" y="371398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Interpret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85800" y="408508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Cambria"/>
                <a:cs typeface="Cambria"/>
              </a:rPr>
              <a:t xml:space="preserve">(3, 0)</a:t>
            </a:r>
            <a:r>
              <a:rPr lang="en-US" sz="1575" dirty="0">
                <a:solidFill>
                  <a:srgbClr val="16171D"/>
                </a:solidFill>
                <a:latin typeface="Segoe UI"/>
                <a:cs typeface="Segoe UI"/>
              </a:rPr>
              <a:t xml:space="preserve">: after the 3 free shirts, she has $0 to return.</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sp>
        <p:nvSpPr>
          <p:cNvPr id="72" name="Shape 72"/>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(3, 0)</a:t>
            </a:r>
            <a:endParaRPr lang="en-US" sz="1125" dirty="0"/>
          </a:p>
        </p:txBody>
      </p:sp>
      <p:cxnSp>
        <p:nvCxnSpPr>
          <p:cNvPr id="74" name="Line 74"/>
          <p:cNvCxnSpPr/>
          <p:nvPr/>
        </p:nvCxnSpPr>
        <p:spPr>
          <a:xfrm flipV="1">
            <a:off x="7638745" y="1732788"/>
            <a:ext cx="2274455" cy="3307773"/>
          </a:xfrm>
          <a:prstGeom prst="line">
            <a:avLst/>
          </a:prstGeom>
          <a:ln w="38100" cap="rnd">
            <a:solidFill>
              <a:srgbClr val="16171D"/>
            </a:solidFill>
          </a:ln>
        </p:spPr>
      </p:cxnSp>
      <p:sp>
        <p:nvSpPr>
          <p:cNvPr id="75" name="Shape 75"/>
          <p:cNvSpPr txBox="1"/>
          <p:nvPr/>
        </p:nvSpPr>
        <p:spPr>
          <a:xfrm>
            <a:off x="742146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E(t) = 15t</a:t>
            </a:r>
            <a:endParaRPr lang="en-US" sz="127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sp>
        <p:nvSpPr>
          <p:cNvPr id="78" name="Slide Number 7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500"/>
                                        <p:tgtEl>
                                          <p:spTgt spid="70"/>
                                        </p:tgtEl>
                                      </p:cBhvr>
                                    </p:animEffect>
                                    <p:anim calcmode="lin" valueType="num">
                                      <p:cBhvr>
                                        <p:cTn id="26" dur="500" fill="hold"/>
                                        <p:tgtEl>
                                          <p:spTgt spid="70"/>
                                        </p:tgtEl>
                                        <p:attrNameLst>
                                          <p:attrName>ppt_w</p:attrName>
                                        </p:attrNameLst>
                                      </p:cBhvr>
                                      <p:tavLst>
                                        <p:tav tm="0">
                                          <p:val>
                                            <p:fltVal val="0"/>
                                          </p:val>
                                        </p:tav>
                                        <p:tav tm="100000">
                                          <p:val>
                                            <p:strVal val="#ppt_w"/>
                                          </p:val>
                                        </p:tav>
                                      </p:tavLst>
                                    </p:anim>
                                    <p:anim calcmode="lin" valueType="num">
                                      <p:cBhvr>
                                        <p:cTn id="27" dur="500" fill="hold"/>
                                        <p:tgtEl>
                                          <p:spTgt spid="70"/>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1"/>
                                        </p:tgtEl>
                                        <p:attrNameLst>
                                          <p:attrName>style.visibility</p:attrName>
                                        </p:attrNameLst>
                                      </p:cBhvr>
                                      <p:to>
                                        <p:strVal val="visible"/>
                                      </p:to>
                                    </p:set>
                                    <p:animEffect transition="in" filter="fade">
                                      <p:cBhvr>
                                        <p:cTn id="30" dur="500"/>
                                        <p:tgtEl>
                                          <p:spTgt spid="71"/>
                                        </p:tgtEl>
                                      </p:cBhvr>
                                    </p:animEffect>
                                    <p:anim calcmode="lin" valueType="num">
                                      <p:cBhvr>
                                        <p:cTn id="31" dur="500" fill="hold"/>
                                        <p:tgtEl>
                                          <p:spTgt spid="71"/>
                                        </p:tgtEl>
                                        <p:attrNameLst>
                                          <p:attrName>ppt_w</p:attrName>
                                        </p:attrNameLst>
                                      </p:cBhvr>
                                      <p:tavLst>
                                        <p:tav tm="0">
                                          <p:val>
                                            <p:fltVal val="0"/>
                                          </p:val>
                                        </p:tav>
                                        <p:tav tm="100000">
                                          <p:val>
                                            <p:strVal val="#ppt_w"/>
                                          </p:val>
                                        </p:tav>
                                      </p:tavLst>
                                    </p:anim>
                                    <p:anim calcmode="lin" valueType="num">
                                      <p:cBhvr>
                                        <p:cTn id="32"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500"/>
                                        <p:tgtEl>
                                          <p:spTgt spid="72"/>
                                        </p:tgtEl>
                                      </p:cBhvr>
                                    </p:animEffect>
                                    <p:anim calcmode="lin" valueType="num">
                                      <p:cBhvr>
                                        <p:cTn id="38" dur="500" fill="hold"/>
                                        <p:tgtEl>
                                          <p:spTgt spid="72"/>
                                        </p:tgtEl>
                                        <p:attrNameLst>
                                          <p:attrName>ppt_w</p:attrName>
                                        </p:attrNameLst>
                                      </p:cBhvr>
                                      <p:tavLst>
                                        <p:tav tm="0">
                                          <p:val>
                                            <p:fltVal val="0"/>
                                          </p:val>
                                        </p:tav>
                                        <p:tav tm="100000">
                                          <p:val>
                                            <p:strVal val="#ppt_w"/>
                                          </p:val>
                                        </p:tav>
                                      </p:tavLst>
                                    </p:anim>
                                    <p:anim calcmode="lin" valueType="num">
                                      <p:cBhvr>
                                        <p:cTn id="39" dur="500" fill="hold"/>
                                        <p:tgtEl>
                                          <p:spTgt spid="72"/>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fade">
                                      <p:cBhvr>
                                        <p:cTn id="42" dur="500"/>
                                        <p:tgtEl>
                                          <p:spTgt spid="73"/>
                                        </p:tgtEl>
                                      </p:cBhvr>
                                    </p:animEffect>
                                    <p:anim calcmode="lin" valueType="num">
                                      <p:cBhvr>
                                        <p:cTn id="43" dur="500" fill="hold"/>
                                        <p:tgtEl>
                                          <p:spTgt spid="73"/>
                                        </p:tgtEl>
                                        <p:attrNameLst>
                                          <p:attrName>ppt_w</p:attrName>
                                        </p:attrNameLst>
                                      </p:cBhvr>
                                      <p:tavLst>
                                        <p:tav tm="0">
                                          <p:val>
                                            <p:fltVal val="0"/>
                                          </p:val>
                                        </p:tav>
                                        <p:tav tm="100000">
                                          <p:val>
                                            <p:strVal val="#ppt_w"/>
                                          </p:val>
                                        </p:tav>
                                      </p:tavLst>
                                    </p:anim>
                                    <p:anim calcmode="lin" valueType="num">
                                      <p:cBhvr>
                                        <p:cTn id="44" dur="500" fill="hold"/>
                                        <p:tgtEl>
                                          <p:spTgt spid="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Questions 2–3 · SE p. 247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Two equations for </a:t>
            </a:r>
            <a:r>
              <a:rPr lang="en-US" sz="3450" dirty="0" b="1" i="1">
                <a:solidFill>
                  <a:srgbClr val="7A4FC4"/>
                </a:solidFill>
                <a:latin typeface="Cambria"/>
                <a:cs typeface="Cambria"/>
              </a:rPr>
              <a:t xml:space="preserve">G</a:t>
            </a:r>
            <a:r>
              <a:rPr lang="en-US" sz="3450" dirty="0" b="1">
                <a:solidFill>
                  <a:srgbClr val="7A4FC4"/>
                </a:solidFill>
                <a:latin typeface="Cambria"/>
                <a:cs typeface="Cambria"/>
              </a:rPr>
              <a:t xml:space="preserve">(</a:t>
            </a:r>
            <a:r>
              <a:rPr lang="en-US" sz="3450" dirty="0" b="1" i="1">
                <a:solidFill>
                  <a:srgbClr val="7A4FC4"/>
                </a:solidFill>
                <a:latin typeface="Cambria"/>
                <a:cs typeface="Cambria"/>
              </a:rPr>
              <a:t xml:space="preserve">t</a:t>
            </a:r>
            <a:r>
              <a:rPr lang="en-US" sz="3450" dirty="0" b="1">
                <a:solidFill>
                  <a:srgbClr val="7A4FC4"/>
                </a:solidFill>
                <a:latin typeface="Cambria"/>
                <a:cs typeface="Cambria"/>
              </a:rPr>
              <a:t xml:space="preserve">)</a:t>
            </a:r>
            <a:endParaRPr lang="en-US" sz="3450" dirty="0"/>
          </a:p>
        </p:txBody>
      </p:sp>
      <p:sp>
        <p:nvSpPr>
          <p:cNvPr id="7" name="Shape 7"/>
          <p:cNvSpPr txBox="1"/>
          <p:nvPr/>
        </p:nvSpPr>
        <p:spPr>
          <a:xfrm>
            <a:off x="685800" y="1618488"/>
            <a:ext cx="52766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57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Brianna</a:t>
            </a:r>
            <a:endParaRPr lang="en-US" sz="2100" dirty="0"/>
          </a:p>
        </p:txBody>
      </p:sp>
      <p:sp>
        <p:nvSpPr>
          <p:cNvPr id="5" name="Shape 5"/>
          <p:cNvSpPr txBox="1"/>
          <p:nvPr/>
        </p:nvSpPr>
        <p:spPr>
          <a:xfrm>
            <a:off x="895350" y="2260092"/>
            <a:ext cx="4857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Gracie gives away 3 T-shirts, so she has 3 fewer shirts to sell.</a:t>
            </a:r>
            <a:endParaRPr lang="en-US" sz="1575" dirty="0"/>
          </a:p>
        </p:txBody>
      </p:sp>
      <p:sp>
        <p:nvSpPr>
          <p:cNvPr id="6" name="Shape 6"/>
          <p:cNvSpPr txBox="1"/>
          <p:nvPr/>
        </p:nvSpPr>
        <p:spPr>
          <a:xfrm>
            <a:off x="895350" y="2890266"/>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a:t>
            </a:r>
            <a:endParaRPr lang="en-US" sz="2325" dirty="0"/>
          </a:p>
        </p:txBody>
      </p:sp>
      <p:sp>
        <p:nvSpPr>
          <p:cNvPr id="11" name="Shape 11"/>
          <p:cNvSpPr txBox="1"/>
          <p:nvPr/>
        </p:nvSpPr>
        <p:spPr>
          <a:xfrm>
            <a:off x="6229198" y="1618488"/>
            <a:ext cx="52766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38748" y="1789938"/>
            <a:ext cx="4857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Hailey</a:t>
            </a:r>
            <a:endParaRPr lang="en-US" sz="2100" dirty="0"/>
          </a:p>
        </p:txBody>
      </p:sp>
      <p:sp>
        <p:nvSpPr>
          <p:cNvPr id="9" name="Shape 9"/>
          <p:cNvSpPr txBox="1"/>
          <p:nvPr/>
        </p:nvSpPr>
        <p:spPr>
          <a:xfrm>
            <a:off x="6438748" y="2260092"/>
            <a:ext cx="4857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cost of giving away three shirts is $45.</a:t>
            </a:r>
            <a:endParaRPr lang="en-US" sz="1575" dirty="0"/>
          </a:p>
        </p:txBody>
      </p:sp>
      <p:sp>
        <p:nvSpPr>
          <p:cNvPr id="10" name="Shape 10"/>
          <p:cNvSpPr txBox="1"/>
          <p:nvPr/>
        </p:nvSpPr>
        <p:spPr>
          <a:xfrm>
            <a:off x="6438748" y="2650236"/>
            <a:ext cx="4857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− 45</a:t>
            </a:r>
            <a:endParaRPr lang="en-US" sz="2325" dirty="0"/>
          </a:p>
        </p:txBody>
      </p:sp>
      <p:sp>
        <p:nvSpPr>
          <p:cNvPr id="12" name="Shape 12"/>
          <p:cNvSpPr txBox="1"/>
          <p:nvPr/>
        </p:nvSpPr>
        <p:spPr>
          <a:xfrm>
            <a:off x="685800" y="364236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Verify they are equivalent.</a:t>
            </a:r>
            <a:endParaRPr lang="en-US" sz="1575" dirty="0"/>
          </a:p>
        </p:txBody>
      </p:sp>
      <p:sp>
        <p:nvSpPr>
          <p:cNvPr id="13" name="Shape 13"/>
          <p:cNvSpPr txBox="1"/>
          <p:nvPr/>
        </p:nvSpPr>
        <p:spPr>
          <a:xfrm>
            <a:off x="6286348" y="364236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Distribute: </a:t>
            </a: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a:t>
            </a:r>
            <a:endParaRPr lang="en-US" sz="1575" dirty="0"/>
          </a:p>
        </p:txBody>
      </p:sp>
      <p:sp>
        <p:nvSpPr>
          <p:cNvPr id="14" name="Shape 14"/>
          <p:cNvSpPr txBox="1"/>
          <p:nvPr/>
        </p:nvSpPr>
        <p:spPr>
          <a:xfrm>
            <a:off x="685800" y="41087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How many shirts to earn $100?</a:t>
            </a:r>
            <a:endParaRPr lang="en-US" sz="1575" dirty="0"/>
          </a:p>
        </p:txBody>
      </p:sp>
      <p:sp>
        <p:nvSpPr>
          <p:cNvPr id="15" name="Shape 15"/>
          <p:cNvSpPr txBox="1"/>
          <p:nvPr/>
        </p:nvSpPr>
        <p:spPr>
          <a:xfrm>
            <a:off x="685800" y="4575048"/>
            <a:ext cx="521954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100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− 45 → 145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9.67</a:t>
            </a:r>
            <a:endParaRPr lang="en-US" sz="2325" dirty="0"/>
          </a:p>
        </p:txBody>
      </p:sp>
      <p:sp>
        <p:nvSpPr>
          <p:cNvPr id="16" name="Shape 16"/>
          <p:cNvSpPr txBox="1"/>
          <p:nvPr/>
        </p:nvSpPr>
        <p:spPr>
          <a:xfrm>
            <a:off x="6286348" y="457504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T-shirts</a:t>
            </a:r>
            <a:endParaRPr lang="en-US" sz="2325" dirty="0"/>
          </a:p>
        </p:txBody>
      </p:sp>
      <p:sp>
        <p:nvSpPr>
          <p:cNvPr id="17" name="Slide Number 1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ppt_x</p:attrName>
                                        </p:attrNameLst>
                                      </p:cBhvr>
                                      <p:tavLst>
                                        <p:tav tm="0">
                                          <p:val>
                                            <p:strVal val="#ppt_x"/>
                                          </p:val>
                                        </p:tav>
                                        <p:tav tm="100000">
                                          <p:val>
                                            <p:strVal val="#ppt_x"/>
                                          </p:val>
                                        </p:tav>
                                      </p:tavLst>
                                    </p:anim>
                                    <p:anim calcmode="lin" valueType="num">
                                      <p:cBhvr>
                                        <p:cTn id="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anim calcmode="lin" valueType="num">
                                      <p:cBhvr>
                                        <p:cTn id="12" dur="500" fill="hold"/>
                                        <p:tgtEl>
                                          <p:spTgt spid="15"/>
                                        </p:tgtEl>
                                        <p:attrNameLst>
                                          <p:attrName>ppt_x</p:attrName>
                                        </p:attrNameLst>
                                      </p:cBhvr>
                                      <p:tavLst>
                                        <p:tav tm="0">
                                          <p:val>
                                            <p:strVal val="#ppt_x"/>
                                          </p:val>
                                        </p:tav>
                                        <p:tav tm="100000">
                                          <p:val>
                                            <p:strVal val="#ppt_x"/>
                                          </p:val>
                                        </p:tav>
                                      </p:tavLst>
                                    </p:anim>
                                    <p:anim calcmode="lin" valueType="num">
                                      <p:cBhvr>
                                        <p:cTn id="1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 4 · SE p. 247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each part mean?</a:t>
            </a:r>
            <a:endParaRPr lang="en-US" sz="3450" dirty="0"/>
          </a:p>
        </p:txBody>
      </p:sp>
      <p:sp>
        <p:nvSpPr>
          <p:cNvPr id="4" name="Shape 4"/>
          <p:cNvSpPr txBox="1"/>
          <p:nvPr/>
        </p:nvSpPr>
        <p:spPr>
          <a:xfrm>
            <a:off x="685800" y="1618488"/>
            <a:ext cx="2164019"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Expression (unit)</a:t>
            </a:r>
            <a:endParaRPr lang="en-US" sz="1950" dirty="0"/>
          </a:p>
        </p:txBody>
      </p:sp>
      <p:sp>
        <p:nvSpPr>
          <p:cNvPr id="5" name="Shape 5"/>
          <p:cNvSpPr txBox="1"/>
          <p:nvPr/>
        </p:nvSpPr>
        <p:spPr>
          <a:xfrm>
            <a:off x="2849819" y="1618488"/>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Contextual meaning</a:t>
            </a:r>
            <a:endParaRPr lang="en-US" sz="1950" dirty="0"/>
          </a:p>
        </p:txBody>
      </p:sp>
      <p:sp>
        <p:nvSpPr>
          <p:cNvPr id="6" name="Shape 6"/>
          <p:cNvSpPr txBox="1"/>
          <p:nvPr/>
        </p:nvSpPr>
        <p:spPr>
          <a:xfrm>
            <a:off x="7177857" y="1618488"/>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Mathematical meaning</a:t>
            </a:r>
            <a:endParaRPr lang="en-US" sz="1950" dirty="0"/>
          </a:p>
        </p:txBody>
      </p:sp>
      <p:cxnSp>
        <p:nvCxnSpPr>
          <p:cNvPr id="7" name="Line 7"/>
          <p:cNvCxnSpPr/>
          <p:nvPr/>
        </p:nvCxnSpPr>
        <p:spPr>
          <a:xfrm>
            <a:off x="685800" y="2414016"/>
            <a:ext cx="10820095" cy="0"/>
          </a:xfrm>
          <a:prstGeom prst="line">
            <a:avLst/>
          </a:prstGeom>
          <a:ln w="9525" cap="flat">
            <a:solidFill>
              <a:srgbClr val="E3E4EC"/>
            </a:solidFill>
          </a:ln>
        </p:spPr>
      </p:cxnSp>
      <p:sp>
        <p:nvSpPr>
          <p:cNvPr id="8" name="Shape 8"/>
          <p:cNvSpPr txBox="1"/>
          <p:nvPr/>
        </p:nvSpPr>
        <p:spPr>
          <a:xfrm>
            <a:off x="685800" y="241401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t</a:t>
            </a:r>
            <a:r>
              <a:rPr lang="en-US" sz="1800" dirty="0">
                <a:solidFill>
                  <a:srgbClr val="16171D"/>
                </a:solidFill>
                <a:latin typeface="Segoe UI"/>
                <a:cs typeface="Segoe UI"/>
              </a:rPr>
              <a:t xml:space="preserve"> (T-shirts)</a:t>
            </a:r>
            <a:endParaRPr lang="en-US" sz="1800" dirty="0"/>
          </a:p>
        </p:txBody>
      </p:sp>
      <p:sp>
        <p:nvSpPr>
          <p:cNvPr id="9" name="Shape 9"/>
          <p:cNvSpPr txBox="1"/>
          <p:nvPr/>
        </p:nvSpPr>
        <p:spPr>
          <a:xfrm>
            <a:off x="2849819" y="241401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Number of T-shirts sold</a:t>
            </a:r>
            <a:endParaRPr lang="en-US" sz="1800" dirty="0"/>
          </a:p>
        </p:txBody>
      </p:sp>
      <p:sp>
        <p:nvSpPr>
          <p:cNvPr id="10" name="Shape 10"/>
          <p:cNvSpPr txBox="1"/>
          <p:nvPr/>
        </p:nvSpPr>
        <p:spPr>
          <a:xfrm>
            <a:off x="7177857" y="241401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Input</a:t>
            </a:r>
            <a:endParaRPr lang="en-US" sz="1800" dirty="0"/>
          </a:p>
        </p:txBody>
      </p:sp>
      <p:cxnSp>
        <p:nvCxnSpPr>
          <p:cNvPr id="11" name="Line 11"/>
          <p:cNvCxnSpPr/>
          <p:nvPr/>
        </p:nvCxnSpPr>
        <p:spPr>
          <a:xfrm>
            <a:off x="685800" y="2889504"/>
            <a:ext cx="10820095" cy="0"/>
          </a:xfrm>
          <a:prstGeom prst="line">
            <a:avLst/>
          </a:prstGeom>
          <a:ln w="9525" cap="flat">
            <a:solidFill>
              <a:srgbClr val="E3E4EC"/>
            </a:solidFill>
          </a:ln>
        </p:spPr>
      </p:cxnSp>
      <p:sp>
        <p:nvSpPr>
          <p:cNvPr id="12" name="Shape 12"/>
          <p:cNvSpPr txBox="1"/>
          <p:nvPr/>
        </p:nvSpPr>
        <p:spPr>
          <a:xfrm>
            <a:off x="685800" y="2889504"/>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G</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t</a:t>
            </a:r>
            <a:r>
              <a:rPr lang="en-US" sz="1800" dirty="0">
                <a:solidFill>
                  <a:srgbClr val="16171D"/>
                </a:solidFill>
                <a:latin typeface="Cambria"/>
                <a:cs typeface="Cambria"/>
              </a:rPr>
              <a:t xml:space="preserve">)</a:t>
            </a:r>
            <a:r>
              <a:rPr lang="en-US" sz="1800" dirty="0">
                <a:solidFill>
                  <a:srgbClr val="16171D"/>
                </a:solidFill>
                <a:latin typeface="Segoe UI"/>
                <a:cs typeface="Segoe UI"/>
              </a:rPr>
              <a:t xml:space="preserve"> (dollars)</a:t>
            </a:r>
            <a:endParaRPr lang="en-US" sz="1800" dirty="0"/>
          </a:p>
        </p:txBody>
      </p:sp>
      <p:sp>
        <p:nvSpPr>
          <p:cNvPr id="13" name="Shape 13"/>
          <p:cNvSpPr txBox="1"/>
          <p:nvPr/>
        </p:nvSpPr>
        <p:spPr>
          <a:xfrm>
            <a:off x="2849819" y="2889504"/>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Potential earnings for selling </a:t>
            </a:r>
            <a:r>
              <a:rPr lang="en-US" sz="1800" dirty="0" i="1">
                <a:solidFill>
                  <a:srgbClr val="16171D"/>
                </a:solidFill>
                <a:latin typeface="Segoe UI"/>
                <a:cs typeface="Segoe UI"/>
              </a:rPr>
              <a:t xml:space="preserve">t</a:t>
            </a:r>
            <a:r>
              <a:rPr lang="en-US" sz="1800" dirty="0">
                <a:solidFill>
                  <a:srgbClr val="16171D"/>
                </a:solidFill>
                <a:latin typeface="Segoe UI"/>
                <a:cs typeface="Segoe UI"/>
              </a:rPr>
              <a:t xml:space="preserve"> T-shirts</a:t>
            </a:r>
            <a:endParaRPr lang="en-US" sz="1800" dirty="0"/>
          </a:p>
        </p:txBody>
      </p:sp>
      <p:sp>
        <p:nvSpPr>
          <p:cNvPr id="14" name="Shape 14"/>
          <p:cNvSpPr txBox="1"/>
          <p:nvPr/>
        </p:nvSpPr>
        <p:spPr>
          <a:xfrm>
            <a:off x="7177857" y="2889504"/>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Output</a:t>
            </a:r>
            <a:endParaRPr lang="en-US" sz="1800" dirty="0"/>
          </a:p>
        </p:txBody>
      </p:sp>
      <p:cxnSp>
        <p:nvCxnSpPr>
          <p:cNvPr id="15" name="Line 15"/>
          <p:cNvCxnSpPr/>
          <p:nvPr/>
        </p:nvCxnSpPr>
        <p:spPr>
          <a:xfrm>
            <a:off x="685800" y="3639312"/>
            <a:ext cx="10820095" cy="0"/>
          </a:xfrm>
          <a:prstGeom prst="line">
            <a:avLst/>
          </a:prstGeom>
          <a:ln w="9525" cap="flat">
            <a:solidFill>
              <a:srgbClr val="E3E4EC"/>
            </a:solidFill>
          </a:ln>
        </p:spPr>
      </p:cxnSp>
      <p:sp>
        <p:nvSpPr>
          <p:cNvPr id="16" name="Shape 16"/>
          <p:cNvSpPr txBox="1"/>
          <p:nvPr/>
        </p:nvSpPr>
        <p:spPr>
          <a:xfrm>
            <a:off x="685800" y="3639312"/>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Cambria"/>
                <a:cs typeface="Cambria"/>
              </a:rPr>
              <a:t xml:space="preserve">15</a:t>
            </a:r>
            <a:r>
              <a:rPr lang="en-US" sz="1800" dirty="0">
                <a:solidFill>
                  <a:srgbClr val="16171D"/>
                </a:solidFill>
                <a:latin typeface="Segoe UI"/>
                <a:cs typeface="Segoe UI"/>
              </a:rPr>
              <a:t xml:space="preserve"> (dollars per T-shirt)</a:t>
            </a:r>
            <a:endParaRPr lang="en-US" sz="1800" dirty="0"/>
          </a:p>
        </p:txBody>
      </p:sp>
      <p:sp>
        <p:nvSpPr>
          <p:cNvPr id="17" name="Shape 17"/>
          <p:cNvSpPr txBox="1"/>
          <p:nvPr/>
        </p:nvSpPr>
        <p:spPr>
          <a:xfrm>
            <a:off x="2849819" y="3639312"/>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Selling price of a T-shirt</a:t>
            </a:r>
            <a:endParaRPr lang="en-US" sz="1800" dirty="0"/>
          </a:p>
        </p:txBody>
      </p:sp>
      <p:sp>
        <p:nvSpPr>
          <p:cNvPr id="18" name="Shape 18"/>
          <p:cNvSpPr txBox="1"/>
          <p:nvPr/>
        </p:nvSpPr>
        <p:spPr>
          <a:xfrm>
            <a:off x="7177857" y="3639312"/>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Average rate of change (slope)</a:t>
            </a:r>
            <a:endParaRPr lang="en-US" sz="1800" dirty="0"/>
          </a:p>
        </p:txBody>
      </p:sp>
      <p:cxnSp>
        <p:nvCxnSpPr>
          <p:cNvPr id="19" name="Line 19"/>
          <p:cNvCxnSpPr/>
          <p:nvPr/>
        </p:nvCxnSpPr>
        <p:spPr>
          <a:xfrm>
            <a:off x="685800" y="4389120"/>
            <a:ext cx="10820095" cy="0"/>
          </a:xfrm>
          <a:prstGeom prst="line">
            <a:avLst/>
          </a:prstGeom>
          <a:ln w="9525" cap="flat">
            <a:solidFill>
              <a:srgbClr val="E3E4EC"/>
            </a:solidFill>
          </a:ln>
        </p:spPr>
      </p:cxnSp>
      <p:sp>
        <p:nvSpPr>
          <p:cNvPr id="20" name="Shape 20"/>
          <p:cNvSpPr txBox="1"/>
          <p:nvPr/>
        </p:nvSpPr>
        <p:spPr>
          <a:xfrm>
            <a:off x="685800" y="4389120"/>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t</a:t>
            </a:r>
            <a:r>
              <a:rPr lang="en-US" sz="1800" dirty="0">
                <a:solidFill>
                  <a:srgbClr val="16171D"/>
                </a:solidFill>
                <a:latin typeface="Cambria"/>
                <a:cs typeface="Cambria"/>
              </a:rPr>
              <a:t xml:space="preserve"> − 3)</a:t>
            </a:r>
            <a:r>
              <a:rPr lang="en-US" sz="1800" dirty="0">
                <a:solidFill>
                  <a:srgbClr val="16171D"/>
                </a:solidFill>
                <a:latin typeface="Segoe UI"/>
                <a:cs typeface="Segoe UI"/>
              </a:rPr>
              <a:t xml:space="preserve"> (T-shirts)</a:t>
            </a:r>
            <a:endParaRPr lang="en-US" sz="1800" dirty="0"/>
          </a:p>
        </p:txBody>
      </p:sp>
      <p:sp>
        <p:nvSpPr>
          <p:cNvPr id="21" name="Shape 21"/>
          <p:cNvSpPr txBox="1"/>
          <p:nvPr/>
        </p:nvSpPr>
        <p:spPr>
          <a:xfrm>
            <a:off x="2849819" y="4389120"/>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Shirts that earn money, not counting the 3 free ones</a:t>
            </a:r>
            <a:endParaRPr lang="en-US" sz="1800" dirty="0"/>
          </a:p>
        </p:txBody>
      </p:sp>
      <p:sp>
        <p:nvSpPr>
          <p:cNvPr id="22" name="Shape 22"/>
          <p:cNvSpPr txBox="1"/>
          <p:nvPr/>
        </p:nvSpPr>
        <p:spPr>
          <a:xfrm>
            <a:off x="7177857" y="4389120"/>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input minus a constant</a:t>
            </a:r>
            <a:endParaRPr lang="en-US" sz="1800" dirty="0"/>
          </a:p>
        </p:txBody>
      </p:sp>
      <p:cxnSp>
        <p:nvCxnSpPr>
          <p:cNvPr id="23" name="Line 23"/>
          <p:cNvCxnSpPr/>
          <p:nvPr/>
        </p:nvCxnSpPr>
        <p:spPr>
          <a:xfrm>
            <a:off x="685800" y="5138928"/>
            <a:ext cx="10820095" cy="0"/>
          </a:xfrm>
          <a:prstGeom prst="line">
            <a:avLst/>
          </a:prstGeom>
          <a:ln w="9525" cap="flat">
            <a:solidFill>
              <a:srgbClr val="E3E4EC"/>
            </a:solidFill>
          </a:ln>
        </p:spPr>
      </p:cxnSp>
      <p:sp>
        <p:nvSpPr>
          <p:cNvPr id="24" name="Shape 24"/>
          <p:cNvSpPr txBox="1"/>
          <p:nvPr/>
        </p:nvSpPr>
        <p:spPr>
          <a:xfrm>
            <a:off x="685800" y="513892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Cambria"/>
                <a:cs typeface="Cambria"/>
              </a:rPr>
              <a:t xml:space="preserve">15</a:t>
            </a:r>
            <a:r>
              <a:rPr lang="en-US" sz="1800" dirty="0" i="1">
                <a:solidFill>
                  <a:srgbClr val="16171D"/>
                </a:solidFill>
                <a:latin typeface="Cambria"/>
                <a:cs typeface="Cambria"/>
              </a:rPr>
              <a:t xml:space="preserve">t</a:t>
            </a:r>
            <a:r>
              <a:rPr lang="en-US" sz="1800" dirty="0">
                <a:solidFill>
                  <a:srgbClr val="16171D"/>
                </a:solidFill>
                <a:latin typeface="Segoe UI"/>
                <a:cs typeface="Segoe UI"/>
              </a:rPr>
              <a:t xml:space="preserve"> (dollars)</a:t>
            </a:r>
            <a:endParaRPr lang="en-US" sz="1800" dirty="0"/>
          </a:p>
        </p:txBody>
      </p:sp>
      <p:sp>
        <p:nvSpPr>
          <p:cNvPr id="25" name="Shape 25"/>
          <p:cNvSpPr txBox="1"/>
          <p:nvPr/>
        </p:nvSpPr>
        <p:spPr>
          <a:xfrm>
            <a:off x="2849819" y="513892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Earnings for </a:t>
            </a:r>
            <a:r>
              <a:rPr lang="en-US" sz="1800" dirty="0" i="1">
                <a:solidFill>
                  <a:srgbClr val="16171D"/>
                </a:solidFill>
                <a:latin typeface="Segoe UI"/>
                <a:cs typeface="Segoe UI"/>
              </a:rPr>
              <a:t xml:space="preserve">t</a:t>
            </a:r>
            <a:r>
              <a:rPr lang="en-US" sz="1800" dirty="0">
                <a:solidFill>
                  <a:srgbClr val="16171D"/>
                </a:solidFill>
                <a:latin typeface="Segoe UI"/>
                <a:cs typeface="Segoe UI"/>
              </a:rPr>
              <a:t xml:space="preserve"> T-shirts</a:t>
            </a:r>
            <a:endParaRPr lang="en-US" sz="1800" dirty="0"/>
          </a:p>
        </p:txBody>
      </p:sp>
      <p:sp>
        <p:nvSpPr>
          <p:cNvPr id="26" name="Shape 26"/>
          <p:cNvSpPr txBox="1"/>
          <p:nvPr/>
        </p:nvSpPr>
        <p:spPr>
          <a:xfrm>
            <a:off x="7177857" y="513892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rate times the input</a:t>
            </a:r>
            <a:endParaRPr lang="en-US" sz="1800" dirty="0"/>
          </a:p>
        </p:txBody>
      </p:sp>
      <p:cxnSp>
        <p:nvCxnSpPr>
          <p:cNvPr id="27" name="Line 27"/>
          <p:cNvCxnSpPr/>
          <p:nvPr/>
        </p:nvCxnSpPr>
        <p:spPr>
          <a:xfrm>
            <a:off x="685800" y="5614416"/>
            <a:ext cx="10820095" cy="0"/>
          </a:xfrm>
          <a:prstGeom prst="line">
            <a:avLst/>
          </a:prstGeom>
          <a:ln w="9525" cap="flat">
            <a:solidFill>
              <a:srgbClr val="E3E4EC"/>
            </a:solidFill>
          </a:ln>
        </p:spPr>
      </p:cxnSp>
      <p:sp>
        <p:nvSpPr>
          <p:cNvPr id="28" name="Shape 28"/>
          <p:cNvSpPr txBox="1"/>
          <p:nvPr/>
        </p:nvSpPr>
        <p:spPr>
          <a:xfrm>
            <a:off x="685800" y="5614416"/>
            <a:ext cx="2164019"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3050B8"/>
                </a:solidFill>
                <a:latin typeface="Cambria"/>
                <a:cs typeface="Cambria"/>
              </a:rPr>
              <a:t xml:space="preserve">−45</a:t>
            </a:r>
            <a:r>
              <a:rPr lang="en-US" sz="1800" dirty="0">
                <a:solidFill>
                  <a:srgbClr val="16171D"/>
                </a:solidFill>
                <a:latin typeface="Segoe UI"/>
                <a:cs typeface="Segoe UI"/>
              </a:rPr>
              <a:t xml:space="preserve"> (dollars)</a:t>
            </a:r>
            <a:endParaRPr lang="en-US" sz="1800" dirty="0"/>
          </a:p>
        </p:txBody>
      </p:sp>
      <p:sp>
        <p:nvSpPr>
          <p:cNvPr id="29" name="Shape 29"/>
          <p:cNvSpPr txBox="1"/>
          <p:nvPr/>
        </p:nvSpPr>
        <p:spPr>
          <a:xfrm>
            <a:off x="2849819" y="5614416"/>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Money not earned because 3 shirts were given away</a:t>
            </a:r>
            <a:endParaRPr lang="en-US" sz="1800" dirty="0"/>
          </a:p>
        </p:txBody>
      </p:sp>
      <p:sp>
        <p:nvSpPr>
          <p:cNvPr id="30" name="Shape 30"/>
          <p:cNvSpPr txBox="1"/>
          <p:nvPr/>
        </p:nvSpPr>
        <p:spPr>
          <a:xfrm>
            <a:off x="7177857" y="5614416"/>
            <a:ext cx="4328038"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31" name="Line 31"/>
          <p:cNvCxnSpPr/>
          <p:nvPr/>
        </p:nvCxnSpPr>
        <p:spPr>
          <a:xfrm>
            <a:off x="685800" y="6364224"/>
            <a:ext cx="10820095" cy="0"/>
          </a:xfrm>
          <a:prstGeom prst="line">
            <a:avLst/>
          </a:prstGeom>
          <a:ln w="9525" cap="flat">
            <a:solidFill>
              <a:srgbClr val="E3E4EC"/>
            </a:solidFill>
          </a:ln>
        </p:spPr>
      </p:cxnSp>
      <p:sp>
        <p:nvSpPr>
          <p:cNvPr id="32" name="Slide Number 3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anim calcmode="lin" valueType="num">
                                      <p:cBhvr>
                                        <p:cTn id="71" dur="500" fill="hold"/>
                                        <p:tgtEl>
                                          <p:spTgt spid="20"/>
                                        </p:tgtEl>
                                        <p:attrNameLst>
                                          <p:attrName>ppt_x</p:attrName>
                                        </p:attrNameLst>
                                      </p:cBhvr>
                                      <p:tavLst>
                                        <p:tav tm="0">
                                          <p:val>
                                            <p:strVal val="#ppt_x"/>
                                          </p:val>
                                        </p:tav>
                                        <p:tav tm="100000">
                                          <p:val>
                                            <p:strVal val="#ppt_x"/>
                                          </p:val>
                                        </p:tav>
                                      </p:tavLst>
                                    </p:anim>
                                    <p:anim calcmode="lin" valueType="num">
                                      <p:cBhvr>
                                        <p:cTn id="72" dur="500" fill="hold"/>
                                        <p:tgtEl>
                                          <p:spTgt spid="2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anim calcmode="lin" valueType="num">
                                      <p:cBhvr>
                                        <p:cTn id="76" dur="500" fill="hold"/>
                                        <p:tgtEl>
                                          <p:spTgt spid="21"/>
                                        </p:tgtEl>
                                        <p:attrNameLst>
                                          <p:attrName>ppt_x</p:attrName>
                                        </p:attrNameLst>
                                      </p:cBhvr>
                                      <p:tavLst>
                                        <p:tav tm="0">
                                          <p:val>
                                            <p:strVal val="#ppt_x"/>
                                          </p:val>
                                        </p:tav>
                                        <p:tav tm="100000">
                                          <p:val>
                                            <p:strVal val="#ppt_x"/>
                                          </p:val>
                                        </p:tav>
                                      </p:tavLst>
                                    </p:anim>
                                    <p:anim calcmode="lin" valueType="num">
                                      <p:cBhvr>
                                        <p:cTn id="77" dur="500" fill="hold"/>
                                        <p:tgtEl>
                                          <p:spTgt spid="21"/>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anim calcmode="lin" valueType="num">
                                      <p:cBhvr>
                                        <p:cTn id="81" dur="500" fill="hold"/>
                                        <p:tgtEl>
                                          <p:spTgt spid="22"/>
                                        </p:tgtEl>
                                        <p:attrNameLst>
                                          <p:attrName>ppt_x</p:attrName>
                                        </p:attrNameLst>
                                      </p:cBhvr>
                                      <p:tavLst>
                                        <p:tav tm="0">
                                          <p:val>
                                            <p:strVal val="#ppt_x"/>
                                          </p:val>
                                        </p:tav>
                                        <p:tav tm="100000">
                                          <p:val>
                                            <p:strVal val="#ppt_x"/>
                                          </p:val>
                                        </p:tav>
                                      </p:tavLst>
                                    </p:anim>
                                    <p:anim calcmode="lin" valueType="num">
                                      <p:cBhvr>
                                        <p:cTn id="82" dur="500" fill="hold"/>
                                        <p:tgtEl>
                                          <p:spTgt spid="22"/>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anim calcmode="lin" valueType="num">
                                      <p:cBhvr>
                                        <p:cTn id="86" dur="500" fill="hold"/>
                                        <p:tgtEl>
                                          <p:spTgt spid="23"/>
                                        </p:tgtEl>
                                        <p:attrNameLst>
                                          <p:attrName>ppt_x</p:attrName>
                                        </p:attrNameLst>
                                      </p:cBhvr>
                                      <p:tavLst>
                                        <p:tav tm="0">
                                          <p:val>
                                            <p:strVal val="#ppt_x"/>
                                          </p:val>
                                        </p:tav>
                                        <p:tav tm="100000">
                                          <p:val>
                                            <p:strVal val="#ppt_x"/>
                                          </p:val>
                                        </p:tav>
                                      </p:tavLst>
                                    </p:anim>
                                    <p:anim calcmode="lin" valueType="num">
                                      <p:cBhvr>
                                        <p:cTn id="8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95" presetID="42"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anim calcmode="lin" valueType="num">
                                      <p:cBhvr>
                                        <p:cTn id="93" dur="500" fill="hold"/>
                                        <p:tgtEl>
                                          <p:spTgt spid="24"/>
                                        </p:tgtEl>
                                        <p:attrNameLst>
                                          <p:attrName>ppt_x</p:attrName>
                                        </p:attrNameLst>
                                      </p:cBhvr>
                                      <p:tavLst>
                                        <p:tav tm="0">
                                          <p:val>
                                            <p:strVal val="#ppt_x"/>
                                          </p:val>
                                        </p:tav>
                                        <p:tav tm="100000">
                                          <p:val>
                                            <p:strVal val="#ppt_x"/>
                                          </p:val>
                                        </p:tav>
                                      </p:tavLst>
                                    </p:anim>
                                    <p:anim calcmode="lin" valueType="num">
                                      <p:cBhvr>
                                        <p:cTn id="94" dur="50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anim calcmode="lin" valueType="num">
                                      <p:cBhvr>
                                        <p:cTn id="98" dur="500" fill="hold"/>
                                        <p:tgtEl>
                                          <p:spTgt spid="25"/>
                                        </p:tgtEl>
                                        <p:attrNameLst>
                                          <p:attrName>ppt_x</p:attrName>
                                        </p:attrNameLst>
                                      </p:cBhvr>
                                      <p:tavLst>
                                        <p:tav tm="0">
                                          <p:val>
                                            <p:strVal val="#ppt_x"/>
                                          </p:val>
                                        </p:tav>
                                        <p:tav tm="100000">
                                          <p:val>
                                            <p:strVal val="#ppt_x"/>
                                          </p:val>
                                        </p:tav>
                                      </p:tavLst>
                                    </p:anim>
                                    <p:anim calcmode="lin" valueType="num">
                                      <p:cBhvr>
                                        <p:cTn id="99" dur="50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anim calcmode="lin" valueType="num">
                                      <p:cBhvr>
                                        <p:cTn id="103" dur="500" fill="hold"/>
                                        <p:tgtEl>
                                          <p:spTgt spid="26"/>
                                        </p:tgtEl>
                                        <p:attrNameLst>
                                          <p:attrName>ppt_x</p:attrName>
                                        </p:attrNameLst>
                                      </p:cBhvr>
                                      <p:tavLst>
                                        <p:tav tm="0">
                                          <p:val>
                                            <p:strVal val="#ppt_x"/>
                                          </p:val>
                                        </p:tav>
                                        <p:tav tm="100000">
                                          <p:val>
                                            <p:strVal val="#ppt_x"/>
                                          </p:val>
                                        </p:tav>
                                      </p:tavLst>
                                    </p:anim>
                                    <p:anim calcmode="lin" valueType="num">
                                      <p:cBhvr>
                                        <p:cTn id="104" dur="50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p:cTn id="108" dur="500" fill="hold"/>
                                        <p:tgtEl>
                                          <p:spTgt spid="27"/>
                                        </p:tgtEl>
                                        <p:attrNameLst>
                                          <p:attrName>ppt_x</p:attrName>
                                        </p:attrNameLst>
                                      </p:cBhvr>
                                      <p:tavLst>
                                        <p:tav tm="0">
                                          <p:val>
                                            <p:strVal val="#ppt_x"/>
                                          </p:val>
                                        </p:tav>
                                        <p:tav tm="100000">
                                          <p:val>
                                            <p:strVal val="#ppt_x"/>
                                          </p:val>
                                        </p:tav>
                                      </p:tavLst>
                                    </p:anim>
                                    <p:anim calcmode="lin" valueType="num">
                                      <p:cBhvr>
                                        <p:cTn id="10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17" presetID="42" presetClass="entr" presetSubtype="0" fill="hold"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p:cTn id="115" dur="500" fill="hold"/>
                                        <p:tgtEl>
                                          <p:spTgt spid="28"/>
                                        </p:tgtEl>
                                        <p:attrNameLst>
                                          <p:attrName>ppt_x</p:attrName>
                                        </p:attrNameLst>
                                      </p:cBhvr>
                                      <p:tavLst>
                                        <p:tav tm="0">
                                          <p:val>
                                            <p:strVal val="#ppt_x"/>
                                          </p:val>
                                        </p:tav>
                                        <p:tav tm="100000">
                                          <p:val>
                                            <p:strVal val="#ppt_x"/>
                                          </p:val>
                                        </p:tav>
                                      </p:tavLst>
                                    </p:anim>
                                    <p:anim calcmode="lin" valueType="num">
                                      <p:cBhvr>
                                        <p:cTn id="116" dur="500" fill="hold"/>
                                        <p:tgtEl>
                                          <p:spTgt spid="28"/>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500"/>
                                        <p:tgtEl>
                                          <p:spTgt spid="29"/>
                                        </p:tgtEl>
                                      </p:cBhvr>
                                    </p:animEffect>
                                    <p:anim calcmode="lin" valueType="num">
                                      <p:cBhvr>
                                        <p:cTn id="120" dur="500" fill="hold"/>
                                        <p:tgtEl>
                                          <p:spTgt spid="29"/>
                                        </p:tgtEl>
                                        <p:attrNameLst>
                                          <p:attrName>ppt_x</p:attrName>
                                        </p:attrNameLst>
                                      </p:cBhvr>
                                      <p:tavLst>
                                        <p:tav tm="0">
                                          <p:val>
                                            <p:strVal val="#ppt_x"/>
                                          </p:val>
                                        </p:tav>
                                        <p:tav tm="100000">
                                          <p:val>
                                            <p:strVal val="#ppt_x"/>
                                          </p:val>
                                        </p:tav>
                                      </p:tavLst>
                                    </p:anim>
                                    <p:anim calcmode="lin" valueType="num">
                                      <p:cBhvr>
                                        <p:cTn id="121" dur="500" fill="hold"/>
                                        <p:tgtEl>
                                          <p:spTgt spid="29"/>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500"/>
                                        <p:tgtEl>
                                          <p:spTgt spid="30"/>
                                        </p:tgtEl>
                                      </p:cBhvr>
                                    </p:animEffect>
                                    <p:anim calcmode="lin" valueType="num">
                                      <p:cBhvr>
                                        <p:cTn id="125" dur="500" fill="hold"/>
                                        <p:tgtEl>
                                          <p:spTgt spid="30"/>
                                        </p:tgtEl>
                                        <p:attrNameLst>
                                          <p:attrName>ppt_x</p:attrName>
                                        </p:attrNameLst>
                                      </p:cBhvr>
                                      <p:tavLst>
                                        <p:tav tm="0">
                                          <p:val>
                                            <p:strVal val="#ppt_x"/>
                                          </p:val>
                                        </p:tav>
                                        <p:tav tm="100000">
                                          <p:val>
                                            <p:strVal val="#ppt_x"/>
                                          </p:val>
                                        </p:tav>
                                      </p:tavLst>
                                    </p:anim>
                                    <p:anim calcmode="lin" valueType="num">
                                      <p:cBhvr>
                                        <p:cTn id="126" dur="500" fill="hold"/>
                                        <p:tgtEl>
                                          <p:spTgt spid="30"/>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28" dur="1" fill="hold">
                                          <p:stCondLst>
                                            <p:cond delay="0"/>
                                          </p:stCondLst>
                                        </p:cTn>
                                        <p:tgtEl>
                                          <p:spTgt spid="31"/>
                                        </p:tgtEl>
                                        <p:attrNameLst>
                                          <p:attrName>style.visibility</p:attrName>
                                        </p:attrNameLst>
                                      </p:cBhvr>
                                      <p:to>
                                        <p:strVal val="visible"/>
                                      </p:to>
                                    </p:set>
                                    <p:animEffect transition="in" filter="fade">
                                      <p:cBhvr>
                                        <p:cTn id="129" dur="500"/>
                                        <p:tgtEl>
                                          <p:spTgt spid="31"/>
                                        </p:tgtEl>
                                      </p:cBhvr>
                                    </p:animEffect>
                                    <p:anim calcmode="lin" valueType="num">
                                      <p:cBhvr>
                                        <p:cTn id="130" dur="500" fill="hold"/>
                                        <p:tgtEl>
                                          <p:spTgt spid="31"/>
                                        </p:tgtEl>
                                        <p:attrNameLst>
                                          <p:attrName>ppt_x</p:attrName>
                                        </p:attrNameLst>
                                      </p:cBhvr>
                                      <p:tavLst>
                                        <p:tav tm="0">
                                          <p:val>
                                            <p:strVal val="#ppt_x"/>
                                          </p:val>
                                        </p:tav>
                                        <p:tav tm="100000">
                                          <p:val>
                                            <p:strVal val="#ppt_x"/>
                                          </p:val>
                                        </p:tav>
                                      </p:tavLst>
                                    </p:anim>
                                    <p:anim calcmode="lin" valueType="num">
                                      <p:cBhvr>
                                        <p:cTn id="13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Worked Example · SE p. 248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Polynomials</a:t>
            </a:r>
            <a:endParaRPr lang="en-US" sz="3450" dirty="0"/>
          </a:p>
        </p:txBody>
      </p:sp>
      <p:sp>
        <p:nvSpPr>
          <p:cNvPr id="4" name="Shape 4"/>
          <p:cNvSpPr txBox="1"/>
          <p:nvPr/>
        </p:nvSpPr>
        <p:spPr>
          <a:xfrm>
            <a:off x="685800" y="1618488"/>
            <a:ext cx="4414723"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polynomial</a:t>
            </a:r>
            <a:r>
              <a:rPr lang="en-US" sz="1575" dirty="0">
                <a:solidFill>
                  <a:srgbClr val="16171D"/>
                </a:solidFill>
                <a:latin typeface="Segoe UI"/>
                <a:cs typeface="Segoe UI"/>
              </a:rPr>
              <a:t xml:space="preserve"> is a sum of powers of a variable multiplied by coefficients. A linear function is a polynomial function.</a:t>
            </a:r>
            <a:endParaRPr lang="en-US" sz="1575" dirty="0"/>
          </a:p>
        </p:txBody>
      </p:sp>
      <p:sp>
        <p:nvSpPr>
          <p:cNvPr id="5" name="Shape 5"/>
          <p:cNvSpPr txBox="1"/>
          <p:nvPr/>
        </p:nvSpPr>
        <p:spPr>
          <a:xfrm>
            <a:off x="685800" y="2507742"/>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degree</a:t>
            </a:r>
            <a:r>
              <a:rPr lang="en-US" sz="1575" dirty="0">
                <a:solidFill>
                  <a:srgbClr val="16171D"/>
                </a:solidFill>
                <a:latin typeface="Segoe UI"/>
                <a:cs typeface="Segoe UI"/>
              </a:rPr>
              <a:t xml:space="preserve"> is the greatest exponent of the variable.</a:t>
            </a:r>
            <a:endParaRPr lang="en-US" sz="1575" dirty="0"/>
          </a:p>
        </p:txBody>
      </p:sp>
      <p:sp>
        <p:nvSpPr>
          <p:cNvPr id="6" name="Shape 6"/>
          <p:cNvSpPr txBox="1"/>
          <p:nvPr/>
        </p:nvSpPr>
        <p:spPr>
          <a:xfrm>
            <a:off x="685800" y="3156966"/>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is the number multiplying the term with the greatest power.</a:t>
            </a:r>
            <a:endParaRPr lang="en-US" sz="1575" dirty="0"/>
          </a:p>
        </p:txBody>
      </p:sp>
      <p:sp>
        <p:nvSpPr>
          <p:cNvPr id="7" name="Shape 7"/>
          <p:cNvSpPr txBox="1"/>
          <p:nvPr/>
        </p:nvSpPr>
        <p:spPr>
          <a:xfrm>
            <a:off x="685800" y="3806190"/>
            <a:ext cx="4414723"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When you graph a polynomial, the degree tells you the maximum number of times the graph can 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8" name="Shape 8"/>
          <p:cNvSpPr txBox="1"/>
          <p:nvPr/>
        </p:nvSpPr>
        <p:spPr>
          <a:xfrm>
            <a:off x="5481523" y="1618488"/>
            <a:ext cx="170764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Name</a:t>
            </a:r>
            <a:endParaRPr lang="en-US" sz="1950" dirty="0"/>
          </a:p>
        </p:txBody>
      </p:sp>
      <p:sp>
        <p:nvSpPr>
          <p:cNvPr id="9" name="Shape 9"/>
          <p:cNvSpPr txBox="1"/>
          <p:nvPr/>
        </p:nvSpPr>
        <p:spPr>
          <a:xfrm>
            <a:off x="7189165" y="1618488"/>
            <a:ext cx="299542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Example</a:t>
            </a:r>
            <a:endParaRPr lang="en-US" sz="1950" dirty="0"/>
          </a:p>
        </p:txBody>
      </p:sp>
      <p:sp>
        <p:nvSpPr>
          <p:cNvPr id="10" name="Shape 10"/>
          <p:cNvSpPr txBox="1"/>
          <p:nvPr/>
        </p:nvSpPr>
        <p:spPr>
          <a:xfrm>
            <a:off x="10184587" y="1618488"/>
            <a:ext cx="132130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Degree</a:t>
            </a:r>
            <a:endParaRPr lang="en-US" sz="1950" dirty="0"/>
          </a:p>
        </p:txBody>
      </p:sp>
      <p:sp>
        <p:nvSpPr>
          <p:cNvPr id="11" name="Shape 11"/>
          <p:cNvSpPr txBox="1"/>
          <p:nvPr/>
        </p:nvSpPr>
        <p:spPr>
          <a:xfrm>
            <a:off x="5481523" y="2061972"/>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Constant</a:t>
            </a:r>
            <a:endParaRPr lang="en-US" sz="1950" dirty="0"/>
          </a:p>
        </p:txBody>
      </p:sp>
      <p:sp>
        <p:nvSpPr>
          <p:cNvPr id="12" name="Shape 12"/>
          <p:cNvSpPr txBox="1"/>
          <p:nvPr/>
        </p:nvSpPr>
        <p:spPr>
          <a:xfrm>
            <a:off x="7189165" y="2061972"/>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endParaRPr lang="en-US" sz="1950" dirty="0"/>
          </a:p>
        </p:txBody>
      </p:sp>
      <p:sp>
        <p:nvSpPr>
          <p:cNvPr id="13" name="Shape 13"/>
          <p:cNvSpPr txBox="1"/>
          <p:nvPr/>
        </p:nvSpPr>
        <p:spPr>
          <a:xfrm>
            <a:off x="10184587" y="2061972"/>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14" name="Shape 14"/>
          <p:cNvSpPr txBox="1"/>
          <p:nvPr/>
        </p:nvSpPr>
        <p:spPr>
          <a:xfrm>
            <a:off x="5481523" y="2505456"/>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Linear</a:t>
            </a:r>
            <a:endParaRPr lang="en-US" sz="1950" dirty="0"/>
          </a:p>
        </p:txBody>
      </p:sp>
      <p:sp>
        <p:nvSpPr>
          <p:cNvPr id="15" name="Shape 15"/>
          <p:cNvSpPr txBox="1"/>
          <p:nvPr/>
        </p:nvSpPr>
        <p:spPr>
          <a:xfrm>
            <a:off x="7189165" y="2505456"/>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endParaRPr lang="en-US" sz="1950" dirty="0"/>
          </a:p>
        </p:txBody>
      </p:sp>
      <p:sp>
        <p:nvSpPr>
          <p:cNvPr id="16" name="Shape 16"/>
          <p:cNvSpPr txBox="1"/>
          <p:nvPr/>
        </p:nvSpPr>
        <p:spPr>
          <a:xfrm>
            <a:off x="10184587" y="2505456"/>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7" name="Shape 17"/>
          <p:cNvSpPr txBox="1"/>
          <p:nvPr/>
        </p:nvSpPr>
        <p:spPr>
          <a:xfrm>
            <a:off x="5481523" y="2948940"/>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Quadratic</a:t>
            </a:r>
            <a:endParaRPr lang="en-US" sz="1950" dirty="0"/>
          </a:p>
        </p:txBody>
      </p:sp>
      <p:sp>
        <p:nvSpPr>
          <p:cNvPr id="18" name="Shape 18"/>
          <p:cNvSpPr txBox="1"/>
          <p:nvPr/>
        </p:nvSpPr>
        <p:spPr>
          <a:xfrm>
            <a:off x="7189165" y="2948940"/>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endParaRPr lang="en-US" sz="1950" dirty="0"/>
          </a:p>
        </p:txBody>
      </p:sp>
      <p:sp>
        <p:nvSpPr>
          <p:cNvPr id="19" name="Shape 19"/>
          <p:cNvSpPr txBox="1"/>
          <p:nvPr/>
        </p:nvSpPr>
        <p:spPr>
          <a:xfrm>
            <a:off x="10184587" y="2948940"/>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20" name="Shape 20"/>
          <p:cNvSpPr txBox="1"/>
          <p:nvPr/>
        </p:nvSpPr>
        <p:spPr>
          <a:xfrm>
            <a:off x="5481523" y="3392424"/>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Cubic</a:t>
            </a:r>
            <a:endParaRPr lang="en-US" sz="1950" dirty="0"/>
          </a:p>
        </p:txBody>
      </p:sp>
      <p:sp>
        <p:nvSpPr>
          <p:cNvPr id="21" name="Shape 21"/>
          <p:cNvSpPr txBox="1"/>
          <p:nvPr/>
        </p:nvSpPr>
        <p:spPr>
          <a:xfrm>
            <a:off x="7189165" y="3392424"/>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endParaRPr lang="en-US" sz="1950" dirty="0"/>
          </a:p>
        </p:txBody>
      </p:sp>
      <p:sp>
        <p:nvSpPr>
          <p:cNvPr id="22" name="Shape 22"/>
          <p:cNvSpPr txBox="1"/>
          <p:nvPr/>
        </p:nvSpPr>
        <p:spPr>
          <a:xfrm>
            <a:off x="10184587" y="3392424"/>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
        <p:nvSpPr>
          <p:cNvPr id="23" name="Slide Number 2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 5 · SE pp. 248–249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General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b</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are real numbers and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It has the same structure as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the steepness and direction of the line (the slope).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32613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on the graph.</a:t>
            </a:r>
            <a:endParaRPr lang="en-US" sz="1575" dirty="0"/>
          </a:p>
        </p:txBody>
      </p:sp>
      <p:sp>
        <p:nvSpPr>
          <p:cNvPr id="8" name="Shape 8"/>
          <p:cNvSpPr txBox="1"/>
          <p:nvPr/>
        </p:nvSpPr>
        <p:spPr>
          <a:xfrm>
            <a:off x="685800" y="373532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a slope triangle, right 2 and up 30.</a:t>
            </a:r>
            <a:endParaRPr lang="en-US" sz="1575" dirty="0"/>
          </a:p>
        </p:txBody>
      </p:sp>
      <p:sp>
        <p:nvSpPr>
          <p:cNvPr id="9" name="Shape 9"/>
          <p:cNvSpPr txBox="1"/>
          <p:nvPr/>
        </p:nvSpPr>
        <p:spPr>
          <a:xfrm>
            <a:off x="685800" y="414451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−45</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−45)</a:t>
            </a:r>
            <a:r>
              <a:rPr lang="en-US" sz="1575" dirty="0">
                <a:solidFill>
                  <a:srgbClr val="16171D"/>
                </a:solidFill>
                <a:latin typeface="Segoe UI"/>
                <a:cs typeface="Segoe UI"/>
              </a:rPr>
              <a:t xml:space="preserve">.</a:t>
            </a:r>
            <a:endParaRPr lang="en-US" sz="1575" dirty="0"/>
          </a:p>
        </p:txBody>
      </p:sp>
      <p:sp>
        <p:nvSpPr>
          <p:cNvPr id="10" name="Shape 10"/>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7638745" y="1732788"/>
            <a:ext cx="0" cy="3638550"/>
          </a:xfrm>
          <a:prstGeom prst="line">
            <a:avLst/>
          </a:prstGeom>
          <a:ln w="9525" cap="flat">
            <a:solidFill>
              <a:srgbClr val="E6E8F2"/>
            </a:solidFill>
          </a:ln>
        </p:spPr>
      </p:cxnSp>
      <p:cxnSp>
        <p:nvCxnSpPr>
          <p:cNvPr id="12" name="Line 12"/>
          <p:cNvCxnSpPr/>
          <p:nvPr/>
        </p:nvCxnSpPr>
        <p:spPr>
          <a:xfrm>
            <a:off x="7809329" y="1732788"/>
            <a:ext cx="0" cy="3638550"/>
          </a:xfrm>
          <a:prstGeom prst="line">
            <a:avLst/>
          </a:prstGeom>
          <a:ln w="9525" cap="flat">
            <a:solidFill>
              <a:srgbClr val="E6E8F2"/>
            </a:solidFill>
          </a:ln>
        </p:spPr>
      </p:cxnSp>
      <p:cxnSp>
        <p:nvCxnSpPr>
          <p:cNvPr id="13" name="Line 13"/>
          <p:cNvCxnSpPr/>
          <p:nvPr/>
        </p:nvCxnSpPr>
        <p:spPr>
          <a:xfrm>
            <a:off x="7979913" y="1732788"/>
            <a:ext cx="0" cy="3638550"/>
          </a:xfrm>
          <a:prstGeom prst="line">
            <a:avLst/>
          </a:prstGeom>
          <a:ln w="9525" cap="flat">
            <a:solidFill>
              <a:srgbClr val="E6E8F2"/>
            </a:solidFill>
          </a:ln>
        </p:spPr>
      </p:cxnSp>
      <p:cxnSp>
        <p:nvCxnSpPr>
          <p:cNvPr id="14" name="Line 14"/>
          <p:cNvCxnSpPr/>
          <p:nvPr/>
        </p:nvCxnSpPr>
        <p:spPr>
          <a:xfrm>
            <a:off x="8150497" y="1732788"/>
            <a:ext cx="0" cy="3638550"/>
          </a:xfrm>
          <a:prstGeom prst="line">
            <a:avLst/>
          </a:prstGeom>
          <a:ln w="9525" cap="flat">
            <a:solidFill>
              <a:srgbClr val="E6E8F2"/>
            </a:solidFill>
          </a:ln>
        </p:spPr>
      </p:cxnSp>
      <p:cxnSp>
        <p:nvCxnSpPr>
          <p:cNvPr id="15" name="Line 15"/>
          <p:cNvCxnSpPr/>
          <p:nvPr/>
        </p:nvCxnSpPr>
        <p:spPr>
          <a:xfrm>
            <a:off x="8321082" y="1732788"/>
            <a:ext cx="0" cy="3638550"/>
          </a:xfrm>
          <a:prstGeom prst="line">
            <a:avLst/>
          </a:prstGeom>
          <a:ln w="9525" cap="flat">
            <a:solidFill>
              <a:srgbClr val="E6E8F2"/>
            </a:solidFill>
          </a:ln>
        </p:spPr>
      </p:cxnSp>
      <p:cxnSp>
        <p:nvCxnSpPr>
          <p:cNvPr id="16" name="Line 16"/>
          <p:cNvCxnSpPr/>
          <p:nvPr/>
        </p:nvCxnSpPr>
        <p:spPr>
          <a:xfrm>
            <a:off x="8491666" y="1732788"/>
            <a:ext cx="0" cy="3638550"/>
          </a:xfrm>
          <a:prstGeom prst="line">
            <a:avLst/>
          </a:prstGeom>
          <a:ln w="9525" cap="flat">
            <a:solidFill>
              <a:srgbClr val="E6E8F2"/>
            </a:solidFill>
          </a:ln>
        </p:spPr>
      </p:cxnSp>
      <p:cxnSp>
        <p:nvCxnSpPr>
          <p:cNvPr id="17" name="Line 17"/>
          <p:cNvCxnSpPr/>
          <p:nvPr/>
        </p:nvCxnSpPr>
        <p:spPr>
          <a:xfrm>
            <a:off x="8662250" y="1732788"/>
            <a:ext cx="0" cy="3638550"/>
          </a:xfrm>
          <a:prstGeom prst="line">
            <a:avLst/>
          </a:prstGeom>
          <a:ln w="9525" cap="flat">
            <a:solidFill>
              <a:srgbClr val="E6E8F2"/>
            </a:solidFill>
          </a:ln>
        </p:spPr>
      </p:cxnSp>
      <p:cxnSp>
        <p:nvCxnSpPr>
          <p:cNvPr id="18" name="Line 18"/>
          <p:cNvCxnSpPr/>
          <p:nvPr/>
        </p:nvCxnSpPr>
        <p:spPr>
          <a:xfrm>
            <a:off x="8832834" y="1732788"/>
            <a:ext cx="0" cy="3638550"/>
          </a:xfrm>
          <a:prstGeom prst="line">
            <a:avLst/>
          </a:prstGeom>
          <a:ln w="9525" cap="flat">
            <a:solidFill>
              <a:srgbClr val="E6E8F2"/>
            </a:solidFill>
          </a:ln>
        </p:spPr>
      </p:cxnSp>
      <p:cxnSp>
        <p:nvCxnSpPr>
          <p:cNvPr id="19" name="Line 19"/>
          <p:cNvCxnSpPr/>
          <p:nvPr/>
        </p:nvCxnSpPr>
        <p:spPr>
          <a:xfrm>
            <a:off x="9003418" y="1732788"/>
            <a:ext cx="0" cy="3638550"/>
          </a:xfrm>
          <a:prstGeom prst="line">
            <a:avLst/>
          </a:prstGeom>
          <a:ln w="9525" cap="flat">
            <a:solidFill>
              <a:srgbClr val="E6E8F2"/>
            </a:solidFill>
          </a:ln>
        </p:spPr>
      </p:cxnSp>
      <p:cxnSp>
        <p:nvCxnSpPr>
          <p:cNvPr id="20" name="Line 20"/>
          <p:cNvCxnSpPr/>
          <p:nvPr/>
        </p:nvCxnSpPr>
        <p:spPr>
          <a:xfrm>
            <a:off x="9174002" y="1732788"/>
            <a:ext cx="0" cy="3638550"/>
          </a:xfrm>
          <a:prstGeom prst="line">
            <a:avLst/>
          </a:prstGeom>
          <a:ln w="9525" cap="flat">
            <a:solidFill>
              <a:srgbClr val="E6E8F2"/>
            </a:solidFill>
          </a:ln>
        </p:spPr>
      </p:cxnSp>
      <p:cxnSp>
        <p:nvCxnSpPr>
          <p:cNvPr id="21" name="Line 21"/>
          <p:cNvCxnSpPr/>
          <p:nvPr/>
        </p:nvCxnSpPr>
        <p:spPr>
          <a:xfrm>
            <a:off x="9344586" y="1732788"/>
            <a:ext cx="0" cy="3638550"/>
          </a:xfrm>
          <a:prstGeom prst="line">
            <a:avLst/>
          </a:prstGeom>
          <a:ln w="9525" cap="flat">
            <a:solidFill>
              <a:srgbClr val="E6E8F2"/>
            </a:solidFill>
          </a:ln>
        </p:spPr>
      </p:cxnSp>
      <p:cxnSp>
        <p:nvCxnSpPr>
          <p:cNvPr id="22" name="Line 22"/>
          <p:cNvCxnSpPr/>
          <p:nvPr/>
        </p:nvCxnSpPr>
        <p:spPr>
          <a:xfrm>
            <a:off x="9515170" y="1732788"/>
            <a:ext cx="0" cy="3638550"/>
          </a:xfrm>
          <a:prstGeom prst="line">
            <a:avLst/>
          </a:prstGeom>
          <a:ln w="9525" cap="flat">
            <a:solidFill>
              <a:srgbClr val="E6E8F2"/>
            </a:solidFill>
          </a:ln>
        </p:spPr>
      </p:cxnSp>
      <p:cxnSp>
        <p:nvCxnSpPr>
          <p:cNvPr id="23" name="Line 23"/>
          <p:cNvCxnSpPr/>
          <p:nvPr/>
        </p:nvCxnSpPr>
        <p:spPr>
          <a:xfrm>
            <a:off x="9685754" y="1732788"/>
            <a:ext cx="0" cy="3638550"/>
          </a:xfrm>
          <a:prstGeom prst="line">
            <a:avLst/>
          </a:prstGeom>
          <a:ln w="9525" cap="flat">
            <a:solidFill>
              <a:srgbClr val="E6E8F2"/>
            </a:solidFill>
          </a:ln>
        </p:spPr>
      </p:cxnSp>
      <p:cxnSp>
        <p:nvCxnSpPr>
          <p:cNvPr id="24" name="Line 24"/>
          <p:cNvCxnSpPr/>
          <p:nvPr/>
        </p:nvCxnSpPr>
        <p:spPr>
          <a:xfrm>
            <a:off x="9856338" y="1732788"/>
            <a:ext cx="0" cy="3638550"/>
          </a:xfrm>
          <a:prstGeom prst="line">
            <a:avLst/>
          </a:prstGeom>
          <a:ln w="9525" cap="flat">
            <a:solidFill>
              <a:srgbClr val="E6E8F2"/>
            </a:solidFill>
          </a:ln>
        </p:spPr>
      </p:cxnSp>
      <p:cxnSp>
        <p:nvCxnSpPr>
          <p:cNvPr id="25" name="Line 25"/>
          <p:cNvCxnSpPr/>
          <p:nvPr/>
        </p:nvCxnSpPr>
        <p:spPr>
          <a:xfrm>
            <a:off x="10026922" y="1732788"/>
            <a:ext cx="0" cy="3638550"/>
          </a:xfrm>
          <a:prstGeom prst="line">
            <a:avLst/>
          </a:prstGeom>
          <a:ln w="9525" cap="flat">
            <a:solidFill>
              <a:srgbClr val="E6E8F2"/>
            </a:solidFill>
          </a:ln>
        </p:spPr>
      </p:cxnSp>
      <p:cxnSp>
        <p:nvCxnSpPr>
          <p:cNvPr id="26" name="Line 26"/>
          <p:cNvCxnSpPr/>
          <p:nvPr/>
        </p:nvCxnSpPr>
        <p:spPr>
          <a:xfrm>
            <a:off x="10197507" y="1732788"/>
            <a:ext cx="0" cy="3638550"/>
          </a:xfrm>
          <a:prstGeom prst="line">
            <a:avLst/>
          </a:prstGeom>
          <a:ln w="9525" cap="flat">
            <a:solidFill>
              <a:srgbClr val="E6E8F2"/>
            </a:solidFill>
          </a:ln>
        </p:spPr>
      </p:cxnSp>
      <p:cxnSp>
        <p:nvCxnSpPr>
          <p:cNvPr id="27" name="Line 27"/>
          <p:cNvCxnSpPr/>
          <p:nvPr/>
        </p:nvCxnSpPr>
        <p:spPr>
          <a:xfrm>
            <a:off x="10368091" y="1732788"/>
            <a:ext cx="0" cy="3638550"/>
          </a:xfrm>
          <a:prstGeom prst="line">
            <a:avLst/>
          </a:prstGeom>
          <a:ln w="9525" cap="flat">
            <a:solidFill>
              <a:srgbClr val="E6E8F2"/>
            </a:solidFill>
          </a:ln>
        </p:spPr>
      </p:cxnSp>
      <p:cxnSp>
        <p:nvCxnSpPr>
          <p:cNvPr id="28" name="Line 28"/>
          <p:cNvCxnSpPr/>
          <p:nvPr/>
        </p:nvCxnSpPr>
        <p:spPr>
          <a:xfrm>
            <a:off x="10538675" y="1732788"/>
            <a:ext cx="0" cy="3638550"/>
          </a:xfrm>
          <a:prstGeom prst="line">
            <a:avLst/>
          </a:prstGeom>
          <a:ln w="9525" cap="flat">
            <a:solidFill>
              <a:srgbClr val="E6E8F2"/>
            </a:solidFill>
          </a:ln>
        </p:spPr>
      </p:cxnSp>
      <p:cxnSp>
        <p:nvCxnSpPr>
          <p:cNvPr id="29" name="Line 29"/>
          <p:cNvCxnSpPr/>
          <p:nvPr/>
        </p:nvCxnSpPr>
        <p:spPr>
          <a:xfrm>
            <a:off x="10709259" y="1732788"/>
            <a:ext cx="0" cy="3638550"/>
          </a:xfrm>
          <a:prstGeom prst="line">
            <a:avLst/>
          </a:prstGeom>
          <a:ln w="9525" cap="flat">
            <a:solidFill>
              <a:srgbClr val="E6E8F2"/>
            </a:solidFill>
          </a:ln>
        </p:spPr>
      </p:cxnSp>
      <p:cxnSp>
        <p:nvCxnSpPr>
          <p:cNvPr id="30" name="Line 30"/>
          <p:cNvCxnSpPr/>
          <p:nvPr/>
        </p:nvCxnSpPr>
        <p:spPr>
          <a:xfrm>
            <a:off x="10879843" y="1732788"/>
            <a:ext cx="0" cy="3638550"/>
          </a:xfrm>
          <a:prstGeom prst="line">
            <a:avLst/>
          </a:prstGeom>
          <a:ln w="9525" cap="flat">
            <a:solidFill>
              <a:srgbClr val="E6E8F2"/>
            </a:solidFill>
          </a:ln>
        </p:spPr>
      </p:cxnSp>
      <p:cxnSp>
        <p:nvCxnSpPr>
          <p:cNvPr id="31" name="Line 31"/>
          <p:cNvCxnSpPr/>
          <p:nvPr/>
        </p:nvCxnSpPr>
        <p:spPr>
          <a:xfrm>
            <a:off x="11050427" y="1732788"/>
            <a:ext cx="0" cy="3638550"/>
          </a:xfrm>
          <a:prstGeom prst="line">
            <a:avLst/>
          </a:prstGeom>
          <a:ln w="9525" cap="flat">
            <a:solidFill>
              <a:srgbClr val="E6E8F2"/>
            </a:solidFill>
          </a:ln>
        </p:spPr>
      </p:cxnSp>
      <p:cxnSp>
        <p:nvCxnSpPr>
          <p:cNvPr id="32" name="Line 32"/>
          <p:cNvCxnSpPr/>
          <p:nvPr/>
        </p:nvCxnSpPr>
        <p:spPr>
          <a:xfrm>
            <a:off x="11221011" y="1732788"/>
            <a:ext cx="0" cy="3638550"/>
          </a:xfrm>
          <a:prstGeom prst="line">
            <a:avLst/>
          </a:prstGeom>
          <a:ln w="9525" cap="flat">
            <a:solidFill>
              <a:srgbClr val="E6E8F2"/>
            </a:solidFill>
          </a:ln>
        </p:spPr>
      </p:cxnSp>
      <p:cxnSp>
        <p:nvCxnSpPr>
          <p:cNvPr id="33" name="Line 33"/>
          <p:cNvCxnSpPr/>
          <p:nvPr/>
        </p:nvCxnSpPr>
        <p:spPr>
          <a:xfrm>
            <a:off x="11391595" y="1732788"/>
            <a:ext cx="0" cy="3638550"/>
          </a:xfrm>
          <a:prstGeom prst="line">
            <a:avLst/>
          </a:prstGeom>
          <a:ln w="9525" cap="flat">
            <a:solidFill>
              <a:srgbClr val="E6E8F2"/>
            </a:solidFill>
          </a:ln>
        </p:spPr>
      </p:cxnSp>
      <p:cxnSp>
        <p:nvCxnSpPr>
          <p:cNvPr id="34" name="Line 34"/>
          <p:cNvCxnSpPr/>
          <p:nvPr/>
        </p:nvCxnSpPr>
        <p:spPr>
          <a:xfrm>
            <a:off x="7638745" y="5371338"/>
            <a:ext cx="3752850" cy="0"/>
          </a:xfrm>
          <a:prstGeom prst="line">
            <a:avLst/>
          </a:prstGeom>
          <a:ln w="9525" cap="flat">
            <a:solidFill>
              <a:srgbClr val="E6E8F2"/>
            </a:solidFill>
          </a:ln>
        </p:spPr>
      </p:cxnSp>
      <p:cxnSp>
        <p:nvCxnSpPr>
          <p:cNvPr id="35" name="Line 35"/>
          <p:cNvCxnSpPr/>
          <p:nvPr/>
        </p:nvCxnSpPr>
        <p:spPr>
          <a:xfrm>
            <a:off x="7638745" y="5205949"/>
            <a:ext cx="3752850" cy="0"/>
          </a:xfrm>
          <a:prstGeom prst="line">
            <a:avLst/>
          </a:prstGeom>
          <a:ln w="9525" cap="flat">
            <a:solidFill>
              <a:srgbClr val="E6E8F2"/>
            </a:solidFill>
          </a:ln>
        </p:spPr>
      </p:cxnSp>
      <p:cxnSp>
        <p:nvCxnSpPr>
          <p:cNvPr id="36" name="Line 36"/>
          <p:cNvCxnSpPr/>
          <p:nvPr/>
        </p:nvCxnSpPr>
        <p:spPr>
          <a:xfrm>
            <a:off x="7638745" y="5040561"/>
            <a:ext cx="3752850" cy="0"/>
          </a:xfrm>
          <a:prstGeom prst="line">
            <a:avLst/>
          </a:prstGeom>
          <a:ln w="9525" cap="flat">
            <a:solidFill>
              <a:srgbClr val="E6E8F2"/>
            </a:solidFill>
          </a:ln>
        </p:spPr>
      </p:cxnSp>
      <p:cxnSp>
        <p:nvCxnSpPr>
          <p:cNvPr id="37" name="Line 37"/>
          <p:cNvCxnSpPr/>
          <p:nvPr/>
        </p:nvCxnSpPr>
        <p:spPr>
          <a:xfrm>
            <a:off x="7638745" y="4875172"/>
            <a:ext cx="3752850" cy="0"/>
          </a:xfrm>
          <a:prstGeom prst="line">
            <a:avLst/>
          </a:prstGeom>
          <a:ln w="9525" cap="flat">
            <a:solidFill>
              <a:srgbClr val="E6E8F2"/>
            </a:solidFill>
          </a:ln>
        </p:spPr>
      </p:cxnSp>
      <p:cxnSp>
        <p:nvCxnSpPr>
          <p:cNvPr id="38" name="Line 38"/>
          <p:cNvCxnSpPr/>
          <p:nvPr/>
        </p:nvCxnSpPr>
        <p:spPr>
          <a:xfrm>
            <a:off x="7638745" y="4709783"/>
            <a:ext cx="3752850" cy="0"/>
          </a:xfrm>
          <a:prstGeom prst="line">
            <a:avLst/>
          </a:prstGeom>
          <a:ln w="9525" cap="flat">
            <a:solidFill>
              <a:srgbClr val="E6E8F2"/>
            </a:solidFill>
          </a:ln>
        </p:spPr>
      </p:cxnSp>
      <p:cxnSp>
        <p:nvCxnSpPr>
          <p:cNvPr id="39" name="Line 39"/>
          <p:cNvCxnSpPr/>
          <p:nvPr/>
        </p:nvCxnSpPr>
        <p:spPr>
          <a:xfrm>
            <a:off x="7638745" y="4544395"/>
            <a:ext cx="3752850" cy="0"/>
          </a:xfrm>
          <a:prstGeom prst="line">
            <a:avLst/>
          </a:prstGeom>
          <a:ln w="9525" cap="flat">
            <a:solidFill>
              <a:srgbClr val="E6E8F2"/>
            </a:solidFill>
          </a:ln>
        </p:spPr>
      </p:cxnSp>
      <p:cxnSp>
        <p:nvCxnSpPr>
          <p:cNvPr id="40" name="Line 40"/>
          <p:cNvCxnSpPr/>
          <p:nvPr/>
        </p:nvCxnSpPr>
        <p:spPr>
          <a:xfrm>
            <a:off x="7638745" y="4379006"/>
            <a:ext cx="3752850" cy="0"/>
          </a:xfrm>
          <a:prstGeom prst="line">
            <a:avLst/>
          </a:prstGeom>
          <a:ln w="9525" cap="flat">
            <a:solidFill>
              <a:srgbClr val="E6E8F2"/>
            </a:solidFill>
          </a:ln>
        </p:spPr>
      </p:cxnSp>
      <p:cxnSp>
        <p:nvCxnSpPr>
          <p:cNvPr id="41" name="Line 41"/>
          <p:cNvCxnSpPr/>
          <p:nvPr/>
        </p:nvCxnSpPr>
        <p:spPr>
          <a:xfrm>
            <a:off x="7638745" y="4213618"/>
            <a:ext cx="3752850" cy="0"/>
          </a:xfrm>
          <a:prstGeom prst="line">
            <a:avLst/>
          </a:prstGeom>
          <a:ln w="9525" cap="flat">
            <a:solidFill>
              <a:srgbClr val="E6E8F2"/>
            </a:solidFill>
          </a:ln>
        </p:spPr>
      </p:cxnSp>
      <p:cxnSp>
        <p:nvCxnSpPr>
          <p:cNvPr id="42" name="Line 42"/>
          <p:cNvCxnSpPr/>
          <p:nvPr/>
        </p:nvCxnSpPr>
        <p:spPr>
          <a:xfrm>
            <a:off x="7638745" y="4048229"/>
            <a:ext cx="3752850" cy="0"/>
          </a:xfrm>
          <a:prstGeom prst="line">
            <a:avLst/>
          </a:prstGeom>
          <a:ln w="9525" cap="flat">
            <a:solidFill>
              <a:srgbClr val="E6E8F2"/>
            </a:solidFill>
          </a:ln>
        </p:spPr>
      </p:cxnSp>
      <p:cxnSp>
        <p:nvCxnSpPr>
          <p:cNvPr id="43" name="Line 43"/>
          <p:cNvCxnSpPr/>
          <p:nvPr/>
        </p:nvCxnSpPr>
        <p:spPr>
          <a:xfrm>
            <a:off x="7638745" y="3882840"/>
            <a:ext cx="3752850" cy="0"/>
          </a:xfrm>
          <a:prstGeom prst="line">
            <a:avLst/>
          </a:prstGeom>
          <a:ln w="9525" cap="flat">
            <a:solidFill>
              <a:srgbClr val="E6E8F2"/>
            </a:solidFill>
          </a:ln>
        </p:spPr>
      </p:cxnSp>
      <p:cxnSp>
        <p:nvCxnSpPr>
          <p:cNvPr id="44" name="Line 44"/>
          <p:cNvCxnSpPr/>
          <p:nvPr/>
        </p:nvCxnSpPr>
        <p:spPr>
          <a:xfrm>
            <a:off x="7638745" y="3717452"/>
            <a:ext cx="3752850" cy="0"/>
          </a:xfrm>
          <a:prstGeom prst="line">
            <a:avLst/>
          </a:prstGeom>
          <a:ln w="9525" cap="flat">
            <a:solidFill>
              <a:srgbClr val="E6E8F2"/>
            </a:solidFill>
          </a:ln>
        </p:spPr>
      </p:cxnSp>
      <p:cxnSp>
        <p:nvCxnSpPr>
          <p:cNvPr id="45" name="Line 45"/>
          <p:cNvCxnSpPr/>
          <p:nvPr/>
        </p:nvCxnSpPr>
        <p:spPr>
          <a:xfrm>
            <a:off x="7638745" y="3552063"/>
            <a:ext cx="3752850" cy="0"/>
          </a:xfrm>
          <a:prstGeom prst="line">
            <a:avLst/>
          </a:prstGeom>
          <a:ln w="9525" cap="flat">
            <a:solidFill>
              <a:srgbClr val="E6E8F2"/>
            </a:solidFill>
          </a:ln>
        </p:spPr>
      </p:cxnSp>
      <p:cxnSp>
        <p:nvCxnSpPr>
          <p:cNvPr id="46" name="Line 46"/>
          <p:cNvCxnSpPr/>
          <p:nvPr/>
        </p:nvCxnSpPr>
        <p:spPr>
          <a:xfrm>
            <a:off x="7638745" y="3386674"/>
            <a:ext cx="3752850" cy="0"/>
          </a:xfrm>
          <a:prstGeom prst="line">
            <a:avLst/>
          </a:prstGeom>
          <a:ln w="9525" cap="flat">
            <a:solidFill>
              <a:srgbClr val="E6E8F2"/>
            </a:solidFill>
          </a:ln>
        </p:spPr>
      </p:cxnSp>
      <p:cxnSp>
        <p:nvCxnSpPr>
          <p:cNvPr id="47" name="Line 47"/>
          <p:cNvCxnSpPr/>
          <p:nvPr/>
        </p:nvCxnSpPr>
        <p:spPr>
          <a:xfrm>
            <a:off x="7638745" y="3221286"/>
            <a:ext cx="3752850" cy="0"/>
          </a:xfrm>
          <a:prstGeom prst="line">
            <a:avLst/>
          </a:prstGeom>
          <a:ln w="9525" cap="flat">
            <a:solidFill>
              <a:srgbClr val="E6E8F2"/>
            </a:solidFill>
          </a:ln>
        </p:spPr>
      </p:cxnSp>
      <p:cxnSp>
        <p:nvCxnSpPr>
          <p:cNvPr id="48" name="Line 48"/>
          <p:cNvCxnSpPr/>
          <p:nvPr/>
        </p:nvCxnSpPr>
        <p:spPr>
          <a:xfrm>
            <a:off x="7638745" y="3055897"/>
            <a:ext cx="3752850" cy="0"/>
          </a:xfrm>
          <a:prstGeom prst="line">
            <a:avLst/>
          </a:prstGeom>
          <a:ln w="9525" cap="flat">
            <a:solidFill>
              <a:srgbClr val="E6E8F2"/>
            </a:solidFill>
          </a:ln>
        </p:spPr>
      </p:cxnSp>
      <p:cxnSp>
        <p:nvCxnSpPr>
          <p:cNvPr id="49" name="Line 49"/>
          <p:cNvCxnSpPr/>
          <p:nvPr/>
        </p:nvCxnSpPr>
        <p:spPr>
          <a:xfrm>
            <a:off x="7638745" y="2890508"/>
            <a:ext cx="3752850" cy="0"/>
          </a:xfrm>
          <a:prstGeom prst="line">
            <a:avLst/>
          </a:prstGeom>
          <a:ln w="9525" cap="flat">
            <a:solidFill>
              <a:srgbClr val="E6E8F2"/>
            </a:solidFill>
          </a:ln>
        </p:spPr>
      </p:cxnSp>
      <p:cxnSp>
        <p:nvCxnSpPr>
          <p:cNvPr id="50" name="Line 50"/>
          <p:cNvCxnSpPr/>
          <p:nvPr/>
        </p:nvCxnSpPr>
        <p:spPr>
          <a:xfrm>
            <a:off x="7638745" y="2725120"/>
            <a:ext cx="3752850" cy="0"/>
          </a:xfrm>
          <a:prstGeom prst="line">
            <a:avLst/>
          </a:prstGeom>
          <a:ln w="9525" cap="flat">
            <a:solidFill>
              <a:srgbClr val="E6E8F2"/>
            </a:solidFill>
          </a:ln>
        </p:spPr>
      </p:cxnSp>
      <p:cxnSp>
        <p:nvCxnSpPr>
          <p:cNvPr id="51" name="Line 51"/>
          <p:cNvCxnSpPr/>
          <p:nvPr/>
        </p:nvCxnSpPr>
        <p:spPr>
          <a:xfrm>
            <a:off x="7638745" y="2559731"/>
            <a:ext cx="3752850" cy="0"/>
          </a:xfrm>
          <a:prstGeom prst="line">
            <a:avLst/>
          </a:prstGeom>
          <a:ln w="9525" cap="flat">
            <a:solidFill>
              <a:srgbClr val="E6E8F2"/>
            </a:solidFill>
          </a:ln>
        </p:spPr>
      </p:cxnSp>
      <p:cxnSp>
        <p:nvCxnSpPr>
          <p:cNvPr id="52" name="Line 52"/>
          <p:cNvCxnSpPr/>
          <p:nvPr/>
        </p:nvCxnSpPr>
        <p:spPr>
          <a:xfrm>
            <a:off x="7638745" y="2394343"/>
            <a:ext cx="3752850" cy="0"/>
          </a:xfrm>
          <a:prstGeom prst="line">
            <a:avLst/>
          </a:prstGeom>
          <a:ln w="9525" cap="flat">
            <a:solidFill>
              <a:srgbClr val="E6E8F2"/>
            </a:solidFill>
          </a:ln>
        </p:spPr>
      </p:cxnSp>
      <p:cxnSp>
        <p:nvCxnSpPr>
          <p:cNvPr id="53" name="Line 53"/>
          <p:cNvCxnSpPr/>
          <p:nvPr/>
        </p:nvCxnSpPr>
        <p:spPr>
          <a:xfrm>
            <a:off x="7638745" y="2228954"/>
            <a:ext cx="3752850" cy="0"/>
          </a:xfrm>
          <a:prstGeom prst="line">
            <a:avLst/>
          </a:prstGeom>
          <a:ln w="9525" cap="flat">
            <a:solidFill>
              <a:srgbClr val="E6E8F2"/>
            </a:solidFill>
          </a:ln>
        </p:spPr>
      </p:cxnSp>
      <p:cxnSp>
        <p:nvCxnSpPr>
          <p:cNvPr id="54" name="Line 54"/>
          <p:cNvCxnSpPr/>
          <p:nvPr/>
        </p:nvCxnSpPr>
        <p:spPr>
          <a:xfrm>
            <a:off x="7638745" y="2063565"/>
            <a:ext cx="3752850" cy="0"/>
          </a:xfrm>
          <a:prstGeom prst="line">
            <a:avLst/>
          </a:prstGeom>
          <a:ln w="9525" cap="flat">
            <a:solidFill>
              <a:srgbClr val="E6E8F2"/>
            </a:solidFill>
          </a:ln>
        </p:spPr>
      </p:cxnSp>
      <p:cxnSp>
        <p:nvCxnSpPr>
          <p:cNvPr id="55" name="Line 55"/>
          <p:cNvCxnSpPr/>
          <p:nvPr/>
        </p:nvCxnSpPr>
        <p:spPr>
          <a:xfrm>
            <a:off x="7638745" y="1898177"/>
            <a:ext cx="3752850" cy="0"/>
          </a:xfrm>
          <a:prstGeom prst="line">
            <a:avLst/>
          </a:prstGeom>
          <a:ln w="9525" cap="flat">
            <a:solidFill>
              <a:srgbClr val="E6E8F2"/>
            </a:solidFill>
          </a:ln>
        </p:spPr>
      </p:cxnSp>
      <p:cxnSp>
        <p:nvCxnSpPr>
          <p:cNvPr id="56" name="Line 56"/>
          <p:cNvCxnSpPr/>
          <p:nvPr/>
        </p:nvCxnSpPr>
        <p:spPr>
          <a:xfrm>
            <a:off x="7638745" y="1732788"/>
            <a:ext cx="3752850" cy="0"/>
          </a:xfrm>
          <a:prstGeom prst="line">
            <a:avLst/>
          </a:prstGeom>
          <a:ln w="9525" cap="flat">
            <a:solidFill>
              <a:srgbClr val="E6E8F2"/>
            </a:solidFill>
          </a:ln>
        </p:spPr>
      </p:cxnSp>
      <p:cxnSp>
        <p:nvCxnSpPr>
          <p:cNvPr id="57" name="Line 57"/>
          <p:cNvCxnSpPr/>
          <p:nvPr/>
        </p:nvCxnSpPr>
        <p:spPr>
          <a:xfrm>
            <a:off x="8662250" y="1732788"/>
            <a:ext cx="0" cy="3638550"/>
          </a:xfrm>
          <a:prstGeom prst="line">
            <a:avLst/>
          </a:prstGeom>
          <a:ln w="19050" cap="flat">
            <a:solidFill>
              <a:srgbClr val="5F6272"/>
            </a:solidFill>
          </a:ln>
        </p:spPr>
      </p:cxnSp>
      <p:cxnSp>
        <p:nvCxnSpPr>
          <p:cNvPr id="58" name="Line 58"/>
          <p:cNvCxnSpPr/>
          <p:nvPr/>
        </p:nvCxnSpPr>
        <p:spPr>
          <a:xfrm>
            <a:off x="7638745" y="3552063"/>
            <a:ext cx="3752850" cy="0"/>
          </a:xfrm>
          <a:prstGeom prst="line">
            <a:avLst/>
          </a:prstGeom>
          <a:ln w="19050" cap="flat">
            <a:solidFill>
              <a:srgbClr val="5F6272"/>
            </a:solidFill>
          </a:ln>
        </p:spPr>
      </p:cxnSp>
      <p:sp>
        <p:nvSpPr>
          <p:cNvPr id="59" name="Shape 59"/>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0" name="Shape 60"/>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2" name="Shape 62"/>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3" name="Shape 63"/>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4" name="Shape 64"/>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5" name="Shape 65"/>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6" name="Shape 66"/>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8" name="Shape 68"/>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9" name="Shape 69"/>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b: (0, −45)</a:t>
            </a:r>
            <a:endParaRPr lang="en-US" sz="1125" dirty="0"/>
          </a:p>
        </p:txBody>
      </p:sp>
      <p:cxnSp>
        <p:nvCxnSpPr>
          <p:cNvPr id="71" name="Line 71"/>
          <p:cNvCxnSpPr/>
          <p:nvPr/>
        </p:nvCxnSpPr>
        <p:spPr>
          <a:xfrm flipV="1">
            <a:off x="7923052" y="1732788"/>
            <a:ext cx="2501900" cy="3638550"/>
          </a:xfrm>
          <a:prstGeom prst="line">
            <a:avLst/>
          </a:prstGeom>
          <a:ln w="38100" cap="rnd">
            <a:solidFill>
              <a:srgbClr val="7A4FC4"/>
            </a:solidFill>
          </a:ln>
        </p:spPr>
      </p:cxnSp>
      <p:sp>
        <p:nvSpPr>
          <p:cNvPr id="72" name="Shape 72"/>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3" name="Line 73"/>
          <p:cNvCxnSpPr/>
          <p:nvPr/>
        </p:nvCxnSpPr>
        <p:spPr>
          <a:xfrm>
            <a:off x="9515170" y="3055897"/>
            <a:ext cx="341168" cy="0"/>
          </a:xfrm>
          <a:prstGeom prst="line">
            <a:avLst/>
          </a:prstGeom>
          <a:ln w="38100" cap="rnd">
            <a:solidFill>
              <a:srgbClr val="16171D"/>
            </a:solidFill>
            <a:prstDash val="dash"/>
          </a:ln>
        </p:spPr>
      </p:cxnSp>
      <p:cxnSp>
        <p:nvCxnSpPr>
          <p:cNvPr id="74" name="Line 74"/>
          <p:cNvCxnSpPr/>
          <p:nvPr/>
        </p:nvCxnSpPr>
        <p:spPr>
          <a:xfrm flipV="1">
            <a:off x="9856338" y="2559731"/>
            <a:ext cx="0" cy="496166"/>
          </a:xfrm>
          <a:prstGeom prst="line">
            <a:avLst/>
          </a:prstGeom>
          <a:ln w="38100" cap="rnd">
            <a:solidFill>
              <a:srgbClr val="16171D"/>
            </a:solidFill>
            <a:prstDash val="dash"/>
          </a:ln>
        </p:spPr>
      </p:cxnSp>
      <p:sp>
        <p:nvSpPr>
          <p:cNvPr id="75" name="Slide Number 7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anim calcmode="lin" valueType="num">
                                      <p:cBhvr>
                                        <p:cTn id="33" dur="500" fill="hold"/>
                                        <p:tgtEl>
                                          <p:spTgt spid="69"/>
                                        </p:tgtEl>
                                        <p:attrNameLst>
                                          <p:attrName>ppt_w</p:attrName>
                                        </p:attrNameLst>
                                      </p:cBhvr>
                                      <p:tavLst>
                                        <p:tav tm="0">
                                          <p:val>
                                            <p:fltVal val="0"/>
                                          </p:val>
                                        </p:tav>
                                        <p:tav tm="100000">
                                          <p:val>
                                            <p:strVal val="#ppt_w"/>
                                          </p:val>
                                        </p:tav>
                                      </p:tavLst>
                                    </p:anim>
                                    <p:anim calcmode="lin" valueType="num">
                                      <p:cBhvr>
                                        <p:cTn id="34" dur="500" fill="hold"/>
                                        <p:tgtEl>
                                          <p:spTgt spid="69"/>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anim calcmode="lin" valueType="num">
                                      <p:cBhvr>
                                        <p:cTn id="38" dur="500" fill="hold"/>
                                        <p:tgtEl>
                                          <p:spTgt spid="70"/>
                                        </p:tgtEl>
                                        <p:attrNameLst>
                                          <p:attrName>ppt_w</p:attrName>
                                        </p:attrNameLst>
                                      </p:cBhvr>
                                      <p:tavLst>
                                        <p:tav tm="0">
                                          <p:val>
                                            <p:fltVal val="0"/>
                                          </p:val>
                                        </p:tav>
                                        <p:tav tm="100000">
                                          <p:val>
                                            <p:strVal val="#ppt_w"/>
                                          </p:val>
                                        </p:tav>
                                      </p:tavLst>
                                    </p:anim>
                                    <p:anim calcmode="lin" valueType="num">
                                      <p:cBhvr>
                                        <p:cTn id="39" dur="500" fill="hold"/>
                                        <p:tgtEl>
                                          <p:spTgt spid="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6.3 · Questions 6–7 · SE p. 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Factored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c</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slope. The value of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that makes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zero of a function</a:t>
            </a:r>
            <a:r>
              <a:rPr lang="en-US" sz="1575" dirty="0">
                <a:solidFill>
                  <a:srgbClr val="16171D"/>
                </a:solidFill>
                <a:latin typeface="Segoe UI"/>
                <a:cs typeface="Segoe UI"/>
              </a:rPr>
              <a:t xml:space="preserve"> is a real number that makes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08610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the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3</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(3, 0)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4952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What is the zero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904488"/>
            <a:ext cx="589289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because 15(3 − 3) = 0</a:t>
            </a:r>
            <a:endParaRPr lang="en-US" sz="2325" dirty="0"/>
          </a:p>
        </p:txBody>
      </p:sp>
      <p:sp>
        <p:nvSpPr>
          <p:cNvPr id="10" name="Shape 10"/>
          <p:cNvSpPr txBox="1"/>
          <p:nvPr/>
        </p:nvSpPr>
        <p:spPr>
          <a:xfrm>
            <a:off x="685800" y="4537710"/>
            <a:ext cx="6242552" cy="38633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A zero is a </a:t>
            </a:r>
            <a:r>
              <a:rPr lang="en-US" sz="1575" dirty="0" b="1">
                <a:solidFill>
                  <a:srgbClr val="16171D"/>
                </a:solidFill>
                <a:latin typeface="Segoe UI"/>
                <a:cs typeface="Segoe UI"/>
              </a:rPr>
              <a:t xml:space="preserve">number</a:t>
            </a:r>
            <a:r>
              <a:rPr lang="en-US" sz="1575" dirty="0">
                <a:solidFill>
                  <a:srgbClr val="16171D"/>
                </a:solidFill>
                <a:latin typeface="Segoe UI"/>
                <a:cs typeface="Segoe UI"/>
              </a:rPr>
              <a:t xml:space="preserve"> (3). An intercept is a </a:t>
            </a:r>
            <a:r>
              <a:rPr lang="en-US" sz="1575" dirty="0" b="1">
                <a:solidFill>
                  <a:srgbClr val="16171D"/>
                </a:solidFill>
                <a:latin typeface="Segoe UI"/>
                <a:cs typeface="Segoe UI"/>
              </a:rPr>
              <a:t xml:space="preserve">point</a:t>
            </a:r>
            <a:r>
              <a:rPr lang="en-US" sz="1575" dirty="0">
                <a:solidFill>
                  <a:srgbClr val="16171D"/>
                </a:solidFill>
                <a:latin typeface="Segoe UI"/>
                <a:cs typeface="Segoe UI"/>
              </a:rPr>
              <a:t xml:space="preserve"> (3, 0).</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c: (3, 0)</a:t>
            </a:r>
            <a:endParaRPr lang="en-US" sz="1125" dirty="0"/>
          </a:p>
        </p:txBody>
      </p:sp>
      <p:cxnSp>
        <p:nvCxnSpPr>
          <p:cNvPr id="72" name="Line 72"/>
          <p:cNvCxnSpPr/>
          <p:nvPr/>
        </p:nvCxnSpPr>
        <p:spPr>
          <a:xfrm flipV="1">
            <a:off x="7923052" y="1732788"/>
            <a:ext cx="2501900" cy="3638550"/>
          </a:xfrm>
          <a:prstGeom prst="line">
            <a:avLst/>
          </a:prstGeom>
          <a:ln w="38100" cap="rnd">
            <a:solidFill>
              <a:srgbClr val="7A4FC4"/>
            </a:solidFill>
          </a:ln>
        </p:spPr>
      </p:cxnSp>
      <p:sp>
        <p:nvSpPr>
          <p:cNvPr id="73" name="Shape 73"/>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4" name="Line 74"/>
          <p:cNvCxnSpPr/>
          <p:nvPr/>
        </p:nvCxnSpPr>
        <p:spPr>
          <a:xfrm>
            <a:off x="9515170" y="3055897"/>
            <a:ext cx="341168" cy="0"/>
          </a:xfrm>
          <a:prstGeom prst="line">
            <a:avLst/>
          </a:prstGeom>
          <a:ln w="38100" cap="rnd">
            <a:solidFill>
              <a:srgbClr val="16171D"/>
            </a:solidFill>
            <a:prstDash val="dash"/>
          </a:ln>
        </p:spPr>
      </p:cxnSp>
      <p:cxnSp>
        <p:nvCxnSpPr>
          <p:cNvPr id="75" name="Line 75"/>
          <p:cNvCxnSpPr/>
          <p:nvPr/>
        </p:nvCxnSpPr>
        <p:spPr>
          <a:xfrm flipV="1">
            <a:off x="9856338" y="2559731"/>
            <a:ext cx="0" cy="496166"/>
          </a:xfrm>
          <a:prstGeom prst="line">
            <a:avLst/>
          </a:prstGeom>
          <a:ln w="38100" cap="rnd">
            <a:solidFill>
              <a:srgbClr val="16171D"/>
            </a:solidFill>
            <a:prstDash val="dash"/>
          </a:ln>
        </p:spPr>
      </p:cxnSp>
      <p:sp>
        <p:nvSpPr>
          <p:cNvPr id="76" name="Slide Number 7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anim calcmode="lin" valueType="num">
                                      <p:cBhvr>
                                        <p:cTn id="33" dur="500" fill="hold"/>
                                        <p:tgtEl>
                                          <p:spTgt spid="70"/>
                                        </p:tgtEl>
                                        <p:attrNameLst>
                                          <p:attrName>ppt_w</p:attrName>
                                        </p:attrNameLst>
                                      </p:cBhvr>
                                      <p:tavLst>
                                        <p:tav tm="0">
                                          <p:val>
                                            <p:fltVal val="0"/>
                                          </p:val>
                                        </p:tav>
                                        <p:tav tm="100000">
                                          <p:val>
                                            <p:strVal val="#ppt_w"/>
                                          </p:val>
                                        </p:tav>
                                      </p:tavLst>
                                    </p:anim>
                                    <p:anim calcmode="lin" valueType="num">
                                      <p:cBhvr>
                                        <p:cTn id="34" dur="500" fill="hold"/>
                                        <p:tgtEl>
                                          <p:spTgt spid="70"/>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2</a:t>
            </a:r>
            <a:endParaRPr lang="en-US" sz="3450" dirty="0"/>
          </a:p>
        </p:txBody>
      </p:sp>
      <p:sp>
        <p:nvSpPr>
          <p:cNvPr id="7" name="Shape 7"/>
          <p:cNvSpPr txBox="1"/>
          <p:nvPr/>
        </p:nvSpPr>
        <p:spPr>
          <a:xfrm>
            <a:off x="685800" y="1618488"/>
            <a:ext cx="3492398" cy="25267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Solve with the equation</a:t>
            </a:r>
            <a:endParaRPr lang="en-US" sz="2100" dirty="0"/>
          </a:p>
        </p:txBody>
      </p:sp>
      <p:sp>
        <p:nvSpPr>
          <p:cNvPr id="5" name="Shape 5"/>
          <p:cNvSpPr txBox="1"/>
          <p:nvPr/>
        </p:nvSpPr>
        <p:spPr>
          <a:xfrm>
            <a:off x="895350" y="2580132"/>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100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6.67</a:t>
            </a:r>
            <a:endParaRPr lang="en-US" sz="2325" dirty="0"/>
          </a:p>
        </p:txBody>
      </p:sp>
      <p:sp>
        <p:nvSpPr>
          <p:cNvPr id="6" name="Shape 6"/>
          <p:cNvSpPr txBox="1"/>
          <p:nvPr/>
        </p:nvSpPr>
        <p:spPr>
          <a:xfrm>
            <a:off x="895350" y="343890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Then decide what makes sense: 7 shirts.</a:t>
            </a:r>
            <a:endParaRPr lang="en-US" sz="1575" dirty="0"/>
          </a:p>
        </p:txBody>
      </p:sp>
      <p:sp>
        <p:nvSpPr>
          <p:cNvPr id="11" name="Shape 11"/>
          <p:cNvSpPr txBox="1"/>
          <p:nvPr/>
        </p:nvSpPr>
        <p:spPr>
          <a:xfrm>
            <a:off x="4349648" y="1618488"/>
            <a:ext cx="3492398" cy="25267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9" name="Shape 9"/>
          <p:cNvSpPr txBox="1"/>
          <p:nvPr/>
        </p:nvSpPr>
        <p:spPr>
          <a:xfrm>
            <a:off x="4559198"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a</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b</a:t>
            </a:r>
            <a:endParaRPr lang="en-US" sz="2325" dirty="0"/>
          </a:p>
        </p:txBody>
      </p:sp>
      <p:sp>
        <p:nvSpPr>
          <p:cNvPr id="10" name="Shape 10"/>
          <p:cNvSpPr txBox="1"/>
          <p:nvPr/>
        </p:nvSpPr>
        <p:spPr>
          <a:xfrm>
            <a:off x="4559198" y="276453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slope,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5" name="Shape 15"/>
          <p:cNvSpPr txBox="1"/>
          <p:nvPr/>
        </p:nvSpPr>
        <p:spPr>
          <a:xfrm>
            <a:off x="8013497" y="1618488"/>
            <a:ext cx="3492398" cy="25267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13" name="Shape 13"/>
          <p:cNvSpPr txBox="1"/>
          <p:nvPr/>
        </p:nvSpPr>
        <p:spPr>
          <a:xfrm>
            <a:off x="8223047"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c</a:t>
            </a:r>
            <a:r>
              <a:rPr lang="en-US" sz="2325" dirty="0">
                <a:solidFill>
                  <a:srgbClr val="16171D"/>
                </a:solidFill>
                <a:latin typeface="Cambria"/>
                <a:cs typeface="Cambria"/>
              </a:rPr>
              <a:t xml:space="preserve">)</a:t>
            </a:r>
            <a:endParaRPr lang="en-US" sz="2325" dirty="0"/>
          </a:p>
        </p:txBody>
      </p:sp>
      <p:sp>
        <p:nvSpPr>
          <p:cNvPr id="14" name="Shape 14"/>
          <p:cNvSpPr txBox="1"/>
          <p:nvPr/>
        </p:nvSpPr>
        <p:spPr>
          <a:xfrm>
            <a:off x="8223047" y="276453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slope,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 zero,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0)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a:t>
            </a:r>
            <a:endParaRPr lang="en-US" sz="1575" dirty="0"/>
          </a:p>
        </p:txBody>
      </p:sp>
      <p:sp>
        <p:nvSpPr>
          <p:cNvPr id="16" name="Shape 16"/>
          <p:cNvSpPr txBox="1"/>
          <p:nvPr/>
        </p:nvSpPr>
        <p:spPr>
          <a:xfrm>
            <a:off x="685800" y="431673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
        <p:nvSpPr>
          <p:cNvPr id="17" name="Slide Number 1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3</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use the structure of the equation to identify characteristics of the function?</a:t>
            </a:r>
            <a:endParaRPr lang="en-US" sz="24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Write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in general form. </a:t>
            </a:r>
            <a:r>
              <a:rPr lang="en-US" sz="1575" dirty="0">
                <a:solidFill>
                  <a:srgbClr val="5F6272"/>
                </a:solidFill>
                <a:latin typeface="Segoe UI"/>
                <a:cs typeface="Segoe UI"/>
              </a:rPr>
              <a:t xml:space="preserve">(SE p. 248)</a:t>
            </a:r>
            <a:endParaRPr lang="en-US" sz="1950" dirty="0"/>
          </a:p>
        </p:txBody>
      </p:sp>
      <p:sp>
        <p:nvSpPr>
          <p:cNvPr id="5" name="Shape 5"/>
          <p:cNvSpPr txBox="1"/>
          <p:nvPr/>
        </p:nvSpPr>
        <p:spPr>
          <a:xfrm>
            <a:off x="685800" y="245821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− 20</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zero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249)</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7</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Degree and leading coefficient of </a:t>
            </a: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248)</a:t>
            </a:r>
            <a:endParaRPr lang="en-US" sz="1950" dirty="0"/>
          </a:p>
        </p:txBody>
      </p:sp>
      <p:sp>
        <p:nvSpPr>
          <p:cNvPr id="9" name="Shape 9"/>
          <p:cNvSpPr txBox="1"/>
          <p:nvPr/>
        </p:nvSpPr>
        <p:spPr>
          <a:xfrm>
            <a:off x="6362548" y="245821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degree 3, leading coefficient 5</a:t>
            </a:r>
            <a:endParaRPr lang="en-US" sz="2325" dirty="0"/>
          </a:p>
        </p:txBody>
      </p:sp>
      <p:sp>
        <p:nvSpPr>
          <p:cNvPr id="10" name="Shape 10"/>
          <p:cNvSpPr txBox="1"/>
          <p:nvPr/>
        </p:nvSpPr>
        <p:spPr>
          <a:xfrm>
            <a:off x="6362548" y="359816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15</a:t>
            </a:r>
            <a:r>
              <a:rPr lang="en-US" sz="1950" dirty="0" i="1">
                <a:solidFill>
                  <a:srgbClr val="16171D"/>
                </a:solidFill>
                <a:latin typeface="Cambria"/>
                <a:cs typeface="Cambria"/>
              </a:rPr>
              <a:t xml:space="preserve">t</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244)</a:t>
            </a:r>
            <a:endParaRPr lang="en-US" sz="1950" dirty="0"/>
          </a:p>
        </p:txBody>
      </p:sp>
      <p:sp>
        <p:nvSpPr>
          <p:cNvPr id="11" name="Shape 11"/>
          <p:cNvSpPr txBox="1"/>
          <p:nvPr/>
        </p:nvSpPr>
        <p:spPr>
          <a:xfrm>
            <a:off x="6362548" y="408355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(4) = 60</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6.4: a booth fee changes the graph</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Talk the Talk</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Exit ticket</a:t>
            </a:r>
            <a:endParaRPr lang="en-US" sz="1950" dirty="0"/>
          </a:p>
        </p:txBody>
      </p:sp>
      <p:sp>
        <p:nvSpPr>
          <p:cNvPr id="8" name="Shape 8"/>
          <p:cNvSpPr txBox="1"/>
          <p:nvPr/>
        </p:nvSpPr>
        <p:spPr>
          <a:xfrm>
            <a:off x="685800" y="3712464"/>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6.4 · Interpreting More Changes to the Graph · SE pp. 250–251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$35 booth fee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and 3 free shirts, plus a </a:t>
            </a:r>
            <a:r>
              <a:rPr lang="en-US" sz="1575" dirty="0" b="1">
                <a:solidFill>
                  <a:srgbClr val="16171D"/>
                </a:solidFill>
                <a:latin typeface="Segoe UI"/>
                <a:cs typeface="Segoe UI"/>
              </a:rPr>
              <a:t xml:space="preserve">$35</a:t>
            </a:r>
            <a:r>
              <a:rPr lang="en-US" sz="1575" dirty="0">
                <a:solidFill>
                  <a:srgbClr val="16171D"/>
                </a:solidFill>
                <a:latin typeface="Segoe UI"/>
                <a:cs typeface="Segoe UI"/>
              </a:rPr>
              <a:t xml:space="preserve"> fee. The new relationship is </a:t>
            </a:r>
            <a:r>
              <a:rPr lang="en-US" sz="1575" dirty="0" b="1" i="1">
                <a:solidFill>
                  <a:srgbClr val="4F8A3C"/>
                </a:solidFill>
                <a:latin typeface="Cambria"/>
                <a:cs typeface="Cambria"/>
              </a:rPr>
              <a:t xml:space="preserve">F</a:t>
            </a:r>
            <a:r>
              <a:rPr lang="en-US" sz="1575" dirty="0" b="1">
                <a:solidFill>
                  <a:srgbClr val="4F8A3C"/>
                </a:solidFill>
                <a:latin typeface="Cambria"/>
                <a:cs typeface="Cambria"/>
              </a:rPr>
              <a:t xml:space="preserve">(</a:t>
            </a:r>
            <a:r>
              <a:rPr lang="en-US" sz="1575" dirty="0" b="1" i="1">
                <a:solidFill>
                  <a:srgbClr val="4F8A3C"/>
                </a:solidFill>
                <a:latin typeface="Cambria"/>
                <a:cs typeface="Cambria"/>
              </a:rPr>
              <a:t xml:space="preserve">t</a:t>
            </a:r>
            <a:r>
              <a:rPr lang="en-US" sz="1575" dirty="0" b="1">
                <a:solidFill>
                  <a:srgbClr val="4F8A3C"/>
                </a:solidFill>
                <a:latin typeface="Cambria"/>
                <a:cs typeface="Cambria"/>
              </a:rPr>
              <a:t xml:space="preserve">)</a:t>
            </a:r>
            <a:r>
              <a:rPr lang="en-US" sz="1575" dirty="0">
                <a:solidFill>
                  <a:srgbClr val="16171D"/>
                </a:solidFill>
                <a:latin typeface="Segoe UI"/>
                <a:cs typeface="Segoe UI"/>
              </a:rPr>
              <a:t xml:space="preserve">, the green line.</a:t>
            </a:r>
            <a:endParaRPr lang="en-US" sz="1575" dirty="0"/>
          </a:p>
        </p:txBody>
      </p:sp>
      <p:sp>
        <p:nvSpPr>
          <p:cNvPr id="5" name="Shape 5"/>
          <p:cNvSpPr txBox="1"/>
          <p:nvPr/>
        </p:nvSpPr>
        <p:spPr>
          <a:xfrm>
            <a:off x="685800" y="2220087"/>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58165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lines: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43225"/>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How did the $35 fee change the graph?</a:t>
            </a:r>
            <a:endParaRPr lang="en-US" sz="1575" dirty="0"/>
          </a:p>
        </p:txBody>
      </p:sp>
      <p:sp>
        <p:nvSpPr>
          <p:cNvPr id="8" name="Shape 8"/>
          <p:cNvSpPr txBox="1"/>
          <p:nvPr/>
        </p:nvSpPr>
        <p:spPr>
          <a:xfrm>
            <a:off x="685800" y="33047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moved down 35, from </a:t>
            </a: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to </a:t>
            </a:r>
            <a:r>
              <a:rPr lang="en-US" sz="1575" dirty="0" b="1">
                <a:solidFill>
                  <a:srgbClr val="3050B8"/>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666363"/>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How many shirts before she has any money to return?</a:t>
            </a:r>
            <a:endParaRPr lang="en-US" sz="1575" dirty="0"/>
          </a:p>
        </p:txBody>
      </p:sp>
      <p:sp>
        <p:nvSpPr>
          <p:cNvPr id="10" name="Shape 10"/>
          <p:cNvSpPr txBox="1"/>
          <p:nvPr/>
        </p:nvSpPr>
        <p:spPr>
          <a:xfrm>
            <a:off x="685800" y="402793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 shirts.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(5) = −5</a:t>
            </a:r>
            <a:r>
              <a:rPr lang="en-US" sz="1575" dirty="0">
                <a:solidFill>
                  <a:srgbClr val="16171D"/>
                </a:solidFill>
                <a:latin typeface="Segoe UI"/>
                <a:cs typeface="Segoe UI"/>
              </a:rPr>
              <a:t xml:space="preserve"> but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(6) = 10</a:t>
            </a:r>
            <a:r>
              <a:rPr lang="en-US" sz="1575" dirty="0">
                <a:solidFill>
                  <a:srgbClr val="16171D"/>
                </a:solidFill>
                <a:latin typeface="Segoe UI"/>
                <a:cs typeface="Segoe UI"/>
              </a:rPr>
              <a:t xml:space="preserve">.</a:t>
            </a:r>
            <a:endParaRPr lang="en-US" sz="1575" dirty="0"/>
          </a:p>
        </p:txBody>
      </p:sp>
      <p:sp>
        <p:nvSpPr>
          <p:cNvPr id="11" name="Shape 11"/>
          <p:cNvSpPr txBox="1"/>
          <p:nvPr/>
        </p:nvSpPr>
        <p:spPr>
          <a:xfrm>
            <a:off x="685800" y="4389501"/>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1d.</a:t>
            </a:r>
            <a:r>
              <a:rPr lang="en-US" sz="1575" dirty="0">
                <a:solidFill>
                  <a:srgbClr val="16171D"/>
                </a:solidFill>
                <a:latin typeface="Segoe UI"/>
                <a:cs typeface="Segoe UI"/>
              </a:rPr>
              <a:t xml:space="preserve"> How many shirts to earn $100?</a:t>
            </a:r>
            <a:endParaRPr lang="en-US" sz="1575" dirty="0"/>
          </a:p>
        </p:txBody>
      </p:sp>
      <p:sp>
        <p:nvSpPr>
          <p:cNvPr id="12" name="Shape 12"/>
          <p:cNvSpPr txBox="1"/>
          <p:nvPr/>
        </p:nvSpPr>
        <p:spPr>
          <a:xfrm>
            <a:off x="685800" y="47510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− 80 = 100</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12 shirts</a:t>
            </a:r>
            <a:r>
              <a:rPr lang="en-US" sz="1575" dirty="0">
                <a:solidFill>
                  <a:srgbClr val="16171D"/>
                </a:solidFill>
                <a:latin typeface="Segoe UI"/>
                <a:cs typeface="Segoe UI"/>
              </a:rPr>
              <a:t xml:space="preserve">.</a:t>
            </a:r>
            <a:endParaRPr lang="en-US" sz="1575" dirty="0"/>
          </a:p>
        </p:txBody>
      </p:sp>
      <p:sp>
        <p:nvSpPr>
          <p:cNvPr id="13" name="Shape 13"/>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7638745" y="1732788"/>
            <a:ext cx="0" cy="3638550"/>
          </a:xfrm>
          <a:prstGeom prst="line">
            <a:avLst/>
          </a:prstGeom>
          <a:ln w="9525" cap="flat">
            <a:solidFill>
              <a:srgbClr val="E6E8F2"/>
            </a:solidFill>
          </a:ln>
        </p:spPr>
      </p:cxnSp>
      <p:cxnSp>
        <p:nvCxnSpPr>
          <p:cNvPr id="15" name="Line 15"/>
          <p:cNvCxnSpPr/>
          <p:nvPr/>
        </p:nvCxnSpPr>
        <p:spPr>
          <a:xfrm>
            <a:off x="7809329" y="1732788"/>
            <a:ext cx="0" cy="3638550"/>
          </a:xfrm>
          <a:prstGeom prst="line">
            <a:avLst/>
          </a:prstGeom>
          <a:ln w="9525" cap="flat">
            <a:solidFill>
              <a:srgbClr val="E6E8F2"/>
            </a:solidFill>
          </a:ln>
        </p:spPr>
      </p:cxnSp>
      <p:cxnSp>
        <p:nvCxnSpPr>
          <p:cNvPr id="16" name="Line 16"/>
          <p:cNvCxnSpPr/>
          <p:nvPr/>
        </p:nvCxnSpPr>
        <p:spPr>
          <a:xfrm>
            <a:off x="7979913" y="1732788"/>
            <a:ext cx="0" cy="3638550"/>
          </a:xfrm>
          <a:prstGeom prst="line">
            <a:avLst/>
          </a:prstGeom>
          <a:ln w="9525" cap="flat">
            <a:solidFill>
              <a:srgbClr val="E6E8F2"/>
            </a:solidFill>
          </a:ln>
        </p:spPr>
      </p:cxnSp>
      <p:cxnSp>
        <p:nvCxnSpPr>
          <p:cNvPr id="17" name="Line 17"/>
          <p:cNvCxnSpPr/>
          <p:nvPr/>
        </p:nvCxnSpPr>
        <p:spPr>
          <a:xfrm>
            <a:off x="8150497" y="1732788"/>
            <a:ext cx="0" cy="3638550"/>
          </a:xfrm>
          <a:prstGeom prst="line">
            <a:avLst/>
          </a:prstGeom>
          <a:ln w="9525" cap="flat">
            <a:solidFill>
              <a:srgbClr val="E6E8F2"/>
            </a:solidFill>
          </a:ln>
        </p:spPr>
      </p:cxnSp>
      <p:cxnSp>
        <p:nvCxnSpPr>
          <p:cNvPr id="18" name="Line 18"/>
          <p:cNvCxnSpPr/>
          <p:nvPr/>
        </p:nvCxnSpPr>
        <p:spPr>
          <a:xfrm>
            <a:off x="8321082" y="1732788"/>
            <a:ext cx="0" cy="3638550"/>
          </a:xfrm>
          <a:prstGeom prst="line">
            <a:avLst/>
          </a:prstGeom>
          <a:ln w="9525" cap="flat">
            <a:solidFill>
              <a:srgbClr val="E6E8F2"/>
            </a:solidFill>
          </a:ln>
        </p:spPr>
      </p:cxnSp>
      <p:cxnSp>
        <p:nvCxnSpPr>
          <p:cNvPr id="19" name="Line 19"/>
          <p:cNvCxnSpPr/>
          <p:nvPr/>
        </p:nvCxnSpPr>
        <p:spPr>
          <a:xfrm>
            <a:off x="8491666" y="1732788"/>
            <a:ext cx="0" cy="3638550"/>
          </a:xfrm>
          <a:prstGeom prst="line">
            <a:avLst/>
          </a:prstGeom>
          <a:ln w="9525" cap="flat">
            <a:solidFill>
              <a:srgbClr val="E6E8F2"/>
            </a:solidFill>
          </a:ln>
        </p:spPr>
      </p:cxnSp>
      <p:cxnSp>
        <p:nvCxnSpPr>
          <p:cNvPr id="20" name="Line 20"/>
          <p:cNvCxnSpPr/>
          <p:nvPr/>
        </p:nvCxnSpPr>
        <p:spPr>
          <a:xfrm>
            <a:off x="8662250" y="1732788"/>
            <a:ext cx="0" cy="3638550"/>
          </a:xfrm>
          <a:prstGeom prst="line">
            <a:avLst/>
          </a:prstGeom>
          <a:ln w="9525" cap="flat">
            <a:solidFill>
              <a:srgbClr val="E6E8F2"/>
            </a:solidFill>
          </a:ln>
        </p:spPr>
      </p:cxnSp>
      <p:cxnSp>
        <p:nvCxnSpPr>
          <p:cNvPr id="21" name="Line 21"/>
          <p:cNvCxnSpPr/>
          <p:nvPr/>
        </p:nvCxnSpPr>
        <p:spPr>
          <a:xfrm>
            <a:off x="8832834" y="1732788"/>
            <a:ext cx="0" cy="3638550"/>
          </a:xfrm>
          <a:prstGeom prst="line">
            <a:avLst/>
          </a:prstGeom>
          <a:ln w="9525" cap="flat">
            <a:solidFill>
              <a:srgbClr val="E6E8F2"/>
            </a:solidFill>
          </a:ln>
        </p:spPr>
      </p:cxnSp>
      <p:cxnSp>
        <p:nvCxnSpPr>
          <p:cNvPr id="22" name="Line 22"/>
          <p:cNvCxnSpPr/>
          <p:nvPr/>
        </p:nvCxnSpPr>
        <p:spPr>
          <a:xfrm>
            <a:off x="9003418" y="1732788"/>
            <a:ext cx="0" cy="3638550"/>
          </a:xfrm>
          <a:prstGeom prst="line">
            <a:avLst/>
          </a:prstGeom>
          <a:ln w="9525" cap="flat">
            <a:solidFill>
              <a:srgbClr val="E6E8F2"/>
            </a:solidFill>
          </a:ln>
        </p:spPr>
      </p:cxnSp>
      <p:cxnSp>
        <p:nvCxnSpPr>
          <p:cNvPr id="23" name="Line 23"/>
          <p:cNvCxnSpPr/>
          <p:nvPr/>
        </p:nvCxnSpPr>
        <p:spPr>
          <a:xfrm>
            <a:off x="9174002" y="1732788"/>
            <a:ext cx="0" cy="3638550"/>
          </a:xfrm>
          <a:prstGeom prst="line">
            <a:avLst/>
          </a:prstGeom>
          <a:ln w="9525" cap="flat">
            <a:solidFill>
              <a:srgbClr val="E6E8F2"/>
            </a:solidFill>
          </a:ln>
        </p:spPr>
      </p:cxnSp>
      <p:cxnSp>
        <p:nvCxnSpPr>
          <p:cNvPr id="24" name="Line 24"/>
          <p:cNvCxnSpPr/>
          <p:nvPr/>
        </p:nvCxnSpPr>
        <p:spPr>
          <a:xfrm>
            <a:off x="9344586" y="1732788"/>
            <a:ext cx="0" cy="3638550"/>
          </a:xfrm>
          <a:prstGeom prst="line">
            <a:avLst/>
          </a:prstGeom>
          <a:ln w="9525" cap="flat">
            <a:solidFill>
              <a:srgbClr val="E6E8F2"/>
            </a:solidFill>
          </a:ln>
        </p:spPr>
      </p:cxnSp>
      <p:cxnSp>
        <p:nvCxnSpPr>
          <p:cNvPr id="25" name="Line 25"/>
          <p:cNvCxnSpPr/>
          <p:nvPr/>
        </p:nvCxnSpPr>
        <p:spPr>
          <a:xfrm>
            <a:off x="9515170" y="1732788"/>
            <a:ext cx="0" cy="3638550"/>
          </a:xfrm>
          <a:prstGeom prst="line">
            <a:avLst/>
          </a:prstGeom>
          <a:ln w="9525" cap="flat">
            <a:solidFill>
              <a:srgbClr val="E6E8F2"/>
            </a:solidFill>
          </a:ln>
        </p:spPr>
      </p:cxnSp>
      <p:cxnSp>
        <p:nvCxnSpPr>
          <p:cNvPr id="26" name="Line 26"/>
          <p:cNvCxnSpPr/>
          <p:nvPr/>
        </p:nvCxnSpPr>
        <p:spPr>
          <a:xfrm>
            <a:off x="9685754" y="1732788"/>
            <a:ext cx="0" cy="3638550"/>
          </a:xfrm>
          <a:prstGeom prst="line">
            <a:avLst/>
          </a:prstGeom>
          <a:ln w="9525" cap="flat">
            <a:solidFill>
              <a:srgbClr val="E6E8F2"/>
            </a:solidFill>
          </a:ln>
        </p:spPr>
      </p:cxnSp>
      <p:cxnSp>
        <p:nvCxnSpPr>
          <p:cNvPr id="27" name="Line 27"/>
          <p:cNvCxnSpPr/>
          <p:nvPr/>
        </p:nvCxnSpPr>
        <p:spPr>
          <a:xfrm>
            <a:off x="9856338" y="1732788"/>
            <a:ext cx="0" cy="3638550"/>
          </a:xfrm>
          <a:prstGeom prst="line">
            <a:avLst/>
          </a:prstGeom>
          <a:ln w="9525" cap="flat">
            <a:solidFill>
              <a:srgbClr val="E6E8F2"/>
            </a:solidFill>
          </a:ln>
        </p:spPr>
      </p:cxnSp>
      <p:cxnSp>
        <p:nvCxnSpPr>
          <p:cNvPr id="28" name="Line 28"/>
          <p:cNvCxnSpPr/>
          <p:nvPr/>
        </p:nvCxnSpPr>
        <p:spPr>
          <a:xfrm>
            <a:off x="10026922" y="1732788"/>
            <a:ext cx="0" cy="3638550"/>
          </a:xfrm>
          <a:prstGeom prst="line">
            <a:avLst/>
          </a:prstGeom>
          <a:ln w="9525" cap="flat">
            <a:solidFill>
              <a:srgbClr val="E6E8F2"/>
            </a:solidFill>
          </a:ln>
        </p:spPr>
      </p:cxnSp>
      <p:cxnSp>
        <p:nvCxnSpPr>
          <p:cNvPr id="29" name="Line 29"/>
          <p:cNvCxnSpPr/>
          <p:nvPr/>
        </p:nvCxnSpPr>
        <p:spPr>
          <a:xfrm>
            <a:off x="10197507" y="1732788"/>
            <a:ext cx="0" cy="3638550"/>
          </a:xfrm>
          <a:prstGeom prst="line">
            <a:avLst/>
          </a:prstGeom>
          <a:ln w="9525" cap="flat">
            <a:solidFill>
              <a:srgbClr val="E6E8F2"/>
            </a:solidFill>
          </a:ln>
        </p:spPr>
      </p:cxnSp>
      <p:cxnSp>
        <p:nvCxnSpPr>
          <p:cNvPr id="30" name="Line 30"/>
          <p:cNvCxnSpPr/>
          <p:nvPr/>
        </p:nvCxnSpPr>
        <p:spPr>
          <a:xfrm>
            <a:off x="10368091" y="1732788"/>
            <a:ext cx="0" cy="3638550"/>
          </a:xfrm>
          <a:prstGeom prst="line">
            <a:avLst/>
          </a:prstGeom>
          <a:ln w="9525" cap="flat">
            <a:solidFill>
              <a:srgbClr val="E6E8F2"/>
            </a:solidFill>
          </a:ln>
        </p:spPr>
      </p:cxnSp>
      <p:cxnSp>
        <p:nvCxnSpPr>
          <p:cNvPr id="31" name="Line 31"/>
          <p:cNvCxnSpPr/>
          <p:nvPr/>
        </p:nvCxnSpPr>
        <p:spPr>
          <a:xfrm>
            <a:off x="10538675" y="1732788"/>
            <a:ext cx="0" cy="3638550"/>
          </a:xfrm>
          <a:prstGeom prst="line">
            <a:avLst/>
          </a:prstGeom>
          <a:ln w="9525" cap="flat">
            <a:solidFill>
              <a:srgbClr val="E6E8F2"/>
            </a:solidFill>
          </a:ln>
        </p:spPr>
      </p:cxnSp>
      <p:cxnSp>
        <p:nvCxnSpPr>
          <p:cNvPr id="32" name="Line 32"/>
          <p:cNvCxnSpPr/>
          <p:nvPr/>
        </p:nvCxnSpPr>
        <p:spPr>
          <a:xfrm>
            <a:off x="10709259" y="1732788"/>
            <a:ext cx="0" cy="3638550"/>
          </a:xfrm>
          <a:prstGeom prst="line">
            <a:avLst/>
          </a:prstGeom>
          <a:ln w="9525" cap="flat">
            <a:solidFill>
              <a:srgbClr val="E6E8F2"/>
            </a:solidFill>
          </a:ln>
        </p:spPr>
      </p:cxnSp>
      <p:cxnSp>
        <p:nvCxnSpPr>
          <p:cNvPr id="33" name="Line 33"/>
          <p:cNvCxnSpPr/>
          <p:nvPr/>
        </p:nvCxnSpPr>
        <p:spPr>
          <a:xfrm>
            <a:off x="10879843" y="1732788"/>
            <a:ext cx="0" cy="3638550"/>
          </a:xfrm>
          <a:prstGeom prst="line">
            <a:avLst/>
          </a:prstGeom>
          <a:ln w="9525" cap="flat">
            <a:solidFill>
              <a:srgbClr val="E6E8F2"/>
            </a:solidFill>
          </a:ln>
        </p:spPr>
      </p:cxnSp>
      <p:cxnSp>
        <p:nvCxnSpPr>
          <p:cNvPr id="34" name="Line 34"/>
          <p:cNvCxnSpPr/>
          <p:nvPr/>
        </p:nvCxnSpPr>
        <p:spPr>
          <a:xfrm>
            <a:off x="11050427" y="1732788"/>
            <a:ext cx="0" cy="3638550"/>
          </a:xfrm>
          <a:prstGeom prst="line">
            <a:avLst/>
          </a:prstGeom>
          <a:ln w="9525" cap="flat">
            <a:solidFill>
              <a:srgbClr val="E6E8F2"/>
            </a:solidFill>
          </a:ln>
        </p:spPr>
      </p:cxnSp>
      <p:cxnSp>
        <p:nvCxnSpPr>
          <p:cNvPr id="35" name="Line 35"/>
          <p:cNvCxnSpPr/>
          <p:nvPr/>
        </p:nvCxnSpPr>
        <p:spPr>
          <a:xfrm>
            <a:off x="11221011" y="1732788"/>
            <a:ext cx="0" cy="3638550"/>
          </a:xfrm>
          <a:prstGeom prst="line">
            <a:avLst/>
          </a:prstGeom>
          <a:ln w="9525" cap="flat">
            <a:solidFill>
              <a:srgbClr val="E6E8F2"/>
            </a:solidFill>
          </a:ln>
        </p:spPr>
      </p:cxnSp>
      <p:cxnSp>
        <p:nvCxnSpPr>
          <p:cNvPr id="36" name="Line 36"/>
          <p:cNvCxnSpPr/>
          <p:nvPr/>
        </p:nvCxnSpPr>
        <p:spPr>
          <a:xfrm>
            <a:off x="11391595" y="1732788"/>
            <a:ext cx="0" cy="3638550"/>
          </a:xfrm>
          <a:prstGeom prst="line">
            <a:avLst/>
          </a:prstGeom>
          <a:ln w="9525" cap="flat">
            <a:solidFill>
              <a:srgbClr val="E6E8F2"/>
            </a:solidFill>
          </a:ln>
        </p:spPr>
      </p:cxnSp>
      <p:cxnSp>
        <p:nvCxnSpPr>
          <p:cNvPr id="37" name="Line 37"/>
          <p:cNvCxnSpPr/>
          <p:nvPr/>
        </p:nvCxnSpPr>
        <p:spPr>
          <a:xfrm>
            <a:off x="7638745" y="5371338"/>
            <a:ext cx="3752850" cy="0"/>
          </a:xfrm>
          <a:prstGeom prst="line">
            <a:avLst/>
          </a:prstGeom>
          <a:ln w="9525" cap="flat">
            <a:solidFill>
              <a:srgbClr val="E6E8F2"/>
            </a:solidFill>
          </a:ln>
        </p:spPr>
      </p:cxnSp>
      <p:cxnSp>
        <p:nvCxnSpPr>
          <p:cNvPr id="38" name="Line 38"/>
          <p:cNvCxnSpPr/>
          <p:nvPr/>
        </p:nvCxnSpPr>
        <p:spPr>
          <a:xfrm>
            <a:off x="7638745" y="5205949"/>
            <a:ext cx="3752850" cy="0"/>
          </a:xfrm>
          <a:prstGeom prst="line">
            <a:avLst/>
          </a:prstGeom>
          <a:ln w="9525" cap="flat">
            <a:solidFill>
              <a:srgbClr val="E6E8F2"/>
            </a:solidFill>
          </a:ln>
        </p:spPr>
      </p:cxnSp>
      <p:cxnSp>
        <p:nvCxnSpPr>
          <p:cNvPr id="39" name="Line 39"/>
          <p:cNvCxnSpPr/>
          <p:nvPr/>
        </p:nvCxnSpPr>
        <p:spPr>
          <a:xfrm>
            <a:off x="7638745" y="5040561"/>
            <a:ext cx="3752850" cy="0"/>
          </a:xfrm>
          <a:prstGeom prst="line">
            <a:avLst/>
          </a:prstGeom>
          <a:ln w="9525" cap="flat">
            <a:solidFill>
              <a:srgbClr val="E6E8F2"/>
            </a:solidFill>
          </a:ln>
        </p:spPr>
      </p:cxnSp>
      <p:cxnSp>
        <p:nvCxnSpPr>
          <p:cNvPr id="40" name="Line 40"/>
          <p:cNvCxnSpPr/>
          <p:nvPr/>
        </p:nvCxnSpPr>
        <p:spPr>
          <a:xfrm>
            <a:off x="7638745" y="4875172"/>
            <a:ext cx="3752850" cy="0"/>
          </a:xfrm>
          <a:prstGeom prst="line">
            <a:avLst/>
          </a:prstGeom>
          <a:ln w="9525" cap="flat">
            <a:solidFill>
              <a:srgbClr val="E6E8F2"/>
            </a:solidFill>
          </a:ln>
        </p:spPr>
      </p:cxnSp>
      <p:cxnSp>
        <p:nvCxnSpPr>
          <p:cNvPr id="41" name="Line 41"/>
          <p:cNvCxnSpPr/>
          <p:nvPr/>
        </p:nvCxnSpPr>
        <p:spPr>
          <a:xfrm>
            <a:off x="7638745" y="4709783"/>
            <a:ext cx="3752850" cy="0"/>
          </a:xfrm>
          <a:prstGeom prst="line">
            <a:avLst/>
          </a:prstGeom>
          <a:ln w="9525" cap="flat">
            <a:solidFill>
              <a:srgbClr val="E6E8F2"/>
            </a:solidFill>
          </a:ln>
        </p:spPr>
      </p:cxnSp>
      <p:cxnSp>
        <p:nvCxnSpPr>
          <p:cNvPr id="42" name="Line 42"/>
          <p:cNvCxnSpPr/>
          <p:nvPr/>
        </p:nvCxnSpPr>
        <p:spPr>
          <a:xfrm>
            <a:off x="7638745" y="4544395"/>
            <a:ext cx="3752850" cy="0"/>
          </a:xfrm>
          <a:prstGeom prst="line">
            <a:avLst/>
          </a:prstGeom>
          <a:ln w="9525" cap="flat">
            <a:solidFill>
              <a:srgbClr val="E6E8F2"/>
            </a:solidFill>
          </a:ln>
        </p:spPr>
      </p:cxnSp>
      <p:cxnSp>
        <p:nvCxnSpPr>
          <p:cNvPr id="43" name="Line 43"/>
          <p:cNvCxnSpPr/>
          <p:nvPr/>
        </p:nvCxnSpPr>
        <p:spPr>
          <a:xfrm>
            <a:off x="7638745" y="4379006"/>
            <a:ext cx="3752850" cy="0"/>
          </a:xfrm>
          <a:prstGeom prst="line">
            <a:avLst/>
          </a:prstGeom>
          <a:ln w="9525" cap="flat">
            <a:solidFill>
              <a:srgbClr val="E6E8F2"/>
            </a:solidFill>
          </a:ln>
        </p:spPr>
      </p:cxnSp>
      <p:cxnSp>
        <p:nvCxnSpPr>
          <p:cNvPr id="44" name="Line 44"/>
          <p:cNvCxnSpPr/>
          <p:nvPr/>
        </p:nvCxnSpPr>
        <p:spPr>
          <a:xfrm>
            <a:off x="7638745" y="4213618"/>
            <a:ext cx="3752850" cy="0"/>
          </a:xfrm>
          <a:prstGeom prst="line">
            <a:avLst/>
          </a:prstGeom>
          <a:ln w="9525" cap="flat">
            <a:solidFill>
              <a:srgbClr val="E6E8F2"/>
            </a:solidFill>
          </a:ln>
        </p:spPr>
      </p:cxnSp>
      <p:cxnSp>
        <p:nvCxnSpPr>
          <p:cNvPr id="45" name="Line 45"/>
          <p:cNvCxnSpPr/>
          <p:nvPr/>
        </p:nvCxnSpPr>
        <p:spPr>
          <a:xfrm>
            <a:off x="7638745" y="4048229"/>
            <a:ext cx="3752850" cy="0"/>
          </a:xfrm>
          <a:prstGeom prst="line">
            <a:avLst/>
          </a:prstGeom>
          <a:ln w="9525" cap="flat">
            <a:solidFill>
              <a:srgbClr val="E6E8F2"/>
            </a:solidFill>
          </a:ln>
        </p:spPr>
      </p:cxnSp>
      <p:cxnSp>
        <p:nvCxnSpPr>
          <p:cNvPr id="46" name="Line 46"/>
          <p:cNvCxnSpPr/>
          <p:nvPr/>
        </p:nvCxnSpPr>
        <p:spPr>
          <a:xfrm>
            <a:off x="7638745" y="3882840"/>
            <a:ext cx="3752850" cy="0"/>
          </a:xfrm>
          <a:prstGeom prst="line">
            <a:avLst/>
          </a:prstGeom>
          <a:ln w="9525" cap="flat">
            <a:solidFill>
              <a:srgbClr val="E6E8F2"/>
            </a:solidFill>
          </a:ln>
        </p:spPr>
      </p:cxnSp>
      <p:cxnSp>
        <p:nvCxnSpPr>
          <p:cNvPr id="47" name="Line 47"/>
          <p:cNvCxnSpPr/>
          <p:nvPr/>
        </p:nvCxnSpPr>
        <p:spPr>
          <a:xfrm>
            <a:off x="7638745" y="3717452"/>
            <a:ext cx="3752850" cy="0"/>
          </a:xfrm>
          <a:prstGeom prst="line">
            <a:avLst/>
          </a:prstGeom>
          <a:ln w="9525" cap="flat">
            <a:solidFill>
              <a:srgbClr val="E6E8F2"/>
            </a:solidFill>
          </a:ln>
        </p:spPr>
      </p:cxnSp>
      <p:cxnSp>
        <p:nvCxnSpPr>
          <p:cNvPr id="48" name="Line 48"/>
          <p:cNvCxnSpPr/>
          <p:nvPr/>
        </p:nvCxnSpPr>
        <p:spPr>
          <a:xfrm>
            <a:off x="7638745" y="3552063"/>
            <a:ext cx="3752850" cy="0"/>
          </a:xfrm>
          <a:prstGeom prst="line">
            <a:avLst/>
          </a:prstGeom>
          <a:ln w="9525" cap="flat">
            <a:solidFill>
              <a:srgbClr val="E6E8F2"/>
            </a:solidFill>
          </a:ln>
        </p:spPr>
      </p:cxnSp>
      <p:cxnSp>
        <p:nvCxnSpPr>
          <p:cNvPr id="49" name="Line 49"/>
          <p:cNvCxnSpPr/>
          <p:nvPr/>
        </p:nvCxnSpPr>
        <p:spPr>
          <a:xfrm>
            <a:off x="7638745" y="3386674"/>
            <a:ext cx="3752850" cy="0"/>
          </a:xfrm>
          <a:prstGeom prst="line">
            <a:avLst/>
          </a:prstGeom>
          <a:ln w="9525" cap="flat">
            <a:solidFill>
              <a:srgbClr val="E6E8F2"/>
            </a:solidFill>
          </a:ln>
        </p:spPr>
      </p:cxnSp>
      <p:cxnSp>
        <p:nvCxnSpPr>
          <p:cNvPr id="50" name="Line 50"/>
          <p:cNvCxnSpPr/>
          <p:nvPr/>
        </p:nvCxnSpPr>
        <p:spPr>
          <a:xfrm>
            <a:off x="7638745" y="3221286"/>
            <a:ext cx="3752850" cy="0"/>
          </a:xfrm>
          <a:prstGeom prst="line">
            <a:avLst/>
          </a:prstGeom>
          <a:ln w="9525" cap="flat">
            <a:solidFill>
              <a:srgbClr val="E6E8F2"/>
            </a:solidFill>
          </a:ln>
        </p:spPr>
      </p:cxnSp>
      <p:cxnSp>
        <p:nvCxnSpPr>
          <p:cNvPr id="51" name="Line 51"/>
          <p:cNvCxnSpPr/>
          <p:nvPr/>
        </p:nvCxnSpPr>
        <p:spPr>
          <a:xfrm>
            <a:off x="7638745" y="3055897"/>
            <a:ext cx="3752850" cy="0"/>
          </a:xfrm>
          <a:prstGeom prst="line">
            <a:avLst/>
          </a:prstGeom>
          <a:ln w="9525" cap="flat">
            <a:solidFill>
              <a:srgbClr val="E6E8F2"/>
            </a:solidFill>
          </a:ln>
        </p:spPr>
      </p:cxnSp>
      <p:cxnSp>
        <p:nvCxnSpPr>
          <p:cNvPr id="52" name="Line 52"/>
          <p:cNvCxnSpPr/>
          <p:nvPr/>
        </p:nvCxnSpPr>
        <p:spPr>
          <a:xfrm>
            <a:off x="7638745" y="2890508"/>
            <a:ext cx="3752850" cy="0"/>
          </a:xfrm>
          <a:prstGeom prst="line">
            <a:avLst/>
          </a:prstGeom>
          <a:ln w="9525" cap="flat">
            <a:solidFill>
              <a:srgbClr val="E6E8F2"/>
            </a:solidFill>
          </a:ln>
        </p:spPr>
      </p:cxnSp>
      <p:cxnSp>
        <p:nvCxnSpPr>
          <p:cNvPr id="53" name="Line 53"/>
          <p:cNvCxnSpPr/>
          <p:nvPr/>
        </p:nvCxnSpPr>
        <p:spPr>
          <a:xfrm>
            <a:off x="7638745" y="2725120"/>
            <a:ext cx="3752850" cy="0"/>
          </a:xfrm>
          <a:prstGeom prst="line">
            <a:avLst/>
          </a:prstGeom>
          <a:ln w="9525" cap="flat">
            <a:solidFill>
              <a:srgbClr val="E6E8F2"/>
            </a:solidFill>
          </a:ln>
        </p:spPr>
      </p:cxnSp>
      <p:cxnSp>
        <p:nvCxnSpPr>
          <p:cNvPr id="54" name="Line 54"/>
          <p:cNvCxnSpPr/>
          <p:nvPr/>
        </p:nvCxnSpPr>
        <p:spPr>
          <a:xfrm>
            <a:off x="7638745" y="2559731"/>
            <a:ext cx="3752850" cy="0"/>
          </a:xfrm>
          <a:prstGeom prst="line">
            <a:avLst/>
          </a:prstGeom>
          <a:ln w="9525" cap="flat">
            <a:solidFill>
              <a:srgbClr val="E6E8F2"/>
            </a:solidFill>
          </a:ln>
        </p:spPr>
      </p:cxnSp>
      <p:cxnSp>
        <p:nvCxnSpPr>
          <p:cNvPr id="55" name="Line 55"/>
          <p:cNvCxnSpPr/>
          <p:nvPr/>
        </p:nvCxnSpPr>
        <p:spPr>
          <a:xfrm>
            <a:off x="7638745" y="2394343"/>
            <a:ext cx="3752850" cy="0"/>
          </a:xfrm>
          <a:prstGeom prst="line">
            <a:avLst/>
          </a:prstGeom>
          <a:ln w="9525" cap="flat">
            <a:solidFill>
              <a:srgbClr val="E6E8F2"/>
            </a:solidFill>
          </a:ln>
        </p:spPr>
      </p:cxnSp>
      <p:cxnSp>
        <p:nvCxnSpPr>
          <p:cNvPr id="56" name="Line 56"/>
          <p:cNvCxnSpPr/>
          <p:nvPr/>
        </p:nvCxnSpPr>
        <p:spPr>
          <a:xfrm>
            <a:off x="7638745" y="2228954"/>
            <a:ext cx="3752850" cy="0"/>
          </a:xfrm>
          <a:prstGeom prst="line">
            <a:avLst/>
          </a:prstGeom>
          <a:ln w="9525" cap="flat">
            <a:solidFill>
              <a:srgbClr val="E6E8F2"/>
            </a:solidFill>
          </a:ln>
        </p:spPr>
      </p:cxnSp>
      <p:cxnSp>
        <p:nvCxnSpPr>
          <p:cNvPr id="57" name="Line 57"/>
          <p:cNvCxnSpPr/>
          <p:nvPr/>
        </p:nvCxnSpPr>
        <p:spPr>
          <a:xfrm>
            <a:off x="7638745" y="2063565"/>
            <a:ext cx="3752850" cy="0"/>
          </a:xfrm>
          <a:prstGeom prst="line">
            <a:avLst/>
          </a:prstGeom>
          <a:ln w="9525" cap="flat">
            <a:solidFill>
              <a:srgbClr val="E6E8F2"/>
            </a:solidFill>
          </a:ln>
        </p:spPr>
      </p:cxnSp>
      <p:cxnSp>
        <p:nvCxnSpPr>
          <p:cNvPr id="58" name="Line 58"/>
          <p:cNvCxnSpPr/>
          <p:nvPr/>
        </p:nvCxnSpPr>
        <p:spPr>
          <a:xfrm>
            <a:off x="7638745" y="1898177"/>
            <a:ext cx="3752850" cy="0"/>
          </a:xfrm>
          <a:prstGeom prst="line">
            <a:avLst/>
          </a:prstGeom>
          <a:ln w="9525" cap="flat">
            <a:solidFill>
              <a:srgbClr val="E6E8F2"/>
            </a:solidFill>
          </a:ln>
        </p:spPr>
      </p:cxnSp>
      <p:cxnSp>
        <p:nvCxnSpPr>
          <p:cNvPr id="59" name="Line 59"/>
          <p:cNvCxnSpPr/>
          <p:nvPr/>
        </p:nvCxnSpPr>
        <p:spPr>
          <a:xfrm>
            <a:off x="7638745" y="1732788"/>
            <a:ext cx="3752850" cy="0"/>
          </a:xfrm>
          <a:prstGeom prst="line">
            <a:avLst/>
          </a:prstGeom>
          <a:ln w="9525" cap="flat">
            <a:solidFill>
              <a:srgbClr val="E6E8F2"/>
            </a:solidFill>
          </a:ln>
        </p:spPr>
      </p:cxnSp>
      <p:cxnSp>
        <p:nvCxnSpPr>
          <p:cNvPr id="60" name="Line 60"/>
          <p:cNvCxnSpPr/>
          <p:nvPr/>
        </p:nvCxnSpPr>
        <p:spPr>
          <a:xfrm>
            <a:off x="8662250" y="1732788"/>
            <a:ext cx="0" cy="3638550"/>
          </a:xfrm>
          <a:prstGeom prst="line">
            <a:avLst/>
          </a:prstGeom>
          <a:ln w="19050" cap="flat">
            <a:solidFill>
              <a:srgbClr val="5F6272"/>
            </a:solidFill>
          </a:ln>
        </p:spPr>
      </p:cxnSp>
      <p:cxnSp>
        <p:nvCxnSpPr>
          <p:cNvPr id="61" name="Line 61"/>
          <p:cNvCxnSpPr/>
          <p:nvPr/>
        </p:nvCxnSpPr>
        <p:spPr>
          <a:xfrm>
            <a:off x="7638745" y="3552063"/>
            <a:ext cx="3752850" cy="0"/>
          </a:xfrm>
          <a:prstGeom prst="line">
            <a:avLst/>
          </a:prstGeom>
          <a:ln w="19050" cap="flat">
            <a:solidFill>
              <a:srgbClr val="5F6272"/>
            </a:solidFill>
          </a:ln>
        </p:spPr>
      </p:cxnSp>
      <p:sp>
        <p:nvSpPr>
          <p:cNvPr id="62" name="Shape 62"/>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4" name="Shape 64"/>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5" name="Shape 65"/>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7" name="Shape 67"/>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8" name="Shape 68"/>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0" name="Shape 70"/>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71" name="Shape 71"/>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2" name="Shape 72"/>
          <p:cNvSpPr/>
          <p:nvPr/>
        </p:nvSpPr>
        <p:spPr>
          <a:xfrm>
            <a:off x="8609862" y="48227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8747975" y="462752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−80)</a:t>
            </a:r>
            <a:endParaRPr lang="en-US" sz="1125" dirty="0"/>
          </a:p>
        </p:txBody>
      </p:sp>
      <p:sp>
        <p:nvSpPr>
          <p:cNvPr id="74" name="Shape 74"/>
          <p:cNvSpPr/>
          <p:nvPr/>
        </p:nvSpPr>
        <p:spPr>
          <a:xfrm>
            <a:off x="10656871"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5" name="Shape 75"/>
          <p:cNvSpPr txBox="1"/>
          <p:nvPr/>
        </p:nvSpPr>
        <p:spPr>
          <a:xfrm>
            <a:off x="10794984"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(12, 100)</a:t>
            </a:r>
            <a:endParaRPr lang="en-US" sz="112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8" name="Line 78"/>
          <p:cNvCxnSpPr/>
          <p:nvPr/>
        </p:nvCxnSpPr>
        <p:spPr>
          <a:xfrm flipV="1">
            <a:off x="8321082" y="1732788"/>
            <a:ext cx="2501900" cy="3638550"/>
          </a:xfrm>
          <a:prstGeom prst="line">
            <a:avLst/>
          </a:prstGeom>
          <a:ln w="38100" cap="rnd">
            <a:solidFill>
              <a:srgbClr val="4F8A3C"/>
            </a:solidFill>
          </a:ln>
        </p:spPr>
      </p:cxnSp>
      <p:sp>
        <p:nvSpPr>
          <p:cNvPr id="79" name="Slide Number 7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anim calcmode="lin" valueType="num">
                                      <p:cBhvr>
                                        <p:cTn id="33" dur="500" fill="hold"/>
                                        <p:tgtEl>
                                          <p:spTgt spid="72"/>
                                        </p:tgtEl>
                                        <p:attrNameLst>
                                          <p:attrName>ppt_w</p:attrName>
                                        </p:attrNameLst>
                                      </p:cBhvr>
                                      <p:tavLst>
                                        <p:tav tm="0">
                                          <p:val>
                                            <p:fltVal val="0"/>
                                          </p:val>
                                        </p:tav>
                                        <p:tav tm="100000">
                                          <p:val>
                                            <p:strVal val="#ppt_w"/>
                                          </p:val>
                                        </p:tav>
                                      </p:tavLst>
                                    </p:anim>
                                    <p:anim calcmode="lin" valueType="num">
                                      <p:cBhvr>
                                        <p:cTn id="34" dur="500" fill="hold"/>
                                        <p:tgtEl>
                                          <p:spTgt spid="7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500"/>
                                        <p:tgtEl>
                                          <p:spTgt spid="73"/>
                                        </p:tgtEl>
                                      </p:cBhvr>
                                    </p:animEffect>
                                    <p:anim calcmode="lin" valueType="num">
                                      <p:cBhvr>
                                        <p:cTn id="38" dur="500" fill="hold"/>
                                        <p:tgtEl>
                                          <p:spTgt spid="73"/>
                                        </p:tgtEl>
                                        <p:attrNameLst>
                                          <p:attrName>ppt_w</p:attrName>
                                        </p:attrNameLst>
                                      </p:cBhvr>
                                      <p:tavLst>
                                        <p:tav tm="0">
                                          <p:val>
                                            <p:fltVal val="0"/>
                                          </p:val>
                                        </p:tav>
                                        <p:tav tm="100000">
                                          <p:val>
                                            <p:strVal val="#ppt_w"/>
                                          </p:val>
                                        </p:tav>
                                      </p:tavLst>
                                    </p:anim>
                                    <p:anim calcmode="lin" valueType="num">
                                      <p:cBhvr>
                                        <p:cTn id="39" dur="500" fill="hold"/>
                                        <p:tgtEl>
                                          <p:spTgt spid="73"/>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fade">
                                      <p:cBhvr>
                                        <p:cTn id="44" dur="500"/>
                                        <p:tgtEl>
                                          <p:spTgt spid="74"/>
                                        </p:tgtEl>
                                      </p:cBhvr>
                                    </p:animEffect>
                                    <p:anim calcmode="lin" valueType="num">
                                      <p:cBhvr>
                                        <p:cTn id="45" dur="500" fill="hold"/>
                                        <p:tgtEl>
                                          <p:spTgt spid="74"/>
                                        </p:tgtEl>
                                        <p:attrNameLst>
                                          <p:attrName>ppt_w</p:attrName>
                                        </p:attrNameLst>
                                      </p:cBhvr>
                                      <p:tavLst>
                                        <p:tav tm="0">
                                          <p:val>
                                            <p:fltVal val="0"/>
                                          </p:val>
                                        </p:tav>
                                        <p:tav tm="100000">
                                          <p:val>
                                            <p:strVal val="#ppt_w"/>
                                          </p:val>
                                        </p:tav>
                                      </p:tavLst>
                                    </p:anim>
                                    <p:anim calcmode="lin" valueType="num">
                                      <p:cBhvr>
                                        <p:cTn id="46" dur="500" fill="hold"/>
                                        <p:tgtEl>
                                          <p:spTgt spid="74"/>
                                        </p:tgtEl>
                                        <p:attrNameLst>
                                          <p:attrName>ppt_h</p:attrName>
                                        </p:attrNameLst>
                                      </p:cBhvr>
                                      <p:tavLst>
                                        <p:tav tm="0">
                                          <p:val>
                                            <p:fltVal val="0"/>
                                          </p:val>
                                        </p:tav>
                                        <p:tav tm="100000">
                                          <p:val>
                                            <p:strVal val="#ppt_h"/>
                                          </p:val>
                                        </p:tav>
                                      </p:tavLst>
                                    </p:anim>
                                  </p:childTnLst>
                                </p:cTn>
                              </p:par>
                              <p:par>
                                <p:cTn id="52" presetID="53" presetClass="entr" presetSubtype="16"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anim calcmode="lin" valueType="num">
                                      <p:cBhvr>
                                        <p:cTn id="50" dur="500" fill="hold"/>
                                        <p:tgtEl>
                                          <p:spTgt spid="75"/>
                                        </p:tgtEl>
                                        <p:attrNameLst>
                                          <p:attrName>ppt_w</p:attrName>
                                        </p:attrNameLst>
                                      </p:cBhvr>
                                      <p:tavLst>
                                        <p:tav tm="0">
                                          <p:val>
                                            <p:fltVal val="0"/>
                                          </p:val>
                                        </p:tav>
                                        <p:tav tm="100000">
                                          <p:val>
                                            <p:strVal val="#ppt_w"/>
                                          </p:val>
                                        </p:tav>
                                      </p:tavLst>
                                    </p:anim>
                                    <p:anim calcmode="lin" valueType="num">
                                      <p:cBhvr>
                                        <p:cTn id="51" dur="500" fill="hold"/>
                                        <p:tgtEl>
                                          <p:spTgt spid="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6.4 · Question 2 · SE p. 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Three ways to write </a:t>
            </a:r>
            <a:r>
              <a:rPr lang="en-US" sz="3450" dirty="0" b="1" i="1">
                <a:solidFill>
                  <a:srgbClr val="4F8A3C"/>
                </a:solidFill>
                <a:latin typeface="Cambria"/>
                <a:cs typeface="Cambria"/>
              </a:rPr>
              <a:t xml:space="preserve">F</a:t>
            </a:r>
            <a:r>
              <a:rPr lang="en-US" sz="3450" dirty="0" b="1">
                <a:solidFill>
                  <a:srgbClr val="4F8A3C"/>
                </a:solidFill>
                <a:latin typeface="Cambria"/>
                <a:cs typeface="Cambria"/>
              </a:rPr>
              <a:t xml:space="preserve">(</a:t>
            </a:r>
            <a:r>
              <a:rPr lang="en-US" sz="3450" dirty="0" b="1" i="1">
                <a:solidFill>
                  <a:srgbClr val="4F8A3C"/>
                </a:solidFill>
                <a:latin typeface="Cambria"/>
                <a:cs typeface="Cambria"/>
              </a:rPr>
              <a:t xml:space="preserve">t</a:t>
            </a:r>
            <a:r>
              <a:rPr lang="en-US" sz="3450" dirty="0" b="1">
                <a:solidFill>
                  <a:srgbClr val="4F8A3C"/>
                </a:solidFill>
                <a:latin typeface="Cambria"/>
                <a:cs typeface="Cambria"/>
              </a:rPr>
              <a:t xml:space="preserv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Write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in terms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657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− 35</a:t>
            </a:r>
            <a:endParaRPr lang="en-US" sz="2325" dirty="0"/>
          </a:p>
        </p:txBody>
      </p:sp>
      <p:sp>
        <p:nvSpPr>
          <p:cNvPr id="6" name="Shape 6"/>
          <p:cNvSpPr txBox="1"/>
          <p:nvPr/>
        </p:nvSpPr>
        <p:spPr>
          <a:xfrm>
            <a:off x="685800" y="27371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General form.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show?</a:t>
            </a:r>
            <a:endParaRPr lang="en-US" sz="1575" dirty="0"/>
          </a:p>
        </p:txBody>
      </p:sp>
      <p:sp>
        <p:nvSpPr>
          <p:cNvPr id="7" name="Shape 7"/>
          <p:cNvSpPr txBox="1"/>
          <p:nvPr/>
        </p:nvSpPr>
        <p:spPr>
          <a:xfrm>
            <a:off x="685800" y="318439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80</a:t>
            </a:r>
            <a:endParaRPr lang="en-US" sz="2325" dirty="0"/>
          </a:p>
        </p:txBody>
      </p:sp>
      <p:sp>
        <p:nvSpPr>
          <p:cNvPr id="8" name="Shape 8"/>
          <p:cNvSpPr txBox="1"/>
          <p:nvPr/>
        </p:nvSpPr>
        <p:spPr>
          <a:xfrm>
            <a:off x="6210148" y="3184398"/>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−80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87172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Factored form, with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as a fraction.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show?</a:t>
            </a:r>
            <a:endParaRPr lang="en-US" sz="1575" dirty="0"/>
          </a:p>
        </p:txBody>
      </p:sp>
      <p:sp>
        <p:nvSpPr>
          <p:cNvPr id="10" name="Shape 10"/>
          <p:cNvSpPr txBox="1"/>
          <p:nvPr/>
        </p:nvSpPr>
        <p:spPr>
          <a:xfrm>
            <a:off x="685800" y="4319016"/>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16</a:t>
            </a:r>
            <a:r>
              <a:rPr lang="en-US" sz="2325" dirty="0" b="1">
                <a:solidFill>
                  <a:srgbClr val="3050B8"/>
                </a:solidFill>
                <a:latin typeface="Cambria"/>
                <a:cs typeface="Cambria"/>
              </a:rPr>
              <a:t xml:space="preserve">/</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6210148" y="4319016"/>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a:t>
            </a:r>
            <a:r>
              <a:rPr lang="en-US" sz="1575" dirty="0" b="1">
                <a:solidFill>
                  <a:srgbClr val="3050B8"/>
                </a:solidFill>
                <a:latin typeface="Cambria"/>
                <a:cs typeface="Cambria"/>
              </a:rPr>
              <a:t xml:space="preserve">16</a:t>
            </a:r>
            <a:r>
              <a:rPr lang="en-US" sz="1575" dirty="0" b="1">
                <a:solidFill>
                  <a:srgbClr val="3050B8"/>
                </a:solidFill>
                <a:latin typeface="Cambria"/>
                <a:cs typeface="Cambria"/>
              </a:rPr>
              <a:t xml:space="preserve">/</a:t>
            </a:r>
            <a:r>
              <a:rPr lang="en-US" sz="1575" dirty="0" b="1">
                <a:solidFill>
                  <a:srgbClr val="3050B8"/>
                </a:solidFill>
                <a:latin typeface="Cambria"/>
                <a:cs typeface="Cambria"/>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(5</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Reading Between the Lines · SE p. 252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Always, sometimes, or never?</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You are given a dependent value and need an independent value of a linear function.</a:t>
            </a:r>
            <a:endParaRPr lang="en-US" sz="1575" dirty="0"/>
          </a:p>
        </p:txBody>
      </p:sp>
      <p:sp>
        <p:nvSpPr>
          <p:cNvPr id="5" name="Shape 5"/>
          <p:cNvSpPr txBox="1"/>
          <p:nvPr/>
        </p:nvSpPr>
        <p:spPr>
          <a:xfrm>
            <a:off x="685800" y="2084832"/>
            <a:ext cx="2164019"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I can ___ use a…</a:t>
            </a:r>
            <a:endParaRPr lang="en-US" sz="1950" dirty="0"/>
          </a:p>
        </p:txBody>
      </p:sp>
      <p:sp>
        <p:nvSpPr>
          <p:cNvPr id="6" name="Shape 6"/>
          <p:cNvSpPr txBox="1"/>
          <p:nvPr/>
        </p:nvSpPr>
        <p:spPr>
          <a:xfrm>
            <a:off x="2849819" y="2084832"/>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…to determine an approximate value.</a:t>
            </a:r>
            <a:endParaRPr lang="en-US" sz="1950" dirty="0"/>
          </a:p>
        </p:txBody>
      </p:sp>
      <p:sp>
        <p:nvSpPr>
          <p:cNvPr id="7" name="Shape 7"/>
          <p:cNvSpPr txBox="1"/>
          <p:nvPr/>
        </p:nvSpPr>
        <p:spPr>
          <a:xfrm>
            <a:off x="7177857" y="2084832"/>
            <a:ext cx="4328038" cy="79552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…to calculate an exact value.</a:t>
            </a:r>
            <a:endParaRPr lang="en-US" sz="1950" dirty="0"/>
          </a:p>
        </p:txBody>
      </p:sp>
      <p:cxnSp>
        <p:nvCxnSpPr>
          <p:cNvPr id="8" name="Line 8"/>
          <p:cNvCxnSpPr/>
          <p:nvPr/>
        </p:nvCxnSpPr>
        <p:spPr>
          <a:xfrm>
            <a:off x="685800" y="2880360"/>
            <a:ext cx="10820095" cy="0"/>
          </a:xfrm>
          <a:prstGeom prst="line">
            <a:avLst/>
          </a:prstGeom>
          <a:ln w="9525" cap="flat">
            <a:solidFill>
              <a:srgbClr val="E3E4EC"/>
            </a:solidFill>
          </a:ln>
        </p:spPr>
      </p:cxnSp>
      <p:sp>
        <p:nvSpPr>
          <p:cNvPr id="9" name="Shape 9"/>
          <p:cNvSpPr txBox="1"/>
          <p:nvPr/>
        </p:nvSpPr>
        <p:spPr>
          <a:xfrm>
            <a:off x="685800" y="2880360"/>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table</a:t>
            </a:r>
            <a:endParaRPr lang="en-US" sz="1800" dirty="0"/>
          </a:p>
        </p:txBody>
      </p:sp>
      <p:sp>
        <p:nvSpPr>
          <p:cNvPr id="10" name="Shape 10"/>
          <p:cNvSpPr txBox="1"/>
          <p:nvPr/>
        </p:nvSpPr>
        <p:spPr>
          <a:xfrm>
            <a:off x="2849819" y="2880360"/>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1" name="Shape 11"/>
          <p:cNvSpPr txBox="1"/>
          <p:nvPr/>
        </p:nvSpPr>
        <p:spPr>
          <a:xfrm>
            <a:off x="2849819" y="288036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 </a:t>
            </a:r>
            <a:r>
              <a:rPr lang="en-US" sz="1800" dirty="0" b="1">
                <a:solidFill>
                  <a:srgbClr val="16171D"/>
                </a:solidFill>
                <a:latin typeface="Segoe UI"/>
                <a:cs typeface="Segoe UI"/>
              </a:rPr>
              <a:t xml:space="preserve">always</a:t>
            </a:r>
            <a:endParaRPr lang="en-US" sz="1800" dirty="0"/>
          </a:p>
        </p:txBody>
      </p:sp>
      <p:sp>
        <p:nvSpPr>
          <p:cNvPr id="12" name="Shape 12"/>
          <p:cNvSpPr txBox="1"/>
          <p:nvPr/>
        </p:nvSpPr>
        <p:spPr>
          <a:xfrm>
            <a:off x="7177857" y="2880360"/>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3" name="Shape 13"/>
          <p:cNvSpPr txBox="1"/>
          <p:nvPr/>
        </p:nvSpPr>
        <p:spPr>
          <a:xfrm>
            <a:off x="7177857" y="288036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b. </a:t>
            </a:r>
            <a:r>
              <a:rPr lang="en-US" sz="1800" dirty="0" b="1">
                <a:solidFill>
                  <a:srgbClr val="16171D"/>
                </a:solidFill>
                <a:latin typeface="Segoe UI"/>
                <a:cs typeface="Segoe UI"/>
              </a:rPr>
              <a:t xml:space="preserve">sometimes</a:t>
            </a:r>
            <a:endParaRPr lang="en-US" sz="1800" dirty="0"/>
          </a:p>
        </p:txBody>
      </p:sp>
      <p:cxnSp>
        <p:nvCxnSpPr>
          <p:cNvPr id="14" name="Line 14"/>
          <p:cNvCxnSpPr/>
          <p:nvPr/>
        </p:nvCxnSpPr>
        <p:spPr>
          <a:xfrm>
            <a:off x="685800" y="3355848"/>
            <a:ext cx="10820095" cy="0"/>
          </a:xfrm>
          <a:prstGeom prst="line">
            <a:avLst/>
          </a:prstGeom>
          <a:ln w="9525" cap="flat">
            <a:solidFill>
              <a:srgbClr val="E3E4EC"/>
            </a:solidFill>
          </a:ln>
        </p:spPr>
      </p:cxnSp>
      <p:sp>
        <p:nvSpPr>
          <p:cNvPr id="15" name="Shape 15"/>
          <p:cNvSpPr txBox="1"/>
          <p:nvPr/>
        </p:nvSpPr>
        <p:spPr>
          <a:xfrm>
            <a:off x="685800" y="335584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graph</a:t>
            </a:r>
            <a:endParaRPr lang="en-US" sz="1800" dirty="0"/>
          </a:p>
        </p:txBody>
      </p:sp>
      <p:sp>
        <p:nvSpPr>
          <p:cNvPr id="16" name="Shape 16"/>
          <p:cNvSpPr txBox="1"/>
          <p:nvPr/>
        </p:nvSpPr>
        <p:spPr>
          <a:xfrm>
            <a:off x="2849819" y="3355848"/>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2849819" y="335584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c. </a:t>
            </a:r>
            <a:r>
              <a:rPr lang="en-US" sz="1800" dirty="0" b="1">
                <a:solidFill>
                  <a:srgbClr val="16171D"/>
                </a:solidFill>
                <a:latin typeface="Segoe UI"/>
                <a:cs typeface="Segoe UI"/>
              </a:rPr>
              <a:t xml:space="preserve">always</a:t>
            </a:r>
            <a:endParaRPr lang="en-US" sz="1800" dirty="0"/>
          </a:p>
        </p:txBody>
      </p:sp>
      <p:sp>
        <p:nvSpPr>
          <p:cNvPr id="18" name="Shape 18"/>
          <p:cNvSpPr txBox="1"/>
          <p:nvPr/>
        </p:nvSpPr>
        <p:spPr>
          <a:xfrm>
            <a:off x="7177857" y="3355848"/>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7177857" y="335584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 </a:t>
            </a:r>
            <a:r>
              <a:rPr lang="en-US" sz="1800" dirty="0" b="1">
                <a:solidFill>
                  <a:srgbClr val="16171D"/>
                </a:solidFill>
                <a:latin typeface="Segoe UI"/>
                <a:cs typeface="Segoe UI"/>
              </a:rPr>
              <a:t xml:space="preserve">sometimes</a:t>
            </a:r>
            <a:endParaRPr lang="en-US" sz="1800" dirty="0"/>
          </a:p>
        </p:txBody>
      </p:sp>
      <p:cxnSp>
        <p:nvCxnSpPr>
          <p:cNvPr id="20" name="Line 20"/>
          <p:cNvCxnSpPr/>
          <p:nvPr/>
        </p:nvCxnSpPr>
        <p:spPr>
          <a:xfrm>
            <a:off x="685800" y="3831336"/>
            <a:ext cx="10820095" cy="0"/>
          </a:xfrm>
          <a:prstGeom prst="line">
            <a:avLst/>
          </a:prstGeom>
          <a:ln w="9525" cap="flat">
            <a:solidFill>
              <a:srgbClr val="E3E4EC"/>
            </a:solidFill>
          </a:ln>
        </p:spPr>
      </p:cxnSp>
      <p:sp>
        <p:nvSpPr>
          <p:cNvPr id="21" name="Shape 21"/>
          <p:cNvSpPr txBox="1"/>
          <p:nvPr/>
        </p:nvSpPr>
        <p:spPr>
          <a:xfrm>
            <a:off x="685800" y="383133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equation</a:t>
            </a:r>
            <a:endParaRPr lang="en-US" sz="1800" dirty="0"/>
          </a:p>
        </p:txBody>
      </p:sp>
      <p:sp>
        <p:nvSpPr>
          <p:cNvPr id="22" name="Shape 22"/>
          <p:cNvSpPr txBox="1"/>
          <p:nvPr/>
        </p:nvSpPr>
        <p:spPr>
          <a:xfrm>
            <a:off x="2849819" y="3831336"/>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2849819" y="38313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e. </a:t>
            </a:r>
            <a:r>
              <a:rPr lang="en-US" sz="1800" dirty="0" b="1">
                <a:solidFill>
                  <a:srgbClr val="16171D"/>
                </a:solidFill>
                <a:latin typeface="Segoe UI"/>
                <a:cs typeface="Segoe UI"/>
              </a:rPr>
              <a:t xml:space="preserve">always</a:t>
            </a:r>
            <a:endParaRPr lang="en-US" sz="1800" dirty="0"/>
          </a:p>
        </p:txBody>
      </p:sp>
      <p:sp>
        <p:nvSpPr>
          <p:cNvPr id="24" name="Shape 24"/>
          <p:cNvSpPr txBox="1"/>
          <p:nvPr/>
        </p:nvSpPr>
        <p:spPr>
          <a:xfrm>
            <a:off x="7177857" y="3831336"/>
            <a:ext cx="4328038"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7177857" y="38313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 </a:t>
            </a:r>
            <a:r>
              <a:rPr lang="en-US" sz="1800" dirty="0" b="1">
                <a:solidFill>
                  <a:srgbClr val="16171D"/>
                </a:solidFill>
                <a:latin typeface="Segoe UI"/>
                <a:cs typeface="Segoe UI"/>
              </a:rPr>
              <a:t xml:space="preserve">always</a:t>
            </a:r>
            <a:endParaRPr lang="en-US" sz="1800" dirty="0"/>
          </a:p>
        </p:txBody>
      </p:sp>
      <p:cxnSp>
        <p:nvCxnSpPr>
          <p:cNvPr id="26" name="Line 26"/>
          <p:cNvCxnSpPr/>
          <p:nvPr/>
        </p:nvCxnSpPr>
        <p:spPr>
          <a:xfrm>
            <a:off x="685800" y="4306824"/>
            <a:ext cx="10820095" cy="0"/>
          </a:xfrm>
          <a:prstGeom prst="line">
            <a:avLst/>
          </a:prstGeom>
          <a:ln w="9525" cap="flat">
            <a:solidFill>
              <a:srgbClr val="E3E4EC"/>
            </a:solidFill>
          </a:ln>
        </p:spPr>
      </p:cxnSp>
      <p:sp>
        <p:nvSpPr>
          <p:cNvPr id="27" name="Slide Number 2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p:cTn id="5" dur="500" fill="hold"/>
                                        <p:tgtEl>
                                          <p:spTgt spid="11"/>
                                        </p:tgtEl>
                                        <p:attrNameLst>
                                          <p:attrName>ppt_x</p:attrName>
                                        </p:attrNameLst>
                                      </p:cBhvr>
                                      <p:tavLst>
                                        <p:tav tm="0">
                                          <p:val>
                                            <p:strVal val="#ppt_x"/>
                                          </p:val>
                                        </p:tav>
                                        <p:tav tm="100000">
                                          <p:val>
                                            <p:strVal val="#ppt_x"/>
                                          </p:val>
                                        </p:tav>
                                      </p:tavLst>
                                    </p:anim>
                                    <p:anim calcmode="lin" valueType="num">
                                      <p:cBhvr>
                                        <p:cTn id="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ppt_x</p:attrName>
                                        </p:attrNameLst>
                                      </p:cBhvr>
                                      <p:tavLst>
                                        <p:tav tm="0">
                                          <p:val>
                                            <p:strVal val="#ppt_x"/>
                                          </p:val>
                                        </p:tav>
                                        <p:tav tm="100000">
                                          <p:val>
                                            <p:strVal val="#ppt_x"/>
                                          </p:val>
                                        </p:tav>
                                      </p:tavLst>
                                    </p:anim>
                                    <p:anim calcmode="lin" valueType="num">
                                      <p:cBhvr>
                                        <p:cTn id="13"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ppt_x</p:attrName>
                                        </p:attrNameLst>
                                      </p:cBhvr>
                                      <p:tavLst>
                                        <p:tav tm="0">
                                          <p:val>
                                            <p:strVal val="#ppt_x"/>
                                          </p:val>
                                        </p:tav>
                                        <p:tav tm="100000">
                                          <p:val>
                                            <p:strVal val="#ppt_x"/>
                                          </p:val>
                                        </p:tav>
                                      </p:tavLst>
                                    </p:anim>
                                    <p:anim calcmode="lin" valueType="num">
                                      <p:cBhvr>
                                        <p:cTn id="2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anim calcmode="lin" valueType="num">
                                      <p:cBhvr>
                                        <p:cTn id="33" dur="500" fill="hold"/>
                                        <p:tgtEl>
                                          <p:spTgt spid="23"/>
                                        </p:tgtEl>
                                        <p:attrNameLst>
                                          <p:attrName>ppt_x</p:attrName>
                                        </p:attrNameLst>
                                      </p:cBhvr>
                                      <p:tavLst>
                                        <p:tav tm="0">
                                          <p:val>
                                            <p:strVal val="#ppt_x"/>
                                          </p:val>
                                        </p:tav>
                                        <p:tav tm="100000">
                                          <p:val>
                                            <p:strVal val="#ppt_x"/>
                                          </p:val>
                                        </p:tav>
                                      </p:tavLst>
                                    </p:anim>
                                    <p:anim calcmode="lin" valueType="num">
                                      <p:cBhvr>
                                        <p:cTn id="34"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anim calcmode="lin" valueType="num">
                                      <p:cBhvr>
                                        <p:cTn id="40" dur="500" fill="hold"/>
                                        <p:tgtEl>
                                          <p:spTgt spid="25"/>
                                        </p:tgtEl>
                                        <p:attrNameLst>
                                          <p:attrName>ppt_x</p:attrName>
                                        </p:attrNameLst>
                                      </p:cBhvr>
                                      <p:tavLst>
                                        <p:tav tm="0">
                                          <p:val>
                                            <p:strVal val="#ppt_x"/>
                                          </p:val>
                                        </p:tav>
                                        <p:tav tm="100000">
                                          <p:val>
                                            <p:strVal val="#ppt_x"/>
                                          </p:val>
                                        </p:tav>
                                      </p:tavLst>
                                    </p:anim>
                                    <p:anim calcmode="lin" valueType="num">
                                      <p:cBhvr>
                                        <p:cTn id="41" dur="5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2 · SE pp. 252–253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the function, then evaluate</a:t>
            </a:r>
            <a:endParaRPr lang="en-US" sz="3450" dirty="0"/>
          </a:p>
        </p:txBody>
      </p:sp>
      <p:sp>
        <p:nvSpPr>
          <p:cNvPr id="4" name="Shape 4"/>
          <p:cNvSpPr txBox="1"/>
          <p:nvPr/>
        </p:nvSpPr>
        <p:spPr>
          <a:xfrm>
            <a:off x="685800"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5" name="Shape 5"/>
          <p:cNvSpPr txBox="1"/>
          <p:nvPr/>
        </p:nvSpPr>
        <p:spPr>
          <a:xfrm>
            <a:off x="1828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6" name="Shape 6"/>
          <p:cNvSpPr txBox="1"/>
          <p:nvPr/>
        </p:nvSpPr>
        <p:spPr>
          <a:xfrm>
            <a:off x="2971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7" name="Shape 7"/>
          <p:cNvSpPr txBox="1"/>
          <p:nvPr/>
        </p:nvSpPr>
        <p:spPr>
          <a:xfrm>
            <a:off x="4114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8" name="Shape 8"/>
          <p:cNvSpPr txBox="1"/>
          <p:nvPr/>
        </p:nvSpPr>
        <p:spPr>
          <a:xfrm>
            <a:off x="5257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9" name="Shape 9"/>
          <p:cNvSpPr txBox="1"/>
          <p:nvPr/>
        </p:nvSpPr>
        <p:spPr>
          <a:xfrm>
            <a:off x="6400800"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10" name="Shape 10"/>
          <p:cNvSpPr txBox="1"/>
          <p:nvPr/>
        </p:nvSpPr>
        <p:spPr>
          <a:xfrm>
            <a:off x="685800" y="203911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f(x)</a:t>
            </a:r>
            <a:endParaRPr lang="en-US" sz="1800" dirty="0"/>
          </a:p>
        </p:txBody>
      </p:sp>
      <p:sp>
        <p:nvSpPr>
          <p:cNvPr id="11" name="Shape 11"/>
          <p:cNvSpPr txBox="1"/>
          <p:nvPr/>
        </p:nvSpPr>
        <p:spPr>
          <a:xfrm>
            <a:off x="1828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−20</a:t>
            </a:r>
            <a:endParaRPr lang="en-US" sz="1800" dirty="0"/>
          </a:p>
        </p:txBody>
      </p:sp>
      <p:sp>
        <p:nvSpPr>
          <p:cNvPr id="12" name="Shape 12"/>
          <p:cNvSpPr txBox="1"/>
          <p:nvPr/>
        </p:nvSpPr>
        <p:spPr>
          <a:xfrm>
            <a:off x="2971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13" name="Shape 13"/>
          <p:cNvSpPr txBox="1"/>
          <p:nvPr/>
        </p:nvSpPr>
        <p:spPr>
          <a:xfrm>
            <a:off x="4114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14" name="Shape 14"/>
          <p:cNvSpPr txBox="1"/>
          <p:nvPr/>
        </p:nvSpPr>
        <p:spPr>
          <a:xfrm>
            <a:off x="5257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15" name="Shape 15"/>
          <p:cNvSpPr txBox="1"/>
          <p:nvPr/>
        </p:nvSpPr>
        <p:spPr>
          <a:xfrm>
            <a:off x="6400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80</a:t>
            </a:r>
            <a:endParaRPr lang="en-US" sz="1800" dirty="0"/>
          </a:p>
        </p:txBody>
      </p:sp>
      <p:sp>
        <p:nvSpPr>
          <p:cNvPr id="16" name="Shape 16"/>
          <p:cNvSpPr txBox="1"/>
          <p:nvPr/>
        </p:nvSpPr>
        <p:spPr>
          <a:xfrm>
            <a:off x="685800" y="255498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− 45</a:t>
            </a:r>
            <a:endParaRPr lang="en-US" sz="2325" dirty="0"/>
          </a:p>
        </p:txBody>
      </p:sp>
      <p:sp>
        <p:nvSpPr>
          <p:cNvPr id="17" name="Shape 17"/>
          <p:cNvSpPr txBox="1"/>
          <p:nvPr/>
        </p:nvSpPr>
        <p:spPr>
          <a:xfrm>
            <a:off x="685800" y="3169158"/>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(12) = 25(12) − 45 = 255</a:t>
            </a:r>
            <a:endParaRPr lang="en-US" sz="2325" dirty="0"/>
          </a:p>
        </p:txBody>
      </p:sp>
      <p:sp>
        <p:nvSpPr>
          <p:cNvPr id="18" name="Shape 18"/>
          <p:cNvSpPr txBox="1"/>
          <p:nvPr/>
        </p:nvSpPr>
        <p:spPr>
          <a:xfrm>
            <a:off x="685800" y="3673602"/>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−145 → 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−100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9" name="Shape 19"/>
          <p:cNvSpPr txBox="1"/>
          <p:nvPr/>
        </p:nvSpPr>
        <p:spPr>
          <a:xfrm>
            <a:off x="6305398"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7448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21" name="Shape 21"/>
          <p:cNvSpPr txBox="1"/>
          <p:nvPr/>
        </p:nvSpPr>
        <p:spPr>
          <a:xfrm>
            <a:off x="8591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22" name="Shape 22"/>
          <p:cNvSpPr txBox="1"/>
          <p:nvPr/>
        </p:nvSpPr>
        <p:spPr>
          <a:xfrm>
            <a:off x="9734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10877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24" name="Shape 24"/>
          <p:cNvSpPr txBox="1"/>
          <p:nvPr/>
        </p:nvSpPr>
        <p:spPr>
          <a:xfrm>
            <a:off x="12020398" y="1618488"/>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9</a:t>
            </a:r>
            <a:endParaRPr lang="en-US" sz="1800" dirty="0"/>
          </a:p>
        </p:txBody>
      </p:sp>
      <p:sp>
        <p:nvSpPr>
          <p:cNvPr id="25" name="Shape 25"/>
          <p:cNvSpPr txBox="1"/>
          <p:nvPr/>
        </p:nvSpPr>
        <p:spPr>
          <a:xfrm>
            <a:off x="6305398" y="203911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g(x)</a:t>
            </a:r>
            <a:endParaRPr lang="en-US" sz="1800" dirty="0"/>
          </a:p>
        </p:txBody>
      </p:sp>
      <p:sp>
        <p:nvSpPr>
          <p:cNvPr id="26" name="Shape 26"/>
          <p:cNvSpPr txBox="1"/>
          <p:nvPr/>
        </p:nvSpPr>
        <p:spPr>
          <a:xfrm>
            <a:off x="7448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18</a:t>
            </a:r>
            <a:endParaRPr lang="en-US" sz="1800" dirty="0"/>
          </a:p>
        </p:txBody>
      </p:sp>
      <p:sp>
        <p:nvSpPr>
          <p:cNvPr id="27" name="Shape 27"/>
          <p:cNvSpPr txBox="1"/>
          <p:nvPr/>
        </p:nvSpPr>
        <p:spPr>
          <a:xfrm>
            <a:off x="8591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28" name="Shape 28"/>
          <p:cNvSpPr txBox="1"/>
          <p:nvPr/>
        </p:nvSpPr>
        <p:spPr>
          <a:xfrm>
            <a:off x="9734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29" name="Shape 29"/>
          <p:cNvSpPr txBox="1"/>
          <p:nvPr/>
        </p:nvSpPr>
        <p:spPr>
          <a:xfrm>
            <a:off x="10877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−18</a:t>
            </a:r>
            <a:endParaRPr lang="en-US" sz="1800" dirty="0"/>
          </a:p>
        </p:txBody>
      </p:sp>
      <p:sp>
        <p:nvSpPr>
          <p:cNvPr id="30" name="Shape 30"/>
          <p:cNvSpPr txBox="1"/>
          <p:nvPr/>
        </p:nvSpPr>
        <p:spPr>
          <a:xfrm>
            <a:off x="12020398"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31" name="Shape 31"/>
          <p:cNvSpPr txBox="1"/>
          <p:nvPr/>
        </p:nvSpPr>
        <p:spPr>
          <a:xfrm>
            <a:off x="6305398" y="255498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32" name="Shape 32"/>
          <p:cNvSpPr txBox="1"/>
          <p:nvPr/>
        </p:nvSpPr>
        <p:spPr>
          <a:xfrm>
            <a:off x="6305398" y="3169158"/>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(−9) = −6(−9) + 24 = 78</a:t>
            </a:r>
            <a:endParaRPr lang="en-US" sz="2325" dirty="0"/>
          </a:p>
        </p:txBody>
      </p:sp>
      <p:sp>
        <p:nvSpPr>
          <p:cNvPr id="33" name="Shape 33"/>
          <p:cNvSpPr txBox="1"/>
          <p:nvPr/>
        </p:nvSpPr>
        <p:spPr>
          <a:xfrm>
            <a:off x="6305398" y="3673602"/>
            <a:ext cx="5200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−54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−78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
        <p:nvSpPr>
          <p:cNvPr id="34" name="Slide Number 3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ppt_w</p:attrName>
                                        </p:attrNameLst>
                                      </p:cBhvr>
                                      <p:tavLst>
                                        <p:tav tm="0">
                                          <p:val>
                                            <p:fltVal val="0"/>
                                          </p:val>
                                        </p:tav>
                                        <p:tav tm="100000">
                                          <p:val>
                                            <p:strVal val="#ppt_w"/>
                                          </p:val>
                                        </p:tav>
                                      </p:tavLst>
                                    </p:anim>
                                    <p:anim calcmode="lin" valueType="num">
                                      <p:cBhvr>
                                        <p:cTn id="6"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ppt_w</p:attrName>
                                        </p:attrNameLst>
                                      </p:cBhvr>
                                      <p:tavLst>
                                        <p:tav tm="0">
                                          <p:val>
                                            <p:fltVal val="0"/>
                                          </p:val>
                                        </p:tav>
                                        <p:tav tm="100000">
                                          <p:val>
                                            <p:strVal val="#ppt_w"/>
                                          </p:val>
                                        </p:tav>
                                      </p:tavLst>
                                    </p:anim>
                                    <p:anim calcmode="lin" valueType="num">
                                      <p:cBhvr>
                                        <p:cTn id="27"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anim calcmode="lin" valueType="num">
                                      <p:cBhvr>
                                        <p:cTn id="33" dur="500" fill="hold"/>
                                        <p:tgtEl>
                                          <p:spTgt spid="32"/>
                                        </p:tgtEl>
                                        <p:attrNameLst>
                                          <p:attrName>ppt_x</p:attrName>
                                        </p:attrNameLst>
                                      </p:cBhvr>
                                      <p:tavLst>
                                        <p:tav tm="0">
                                          <p:val>
                                            <p:strVal val="#ppt_x"/>
                                          </p:val>
                                        </p:tav>
                                        <p:tav tm="100000">
                                          <p:val>
                                            <p:strVal val="#ppt_x"/>
                                          </p:val>
                                        </p:tav>
                                      </p:tavLst>
                                    </p:anim>
                                    <p:anim calcmode="lin" valueType="num">
                                      <p:cBhvr>
                                        <p:cTn id="34"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anim calcmode="lin" valueType="num">
                                      <p:cBhvr>
                                        <p:cTn id="40" dur="500" fill="hold"/>
                                        <p:tgtEl>
                                          <p:spTgt spid="33"/>
                                        </p:tgtEl>
                                        <p:attrNameLst>
                                          <p:attrName>ppt_x</p:attrName>
                                        </p:attrNameLst>
                                      </p:cBhvr>
                                      <p:tavLst>
                                        <p:tav tm="0">
                                          <p:val>
                                            <p:strVal val="#ppt_x"/>
                                          </p:val>
                                        </p:tav>
                                        <p:tav tm="100000">
                                          <p:val>
                                            <p:strVal val="#ppt_x"/>
                                          </p:val>
                                        </p:tav>
                                      </p:tavLst>
                                    </p:anim>
                                    <p:anim calcmode="lin" valueType="num">
                                      <p:cBhvr>
                                        <p:cTn id="41"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Question 3 · Graphic Organizer · SE pp. 253–254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Four views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− 8</a:t>
            </a:r>
            <a:endParaRPr lang="en-US" sz="3450" dirty="0"/>
          </a:p>
        </p:txBody>
      </p:sp>
      <p:sp>
        <p:nvSpPr>
          <p:cNvPr id="7" name="Shape 7"/>
          <p:cNvSpPr txBox="1"/>
          <p:nvPr/>
        </p:nvSpPr>
        <p:spPr>
          <a:xfrm>
            <a:off x="685800" y="1618488"/>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5" name="Shape 5"/>
          <p:cNvSpPr txBox="1"/>
          <p:nvPr/>
        </p:nvSpPr>
        <p:spPr>
          <a:xfrm>
            <a:off x="895350" y="2260092"/>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endParaRPr lang="en-US" sz="2325" dirty="0"/>
          </a:p>
        </p:txBody>
      </p:sp>
      <p:sp>
        <p:nvSpPr>
          <p:cNvPr id="6" name="Shape 6"/>
          <p:cNvSpPr txBox="1"/>
          <p:nvPr/>
        </p:nvSpPr>
        <p:spPr>
          <a:xfrm>
            <a:off x="895350" y="2764536"/>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a:t>
            </a:r>
            <a:endParaRPr lang="en-US" sz="1575" dirty="0"/>
          </a:p>
        </p:txBody>
      </p:sp>
      <p:sp>
        <p:nvSpPr>
          <p:cNvPr id="11" name="Shape 11"/>
          <p:cNvSpPr txBox="1"/>
          <p:nvPr/>
        </p:nvSpPr>
        <p:spPr>
          <a:xfrm>
            <a:off x="685800" y="3345180"/>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516630"/>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9" name="Shape 9"/>
          <p:cNvSpPr txBox="1"/>
          <p:nvPr/>
        </p:nvSpPr>
        <p:spPr>
          <a:xfrm>
            <a:off x="895350" y="3986784"/>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895350" y="4491228"/>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zero 4</a:t>
            </a:r>
            <a:endParaRPr lang="en-US" sz="1575" dirty="0"/>
          </a:p>
        </p:txBody>
      </p:sp>
      <p:sp>
        <p:nvSpPr>
          <p:cNvPr id="12" name="Shape 12"/>
          <p:cNvSpPr txBox="1"/>
          <p:nvPr/>
        </p:nvSpPr>
        <p:spPr>
          <a:xfrm>
            <a:off x="685800" y="5071872"/>
            <a:ext cx="3428898" cy="117957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It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only once: factored form has one factor,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which is 0 only when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4381398"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a:t>
            </a:r>
            <a:endParaRPr lang="en-US" sz="2100" dirty="0"/>
          </a:p>
        </p:txBody>
      </p:sp>
      <p:sp>
        <p:nvSpPr>
          <p:cNvPr id="14" name="Shape 14"/>
          <p:cNvSpPr txBox="1"/>
          <p:nvPr/>
        </p:nvSpPr>
        <p:spPr>
          <a:xfrm>
            <a:off x="4381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15" name="Shape 15"/>
          <p:cNvSpPr txBox="1"/>
          <p:nvPr/>
        </p:nvSpPr>
        <p:spPr>
          <a:xfrm>
            <a:off x="5524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16" name="Shape 16"/>
          <p:cNvSpPr txBox="1"/>
          <p:nvPr/>
        </p:nvSpPr>
        <p:spPr>
          <a:xfrm>
            <a:off x="4381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4381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18" name="Shape 18"/>
          <p:cNvSpPr txBox="1"/>
          <p:nvPr/>
        </p:nvSpPr>
        <p:spPr>
          <a:xfrm>
            <a:off x="5524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5524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0" name="Shape 20"/>
          <p:cNvSpPr txBox="1"/>
          <p:nvPr/>
        </p:nvSpPr>
        <p:spPr>
          <a:xfrm>
            <a:off x="4381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1" name="Shape 21"/>
          <p:cNvSpPr txBox="1"/>
          <p:nvPr/>
        </p:nvSpPr>
        <p:spPr>
          <a:xfrm>
            <a:off x="4381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2" name="Shape 22"/>
          <p:cNvSpPr txBox="1"/>
          <p:nvPr/>
        </p:nvSpPr>
        <p:spPr>
          <a:xfrm>
            <a:off x="5524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5524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4" name="Shape 24"/>
          <p:cNvSpPr txBox="1"/>
          <p:nvPr/>
        </p:nvSpPr>
        <p:spPr>
          <a:xfrm>
            <a:off x="4381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4381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5524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7" name="Shape 27"/>
          <p:cNvSpPr txBox="1"/>
          <p:nvPr/>
        </p:nvSpPr>
        <p:spPr>
          <a:xfrm>
            <a:off x="5524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8" name="Shape 28"/>
          <p:cNvSpPr txBox="1"/>
          <p:nvPr/>
        </p:nvSpPr>
        <p:spPr>
          <a:xfrm>
            <a:off x="4381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9" name="Shape 29"/>
          <p:cNvSpPr txBox="1"/>
          <p:nvPr/>
        </p:nvSpPr>
        <p:spPr>
          <a:xfrm>
            <a:off x="4381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30" name="Shape 30"/>
          <p:cNvSpPr txBox="1"/>
          <p:nvPr/>
        </p:nvSpPr>
        <p:spPr>
          <a:xfrm>
            <a:off x="5524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31" name="Shape 31"/>
          <p:cNvSpPr txBox="1"/>
          <p:nvPr/>
        </p:nvSpPr>
        <p:spPr>
          <a:xfrm>
            <a:off x="5524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32" name="Shape 32"/>
          <p:cNvSpPr txBox="1"/>
          <p:nvPr/>
        </p:nvSpPr>
        <p:spPr>
          <a:xfrm>
            <a:off x="8076997"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a:t>
            </a:r>
            <a:endParaRPr lang="en-US" sz="2100" dirty="0"/>
          </a:p>
        </p:txBody>
      </p:sp>
      <p:sp>
        <p:nvSpPr>
          <p:cNvPr id="33" name="Shape 33"/>
          <p:cNvSpPr/>
          <p:nvPr/>
        </p:nvSpPr>
        <p:spPr>
          <a:xfrm>
            <a:off x="8076997" y="2069592"/>
            <a:ext cx="30480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34" name="Line 34"/>
          <p:cNvCxnSpPr/>
          <p:nvPr/>
        </p:nvCxnSpPr>
        <p:spPr>
          <a:xfrm>
            <a:off x="8400847" y="2183892"/>
            <a:ext cx="0" cy="2876550"/>
          </a:xfrm>
          <a:prstGeom prst="line">
            <a:avLst/>
          </a:prstGeom>
          <a:ln w="9525" cap="flat">
            <a:solidFill>
              <a:srgbClr val="E6E8F2"/>
            </a:solidFill>
          </a:ln>
        </p:spPr>
      </p:cxnSp>
      <p:cxnSp>
        <p:nvCxnSpPr>
          <p:cNvPr id="35" name="Line 35"/>
          <p:cNvCxnSpPr/>
          <p:nvPr/>
        </p:nvCxnSpPr>
        <p:spPr>
          <a:xfrm>
            <a:off x="8587265" y="2183892"/>
            <a:ext cx="0" cy="2876550"/>
          </a:xfrm>
          <a:prstGeom prst="line">
            <a:avLst/>
          </a:prstGeom>
          <a:ln w="9525" cap="flat">
            <a:solidFill>
              <a:srgbClr val="E6E8F2"/>
            </a:solidFill>
          </a:ln>
        </p:spPr>
      </p:cxnSp>
      <p:cxnSp>
        <p:nvCxnSpPr>
          <p:cNvPr id="36" name="Line 36"/>
          <p:cNvCxnSpPr/>
          <p:nvPr/>
        </p:nvCxnSpPr>
        <p:spPr>
          <a:xfrm>
            <a:off x="8773683" y="2183892"/>
            <a:ext cx="0" cy="2876550"/>
          </a:xfrm>
          <a:prstGeom prst="line">
            <a:avLst/>
          </a:prstGeom>
          <a:ln w="9525" cap="flat">
            <a:solidFill>
              <a:srgbClr val="E6E8F2"/>
            </a:solidFill>
          </a:ln>
        </p:spPr>
      </p:cxnSp>
      <p:cxnSp>
        <p:nvCxnSpPr>
          <p:cNvPr id="37" name="Line 37"/>
          <p:cNvCxnSpPr/>
          <p:nvPr/>
        </p:nvCxnSpPr>
        <p:spPr>
          <a:xfrm>
            <a:off x="8960100" y="2183892"/>
            <a:ext cx="0" cy="2876550"/>
          </a:xfrm>
          <a:prstGeom prst="line">
            <a:avLst/>
          </a:prstGeom>
          <a:ln w="9525" cap="flat">
            <a:solidFill>
              <a:srgbClr val="E6E8F2"/>
            </a:solidFill>
          </a:ln>
        </p:spPr>
      </p:cxnSp>
      <p:cxnSp>
        <p:nvCxnSpPr>
          <p:cNvPr id="38" name="Line 38"/>
          <p:cNvCxnSpPr/>
          <p:nvPr/>
        </p:nvCxnSpPr>
        <p:spPr>
          <a:xfrm>
            <a:off x="9146518" y="2183892"/>
            <a:ext cx="0" cy="2876550"/>
          </a:xfrm>
          <a:prstGeom prst="line">
            <a:avLst/>
          </a:prstGeom>
          <a:ln w="9525" cap="flat">
            <a:solidFill>
              <a:srgbClr val="E6E8F2"/>
            </a:solidFill>
          </a:ln>
        </p:spPr>
      </p:cxnSp>
      <p:cxnSp>
        <p:nvCxnSpPr>
          <p:cNvPr id="39" name="Line 39"/>
          <p:cNvCxnSpPr/>
          <p:nvPr/>
        </p:nvCxnSpPr>
        <p:spPr>
          <a:xfrm>
            <a:off x="9332936" y="2183892"/>
            <a:ext cx="0" cy="2876550"/>
          </a:xfrm>
          <a:prstGeom prst="line">
            <a:avLst/>
          </a:prstGeom>
          <a:ln w="9525" cap="flat">
            <a:solidFill>
              <a:srgbClr val="E6E8F2"/>
            </a:solidFill>
          </a:ln>
        </p:spPr>
      </p:cxnSp>
      <p:cxnSp>
        <p:nvCxnSpPr>
          <p:cNvPr id="40" name="Line 40"/>
          <p:cNvCxnSpPr/>
          <p:nvPr/>
        </p:nvCxnSpPr>
        <p:spPr>
          <a:xfrm>
            <a:off x="9519354" y="2183892"/>
            <a:ext cx="0" cy="2876550"/>
          </a:xfrm>
          <a:prstGeom prst="line">
            <a:avLst/>
          </a:prstGeom>
          <a:ln w="9525" cap="flat">
            <a:solidFill>
              <a:srgbClr val="E6E8F2"/>
            </a:solidFill>
          </a:ln>
        </p:spPr>
      </p:cxnSp>
      <p:cxnSp>
        <p:nvCxnSpPr>
          <p:cNvPr id="41" name="Line 41"/>
          <p:cNvCxnSpPr/>
          <p:nvPr/>
        </p:nvCxnSpPr>
        <p:spPr>
          <a:xfrm>
            <a:off x="9705772" y="2183892"/>
            <a:ext cx="0" cy="2876550"/>
          </a:xfrm>
          <a:prstGeom prst="line">
            <a:avLst/>
          </a:prstGeom>
          <a:ln w="9525" cap="flat">
            <a:solidFill>
              <a:srgbClr val="E6E8F2"/>
            </a:solidFill>
          </a:ln>
        </p:spPr>
      </p:cxnSp>
      <p:cxnSp>
        <p:nvCxnSpPr>
          <p:cNvPr id="42" name="Line 42"/>
          <p:cNvCxnSpPr/>
          <p:nvPr/>
        </p:nvCxnSpPr>
        <p:spPr>
          <a:xfrm>
            <a:off x="9892190" y="2183892"/>
            <a:ext cx="0" cy="2876550"/>
          </a:xfrm>
          <a:prstGeom prst="line">
            <a:avLst/>
          </a:prstGeom>
          <a:ln w="9525" cap="flat">
            <a:solidFill>
              <a:srgbClr val="E6E8F2"/>
            </a:solidFill>
          </a:ln>
        </p:spPr>
      </p:cxnSp>
      <p:cxnSp>
        <p:nvCxnSpPr>
          <p:cNvPr id="43" name="Line 43"/>
          <p:cNvCxnSpPr/>
          <p:nvPr/>
        </p:nvCxnSpPr>
        <p:spPr>
          <a:xfrm>
            <a:off x="10078608" y="2183892"/>
            <a:ext cx="0" cy="2876550"/>
          </a:xfrm>
          <a:prstGeom prst="line">
            <a:avLst/>
          </a:prstGeom>
          <a:ln w="9525" cap="flat">
            <a:solidFill>
              <a:srgbClr val="E6E8F2"/>
            </a:solidFill>
          </a:ln>
        </p:spPr>
      </p:cxnSp>
      <p:cxnSp>
        <p:nvCxnSpPr>
          <p:cNvPr id="44" name="Line 44"/>
          <p:cNvCxnSpPr/>
          <p:nvPr/>
        </p:nvCxnSpPr>
        <p:spPr>
          <a:xfrm>
            <a:off x="10265025" y="2183892"/>
            <a:ext cx="0" cy="2876550"/>
          </a:xfrm>
          <a:prstGeom prst="line">
            <a:avLst/>
          </a:prstGeom>
          <a:ln w="9525" cap="flat">
            <a:solidFill>
              <a:srgbClr val="E6E8F2"/>
            </a:solidFill>
          </a:ln>
        </p:spPr>
      </p:cxnSp>
      <p:cxnSp>
        <p:nvCxnSpPr>
          <p:cNvPr id="45" name="Line 45"/>
          <p:cNvCxnSpPr/>
          <p:nvPr/>
        </p:nvCxnSpPr>
        <p:spPr>
          <a:xfrm>
            <a:off x="10451443" y="2183892"/>
            <a:ext cx="0" cy="2876550"/>
          </a:xfrm>
          <a:prstGeom prst="line">
            <a:avLst/>
          </a:prstGeom>
          <a:ln w="9525" cap="flat">
            <a:solidFill>
              <a:srgbClr val="E6E8F2"/>
            </a:solidFill>
          </a:ln>
        </p:spPr>
      </p:cxnSp>
      <p:cxnSp>
        <p:nvCxnSpPr>
          <p:cNvPr id="46" name="Line 46"/>
          <p:cNvCxnSpPr/>
          <p:nvPr/>
        </p:nvCxnSpPr>
        <p:spPr>
          <a:xfrm>
            <a:off x="10637861" y="2183892"/>
            <a:ext cx="0" cy="2876550"/>
          </a:xfrm>
          <a:prstGeom prst="line">
            <a:avLst/>
          </a:prstGeom>
          <a:ln w="9525" cap="flat">
            <a:solidFill>
              <a:srgbClr val="E6E8F2"/>
            </a:solidFill>
          </a:ln>
        </p:spPr>
      </p:cxnSp>
      <p:cxnSp>
        <p:nvCxnSpPr>
          <p:cNvPr id="47" name="Line 47"/>
          <p:cNvCxnSpPr/>
          <p:nvPr/>
        </p:nvCxnSpPr>
        <p:spPr>
          <a:xfrm>
            <a:off x="10824279" y="2183892"/>
            <a:ext cx="0" cy="2876550"/>
          </a:xfrm>
          <a:prstGeom prst="line">
            <a:avLst/>
          </a:prstGeom>
          <a:ln w="9525" cap="flat">
            <a:solidFill>
              <a:srgbClr val="E6E8F2"/>
            </a:solidFill>
          </a:ln>
        </p:spPr>
      </p:cxnSp>
      <p:cxnSp>
        <p:nvCxnSpPr>
          <p:cNvPr id="48" name="Line 48"/>
          <p:cNvCxnSpPr/>
          <p:nvPr/>
        </p:nvCxnSpPr>
        <p:spPr>
          <a:xfrm>
            <a:off x="11010697" y="2183892"/>
            <a:ext cx="0" cy="2876550"/>
          </a:xfrm>
          <a:prstGeom prst="line">
            <a:avLst/>
          </a:prstGeom>
          <a:ln w="9525" cap="flat">
            <a:solidFill>
              <a:srgbClr val="E6E8F2"/>
            </a:solidFill>
          </a:ln>
        </p:spPr>
      </p:cxnSp>
      <p:cxnSp>
        <p:nvCxnSpPr>
          <p:cNvPr id="49" name="Line 49"/>
          <p:cNvCxnSpPr/>
          <p:nvPr/>
        </p:nvCxnSpPr>
        <p:spPr>
          <a:xfrm>
            <a:off x="8400847" y="5060442"/>
            <a:ext cx="2609850" cy="0"/>
          </a:xfrm>
          <a:prstGeom prst="line">
            <a:avLst/>
          </a:prstGeom>
          <a:ln w="9525" cap="flat">
            <a:solidFill>
              <a:srgbClr val="E6E8F2"/>
            </a:solidFill>
          </a:ln>
        </p:spPr>
      </p:cxnSp>
      <p:cxnSp>
        <p:nvCxnSpPr>
          <p:cNvPr id="50" name="Line 50"/>
          <p:cNvCxnSpPr/>
          <p:nvPr/>
        </p:nvCxnSpPr>
        <p:spPr>
          <a:xfrm>
            <a:off x="8400847" y="4900634"/>
            <a:ext cx="2609850" cy="0"/>
          </a:xfrm>
          <a:prstGeom prst="line">
            <a:avLst/>
          </a:prstGeom>
          <a:ln w="9525" cap="flat">
            <a:solidFill>
              <a:srgbClr val="E6E8F2"/>
            </a:solidFill>
          </a:ln>
        </p:spPr>
      </p:cxnSp>
      <p:cxnSp>
        <p:nvCxnSpPr>
          <p:cNvPr id="51" name="Line 51"/>
          <p:cNvCxnSpPr/>
          <p:nvPr/>
        </p:nvCxnSpPr>
        <p:spPr>
          <a:xfrm>
            <a:off x="8400847" y="4740825"/>
            <a:ext cx="2609850" cy="0"/>
          </a:xfrm>
          <a:prstGeom prst="line">
            <a:avLst/>
          </a:prstGeom>
          <a:ln w="9525" cap="flat">
            <a:solidFill>
              <a:srgbClr val="E6E8F2"/>
            </a:solidFill>
          </a:ln>
        </p:spPr>
      </p:cxnSp>
      <p:cxnSp>
        <p:nvCxnSpPr>
          <p:cNvPr id="52" name="Line 52"/>
          <p:cNvCxnSpPr/>
          <p:nvPr/>
        </p:nvCxnSpPr>
        <p:spPr>
          <a:xfrm>
            <a:off x="8400847" y="4581017"/>
            <a:ext cx="2609850" cy="0"/>
          </a:xfrm>
          <a:prstGeom prst="line">
            <a:avLst/>
          </a:prstGeom>
          <a:ln w="9525" cap="flat">
            <a:solidFill>
              <a:srgbClr val="E6E8F2"/>
            </a:solidFill>
          </a:ln>
        </p:spPr>
      </p:cxnSp>
      <p:cxnSp>
        <p:nvCxnSpPr>
          <p:cNvPr id="53" name="Line 53"/>
          <p:cNvCxnSpPr/>
          <p:nvPr/>
        </p:nvCxnSpPr>
        <p:spPr>
          <a:xfrm>
            <a:off x="8400847" y="4421209"/>
            <a:ext cx="2609850" cy="0"/>
          </a:xfrm>
          <a:prstGeom prst="line">
            <a:avLst/>
          </a:prstGeom>
          <a:ln w="9525" cap="flat">
            <a:solidFill>
              <a:srgbClr val="E6E8F2"/>
            </a:solidFill>
          </a:ln>
        </p:spPr>
      </p:cxnSp>
      <p:cxnSp>
        <p:nvCxnSpPr>
          <p:cNvPr id="54" name="Line 54"/>
          <p:cNvCxnSpPr/>
          <p:nvPr/>
        </p:nvCxnSpPr>
        <p:spPr>
          <a:xfrm>
            <a:off x="8400847" y="4261400"/>
            <a:ext cx="2609850" cy="0"/>
          </a:xfrm>
          <a:prstGeom prst="line">
            <a:avLst/>
          </a:prstGeom>
          <a:ln w="9525" cap="flat">
            <a:solidFill>
              <a:srgbClr val="E6E8F2"/>
            </a:solidFill>
          </a:ln>
        </p:spPr>
      </p:cxnSp>
      <p:cxnSp>
        <p:nvCxnSpPr>
          <p:cNvPr id="55" name="Line 55"/>
          <p:cNvCxnSpPr/>
          <p:nvPr/>
        </p:nvCxnSpPr>
        <p:spPr>
          <a:xfrm>
            <a:off x="8400847" y="4101592"/>
            <a:ext cx="2609850" cy="0"/>
          </a:xfrm>
          <a:prstGeom prst="line">
            <a:avLst/>
          </a:prstGeom>
          <a:ln w="9525" cap="flat">
            <a:solidFill>
              <a:srgbClr val="E6E8F2"/>
            </a:solidFill>
          </a:ln>
        </p:spPr>
      </p:cxnSp>
      <p:cxnSp>
        <p:nvCxnSpPr>
          <p:cNvPr id="56" name="Line 56"/>
          <p:cNvCxnSpPr/>
          <p:nvPr/>
        </p:nvCxnSpPr>
        <p:spPr>
          <a:xfrm>
            <a:off x="8400847" y="3941784"/>
            <a:ext cx="2609850" cy="0"/>
          </a:xfrm>
          <a:prstGeom prst="line">
            <a:avLst/>
          </a:prstGeom>
          <a:ln w="9525" cap="flat">
            <a:solidFill>
              <a:srgbClr val="E6E8F2"/>
            </a:solidFill>
          </a:ln>
        </p:spPr>
      </p:cxnSp>
      <p:cxnSp>
        <p:nvCxnSpPr>
          <p:cNvPr id="57" name="Line 57"/>
          <p:cNvCxnSpPr/>
          <p:nvPr/>
        </p:nvCxnSpPr>
        <p:spPr>
          <a:xfrm>
            <a:off x="8400847" y="3781975"/>
            <a:ext cx="2609850" cy="0"/>
          </a:xfrm>
          <a:prstGeom prst="line">
            <a:avLst/>
          </a:prstGeom>
          <a:ln w="9525" cap="flat">
            <a:solidFill>
              <a:srgbClr val="E6E8F2"/>
            </a:solidFill>
          </a:ln>
        </p:spPr>
      </p:cxnSp>
      <p:cxnSp>
        <p:nvCxnSpPr>
          <p:cNvPr id="58" name="Line 58"/>
          <p:cNvCxnSpPr/>
          <p:nvPr/>
        </p:nvCxnSpPr>
        <p:spPr>
          <a:xfrm>
            <a:off x="8400847" y="3622167"/>
            <a:ext cx="2609850" cy="0"/>
          </a:xfrm>
          <a:prstGeom prst="line">
            <a:avLst/>
          </a:prstGeom>
          <a:ln w="9525" cap="flat">
            <a:solidFill>
              <a:srgbClr val="E6E8F2"/>
            </a:solidFill>
          </a:ln>
        </p:spPr>
      </p:cxnSp>
      <p:cxnSp>
        <p:nvCxnSpPr>
          <p:cNvPr id="59" name="Line 59"/>
          <p:cNvCxnSpPr/>
          <p:nvPr/>
        </p:nvCxnSpPr>
        <p:spPr>
          <a:xfrm>
            <a:off x="8400847" y="3462359"/>
            <a:ext cx="2609850" cy="0"/>
          </a:xfrm>
          <a:prstGeom prst="line">
            <a:avLst/>
          </a:prstGeom>
          <a:ln w="9525" cap="flat">
            <a:solidFill>
              <a:srgbClr val="E6E8F2"/>
            </a:solidFill>
          </a:ln>
        </p:spPr>
      </p:cxnSp>
      <p:cxnSp>
        <p:nvCxnSpPr>
          <p:cNvPr id="60" name="Line 60"/>
          <p:cNvCxnSpPr/>
          <p:nvPr/>
        </p:nvCxnSpPr>
        <p:spPr>
          <a:xfrm>
            <a:off x="8400847" y="3302550"/>
            <a:ext cx="2609850" cy="0"/>
          </a:xfrm>
          <a:prstGeom prst="line">
            <a:avLst/>
          </a:prstGeom>
          <a:ln w="9525" cap="flat">
            <a:solidFill>
              <a:srgbClr val="E6E8F2"/>
            </a:solidFill>
          </a:ln>
        </p:spPr>
      </p:cxnSp>
      <p:cxnSp>
        <p:nvCxnSpPr>
          <p:cNvPr id="61" name="Line 61"/>
          <p:cNvCxnSpPr/>
          <p:nvPr/>
        </p:nvCxnSpPr>
        <p:spPr>
          <a:xfrm>
            <a:off x="8400847" y="3142742"/>
            <a:ext cx="2609850" cy="0"/>
          </a:xfrm>
          <a:prstGeom prst="line">
            <a:avLst/>
          </a:prstGeom>
          <a:ln w="9525" cap="flat">
            <a:solidFill>
              <a:srgbClr val="E6E8F2"/>
            </a:solidFill>
          </a:ln>
        </p:spPr>
      </p:cxnSp>
      <p:cxnSp>
        <p:nvCxnSpPr>
          <p:cNvPr id="62" name="Line 62"/>
          <p:cNvCxnSpPr/>
          <p:nvPr/>
        </p:nvCxnSpPr>
        <p:spPr>
          <a:xfrm>
            <a:off x="8400847" y="2982934"/>
            <a:ext cx="2609850" cy="0"/>
          </a:xfrm>
          <a:prstGeom prst="line">
            <a:avLst/>
          </a:prstGeom>
          <a:ln w="9525" cap="flat">
            <a:solidFill>
              <a:srgbClr val="E6E8F2"/>
            </a:solidFill>
          </a:ln>
        </p:spPr>
      </p:cxnSp>
      <p:cxnSp>
        <p:nvCxnSpPr>
          <p:cNvPr id="63" name="Line 63"/>
          <p:cNvCxnSpPr/>
          <p:nvPr/>
        </p:nvCxnSpPr>
        <p:spPr>
          <a:xfrm>
            <a:off x="8400847" y="2823125"/>
            <a:ext cx="2609850" cy="0"/>
          </a:xfrm>
          <a:prstGeom prst="line">
            <a:avLst/>
          </a:prstGeom>
          <a:ln w="9525" cap="flat">
            <a:solidFill>
              <a:srgbClr val="E6E8F2"/>
            </a:solidFill>
          </a:ln>
        </p:spPr>
      </p:cxnSp>
      <p:cxnSp>
        <p:nvCxnSpPr>
          <p:cNvPr id="64" name="Line 64"/>
          <p:cNvCxnSpPr/>
          <p:nvPr/>
        </p:nvCxnSpPr>
        <p:spPr>
          <a:xfrm>
            <a:off x="8400847" y="2663317"/>
            <a:ext cx="2609850" cy="0"/>
          </a:xfrm>
          <a:prstGeom prst="line">
            <a:avLst/>
          </a:prstGeom>
          <a:ln w="9525" cap="flat">
            <a:solidFill>
              <a:srgbClr val="E6E8F2"/>
            </a:solidFill>
          </a:ln>
        </p:spPr>
      </p:cxnSp>
      <p:cxnSp>
        <p:nvCxnSpPr>
          <p:cNvPr id="65" name="Line 65"/>
          <p:cNvCxnSpPr/>
          <p:nvPr/>
        </p:nvCxnSpPr>
        <p:spPr>
          <a:xfrm>
            <a:off x="8400847" y="2503509"/>
            <a:ext cx="2609850" cy="0"/>
          </a:xfrm>
          <a:prstGeom prst="line">
            <a:avLst/>
          </a:prstGeom>
          <a:ln w="9525" cap="flat">
            <a:solidFill>
              <a:srgbClr val="E6E8F2"/>
            </a:solidFill>
          </a:ln>
        </p:spPr>
      </p:cxnSp>
      <p:cxnSp>
        <p:nvCxnSpPr>
          <p:cNvPr id="66" name="Line 66"/>
          <p:cNvCxnSpPr/>
          <p:nvPr/>
        </p:nvCxnSpPr>
        <p:spPr>
          <a:xfrm>
            <a:off x="8400847" y="2343700"/>
            <a:ext cx="2609850" cy="0"/>
          </a:xfrm>
          <a:prstGeom prst="line">
            <a:avLst/>
          </a:prstGeom>
          <a:ln w="9525" cap="flat">
            <a:solidFill>
              <a:srgbClr val="E6E8F2"/>
            </a:solidFill>
          </a:ln>
        </p:spPr>
      </p:cxnSp>
      <p:cxnSp>
        <p:nvCxnSpPr>
          <p:cNvPr id="67" name="Line 67"/>
          <p:cNvCxnSpPr/>
          <p:nvPr/>
        </p:nvCxnSpPr>
        <p:spPr>
          <a:xfrm>
            <a:off x="8400847" y="2183892"/>
            <a:ext cx="2609850" cy="0"/>
          </a:xfrm>
          <a:prstGeom prst="line">
            <a:avLst/>
          </a:prstGeom>
          <a:ln w="9525" cap="flat">
            <a:solidFill>
              <a:srgbClr val="E6E8F2"/>
            </a:solidFill>
          </a:ln>
        </p:spPr>
      </p:cxnSp>
      <p:cxnSp>
        <p:nvCxnSpPr>
          <p:cNvPr id="68" name="Line 68"/>
          <p:cNvCxnSpPr/>
          <p:nvPr/>
        </p:nvCxnSpPr>
        <p:spPr>
          <a:xfrm>
            <a:off x="9519354" y="2183892"/>
            <a:ext cx="0" cy="2876550"/>
          </a:xfrm>
          <a:prstGeom prst="line">
            <a:avLst/>
          </a:prstGeom>
          <a:ln w="19050" cap="flat">
            <a:solidFill>
              <a:srgbClr val="5F6272"/>
            </a:solidFill>
          </a:ln>
        </p:spPr>
      </p:cxnSp>
      <p:cxnSp>
        <p:nvCxnSpPr>
          <p:cNvPr id="69" name="Line 69"/>
          <p:cNvCxnSpPr/>
          <p:nvPr/>
        </p:nvCxnSpPr>
        <p:spPr>
          <a:xfrm>
            <a:off x="8400847" y="3462359"/>
            <a:ext cx="2609850" cy="0"/>
          </a:xfrm>
          <a:prstGeom prst="line">
            <a:avLst/>
          </a:prstGeom>
          <a:ln w="19050" cap="flat">
            <a:solidFill>
              <a:srgbClr val="5F6272"/>
            </a:solidFill>
          </a:ln>
        </p:spPr>
      </p:cxnSp>
      <p:sp>
        <p:nvSpPr>
          <p:cNvPr id="70" name="Shape 70"/>
          <p:cNvSpPr txBox="1"/>
          <p:nvPr/>
        </p:nvSpPr>
        <p:spPr>
          <a:xfrm>
            <a:off x="812652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1" name="Shape 71"/>
          <p:cNvSpPr txBox="1"/>
          <p:nvPr/>
        </p:nvSpPr>
        <p:spPr>
          <a:xfrm>
            <a:off x="8499363"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2" name="Shape 72"/>
          <p:cNvSpPr txBox="1"/>
          <p:nvPr/>
        </p:nvSpPr>
        <p:spPr>
          <a:xfrm>
            <a:off x="8872198"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3" name="Shape 73"/>
          <p:cNvSpPr txBox="1"/>
          <p:nvPr/>
        </p:nvSpPr>
        <p:spPr>
          <a:xfrm>
            <a:off x="9245034"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4" name="Shape 74"/>
          <p:cNvSpPr txBox="1"/>
          <p:nvPr/>
        </p:nvSpPr>
        <p:spPr>
          <a:xfrm>
            <a:off x="9617870"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5" name="Shape 75"/>
          <p:cNvSpPr txBox="1"/>
          <p:nvPr/>
        </p:nvSpPr>
        <p:spPr>
          <a:xfrm>
            <a:off x="9990705"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6" name="Shape 76"/>
          <p:cNvSpPr txBox="1"/>
          <p:nvPr/>
        </p:nvSpPr>
        <p:spPr>
          <a:xfrm>
            <a:off x="10363541"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7" name="Shape 77"/>
          <p:cNvSpPr txBox="1"/>
          <p:nvPr/>
        </p:nvSpPr>
        <p:spPr>
          <a:xfrm>
            <a:off x="1073637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78" name="Shape 78"/>
          <p:cNvSpPr txBox="1"/>
          <p:nvPr/>
        </p:nvSpPr>
        <p:spPr>
          <a:xfrm>
            <a:off x="7833919" y="49690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79" name="Shape 79"/>
          <p:cNvSpPr txBox="1"/>
          <p:nvPr/>
        </p:nvSpPr>
        <p:spPr>
          <a:xfrm>
            <a:off x="7833919" y="46493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0" name="Shape 80"/>
          <p:cNvSpPr txBox="1"/>
          <p:nvPr/>
        </p:nvSpPr>
        <p:spPr>
          <a:xfrm>
            <a:off x="7833919" y="43297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1" name="Shape 81"/>
          <p:cNvSpPr txBox="1"/>
          <p:nvPr/>
        </p:nvSpPr>
        <p:spPr>
          <a:xfrm>
            <a:off x="7833919" y="4010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7833919" y="36905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3" name="Shape 83"/>
          <p:cNvSpPr txBox="1"/>
          <p:nvPr/>
        </p:nvSpPr>
        <p:spPr>
          <a:xfrm>
            <a:off x="7833919" y="33709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84" name="Shape 84"/>
          <p:cNvSpPr txBox="1"/>
          <p:nvPr/>
        </p:nvSpPr>
        <p:spPr>
          <a:xfrm>
            <a:off x="7833919"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5" name="Shape 85"/>
          <p:cNvSpPr txBox="1"/>
          <p:nvPr/>
        </p:nvSpPr>
        <p:spPr>
          <a:xfrm>
            <a:off x="7833919" y="27316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7833919" y="2412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7" name="Shape 87"/>
          <p:cNvSpPr txBox="1"/>
          <p:nvPr/>
        </p:nvSpPr>
        <p:spPr>
          <a:xfrm>
            <a:off x="7833919" y="20924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8" name="Shape 88"/>
          <p:cNvSpPr/>
          <p:nvPr/>
        </p:nvSpPr>
        <p:spPr>
          <a:xfrm>
            <a:off x="9466966" y="46884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89" name="Shape 89"/>
          <p:cNvSpPr txBox="1"/>
          <p:nvPr/>
        </p:nvSpPr>
        <p:spPr>
          <a:xfrm>
            <a:off x="9605079" y="449317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a:t>
            </a:r>
            <a:endParaRPr lang="en-US" sz="1125" dirty="0"/>
          </a:p>
        </p:txBody>
      </p:sp>
      <p:sp>
        <p:nvSpPr>
          <p:cNvPr id="90" name="Shape 90"/>
          <p:cNvSpPr/>
          <p:nvPr/>
        </p:nvSpPr>
        <p:spPr>
          <a:xfrm>
            <a:off x="10212638" y="340997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1" name="Shape 91"/>
          <p:cNvSpPr txBox="1"/>
          <p:nvPr/>
        </p:nvSpPr>
        <p:spPr>
          <a:xfrm>
            <a:off x="10350750" y="321470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(4, 0)</a:t>
            </a:r>
            <a:endParaRPr lang="en-US" sz="1125" dirty="0"/>
          </a:p>
        </p:txBody>
      </p:sp>
      <p:cxnSp>
        <p:nvCxnSpPr>
          <p:cNvPr id="92" name="Line 92"/>
          <p:cNvCxnSpPr/>
          <p:nvPr/>
        </p:nvCxnSpPr>
        <p:spPr>
          <a:xfrm flipV="1">
            <a:off x="9332936" y="2183892"/>
            <a:ext cx="1677761" cy="2876550"/>
          </a:xfrm>
          <a:prstGeom prst="line">
            <a:avLst/>
          </a:prstGeom>
          <a:ln w="38100" cap="rnd">
            <a:solidFill>
              <a:srgbClr val="16171D"/>
            </a:solidFill>
          </a:ln>
        </p:spPr>
      </p:cxnSp>
      <p:sp>
        <p:nvSpPr>
          <p:cNvPr id="93" name="Slide Number 9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anim calcmode="lin" valueType="num">
                                      <p:cBhvr>
                                        <p:cTn id="49" dur="500" fill="hold"/>
                                        <p:tgtEl>
                                          <p:spTgt spid="12"/>
                                        </p:tgtEl>
                                        <p:attrNameLst>
                                          <p:attrName>ppt_x</p:attrName>
                                        </p:attrNameLst>
                                      </p:cBhvr>
                                      <p:tavLst>
                                        <p:tav tm="0">
                                          <p:val>
                                            <p:strVal val="#ppt_x"/>
                                          </p:val>
                                        </p:tav>
                                        <p:tav tm="100000">
                                          <p:val>
                                            <p:strVal val="#ppt_x"/>
                                          </p:val>
                                        </p:tav>
                                      </p:tavLst>
                                    </p:anim>
                                    <p:anim calcmode="lin" valueType="num">
                                      <p:cBhvr>
                                        <p:cTn id="5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anim calcmode="lin" valueType="num">
                                      <p:cBhvr>
                                        <p:cTn id="56" dur="500" fill="hold"/>
                                        <p:tgtEl>
                                          <p:spTgt spid="17"/>
                                        </p:tgtEl>
                                        <p:attrNameLst>
                                          <p:attrName>ppt_x</p:attrName>
                                        </p:attrNameLst>
                                      </p:cBhvr>
                                      <p:tavLst>
                                        <p:tav tm="0">
                                          <p:val>
                                            <p:strVal val="#ppt_x"/>
                                          </p:val>
                                        </p:tav>
                                        <p:tav tm="100000">
                                          <p:val>
                                            <p:strVal val="#ppt_x"/>
                                          </p:val>
                                        </p:tav>
                                      </p:tavLst>
                                    </p:anim>
                                    <p:anim calcmode="lin" valueType="num">
                                      <p:cBhvr>
                                        <p:cTn id="5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5" presetID="42"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p:cTn id="63" dur="500" fill="hold"/>
                                        <p:tgtEl>
                                          <p:spTgt spid="19"/>
                                        </p:tgtEl>
                                        <p:attrNameLst>
                                          <p:attrName>ppt_x</p:attrName>
                                        </p:attrNameLst>
                                      </p:cBhvr>
                                      <p:tavLst>
                                        <p:tav tm="0">
                                          <p:val>
                                            <p:strVal val="#ppt_x"/>
                                          </p:val>
                                        </p:tav>
                                        <p:tav tm="100000">
                                          <p:val>
                                            <p:strVal val="#ppt_x"/>
                                          </p:val>
                                        </p:tav>
                                      </p:tavLst>
                                    </p:anim>
                                    <p:anim calcmode="lin" valueType="num">
                                      <p:cBhvr>
                                        <p:cTn id="6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anim calcmode="lin" valueType="num">
                                      <p:cBhvr>
                                        <p:cTn id="70" dur="500" fill="hold"/>
                                        <p:tgtEl>
                                          <p:spTgt spid="21"/>
                                        </p:tgtEl>
                                        <p:attrNameLst>
                                          <p:attrName>ppt_x</p:attrName>
                                        </p:attrNameLst>
                                      </p:cBhvr>
                                      <p:tavLst>
                                        <p:tav tm="0">
                                          <p:val>
                                            <p:strVal val="#ppt_x"/>
                                          </p:val>
                                        </p:tav>
                                        <p:tav tm="100000">
                                          <p:val>
                                            <p:strVal val="#ppt_x"/>
                                          </p:val>
                                        </p:tav>
                                      </p:tavLst>
                                    </p:anim>
                                    <p:anim calcmode="lin" valueType="num">
                                      <p:cBhvr>
                                        <p:cTn id="71"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79" presetID="42" presetClass="entr" presetSubtype="0"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anim calcmode="lin" valueType="num">
                                      <p:cBhvr>
                                        <p:cTn id="77" dur="500" fill="hold"/>
                                        <p:tgtEl>
                                          <p:spTgt spid="23"/>
                                        </p:tgtEl>
                                        <p:attrNameLst>
                                          <p:attrName>ppt_x</p:attrName>
                                        </p:attrNameLst>
                                      </p:cBhvr>
                                      <p:tavLst>
                                        <p:tav tm="0">
                                          <p:val>
                                            <p:strVal val="#ppt_x"/>
                                          </p:val>
                                        </p:tav>
                                        <p:tav tm="100000">
                                          <p:val>
                                            <p:strVal val="#ppt_x"/>
                                          </p:val>
                                        </p:tav>
                                      </p:tavLst>
                                    </p:anim>
                                    <p:anim calcmode="lin" valueType="num">
                                      <p:cBhvr>
                                        <p:cTn id="78"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6" presetID="42"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anim calcmode="lin" valueType="num">
                                      <p:cBhvr>
                                        <p:cTn id="84" dur="500" fill="hold"/>
                                        <p:tgtEl>
                                          <p:spTgt spid="25"/>
                                        </p:tgtEl>
                                        <p:attrNameLst>
                                          <p:attrName>ppt_x</p:attrName>
                                        </p:attrNameLst>
                                      </p:cBhvr>
                                      <p:tavLst>
                                        <p:tav tm="0">
                                          <p:val>
                                            <p:strVal val="#ppt_x"/>
                                          </p:val>
                                        </p:tav>
                                        <p:tav tm="100000">
                                          <p:val>
                                            <p:strVal val="#ppt_x"/>
                                          </p:val>
                                        </p:tav>
                                      </p:tavLst>
                                    </p:anim>
                                    <p:anim calcmode="lin" valueType="num">
                                      <p:cBhvr>
                                        <p:cTn id="85"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3"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anim calcmode="lin" valueType="num">
                                      <p:cBhvr>
                                        <p:cTn id="91" dur="500" fill="hold"/>
                                        <p:tgtEl>
                                          <p:spTgt spid="27"/>
                                        </p:tgtEl>
                                        <p:attrNameLst>
                                          <p:attrName>ppt_x</p:attrName>
                                        </p:attrNameLst>
                                      </p:cBhvr>
                                      <p:tavLst>
                                        <p:tav tm="0">
                                          <p:val>
                                            <p:strVal val="#ppt_x"/>
                                          </p:val>
                                        </p:tav>
                                        <p:tav tm="100000">
                                          <p:val>
                                            <p:strVal val="#ppt_x"/>
                                          </p:val>
                                        </p:tav>
                                      </p:tavLst>
                                    </p:anim>
                                    <p:anim calcmode="lin" valueType="num">
                                      <p:cBhvr>
                                        <p:cTn id="92"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0" presetID="42" presetClass="entr" presetSubtype="0" fill="hold"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anim calcmode="lin" valueType="num">
                                      <p:cBhvr>
                                        <p:cTn id="98" dur="500" fill="hold"/>
                                        <p:tgtEl>
                                          <p:spTgt spid="29"/>
                                        </p:tgtEl>
                                        <p:attrNameLst>
                                          <p:attrName>ppt_x</p:attrName>
                                        </p:attrNameLst>
                                      </p:cBhvr>
                                      <p:tavLst>
                                        <p:tav tm="0">
                                          <p:val>
                                            <p:strVal val="#ppt_x"/>
                                          </p:val>
                                        </p:tav>
                                        <p:tav tm="100000">
                                          <p:val>
                                            <p:strVal val="#ppt_x"/>
                                          </p:val>
                                        </p:tav>
                                      </p:tavLst>
                                    </p:anim>
                                    <p:anim calcmode="lin" valueType="num">
                                      <p:cBhvr>
                                        <p:cTn id="99"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07" presetID="42" presetClass="entr" presetSubtype="0" fill="hold"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anim calcmode="lin" valueType="num">
                                      <p:cBhvr>
                                        <p:cTn id="105" dur="500" fill="hold"/>
                                        <p:tgtEl>
                                          <p:spTgt spid="31"/>
                                        </p:tgtEl>
                                        <p:attrNameLst>
                                          <p:attrName>ppt_x</p:attrName>
                                        </p:attrNameLst>
                                      </p:cBhvr>
                                      <p:tavLst>
                                        <p:tav tm="0">
                                          <p:val>
                                            <p:strVal val="#ppt_x"/>
                                          </p:val>
                                        </p:tav>
                                        <p:tav tm="100000">
                                          <p:val>
                                            <p:strVal val="#ppt_x"/>
                                          </p:val>
                                        </p:tav>
                                      </p:tavLst>
                                    </p:anim>
                                    <p:anim calcmode="lin" valueType="num">
                                      <p:cBhvr>
                                        <p:cTn id="10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4" presetID="53" presetClass="entr" presetSubtype="16" fill="hold" nodeType="clickEffect">
                                  <p:stCondLst>
                                    <p:cond delay="0"/>
                                  </p:stCondLst>
                                  <p:childTnLst>
                                    <p:set>
                                      <p:cBhvr>
                                        <p:cTn id="110" dur="1" fill="hold">
                                          <p:stCondLst>
                                            <p:cond delay="0"/>
                                          </p:stCondLst>
                                        </p:cTn>
                                        <p:tgtEl>
                                          <p:spTgt spid="88"/>
                                        </p:tgtEl>
                                        <p:attrNameLst>
                                          <p:attrName>style.visibility</p:attrName>
                                        </p:attrNameLst>
                                      </p:cBhvr>
                                      <p:to>
                                        <p:strVal val="visible"/>
                                      </p:to>
                                    </p:set>
                                    <p:animEffect transition="in" filter="fade">
                                      <p:cBhvr>
                                        <p:cTn id="111" dur="500"/>
                                        <p:tgtEl>
                                          <p:spTgt spid="88"/>
                                        </p:tgtEl>
                                      </p:cBhvr>
                                    </p:animEffect>
                                    <p:anim calcmode="lin" valueType="num">
                                      <p:cBhvr>
                                        <p:cTn id="112" dur="500" fill="hold"/>
                                        <p:tgtEl>
                                          <p:spTgt spid="88"/>
                                        </p:tgtEl>
                                        <p:attrNameLst>
                                          <p:attrName>ppt_w</p:attrName>
                                        </p:attrNameLst>
                                      </p:cBhvr>
                                      <p:tavLst>
                                        <p:tav tm="0">
                                          <p:val>
                                            <p:fltVal val="0"/>
                                          </p:val>
                                        </p:tav>
                                        <p:tav tm="100000">
                                          <p:val>
                                            <p:strVal val="#ppt_w"/>
                                          </p:val>
                                        </p:tav>
                                      </p:tavLst>
                                    </p:anim>
                                    <p:anim calcmode="lin" valueType="num">
                                      <p:cBhvr>
                                        <p:cTn id="113" dur="500" fill="hold"/>
                                        <p:tgtEl>
                                          <p:spTgt spid="88"/>
                                        </p:tgtEl>
                                        <p:attrNameLst>
                                          <p:attrName>ppt_h</p:attrName>
                                        </p:attrNameLst>
                                      </p:cBhvr>
                                      <p:tavLst>
                                        <p:tav tm="0">
                                          <p:val>
                                            <p:fltVal val="0"/>
                                          </p:val>
                                        </p:tav>
                                        <p:tav tm="100000">
                                          <p:val>
                                            <p:strVal val="#ppt_h"/>
                                          </p:val>
                                        </p:tav>
                                      </p:tavLst>
                                    </p:anim>
                                  </p:childTnLst>
                                </p:cTn>
                              </p:par>
                              <p:par>
                                <p:cTn id="119" presetID="53" presetClass="entr" presetSubtype="16" fill="hold" nodeType="with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anim calcmode="lin" valueType="num">
                                      <p:cBhvr>
                                        <p:cTn id="117" dur="500" fill="hold"/>
                                        <p:tgtEl>
                                          <p:spTgt spid="89"/>
                                        </p:tgtEl>
                                        <p:attrNameLst>
                                          <p:attrName>ppt_w</p:attrName>
                                        </p:attrNameLst>
                                      </p:cBhvr>
                                      <p:tavLst>
                                        <p:tav tm="0">
                                          <p:val>
                                            <p:fltVal val="0"/>
                                          </p:val>
                                        </p:tav>
                                        <p:tav tm="100000">
                                          <p:val>
                                            <p:strVal val="#ppt_w"/>
                                          </p:val>
                                        </p:tav>
                                      </p:tavLst>
                                    </p:anim>
                                    <p:anim calcmode="lin" valueType="num">
                                      <p:cBhvr>
                                        <p:cTn id="118" dur="500" fill="hold"/>
                                        <p:tgtEl>
                                          <p:spTgt spid="89"/>
                                        </p:tgtEl>
                                        <p:attrNameLst>
                                          <p:attrName>ppt_h</p:attrName>
                                        </p:attrNameLst>
                                      </p:cBhvr>
                                      <p:tavLst>
                                        <p:tav tm="0">
                                          <p:val>
                                            <p:fltVal val="0"/>
                                          </p:val>
                                        </p:tav>
                                        <p:tav tm="100000">
                                          <p:val>
                                            <p:strVal val="#ppt_h"/>
                                          </p:val>
                                        </p:tav>
                                      </p:tavLst>
                                    </p:anim>
                                  </p:childTnLst>
                                </p:cTn>
                              </p:par>
                            </p:childTnLst>
                          </p:cTn>
                        </p:par>
                      </p:childTnLst>
                    </p:cTn>
                  </p:par>
                  <p:par>
                    <p:cTn id="132" fill="hold">
                      <p:stCondLst>
                        <p:cond delay="indefinite"/>
                      </p:stCondLst>
                      <p:childTnLst>
                        <p:par>
                          <p:cTn id="133" fill="hold">
                            <p:stCondLst>
                              <p:cond delay="0"/>
                            </p:stCondLst>
                            <p:childTnLst>
                              <p:par>
                                <p:cTn id="126" presetID="53" presetClass="entr" presetSubtype="16" fill="hold" nodeType="clickEffect">
                                  <p:stCondLst>
                                    <p:cond delay="0"/>
                                  </p:stCondLst>
                                  <p:childTnLst>
                                    <p:set>
                                      <p:cBhvr>
                                        <p:cTn id="122" dur="1" fill="hold">
                                          <p:stCondLst>
                                            <p:cond delay="0"/>
                                          </p:stCondLst>
                                        </p:cTn>
                                        <p:tgtEl>
                                          <p:spTgt spid="90"/>
                                        </p:tgtEl>
                                        <p:attrNameLst>
                                          <p:attrName>style.visibility</p:attrName>
                                        </p:attrNameLst>
                                      </p:cBhvr>
                                      <p:to>
                                        <p:strVal val="visible"/>
                                      </p:to>
                                    </p:set>
                                    <p:animEffect transition="in" filter="fade">
                                      <p:cBhvr>
                                        <p:cTn id="123" dur="500"/>
                                        <p:tgtEl>
                                          <p:spTgt spid="90"/>
                                        </p:tgtEl>
                                      </p:cBhvr>
                                    </p:animEffect>
                                    <p:anim calcmode="lin" valueType="num">
                                      <p:cBhvr>
                                        <p:cTn id="124" dur="500" fill="hold"/>
                                        <p:tgtEl>
                                          <p:spTgt spid="90"/>
                                        </p:tgtEl>
                                        <p:attrNameLst>
                                          <p:attrName>ppt_w</p:attrName>
                                        </p:attrNameLst>
                                      </p:cBhvr>
                                      <p:tavLst>
                                        <p:tav tm="0">
                                          <p:val>
                                            <p:fltVal val="0"/>
                                          </p:val>
                                        </p:tav>
                                        <p:tav tm="100000">
                                          <p:val>
                                            <p:strVal val="#ppt_w"/>
                                          </p:val>
                                        </p:tav>
                                      </p:tavLst>
                                    </p:anim>
                                    <p:anim calcmode="lin" valueType="num">
                                      <p:cBhvr>
                                        <p:cTn id="125" dur="500" fill="hold"/>
                                        <p:tgtEl>
                                          <p:spTgt spid="90"/>
                                        </p:tgtEl>
                                        <p:attrNameLst>
                                          <p:attrName>ppt_h</p:attrName>
                                        </p:attrNameLst>
                                      </p:cBhvr>
                                      <p:tavLst>
                                        <p:tav tm="0">
                                          <p:val>
                                            <p:fltVal val="0"/>
                                          </p:val>
                                        </p:tav>
                                        <p:tav tm="100000">
                                          <p:val>
                                            <p:strVal val="#ppt_h"/>
                                          </p:val>
                                        </p:tav>
                                      </p:tavLst>
                                    </p:anim>
                                  </p:childTnLst>
                                </p:cTn>
                              </p:par>
                              <p:par>
                                <p:cTn id="131" presetID="53" presetClass="entr" presetSubtype="16" fill="hold" nodeType="withEffect">
                                  <p:stCondLst>
                                    <p:cond delay="0"/>
                                  </p:stCondLst>
                                  <p:childTnLst>
                                    <p:set>
                                      <p:cBhvr>
                                        <p:cTn id="127" dur="1" fill="hold">
                                          <p:stCondLst>
                                            <p:cond delay="0"/>
                                          </p:stCondLst>
                                        </p:cTn>
                                        <p:tgtEl>
                                          <p:spTgt spid="91"/>
                                        </p:tgtEl>
                                        <p:attrNameLst>
                                          <p:attrName>style.visibility</p:attrName>
                                        </p:attrNameLst>
                                      </p:cBhvr>
                                      <p:to>
                                        <p:strVal val="visible"/>
                                      </p:to>
                                    </p:set>
                                    <p:animEffect transition="in" filter="fade">
                                      <p:cBhvr>
                                        <p:cTn id="128" dur="500"/>
                                        <p:tgtEl>
                                          <p:spTgt spid="91"/>
                                        </p:tgtEl>
                                      </p:cBhvr>
                                    </p:animEffect>
                                    <p:anim calcmode="lin" valueType="num">
                                      <p:cBhvr>
                                        <p:cTn id="129" dur="500" fill="hold"/>
                                        <p:tgtEl>
                                          <p:spTgt spid="91"/>
                                        </p:tgtEl>
                                        <p:attrNameLst>
                                          <p:attrName>ppt_w</p:attrName>
                                        </p:attrNameLst>
                                      </p:cBhvr>
                                      <p:tavLst>
                                        <p:tav tm="0">
                                          <p:val>
                                            <p:fltVal val="0"/>
                                          </p:val>
                                        </p:tav>
                                        <p:tav tm="100000">
                                          <p:val>
                                            <p:strVal val="#ppt_w"/>
                                          </p:val>
                                        </p:tav>
                                      </p:tavLst>
                                    </p:anim>
                                    <p:anim calcmode="lin" valueType="num">
                                      <p:cBhvr>
                                        <p:cTn id="130"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6" presetID="22" presetClass="entr" presetSubtype="8"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animEffect transition="in" filter="wipe(left)">
                                      <p:cBhvr>
                                        <p:cTn id="135" dur="7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3</a:t>
            </a:r>
            <a:endParaRPr lang="en-US" sz="3450" dirty="0"/>
          </a:p>
        </p:txBody>
      </p:sp>
      <p:sp>
        <p:nvSpPr>
          <p:cNvPr id="6" name="Shape 6"/>
          <p:cNvSpPr txBox="1"/>
          <p:nvPr/>
        </p:nvSpPr>
        <p:spPr>
          <a:xfrm>
            <a:off x="685800"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Same slope</a:t>
            </a:r>
            <a:endParaRPr lang="en-US" sz="2100" dirty="0"/>
          </a:p>
        </p:txBody>
      </p:sp>
      <p:sp>
        <p:nvSpPr>
          <p:cNvPr id="5" name="Shape 5"/>
          <p:cNvSpPr txBox="1"/>
          <p:nvPr/>
        </p:nvSpPr>
        <p:spPr>
          <a:xfrm>
            <a:off x="895350"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lines have the same slope: the price per shirt did not change.</a:t>
            </a:r>
            <a:endParaRPr lang="en-US" sz="1575" dirty="0"/>
          </a:p>
        </p:txBody>
      </p:sp>
      <p:sp>
        <p:nvSpPr>
          <p:cNvPr id="9" name="Shape 9"/>
          <p:cNvSpPr txBox="1"/>
          <p:nvPr/>
        </p:nvSpPr>
        <p:spPr>
          <a:xfrm>
            <a:off x="4349648"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Subtracting a fee</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Subtracting $35 moves the whole line </a:t>
            </a:r>
            <a:r>
              <a:rPr lang="en-US" sz="1575" dirty="0" b="1">
                <a:solidFill>
                  <a:srgbClr val="16171D"/>
                </a:solidFill>
                <a:latin typeface="Segoe UI"/>
                <a:cs typeface="Segoe UI"/>
              </a:rPr>
              <a:t xml:space="preserve">down</a:t>
            </a:r>
            <a:r>
              <a:rPr lang="en-US" sz="1575" dirty="0">
                <a:solidFill>
                  <a:srgbClr val="16171D"/>
                </a:solidFill>
                <a:latin typeface="Segoe UI"/>
                <a:cs typeface="Segoe UI"/>
              </a:rPr>
              <a:t xml:space="preserve"> 35.</a:t>
            </a:r>
            <a:endParaRPr lang="en-US" sz="1575" dirty="0"/>
          </a:p>
        </p:txBody>
      </p:sp>
      <p:sp>
        <p:nvSpPr>
          <p:cNvPr id="12" name="Shape 12"/>
          <p:cNvSpPr txBox="1"/>
          <p:nvPr/>
        </p:nvSpPr>
        <p:spPr>
          <a:xfrm>
            <a:off x="8013497"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Three ways to write it</a:t>
            </a:r>
            <a:endParaRPr lang="en-US" sz="2100" dirty="0"/>
          </a:p>
        </p:txBody>
      </p:sp>
      <p:sp>
        <p:nvSpPr>
          <p:cNvPr id="11" name="Shape 11"/>
          <p:cNvSpPr txBox="1"/>
          <p:nvPr/>
        </p:nvSpPr>
        <p:spPr>
          <a:xfrm>
            <a:off x="8223047" y="2260092"/>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− 80 = 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endParaRPr lang="en-US" sz="2325" dirty="0"/>
          </a:p>
        </p:txBody>
      </p:sp>
      <p:sp>
        <p:nvSpPr>
          <p:cNvPr id="13" name="Shape 13"/>
          <p:cNvSpPr txBox="1"/>
          <p:nvPr/>
        </p:nvSpPr>
        <p:spPr>
          <a:xfrm>
            <a:off x="685800" y="337794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
        <p:nvSpPr>
          <p:cNvPr id="14" name="Slide Number 1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can the structure of the equation tell you about the function?</a:t>
            </a:r>
            <a:endParaRPr lang="en-US" sz="3450" dirty="0"/>
          </a:p>
        </p:txBody>
      </p:sp>
      <p:sp>
        <p:nvSpPr>
          <p:cNvPr id="4" name="Shape 4"/>
          <p:cNvSpPr txBox="1"/>
          <p:nvPr/>
        </p:nvSpPr>
        <p:spPr>
          <a:xfrm>
            <a:off x="685800" y="220141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General form</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C9561F"/>
                </a:solidFill>
                <a:latin typeface="Cambria"/>
                <a:cs typeface="Cambria"/>
              </a:rPr>
              <a:t xml:space="preserve">a</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is the leading coefficient, the steepness and direction;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5" name="Shape 5"/>
          <p:cNvSpPr txBox="1"/>
          <p:nvPr/>
        </p:nvSpPr>
        <p:spPr>
          <a:xfrm>
            <a:off x="685800" y="304114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Factored form</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C9561F"/>
                </a:solidFill>
                <a:latin typeface="Cambria"/>
                <a:cs typeface="Cambria"/>
              </a:rPr>
              <a:t xml:space="preserve">a</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b="1" i="1">
                <a:solidFill>
                  <a:srgbClr val="3050B8"/>
                </a:solidFill>
                <a:latin typeface="Cambria"/>
                <a:cs typeface="Cambria"/>
              </a:rPr>
              <a:t xml:space="preserve">c</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is the slope; </a:t>
            </a:r>
            <a:r>
              <a:rPr lang="en-US" sz="1950" dirty="0" b="1" i="1">
                <a:solidFill>
                  <a:srgbClr val="3050B8"/>
                </a:solidFill>
                <a:latin typeface="Cambria"/>
                <a:cs typeface="Cambria"/>
              </a:rPr>
              <a:t xml:space="preserve">c</a:t>
            </a:r>
            <a:r>
              <a:rPr lang="en-US" sz="1950" dirty="0">
                <a:solidFill>
                  <a:srgbClr val="16171D"/>
                </a:solidFill>
                <a:latin typeface="Segoe UI"/>
                <a:cs typeface="Segoe UI"/>
              </a:rPr>
              <a:t xml:space="preserve"> is the zero, and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-intercept.</a:t>
            </a:r>
            <a:endParaRPr lang="en-US" sz="1950" dirty="0"/>
          </a:p>
        </p:txBody>
      </p:sp>
      <p:sp>
        <p:nvSpPr>
          <p:cNvPr id="6" name="Shape 6"/>
          <p:cNvSpPr txBox="1"/>
          <p:nvPr/>
        </p:nvSpPr>
        <p:spPr>
          <a:xfrm>
            <a:off x="685800" y="388086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 linear function is a polynomial of </a:t>
            </a:r>
            <a:r>
              <a:rPr lang="en-US" sz="1950" dirty="0" b="1">
                <a:solidFill>
                  <a:srgbClr val="16171D"/>
                </a:solidFill>
                <a:latin typeface="Segoe UI"/>
                <a:cs typeface="Segoe UI"/>
              </a:rPr>
              <a:t xml:space="preserve">degree 1</a:t>
            </a:r>
            <a:r>
              <a:rPr lang="en-US" sz="1950" dirty="0">
                <a:solidFill>
                  <a:srgbClr val="16171D"/>
                </a:solidFill>
                <a:latin typeface="Segoe UI"/>
                <a:cs typeface="Segoe UI"/>
              </a:rPr>
              <a:t xml:space="preserve">, so its graph crosses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 at most once.</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Do </a:t>
            </a:r>
            <a:r>
              <a:rPr lang="en-US" sz="1950" dirty="0">
                <a:solidFill>
                  <a:srgbClr val="16171D"/>
                </a:solidFill>
                <a:latin typeface="Cambria"/>
                <a:cs typeface="Cambria"/>
              </a:rPr>
              <a:t xml:space="preserve">(1, 4), (3, 10), (7, 22)</a:t>
            </a:r>
            <a:r>
              <a:rPr lang="en-US" sz="1950" dirty="0">
                <a:solidFill>
                  <a:srgbClr val="16171D"/>
                </a:solidFill>
                <a:latin typeface="Segoe UI"/>
                <a:cs typeface="Segoe UI"/>
              </a:rPr>
              <a:t xml:space="preserve"> represent a linear function? If so, write it. </a:t>
            </a:r>
            <a:r>
              <a:rPr lang="en-US" sz="1575" dirty="0">
                <a:solidFill>
                  <a:srgbClr val="5F6272"/>
                </a:solidFill>
                <a:latin typeface="Segoe UI"/>
                <a:cs typeface="Segoe UI"/>
              </a:rPr>
              <a:t xml:space="preserve">(SE p. 241)</a:t>
            </a:r>
            <a:endParaRPr lang="en-US" sz="1950" dirty="0"/>
          </a:p>
        </p:txBody>
      </p:sp>
      <p:sp>
        <p:nvSpPr>
          <p:cNvPr id="5" name="Shape 5"/>
          <p:cNvSpPr txBox="1"/>
          <p:nvPr/>
        </p:nvSpPr>
        <p:spPr>
          <a:xfrm>
            <a:off x="685800" y="214198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− 20</a:t>
            </a:r>
            <a:r>
              <a:rPr lang="en-US" sz="1950" dirty="0">
                <a:solidFill>
                  <a:srgbClr val="16171D"/>
                </a:solidFill>
                <a:latin typeface="Segoe UI"/>
                <a:cs typeface="Segoe UI"/>
              </a:rPr>
              <a:t xml:space="preserve"> in factored form. What is its zero? </a:t>
            </a:r>
            <a:r>
              <a:rPr lang="en-US" sz="1575" dirty="0">
                <a:solidFill>
                  <a:srgbClr val="5F6272"/>
                </a:solidFill>
                <a:latin typeface="Segoe UI"/>
                <a:cs typeface="Segoe UI"/>
              </a:rPr>
              <a:t xml:space="preserve">(SE p. 249)</a:t>
            </a:r>
            <a:endParaRPr lang="en-US" sz="1950" dirty="0"/>
          </a:p>
        </p:txBody>
      </p:sp>
      <p:sp>
        <p:nvSpPr>
          <p:cNvPr id="7" name="Shape 7"/>
          <p:cNvSpPr txBox="1"/>
          <p:nvPr/>
        </p:nvSpPr>
        <p:spPr>
          <a:xfrm>
            <a:off x="685800" y="3241548"/>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zero 4</a:t>
            </a:r>
            <a:endParaRPr lang="en-US" sz="2325" dirty="0"/>
          </a:p>
        </p:txBody>
      </p:sp>
      <p:sp>
        <p:nvSpPr>
          <p:cNvPr id="8" name="Shape 8"/>
          <p:cNvSpPr txBox="1"/>
          <p:nvPr/>
        </p:nvSpPr>
        <p:spPr>
          <a:xfrm>
            <a:off x="685800" y="387477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Bracelets sell for $10 each, and the booth costs $30. How many must you sell to earn $100? </a:t>
            </a:r>
            <a:r>
              <a:rPr lang="en-US" sz="1575" dirty="0">
                <a:solidFill>
                  <a:srgbClr val="5F6272"/>
                </a:solidFill>
                <a:latin typeface="Segoe UI"/>
                <a:cs typeface="Segoe UI"/>
              </a:rPr>
              <a:t xml:space="preserve">(SE p. 251)</a:t>
            </a:r>
            <a:endParaRPr lang="en-US" sz="1950" dirty="0"/>
          </a:p>
        </p:txBody>
      </p:sp>
      <p:sp>
        <p:nvSpPr>
          <p:cNvPr id="9" name="Shape 9"/>
          <p:cNvSpPr txBox="1"/>
          <p:nvPr/>
        </p:nvSpPr>
        <p:spPr>
          <a:xfrm>
            <a:off x="685800" y="4638294"/>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13 bracelets</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256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Given </a:t>
            </a:r>
            <a:r>
              <a:rPr lang="en-US" sz="3450" dirty="0" b="1" i="1">
                <a:solidFill>
                  <a:srgbClr val="16171D"/>
                </a:solidFill>
                <a:latin typeface="Cambria"/>
                <a:cs typeface="Cambria"/>
              </a:rPr>
              <a:t xml:space="preserve">h</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− 5</a:t>
            </a:r>
            <a:r>
              <a:rPr lang="en-US" sz="3450" dirty="0" b="1">
                <a:solidFill>
                  <a:srgbClr val="16171D"/>
                </a:solidFill>
                <a:latin typeface="Segoe UI"/>
                <a:cs typeface="Segoe UI"/>
              </a:rPr>
              <a:t xml:space="preserve">, determine each value</a:t>
            </a:r>
            <a:endParaRPr lang="en-US" sz="3450" dirty="0"/>
          </a:p>
        </p:txBody>
      </p:sp>
      <p:sp>
        <p:nvSpPr>
          <p:cNvPr id="4" name="Shape 4"/>
          <p:cNvSpPr txBox="1"/>
          <p:nvPr/>
        </p:nvSpPr>
        <p:spPr>
          <a:xfrm>
            <a:off x="685800" y="17137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(3)</a:t>
            </a:r>
            <a:endParaRPr lang="en-US" sz="2325" dirty="0"/>
          </a:p>
        </p:txBody>
      </p:sp>
      <p:sp>
        <p:nvSpPr>
          <p:cNvPr id="5" name="Shape 5"/>
          <p:cNvSpPr txBox="1"/>
          <p:nvPr/>
        </p:nvSpPr>
        <p:spPr>
          <a:xfrm>
            <a:off x="685800" y="225628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−11</a:t>
            </a:r>
            <a:endParaRPr lang="en-US" sz="2325" dirty="0"/>
          </a:p>
        </p:txBody>
      </p:sp>
      <p:sp>
        <p:nvSpPr>
          <p:cNvPr id="6" name="Shape 6"/>
          <p:cNvSpPr txBox="1"/>
          <p:nvPr/>
        </p:nvSpPr>
        <p:spPr>
          <a:xfrm>
            <a:off x="685800" y="30419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−1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(1) + 5</a:t>
            </a:r>
            <a:endParaRPr lang="en-US" sz="2325" dirty="0"/>
          </a:p>
        </p:txBody>
      </p:sp>
      <p:sp>
        <p:nvSpPr>
          <p:cNvPr id="7" name="Shape 7"/>
          <p:cNvSpPr txBox="1"/>
          <p:nvPr/>
        </p:nvSpPr>
        <p:spPr>
          <a:xfrm>
            <a:off x="685800" y="358444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12</a:t>
            </a:r>
            <a:endParaRPr lang="en-US" sz="2325" dirty="0"/>
          </a:p>
        </p:txBody>
      </p:sp>
      <p:sp>
        <p:nvSpPr>
          <p:cNvPr id="8" name="Shape 8"/>
          <p:cNvSpPr txBox="1"/>
          <p:nvPr/>
        </p:nvSpPr>
        <p:spPr>
          <a:xfrm>
            <a:off x="6362548" y="17137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2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(−2)</a:t>
            </a:r>
            <a:endParaRPr lang="en-US" sz="2325" dirty="0"/>
          </a:p>
        </p:txBody>
      </p:sp>
      <p:sp>
        <p:nvSpPr>
          <p:cNvPr id="9" name="Shape 9"/>
          <p:cNvSpPr txBox="1"/>
          <p:nvPr/>
        </p:nvSpPr>
        <p:spPr>
          <a:xfrm>
            <a:off x="6362548" y="225628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6362548" y="30419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5 · </a:t>
            </a: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(0) + 5</a:t>
            </a:r>
            <a:endParaRPr lang="en-US" sz="2325" dirty="0"/>
          </a:p>
        </p:txBody>
      </p:sp>
      <p:sp>
        <p:nvSpPr>
          <p:cNvPr id="11" name="Shape 11"/>
          <p:cNvSpPr txBox="1"/>
          <p:nvPr/>
        </p:nvSpPr>
        <p:spPr>
          <a:xfrm>
            <a:off x="6362548" y="358444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5"/>
              </a:rPr>
              <a:t xml:space="preserve">Day 3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7"/>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6 Assignment (SE pp. 255–256); the quiz covers SE pp. 240–251.</a:t>
            </a:r>
            <a:endParaRPr lang="en-US" sz="1575" dirty="0"/>
          </a:p>
        </p:txBody>
      </p:sp>
      <p:sp>
        <p:nvSpPr>
          <p:cNvPr id="15" name="Slide Number 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Tree>
  </p:cSld>
  <p:clrMapOvr>
    <a:masterClrMapping/>
  </p:clrMapOvr>
  <p:transition spd="med">
    <p:fade/>
  </p:transition>
</p:sld>
</file>

<file path=ppt/theme/theme1.xml><?xml version="1.0" encoding="utf-8"?>
<a:theme xmlns:a="http://schemas.openxmlformats.org/drawingml/2006/main" name="Making Sense of Different Representations of a Linear Function">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42</Slides>
  <Notes>42</Notes>
</Properties>
</file>

<file path=docProps/core.xml><?xml version="1.0" encoding="utf-8"?>
<cp:coreProperties xmlns:cp="http://schemas.openxmlformats.org/package/2006/metadata/core-properties" xmlns:dc="http://purl.org/dc/elements/1.1/">
  <dc:title>Making Sense of Different Representations of a Linear Function</dc:title>
  <dc:subject>Bluebonnet Algebra I</dc:subject>
</cp:coreProperties>
</file>