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compare linear functions given as tables, graphs, equations and verbal descriptions: slope (parallel or perpendicular), y-intercept, and the units and scales in context. Two days on the 150-day calendar: Day 1 Getting Started, Activities 4.1 and 4.2; Day 2 Activities 4.3, 4.4 and Talk the Talk.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Slope = (4 − (−6)) ÷ (0 − (−2.5)) = 10 ÷ 2.5 = 4. 2. Parallel lines have equal slopes. 3. The negative reciprocal of 4 is −¼. 4. Equal numbers of each grade: y = x, slope 1.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preview the key terms before the lesson. Leave this slide up or print it as a reference card.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5–10 minutes. Any choice is correct if the justification is.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4.1, 15–20 minutes. Find each slope first, then compare it to 4: equal is parallel, a product of −1 is perpendicular.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did you find the slope from the graph? (From (0, −0.5), right 4 and up 1.)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4.2, 10–15 minutes. Question 1: label x = weight of cardboard (tons) and y = payout amount (dollars) on both. Travis: w(3) = 45; Hays: j(3) = 60. End of Day 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1: How did you compare the recycling centers?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15 · 3 = 45. 2. Slope = 20 ÷ 1 = 20 dollars per ton. 3. 9/5 · 10 + 32 = 18 + 32 = 50, so 10°C is 50°F. 4. 80 ÷ 4 = 20 dollars per month.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4.3, 10–15 minutes. Think About: the units of the quantities matter. Joey's slope: (10 − (−12.2)) ÷ (50 − 10) = 22.2 ÷ 40 ≈ 0.56.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4.4, 10–15 minutes. Slide typo in the student slides: the introduction calls Lauren 'Michelle'. For more practice, assign Skills Practice Set A.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Talk, 10–15 minutes. TE wording slip: the teacher guide's sample starts Alejandra 'at the middle of page 2'; 2.5 pages read is the middle of page 3.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(11 − 3) ÷ 2 = 4. 2. (9 − 4) ÷ 1 = 5. 3. The slope is the output unit over the input unit.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4 Assignment; it previews Module 3.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Section 504/t2-lesson4-bellwork-day1-504.html" TargetMode="External"/><Relationship Id="rId4" Type="http://schemas.openxmlformats.org/officeDocument/2006/relationships/hyperlink" Target="https://algebra1m2u1l4.vercel.app/Section 504/t2-lesson4-bellwork-day2-504.html" TargetMode="External"/><Relationship Id="rId5" Type="http://schemas.openxmlformats.org/officeDocument/2006/relationships/hyperlink" Target="https://algebra1m2u1l4.vercel.app/Section 504/t2-lesson4-homework-504.html" TargetMode="External"/><Relationship Id="rId6" Type="http://schemas.openxmlformats.org/officeDocument/2006/relationships/hyperlink" Target="https://algebra1m2u1l4.vercel.app/Section 504/t2-lesson4-quiz-504.html" TargetMode="External"/><Relationship Id="rId7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algebra1m2u1l4.vercel.app/Section 504/t2-lesson4-bellwork-day1-504.html" TargetMode="External"/><Relationship Id="rId4" Type="http://schemas.openxmlformats.org/officeDocument/2006/relationships/hyperlink" Target="https://algebra1m2u1l4.vercel.app/Section 504/t2-lesson4-bellwork-day2-504.html" TargetMode="External"/><Relationship Id="rId5" Type="http://schemas.openxmlformats.org/officeDocument/2006/relationships/hyperlink" Target="https://algebra1m2u1l4.vercel.app/Section 504/t2-lesson4-homework-504.html" TargetMode="External"/><Relationship Id="rId6" Type="http://schemas.openxmlformats.org/officeDocument/2006/relationships/hyperlink" Target="https://algebra1m2u1l4.vercel.app/Section 504/t2-lesson4-quiz-504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4 · Student Edition pp. 319–330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13350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Comparing Linear Functions in Different Forms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0621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table · graph · equation · description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24688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Section 504 Version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80466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0530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slope of the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(−2.5, −6)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(0, 4)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321)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slope does a line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have?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321)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slope does a line perpendicular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have?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321)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−¼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The ratio of 9th-graders to 10th-graders is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 :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slope of this relationship?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320)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Getting Started: odd one out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4.1: compare slopes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4.2: a table and a graph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4 · SE p. 319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Compare linear functions represented algebraically, graphically, in tables, or with verbal descriptions.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10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Choose and interpret appropriate units to represent independent and dependent quantities in situations modeled by linear functions.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4553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Choose and interpret appropriate scales and origins for graphs of linear functions.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Lesson 4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Representation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way to show a function: table, graph, equation or words.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 in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÷ change in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the slope.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$15 per ton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output 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0: the starting amount.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$25 to start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364236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Independent quantity</a:t>
            </a:r>
            <a:endParaRPr lang="en-US" sz="210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2839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input, on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67410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2325" dirty="0"/>
          </a:p>
        </p:txBody>
      </p:sp>
      <p:sp>
        <p:nvSpPr>
          <p:cNvPr id="22" name="Shape 22"/>
          <p:cNvSpPr txBox="1"/>
          <p:nvPr/>
        </p:nvSpPr>
        <p:spPr>
          <a:xfrm>
            <a:off x="4349648" y="364236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9" name="Shape 19"/>
          <p:cNvSpPr txBox="1"/>
          <p:nvPr/>
        </p:nvSpPr>
        <p:spPr>
          <a:xfrm>
            <a:off x="4559198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Dependent quantity</a:t>
            </a:r>
            <a:endParaRPr lang="en-US" sz="210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42839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output, on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67410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dollars saved</a:t>
            </a:r>
            <a:endParaRPr lang="en-US" sz="2325" dirty="0"/>
          </a:p>
        </p:txBody>
      </p:sp>
      <p:sp>
        <p:nvSpPr>
          <p:cNvPr id="26" name="Shape 26"/>
          <p:cNvSpPr txBox="1"/>
          <p:nvPr/>
        </p:nvSpPr>
        <p:spPr>
          <a:xfrm>
            <a:off x="8013497" y="364236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3" name="Shape 23"/>
          <p:cNvSpPr txBox="1"/>
          <p:nvPr/>
        </p:nvSpPr>
        <p:spPr>
          <a:xfrm>
            <a:off x="8223047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Scale</a:t>
            </a:r>
            <a:endParaRPr lang="en-US" sz="210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How much each grid line counts.</a:t>
            </a:r>
            <a:endParaRPr lang="en-US" sz="1575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91413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each tick = $20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319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represented linear functions in a variety of different ways.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does each linear function representation compare with the others?</a:t>
            </a:r>
            <a:endParaRPr lang="en-US" sz="2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Odd One Out · SE p. 320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Which function does not belong? Justify your choice.</a:t>
            </a:r>
            <a:endParaRPr lang="en-US" sz="34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2144268"/>
            <a:ext cx="2605011" cy="33177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2185911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1143000" cy="37490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00" dirty="0"/>
          </a:p>
        </p:txBody>
      </p:sp>
      <p:sp>
        <p:nvSpPr>
          <p:cNvPr id="6" name="Shape 6"/>
          <p:cNvSpPr txBox="1"/>
          <p:nvPr/>
        </p:nvSpPr>
        <p:spPr>
          <a:xfrm>
            <a:off x="2038350" y="2785872"/>
            <a:ext cx="1143000" cy="37490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50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160776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500" dirty="0"/>
          </a:p>
        </p:txBody>
      </p:sp>
      <p:sp>
        <p:nvSpPr>
          <p:cNvPr id="8" name="Shape 8"/>
          <p:cNvSpPr txBox="1"/>
          <p:nvPr/>
        </p:nvSpPr>
        <p:spPr>
          <a:xfrm>
            <a:off x="2038350" y="3160776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50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3535680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−1.5</a:t>
            </a:r>
            <a:endParaRPr lang="en-US" sz="1500" dirty="0"/>
          </a:p>
        </p:txBody>
      </p:sp>
      <p:sp>
        <p:nvSpPr>
          <p:cNvPr id="10" name="Shape 10"/>
          <p:cNvSpPr txBox="1"/>
          <p:nvPr/>
        </p:nvSpPr>
        <p:spPr>
          <a:xfrm>
            <a:off x="2038350" y="3535680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500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3910584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500" dirty="0"/>
          </a:p>
        </p:txBody>
      </p:sp>
      <p:sp>
        <p:nvSpPr>
          <p:cNvPr id="12" name="Shape 12"/>
          <p:cNvSpPr txBox="1"/>
          <p:nvPr/>
        </p:nvSpPr>
        <p:spPr>
          <a:xfrm>
            <a:off x="2038350" y="3910584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500" dirty="0"/>
          </a:p>
        </p:txBody>
      </p:sp>
      <p:sp>
        <p:nvSpPr>
          <p:cNvPr id="13" name="Shape 13"/>
          <p:cNvSpPr txBox="1"/>
          <p:nvPr/>
        </p:nvSpPr>
        <p:spPr>
          <a:xfrm>
            <a:off x="895350" y="4285488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2.5</a:t>
            </a:r>
            <a:endParaRPr lang="en-US" sz="1500" dirty="0"/>
          </a:p>
        </p:txBody>
      </p:sp>
      <p:sp>
        <p:nvSpPr>
          <p:cNvPr id="14" name="Shape 14"/>
          <p:cNvSpPr txBox="1"/>
          <p:nvPr/>
        </p:nvSpPr>
        <p:spPr>
          <a:xfrm>
            <a:off x="2038350" y="4285488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50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4755642"/>
            <a:ext cx="2185911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Only one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decreasing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(slope −2).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3424161" y="2144268"/>
            <a:ext cx="2605011" cy="22181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3633711" y="2315718"/>
            <a:ext cx="2185911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endParaRPr lang="en-US" sz="2100" dirty="0"/>
          </a:p>
        </p:txBody>
      </p:sp>
      <p:sp>
        <p:nvSpPr>
          <p:cNvPr id="18" name="Shape 18"/>
          <p:cNvSpPr txBox="1"/>
          <p:nvPr/>
        </p:nvSpPr>
        <p:spPr>
          <a:xfrm>
            <a:off x="3633711" y="2785872"/>
            <a:ext cx="2185911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ratio of 9th- to 10th-graders is 1 : 1.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3633711" y="3656076"/>
            <a:ext cx="2185911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Only one with a domain of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whole numbers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4" name="Shape 24"/>
          <p:cNvSpPr txBox="1"/>
          <p:nvPr/>
        </p:nvSpPr>
        <p:spPr>
          <a:xfrm>
            <a:off x="6162523" y="2144268"/>
            <a:ext cx="2605011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1" name="Shape 21"/>
          <p:cNvSpPr txBox="1"/>
          <p:nvPr/>
        </p:nvSpPr>
        <p:spPr>
          <a:xfrm>
            <a:off x="6372073" y="2315718"/>
            <a:ext cx="2185911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endParaRPr lang="en-US" sz="2100" dirty="0"/>
          </a:p>
        </p:txBody>
      </p:sp>
      <p:sp>
        <p:nvSpPr>
          <p:cNvPr id="22" name="Shape 22"/>
          <p:cNvSpPr txBox="1"/>
          <p:nvPr/>
        </p:nvSpPr>
        <p:spPr>
          <a:xfrm>
            <a:off x="6372073" y="2785872"/>
            <a:ext cx="2185911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⅕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6372073" y="3290316"/>
            <a:ext cx="2185911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Only one with a slope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between 0 and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7" name="Shape 67"/>
          <p:cNvSpPr txBox="1"/>
          <p:nvPr/>
        </p:nvSpPr>
        <p:spPr>
          <a:xfrm>
            <a:off x="8900884" y="2144268"/>
            <a:ext cx="2605011" cy="33482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5" name="Shape 25"/>
          <p:cNvSpPr txBox="1"/>
          <p:nvPr/>
        </p:nvSpPr>
        <p:spPr>
          <a:xfrm>
            <a:off x="9110434" y="2315718"/>
            <a:ext cx="2185911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endParaRPr lang="en-US" sz="2100" dirty="0"/>
          </a:p>
        </p:txBody>
      </p:sp>
      <p:sp>
        <p:nvSpPr>
          <p:cNvPr id="26" name="Shape 26"/>
          <p:cNvSpPr/>
          <p:nvPr/>
        </p:nvSpPr>
        <p:spPr>
          <a:xfrm>
            <a:off x="9110434" y="2785872"/>
            <a:ext cx="1905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27" name="Line 27"/>
          <p:cNvCxnSpPr/>
          <p:nvPr/>
        </p:nvCxnSpPr>
        <p:spPr>
          <a:xfrm>
            <a:off x="9434284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9617640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9800996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9984353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167709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351065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534421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717778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901134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9434284" y="4443222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9434284" y="4314634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9434284" y="4186047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9434284" y="4057460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9434284" y="3928872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9434284" y="3800284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9434284" y="3671697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9434284" y="3543110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9434284" y="3414522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9434284" y="3285934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9434284" y="3157347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9434284" y="3028760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9434284" y="2900172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10167709" y="2900172"/>
            <a:ext cx="0" cy="1543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9434284" y="3928872"/>
            <a:ext cx="1466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1" name="Shape 51"/>
          <p:cNvSpPr txBox="1"/>
          <p:nvPr/>
        </p:nvSpPr>
        <p:spPr>
          <a:xfrm>
            <a:off x="9159964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9526676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9893389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10260101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10626814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8867356" y="435178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8867356" y="40946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8867356" y="383743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8867356" y="358025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8867356" y="332308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8867356" y="30659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8867356" y="280873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63" name="Line 63"/>
          <p:cNvCxnSpPr/>
          <p:nvPr/>
        </p:nvCxnSpPr>
        <p:spPr>
          <a:xfrm flipV="1">
            <a:off x="9837668" y="2900172"/>
            <a:ext cx="440055" cy="1543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4" name="Shape 64"/>
          <p:cNvSpPr/>
          <p:nvPr/>
        </p:nvSpPr>
        <p:spPr>
          <a:xfrm>
            <a:off x="10115321" y="323354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5" name="Shape 65"/>
          <p:cNvSpPr txBox="1"/>
          <p:nvPr/>
        </p:nvSpPr>
        <p:spPr>
          <a:xfrm>
            <a:off x="10253434" y="303828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(0, 5)</a:t>
            </a:r>
            <a:endParaRPr lang="en-US" sz="1125" dirty="0"/>
          </a:p>
        </p:txBody>
      </p:sp>
      <p:sp>
        <p:nvSpPr>
          <p:cNvPr id="66" name="Shape 66"/>
          <p:cNvSpPr txBox="1"/>
          <p:nvPr/>
        </p:nvSpPr>
        <p:spPr>
          <a:xfrm>
            <a:off x="9110434" y="4786122"/>
            <a:ext cx="2185911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Only one whose </a:t>
            </a:r>
            <a:r>
              <a:rPr lang="en-US" sz="1575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 isn't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4.1 · Slopes of Linear Relationships · SE p. 321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Parallel, perpendicular, or neither to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34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2144268"/>
            <a:ext cx="3479698" cy="319201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038350" y="278587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18363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−2.5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2038350" y="318363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−6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358140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038350" y="358140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397916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0.5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2038350" y="397916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895350" y="437692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038350" y="437692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16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4869942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4: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4355998" y="2144268"/>
            <a:ext cx="3479698" cy="17381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4565548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endParaRPr lang="en-US" sz="2100" dirty="0"/>
          </a:p>
        </p:txBody>
      </p:sp>
      <p:sp>
        <p:nvSpPr>
          <p:cNvPr id="18" name="Shape 18"/>
          <p:cNvSpPr txBox="1"/>
          <p:nvPr/>
        </p:nvSpPr>
        <p:spPr>
          <a:xfrm>
            <a:off x="4565548" y="2785872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An elevator descends 4 feet every second.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4565548" y="3416046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−4: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4" name="Shape 24"/>
          <p:cNvSpPr txBox="1"/>
          <p:nvPr/>
        </p:nvSpPr>
        <p:spPr>
          <a:xfrm>
            <a:off x="8026197" y="2144268"/>
            <a:ext cx="34796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1" name="Shape 21"/>
          <p:cNvSpPr txBox="1"/>
          <p:nvPr/>
        </p:nvSpPr>
        <p:spPr>
          <a:xfrm>
            <a:off x="8235747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endParaRPr lang="en-US" sz="2100" dirty="0"/>
          </a:p>
        </p:txBody>
      </p:sp>
      <p:sp>
        <p:nvSpPr>
          <p:cNvPr id="22" name="Shape 22"/>
          <p:cNvSpPr txBox="1"/>
          <p:nvPr/>
        </p:nvSpPr>
        <p:spPr>
          <a:xfrm>
            <a:off x="8235747" y="2785872"/>
            <a:ext cx="3060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¼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8235747" y="3290316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¼: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 · ¼ =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not −1.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4.1 · Slopes of Linear Relationships · SE p. 321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Parallel, perpendicular, or neither to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3450" dirty="0"/>
          </a:p>
        </p:txBody>
      </p:sp>
      <p:sp>
        <p:nvSpPr>
          <p:cNvPr id="54" name="Shape 54"/>
          <p:cNvSpPr txBox="1"/>
          <p:nvPr/>
        </p:nvSpPr>
        <p:spPr>
          <a:xfrm>
            <a:off x="685800" y="2144268"/>
            <a:ext cx="3479698" cy="40606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endParaRPr lang="en-US" sz="2100" dirty="0"/>
          </a:p>
        </p:txBody>
      </p:sp>
      <p:sp>
        <p:nvSpPr>
          <p:cNvPr id="5" name="Shape 5"/>
          <p:cNvSpPr/>
          <p:nvPr/>
        </p:nvSpPr>
        <p:spPr>
          <a:xfrm>
            <a:off x="895350" y="2785872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1219200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370409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521619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1672828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1824037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1975247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2126456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2277666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2428875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2580084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2731294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2882503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3033712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3184922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3336131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3487341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3638550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219200" y="539572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219200" y="523975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219200" y="508377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219200" y="4927806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219200" y="4771834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219200" y="461586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219200" y="4459891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219200" y="4303919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219200" y="4147947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219200" y="3991975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219200" y="383600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219200" y="3680031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219200" y="3524059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219200" y="336808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219200" y="3212116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219200" y="3056144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1219200" y="290017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2428875" y="2900172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1219200" y="4147947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2" name="Shape 42"/>
          <p:cNvSpPr txBox="1"/>
          <p:nvPr/>
        </p:nvSpPr>
        <p:spPr>
          <a:xfrm>
            <a:off x="944880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1549717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2154555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2759392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3364230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52272" y="530428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52272" y="468039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52272" y="40565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52272" y="343261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52272" y="280873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52" name="Line 52"/>
          <p:cNvCxnSpPr/>
          <p:nvPr/>
        </p:nvCxnSpPr>
        <p:spPr>
          <a:xfrm flipV="1">
            <a:off x="1219200" y="3913989"/>
            <a:ext cx="2419350" cy="623888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3" name="Shape 53"/>
          <p:cNvSpPr txBox="1"/>
          <p:nvPr/>
        </p:nvSpPr>
        <p:spPr>
          <a:xfrm>
            <a:off x="895350" y="5738622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¼: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7" name="Shape 67"/>
          <p:cNvSpPr txBox="1"/>
          <p:nvPr/>
        </p:nvSpPr>
        <p:spPr>
          <a:xfrm>
            <a:off x="4355998" y="2144268"/>
            <a:ext cx="3479698" cy="319201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5" name="Shape 55"/>
          <p:cNvSpPr txBox="1"/>
          <p:nvPr/>
        </p:nvSpPr>
        <p:spPr>
          <a:xfrm>
            <a:off x="4565548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e.</a:t>
            </a:r>
            <a:endParaRPr lang="en-US" sz="2100" dirty="0"/>
          </a:p>
        </p:txBody>
      </p:sp>
      <p:sp>
        <p:nvSpPr>
          <p:cNvPr id="56" name="Shape 56"/>
          <p:cNvSpPr txBox="1"/>
          <p:nvPr/>
        </p:nvSpPr>
        <p:spPr>
          <a:xfrm>
            <a:off x="4565548" y="278587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57" name="Shape 57"/>
          <p:cNvSpPr txBox="1"/>
          <p:nvPr/>
        </p:nvSpPr>
        <p:spPr>
          <a:xfrm>
            <a:off x="5708548" y="278587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650" dirty="0"/>
          </a:p>
        </p:txBody>
      </p:sp>
      <p:sp>
        <p:nvSpPr>
          <p:cNvPr id="58" name="Shape 58"/>
          <p:cNvSpPr txBox="1"/>
          <p:nvPr/>
        </p:nvSpPr>
        <p:spPr>
          <a:xfrm>
            <a:off x="4565548" y="318363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59" name="Shape 59"/>
          <p:cNvSpPr txBox="1"/>
          <p:nvPr/>
        </p:nvSpPr>
        <p:spPr>
          <a:xfrm>
            <a:off x="5708548" y="318363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60" name="Shape 60"/>
          <p:cNvSpPr txBox="1"/>
          <p:nvPr/>
        </p:nvSpPr>
        <p:spPr>
          <a:xfrm>
            <a:off x="4565548" y="358140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1" name="Shape 61"/>
          <p:cNvSpPr txBox="1"/>
          <p:nvPr/>
        </p:nvSpPr>
        <p:spPr>
          <a:xfrm>
            <a:off x="5708548" y="358140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62" name="Shape 62"/>
          <p:cNvSpPr txBox="1"/>
          <p:nvPr/>
        </p:nvSpPr>
        <p:spPr>
          <a:xfrm>
            <a:off x="4565548" y="397916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63" name="Shape 63"/>
          <p:cNvSpPr txBox="1"/>
          <p:nvPr/>
        </p:nvSpPr>
        <p:spPr>
          <a:xfrm>
            <a:off x="5708548" y="397916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1.5</a:t>
            </a:r>
            <a:endParaRPr lang="en-US" sz="1650" dirty="0"/>
          </a:p>
        </p:txBody>
      </p:sp>
      <p:sp>
        <p:nvSpPr>
          <p:cNvPr id="64" name="Shape 64"/>
          <p:cNvSpPr txBox="1"/>
          <p:nvPr/>
        </p:nvSpPr>
        <p:spPr>
          <a:xfrm>
            <a:off x="4565548" y="437692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</a:t>
            </a:r>
            <a:endParaRPr lang="en-US" sz="1650" dirty="0"/>
          </a:p>
        </p:txBody>
      </p:sp>
      <p:sp>
        <p:nvSpPr>
          <p:cNvPr id="65" name="Shape 65"/>
          <p:cNvSpPr txBox="1"/>
          <p:nvPr/>
        </p:nvSpPr>
        <p:spPr>
          <a:xfrm>
            <a:off x="5708548" y="437692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6" name="Shape 66"/>
          <p:cNvSpPr txBox="1"/>
          <p:nvPr/>
        </p:nvSpPr>
        <p:spPr>
          <a:xfrm>
            <a:off x="4565548" y="4869942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−¼: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1" name="Shape 71"/>
          <p:cNvSpPr txBox="1"/>
          <p:nvPr/>
        </p:nvSpPr>
        <p:spPr>
          <a:xfrm>
            <a:off x="8026197" y="2144268"/>
            <a:ext cx="3479698" cy="17381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8" name="Shape 68"/>
          <p:cNvSpPr txBox="1"/>
          <p:nvPr/>
        </p:nvSpPr>
        <p:spPr>
          <a:xfrm>
            <a:off x="8235747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endParaRPr lang="en-US" sz="2100" dirty="0"/>
          </a:p>
        </p:txBody>
      </p:sp>
      <p:sp>
        <p:nvSpPr>
          <p:cNvPr id="69" name="Shape 69"/>
          <p:cNvSpPr txBox="1"/>
          <p:nvPr/>
        </p:nvSpPr>
        <p:spPr>
          <a:xfrm>
            <a:off x="8235747" y="2785872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For every hour Chiletso bakes, she makes 4 dozen cookies.</a:t>
            </a:r>
            <a:endParaRPr lang="en-US" sz="1575" dirty="0"/>
          </a:p>
        </p:txBody>
      </p:sp>
      <p:sp>
        <p:nvSpPr>
          <p:cNvPr id="70" name="Shape 70"/>
          <p:cNvSpPr txBox="1"/>
          <p:nvPr/>
        </p:nvSpPr>
        <p:spPr>
          <a:xfrm>
            <a:off x="8235747" y="3416046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4: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4.2 · Comparing Tables and Graphs · SE p. 322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Recycling cardboard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Travis County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96519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Weight (tons)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650998" y="2008632"/>
            <a:ext cx="16383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Payout ($)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96519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0.5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2650998" y="2406396"/>
            <a:ext cx="16383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7.50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804160"/>
            <a:ext cx="196519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650998" y="2804160"/>
            <a:ext cx="16383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15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201924"/>
            <a:ext cx="196519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1.5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2650998" y="3201924"/>
            <a:ext cx="16383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22.50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599688"/>
            <a:ext cx="196519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650998" y="3599688"/>
            <a:ext cx="16383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409270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(0.5)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(0.5)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(1)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(3)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(3)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Hays County</a:t>
            </a:r>
            <a:endParaRPr lang="en-US" sz="1575" dirty="0"/>
          </a:p>
        </p:txBody>
      </p:sp>
      <p:sp>
        <p:nvSpPr>
          <p:cNvPr id="17" name="Shape 17"/>
          <p:cNvSpPr/>
          <p:nvPr/>
        </p:nvSpPr>
        <p:spPr>
          <a:xfrm>
            <a:off x="6286348" y="2008632"/>
            <a:ext cx="3048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8" name="Line 18"/>
          <p:cNvCxnSpPr/>
          <p:nvPr/>
        </p:nvCxnSpPr>
        <p:spPr>
          <a:xfrm>
            <a:off x="6610198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936429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26266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7588891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7915123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241354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567585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8893816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9220048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4618482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450504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4391614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427818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164746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4051312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3937877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8244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711009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59757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3484141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3370707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325727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3143839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303040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6610198" y="2916971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2803537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610198" y="2690102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610198" y="25766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6610198" y="2463234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6610198" y="23498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2236366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2122932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610198" y="2122932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618482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335878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698834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7640803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8293265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8945728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452704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395987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339270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6043270" y="282553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6043270" y="22583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6610198" y="2122932"/>
            <a:ext cx="717709" cy="24955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3" name="Shape 63"/>
          <p:cNvSpPr/>
          <p:nvPr/>
        </p:nvSpPr>
        <p:spPr>
          <a:xfrm>
            <a:off x="7210273" y="2297413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4" name="Shape 64"/>
          <p:cNvSpPr txBox="1"/>
          <p:nvPr/>
        </p:nvSpPr>
        <p:spPr>
          <a:xfrm>
            <a:off x="7348385" y="210215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(1, 20)</a:t>
            </a:r>
            <a:endParaRPr lang="en-US" sz="1125" dirty="0"/>
          </a:p>
        </p:txBody>
      </p:sp>
      <p:sp>
        <p:nvSpPr>
          <p:cNvPr id="65" name="Shape 65"/>
          <p:cNvSpPr txBox="1"/>
          <p:nvPr/>
        </p:nvSpPr>
        <p:spPr>
          <a:xfrm>
            <a:off x="6286348" y="49613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Both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 are 0: $0 for 0 tons.</a:t>
            </a:r>
            <a:endParaRPr lang="en-US" sz="1575" dirty="0"/>
          </a:p>
        </p:txBody>
      </p:sp>
      <p:sp>
        <p:nvSpPr>
          <p:cNvPr id="66" name="Shape 66"/>
          <p:cNvSpPr txBox="1"/>
          <p:nvPr/>
        </p:nvSpPr>
        <p:spPr>
          <a:xfrm>
            <a:off x="6286348" y="535152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Hays County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pays more: $20 per ton vs. $15 per ton.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2068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Find the slope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Table or graph: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pick two points,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 in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 in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Equation: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number with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Words: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"per" amount.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2068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Compare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 → parallel.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Product −1 → perpendicular.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Otherwise neither.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2068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Greater slope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Steeper line: it grows faster (pays more per ton).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85800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does each linear function representation compare with the others?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Travis County pays $15 per ton of cardboard. How much is paid for 3 tons?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322)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$45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Hays County's graph passes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(1, 20)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payout per ton?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322)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620768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$20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9/5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converts °C to °F. What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(10)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323)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Miguel started with $0 and had $80 after 4 months. How much did he save each month?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324)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$20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4.3: an equation and a table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4.4: words and a graph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Talk the Talk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4.3 · Comparing Equations and Tables · SE p. 323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Celsius and Fahrenheit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Joey's table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°F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°C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−12.2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−1.1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23.9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Xavier's equation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286348" y="200863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9/5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+ 32</a:t>
            </a:r>
            <a:endParaRPr lang="en-US" sz="2325" dirty="0"/>
          </a:p>
        </p:txBody>
      </p:sp>
      <p:sp>
        <p:nvSpPr>
          <p:cNvPr id="17" name="Shape 17"/>
          <p:cNvSpPr txBox="1"/>
          <p:nvPr/>
        </p:nvSpPr>
        <p:spPr>
          <a:xfrm>
            <a:off x="6286348" y="251307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Xavier converts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°C to °F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°C). Joey converts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°F to °C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6286348" y="314325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Joey's is about 5/9 (each 9°F is about 5°C). Xavier's is 9/5 (each 5°C is 9°F).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6286348" y="377342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Joey's is about −17.8 (0°F ≈ −17.8°C). Xavier's is 32 (0°C = 32°F).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4.4 · Comparing Descriptions and Graphs · SE p. 324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Miguel and Lauren's bank accounts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Miguel</a:t>
            </a:r>
            <a:endParaRPr lang="en-US" sz="1575" dirty="0"/>
          </a:p>
        </p:txBody>
      </p:sp>
      <p:sp>
        <p:nvSpPr>
          <p:cNvPr id="5" name="Shape 5"/>
          <p:cNvSpPr/>
          <p:nvPr/>
        </p:nvSpPr>
        <p:spPr>
          <a:xfrm>
            <a:off x="685800" y="2008632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100965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49352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97739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46126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94513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342900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1009650" y="461848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009650" y="411937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1009650" y="362026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312115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262204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212293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2122932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4618482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0" name="Shape 20"/>
          <p:cNvSpPr txBox="1"/>
          <p:nvPr/>
        </p:nvSpPr>
        <p:spPr>
          <a:xfrm>
            <a:off x="73533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1" name="Shape 21"/>
          <p:cNvSpPr txBox="1"/>
          <p:nvPr/>
        </p:nvSpPr>
        <p:spPr>
          <a:xfrm>
            <a:off x="121920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22" name="Shape 22"/>
          <p:cNvSpPr txBox="1"/>
          <p:nvPr/>
        </p:nvSpPr>
        <p:spPr>
          <a:xfrm>
            <a:off x="170307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23" name="Shape 23"/>
          <p:cNvSpPr txBox="1"/>
          <p:nvPr/>
        </p:nvSpPr>
        <p:spPr>
          <a:xfrm>
            <a:off x="218694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24" name="Shape 24"/>
          <p:cNvSpPr txBox="1"/>
          <p:nvPr/>
        </p:nvSpPr>
        <p:spPr>
          <a:xfrm>
            <a:off x="267081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25" name="Shape 25"/>
          <p:cNvSpPr txBox="1"/>
          <p:nvPr/>
        </p:nvSpPr>
        <p:spPr>
          <a:xfrm>
            <a:off x="315468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26" name="Shape 26"/>
          <p:cNvSpPr txBox="1"/>
          <p:nvPr/>
        </p:nvSpPr>
        <p:spPr>
          <a:xfrm>
            <a:off x="442722" y="452704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7" name="Shape 27"/>
          <p:cNvSpPr txBox="1"/>
          <p:nvPr/>
        </p:nvSpPr>
        <p:spPr>
          <a:xfrm>
            <a:off x="442722" y="402793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442722" y="352882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442722" y="302971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60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442722" y="253060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80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442722" y="203149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</a:t>
            </a:r>
            <a:endParaRPr lang="en-US" sz="975" dirty="0"/>
          </a:p>
        </p:txBody>
      </p:sp>
      <p:sp>
        <p:nvSpPr>
          <p:cNvPr id="32" name="Shape 32"/>
          <p:cNvSpPr/>
          <p:nvPr/>
        </p:nvSpPr>
        <p:spPr>
          <a:xfrm>
            <a:off x="1441132" y="4066985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3" name="Shape 33"/>
          <p:cNvSpPr/>
          <p:nvPr/>
        </p:nvSpPr>
        <p:spPr>
          <a:xfrm>
            <a:off x="1925003" y="356787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4" name="Shape 34"/>
          <p:cNvSpPr/>
          <p:nvPr/>
        </p:nvSpPr>
        <p:spPr>
          <a:xfrm>
            <a:off x="2408872" y="3068765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5" name="Shape 35"/>
          <p:cNvSpPr/>
          <p:nvPr/>
        </p:nvSpPr>
        <p:spPr>
          <a:xfrm>
            <a:off x="2892742" y="2569655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6" name="Shape 36"/>
          <p:cNvSpPr txBox="1"/>
          <p:nvPr/>
        </p:nvSpPr>
        <p:spPr>
          <a:xfrm>
            <a:off x="3030855" y="237439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(4, 80)</a:t>
            </a:r>
            <a:endParaRPr lang="en-US" sz="1125" dirty="0"/>
          </a:p>
        </p:txBody>
      </p:sp>
      <p:sp>
        <p:nvSpPr>
          <p:cNvPr id="37" name="Shape 37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Lauren starts with $25 and deposits $25 each month.</a:t>
            </a:r>
            <a:endParaRPr lang="en-US" sz="1575" dirty="0"/>
          </a:p>
        </p:txBody>
      </p:sp>
      <p:sp>
        <p:nvSpPr>
          <p:cNvPr id="38" name="Shape 38"/>
          <p:cNvSpPr txBox="1"/>
          <p:nvPr/>
        </p:nvSpPr>
        <p:spPr>
          <a:xfrm>
            <a:off x="6286348" y="2008632"/>
            <a:ext cx="52195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Scales: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each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tick is 1 month and each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tick is $20 ($80 after 4 months). The origin is (0 months, $0).</a:t>
            </a:r>
            <a:endParaRPr lang="en-US" sz="1575" dirty="0"/>
          </a:p>
        </p:txBody>
      </p:sp>
      <p:sp>
        <p:nvSpPr>
          <p:cNvPr id="39" name="Shape 39"/>
          <p:cNvSpPr txBox="1"/>
          <p:nvPr/>
        </p:nvSpPr>
        <p:spPr>
          <a:xfrm>
            <a:off x="6286348" y="287883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Miguel saves $20 a month; Lauren saves $25 a month.</a:t>
            </a:r>
            <a:endParaRPr lang="en-US" sz="1575" dirty="0"/>
          </a:p>
        </p:txBody>
      </p:sp>
      <p:sp>
        <p:nvSpPr>
          <p:cNvPr id="40" name="Shape 40"/>
          <p:cNvSpPr txBox="1"/>
          <p:nvPr/>
        </p:nvSpPr>
        <p:spPr>
          <a:xfrm>
            <a:off x="6286348" y="350901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Miguel started with $0; Lauren with $25.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Function Maker Space · SE p. 325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Create and compare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1828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−10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971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4114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20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5257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25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2971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4114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7.5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5257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8.75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258546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A situation for the table: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97561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Sample: Alejandra has read 2.5 pages and reads 2.5 more every 10 minutes. Slope ¼,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2.5.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60578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A less steep equation: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399592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0.2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+ 30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6286348" y="258546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The graph shown in the book has slope ⅓ (through (0, −4)).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6286348" y="321564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It is steeper than the table (¼) and the equation (0.2).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6286348" y="384581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4. Strategies: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6286348" y="423595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Answers vary: rate of change from two points; compare the slopes.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2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units = output units per input unit: degrees per degree, dollars per month.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starting value: $0 or $25 at month 0.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Scale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Use a known point to find what each tick counts: $80 after 4 months → $20 per tick.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3779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do the representations compare?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Every form (equation, table, graph, description) shows the same features: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or rate and the </a:t>
            </a:r>
            <a:r>
              <a:rPr lang="en-US" sz="19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or starting value.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153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Compare by finding these in each form: equal slopes are parallel; slopes with a product of −1 are perpendicular.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3550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The quantities and units tell what the slope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mean.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A table has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(0, 3)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(2, 11)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Is its line parallel, perpendicular, or neither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Parallel (slope 4)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7238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a table with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4), (1, 9)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grows faster?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38728"/>
            <a:ext cx="572707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The table (slope 5 &gt; 3)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17195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A taxi charges $2.50 per mile plus $3. What are the units of the slope?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638294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Dollars per mile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330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each equation for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− 9 = 6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7.5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5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12.7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12293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7.7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4. 12 + 2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324154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13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4 Assignment (SE pp. 327–330).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omparing Linear Functions in Different Form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22</Slides>
  <Notes>22</Notes>
</Properties>
</file>

<file path=docProps/core.xml><?xml version="1.0" encoding="utf-8"?>
<cp:coreProperties xmlns:cp="http://schemas.openxmlformats.org/package/2006/metadata/core-properties" xmlns:dc="http://purl.org/dc/elements/1.1/">
  <dc:title>Comparing Linear Functions in Different Forms</dc:title>
  <dc:subject>Bluebonnet Algebra I</dc:subject>
</cp:coreProperties>
</file>