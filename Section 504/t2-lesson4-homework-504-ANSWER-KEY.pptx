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11"/>
    <p:sldId id="257" r:id="rId12"/>
    <p:sldId id="258" r:id="rId13"/>
    <p:sldId id="259" r:id="rId14"/>
    <p:sldId id="260" r:id="rId15"/>
    <p:sldId id="261" r:id="rId16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Notes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rgbClr val="E6E8F2"/>
          </a:fgClr>
          <a:bgClr>
            <a:srgbClr val="F7F7FB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rand 101"/>
          <p:cNvSpPr/>
          <p:nvPr userDrawn="1"/>
        </p:nvSpPr>
        <p:spPr>
          <a:xfrm>
            <a:off x="9631375" y="128016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3050B8"/>
          </a:solidFill>
          <a:ln>
            <a:noFill/>
          </a:ln>
        </p:spPr>
      </p:sp>
      <p:sp>
        <p:nvSpPr>
          <p:cNvPr id="102" name="Brand 102"/>
          <p:cNvSpPr/>
          <p:nvPr userDrawn="1"/>
        </p:nvSpPr>
        <p:spPr>
          <a:xfrm>
            <a:off x="9748818" y="172593"/>
            <a:ext cx="39434" cy="3943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3" name="Brand 103"/>
          <p:cNvSpPr/>
          <p:nvPr userDrawn="1"/>
        </p:nvSpPr>
        <p:spPr>
          <a:xfrm>
            <a:off x="9719672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4" name="Brand 104"/>
          <p:cNvSpPr/>
          <p:nvPr userDrawn="1"/>
        </p:nvSpPr>
        <p:spPr>
          <a:xfrm>
            <a:off x="9774536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5" name="Brand 105"/>
          <p:cNvSpPr/>
          <p:nvPr userDrawn="1"/>
        </p:nvSpPr>
        <p:spPr>
          <a:xfrm>
            <a:off x="9746247" y="230886"/>
            <a:ext cx="44577" cy="4457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6" name="Brand 106"/>
          <p:cNvSpPr/>
          <p:nvPr userDrawn="1"/>
        </p:nvSpPr>
        <p:spPr>
          <a:xfrm>
            <a:off x="9709385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7" name="Brand 107"/>
          <p:cNvSpPr/>
          <p:nvPr userDrawn="1"/>
        </p:nvSpPr>
        <p:spPr>
          <a:xfrm>
            <a:off x="9781394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8" name="Brand 108"/>
          <p:cNvSpPr/>
          <p:nvPr userDrawn="1"/>
        </p:nvSpPr>
        <p:spPr>
          <a:xfrm>
            <a:off x="9761677" y="303752"/>
            <a:ext cx="13716" cy="55721"/>
          </a:xfrm>
          <a:prstGeom prst="roundRect">
            <a:avLst>
              <a:gd name="adj" fmla="val 50000"/>
            </a:avLst>
          </a:prstGeom>
          <a:solidFill>
            <a:srgbClr val="9FD18B"/>
          </a:solidFill>
          <a:ln>
            <a:noFill/>
          </a:ln>
        </p:spPr>
      </p:sp>
      <p:sp>
        <p:nvSpPr>
          <p:cNvPr id="109" name="Shape 109"/>
          <p:cNvSpPr txBox="1"/>
          <p:nvPr/>
        </p:nvSpPr>
        <p:spPr>
          <a:xfrm>
            <a:off x="9960559" y="109728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16171D"/>
                </a:solidFill>
                <a:latin typeface="Segoe UI"/>
                <a:cs typeface="Segoe UI"/>
              </a:rPr>
              <a:t xml:space="preserve">Bluebonnet </a:t>
            </a: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Algebra I</a:t>
            </a:r>
            <a:endParaRPr lang="en-US" sz="11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9235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57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Key</a:t>
            </a:r>
            <a:endParaRPr lang="en-US" sz="57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552194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Topic 2 Lesson 4 Homework · Section 504 Version</a:t>
            </a:r>
            <a:endParaRPr lang="en-US" sz="210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2098548"/>
            <a:ext cx="10820095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10 questions, 1 point each. The answer choices are shuffled for each student, so match the answer text, not the letter.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919222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Same 10 questions and choices as the general homework.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3442716"/>
            <a:ext cx="4967272" cy="397764"/>
          </a:xfrm>
          <a:prstGeom prst="roundRect">
            <a:avLst>
              <a:gd name="adj" fmla="val 8000"/>
            </a:avLst>
          </a:prstGeom>
          <a:solidFill>
            <a:srgbClr val="FDF3E7"/>
          </a:solidFill>
          <a:ln>
            <a:noFill/>
          </a:ln>
        </p:spPr>
        <p:txBody>
          <a:bodyPr wrap="square" lIns="164592" tIns="73152" rIns="164592" bIns="73152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Teacher copy. Do not share with students.</a:t>
            </a:r>
            <a:endParaRPr lang="en-US" sz="16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Lesson 4 Homework · Section 504 Version · Answer Key (teacher copy)</a:t>
            </a:r>
            <a:endParaRPr lang="en-US" sz="1125" dirty="0"/>
          </a:p>
        </p:txBody>
      </p:sp>
      <p:sp>
        <p:nvSpPr>
          <p:cNvPr id="8" name="Slide Number 8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</a:t>
            </a:fld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Questions 1–2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321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A table has the points (−4, 3), (0, 2), (2, 1.5) and (8, 0). How does its line compare to y = 4x − 3?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Perpendicular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Slope = (2 − 3) ÷ (0 − (−4)) = −¼, and 4 · (−¼) = −1.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273177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2731770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2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321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273177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An elevator descends 4 feet every second. How does its graph compare to y = 4x − 3?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273177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Neither parallel nor perpendicular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Its slope is −4: not equal to 4, and 4 · (−4) ≠ −1.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375589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Lesson 4 Homework · Section 504 Version · Answer Key (teacher copy)</a:t>
            </a:r>
            <a:endParaRPr lang="en-US" sz="1125" dirty="0"/>
          </a:p>
        </p:txBody>
      </p:sp>
      <p:sp>
        <p:nvSpPr>
          <p:cNvPr id="16" name="Slide Number 16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2</a:t>
            </a:fld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Questions 3–4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3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321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How does y = ¼x + 5 compare to y = 4x − 3?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Neither parallel nor perpendicular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4 · ¼ = 1, not −1, and the slopes are not equal.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273177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2731770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4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322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273177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Travis pays w(x) = 15x and Hays pays j(x) = 20x dollars for x tons. Compare w(3) and j(3).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273177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w(3) &lt; j(3)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w(3) = 45 and j(3) = 60.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375589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Lesson 4 Homework · Section 504 Version · Answer Key (teacher copy)</a:t>
            </a:r>
            <a:endParaRPr lang="en-US" sz="1125" dirty="0"/>
          </a:p>
        </p:txBody>
      </p:sp>
      <p:sp>
        <p:nvSpPr>
          <p:cNvPr id="16" name="Slide Number 16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3</a:t>
            </a:fld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Questions 5–6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5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322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Both recycling functions have a y-intercept of 0. What does it mean?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$0 is paid for 0 tons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The y-intercept is the payout when the weight is 0.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273177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2731770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6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323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273177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Xavier uses J(x) = 9/5x + 32. Which conversion does he make?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273177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°C to °F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The input x is Celsius and the output J(x) is Fahrenheit.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375589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Lesson 4 Homework · Section 504 Version · Answer Key (teacher copy)</a:t>
            </a:r>
            <a:endParaRPr lang="en-US" sz="1125" dirty="0"/>
          </a:p>
        </p:txBody>
      </p:sp>
      <p:sp>
        <p:nvSpPr>
          <p:cNvPr id="16" name="Slide Number 16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4</a:t>
            </a:fld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Questions 7–8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7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323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What does the y-intercept of J(x) = 9/5x + 32 mean?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0°C is 32°F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At x = 0 (0°C), J(0) = 32 (32°F).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245745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2457450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8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323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245745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Joey's table has (10, −12.2) and (50, 10) (°F, °C). What is its slope, about?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245745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About 5/9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(10 − (−12.2)) ÷ (50 − 10) = 22.2 ÷ 40 ≈ 0.56 ≈ 5/9.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348157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Lesson 4 Homework · Section 504 Version · Answer Key (teacher copy)</a:t>
            </a:r>
            <a:endParaRPr lang="en-US" sz="1125" dirty="0"/>
          </a:p>
        </p:txBody>
      </p:sp>
      <p:sp>
        <p:nvSpPr>
          <p:cNvPr id="16" name="Slide Number 16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5</a:t>
            </a:fld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Questions 9–10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9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324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Lauren starts with $25 and deposits $25 each month. How much does she have after 3 months?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$100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25 + 25 · 3 = 100.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273177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2731770"/>
            <a:ext cx="2164019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10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329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2731770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Brianna has 0 movies and buys 3 a month. Antonio has 27 and buys 2 a month. After how many months will they have the same number?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2731770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27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3m = 27 + 2m, so m = 27. Then both have 81.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403021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Lesson 4 Homework · Section 504 Version · Answer Key (teacher copy)</a:t>
            </a:r>
            <a:endParaRPr lang="en-US" sz="1125" dirty="0"/>
          </a:p>
        </p:txBody>
      </p:sp>
      <p:sp>
        <p:nvSpPr>
          <p:cNvPr id="16" name="Slide Number 16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6</a:t>
            </a:fld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Topic 2 Lesson 4 Homework Answer Key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otes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Microsoft Office PowerPoint</Application>
  <Slides>6</Slides>
  <Notes>6</Notes>
</Properties>
</file>

<file path=docProps/core.xml><?xml version="1.0" encoding="utf-8"?>
<cp:coreProperties xmlns:cp="http://schemas.openxmlformats.org/package/2006/metadata/core-properties" xmlns:dc="http://purl.org/dc/elements/1.1/">
  <dc:title>Topic 2 Lesson 4 Homework Answer Key</dc:title>
  <dc:subject>Bluebonnet Algebra I</dc:subject>
</cp:coreProperties>
</file>