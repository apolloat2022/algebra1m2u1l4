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Topic 2. Students transform the parent function f(x) = x: vertical translations f(x) + d (blue) and vertical dilations a · f(x) (orange). They prove a line and its translation are parallel and write equations of parallel lines. Three days on the 150-day calendar: Day 1 Getting Started and Activity 1.1; Day 2 Activities 1.2 and 1.3; Day 3 Activity 1.4, Activity 1.5 and Talk the Talk. Materials: masking tape and markers for the floor coordinate plane, the Problem-Solving Model Graphic Organizer.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Monday, October 19.</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1 bell work. Reveal the answers one at a time. Answer key: 1. Slope = (11 − 2) ÷ (4 − 1) = 9 ÷ 3 = 3. 2. In y = mx + b, the y-intercept is (0, b), so it is (0, −7). 3. 2(−3) + 1 = −6 + 1 = −5. 4. Parallel lines have the same slope. Only y = 3x − 5 has slope 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work Questions 1–4 before you reveal anything, then share as a class. The point of this is to see what students already do: most will make a table and plot points. Ask: What is the form of each equation? Identify the y-intercept as a point. For #2, how did you get the signs of the point? (x + 1 means x₁ = −1.) For #4, ask: How could you work with this equation to find its slope or points on it? That question sets up Activity 5.3.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is explicit instruction: go through it as a class and have students restate each step in their own words. Each click plots one point, in the order of steps 1–3, and the fourth click draws the line. Teacher-guide idea: have students highlight (0, 10) and the two slope ratios in different colors, and mark the matching moves on the graph in the same colors. The line crosses the x-axis at (5, 0): after 5 people ask, Douglas is out of tickets.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Questions 1–5, then share. Before graphing, ask: Will this line go up or down from left to right? (Think about the direction before you start.) Each click plots one point; the fourth draws the line. Look for students who don't see that 3/2 is the same as −3/−2. Ask: In which direction do you move with a negative numerator? A negative denominator? How is graphing with the slope related to slope triangles?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"An equation written in slope-intercept form can be graphed by first plotting the y-intercept and then using the slope to locate two additional points by counting from that initial point." To close Day 1, have students reread the Essential Question and read the activity summary to the class. End of Day 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preview the key terms before the lesson. Leave this slide up or print it as a reference card.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come back to it at the end of the lesson.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15–20 minutes. Tape a large coordinate plane on the floor; students stand on the points of AB and move as directed. Ask: Did anyone move left or right? (No: only the y-coordinates changed.)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point did not move? (The origin: 0 times 2 is still 0.) What does multiplying by a negative do? (It reflects across the x-axis.)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1.1, 20–25 minutes. The slide reveals each table column, then the equation, then the graph line. Ask: Which values changed, the inputs or the outputs? (Only the outputs.)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copy the definition. Stamp the learning: a vertical translation changes the y-intercept, not the slope.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Will the graphs of j(x), q(x) and r(x) ever intersect? Ask: How can you tell from the equations? (Same slope, different y-intercepts.)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Day 1, have students reread the Essential Question and summarize Activity 1.1 in their own words. End of Day 1.</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Monday, October 19.</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Tuesday, October 20.</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2 bell work. Reveal the answers one at a time. Answer key: 1. A vertical translation adds to the output: g(x) = f(x) + 4 = x + 4. 2. A vertical translation changes only y: 5 − 3 = 2, so (2, 2). 3. A vertical translation does not change the slope. g(x) = 2x + 5 still has slope 2. 4. g(x) = 2x − 1 + 6 = 2x + 5, so the y-intercept moves from (0, −1) up 6 to (0, 5).</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5.2, 15–20 minutes. Have a student read the introduction aloud. Ask: Why does point-slope form make sense here? (We know a point and a rate, not the starting amount.) The text steps come first; then each click plots a point, (3, 50), (4, 55), (2, 45), and the last click draws the line. Other points include (5, 60) and (6, 65). Ask: How is this the same as and different from graphing from slope-intercept form? (Same counting; you start from the given point instead of the y-intercept.) The line hits the y-axis at 35: the band started with $35.</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the signs: x + 6 means x₁ = −6, and y + 8 means y₁ = −8. In part a, the grid in the book stops just past 14, so going down 3 and right 4 runs off the grid. Use the equivalent ratio, 3/−4: up 3 and left 4, to (10, 8) and (6, 11). The teacher guide flags this as a common sticking point. Each click plots one point, then the line. Question 2 is a good check of point-slope graphing; for more practice, assign Skills Practice Set B.</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1.2, 15–20 minutes. The a's cancel, so the slopes are the same: the image is parallel to the pre-image. Ask: Why did the x-coordinates stay the same? (A vertical translation moves only up or down.)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has no single answer: let students defend the method they prefer. Catalina thinks in translations; James uses the slope and a point.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1.3, 20–25 minutes. All three pass through (0, 0): a dilation keeps the origin fixed. The slope becomes the factor: 4, 2/3, −4. Ask: f(−1) = −1 and c(−1) = 4. What did the dilation do to the value at x = −1? (Multiplied it by −4.)</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copy the definition. Watch for students who say the slope 'increases' when a = −3: it gets steeper, but the slope is −3.</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Day 2, have students reread the Essential Question. End of Day 2.</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Tuesday, October 20.</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Wednesday, October 21.</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3 bell work. Reveal the answers one at a time. Answer key: 1. g(x) = 3x. A vertical dilation by 3 multiplies the slope of f(x) = x by 3. 2. The 2 stretches the graph and the negative sign reflects it across the x-axis. 3. Multiplying by a number between 0 and 1 compresses the graph toward the x-axis. 4. g(x) = 2x − 5. The dilation keeps (0, 0) fixed, then the graph moves down 5.</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5.3, 20–25 minutes. Ask a student to read the introduction and definition aloud. Have pairs work Questions 1–5, then share. Ask: Why can't A and B both be 0? (Then there would be no x or y at all.) Why is standard form a good fit here? (The total comes from adding two kinds of tickets.) Why is it hard to tell which quantity is independent?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the y-intercept (0, b) is where x is 0, and the x-intercept (x, 0) is where y is 0. After the text steps, each click plots an intercept and the last click connects them (Question 4). Ask: Use the graph to name another pair that makes sense, such as (160, 100). Slope check: 8 student tickets bring in $40, the same as 5 adult tickets. Look for sign errors when students divide the y-intercept by the x-intercept instead of using the slope formula.</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Why is standard form appropriate here? (Two kinds of things add up to one total.) Look for different units in Question 9: 20 calories per 5 minutes is also 4 calories per minute. With minutes as the variables, the equation is 4x + 10y = 500, with intercepts (125, 0) and (0, 50). Either is correct if the variables are defined. Is it wrong to swap the axes? No, as long as the labels match. Intercepts: 9: 20x = 500 gives x = 25; 50y = 500 gives y = 10. 10: 5x = 270 gives x = 54; 6y = 270 gives y = 45.</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1.4, 20 minutes. To graph g(x), start at the y-intercept (0, d) and use the slope a. Teacher-guide note: the slide numbers two items 'a.' in the student slides; they are b and e. Ask: Which number tells you the slope? Which tells you the y-intercept?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 correction: the teacher guide says the slope 'increases' or 'decreases'; it means steepness. For a = −3 the slope is −3.</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1.5, 20 minutes. Check any answer by substituting the target's x: for (−5, 1) with a = −1, d = −4: −(−5) − 4 = 1. Other Version B answers exist (for example a = 1, d = 6 for (−5, 1)). TE correction: for (−5, 1) the teacher guide's a = 1, d = 4 misses; it is d = 6. Version C's −6/4 simplifies to −3/2.</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10 minutes. Students match the four transformed graphs in their book (SE p. 284) to the equations.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the Essential Question on the lesson opener page.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Work: 1. 3x is the stretch, − 2 moves the line down 2. 2. 7 = 4(1) + b, so b = 3. 3. Multiply the output by −2: 5 · (−2) = −10.</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Wednesday, October 21.</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1 Assignment. TE correction: the teacher guide gives f(x) = (2/3)x − 5, but the plotted points give slope 2/3 and y-intercept (0, −14/3). Check: (2/3)(4) − 14/3 = 8/3 − 14/3 = −2. ✓</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The 150-day pacing calendar (topic2-pacing-150.html) gives the day for each homework and quiz.</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Section 504/t2-lesson1-bellwork-day1-504.html" TargetMode="External"/><Relationship Id="rId4" Type="http://schemas.openxmlformats.org/officeDocument/2006/relationships/hyperlink" Target="https://algebra1m2u1l4.vercel.app/Section 504/t2-lesson1-bellwork-day2-504.html" TargetMode="External"/><Relationship Id="rId5" Type="http://schemas.openxmlformats.org/officeDocument/2006/relationships/hyperlink" Target="https://algebra1m2u1l4.vercel.app/Section 504/t2-lesson1-bellwork-day3-504.html" TargetMode="External"/><Relationship Id="rId6" Type="http://schemas.openxmlformats.org/officeDocument/2006/relationships/hyperlink" Target="https://algebra1m2u1l4.vercel.app/Section 504/t2-lesson1-homework-504.html" TargetMode="External"/><Relationship Id="rId7" Type="http://schemas.openxmlformats.org/officeDocument/2006/relationships/hyperlink" Target="https://algebra1m2u1l4.vercel.app/Section 504/t2-lesson1-quiz-504.html" TargetMode="External"/><Relationship Id="rId8"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Section 504/lesson5-homework-504.html" TargetMode="External"/><Relationship Id="rId4" Type="http://schemas.openxmlformats.org/officeDocument/2006/relationships/hyperlink" Target="https://algebra1m2u1l4.vercel.app/Section 504/lesson5-quiz-504.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algebra1m2u1l4.vercel.app/Section 504/lesson5-homework-504.html" TargetMode="External"/><Relationship Id="rId4" Type="http://schemas.openxmlformats.org/officeDocument/2006/relationships/hyperlink" Target="https://algebra1m2u1l4.vercel.app/Section 504/lesson5-quiz-504.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hyperlink" Target="https://algebra1m2u1l4.vercel.app/Section 504/lesson5-homework-504.html" TargetMode="External"/><Relationship Id="rId4" Type="http://schemas.openxmlformats.org/officeDocument/2006/relationships/hyperlink" Target="https://algebra1m2u1l4.vercel.app/Section 504/lesson5-quiz-504.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https://algebra1m2u1l4.vercel.app/Section 504/t2-lesson1-bellwork-day1-504.html" TargetMode="External"/><Relationship Id="rId4" Type="http://schemas.openxmlformats.org/officeDocument/2006/relationships/hyperlink" Target="https://algebra1m2u1l4.vercel.app/Section 504/t2-lesson1-bellwork-day2-504.html" TargetMode="External"/><Relationship Id="rId5" Type="http://schemas.openxmlformats.org/officeDocument/2006/relationships/hyperlink" Target="https://algebra1m2u1l4.vercel.app/Section 504/t2-lesson1-bellwork-day3-504.html" TargetMode="External"/><Relationship Id="rId6" Type="http://schemas.openxmlformats.org/officeDocument/2006/relationships/hyperlink" Target="https://algebra1m2u1l4.vercel.app/Section 504/t2-lesson1-homework-504.html" TargetMode="External"/><Relationship Id="rId7" Type="http://schemas.openxmlformats.org/officeDocument/2006/relationships/hyperlink" Target="https://algebra1m2u1l4.vercel.app/Section 504/t2-lesson1-quiz-504.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1 · Student Edition pp. 269–286</a:t>
            </a:r>
            <a:endParaRPr lang="en-US" sz="1200" dirty="0"/>
          </a:p>
        </p:txBody>
      </p:sp>
      <p:sp>
        <p:nvSpPr>
          <p:cNvPr id="3" name="Shape 3"/>
          <p:cNvSpPr txBox="1"/>
          <p:nvPr/>
        </p:nvSpPr>
        <p:spPr>
          <a:xfrm>
            <a:off x="685800" y="923544"/>
            <a:ext cx="10820095" cy="694944"/>
          </a:xfrm>
          <a:prstGeom prst="rect">
            <a:avLst/>
          </a:prstGeom>
          <a:noFill/>
          <a:ln>
            <a:noFill/>
          </a:ln>
        </p:spPr>
        <p:txBody>
          <a:bodyPr wrap="square" lIns="36576" tIns="27432" rIns="36576" bIns="27432" anchor="t">
            <a:noAutofit/>
          </a:bodyPr>
          <a:lstStyle/>
          <a:p>
            <a:pPr algn="l">
              <a:lnSpc>
                <a:spcPct val="100000"/>
              </a:lnSpc>
            </a:pPr>
            <a:r>
              <a:rPr lang="en-US" sz="4200" dirty="0" b="1">
                <a:solidFill>
                  <a:srgbClr val="16171D"/>
                </a:solidFill>
                <a:latin typeface="Segoe UI"/>
                <a:cs typeface="Segoe UI"/>
              </a:rPr>
              <a:t xml:space="preserve">Transforming Linear Functions</a:t>
            </a:r>
            <a:endParaRPr lang="en-US" sz="4200" dirty="0"/>
          </a:p>
        </p:txBody>
      </p:sp>
      <p:sp>
        <p:nvSpPr>
          <p:cNvPr id="4" name="Shape 4"/>
          <p:cNvSpPr txBox="1"/>
          <p:nvPr/>
        </p:nvSpPr>
        <p:spPr>
          <a:xfrm>
            <a:off x="685800" y="1789938"/>
            <a:ext cx="10820095" cy="64922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Mon, Oct 19 · Day 2: Tue, Oct 20 · Day 3: Wed, Oct 21</a:t>
            </a:r>
            <a:endParaRPr lang="en-US" sz="1650" dirty="0"/>
          </a:p>
        </p:txBody>
      </p:sp>
      <p:sp>
        <p:nvSpPr>
          <p:cNvPr id="5" name="Shape 5"/>
          <p:cNvSpPr txBox="1"/>
          <p:nvPr/>
        </p:nvSpPr>
        <p:spPr>
          <a:xfrm>
            <a:off x="685800" y="2686812"/>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g</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d</a:t>
            </a:r>
            <a:endParaRPr lang="en-US" sz="3000" dirty="0"/>
          </a:p>
        </p:txBody>
      </p:sp>
      <p:sp>
        <p:nvSpPr>
          <p:cNvPr id="6" name="Shape 6"/>
          <p:cNvSpPr txBox="1"/>
          <p:nvPr/>
        </p:nvSpPr>
        <p:spPr>
          <a:xfrm>
            <a:off x="685800" y="3427476"/>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b="1">
                <a:solidFill>
                  <a:srgbClr val="16171D"/>
                </a:solidFill>
                <a:latin typeface="Segoe UI"/>
                <a:cs typeface="Segoe UI"/>
              </a:rPr>
              <a:t xml:space="preserve">Section 504 Version</a:t>
            </a:r>
            <a:endParaRPr lang="en-US" sz="1800" dirty="0"/>
          </a:p>
        </p:txBody>
      </p:sp>
      <p:sp>
        <p:nvSpPr>
          <p:cNvPr id="7" name="Shape 7"/>
          <p:cNvSpPr txBox="1"/>
          <p:nvPr/>
        </p:nvSpPr>
        <p:spPr>
          <a:xfrm>
            <a:off x="685800" y="3985260"/>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8" name="Shape 8"/>
          <p:cNvSpPr txBox="1"/>
          <p:nvPr/>
        </p:nvSpPr>
        <p:spPr>
          <a:xfrm>
            <a:off x="685800" y="448589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9" name="Shape 9"/>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8"/>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Day 1 of 3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Monday, October 19</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(Graphing from slope-intercept form) → Lesson 1, Day 1.</a:t>
            </a:r>
            <a:endParaRPr lang="en-US" sz="2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Mon, Oct 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What is the slope between </a:t>
            </a:r>
            <a:r>
              <a:rPr lang="en-US" sz="1950" dirty="0">
                <a:solidFill>
                  <a:srgbClr val="16171D"/>
                </a:solidFill>
                <a:latin typeface="Cambria"/>
                <a:cs typeface="Cambria"/>
              </a:rPr>
              <a:t xml:space="preserve">(1, 2)</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(4, 11)</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685800" y="324383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a:t>
            </a:r>
            <a:r>
              <a:rPr lang="en-US" sz="1950" dirty="0" i="1">
                <a:solidFill>
                  <a:srgbClr val="16171D"/>
                </a:solidFill>
                <a:latin typeface="Cambria"/>
                <a:cs typeface="Cambria"/>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72922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−7)</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What is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(−3)</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362548" y="216103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endParaRPr lang="en-US" sz="2325" dirty="0"/>
          </a:p>
        </p:txBody>
      </p:sp>
      <p:sp>
        <p:nvSpPr>
          <p:cNvPr id="10" name="Shape 10"/>
          <p:cNvSpPr txBox="1"/>
          <p:nvPr/>
        </p:nvSpPr>
        <p:spPr>
          <a:xfrm>
            <a:off x="6362548" y="294665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Which line is parallel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43204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Mon, Oct 19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Graphing from slope-intercept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Today's g(x) = a · f(x) + d is slope-intercept form: a is the slope and d is the y-intercept.</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Getting Started · Jump In the Line · SE p. 218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 you know from each equation?</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Describe the graph. Then explain how you might graph the line from its equation.</a:t>
            </a:r>
            <a:endParaRPr lang="en-US" sz="1575" dirty="0"/>
          </a:p>
        </p:txBody>
      </p:sp>
      <p:sp>
        <p:nvSpPr>
          <p:cNvPr id="7" name="Shape 7"/>
          <p:cNvSpPr txBox="1"/>
          <p:nvPr/>
        </p:nvSpPr>
        <p:spPr>
          <a:xfrm>
            <a:off x="685800"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 name="Shape 5"/>
          <p:cNvSpPr txBox="1"/>
          <p:nvPr/>
        </p:nvSpPr>
        <p:spPr>
          <a:xfrm>
            <a:off x="895350"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6" name="Shape 6"/>
          <p:cNvSpPr txBox="1"/>
          <p:nvPr/>
        </p:nvSpPr>
        <p:spPr>
          <a:xfrm>
            <a:off x="895350"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(0, 7)</a:t>
            </a:r>
            <a:r>
              <a:rPr lang="en-US" sz="1575" dirty="0">
                <a:solidFill>
                  <a:srgbClr val="16171D"/>
                </a:solidFill>
                <a:latin typeface="Segoe UI"/>
                <a:cs typeface="Segoe UI"/>
              </a:rPr>
              <a:t xml:space="preserve">. Start at (0, 7), go up 2 and right 3 to (3, 9).</a:t>
            </a:r>
            <a:endParaRPr lang="en-US" sz="1575" dirty="0"/>
          </a:p>
        </p:txBody>
      </p:sp>
      <p:sp>
        <p:nvSpPr>
          <p:cNvPr id="10" name="Shape 10"/>
          <p:cNvSpPr txBox="1"/>
          <p:nvPr/>
        </p:nvSpPr>
        <p:spPr>
          <a:xfrm>
            <a:off x="685800"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a:t>
            </a:r>
            <a:r>
              <a:rPr lang="en-US" sz="2325" dirty="0" b="1">
                <a:solidFill>
                  <a:srgbClr val="C9561F"/>
                </a:solidFill>
                <a:latin typeface="Cambria"/>
                <a:cs typeface="Cambria"/>
              </a:rPr>
              <a:t xml:space="preserve">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9" name="Shape 9"/>
          <p:cNvSpPr txBox="1"/>
          <p:nvPr/>
        </p:nvSpPr>
        <p:spPr>
          <a:xfrm>
            <a:off x="895350"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 3)</a:t>
            </a:r>
            <a:r>
              <a:rPr lang="en-US" sz="1575" dirty="0">
                <a:solidFill>
                  <a:srgbClr val="16171D"/>
                </a:solidFill>
                <a:latin typeface="Segoe UI"/>
                <a:cs typeface="Segoe UI"/>
              </a:rPr>
              <a:t xml:space="preserve">. Start at (−1, 3), go up 5 and right 1 to (0, 8).</a:t>
            </a:r>
            <a:endParaRPr lang="en-US" sz="1575" dirty="0"/>
          </a:p>
        </p:txBody>
      </p:sp>
      <p:sp>
        <p:nvSpPr>
          <p:cNvPr id="13" name="Shape 13"/>
          <p:cNvSpPr txBox="1"/>
          <p:nvPr/>
        </p:nvSpPr>
        <p:spPr>
          <a:xfrm>
            <a:off x="6191098"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00648"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2" name="Shape 12"/>
          <p:cNvSpPr txBox="1"/>
          <p:nvPr/>
        </p:nvSpPr>
        <p:spPr>
          <a:xfrm>
            <a:off x="6400648"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vertical line</a:t>
            </a:r>
            <a:r>
              <a:rPr lang="en-US" sz="1575" dirty="0">
                <a:solidFill>
                  <a:srgbClr val="16171D"/>
                </a:solidFill>
                <a:latin typeface="Segoe UI"/>
                <a:cs typeface="Segoe UI"/>
              </a:rPr>
              <a:t xml:space="preserve"> through (−4, 0). The slope is undefined.</a:t>
            </a:r>
            <a:endParaRPr lang="en-US" sz="1575" dirty="0"/>
          </a:p>
        </p:txBody>
      </p:sp>
      <p:sp>
        <p:nvSpPr>
          <p:cNvPr id="16" name="Shape 16"/>
          <p:cNvSpPr txBox="1"/>
          <p:nvPr/>
        </p:nvSpPr>
        <p:spPr>
          <a:xfrm>
            <a:off x="6191098"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6400648"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10</a:t>
            </a:r>
            <a:endParaRPr lang="en-US" sz="2325" dirty="0"/>
          </a:p>
        </p:txBody>
      </p:sp>
      <p:sp>
        <p:nvSpPr>
          <p:cNvPr id="15" name="Shape 15"/>
          <p:cNvSpPr txBox="1"/>
          <p:nvPr/>
        </p:nvSpPr>
        <p:spPr>
          <a:xfrm>
            <a:off x="6400648"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aren't easy to see. Make a table: (2, 2) and (10, 5) are on the line.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ppt_x</p:attrName>
                                        </p:attrNameLst>
                                      </p:cBhvr>
                                      <p:tavLst>
                                        <p:tav tm="0">
                                          <p:val>
                                            <p:strVal val="#ppt_x"/>
                                          </p:val>
                                        </p:tav>
                                        <p:tav tm="100000">
                                          <p:val>
                                            <p:strVal val="#ppt_x"/>
                                          </p:val>
                                        </p:tav>
                                      </p:tavLst>
                                    </p:anim>
                                    <p:anim calcmode="lin" valueType="num">
                                      <p:cBhvr>
                                        <p:cTn id="13"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anim calcmode="lin" valueType="num">
                                      <p:cBhvr>
                                        <p:cTn id="26" dur="500" fill="hold"/>
                                        <p:tgtEl>
                                          <p:spTgt spid="15"/>
                                        </p:tgtEl>
                                        <p:attrNameLst>
                                          <p:attrName>ppt_x</p:attrName>
                                        </p:attrNameLst>
                                      </p:cBhvr>
                                      <p:tavLst>
                                        <p:tav tm="0">
                                          <p:val>
                                            <p:strVal val="#ppt_x"/>
                                          </p:val>
                                        </p:tav>
                                        <p:tav tm="100000">
                                          <p:val>
                                            <p:strVal val="#ppt_x"/>
                                          </p:val>
                                        </p:tav>
                                      </p:tavLst>
                                    </p:anim>
                                    <p:anim calcmode="lin" valueType="num">
                                      <p:cBhvr>
                                        <p:cTn id="27"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5.1 · Worked Example · SE p. 219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a:solidFill>
                  <a:srgbClr val="C9561F"/>
                </a:solidFill>
                <a:latin typeface="Cambria"/>
                <a:cs typeface="Cambria"/>
              </a:rPr>
              <a:t xml:space="preserve">−2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a:solidFill>
                  <a:srgbClr val="3050B8"/>
                </a:solidFill>
                <a:latin typeface="Cambria"/>
                <a:cs typeface="Cambria"/>
              </a:rPr>
              <a:t xml:space="preserve">10</a:t>
            </a:r>
            <a:endParaRPr lang="en-US" sz="3450" dirty="0"/>
          </a:p>
        </p:txBody>
      </p:sp>
      <p:sp>
        <p:nvSpPr>
          <p:cNvPr id="4" name="Shape 4"/>
          <p:cNvSpPr txBox="1"/>
          <p:nvPr/>
        </p:nvSpPr>
        <p:spPr>
          <a:xfrm>
            <a:off x="685800" y="1618488"/>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(0, 10)</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03882"/>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down 2 and right 1: </a:t>
            </a:r>
            <a:r>
              <a:rPr lang="en-US" sz="1950" dirty="0">
                <a:solidFill>
                  <a:srgbClr val="16171D"/>
                </a:solidFill>
                <a:latin typeface="Cambria"/>
                <a:cs typeface="Cambria"/>
              </a:rPr>
              <a:t xml:space="preserve">(1, 8)</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58927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up 2 and left 1: </a:t>
            </a:r>
            <a:r>
              <a:rPr lang="en-US" sz="1950" dirty="0">
                <a:solidFill>
                  <a:srgbClr val="16171D"/>
                </a:solidFill>
                <a:latin typeface="Cambria"/>
                <a:cs typeface="Cambria"/>
              </a:rPr>
              <a:t xml:space="preserve">(−1, 12)</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074670"/>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Connect the points to form a straight line.</a:t>
            </a:r>
            <a:endParaRPr lang="en-US" sz="1950" dirty="0"/>
          </a:p>
        </p:txBody>
      </p:sp>
      <p:sp>
        <p:nvSpPr>
          <p:cNvPr id="8" name="Shape 8"/>
          <p:cNvSpPr txBox="1"/>
          <p:nvPr/>
        </p:nvSpPr>
        <p:spPr>
          <a:xfrm>
            <a:off x="685800" y="3560064"/>
            <a:ext cx="6743395" cy="69951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A rule of thumb when graphing a line is to plot at least three points.</a:t>
            </a:r>
            <a:endParaRPr lang="en-US" sz="1575" dirty="0"/>
          </a:p>
        </p:txBody>
      </p:sp>
      <p:sp>
        <p:nvSpPr>
          <p:cNvPr id="9" name="Shape 9"/>
          <p:cNvSpPr/>
          <p:nvPr/>
        </p:nvSpPr>
        <p:spPr>
          <a:xfrm>
            <a:off x="7886395" y="1618488"/>
            <a:ext cx="3619500" cy="4191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1732788"/>
            <a:ext cx="0" cy="3829050"/>
          </a:xfrm>
          <a:prstGeom prst="line">
            <a:avLst/>
          </a:prstGeom>
          <a:ln w="9525" cap="flat">
            <a:solidFill>
              <a:srgbClr val="E6E8F2"/>
            </a:solidFill>
          </a:ln>
        </p:spPr>
      </p:cxnSp>
      <p:cxnSp>
        <p:nvCxnSpPr>
          <p:cNvPr id="11" name="Line 11"/>
          <p:cNvCxnSpPr/>
          <p:nvPr/>
        </p:nvCxnSpPr>
        <p:spPr>
          <a:xfrm>
            <a:off x="8607914" y="1732788"/>
            <a:ext cx="0" cy="3829050"/>
          </a:xfrm>
          <a:prstGeom prst="line">
            <a:avLst/>
          </a:prstGeom>
          <a:ln w="9525" cap="flat">
            <a:solidFill>
              <a:srgbClr val="E6E8F2"/>
            </a:solidFill>
          </a:ln>
        </p:spPr>
      </p:cxnSp>
      <p:cxnSp>
        <p:nvCxnSpPr>
          <p:cNvPr id="12" name="Line 12"/>
          <p:cNvCxnSpPr/>
          <p:nvPr/>
        </p:nvCxnSpPr>
        <p:spPr>
          <a:xfrm>
            <a:off x="9005583" y="1732788"/>
            <a:ext cx="0" cy="3829050"/>
          </a:xfrm>
          <a:prstGeom prst="line">
            <a:avLst/>
          </a:prstGeom>
          <a:ln w="9525" cap="flat">
            <a:solidFill>
              <a:srgbClr val="E6E8F2"/>
            </a:solidFill>
          </a:ln>
        </p:spPr>
      </p:cxnSp>
      <p:cxnSp>
        <p:nvCxnSpPr>
          <p:cNvPr id="13" name="Line 13"/>
          <p:cNvCxnSpPr/>
          <p:nvPr/>
        </p:nvCxnSpPr>
        <p:spPr>
          <a:xfrm>
            <a:off x="9403251" y="1732788"/>
            <a:ext cx="0" cy="3829050"/>
          </a:xfrm>
          <a:prstGeom prst="line">
            <a:avLst/>
          </a:prstGeom>
          <a:ln w="9525" cap="flat">
            <a:solidFill>
              <a:srgbClr val="E6E8F2"/>
            </a:solidFill>
          </a:ln>
        </p:spPr>
      </p:cxnSp>
      <p:cxnSp>
        <p:nvCxnSpPr>
          <p:cNvPr id="14" name="Line 14"/>
          <p:cNvCxnSpPr/>
          <p:nvPr/>
        </p:nvCxnSpPr>
        <p:spPr>
          <a:xfrm>
            <a:off x="9800920" y="1732788"/>
            <a:ext cx="0" cy="3829050"/>
          </a:xfrm>
          <a:prstGeom prst="line">
            <a:avLst/>
          </a:prstGeom>
          <a:ln w="9525" cap="flat">
            <a:solidFill>
              <a:srgbClr val="E6E8F2"/>
            </a:solidFill>
          </a:ln>
        </p:spPr>
      </p:cxnSp>
      <p:cxnSp>
        <p:nvCxnSpPr>
          <p:cNvPr id="15" name="Line 15"/>
          <p:cNvCxnSpPr/>
          <p:nvPr/>
        </p:nvCxnSpPr>
        <p:spPr>
          <a:xfrm>
            <a:off x="10198589" y="1732788"/>
            <a:ext cx="0" cy="3829050"/>
          </a:xfrm>
          <a:prstGeom prst="line">
            <a:avLst/>
          </a:prstGeom>
          <a:ln w="9525" cap="flat">
            <a:solidFill>
              <a:srgbClr val="E6E8F2"/>
            </a:solidFill>
          </a:ln>
        </p:spPr>
      </p:cxnSp>
      <p:cxnSp>
        <p:nvCxnSpPr>
          <p:cNvPr id="16" name="Line 16"/>
          <p:cNvCxnSpPr/>
          <p:nvPr/>
        </p:nvCxnSpPr>
        <p:spPr>
          <a:xfrm>
            <a:off x="10596258" y="1732788"/>
            <a:ext cx="0" cy="3829050"/>
          </a:xfrm>
          <a:prstGeom prst="line">
            <a:avLst/>
          </a:prstGeom>
          <a:ln w="9525" cap="flat">
            <a:solidFill>
              <a:srgbClr val="E6E8F2"/>
            </a:solidFill>
          </a:ln>
        </p:spPr>
      </p:cxnSp>
      <p:cxnSp>
        <p:nvCxnSpPr>
          <p:cNvPr id="17" name="Line 17"/>
          <p:cNvCxnSpPr/>
          <p:nvPr/>
        </p:nvCxnSpPr>
        <p:spPr>
          <a:xfrm>
            <a:off x="10993926" y="1732788"/>
            <a:ext cx="0" cy="3829050"/>
          </a:xfrm>
          <a:prstGeom prst="line">
            <a:avLst/>
          </a:prstGeom>
          <a:ln w="9525" cap="flat">
            <a:solidFill>
              <a:srgbClr val="E6E8F2"/>
            </a:solidFill>
          </a:ln>
        </p:spPr>
      </p:cxnSp>
      <p:cxnSp>
        <p:nvCxnSpPr>
          <p:cNvPr id="18" name="Line 18"/>
          <p:cNvCxnSpPr/>
          <p:nvPr/>
        </p:nvCxnSpPr>
        <p:spPr>
          <a:xfrm>
            <a:off x="11391595" y="1732788"/>
            <a:ext cx="0" cy="3829050"/>
          </a:xfrm>
          <a:prstGeom prst="line">
            <a:avLst/>
          </a:prstGeom>
          <a:ln w="9525" cap="flat">
            <a:solidFill>
              <a:srgbClr val="E6E8F2"/>
            </a:solidFill>
          </a:ln>
        </p:spPr>
      </p:cxnSp>
      <p:cxnSp>
        <p:nvCxnSpPr>
          <p:cNvPr id="19" name="Line 19"/>
          <p:cNvCxnSpPr/>
          <p:nvPr/>
        </p:nvCxnSpPr>
        <p:spPr>
          <a:xfrm>
            <a:off x="8210245" y="5561838"/>
            <a:ext cx="3181350" cy="0"/>
          </a:xfrm>
          <a:prstGeom prst="line">
            <a:avLst/>
          </a:prstGeom>
          <a:ln w="9525" cap="flat">
            <a:solidFill>
              <a:srgbClr val="E6E8F2"/>
            </a:solidFill>
          </a:ln>
        </p:spPr>
      </p:cxnSp>
      <p:cxnSp>
        <p:nvCxnSpPr>
          <p:cNvPr id="20" name="Line 20"/>
          <p:cNvCxnSpPr/>
          <p:nvPr/>
        </p:nvCxnSpPr>
        <p:spPr>
          <a:xfrm>
            <a:off x="8210245" y="5322522"/>
            <a:ext cx="3181350" cy="0"/>
          </a:xfrm>
          <a:prstGeom prst="line">
            <a:avLst/>
          </a:prstGeom>
          <a:ln w="9525" cap="flat">
            <a:solidFill>
              <a:srgbClr val="E6E8F2"/>
            </a:solidFill>
          </a:ln>
        </p:spPr>
      </p:cxnSp>
      <p:cxnSp>
        <p:nvCxnSpPr>
          <p:cNvPr id="21" name="Line 21"/>
          <p:cNvCxnSpPr/>
          <p:nvPr/>
        </p:nvCxnSpPr>
        <p:spPr>
          <a:xfrm>
            <a:off x="8210245" y="5083207"/>
            <a:ext cx="3181350" cy="0"/>
          </a:xfrm>
          <a:prstGeom prst="line">
            <a:avLst/>
          </a:prstGeom>
          <a:ln w="9525" cap="flat">
            <a:solidFill>
              <a:srgbClr val="E6E8F2"/>
            </a:solidFill>
          </a:ln>
        </p:spPr>
      </p:cxnSp>
      <p:cxnSp>
        <p:nvCxnSpPr>
          <p:cNvPr id="22" name="Line 22"/>
          <p:cNvCxnSpPr/>
          <p:nvPr/>
        </p:nvCxnSpPr>
        <p:spPr>
          <a:xfrm>
            <a:off x="8210245" y="4843891"/>
            <a:ext cx="3181350" cy="0"/>
          </a:xfrm>
          <a:prstGeom prst="line">
            <a:avLst/>
          </a:prstGeom>
          <a:ln w="9525" cap="flat">
            <a:solidFill>
              <a:srgbClr val="E6E8F2"/>
            </a:solidFill>
          </a:ln>
        </p:spPr>
      </p:cxnSp>
      <p:cxnSp>
        <p:nvCxnSpPr>
          <p:cNvPr id="23" name="Line 23"/>
          <p:cNvCxnSpPr/>
          <p:nvPr/>
        </p:nvCxnSpPr>
        <p:spPr>
          <a:xfrm>
            <a:off x="8210245" y="4604576"/>
            <a:ext cx="3181350" cy="0"/>
          </a:xfrm>
          <a:prstGeom prst="line">
            <a:avLst/>
          </a:prstGeom>
          <a:ln w="9525" cap="flat">
            <a:solidFill>
              <a:srgbClr val="E6E8F2"/>
            </a:solidFill>
          </a:ln>
        </p:spPr>
      </p:cxnSp>
      <p:cxnSp>
        <p:nvCxnSpPr>
          <p:cNvPr id="24" name="Line 24"/>
          <p:cNvCxnSpPr/>
          <p:nvPr/>
        </p:nvCxnSpPr>
        <p:spPr>
          <a:xfrm>
            <a:off x="8210245" y="4365260"/>
            <a:ext cx="3181350" cy="0"/>
          </a:xfrm>
          <a:prstGeom prst="line">
            <a:avLst/>
          </a:prstGeom>
          <a:ln w="9525" cap="flat">
            <a:solidFill>
              <a:srgbClr val="E6E8F2"/>
            </a:solidFill>
          </a:ln>
        </p:spPr>
      </p:cxnSp>
      <p:cxnSp>
        <p:nvCxnSpPr>
          <p:cNvPr id="25" name="Line 25"/>
          <p:cNvCxnSpPr/>
          <p:nvPr/>
        </p:nvCxnSpPr>
        <p:spPr>
          <a:xfrm>
            <a:off x="8210245" y="4125944"/>
            <a:ext cx="3181350" cy="0"/>
          </a:xfrm>
          <a:prstGeom prst="line">
            <a:avLst/>
          </a:prstGeom>
          <a:ln w="9525" cap="flat">
            <a:solidFill>
              <a:srgbClr val="E6E8F2"/>
            </a:solidFill>
          </a:ln>
        </p:spPr>
      </p:cxnSp>
      <p:cxnSp>
        <p:nvCxnSpPr>
          <p:cNvPr id="26" name="Line 26"/>
          <p:cNvCxnSpPr/>
          <p:nvPr/>
        </p:nvCxnSpPr>
        <p:spPr>
          <a:xfrm>
            <a:off x="8210245" y="3886629"/>
            <a:ext cx="3181350" cy="0"/>
          </a:xfrm>
          <a:prstGeom prst="line">
            <a:avLst/>
          </a:prstGeom>
          <a:ln w="9525" cap="flat">
            <a:solidFill>
              <a:srgbClr val="E6E8F2"/>
            </a:solidFill>
          </a:ln>
        </p:spPr>
      </p:cxnSp>
      <p:cxnSp>
        <p:nvCxnSpPr>
          <p:cNvPr id="27" name="Line 27"/>
          <p:cNvCxnSpPr/>
          <p:nvPr/>
        </p:nvCxnSpPr>
        <p:spPr>
          <a:xfrm>
            <a:off x="8210245" y="3647313"/>
            <a:ext cx="3181350" cy="0"/>
          </a:xfrm>
          <a:prstGeom prst="line">
            <a:avLst/>
          </a:prstGeom>
          <a:ln w="9525" cap="flat">
            <a:solidFill>
              <a:srgbClr val="E6E8F2"/>
            </a:solidFill>
          </a:ln>
        </p:spPr>
      </p:cxnSp>
      <p:cxnSp>
        <p:nvCxnSpPr>
          <p:cNvPr id="28" name="Line 28"/>
          <p:cNvCxnSpPr/>
          <p:nvPr/>
        </p:nvCxnSpPr>
        <p:spPr>
          <a:xfrm>
            <a:off x="8210245" y="3407997"/>
            <a:ext cx="3181350" cy="0"/>
          </a:xfrm>
          <a:prstGeom prst="line">
            <a:avLst/>
          </a:prstGeom>
          <a:ln w="9525" cap="flat">
            <a:solidFill>
              <a:srgbClr val="E6E8F2"/>
            </a:solidFill>
          </a:ln>
        </p:spPr>
      </p:cxnSp>
      <p:cxnSp>
        <p:nvCxnSpPr>
          <p:cNvPr id="29" name="Line 29"/>
          <p:cNvCxnSpPr/>
          <p:nvPr/>
        </p:nvCxnSpPr>
        <p:spPr>
          <a:xfrm>
            <a:off x="8210245" y="3168682"/>
            <a:ext cx="3181350" cy="0"/>
          </a:xfrm>
          <a:prstGeom prst="line">
            <a:avLst/>
          </a:prstGeom>
          <a:ln w="9525" cap="flat">
            <a:solidFill>
              <a:srgbClr val="E6E8F2"/>
            </a:solidFill>
          </a:ln>
        </p:spPr>
      </p:cxnSp>
      <p:cxnSp>
        <p:nvCxnSpPr>
          <p:cNvPr id="30" name="Line 30"/>
          <p:cNvCxnSpPr/>
          <p:nvPr/>
        </p:nvCxnSpPr>
        <p:spPr>
          <a:xfrm>
            <a:off x="8210245" y="2929366"/>
            <a:ext cx="3181350" cy="0"/>
          </a:xfrm>
          <a:prstGeom prst="line">
            <a:avLst/>
          </a:prstGeom>
          <a:ln w="9525" cap="flat">
            <a:solidFill>
              <a:srgbClr val="E6E8F2"/>
            </a:solidFill>
          </a:ln>
        </p:spPr>
      </p:cxnSp>
      <p:cxnSp>
        <p:nvCxnSpPr>
          <p:cNvPr id="31" name="Line 31"/>
          <p:cNvCxnSpPr/>
          <p:nvPr/>
        </p:nvCxnSpPr>
        <p:spPr>
          <a:xfrm>
            <a:off x="8210245" y="2690050"/>
            <a:ext cx="3181350" cy="0"/>
          </a:xfrm>
          <a:prstGeom prst="line">
            <a:avLst/>
          </a:prstGeom>
          <a:ln w="9525" cap="flat">
            <a:solidFill>
              <a:srgbClr val="E6E8F2"/>
            </a:solidFill>
          </a:ln>
        </p:spPr>
      </p:cxnSp>
      <p:cxnSp>
        <p:nvCxnSpPr>
          <p:cNvPr id="32" name="Line 32"/>
          <p:cNvCxnSpPr/>
          <p:nvPr/>
        </p:nvCxnSpPr>
        <p:spPr>
          <a:xfrm>
            <a:off x="8210245" y="2450735"/>
            <a:ext cx="3181350" cy="0"/>
          </a:xfrm>
          <a:prstGeom prst="line">
            <a:avLst/>
          </a:prstGeom>
          <a:ln w="9525" cap="flat">
            <a:solidFill>
              <a:srgbClr val="E6E8F2"/>
            </a:solidFill>
          </a:ln>
        </p:spPr>
      </p:cxnSp>
      <p:cxnSp>
        <p:nvCxnSpPr>
          <p:cNvPr id="33" name="Line 33"/>
          <p:cNvCxnSpPr/>
          <p:nvPr/>
        </p:nvCxnSpPr>
        <p:spPr>
          <a:xfrm>
            <a:off x="8210245" y="2211419"/>
            <a:ext cx="3181350" cy="0"/>
          </a:xfrm>
          <a:prstGeom prst="line">
            <a:avLst/>
          </a:prstGeom>
          <a:ln w="9525" cap="flat">
            <a:solidFill>
              <a:srgbClr val="E6E8F2"/>
            </a:solidFill>
          </a:ln>
        </p:spPr>
      </p:cxnSp>
      <p:cxnSp>
        <p:nvCxnSpPr>
          <p:cNvPr id="34" name="Line 34"/>
          <p:cNvCxnSpPr/>
          <p:nvPr/>
        </p:nvCxnSpPr>
        <p:spPr>
          <a:xfrm>
            <a:off x="8210245" y="1972104"/>
            <a:ext cx="3181350" cy="0"/>
          </a:xfrm>
          <a:prstGeom prst="line">
            <a:avLst/>
          </a:prstGeom>
          <a:ln w="9525" cap="flat">
            <a:solidFill>
              <a:srgbClr val="E6E8F2"/>
            </a:solidFill>
          </a:ln>
        </p:spPr>
      </p:cxnSp>
      <p:cxnSp>
        <p:nvCxnSpPr>
          <p:cNvPr id="35" name="Line 35"/>
          <p:cNvCxnSpPr/>
          <p:nvPr/>
        </p:nvCxnSpPr>
        <p:spPr>
          <a:xfrm>
            <a:off x="8210245" y="1732788"/>
            <a:ext cx="3181350" cy="0"/>
          </a:xfrm>
          <a:prstGeom prst="line">
            <a:avLst/>
          </a:prstGeom>
          <a:ln w="9525" cap="flat">
            <a:solidFill>
              <a:srgbClr val="E6E8F2"/>
            </a:solidFill>
          </a:ln>
        </p:spPr>
      </p:cxnSp>
      <p:cxnSp>
        <p:nvCxnSpPr>
          <p:cNvPr id="36" name="Line 36"/>
          <p:cNvCxnSpPr/>
          <p:nvPr/>
        </p:nvCxnSpPr>
        <p:spPr>
          <a:xfrm>
            <a:off x="9005583" y="1732788"/>
            <a:ext cx="0" cy="3829050"/>
          </a:xfrm>
          <a:prstGeom prst="line">
            <a:avLst/>
          </a:prstGeom>
          <a:ln w="19050" cap="flat">
            <a:solidFill>
              <a:srgbClr val="5F6272"/>
            </a:solidFill>
          </a:ln>
        </p:spPr>
      </p:cxnSp>
      <p:cxnSp>
        <p:nvCxnSpPr>
          <p:cNvPr id="37" name="Line 37"/>
          <p:cNvCxnSpPr/>
          <p:nvPr/>
        </p:nvCxnSpPr>
        <p:spPr>
          <a:xfrm>
            <a:off x="8210245" y="5083207"/>
            <a:ext cx="3181350" cy="0"/>
          </a:xfrm>
          <a:prstGeom prst="line">
            <a:avLst/>
          </a:prstGeom>
          <a:ln w="19050" cap="flat">
            <a:solidFill>
              <a:srgbClr val="5F6272"/>
            </a:solidFill>
          </a:ln>
        </p:spPr>
      </p:cxnSp>
      <p:sp>
        <p:nvSpPr>
          <p:cNvPr id="38" name="Shape 38"/>
          <p:cNvSpPr txBox="1"/>
          <p:nvPr/>
        </p:nvSpPr>
        <p:spPr>
          <a:xfrm>
            <a:off x="793592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731263"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0" name="Shape 40"/>
          <p:cNvSpPr txBox="1"/>
          <p:nvPr/>
        </p:nvSpPr>
        <p:spPr>
          <a:xfrm>
            <a:off x="9526600"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10321938"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1111727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7643317" y="5470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643317" y="499176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7643317" y="4513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7643317" y="40345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7643317" y="3555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7643317" y="30772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7643317" y="25986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0" name="Shape 50"/>
          <p:cNvSpPr txBox="1"/>
          <p:nvPr/>
        </p:nvSpPr>
        <p:spPr>
          <a:xfrm>
            <a:off x="7643317" y="211997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7643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52" name="Shape 52"/>
          <p:cNvSpPr/>
          <p:nvPr/>
        </p:nvSpPr>
        <p:spPr>
          <a:xfrm>
            <a:off x="8953195" y="263766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3" name="Shape 53"/>
          <p:cNvSpPr txBox="1"/>
          <p:nvPr/>
        </p:nvSpPr>
        <p:spPr>
          <a:xfrm>
            <a:off x="9091308" y="244240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sp>
        <p:nvSpPr>
          <p:cNvPr id="54" name="Shape 54"/>
          <p:cNvSpPr/>
          <p:nvPr/>
        </p:nvSpPr>
        <p:spPr>
          <a:xfrm>
            <a:off x="9350864" y="311629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9488976" y="292103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(1, 8)</a:t>
            </a:r>
            <a:endParaRPr lang="en-US" sz="1125" dirty="0"/>
          </a:p>
        </p:txBody>
      </p:sp>
      <p:sp>
        <p:nvSpPr>
          <p:cNvPr id="56" name="Shape 56"/>
          <p:cNvSpPr/>
          <p:nvPr/>
        </p:nvSpPr>
        <p:spPr>
          <a:xfrm>
            <a:off x="8555526" y="215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693639" y="196376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12)</a:t>
            </a:r>
            <a:endParaRPr lang="en-US" sz="1125" dirty="0"/>
          </a:p>
        </p:txBody>
      </p:sp>
      <p:cxnSp>
        <p:nvCxnSpPr>
          <p:cNvPr id="58" name="Line 58"/>
          <p:cNvCxnSpPr/>
          <p:nvPr/>
        </p:nvCxnSpPr>
        <p:spPr>
          <a:xfrm>
            <a:off x="8210245" y="1732788"/>
            <a:ext cx="3181350" cy="38290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2"/>
                                        </p:tgtEl>
                                        <p:attrNameLst>
                                          <p:attrName>style.visibility</p:attrName>
                                        </p:attrNameLst>
                                      </p:cBhvr>
                                      <p:to>
                                        <p:strVal val="visible"/>
                                      </p:to>
                                    </p:set>
                                    <p:animEffect transition="in" filter="fade">
                                      <p:cBhvr>
                                        <p:cTn id="4" dur="500"/>
                                        <p:tgtEl>
                                          <p:spTgt spid="52"/>
                                        </p:tgtEl>
                                      </p:cBhvr>
                                    </p:animEffect>
                                    <p:anim calcmode="lin" valueType="num">
                                      <p:cBhvr>
                                        <p:cTn id="5" dur="500" fill="hold"/>
                                        <p:tgtEl>
                                          <p:spTgt spid="52"/>
                                        </p:tgtEl>
                                        <p:attrNameLst>
                                          <p:attrName>ppt_w</p:attrName>
                                        </p:attrNameLst>
                                      </p:cBhvr>
                                      <p:tavLst>
                                        <p:tav tm="0">
                                          <p:val>
                                            <p:fltVal val="0"/>
                                          </p:val>
                                        </p:tav>
                                        <p:tav tm="100000">
                                          <p:val>
                                            <p:strVal val="#ppt_w"/>
                                          </p:val>
                                        </p:tav>
                                      </p:tavLst>
                                    </p:anim>
                                    <p:anim calcmode="lin" valueType="num">
                                      <p:cBhvr>
                                        <p:cTn id="6" dur="500" fill="hold"/>
                                        <p:tgtEl>
                                          <p:spTgt spid="52"/>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53"/>
                                        </p:tgtEl>
                                        <p:attrNameLst>
                                          <p:attrName>style.visibility</p:attrName>
                                        </p:attrNameLst>
                                      </p:cBhvr>
                                      <p:to>
                                        <p:strVal val="visible"/>
                                      </p:to>
                                    </p:set>
                                    <p:animEffect transition="in" filter="fade">
                                      <p:cBhvr>
                                        <p:cTn id="9" dur="500"/>
                                        <p:tgtEl>
                                          <p:spTgt spid="53"/>
                                        </p:tgtEl>
                                      </p:cBhvr>
                                    </p:animEffect>
                                    <p:anim calcmode="lin" valueType="num">
                                      <p:cBhvr>
                                        <p:cTn id="10" dur="500" fill="hold"/>
                                        <p:tgtEl>
                                          <p:spTgt spid="53"/>
                                        </p:tgtEl>
                                        <p:attrNameLst>
                                          <p:attrName>ppt_w</p:attrName>
                                        </p:attrNameLst>
                                      </p:cBhvr>
                                      <p:tavLst>
                                        <p:tav tm="0">
                                          <p:val>
                                            <p:fltVal val="0"/>
                                          </p:val>
                                        </p:tav>
                                        <p:tav tm="100000">
                                          <p:val>
                                            <p:strVal val="#ppt_w"/>
                                          </p:val>
                                        </p:tav>
                                      </p:tavLst>
                                    </p:anim>
                                    <p:anim calcmode="lin" valueType="num">
                                      <p:cBhvr>
                                        <p:cTn id="11"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anim calcmode="lin" valueType="num">
                                      <p:cBhvr>
                                        <p:cTn id="17" dur="500" fill="hold"/>
                                        <p:tgtEl>
                                          <p:spTgt spid="54"/>
                                        </p:tgtEl>
                                        <p:attrNameLst>
                                          <p:attrName>ppt_w</p:attrName>
                                        </p:attrNameLst>
                                      </p:cBhvr>
                                      <p:tavLst>
                                        <p:tav tm="0">
                                          <p:val>
                                            <p:fltVal val="0"/>
                                          </p:val>
                                        </p:tav>
                                        <p:tav tm="100000">
                                          <p:val>
                                            <p:strVal val="#ppt_w"/>
                                          </p:val>
                                        </p:tav>
                                      </p:tavLst>
                                    </p:anim>
                                    <p:anim calcmode="lin" valueType="num">
                                      <p:cBhvr>
                                        <p:cTn id="18" dur="500" fill="hold"/>
                                        <p:tgtEl>
                                          <p:spTgt spid="54"/>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anim calcmode="lin" valueType="num">
                                      <p:cBhvr>
                                        <p:cTn id="22" dur="500" fill="hold"/>
                                        <p:tgtEl>
                                          <p:spTgt spid="55"/>
                                        </p:tgtEl>
                                        <p:attrNameLst>
                                          <p:attrName>ppt_w</p:attrName>
                                        </p:attrNameLst>
                                      </p:cBhvr>
                                      <p:tavLst>
                                        <p:tav tm="0">
                                          <p:val>
                                            <p:fltVal val="0"/>
                                          </p:val>
                                        </p:tav>
                                        <p:tav tm="100000">
                                          <p:val>
                                            <p:strVal val="#ppt_w"/>
                                          </p:val>
                                        </p:tav>
                                      </p:tavLst>
                                    </p:anim>
                                    <p:anim calcmode="lin" valueType="num">
                                      <p:cBhvr>
                                        <p:cTn id="23"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500"/>
                                        <p:tgtEl>
                                          <p:spTgt spid="56"/>
                                        </p:tgtEl>
                                      </p:cBhvr>
                                    </p:animEffect>
                                    <p:anim calcmode="lin" valueType="num">
                                      <p:cBhvr>
                                        <p:cTn id="29" dur="500" fill="hold"/>
                                        <p:tgtEl>
                                          <p:spTgt spid="56"/>
                                        </p:tgtEl>
                                        <p:attrNameLst>
                                          <p:attrName>ppt_w</p:attrName>
                                        </p:attrNameLst>
                                      </p:cBhvr>
                                      <p:tavLst>
                                        <p:tav tm="0">
                                          <p:val>
                                            <p:fltVal val="0"/>
                                          </p:val>
                                        </p:tav>
                                        <p:tav tm="100000">
                                          <p:val>
                                            <p:strVal val="#ppt_w"/>
                                          </p:val>
                                        </p:tav>
                                      </p:tavLst>
                                    </p:anim>
                                    <p:anim calcmode="lin" valueType="num">
                                      <p:cBhvr>
                                        <p:cTn id="30" dur="500" fill="hold"/>
                                        <p:tgtEl>
                                          <p:spTgt spid="56"/>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anim calcmode="lin" valueType="num">
                                      <p:cBhvr>
                                        <p:cTn id="34" dur="500" fill="hold"/>
                                        <p:tgtEl>
                                          <p:spTgt spid="57"/>
                                        </p:tgtEl>
                                        <p:attrNameLst>
                                          <p:attrName>ppt_w</p:attrName>
                                        </p:attrNameLst>
                                      </p:cBhvr>
                                      <p:tavLst>
                                        <p:tav tm="0">
                                          <p:val>
                                            <p:fltVal val="0"/>
                                          </p:val>
                                        </p:tav>
                                        <p:tav tm="100000">
                                          <p:val>
                                            <p:strVal val="#ppt_w"/>
                                          </p:val>
                                        </p:tav>
                                      </p:tavLst>
                                    </p:anim>
                                    <p:anim calcmode="lin" valueType="num">
                                      <p:cBhvr>
                                        <p:cTn id="35"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wipe(left)">
                                      <p:cBhvr>
                                        <p:cTn id="40"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5.1 · Questions 1–2 · SE p. 220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Use the equation to graph each line</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−1)</a:t>
            </a:r>
            <a:r>
              <a:rPr lang="en-US" sz="1575" dirty="0">
                <a:solidFill>
                  <a:srgbClr val="16171D"/>
                </a:solidFill>
                <a:latin typeface="Segoe UI"/>
                <a:cs typeface="Segoe UI"/>
              </a:rPr>
              <a:t xml:space="preserve">. Up 3, right 2. Or down 3, left 2.</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2362200" y="2589276"/>
            <a:ext cx="0" cy="2781300"/>
          </a:xfrm>
          <a:prstGeom prst="line">
            <a:avLst/>
          </a:prstGeom>
          <a:ln w="19050" cap="flat">
            <a:solidFill>
              <a:srgbClr val="5F6272"/>
            </a:solidFill>
          </a:ln>
        </p:spPr>
      </p:cxnSp>
      <p:cxnSp>
        <p:nvCxnSpPr>
          <p:cNvPr id="42" name="Line 42"/>
          <p:cNvCxnSpPr/>
          <p:nvPr/>
        </p:nvCxnSpPr>
        <p:spPr>
          <a:xfrm>
            <a:off x="1009650" y="397992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1" name="Shape 61"/>
          <p:cNvSpPr/>
          <p:nvPr/>
        </p:nvSpPr>
        <p:spPr>
          <a:xfrm>
            <a:off x="2309812" y="410137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2447925" y="390610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a:t>
            </a:r>
            <a:endParaRPr lang="en-US" sz="1125" dirty="0"/>
          </a:p>
        </p:txBody>
      </p:sp>
      <p:sp>
        <p:nvSpPr>
          <p:cNvPr id="63" name="Shape 63"/>
          <p:cNvSpPr/>
          <p:nvPr/>
        </p:nvSpPr>
        <p:spPr>
          <a:xfrm>
            <a:off x="2647950" y="35798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txBox="1"/>
          <p:nvPr/>
        </p:nvSpPr>
        <p:spPr>
          <a:xfrm>
            <a:off x="2786062" y="33846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65" name="Shape 65"/>
          <p:cNvSpPr/>
          <p:nvPr/>
        </p:nvSpPr>
        <p:spPr>
          <a:xfrm>
            <a:off x="1971675" y="46228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6" name="Shape 66"/>
          <p:cNvSpPr txBox="1"/>
          <p:nvPr/>
        </p:nvSpPr>
        <p:spPr>
          <a:xfrm>
            <a:off x="2109788" y="442760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−4)</a:t>
            </a:r>
            <a:endParaRPr lang="en-US" sz="1125" dirty="0"/>
          </a:p>
        </p:txBody>
      </p:sp>
      <p:cxnSp>
        <p:nvCxnSpPr>
          <p:cNvPr id="67" name="Line 67"/>
          <p:cNvCxnSpPr/>
          <p:nvPr/>
        </p:nvCxnSpPr>
        <p:spPr>
          <a:xfrm flipV="1">
            <a:off x="1573212" y="2589276"/>
            <a:ext cx="1803400" cy="2781300"/>
          </a:xfrm>
          <a:prstGeom prst="line">
            <a:avLst/>
          </a:prstGeom>
          <a:ln w="38100" cap="rnd">
            <a:solidFill>
              <a:srgbClr val="16171D"/>
            </a:solidFill>
          </a:ln>
        </p:spPr>
      </p:cxnSp>
      <p:sp>
        <p:nvSpPr>
          <p:cNvPr id="68" name="Shape 68"/>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5</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3</a:t>
            </a:r>
            <a:endParaRPr lang="en-US" sz="2325" dirty="0"/>
          </a:p>
        </p:txBody>
      </p:sp>
      <p:sp>
        <p:nvSpPr>
          <p:cNvPr id="69" name="Shape 69"/>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(0, 3)</a:t>
            </a:r>
            <a:r>
              <a:rPr lang="en-US" sz="1575" dirty="0">
                <a:solidFill>
                  <a:srgbClr val="16171D"/>
                </a:solidFill>
                <a:latin typeface="Segoe UI"/>
                <a:cs typeface="Segoe UI"/>
              </a:rPr>
              <a:t xml:space="preserve">. Down 5, right 2. Or up 5, left 2.</a:t>
            </a:r>
            <a:endParaRPr lang="en-US" sz="1575" dirty="0"/>
          </a:p>
        </p:txBody>
      </p:sp>
      <p:sp>
        <p:nvSpPr>
          <p:cNvPr id="70" name="Shape 70"/>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1" name="Line 71"/>
          <p:cNvCxnSpPr/>
          <p:nvPr/>
        </p:nvCxnSpPr>
        <p:spPr>
          <a:xfrm>
            <a:off x="6610198" y="2589276"/>
            <a:ext cx="0" cy="2781300"/>
          </a:xfrm>
          <a:prstGeom prst="line">
            <a:avLst/>
          </a:prstGeom>
          <a:ln w="9525" cap="flat">
            <a:solidFill>
              <a:srgbClr val="E6E8F2"/>
            </a:solidFill>
          </a:ln>
        </p:spPr>
      </p:cxnSp>
      <p:cxnSp>
        <p:nvCxnSpPr>
          <p:cNvPr id="72" name="Line 72"/>
          <p:cNvCxnSpPr/>
          <p:nvPr/>
        </p:nvCxnSpPr>
        <p:spPr>
          <a:xfrm>
            <a:off x="6779266" y="2589276"/>
            <a:ext cx="0" cy="2781300"/>
          </a:xfrm>
          <a:prstGeom prst="line">
            <a:avLst/>
          </a:prstGeom>
          <a:ln w="9525" cap="flat">
            <a:solidFill>
              <a:srgbClr val="E6E8F2"/>
            </a:solidFill>
          </a:ln>
        </p:spPr>
      </p:cxnSp>
      <p:cxnSp>
        <p:nvCxnSpPr>
          <p:cNvPr id="73" name="Line 73"/>
          <p:cNvCxnSpPr/>
          <p:nvPr/>
        </p:nvCxnSpPr>
        <p:spPr>
          <a:xfrm>
            <a:off x="6948335" y="2589276"/>
            <a:ext cx="0" cy="2781300"/>
          </a:xfrm>
          <a:prstGeom prst="line">
            <a:avLst/>
          </a:prstGeom>
          <a:ln w="9525" cap="flat">
            <a:solidFill>
              <a:srgbClr val="E6E8F2"/>
            </a:solidFill>
          </a:ln>
        </p:spPr>
      </p:cxnSp>
      <p:cxnSp>
        <p:nvCxnSpPr>
          <p:cNvPr id="74" name="Line 74"/>
          <p:cNvCxnSpPr/>
          <p:nvPr/>
        </p:nvCxnSpPr>
        <p:spPr>
          <a:xfrm>
            <a:off x="7117404" y="2589276"/>
            <a:ext cx="0" cy="2781300"/>
          </a:xfrm>
          <a:prstGeom prst="line">
            <a:avLst/>
          </a:prstGeom>
          <a:ln w="9525" cap="flat">
            <a:solidFill>
              <a:srgbClr val="E6E8F2"/>
            </a:solidFill>
          </a:ln>
        </p:spPr>
      </p:cxnSp>
      <p:cxnSp>
        <p:nvCxnSpPr>
          <p:cNvPr id="75" name="Line 75"/>
          <p:cNvCxnSpPr/>
          <p:nvPr/>
        </p:nvCxnSpPr>
        <p:spPr>
          <a:xfrm>
            <a:off x="7286473" y="2589276"/>
            <a:ext cx="0" cy="2781300"/>
          </a:xfrm>
          <a:prstGeom prst="line">
            <a:avLst/>
          </a:prstGeom>
          <a:ln w="9525" cap="flat">
            <a:solidFill>
              <a:srgbClr val="E6E8F2"/>
            </a:solidFill>
          </a:ln>
        </p:spPr>
      </p:cxnSp>
      <p:cxnSp>
        <p:nvCxnSpPr>
          <p:cNvPr id="76" name="Line 76"/>
          <p:cNvCxnSpPr/>
          <p:nvPr/>
        </p:nvCxnSpPr>
        <p:spPr>
          <a:xfrm>
            <a:off x="7455541" y="2589276"/>
            <a:ext cx="0" cy="2781300"/>
          </a:xfrm>
          <a:prstGeom prst="line">
            <a:avLst/>
          </a:prstGeom>
          <a:ln w="9525" cap="flat">
            <a:solidFill>
              <a:srgbClr val="E6E8F2"/>
            </a:solidFill>
          </a:ln>
        </p:spPr>
      </p:cxnSp>
      <p:cxnSp>
        <p:nvCxnSpPr>
          <p:cNvPr id="77" name="Line 77"/>
          <p:cNvCxnSpPr/>
          <p:nvPr/>
        </p:nvCxnSpPr>
        <p:spPr>
          <a:xfrm>
            <a:off x="7624610" y="2589276"/>
            <a:ext cx="0" cy="2781300"/>
          </a:xfrm>
          <a:prstGeom prst="line">
            <a:avLst/>
          </a:prstGeom>
          <a:ln w="9525" cap="flat">
            <a:solidFill>
              <a:srgbClr val="E6E8F2"/>
            </a:solidFill>
          </a:ln>
        </p:spPr>
      </p:cxnSp>
      <p:cxnSp>
        <p:nvCxnSpPr>
          <p:cNvPr id="78" name="Line 78"/>
          <p:cNvCxnSpPr/>
          <p:nvPr/>
        </p:nvCxnSpPr>
        <p:spPr>
          <a:xfrm>
            <a:off x="7793679" y="2589276"/>
            <a:ext cx="0" cy="2781300"/>
          </a:xfrm>
          <a:prstGeom prst="line">
            <a:avLst/>
          </a:prstGeom>
          <a:ln w="9525" cap="flat">
            <a:solidFill>
              <a:srgbClr val="E6E8F2"/>
            </a:solidFill>
          </a:ln>
        </p:spPr>
      </p:cxnSp>
      <p:cxnSp>
        <p:nvCxnSpPr>
          <p:cNvPr id="79" name="Line 79"/>
          <p:cNvCxnSpPr/>
          <p:nvPr/>
        </p:nvCxnSpPr>
        <p:spPr>
          <a:xfrm>
            <a:off x="7962748" y="2589276"/>
            <a:ext cx="0" cy="2781300"/>
          </a:xfrm>
          <a:prstGeom prst="line">
            <a:avLst/>
          </a:prstGeom>
          <a:ln w="9525" cap="flat">
            <a:solidFill>
              <a:srgbClr val="E6E8F2"/>
            </a:solidFill>
          </a:ln>
        </p:spPr>
      </p:cxnSp>
      <p:cxnSp>
        <p:nvCxnSpPr>
          <p:cNvPr id="80" name="Line 80"/>
          <p:cNvCxnSpPr/>
          <p:nvPr/>
        </p:nvCxnSpPr>
        <p:spPr>
          <a:xfrm>
            <a:off x="8131816" y="2589276"/>
            <a:ext cx="0" cy="2781300"/>
          </a:xfrm>
          <a:prstGeom prst="line">
            <a:avLst/>
          </a:prstGeom>
          <a:ln w="9525" cap="flat">
            <a:solidFill>
              <a:srgbClr val="E6E8F2"/>
            </a:solidFill>
          </a:ln>
        </p:spPr>
      </p:cxnSp>
      <p:cxnSp>
        <p:nvCxnSpPr>
          <p:cNvPr id="81" name="Line 81"/>
          <p:cNvCxnSpPr/>
          <p:nvPr/>
        </p:nvCxnSpPr>
        <p:spPr>
          <a:xfrm>
            <a:off x="8300885" y="2589276"/>
            <a:ext cx="0" cy="2781300"/>
          </a:xfrm>
          <a:prstGeom prst="line">
            <a:avLst/>
          </a:prstGeom>
          <a:ln w="9525" cap="flat">
            <a:solidFill>
              <a:srgbClr val="E6E8F2"/>
            </a:solidFill>
          </a:ln>
        </p:spPr>
      </p:cxnSp>
      <p:cxnSp>
        <p:nvCxnSpPr>
          <p:cNvPr id="82" name="Line 82"/>
          <p:cNvCxnSpPr/>
          <p:nvPr/>
        </p:nvCxnSpPr>
        <p:spPr>
          <a:xfrm>
            <a:off x="8469954" y="2589276"/>
            <a:ext cx="0" cy="2781300"/>
          </a:xfrm>
          <a:prstGeom prst="line">
            <a:avLst/>
          </a:prstGeom>
          <a:ln w="9525" cap="flat">
            <a:solidFill>
              <a:srgbClr val="E6E8F2"/>
            </a:solidFill>
          </a:ln>
        </p:spPr>
      </p:cxnSp>
      <p:cxnSp>
        <p:nvCxnSpPr>
          <p:cNvPr id="83" name="Line 83"/>
          <p:cNvCxnSpPr/>
          <p:nvPr/>
        </p:nvCxnSpPr>
        <p:spPr>
          <a:xfrm>
            <a:off x="8639023" y="2589276"/>
            <a:ext cx="0" cy="2781300"/>
          </a:xfrm>
          <a:prstGeom prst="line">
            <a:avLst/>
          </a:prstGeom>
          <a:ln w="9525" cap="flat">
            <a:solidFill>
              <a:srgbClr val="E6E8F2"/>
            </a:solidFill>
          </a:ln>
        </p:spPr>
      </p:cxnSp>
      <p:cxnSp>
        <p:nvCxnSpPr>
          <p:cNvPr id="84" name="Line 84"/>
          <p:cNvCxnSpPr/>
          <p:nvPr/>
        </p:nvCxnSpPr>
        <p:spPr>
          <a:xfrm>
            <a:off x="8808091" y="2589276"/>
            <a:ext cx="0" cy="2781300"/>
          </a:xfrm>
          <a:prstGeom prst="line">
            <a:avLst/>
          </a:prstGeom>
          <a:ln w="9525" cap="flat">
            <a:solidFill>
              <a:srgbClr val="E6E8F2"/>
            </a:solidFill>
          </a:ln>
        </p:spPr>
      </p:cxnSp>
      <p:cxnSp>
        <p:nvCxnSpPr>
          <p:cNvPr id="85" name="Line 85"/>
          <p:cNvCxnSpPr/>
          <p:nvPr/>
        </p:nvCxnSpPr>
        <p:spPr>
          <a:xfrm>
            <a:off x="8977160" y="2589276"/>
            <a:ext cx="0" cy="2781300"/>
          </a:xfrm>
          <a:prstGeom prst="line">
            <a:avLst/>
          </a:prstGeom>
          <a:ln w="9525" cap="flat">
            <a:solidFill>
              <a:srgbClr val="E6E8F2"/>
            </a:solidFill>
          </a:ln>
        </p:spPr>
      </p:cxnSp>
      <p:cxnSp>
        <p:nvCxnSpPr>
          <p:cNvPr id="86" name="Line 86"/>
          <p:cNvCxnSpPr/>
          <p:nvPr/>
        </p:nvCxnSpPr>
        <p:spPr>
          <a:xfrm>
            <a:off x="9146229" y="2589276"/>
            <a:ext cx="0" cy="2781300"/>
          </a:xfrm>
          <a:prstGeom prst="line">
            <a:avLst/>
          </a:prstGeom>
          <a:ln w="9525" cap="flat">
            <a:solidFill>
              <a:srgbClr val="E6E8F2"/>
            </a:solidFill>
          </a:ln>
        </p:spPr>
      </p:cxnSp>
      <p:cxnSp>
        <p:nvCxnSpPr>
          <p:cNvPr id="87" name="Line 87"/>
          <p:cNvCxnSpPr/>
          <p:nvPr/>
        </p:nvCxnSpPr>
        <p:spPr>
          <a:xfrm>
            <a:off x="9315298" y="2589276"/>
            <a:ext cx="0" cy="2781300"/>
          </a:xfrm>
          <a:prstGeom prst="line">
            <a:avLst/>
          </a:prstGeom>
          <a:ln w="9525" cap="flat">
            <a:solidFill>
              <a:srgbClr val="E6E8F2"/>
            </a:solidFill>
          </a:ln>
        </p:spPr>
      </p:cxnSp>
      <p:cxnSp>
        <p:nvCxnSpPr>
          <p:cNvPr id="88" name="Line 88"/>
          <p:cNvCxnSpPr/>
          <p:nvPr/>
        </p:nvCxnSpPr>
        <p:spPr>
          <a:xfrm>
            <a:off x="6610198" y="5370576"/>
            <a:ext cx="2705100" cy="0"/>
          </a:xfrm>
          <a:prstGeom prst="line">
            <a:avLst/>
          </a:prstGeom>
          <a:ln w="9525" cap="flat">
            <a:solidFill>
              <a:srgbClr val="E6E8F2"/>
            </a:solidFill>
          </a:ln>
        </p:spPr>
      </p:cxnSp>
      <p:cxnSp>
        <p:nvCxnSpPr>
          <p:cNvPr id="89" name="Line 89"/>
          <p:cNvCxnSpPr/>
          <p:nvPr/>
        </p:nvCxnSpPr>
        <p:spPr>
          <a:xfrm>
            <a:off x="6610198" y="5216059"/>
            <a:ext cx="2705100" cy="0"/>
          </a:xfrm>
          <a:prstGeom prst="line">
            <a:avLst/>
          </a:prstGeom>
          <a:ln w="9525" cap="flat">
            <a:solidFill>
              <a:srgbClr val="E6E8F2"/>
            </a:solidFill>
          </a:ln>
        </p:spPr>
      </p:cxnSp>
      <p:cxnSp>
        <p:nvCxnSpPr>
          <p:cNvPr id="90" name="Line 90"/>
          <p:cNvCxnSpPr/>
          <p:nvPr/>
        </p:nvCxnSpPr>
        <p:spPr>
          <a:xfrm>
            <a:off x="6610198" y="5061543"/>
            <a:ext cx="2705100" cy="0"/>
          </a:xfrm>
          <a:prstGeom prst="line">
            <a:avLst/>
          </a:prstGeom>
          <a:ln w="9525" cap="flat">
            <a:solidFill>
              <a:srgbClr val="E6E8F2"/>
            </a:solidFill>
          </a:ln>
        </p:spPr>
      </p:cxnSp>
      <p:cxnSp>
        <p:nvCxnSpPr>
          <p:cNvPr id="91" name="Line 91"/>
          <p:cNvCxnSpPr/>
          <p:nvPr/>
        </p:nvCxnSpPr>
        <p:spPr>
          <a:xfrm>
            <a:off x="6610198" y="4907026"/>
            <a:ext cx="2705100" cy="0"/>
          </a:xfrm>
          <a:prstGeom prst="line">
            <a:avLst/>
          </a:prstGeom>
          <a:ln w="9525" cap="flat">
            <a:solidFill>
              <a:srgbClr val="E6E8F2"/>
            </a:solidFill>
          </a:ln>
        </p:spPr>
      </p:cxnSp>
      <p:cxnSp>
        <p:nvCxnSpPr>
          <p:cNvPr id="92" name="Line 92"/>
          <p:cNvCxnSpPr/>
          <p:nvPr/>
        </p:nvCxnSpPr>
        <p:spPr>
          <a:xfrm>
            <a:off x="6610198" y="4752509"/>
            <a:ext cx="2705100" cy="0"/>
          </a:xfrm>
          <a:prstGeom prst="line">
            <a:avLst/>
          </a:prstGeom>
          <a:ln w="9525" cap="flat">
            <a:solidFill>
              <a:srgbClr val="E6E8F2"/>
            </a:solidFill>
          </a:ln>
        </p:spPr>
      </p:cxnSp>
      <p:cxnSp>
        <p:nvCxnSpPr>
          <p:cNvPr id="93" name="Line 93"/>
          <p:cNvCxnSpPr/>
          <p:nvPr/>
        </p:nvCxnSpPr>
        <p:spPr>
          <a:xfrm>
            <a:off x="6610198" y="4597993"/>
            <a:ext cx="2705100" cy="0"/>
          </a:xfrm>
          <a:prstGeom prst="line">
            <a:avLst/>
          </a:prstGeom>
          <a:ln w="9525" cap="flat">
            <a:solidFill>
              <a:srgbClr val="E6E8F2"/>
            </a:solidFill>
          </a:ln>
        </p:spPr>
      </p:cxnSp>
      <p:cxnSp>
        <p:nvCxnSpPr>
          <p:cNvPr id="94" name="Line 94"/>
          <p:cNvCxnSpPr/>
          <p:nvPr/>
        </p:nvCxnSpPr>
        <p:spPr>
          <a:xfrm>
            <a:off x="6610198" y="4443476"/>
            <a:ext cx="2705100" cy="0"/>
          </a:xfrm>
          <a:prstGeom prst="line">
            <a:avLst/>
          </a:prstGeom>
          <a:ln w="9525" cap="flat">
            <a:solidFill>
              <a:srgbClr val="E6E8F2"/>
            </a:solidFill>
          </a:ln>
        </p:spPr>
      </p:cxnSp>
      <p:cxnSp>
        <p:nvCxnSpPr>
          <p:cNvPr id="95" name="Line 95"/>
          <p:cNvCxnSpPr/>
          <p:nvPr/>
        </p:nvCxnSpPr>
        <p:spPr>
          <a:xfrm>
            <a:off x="6610198" y="4288959"/>
            <a:ext cx="2705100" cy="0"/>
          </a:xfrm>
          <a:prstGeom prst="line">
            <a:avLst/>
          </a:prstGeom>
          <a:ln w="9525" cap="flat">
            <a:solidFill>
              <a:srgbClr val="E6E8F2"/>
            </a:solidFill>
          </a:ln>
        </p:spPr>
      </p:cxnSp>
      <p:cxnSp>
        <p:nvCxnSpPr>
          <p:cNvPr id="96" name="Line 96"/>
          <p:cNvCxnSpPr/>
          <p:nvPr/>
        </p:nvCxnSpPr>
        <p:spPr>
          <a:xfrm>
            <a:off x="6610198" y="4134443"/>
            <a:ext cx="2705100" cy="0"/>
          </a:xfrm>
          <a:prstGeom prst="line">
            <a:avLst/>
          </a:prstGeom>
          <a:ln w="9525" cap="flat">
            <a:solidFill>
              <a:srgbClr val="E6E8F2"/>
            </a:solidFill>
          </a:ln>
        </p:spPr>
      </p:cxnSp>
      <p:cxnSp>
        <p:nvCxnSpPr>
          <p:cNvPr id="97" name="Line 97"/>
          <p:cNvCxnSpPr/>
          <p:nvPr/>
        </p:nvCxnSpPr>
        <p:spPr>
          <a:xfrm>
            <a:off x="6610198" y="3979926"/>
            <a:ext cx="2705100" cy="0"/>
          </a:xfrm>
          <a:prstGeom prst="line">
            <a:avLst/>
          </a:prstGeom>
          <a:ln w="9525" cap="flat">
            <a:solidFill>
              <a:srgbClr val="E6E8F2"/>
            </a:solidFill>
          </a:ln>
        </p:spPr>
      </p:cxnSp>
      <p:cxnSp>
        <p:nvCxnSpPr>
          <p:cNvPr id="98" name="Line 98"/>
          <p:cNvCxnSpPr/>
          <p:nvPr/>
        </p:nvCxnSpPr>
        <p:spPr>
          <a:xfrm>
            <a:off x="6610198" y="3825409"/>
            <a:ext cx="2705100" cy="0"/>
          </a:xfrm>
          <a:prstGeom prst="line">
            <a:avLst/>
          </a:prstGeom>
          <a:ln w="9525" cap="flat">
            <a:solidFill>
              <a:srgbClr val="E6E8F2"/>
            </a:solidFill>
          </a:ln>
        </p:spPr>
      </p:cxnSp>
      <p:cxnSp>
        <p:nvCxnSpPr>
          <p:cNvPr id="99" name="Line 99"/>
          <p:cNvCxnSpPr/>
          <p:nvPr/>
        </p:nvCxnSpPr>
        <p:spPr>
          <a:xfrm>
            <a:off x="6610198" y="3670893"/>
            <a:ext cx="2705100" cy="0"/>
          </a:xfrm>
          <a:prstGeom prst="line">
            <a:avLst/>
          </a:prstGeom>
          <a:ln w="9525" cap="flat">
            <a:solidFill>
              <a:srgbClr val="E6E8F2"/>
            </a:solidFill>
          </a:ln>
        </p:spPr>
      </p:cxnSp>
      <p:cxnSp>
        <p:nvCxnSpPr>
          <p:cNvPr id="100" name="Line 100"/>
          <p:cNvCxnSpPr/>
          <p:nvPr/>
        </p:nvCxnSpPr>
        <p:spPr>
          <a:xfrm>
            <a:off x="6610198" y="3516376"/>
            <a:ext cx="2705100" cy="0"/>
          </a:xfrm>
          <a:prstGeom prst="line">
            <a:avLst/>
          </a:prstGeom>
          <a:ln w="9525" cap="flat">
            <a:solidFill>
              <a:srgbClr val="E6E8F2"/>
            </a:solidFill>
          </a:ln>
        </p:spPr>
      </p:cxnSp>
      <p:cxnSp>
        <p:nvCxnSpPr>
          <p:cNvPr id="101" name="Line 101"/>
          <p:cNvCxnSpPr/>
          <p:nvPr/>
        </p:nvCxnSpPr>
        <p:spPr>
          <a:xfrm>
            <a:off x="6610198" y="3361859"/>
            <a:ext cx="2705100" cy="0"/>
          </a:xfrm>
          <a:prstGeom prst="line">
            <a:avLst/>
          </a:prstGeom>
          <a:ln w="9525" cap="flat">
            <a:solidFill>
              <a:srgbClr val="E6E8F2"/>
            </a:solidFill>
          </a:ln>
        </p:spPr>
      </p:cxnSp>
      <p:cxnSp>
        <p:nvCxnSpPr>
          <p:cNvPr id="102" name="Line 102"/>
          <p:cNvCxnSpPr/>
          <p:nvPr/>
        </p:nvCxnSpPr>
        <p:spPr>
          <a:xfrm>
            <a:off x="6610198" y="3207343"/>
            <a:ext cx="2705100" cy="0"/>
          </a:xfrm>
          <a:prstGeom prst="line">
            <a:avLst/>
          </a:prstGeom>
          <a:ln w="9525" cap="flat">
            <a:solidFill>
              <a:srgbClr val="E6E8F2"/>
            </a:solidFill>
          </a:ln>
        </p:spPr>
      </p:cxnSp>
      <p:cxnSp>
        <p:nvCxnSpPr>
          <p:cNvPr id="103" name="Line 103"/>
          <p:cNvCxnSpPr/>
          <p:nvPr/>
        </p:nvCxnSpPr>
        <p:spPr>
          <a:xfrm>
            <a:off x="6610198" y="3052826"/>
            <a:ext cx="2705100" cy="0"/>
          </a:xfrm>
          <a:prstGeom prst="line">
            <a:avLst/>
          </a:prstGeom>
          <a:ln w="9525" cap="flat">
            <a:solidFill>
              <a:srgbClr val="E6E8F2"/>
            </a:solidFill>
          </a:ln>
        </p:spPr>
      </p:cxnSp>
      <p:cxnSp>
        <p:nvCxnSpPr>
          <p:cNvPr id="104" name="Line 104"/>
          <p:cNvCxnSpPr/>
          <p:nvPr/>
        </p:nvCxnSpPr>
        <p:spPr>
          <a:xfrm>
            <a:off x="6610198" y="2898309"/>
            <a:ext cx="2705100" cy="0"/>
          </a:xfrm>
          <a:prstGeom prst="line">
            <a:avLst/>
          </a:prstGeom>
          <a:ln w="9525" cap="flat">
            <a:solidFill>
              <a:srgbClr val="E6E8F2"/>
            </a:solidFill>
          </a:ln>
        </p:spPr>
      </p:cxnSp>
      <p:cxnSp>
        <p:nvCxnSpPr>
          <p:cNvPr id="105" name="Line 105"/>
          <p:cNvCxnSpPr/>
          <p:nvPr/>
        </p:nvCxnSpPr>
        <p:spPr>
          <a:xfrm>
            <a:off x="6610198" y="2743793"/>
            <a:ext cx="2705100" cy="0"/>
          </a:xfrm>
          <a:prstGeom prst="line">
            <a:avLst/>
          </a:prstGeom>
          <a:ln w="9525" cap="flat">
            <a:solidFill>
              <a:srgbClr val="E6E8F2"/>
            </a:solidFill>
          </a:ln>
        </p:spPr>
      </p:cxnSp>
      <p:cxnSp>
        <p:nvCxnSpPr>
          <p:cNvPr id="106" name="Line 106"/>
          <p:cNvCxnSpPr/>
          <p:nvPr/>
        </p:nvCxnSpPr>
        <p:spPr>
          <a:xfrm>
            <a:off x="6610198" y="2589276"/>
            <a:ext cx="2705100" cy="0"/>
          </a:xfrm>
          <a:prstGeom prst="line">
            <a:avLst/>
          </a:prstGeom>
          <a:ln w="9525" cap="flat">
            <a:solidFill>
              <a:srgbClr val="E6E8F2"/>
            </a:solidFill>
          </a:ln>
        </p:spPr>
      </p:cxnSp>
      <p:cxnSp>
        <p:nvCxnSpPr>
          <p:cNvPr id="107" name="Line 107"/>
          <p:cNvCxnSpPr/>
          <p:nvPr/>
        </p:nvCxnSpPr>
        <p:spPr>
          <a:xfrm>
            <a:off x="7962748" y="2589276"/>
            <a:ext cx="0" cy="2781300"/>
          </a:xfrm>
          <a:prstGeom prst="line">
            <a:avLst/>
          </a:prstGeom>
          <a:ln w="19050" cap="flat">
            <a:solidFill>
              <a:srgbClr val="5F6272"/>
            </a:solidFill>
          </a:ln>
        </p:spPr>
      </p:cxnSp>
      <p:cxnSp>
        <p:nvCxnSpPr>
          <p:cNvPr id="108" name="Line 108"/>
          <p:cNvCxnSpPr/>
          <p:nvPr/>
        </p:nvCxnSpPr>
        <p:spPr>
          <a:xfrm>
            <a:off x="6610198" y="4134443"/>
            <a:ext cx="2705100" cy="0"/>
          </a:xfrm>
          <a:prstGeom prst="line">
            <a:avLst/>
          </a:prstGeom>
          <a:ln w="19050" cap="flat">
            <a:solidFill>
              <a:srgbClr val="5F6272"/>
            </a:solidFill>
          </a:ln>
        </p:spPr>
      </p:cxnSp>
      <p:sp>
        <p:nvSpPr>
          <p:cNvPr id="109" name="Shape 109"/>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0" name="Shape 110"/>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1" name="Shape 111"/>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2" name="Shape 112"/>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4" name="Shape 114"/>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5" name="Shape 115"/>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6" name="Shape 116"/>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7" name="Shape 117"/>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9" name="Shape 119"/>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0" name="Shape 120"/>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1" name="Shape 121"/>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2" name="Shape 122"/>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3" name="Shape 123"/>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4" name="Shape 124"/>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5" name="Shape 125"/>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6" name="Shape 126"/>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7" name="Shape 127"/>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28" name="Shape 128"/>
          <p:cNvSpPr/>
          <p:nvPr/>
        </p:nvSpPr>
        <p:spPr>
          <a:xfrm>
            <a:off x="7910360" y="361850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txBox="1"/>
          <p:nvPr/>
        </p:nvSpPr>
        <p:spPr>
          <a:xfrm>
            <a:off x="8048473" y="342324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(0, 3)</a:t>
            </a:r>
            <a:endParaRPr lang="en-US" sz="1125" dirty="0"/>
          </a:p>
        </p:txBody>
      </p:sp>
      <p:sp>
        <p:nvSpPr>
          <p:cNvPr id="130" name="Shape 130"/>
          <p:cNvSpPr/>
          <p:nvPr/>
        </p:nvSpPr>
        <p:spPr>
          <a:xfrm>
            <a:off x="8248498" y="439108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1" name="Shape 131"/>
          <p:cNvSpPr txBox="1"/>
          <p:nvPr/>
        </p:nvSpPr>
        <p:spPr>
          <a:xfrm>
            <a:off x="8386610" y="419582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132" name="Shape 132"/>
          <p:cNvSpPr/>
          <p:nvPr/>
        </p:nvSpPr>
        <p:spPr>
          <a:xfrm>
            <a:off x="7572223" y="28459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3" name="Shape 133"/>
          <p:cNvSpPr txBox="1"/>
          <p:nvPr/>
        </p:nvSpPr>
        <p:spPr>
          <a:xfrm>
            <a:off x="7710335" y="265065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8)</a:t>
            </a:r>
            <a:endParaRPr lang="en-US" sz="1125" dirty="0"/>
          </a:p>
        </p:txBody>
      </p:sp>
      <p:cxnSp>
        <p:nvCxnSpPr>
          <p:cNvPr id="134" name="Line 134"/>
          <p:cNvCxnSpPr/>
          <p:nvPr/>
        </p:nvCxnSpPr>
        <p:spPr>
          <a:xfrm>
            <a:off x="7489355" y="2589276"/>
            <a:ext cx="1217295" cy="278130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anim calcmode="lin" valueType="num">
                                      <p:cBhvr>
                                        <p:cTn id="22" dur="500" fill="hold"/>
                                        <p:tgtEl>
                                          <p:spTgt spid="64"/>
                                        </p:tgtEl>
                                        <p:attrNameLst>
                                          <p:attrName>ppt_w</p:attrName>
                                        </p:attrNameLst>
                                      </p:cBhvr>
                                      <p:tavLst>
                                        <p:tav tm="0">
                                          <p:val>
                                            <p:fltVal val="0"/>
                                          </p:val>
                                        </p:tav>
                                        <p:tav tm="100000">
                                          <p:val>
                                            <p:strVal val="#ppt_w"/>
                                          </p:val>
                                        </p:tav>
                                      </p:tavLst>
                                    </p:anim>
                                    <p:anim calcmode="lin" valueType="num">
                                      <p:cBhvr>
                                        <p:cTn id="23"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anim calcmode="lin" valueType="num">
                                      <p:cBhvr>
                                        <p:cTn id="29" dur="500" fill="hold"/>
                                        <p:tgtEl>
                                          <p:spTgt spid="65"/>
                                        </p:tgtEl>
                                        <p:attrNameLst>
                                          <p:attrName>ppt_w</p:attrName>
                                        </p:attrNameLst>
                                      </p:cBhvr>
                                      <p:tavLst>
                                        <p:tav tm="0">
                                          <p:val>
                                            <p:fltVal val="0"/>
                                          </p:val>
                                        </p:tav>
                                        <p:tav tm="100000">
                                          <p:val>
                                            <p:strVal val="#ppt_w"/>
                                          </p:val>
                                        </p:tav>
                                      </p:tavLst>
                                    </p:anim>
                                    <p:anim calcmode="lin" valueType="num">
                                      <p:cBhvr>
                                        <p:cTn id="30" dur="500" fill="hold"/>
                                        <p:tgtEl>
                                          <p:spTgt spid="65"/>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fade">
                                      <p:cBhvr>
                                        <p:cTn id="33" dur="500"/>
                                        <p:tgtEl>
                                          <p:spTgt spid="66"/>
                                        </p:tgtEl>
                                      </p:cBhvr>
                                    </p:animEffect>
                                    <p:anim calcmode="lin" valueType="num">
                                      <p:cBhvr>
                                        <p:cTn id="34" dur="500" fill="hold"/>
                                        <p:tgtEl>
                                          <p:spTgt spid="66"/>
                                        </p:tgtEl>
                                        <p:attrNameLst>
                                          <p:attrName>ppt_w</p:attrName>
                                        </p:attrNameLst>
                                      </p:cBhvr>
                                      <p:tavLst>
                                        <p:tav tm="0">
                                          <p:val>
                                            <p:fltVal val="0"/>
                                          </p:val>
                                        </p:tav>
                                        <p:tav tm="100000">
                                          <p:val>
                                            <p:strVal val="#ppt_w"/>
                                          </p:val>
                                        </p:tav>
                                      </p:tavLst>
                                    </p:anim>
                                    <p:anim calcmode="lin" valueType="num">
                                      <p:cBhvr>
                                        <p:cTn id="35" dur="5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700"/>
                                        <p:tgtEl>
                                          <p:spTgt spid="67"/>
                                        </p:tgtEl>
                                      </p:cBhvr>
                                    </p:animEffect>
                                  </p:childTnLst>
                                </p:cTn>
                              </p:par>
                            </p:childTnLst>
                          </p:cTn>
                        </p:par>
                      </p:childTnLst>
                    </p:cTn>
                  </p:par>
                  <p:par>
                    <p:cTn id="54" fill="hold">
                      <p:stCondLst>
                        <p:cond delay="indefinite"/>
                      </p:stCondLst>
                      <p:childTnLst>
                        <p:par>
                          <p:cTn id="55" fill="hold">
                            <p:stCondLst>
                              <p:cond delay="0"/>
                            </p:stCondLst>
                            <p:childTnLst>
                              <p:par>
                                <p:cTn id="48" presetID="53" presetClass="entr" presetSubtype="16" fill="hold" nodeType="clickEffect">
                                  <p:stCondLst>
                                    <p:cond delay="0"/>
                                  </p:stCondLst>
                                  <p:childTnLst>
                                    <p:set>
                                      <p:cBhvr>
                                        <p:cTn id="44" dur="1" fill="hold">
                                          <p:stCondLst>
                                            <p:cond delay="0"/>
                                          </p:stCondLst>
                                        </p:cTn>
                                        <p:tgtEl>
                                          <p:spTgt spid="128"/>
                                        </p:tgtEl>
                                        <p:attrNameLst>
                                          <p:attrName>style.visibility</p:attrName>
                                        </p:attrNameLst>
                                      </p:cBhvr>
                                      <p:to>
                                        <p:strVal val="visible"/>
                                      </p:to>
                                    </p:set>
                                    <p:animEffect transition="in" filter="fade">
                                      <p:cBhvr>
                                        <p:cTn id="45" dur="500"/>
                                        <p:tgtEl>
                                          <p:spTgt spid="128"/>
                                        </p:tgtEl>
                                      </p:cBhvr>
                                    </p:animEffect>
                                    <p:anim calcmode="lin" valueType="num">
                                      <p:cBhvr>
                                        <p:cTn id="46" dur="500" fill="hold"/>
                                        <p:tgtEl>
                                          <p:spTgt spid="128"/>
                                        </p:tgtEl>
                                        <p:attrNameLst>
                                          <p:attrName>ppt_w</p:attrName>
                                        </p:attrNameLst>
                                      </p:cBhvr>
                                      <p:tavLst>
                                        <p:tav tm="0">
                                          <p:val>
                                            <p:fltVal val="0"/>
                                          </p:val>
                                        </p:tav>
                                        <p:tav tm="100000">
                                          <p:val>
                                            <p:strVal val="#ppt_w"/>
                                          </p:val>
                                        </p:tav>
                                      </p:tavLst>
                                    </p:anim>
                                    <p:anim calcmode="lin" valueType="num">
                                      <p:cBhvr>
                                        <p:cTn id="47" dur="500" fill="hold"/>
                                        <p:tgtEl>
                                          <p:spTgt spid="128"/>
                                        </p:tgtEl>
                                        <p:attrNameLst>
                                          <p:attrName>ppt_h</p:attrName>
                                        </p:attrNameLst>
                                      </p:cBhvr>
                                      <p:tavLst>
                                        <p:tav tm="0">
                                          <p:val>
                                            <p:fltVal val="0"/>
                                          </p:val>
                                        </p:tav>
                                        <p:tav tm="100000">
                                          <p:val>
                                            <p:strVal val="#ppt_h"/>
                                          </p:val>
                                        </p:tav>
                                      </p:tavLst>
                                    </p:anim>
                                  </p:childTnLst>
                                </p:cTn>
                              </p:par>
                              <p:par>
                                <p:cTn id="53" presetID="53" presetClass="entr" presetSubtype="16" fill="hold" nodeType="withEffect">
                                  <p:stCondLst>
                                    <p:cond delay="0"/>
                                  </p:stCondLst>
                                  <p:childTnLst>
                                    <p:set>
                                      <p:cBhvr>
                                        <p:cTn id="49" dur="1" fill="hold">
                                          <p:stCondLst>
                                            <p:cond delay="0"/>
                                          </p:stCondLst>
                                        </p:cTn>
                                        <p:tgtEl>
                                          <p:spTgt spid="129"/>
                                        </p:tgtEl>
                                        <p:attrNameLst>
                                          <p:attrName>style.visibility</p:attrName>
                                        </p:attrNameLst>
                                      </p:cBhvr>
                                      <p:to>
                                        <p:strVal val="visible"/>
                                      </p:to>
                                    </p:set>
                                    <p:animEffect transition="in" filter="fade">
                                      <p:cBhvr>
                                        <p:cTn id="50" dur="500"/>
                                        <p:tgtEl>
                                          <p:spTgt spid="129"/>
                                        </p:tgtEl>
                                      </p:cBhvr>
                                    </p:animEffect>
                                    <p:anim calcmode="lin" valueType="num">
                                      <p:cBhvr>
                                        <p:cTn id="51" dur="500" fill="hold"/>
                                        <p:tgtEl>
                                          <p:spTgt spid="129"/>
                                        </p:tgtEl>
                                        <p:attrNameLst>
                                          <p:attrName>ppt_w</p:attrName>
                                        </p:attrNameLst>
                                      </p:cBhvr>
                                      <p:tavLst>
                                        <p:tav tm="0">
                                          <p:val>
                                            <p:fltVal val="0"/>
                                          </p:val>
                                        </p:tav>
                                        <p:tav tm="100000">
                                          <p:val>
                                            <p:strVal val="#ppt_w"/>
                                          </p:val>
                                        </p:tav>
                                      </p:tavLst>
                                    </p:anim>
                                    <p:anim calcmode="lin" valueType="num">
                                      <p:cBhvr>
                                        <p:cTn id="52"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0" presetID="53" presetClass="entr" presetSubtype="16" fill="hold" nodeType="clickEffect">
                                  <p:stCondLst>
                                    <p:cond delay="0"/>
                                  </p:stCondLst>
                                  <p:childTnLst>
                                    <p:set>
                                      <p:cBhvr>
                                        <p:cTn id="56" dur="1" fill="hold">
                                          <p:stCondLst>
                                            <p:cond delay="0"/>
                                          </p:stCondLst>
                                        </p:cTn>
                                        <p:tgtEl>
                                          <p:spTgt spid="130"/>
                                        </p:tgtEl>
                                        <p:attrNameLst>
                                          <p:attrName>style.visibility</p:attrName>
                                        </p:attrNameLst>
                                      </p:cBhvr>
                                      <p:to>
                                        <p:strVal val="visible"/>
                                      </p:to>
                                    </p:set>
                                    <p:animEffect transition="in" filter="fade">
                                      <p:cBhvr>
                                        <p:cTn id="57" dur="500"/>
                                        <p:tgtEl>
                                          <p:spTgt spid="130"/>
                                        </p:tgtEl>
                                      </p:cBhvr>
                                    </p:animEffect>
                                    <p:anim calcmode="lin" valueType="num">
                                      <p:cBhvr>
                                        <p:cTn id="58" dur="500" fill="hold"/>
                                        <p:tgtEl>
                                          <p:spTgt spid="130"/>
                                        </p:tgtEl>
                                        <p:attrNameLst>
                                          <p:attrName>ppt_w</p:attrName>
                                        </p:attrNameLst>
                                      </p:cBhvr>
                                      <p:tavLst>
                                        <p:tav tm="0">
                                          <p:val>
                                            <p:fltVal val="0"/>
                                          </p:val>
                                        </p:tav>
                                        <p:tav tm="100000">
                                          <p:val>
                                            <p:strVal val="#ppt_w"/>
                                          </p:val>
                                        </p:tav>
                                      </p:tavLst>
                                    </p:anim>
                                    <p:anim calcmode="lin" valueType="num">
                                      <p:cBhvr>
                                        <p:cTn id="59" dur="500" fill="hold"/>
                                        <p:tgtEl>
                                          <p:spTgt spid="130"/>
                                        </p:tgtEl>
                                        <p:attrNameLst>
                                          <p:attrName>ppt_h</p:attrName>
                                        </p:attrNameLst>
                                      </p:cBhvr>
                                      <p:tavLst>
                                        <p:tav tm="0">
                                          <p:val>
                                            <p:fltVal val="0"/>
                                          </p:val>
                                        </p:tav>
                                        <p:tav tm="100000">
                                          <p:val>
                                            <p:strVal val="#ppt_h"/>
                                          </p:val>
                                        </p:tav>
                                      </p:tavLst>
                                    </p:anim>
                                  </p:childTnLst>
                                </p:cTn>
                              </p:par>
                              <p:par>
                                <p:cTn id="65" presetID="53" presetClass="entr" presetSubtype="16" fill="hold" nodeType="withEffect">
                                  <p:stCondLst>
                                    <p:cond delay="0"/>
                                  </p:stCondLst>
                                  <p:childTnLst>
                                    <p:set>
                                      <p:cBhvr>
                                        <p:cTn id="61" dur="1" fill="hold">
                                          <p:stCondLst>
                                            <p:cond delay="0"/>
                                          </p:stCondLst>
                                        </p:cTn>
                                        <p:tgtEl>
                                          <p:spTgt spid="131"/>
                                        </p:tgtEl>
                                        <p:attrNameLst>
                                          <p:attrName>style.visibility</p:attrName>
                                        </p:attrNameLst>
                                      </p:cBhvr>
                                      <p:to>
                                        <p:strVal val="visible"/>
                                      </p:to>
                                    </p:set>
                                    <p:animEffect transition="in" filter="fade">
                                      <p:cBhvr>
                                        <p:cTn id="62" dur="500"/>
                                        <p:tgtEl>
                                          <p:spTgt spid="131"/>
                                        </p:tgtEl>
                                      </p:cBhvr>
                                    </p:animEffect>
                                    <p:anim calcmode="lin" valueType="num">
                                      <p:cBhvr>
                                        <p:cTn id="63" dur="500" fill="hold"/>
                                        <p:tgtEl>
                                          <p:spTgt spid="131"/>
                                        </p:tgtEl>
                                        <p:attrNameLst>
                                          <p:attrName>ppt_w</p:attrName>
                                        </p:attrNameLst>
                                      </p:cBhvr>
                                      <p:tavLst>
                                        <p:tav tm="0">
                                          <p:val>
                                            <p:fltVal val="0"/>
                                          </p:val>
                                        </p:tav>
                                        <p:tav tm="100000">
                                          <p:val>
                                            <p:strVal val="#ppt_w"/>
                                          </p:val>
                                        </p:tav>
                                      </p:tavLst>
                                    </p:anim>
                                    <p:anim calcmode="lin" valueType="num">
                                      <p:cBhvr>
                                        <p:cTn id="64" dur="500" fill="hold"/>
                                        <p:tgtEl>
                                          <p:spTgt spid="131"/>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72" presetID="53" presetClass="entr" presetSubtype="16" fill="hold" nodeType="clickEffect">
                                  <p:stCondLst>
                                    <p:cond delay="0"/>
                                  </p:stCondLst>
                                  <p:childTnLst>
                                    <p:set>
                                      <p:cBhvr>
                                        <p:cTn id="68" dur="1" fill="hold">
                                          <p:stCondLst>
                                            <p:cond delay="0"/>
                                          </p:stCondLst>
                                        </p:cTn>
                                        <p:tgtEl>
                                          <p:spTgt spid="132"/>
                                        </p:tgtEl>
                                        <p:attrNameLst>
                                          <p:attrName>style.visibility</p:attrName>
                                        </p:attrNameLst>
                                      </p:cBhvr>
                                      <p:to>
                                        <p:strVal val="visible"/>
                                      </p:to>
                                    </p:set>
                                    <p:animEffect transition="in" filter="fade">
                                      <p:cBhvr>
                                        <p:cTn id="69" dur="500"/>
                                        <p:tgtEl>
                                          <p:spTgt spid="132"/>
                                        </p:tgtEl>
                                      </p:cBhvr>
                                    </p:animEffect>
                                    <p:anim calcmode="lin" valueType="num">
                                      <p:cBhvr>
                                        <p:cTn id="70" dur="500" fill="hold"/>
                                        <p:tgtEl>
                                          <p:spTgt spid="132"/>
                                        </p:tgtEl>
                                        <p:attrNameLst>
                                          <p:attrName>ppt_w</p:attrName>
                                        </p:attrNameLst>
                                      </p:cBhvr>
                                      <p:tavLst>
                                        <p:tav tm="0">
                                          <p:val>
                                            <p:fltVal val="0"/>
                                          </p:val>
                                        </p:tav>
                                        <p:tav tm="100000">
                                          <p:val>
                                            <p:strVal val="#ppt_w"/>
                                          </p:val>
                                        </p:tav>
                                      </p:tavLst>
                                    </p:anim>
                                    <p:anim calcmode="lin" valueType="num">
                                      <p:cBhvr>
                                        <p:cTn id="71" dur="500" fill="hold"/>
                                        <p:tgtEl>
                                          <p:spTgt spid="132"/>
                                        </p:tgtEl>
                                        <p:attrNameLst>
                                          <p:attrName>ppt_h</p:attrName>
                                        </p:attrNameLst>
                                      </p:cBhvr>
                                      <p:tavLst>
                                        <p:tav tm="0">
                                          <p:val>
                                            <p:fltVal val="0"/>
                                          </p:val>
                                        </p:tav>
                                        <p:tav tm="100000">
                                          <p:val>
                                            <p:strVal val="#ppt_h"/>
                                          </p:val>
                                        </p:tav>
                                      </p:tavLst>
                                    </p:anim>
                                  </p:childTnLst>
                                </p:cTn>
                              </p:par>
                              <p:par>
                                <p:cTn id="77" presetID="53" presetClass="entr" presetSubtype="16" fill="hold" nodeType="withEffect">
                                  <p:stCondLst>
                                    <p:cond delay="0"/>
                                  </p:stCondLst>
                                  <p:childTnLst>
                                    <p:set>
                                      <p:cBhvr>
                                        <p:cTn id="73" dur="1" fill="hold">
                                          <p:stCondLst>
                                            <p:cond delay="0"/>
                                          </p:stCondLst>
                                        </p:cTn>
                                        <p:tgtEl>
                                          <p:spTgt spid="133"/>
                                        </p:tgtEl>
                                        <p:attrNameLst>
                                          <p:attrName>style.visibility</p:attrName>
                                        </p:attrNameLst>
                                      </p:cBhvr>
                                      <p:to>
                                        <p:strVal val="visible"/>
                                      </p:to>
                                    </p:set>
                                    <p:animEffect transition="in" filter="fade">
                                      <p:cBhvr>
                                        <p:cTn id="74" dur="500"/>
                                        <p:tgtEl>
                                          <p:spTgt spid="133"/>
                                        </p:tgtEl>
                                      </p:cBhvr>
                                    </p:animEffect>
                                    <p:anim calcmode="lin" valueType="num">
                                      <p:cBhvr>
                                        <p:cTn id="75" dur="500" fill="hold"/>
                                        <p:tgtEl>
                                          <p:spTgt spid="133"/>
                                        </p:tgtEl>
                                        <p:attrNameLst>
                                          <p:attrName>ppt_w</p:attrName>
                                        </p:attrNameLst>
                                      </p:cBhvr>
                                      <p:tavLst>
                                        <p:tav tm="0">
                                          <p:val>
                                            <p:fltVal val="0"/>
                                          </p:val>
                                        </p:tav>
                                        <p:tav tm="100000">
                                          <p:val>
                                            <p:strVal val="#ppt_w"/>
                                          </p:val>
                                        </p:tav>
                                      </p:tavLst>
                                    </p:anim>
                                    <p:anim calcmode="lin" valueType="num">
                                      <p:cBhvr>
                                        <p:cTn id="76" dur="500" fill="hold"/>
                                        <p:tgtEl>
                                          <p:spTgt spid="133"/>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2" presetID="22" presetClass="entr" presetSubtype="8" fill="hold" nodeType="clickEffect">
                                  <p:stCondLst>
                                    <p:cond delay="0"/>
                                  </p:stCondLst>
                                  <p:childTnLst>
                                    <p:set>
                                      <p:cBhvr>
                                        <p:cTn id="80" dur="1" fill="hold">
                                          <p:stCondLst>
                                            <p:cond delay="0"/>
                                          </p:stCondLst>
                                        </p:cTn>
                                        <p:tgtEl>
                                          <p:spTgt spid="134"/>
                                        </p:tgtEl>
                                        <p:attrNameLst>
                                          <p:attrName>style.visibility</p:attrName>
                                        </p:attrNameLst>
                                      </p:cBhvr>
                                      <p:to>
                                        <p:strVal val="visible"/>
                                      </p:to>
                                    </p:set>
                                    <p:animEffect transition="in" filter="wipe(left)">
                                      <p:cBhvr>
                                        <p:cTn id="81" dur="7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Graphing from slope-intercept form</a:t>
            </a:r>
            <a:endParaRPr lang="en-US" sz="3450" dirty="0"/>
          </a:p>
        </p:txBody>
      </p:sp>
      <p:sp>
        <p:nvSpPr>
          <p:cNvPr id="4" name="Shape 4"/>
          <p:cNvSpPr txBox="1"/>
          <p:nvPr/>
        </p:nvSpPr>
        <p:spPr>
          <a:xfrm>
            <a:off x="685800" y="17137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a:t>
            </a:r>
            <a:r>
              <a:rPr lang="en-US" sz="1950" dirty="0" b="1" i="1">
                <a:solidFill>
                  <a:srgbClr val="3050B8"/>
                </a:solidFill>
                <a:latin typeface="Cambria"/>
                <a:cs typeface="Cambria"/>
              </a:rPr>
              <a:t xml:space="preserve">b</a:t>
            </a:r>
            <a:r>
              <a:rPr lang="en-US" sz="1950" dirty="0" b="1">
                <a:solidFill>
                  <a:srgbClr val="3050B8"/>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27533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slope </a:t>
            </a:r>
            <a:r>
              <a:rPr lang="en-US" sz="1950" dirty="0" b="1" i="1">
                <a:solidFill>
                  <a:srgbClr val="C9561F"/>
                </a:solidFill>
                <a:latin typeface="Cambria"/>
                <a:cs typeface="Cambria"/>
              </a:rPr>
              <a:t xml:space="preserve">m</a:t>
            </a:r>
            <a:r>
              <a:rPr lang="en-US" sz="1950" dirty="0">
                <a:solidFill>
                  <a:srgbClr val="16171D"/>
                </a:solidFill>
                <a:latin typeface="Segoe UI"/>
                <a:cs typeface="Segoe UI"/>
              </a:rPr>
              <a:t xml:space="preserve"> as a ratio, </a:t>
            </a:r>
            <a:r>
              <a:rPr lang="en-US" sz="1950" dirty="0">
                <a:solidFill>
                  <a:srgbClr val="16171D"/>
                </a:solidFill>
                <a:latin typeface="Cambria"/>
                <a:cs typeface="Cambria"/>
              </a:rPr>
              <a:t xml:space="preserve">rise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run</a:t>
            </a:r>
            <a:r>
              <a:rPr lang="en-US" sz="1950" dirty="0">
                <a:solidFill>
                  <a:srgbClr val="16171D"/>
                </a:solidFill>
                <a:latin typeface="Segoe UI"/>
                <a:cs typeface="Segoe UI"/>
              </a:rPr>
              <a:t xml:space="preserve">. Count from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to plot another point.</a:t>
            </a:r>
            <a:endParaRPr lang="en-US" sz="1950" dirty="0"/>
          </a:p>
        </p:txBody>
      </p:sp>
      <p:sp>
        <p:nvSpPr>
          <p:cNvPr id="6" name="Shape 6"/>
          <p:cNvSpPr txBox="1"/>
          <p:nvPr/>
        </p:nvSpPr>
        <p:spPr>
          <a:xfrm>
            <a:off x="685800" y="31341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Use the equivalent ratio (both signs flipped) to plot a point on the other side.</a:t>
            </a:r>
            <a:endParaRPr lang="en-US" sz="1950" dirty="0"/>
          </a:p>
        </p:txBody>
      </p:sp>
      <p:sp>
        <p:nvSpPr>
          <p:cNvPr id="7" name="Shape 7"/>
          <p:cNvSpPr txBox="1"/>
          <p:nvPr/>
        </p:nvSpPr>
        <p:spPr>
          <a:xfrm>
            <a:off x="685800" y="369570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Connect at least three points with a straightedge. Check the direction: positive slope rises left to right, negative slope falls.</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Getting Started: move the points on the floor</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1.1: translate up and down</a:t>
            </a:r>
            <a:endParaRPr lang="en-US" sz="1950" dirty="0"/>
          </a:p>
        </p:txBody>
      </p:sp>
      <p:sp>
        <p:nvSpPr>
          <p:cNvPr id="7" name="Shape 7"/>
          <p:cNvSpPr txBox="1"/>
          <p:nvPr/>
        </p:nvSpPr>
        <p:spPr>
          <a:xfrm>
            <a:off x="685800" y="3188970"/>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1 · SE p. 269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565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Determine the effects on the graph of a linear function when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is replaced by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d</a:t>
            </a:r>
            <a:r>
              <a:rPr lang="en-US" sz="1950" dirty="0">
                <a:solidFill>
                  <a:srgbClr val="16171D"/>
                </a:solidFill>
                <a:latin typeface="Segoe UI"/>
                <a:cs typeface="Segoe UI"/>
              </a:rPr>
              <a:t xml:space="preserve"> or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40106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Graph transformations of the parent function and describe them.</a:t>
            </a:r>
            <a:endParaRPr lang="en-US" sz="1950" dirty="0"/>
          </a:p>
        </p:txBody>
      </p:sp>
      <p:sp>
        <p:nvSpPr>
          <p:cNvPr id="6" name="Shape 6"/>
          <p:cNvSpPr txBox="1"/>
          <p:nvPr/>
        </p:nvSpPr>
        <p:spPr>
          <a:xfrm>
            <a:off x="685800" y="284835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Prove that a line and its vertical translation are parallel.</a:t>
            </a:r>
            <a:endParaRPr lang="en-US" sz="1950" dirty="0"/>
          </a:p>
        </p:txBody>
      </p:sp>
      <p:sp>
        <p:nvSpPr>
          <p:cNvPr id="7" name="Shape 7"/>
          <p:cNvSpPr txBox="1"/>
          <p:nvPr/>
        </p:nvSpPr>
        <p:spPr>
          <a:xfrm>
            <a:off x="685800" y="32956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Write the equation of a line parallel to a given line through a given point.</a:t>
            </a:r>
            <a:endParaRPr lang="en-US" sz="1950" dirty="0"/>
          </a:p>
        </p:txBody>
      </p:sp>
      <p:sp>
        <p:nvSpPr>
          <p:cNvPr id="8" name="Shape 8"/>
          <p:cNvSpPr txBox="1"/>
          <p:nvPr/>
        </p:nvSpPr>
        <p:spPr>
          <a:xfrm>
            <a:off x="685800" y="3819144"/>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Key term: </a:t>
            </a:r>
            <a:r>
              <a:rPr lang="en-US" sz="1575" dirty="0" b="1">
                <a:solidFill>
                  <a:srgbClr val="5F6272"/>
                </a:solidFill>
                <a:latin typeface="Segoe UI"/>
                <a:cs typeface="Segoe UI"/>
              </a:rPr>
              <a:t xml:space="preserve">parent function</a:t>
            </a:r>
            <a:r>
              <a:rPr lang="en-US" sz="1575" dirty="0">
                <a:solidFill>
                  <a:srgbClr val="5F6272"/>
                </a:solidFill>
                <a:latin typeface="Segoe UI"/>
                <a:cs typeface="Segoe UI"/>
              </a:rPr>
              <a:t xml:space="preserve">, the simplest function of its type. </a:t>
            </a:r>
            <a:r>
              <a:rPr lang="en-US" sz="1575" dirty="0" i="1">
                <a:solidFill>
                  <a:srgbClr val="5F6272"/>
                </a:solidFill>
                <a:latin typeface="Cambria"/>
                <a:cs typeface="Cambria"/>
              </a:rPr>
              <a:t xml:space="preserve">f</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x</a:t>
            </a:r>
            <a:r>
              <a:rPr lang="en-US" sz="1575" dirty="0">
                <a:solidFill>
                  <a:srgbClr val="5F6272"/>
                </a:solidFill>
                <a:latin typeface="Cambria"/>
                <a:cs typeface="Cambria"/>
              </a:rPr>
              <a:t xml:space="preserve">) = </a:t>
            </a:r>
            <a:r>
              <a:rPr lang="en-US" sz="1575" dirty="0" i="1">
                <a:solidFill>
                  <a:srgbClr val="5F6272"/>
                </a:solidFill>
                <a:latin typeface="Cambria"/>
                <a:cs typeface="Cambria"/>
              </a:rPr>
              <a:t xml:space="preserve">x</a:t>
            </a:r>
            <a:r>
              <a:rPr lang="en-US" sz="1575" dirty="0">
                <a:solidFill>
                  <a:srgbClr val="5F6272"/>
                </a:solidFill>
                <a:latin typeface="Segoe UI"/>
                <a:cs typeface="Segoe UI"/>
              </a:rPr>
              <a:t xml:space="preserve"> is the parent of the linear function family.</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anim calcmode="lin" valueType="num">
                                      <p:cBhvr>
                                        <p:cTn id="33" dur="500" fill="hold"/>
                                        <p:tgtEl>
                                          <p:spTgt spid="8"/>
                                        </p:tgtEl>
                                        <p:attrNameLst>
                                          <p:attrName>ppt_x</p:attrName>
                                        </p:attrNameLst>
                                      </p:cBhvr>
                                      <p:tavLst>
                                        <p:tav tm="0">
                                          <p:val>
                                            <p:strVal val="#ppt_x"/>
                                          </p:val>
                                        </p:tav>
                                        <p:tav tm="100000">
                                          <p:val>
                                            <p:strVal val="#ppt_x"/>
                                          </p:val>
                                        </p:tav>
                                      </p:tavLst>
                                    </p:anim>
                                    <p:anim calcmode="lin" valueType="num">
                                      <p:cBhvr>
                                        <p:cTn id="3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1 · Key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Key vocabulary</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Parent function</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simplest function of its type.</a:t>
            </a:r>
            <a:endParaRPr lang="en-US" sz="1575" dirty="0"/>
          </a:p>
        </p:txBody>
      </p:sp>
      <p:sp>
        <p:nvSpPr>
          <p:cNvPr id="6" name="Shape 6"/>
          <p:cNvSpPr txBox="1"/>
          <p:nvPr/>
        </p:nvSpPr>
        <p:spPr>
          <a:xfrm>
            <a:off x="895350"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endParaRPr lang="en-US" sz="2325" dirty="0"/>
          </a:p>
        </p:txBody>
      </p:sp>
      <p:sp>
        <p:nvSpPr>
          <p:cNvPr id="10" name="Shape 10"/>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Transformation</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change to a graph: move it, stretch it, or flip it.</a:t>
            </a:r>
            <a:endParaRPr lang="en-US" sz="1575" dirty="0"/>
          </a:p>
        </p:txBody>
      </p:sp>
      <p:sp>
        <p:nvSpPr>
          <p:cNvPr id="14" name="Shape 14"/>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Vertical translation</a:t>
            </a:r>
            <a:endParaRPr lang="en-US" sz="2100" dirty="0"/>
          </a:p>
        </p:txBody>
      </p:sp>
      <p:sp>
        <p:nvSpPr>
          <p:cNvPr id="12" name="Shape 12"/>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Moves the graph up or down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 units. Same slope.</a:t>
            </a:r>
            <a:endParaRPr lang="en-US" sz="1575" dirty="0"/>
          </a:p>
        </p:txBody>
      </p:sp>
      <p:sp>
        <p:nvSpPr>
          <p:cNvPr id="13" name="Shape 13"/>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+ 5</a:t>
            </a:r>
            <a:endParaRPr lang="en-US" sz="2325" dirty="0"/>
          </a:p>
        </p:txBody>
      </p:sp>
      <p:sp>
        <p:nvSpPr>
          <p:cNvPr id="18" name="Shape 18"/>
          <p:cNvSpPr txBox="1"/>
          <p:nvPr/>
        </p:nvSpPr>
        <p:spPr>
          <a:xfrm>
            <a:off x="685800" y="3642360"/>
            <a:ext cx="3492398" cy="22067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5" name="Shape 15"/>
          <p:cNvSpPr txBox="1"/>
          <p:nvPr/>
        </p:nvSpPr>
        <p:spPr>
          <a:xfrm>
            <a:off x="895350"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Vertical dilation</a:t>
            </a:r>
            <a:endParaRPr lang="en-US" sz="2100" dirty="0"/>
          </a:p>
        </p:txBody>
      </p:sp>
      <p:sp>
        <p:nvSpPr>
          <p:cNvPr id="16" name="Shape 16"/>
          <p:cNvSpPr txBox="1"/>
          <p:nvPr/>
        </p:nvSpPr>
        <p:spPr>
          <a:xfrm>
            <a:off x="895350" y="428396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Stretches or compresses the graph. Changes the slope.</a:t>
            </a:r>
            <a:endParaRPr lang="en-US" sz="1575" dirty="0"/>
          </a:p>
        </p:txBody>
      </p:sp>
      <p:sp>
        <p:nvSpPr>
          <p:cNvPr id="17" name="Shape 17"/>
          <p:cNvSpPr txBox="1"/>
          <p:nvPr/>
        </p:nvSpPr>
        <p:spPr>
          <a:xfrm>
            <a:off x="895350" y="49141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3</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22" name="Shape 22"/>
          <p:cNvSpPr txBox="1"/>
          <p:nvPr/>
        </p:nvSpPr>
        <p:spPr>
          <a:xfrm>
            <a:off x="4349648" y="3642360"/>
            <a:ext cx="3492398" cy="22067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9" name="Shape 19"/>
          <p:cNvSpPr txBox="1"/>
          <p:nvPr/>
        </p:nvSpPr>
        <p:spPr>
          <a:xfrm>
            <a:off x="4559198"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Reflection</a:t>
            </a:r>
            <a:endParaRPr lang="en-US" sz="2100" dirty="0"/>
          </a:p>
        </p:txBody>
      </p:sp>
      <p:sp>
        <p:nvSpPr>
          <p:cNvPr id="20" name="Shape 20"/>
          <p:cNvSpPr txBox="1"/>
          <p:nvPr/>
        </p:nvSpPr>
        <p:spPr>
          <a:xfrm>
            <a:off x="4559198" y="428396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Flips the graph across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(a negative factor).</a:t>
            </a:r>
            <a:endParaRPr lang="en-US" sz="1575" dirty="0"/>
          </a:p>
        </p:txBody>
      </p:sp>
      <p:sp>
        <p:nvSpPr>
          <p:cNvPr id="21" name="Shape 21"/>
          <p:cNvSpPr txBox="1"/>
          <p:nvPr/>
        </p:nvSpPr>
        <p:spPr>
          <a:xfrm>
            <a:off x="4559198" y="49141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26" name="Shape 26"/>
          <p:cNvSpPr txBox="1"/>
          <p:nvPr/>
        </p:nvSpPr>
        <p:spPr>
          <a:xfrm>
            <a:off x="8013497" y="3642360"/>
            <a:ext cx="3492398" cy="22067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3" name="Shape 23"/>
          <p:cNvSpPr txBox="1"/>
          <p:nvPr/>
        </p:nvSpPr>
        <p:spPr>
          <a:xfrm>
            <a:off x="8223047"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Parallel lines</a:t>
            </a:r>
            <a:endParaRPr lang="en-US" sz="2100" dirty="0"/>
          </a:p>
        </p:txBody>
      </p:sp>
      <p:sp>
        <p:nvSpPr>
          <p:cNvPr id="24" name="Shape 24"/>
          <p:cNvSpPr txBox="1"/>
          <p:nvPr/>
        </p:nvSpPr>
        <p:spPr>
          <a:xfrm>
            <a:off x="8223047" y="428396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Lines with the same slope that never meet.</a:t>
            </a:r>
            <a:endParaRPr lang="en-US" sz="1575" dirty="0"/>
          </a:p>
        </p:txBody>
      </p:sp>
      <p:sp>
        <p:nvSpPr>
          <p:cNvPr id="25" name="Shape 25"/>
          <p:cNvSpPr txBox="1"/>
          <p:nvPr/>
        </p:nvSpPr>
        <p:spPr>
          <a:xfrm>
            <a:off x="8223047" y="4914138"/>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269</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know linear functions and their slope and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can you transform a function? What effects do different transformations have on the characteristics of linear functions?</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Returning to Transformation Station · SE p. 270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Translate </a:t>
            </a:r>
            <a:r>
              <a:rPr lang="en-US" sz="3450" dirty="0" b="1" i="1">
                <a:solidFill>
                  <a:srgbClr val="16171D"/>
                </a:solidFill>
                <a:latin typeface="Cambria"/>
                <a:cs typeface="Cambria"/>
              </a:rPr>
              <a:t xml:space="preserve">A</a:t>
            </a:r>
            <a:r>
              <a:rPr lang="en-US" sz="3450" dirty="0" b="1" i="1">
                <a:solidFill>
                  <a:srgbClr val="16171D"/>
                </a:solidFill>
                <a:latin typeface="Cambria"/>
                <a:cs typeface="Cambria"/>
              </a:rPr>
              <a:t xml:space="preserve">B</a:t>
            </a:r>
            <a:r>
              <a:rPr lang="en-US" sz="3450" dirty="0" b="1">
                <a:solidFill>
                  <a:srgbClr val="16171D"/>
                </a:solidFill>
                <a:latin typeface="Segoe UI"/>
                <a:cs typeface="Segoe UI"/>
              </a:rPr>
              <a:t xml:space="preserve"> with </a:t>
            </a:r>
            <a:r>
              <a:rPr lang="en-US" sz="3450" dirty="0" b="1" i="1">
                <a:solidFill>
                  <a:srgbClr val="16171D"/>
                </a:solidFill>
                <a:latin typeface="Cambria"/>
                <a:cs typeface="Cambria"/>
              </a:rPr>
              <a:t xml:space="preserve">A</a:t>
            </a:r>
            <a:r>
              <a:rPr lang="en-US" sz="3450" dirty="0" b="1">
                <a:solidFill>
                  <a:srgbClr val="16171D"/>
                </a:solidFill>
                <a:latin typeface="Cambria"/>
                <a:cs typeface="Cambria"/>
              </a:rPr>
              <a:t xml:space="preserve">(−8, −8)</a:t>
            </a:r>
            <a:r>
              <a:rPr lang="en-US" sz="3450" dirty="0" b="1">
                <a:solidFill>
                  <a:srgbClr val="16171D"/>
                </a:solidFill>
                <a:latin typeface="Segoe UI"/>
                <a:cs typeface="Segoe UI"/>
              </a:rPr>
              <a:t xml:space="preserve"> and </a:t>
            </a:r>
            <a:r>
              <a:rPr lang="en-US" sz="3450" dirty="0" b="1" i="1">
                <a:solidFill>
                  <a:srgbClr val="16171D"/>
                </a:solidFill>
                <a:latin typeface="Cambria"/>
                <a:cs typeface="Cambria"/>
              </a:rPr>
              <a:t xml:space="preserve">B</a:t>
            </a:r>
            <a:r>
              <a:rPr lang="en-US" sz="3450" dirty="0" b="1">
                <a:solidFill>
                  <a:srgbClr val="16171D"/>
                </a:solidFill>
                <a:latin typeface="Cambria"/>
                <a:cs typeface="Cambria"/>
              </a:rPr>
              <a:t xml:space="preserve">(8, 8)</a:t>
            </a:r>
            <a:endParaRPr lang="en-US" sz="3450" dirty="0"/>
          </a:p>
        </p:txBody>
      </p:sp>
      <p:sp>
        <p:nvSpPr>
          <p:cNvPr id="4" name="Shape 4"/>
          <p:cNvSpPr txBox="1"/>
          <p:nvPr/>
        </p:nvSpPr>
        <p:spPr>
          <a:xfrm>
            <a:off x="685800" y="1618488"/>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How do translations affect the coordinates?</a:t>
            </a:r>
            <a:endParaRPr lang="en-US" sz="1950" dirty="0"/>
          </a:p>
        </p:txBody>
      </p:sp>
      <p:sp>
        <p:nvSpPr>
          <p:cNvPr id="5" name="Shape 5"/>
          <p:cNvSpPr txBox="1"/>
          <p:nvPr/>
        </p:nvSpPr>
        <p:spPr>
          <a:xfrm>
            <a:off x="685800" y="2362962"/>
            <a:ext cx="235153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Original point</a:t>
            </a:r>
            <a:endParaRPr lang="en-US" sz="1950" dirty="0"/>
          </a:p>
        </p:txBody>
      </p:sp>
      <p:sp>
        <p:nvSpPr>
          <p:cNvPr id="6" name="Shape 6"/>
          <p:cNvSpPr txBox="1"/>
          <p:nvPr/>
        </p:nvSpPr>
        <p:spPr>
          <a:xfrm>
            <a:off x="3037332" y="2362962"/>
            <a:ext cx="183642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4 units up</a:t>
            </a:r>
            <a:endParaRPr lang="en-US" sz="1950" dirty="0"/>
          </a:p>
        </p:txBody>
      </p:sp>
      <p:sp>
        <p:nvSpPr>
          <p:cNvPr id="7" name="Shape 7"/>
          <p:cNvSpPr txBox="1"/>
          <p:nvPr/>
        </p:nvSpPr>
        <p:spPr>
          <a:xfrm>
            <a:off x="4873752" y="2362962"/>
            <a:ext cx="2093976"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4 units down</a:t>
            </a:r>
            <a:endParaRPr lang="en-US" sz="1950" dirty="0"/>
          </a:p>
        </p:txBody>
      </p:sp>
      <p:sp>
        <p:nvSpPr>
          <p:cNvPr id="8" name="Shape 8"/>
          <p:cNvSpPr txBox="1"/>
          <p:nvPr/>
        </p:nvSpPr>
        <p:spPr>
          <a:xfrm>
            <a:off x="685800" y="2806446"/>
            <a:ext cx="235153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a:t>
            </a:r>
            <a:endParaRPr lang="en-US" sz="1950" dirty="0"/>
          </a:p>
        </p:txBody>
      </p:sp>
      <p:sp>
        <p:nvSpPr>
          <p:cNvPr id="9" name="Shape 9"/>
          <p:cNvSpPr txBox="1"/>
          <p:nvPr/>
        </p:nvSpPr>
        <p:spPr>
          <a:xfrm>
            <a:off x="3037332" y="2806446"/>
            <a:ext cx="1836420"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0" name="Shape 10"/>
          <p:cNvSpPr txBox="1"/>
          <p:nvPr/>
        </p:nvSpPr>
        <p:spPr>
          <a:xfrm>
            <a:off x="3037332" y="2806446"/>
            <a:ext cx="1836420"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endParaRPr lang="en-US" sz="1950" dirty="0"/>
          </a:p>
        </p:txBody>
      </p:sp>
      <p:sp>
        <p:nvSpPr>
          <p:cNvPr id="11" name="Shape 11"/>
          <p:cNvSpPr txBox="1"/>
          <p:nvPr/>
        </p:nvSpPr>
        <p:spPr>
          <a:xfrm>
            <a:off x="4873752" y="2806446"/>
            <a:ext cx="2093976"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2" name="Shape 12"/>
          <p:cNvSpPr txBox="1"/>
          <p:nvPr/>
        </p:nvSpPr>
        <p:spPr>
          <a:xfrm>
            <a:off x="4873752" y="2806446"/>
            <a:ext cx="2093976"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endParaRPr lang="en-US" sz="1950" dirty="0"/>
          </a:p>
        </p:txBody>
      </p:sp>
      <p:sp>
        <p:nvSpPr>
          <p:cNvPr id="13" name="Shape 13"/>
          <p:cNvSpPr txBox="1"/>
          <p:nvPr/>
        </p:nvSpPr>
        <p:spPr>
          <a:xfrm>
            <a:off x="685800" y="334518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Draw </a:t>
            </a:r>
            <a:r>
              <a:rPr lang="en-US" sz="1575" dirty="0" i="1">
                <a:solidFill>
                  <a:srgbClr val="16171D"/>
                </a:solidFill>
                <a:latin typeface="Cambria"/>
                <a:cs typeface="Cambria"/>
              </a:rPr>
              <a:t xml:space="preserve">C</a:t>
            </a:r>
            <a:r>
              <a:rPr lang="en-US" sz="1575" dirty="0" i="1">
                <a:solidFill>
                  <a:srgbClr val="16171D"/>
                </a:solidFill>
                <a:latin typeface="Cambria"/>
                <a:cs typeface="Cambria"/>
              </a:rPr>
              <a:t xml:space="preserve">D</a:t>
            </a:r>
            <a:r>
              <a:rPr lang="en-US" sz="1575" dirty="0">
                <a:solidFill>
                  <a:srgbClr val="16171D"/>
                </a:solidFill>
                <a:latin typeface="Segoe UI"/>
                <a:cs typeface="Segoe UI"/>
              </a:rPr>
              <a:t xml:space="preserve">, a translation of </a:t>
            </a:r>
            <a:r>
              <a:rPr lang="en-US" sz="1575" dirty="0" i="1">
                <a:solidFill>
                  <a:srgbClr val="16171D"/>
                </a:solidFill>
                <a:latin typeface="Cambria"/>
                <a:cs typeface="Cambria"/>
              </a:rPr>
              <a:t xml:space="preserve">A</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up 4 units.</a:t>
            </a:r>
            <a:endParaRPr lang="en-US" sz="1575" dirty="0"/>
          </a:p>
        </p:txBody>
      </p:sp>
      <p:sp>
        <p:nvSpPr>
          <p:cNvPr id="14" name="Shape 14"/>
          <p:cNvSpPr txBox="1"/>
          <p:nvPr/>
        </p:nvSpPr>
        <p:spPr>
          <a:xfrm>
            <a:off x="685800" y="3735324"/>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(−8, −4)</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(8, 12)</a:t>
            </a:r>
            <a:r>
              <a:rPr lang="en-US" sz="1575" dirty="0">
                <a:solidFill>
                  <a:srgbClr val="16171D"/>
                </a:solidFill>
                <a:latin typeface="Segoe UI"/>
                <a:cs typeface="Segoe UI"/>
              </a:rPr>
              <a:t xml:space="preserve">. Every point moves straight up 4, so </a:t>
            </a:r>
            <a:r>
              <a:rPr lang="en-US" sz="1575" dirty="0" i="1">
                <a:solidFill>
                  <a:srgbClr val="16171D"/>
                </a:solidFill>
                <a:latin typeface="Cambria"/>
                <a:cs typeface="Cambria"/>
              </a:rPr>
              <a:t xml:space="preserve">C</a:t>
            </a:r>
            <a:r>
              <a:rPr lang="en-US" sz="1575" dirty="0" i="1">
                <a:solidFill>
                  <a:srgbClr val="16171D"/>
                </a:solidFill>
                <a:latin typeface="Cambria"/>
                <a:cs typeface="Cambria"/>
              </a:rPr>
              <a:t xml:space="preserve">D</a:t>
            </a:r>
            <a:r>
              <a:rPr lang="en-US" sz="1575" dirty="0">
                <a:solidFill>
                  <a:srgbClr val="16171D"/>
                </a:solidFill>
                <a:latin typeface="Segoe UI"/>
                <a:cs typeface="Segoe UI"/>
              </a:rPr>
              <a:t xml:space="preserve"> is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 to </a:t>
            </a:r>
            <a:r>
              <a:rPr lang="en-US" sz="1575" dirty="0" i="1">
                <a:solidFill>
                  <a:srgbClr val="16171D"/>
                </a:solidFill>
                <a:latin typeface="Cambria"/>
                <a:cs typeface="Cambria"/>
              </a:rPr>
              <a:t xml:space="preserve">A</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15" name="Shape 15"/>
          <p:cNvSpPr/>
          <p:nvPr/>
        </p:nvSpPr>
        <p:spPr>
          <a:xfrm>
            <a:off x="6286348" y="1618488"/>
            <a:ext cx="3810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6" name="Line 16"/>
          <p:cNvCxnSpPr/>
          <p:nvPr/>
        </p:nvCxnSpPr>
        <p:spPr>
          <a:xfrm>
            <a:off x="6610198" y="1732788"/>
            <a:ext cx="0" cy="3448050"/>
          </a:xfrm>
          <a:prstGeom prst="line">
            <a:avLst/>
          </a:prstGeom>
          <a:ln w="9525" cap="flat">
            <a:solidFill>
              <a:srgbClr val="E6E8F2"/>
            </a:solidFill>
          </a:ln>
        </p:spPr>
      </p:cxnSp>
      <p:cxnSp>
        <p:nvCxnSpPr>
          <p:cNvPr id="17" name="Line 17"/>
          <p:cNvCxnSpPr/>
          <p:nvPr/>
        </p:nvCxnSpPr>
        <p:spPr>
          <a:xfrm>
            <a:off x="6891185" y="1732788"/>
            <a:ext cx="0" cy="3448050"/>
          </a:xfrm>
          <a:prstGeom prst="line">
            <a:avLst/>
          </a:prstGeom>
          <a:ln w="9525" cap="flat">
            <a:solidFill>
              <a:srgbClr val="E6E8F2"/>
            </a:solidFill>
          </a:ln>
        </p:spPr>
      </p:cxnSp>
      <p:cxnSp>
        <p:nvCxnSpPr>
          <p:cNvPr id="18" name="Line 18"/>
          <p:cNvCxnSpPr/>
          <p:nvPr/>
        </p:nvCxnSpPr>
        <p:spPr>
          <a:xfrm>
            <a:off x="7172173" y="1732788"/>
            <a:ext cx="0" cy="3448050"/>
          </a:xfrm>
          <a:prstGeom prst="line">
            <a:avLst/>
          </a:prstGeom>
          <a:ln w="9525" cap="flat">
            <a:solidFill>
              <a:srgbClr val="E6E8F2"/>
            </a:solidFill>
          </a:ln>
        </p:spPr>
      </p:cxnSp>
      <p:cxnSp>
        <p:nvCxnSpPr>
          <p:cNvPr id="19" name="Line 19"/>
          <p:cNvCxnSpPr/>
          <p:nvPr/>
        </p:nvCxnSpPr>
        <p:spPr>
          <a:xfrm>
            <a:off x="7453160" y="1732788"/>
            <a:ext cx="0" cy="3448050"/>
          </a:xfrm>
          <a:prstGeom prst="line">
            <a:avLst/>
          </a:prstGeom>
          <a:ln w="9525" cap="flat">
            <a:solidFill>
              <a:srgbClr val="E6E8F2"/>
            </a:solidFill>
          </a:ln>
        </p:spPr>
      </p:cxnSp>
      <p:cxnSp>
        <p:nvCxnSpPr>
          <p:cNvPr id="20" name="Line 20"/>
          <p:cNvCxnSpPr/>
          <p:nvPr/>
        </p:nvCxnSpPr>
        <p:spPr>
          <a:xfrm>
            <a:off x="7734148" y="1732788"/>
            <a:ext cx="0" cy="3448050"/>
          </a:xfrm>
          <a:prstGeom prst="line">
            <a:avLst/>
          </a:prstGeom>
          <a:ln w="9525" cap="flat">
            <a:solidFill>
              <a:srgbClr val="E6E8F2"/>
            </a:solidFill>
          </a:ln>
        </p:spPr>
      </p:cxnSp>
      <p:cxnSp>
        <p:nvCxnSpPr>
          <p:cNvPr id="21" name="Line 21"/>
          <p:cNvCxnSpPr/>
          <p:nvPr/>
        </p:nvCxnSpPr>
        <p:spPr>
          <a:xfrm>
            <a:off x="8015135" y="1732788"/>
            <a:ext cx="0" cy="3448050"/>
          </a:xfrm>
          <a:prstGeom prst="line">
            <a:avLst/>
          </a:prstGeom>
          <a:ln w="9525" cap="flat">
            <a:solidFill>
              <a:srgbClr val="E6E8F2"/>
            </a:solidFill>
          </a:ln>
        </p:spPr>
      </p:cxnSp>
      <p:cxnSp>
        <p:nvCxnSpPr>
          <p:cNvPr id="22" name="Line 22"/>
          <p:cNvCxnSpPr/>
          <p:nvPr/>
        </p:nvCxnSpPr>
        <p:spPr>
          <a:xfrm>
            <a:off x="8296123" y="1732788"/>
            <a:ext cx="0" cy="3448050"/>
          </a:xfrm>
          <a:prstGeom prst="line">
            <a:avLst/>
          </a:prstGeom>
          <a:ln w="9525" cap="flat">
            <a:solidFill>
              <a:srgbClr val="E6E8F2"/>
            </a:solidFill>
          </a:ln>
        </p:spPr>
      </p:cxnSp>
      <p:cxnSp>
        <p:nvCxnSpPr>
          <p:cNvPr id="23" name="Line 23"/>
          <p:cNvCxnSpPr/>
          <p:nvPr/>
        </p:nvCxnSpPr>
        <p:spPr>
          <a:xfrm>
            <a:off x="8577110" y="1732788"/>
            <a:ext cx="0" cy="3448050"/>
          </a:xfrm>
          <a:prstGeom prst="line">
            <a:avLst/>
          </a:prstGeom>
          <a:ln w="9525" cap="flat">
            <a:solidFill>
              <a:srgbClr val="E6E8F2"/>
            </a:solidFill>
          </a:ln>
        </p:spPr>
      </p:cxnSp>
      <p:cxnSp>
        <p:nvCxnSpPr>
          <p:cNvPr id="24" name="Line 24"/>
          <p:cNvCxnSpPr/>
          <p:nvPr/>
        </p:nvCxnSpPr>
        <p:spPr>
          <a:xfrm>
            <a:off x="8858098" y="1732788"/>
            <a:ext cx="0" cy="3448050"/>
          </a:xfrm>
          <a:prstGeom prst="line">
            <a:avLst/>
          </a:prstGeom>
          <a:ln w="9525" cap="flat">
            <a:solidFill>
              <a:srgbClr val="E6E8F2"/>
            </a:solidFill>
          </a:ln>
        </p:spPr>
      </p:cxnSp>
      <p:cxnSp>
        <p:nvCxnSpPr>
          <p:cNvPr id="25" name="Line 25"/>
          <p:cNvCxnSpPr/>
          <p:nvPr/>
        </p:nvCxnSpPr>
        <p:spPr>
          <a:xfrm>
            <a:off x="9139085" y="1732788"/>
            <a:ext cx="0" cy="3448050"/>
          </a:xfrm>
          <a:prstGeom prst="line">
            <a:avLst/>
          </a:prstGeom>
          <a:ln w="9525" cap="flat">
            <a:solidFill>
              <a:srgbClr val="E6E8F2"/>
            </a:solidFill>
          </a:ln>
        </p:spPr>
      </p:cxnSp>
      <p:cxnSp>
        <p:nvCxnSpPr>
          <p:cNvPr id="26" name="Line 26"/>
          <p:cNvCxnSpPr/>
          <p:nvPr/>
        </p:nvCxnSpPr>
        <p:spPr>
          <a:xfrm>
            <a:off x="9420073" y="1732788"/>
            <a:ext cx="0" cy="3448050"/>
          </a:xfrm>
          <a:prstGeom prst="line">
            <a:avLst/>
          </a:prstGeom>
          <a:ln w="9525" cap="flat">
            <a:solidFill>
              <a:srgbClr val="E6E8F2"/>
            </a:solidFill>
          </a:ln>
        </p:spPr>
      </p:cxnSp>
      <p:cxnSp>
        <p:nvCxnSpPr>
          <p:cNvPr id="27" name="Line 27"/>
          <p:cNvCxnSpPr/>
          <p:nvPr/>
        </p:nvCxnSpPr>
        <p:spPr>
          <a:xfrm>
            <a:off x="9701060" y="1732788"/>
            <a:ext cx="0" cy="3448050"/>
          </a:xfrm>
          <a:prstGeom prst="line">
            <a:avLst/>
          </a:prstGeom>
          <a:ln w="9525" cap="flat">
            <a:solidFill>
              <a:srgbClr val="E6E8F2"/>
            </a:solidFill>
          </a:ln>
        </p:spPr>
      </p:cxnSp>
      <p:cxnSp>
        <p:nvCxnSpPr>
          <p:cNvPr id="28" name="Line 28"/>
          <p:cNvCxnSpPr/>
          <p:nvPr/>
        </p:nvCxnSpPr>
        <p:spPr>
          <a:xfrm>
            <a:off x="9982048" y="1732788"/>
            <a:ext cx="0" cy="3448050"/>
          </a:xfrm>
          <a:prstGeom prst="line">
            <a:avLst/>
          </a:prstGeom>
          <a:ln w="9525" cap="flat">
            <a:solidFill>
              <a:srgbClr val="E6E8F2"/>
            </a:solidFill>
          </a:ln>
        </p:spPr>
      </p:cxnSp>
      <p:cxnSp>
        <p:nvCxnSpPr>
          <p:cNvPr id="29" name="Line 29"/>
          <p:cNvCxnSpPr/>
          <p:nvPr/>
        </p:nvCxnSpPr>
        <p:spPr>
          <a:xfrm>
            <a:off x="6610198" y="5180838"/>
            <a:ext cx="3371850" cy="0"/>
          </a:xfrm>
          <a:prstGeom prst="line">
            <a:avLst/>
          </a:prstGeom>
          <a:ln w="9525" cap="flat">
            <a:solidFill>
              <a:srgbClr val="E6E8F2"/>
            </a:solidFill>
          </a:ln>
        </p:spPr>
      </p:cxnSp>
      <p:cxnSp>
        <p:nvCxnSpPr>
          <p:cNvPr id="30" name="Line 30"/>
          <p:cNvCxnSpPr/>
          <p:nvPr/>
        </p:nvCxnSpPr>
        <p:spPr>
          <a:xfrm>
            <a:off x="6610198" y="4893500"/>
            <a:ext cx="3371850" cy="0"/>
          </a:xfrm>
          <a:prstGeom prst="line">
            <a:avLst/>
          </a:prstGeom>
          <a:ln w="9525" cap="flat">
            <a:solidFill>
              <a:srgbClr val="E6E8F2"/>
            </a:solidFill>
          </a:ln>
        </p:spPr>
      </p:cxnSp>
      <p:cxnSp>
        <p:nvCxnSpPr>
          <p:cNvPr id="31" name="Line 31"/>
          <p:cNvCxnSpPr/>
          <p:nvPr/>
        </p:nvCxnSpPr>
        <p:spPr>
          <a:xfrm>
            <a:off x="6610198" y="4606163"/>
            <a:ext cx="3371850" cy="0"/>
          </a:xfrm>
          <a:prstGeom prst="line">
            <a:avLst/>
          </a:prstGeom>
          <a:ln w="9525" cap="flat">
            <a:solidFill>
              <a:srgbClr val="E6E8F2"/>
            </a:solidFill>
          </a:ln>
        </p:spPr>
      </p:cxnSp>
      <p:cxnSp>
        <p:nvCxnSpPr>
          <p:cNvPr id="32" name="Line 32"/>
          <p:cNvCxnSpPr/>
          <p:nvPr/>
        </p:nvCxnSpPr>
        <p:spPr>
          <a:xfrm>
            <a:off x="6610198" y="4318826"/>
            <a:ext cx="3371850" cy="0"/>
          </a:xfrm>
          <a:prstGeom prst="line">
            <a:avLst/>
          </a:prstGeom>
          <a:ln w="9525" cap="flat">
            <a:solidFill>
              <a:srgbClr val="E6E8F2"/>
            </a:solidFill>
          </a:ln>
        </p:spPr>
      </p:cxnSp>
      <p:cxnSp>
        <p:nvCxnSpPr>
          <p:cNvPr id="33" name="Line 33"/>
          <p:cNvCxnSpPr/>
          <p:nvPr/>
        </p:nvCxnSpPr>
        <p:spPr>
          <a:xfrm>
            <a:off x="6610198" y="4031488"/>
            <a:ext cx="3371850" cy="0"/>
          </a:xfrm>
          <a:prstGeom prst="line">
            <a:avLst/>
          </a:prstGeom>
          <a:ln w="9525" cap="flat">
            <a:solidFill>
              <a:srgbClr val="E6E8F2"/>
            </a:solidFill>
          </a:ln>
        </p:spPr>
      </p:cxnSp>
      <p:cxnSp>
        <p:nvCxnSpPr>
          <p:cNvPr id="34" name="Line 34"/>
          <p:cNvCxnSpPr/>
          <p:nvPr/>
        </p:nvCxnSpPr>
        <p:spPr>
          <a:xfrm>
            <a:off x="6610198" y="3744151"/>
            <a:ext cx="3371850" cy="0"/>
          </a:xfrm>
          <a:prstGeom prst="line">
            <a:avLst/>
          </a:prstGeom>
          <a:ln w="9525" cap="flat">
            <a:solidFill>
              <a:srgbClr val="E6E8F2"/>
            </a:solidFill>
          </a:ln>
        </p:spPr>
      </p:cxnSp>
      <p:cxnSp>
        <p:nvCxnSpPr>
          <p:cNvPr id="35" name="Line 35"/>
          <p:cNvCxnSpPr/>
          <p:nvPr/>
        </p:nvCxnSpPr>
        <p:spPr>
          <a:xfrm>
            <a:off x="6610198" y="3456813"/>
            <a:ext cx="3371850" cy="0"/>
          </a:xfrm>
          <a:prstGeom prst="line">
            <a:avLst/>
          </a:prstGeom>
          <a:ln w="9525" cap="flat">
            <a:solidFill>
              <a:srgbClr val="E6E8F2"/>
            </a:solidFill>
          </a:ln>
        </p:spPr>
      </p:cxnSp>
      <p:cxnSp>
        <p:nvCxnSpPr>
          <p:cNvPr id="36" name="Line 36"/>
          <p:cNvCxnSpPr/>
          <p:nvPr/>
        </p:nvCxnSpPr>
        <p:spPr>
          <a:xfrm>
            <a:off x="6610198" y="3169476"/>
            <a:ext cx="3371850" cy="0"/>
          </a:xfrm>
          <a:prstGeom prst="line">
            <a:avLst/>
          </a:prstGeom>
          <a:ln w="9525" cap="flat">
            <a:solidFill>
              <a:srgbClr val="E6E8F2"/>
            </a:solidFill>
          </a:ln>
        </p:spPr>
      </p:cxnSp>
      <p:cxnSp>
        <p:nvCxnSpPr>
          <p:cNvPr id="37" name="Line 37"/>
          <p:cNvCxnSpPr/>
          <p:nvPr/>
        </p:nvCxnSpPr>
        <p:spPr>
          <a:xfrm>
            <a:off x="6610198" y="2882138"/>
            <a:ext cx="3371850" cy="0"/>
          </a:xfrm>
          <a:prstGeom prst="line">
            <a:avLst/>
          </a:prstGeom>
          <a:ln w="9525" cap="flat">
            <a:solidFill>
              <a:srgbClr val="E6E8F2"/>
            </a:solidFill>
          </a:ln>
        </p:spPr>
      </p:cxnSp>
      <p:cxnSp>
        <p:nvCxnSpPr>
          <p:cNvPr id="38" name="Line 38"/>
          <p:cNvCxnSpPr/>
          <p:nvPr/>
        </p:nvCxnSpPr>
        <p:spPr>
          <a:xfrm>
            <a:off x="6610198" y="2594800"/>
            <a:ext cx="3371850" cy="0"/>
          </a:xfrm>
          <a:prstGeom prst="line">
            <a:avLst/>
          </a:prstGeom>
          <a:ln w="9525" cap="flat">
            <a:solidFill>
              <a:srgbClr val="E6E8F2"/>
            </a:solidFill>
          </a:ln>
        </p:spPr>
      </p:cxnSp>
      <p:cxnSp>
        <p:nvCxnSpPr>
          <p:cNvPr id="39" name="Line 39"/>
          <p:cNvCxnSpPr/>
          <p:nvPr/>
        </p:nvCxnSpPr>
        <p:spPr>
          <a:xfrm>
            <a:off x="6610198" y="2307463"/>
            <a:ext cx="3371850" cy="0"/>
          </a:xfrm>
          <a:prstGeom prst="line">
            <a:avLst/>
          </a:prstGeom>
          <a:ln w="9525" cap="flat">
            <a:solidFill>
              <a:srgbClr val="E6E8F2"/>
            </a:solidFill>
          </a:ln>
        </p:spPr>
      </p:cxnSp>
      <p:cxnSp>
        <p:nvCxnSpPr>
          <p:cNvPr id="40" name="Line 40"/>
          <p:cNvCxnSpPr/>
          <p:nvPr/>
        </p:nvCxnSpPr>
        <p:spPr>
          <a:xfrm>
            <a:off x="6610198" y="2020126"/>
            <a:ext cx="3371850" cy="0"/>
          </a:xfrm>
          <a:prstGeom prst="line">
            <a:avLst/>
          </a:prstGeom>
          <a:ln w="9525" cap="flat">
            <a:solidFill>
              <a:srgbClr val="E6E8F2"/>
            </a:solidFill>
          </a:ln>
        </p:spPr>
      </p:cxnSp>
      <p:cxnSp>
        <p:nvCxnSpPr>
          <p:cNvPr id="41" name="Line 41"/>
          <p:cNvCxnSpPr/>
          <p:nvPr/>
        </p:nvCxnSpPr>
        <p:spPr>
          <a:xfrm>
            <a:off x="6610198" y="1732788"/>
            <a:ext cx="3371850" cy="0"/>
          </a:xfrm>
          <a:prstGeom prst="line">
            <a:avLst/>
          </a:prstGeom>
          <a:ln w="9525" cap="flat">
            <a:solidFill>
              <a:srgbClr val="E6E8F2"/>
            </a:solidFill>
          </a:ln>
        </p:spPr>
      </p:cxnSp>
      <p:cxnSp>
        <p:nvCxnSpPr>
          <p:cNvPr id="42" name="Line 42"/>
          <p:cNvCxnSpPr/>
          <p:nvPr/>
        </p:nvCxnSpPr>
        <p:spPr>
          <a:xfrm>
            <a:off x="8015135" y="1732788"/>
            <a:ext cx="0" cy="3448050"/>
          </a:xfrm>
          <a:prstGeom prst="line">
            <a:avLst/>
          </a:prstGeom>
          <a:ln w="19050" cap="flat">
            <a:solidFill>
              <a:srgbClr val="5F6272"/>
            </a:solidFill>
          </a:ln>
        </p:spPr>
      </p:cxnSp>
      <p:cxnSp>
        <p:nvCxnSpPr>
          <p:cNvPr id="43" name="Line 43"/>
          <p:cNvCxnSpPr/>
          <p:nvPr/>
        </p:nvCxnSpPr>
        <p:spPr>
          <a:xfrm>
            <a:off x="6610198" y="3744151"/>
            <a:ext cx="3371850" cy="0"/>
          </a:xfrm>
          <a:prstGeom prst="line">
            <a:avLst/>
          </a:prstGeom>
          <a:ln w="19050" cap="flat">
            <a:solidFill>
              <a:srgbClr val="5F6272"/>
            </a:solidFill>
          </a:ln>
        </p:spPr>
      </p:cxnSp>
      <p:sp>
        <p:nvSpPr>
          <p:cNvPr id="44" name="Shape 44"/>
          <p:cNvSpPr txBox="1"/>
          <p:nvPr/>
        </p:nvSpPr>
        <p:spPr>
          <a:xfrm>
            <a:off x="661686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717884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774081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7" name="Shape 47"/>
          <p:cNvSpPr txBox="1"/>
          <p:nvPr/>
        </p:nvSpPr>
        <p:spPr>
          <a:xfrm>
            <a:off x="830279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886476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942674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6043270" y="48020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1" name="Shape 51"/>
          <p:cNvSpPr txBox="1"/>
          <p:nvPr/>
        </p:nvSpPr>
        <p:spPr>
          <a:xfrm>
            <a:off x="6043270" y="42273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6043270" y="36527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6043270" y="3078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4" name="Shape 54"/>
          <p:cNvSpPr txBox="1"/>
          <p:nvPr/>
        </p:nvSpPr>
        <p:spPr>
          <a:xfrm>
            <a:off x="6043270" y="25033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5" name="Shape 55"/>
          <p:cNvSpPr txBox="1"/>
          <p:nvPr/>
        </p:nvSpPr>
        <p:spPr>
          <a:xfrm>
            <a:off x="6043270" y="19286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cxnSp>
        <p:nvCxnSpPr>
          <p:cNvPr id="56" name="Line 56"/>
          <p:cNvCxnSpPr/>
          <p:nvPr/>
        </p:nvCxnSpPr>
        <p:spPr>
          <a:xfrm flipV="1">
            <a:off x="6891185" y="2594800"/>
            <a:ext cx="2247900" cy="2298700"/>
          </a:xfrm>
          <a:prstGeom prst="line">
            <a:avLst/>
          </a:prstGeom>
          <a:ln w="38100" cap="rnd">
            <a:solidFill>
              <a:srgbClr val="16171D"/>
            </a:solidFill>
          </a:ln>
        </p:spPr>
      </p:cxnSp>
      <p:sp>
        <p:nvSpPr>
          <p:cNvPr id="57" name="Shape 57"/>
          <p:cNvSpPr txBox="1"/>
          <p:nvPr/>
        </p:nvSpPr>
        <p:spPr>
          <a:xfrm>
            <a:off x="6647345" y="2613851"/>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AB</a:t>
            </a:r>
            <a:endParaRPr lang="en-US" sz="1275" dirty="0"/>
          </a:p>
        </p:txBody>
      </p:sp>
      <p:cxnSp>
        <p:nvCxnSpPr>
          <p:cNvPr id="58" name="Line 58"/>
          <p:cNvCxnSpPr/>
          <p:nvPr/>
        </p:nvCxnSpPr>
        <p:spPr>
          <a:xfrm flipV="1">
            <a:off x="6891185" y="2020126"/>
            <a:ext cx="2247900" cy="2298700"/>
          </a:xfrm>
          <a:prstGeom prst="line">
            <a:avLst/>
          </a:prstGeom>
          <a:ln w="38100" cap="rnd">
            <a:solidFill>
              <a:srgbClr val="7A4FC4"/>
            </a:solidFill>
          </a:ln>
        </p:spPr>
      </p:cxnSp>
      <p:sp>
        <p:nvSpPr>
          <p:cNvPr id="59" name="Shape 59"/>
          <p:cNvSpPr txBox="1"/>
          <p:nvPr/>
        </p:nvSpPr>
        <p:spPr>
          <a:xfrm>
            <a:off x="6647345" y="203917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CD</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left)">
                                      <p:cBhvr>
                                        <p:cTn id="25" dur="700"/>
                                        <p:tgtEl>
                                          <p:spTgt spid="58"/>
                                        </p:tgtEl>
                                      </p:cBhvr>
                                    </p:animEffect>
                                  </p:childTnLst>
                                </p:cTn>
                              </p:par>
                              <p:par>
                                <p:cTn id="29" presetID="22" presetClass="entr" presetSubtype="8" fill="hold" nodeType="with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wipe(left)">
                                      <p:cBhvr>
                                        <p:cTn id="28" dur="7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Dilations · SE p. 271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Multiply every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-coordinate by 2, then by −2</a:t>
            </a:r>
            <a:endParaRPr lang="en-US" sz="3450" dirty="0"/>
          </a:p>
        </p:txBody>
      </p:sp>
      <p:sp>
        <p:nvSpPr>
          <p:cNvPr id="4" name="Shape 4"/>
          <p:cNvSpPr txBox="1"/>
          <p:nvPr/>
        </p:nvSpPr>
        <p:spPr>
          <a:xfrm>
            <a:off x="685800" y="1618488"/>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points move straight up or down, away from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(twice as far).</a:t>
            </a:r>
            <a:endParaRPr lang="en-US" sz="1575" dirty="0"/>
          </a:p>
        </p:txBody>
      </p:sp>
      <p:sp>
        <p:nvSpPr>
          <p:cNvPr id="5" name="Shape 5"/>
          <p:cNvSpPr txBox="1"/>
          <p:nvPr/>
        </p:nvSpPr>
        <p:spPr>
          <a:xfrm>
            <a:off x="685800" y="2248662"/>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2: </a:t>
            </a:r>
            <a:r>
              <a:rPr lang="en-US" sz="1575" dirty="0" i="1">
                <a:solidFill>
                  <a:srgbClr val="16171D"/>
                </a:solidFill>
                <a:latin typeface="Cambria"/>
                <a:cs typeface="Cambria"/>
              </a:rPr>
              <a:t xml:space="preserve">E</a:t>
            </a:r>
            <a:r>
              <a:rPr lang="en-US" sz="1575" dirty="0">
                <a:solidFill>
                  <a:srgbClr val="16171D"/>
                </a:solidFill>
                <a:latin typeface="Cambria"/>
                <a:cs typeface="Cambria"/>
              </a:rPr>
              <a:t xml:space="preserve">(−8, −16)</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(8, 16)</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E</a:t>
            </a:r>
            <a:r>
              <a:rPr lang="en-US" sz="1575" dirty="0" i="1">
                <a:solidFill>
                  <a:srgbClr val="16171D"/>
                </a:solidFill>
                <a:latin typeface="Cambria"/>
                <a:cs typeface="Cambria"/>
              </a:rPr>
              <a:t xml:space="preserve">F</a:t>
            </a:r>
            <a:r>
              <a:rPr lang="en-US" sz="1575" dirty="0">
                <a:solidFill>
                  <a:srgbClr val="16171D"/>
                </a:solidFill>
                <a:latin typeface="Segoe UI"/>
                <a:cs typeface="Segoe UI"/>
              </a:rPr>
              <a:t xml:space="preserve"> is </a:t>
            </a:r>
            <a:r>
              <a:rPr lang="en-US" sz="1575" dirty="0" b="1">
                <a:solidFill>
                  <a:srgbClr val="16171D"/>
                </a:solidFill>
                <a:latin typeface="Segoe UI"/>
                <a:cs typeface="Segoe UI"/>
              </a:rPr>
              <a:t xml:space="preserve">steeper</a:t>
            </a:r>
            <a:r>
              <a:rPr lang="en-US" sz="1575" dirty="0">
                <a:solidFill>
                  <a:srgbClr val="16171D"/>
                </a:solidFill>
                <a:latin typeface="Segoe UI"/>
                <a:cs typeface="Segoe UI"/>
              </a:rPr>
              <a:t xml:space="preserve">: a vertical stretch.</a:t>
            </a:r>
            <a:endParaRPr lang="en-US" sz="1575" dirty="0"/>
          </a:p>
        </p:txBody>
      </p:sp>
      <p:sp>
        <p:nvSpPr>
          <p:cNvPr id="6" name="Shape 6"/>
          <p:cNvSpPr txBox="1"/>
          <p:nvPr/>
        </p:nvSpPr>
        <p:spPr>
          <a:xfrm>
            <a:off x="685800" y="287883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(−2):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(−8, 16)</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H</a:t>
            </a:r>
            <a:r>
              <a:rPr lang="en-US" sz="1575" dirty="0">
                <a:solidFill>
                  <a:srgbClr val="16171D"/>
                </a:solidFill>
                <a:latin typeface="Cambria"/>
                <a:cs typeface="Cambria"/>
              </a:rPr>
              <a:t xml:space="preserve">(8, −16)</a:t>
            </a:r>
            <a:r>
              <a:rPr lang="en-US" sz="1575" dirty="0">
                <a:solidFill>
                  <a:srgbClr val="16171D"/>
                </a:solidFill>
                <a:latin typeface="Segoe UI"/>
                <a:cs typeface="Segoe UI"/>
              </a:rPr>
              <a:t xml:space="preserve">. Steeper </a:t>
            </a:r>
            <a:r>
              <a:rPr lang="en-US" sz="1575" dirty="0" b="1">
                <a:solidFill>
                  <a:srgbClr val="16171D"/>
                </a:solidFill>
                <a:latin typeface="Segoe UI"/>
                <a:cs typeface="Segoe UI"/>
              </a:rPr>
              <a:t xml:space="preserve">and reflected</a:t>
            </a:r>
            <a:r>
              <a:rPr lang="en-US" sz="1575" dirty="0">
                <a:solidFill>
                  <a:srgbClr val="16171D"/>
                </a:solidFill>
                <a:latin typeface="Segoe UI"/>
                <a:cs typeface="Segoe UI"/>
              </a:rPr>
              <a:t xml:space="preserve"> across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a:t>
            </a:r>
            <a:endParaRPr lang="en-US" sz="1575" dirty="0"/>
          </a:p>
        </p:txBody>
      </p:sp>
      <p:sp>
        <p:nvSpPr>
          <p:cNvPr id="7" name="Shape 7"/>
          <p:cNvSpPr txBox="1"/>
          <p:nvPr/>
        </p:nvSpPr>
        <p:spPr>
          <a:xfrm>
            <a:off x="685800" y="350901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All three segments pass through the origin, which doesn't move.</a:t>
            </a:r>
            <a:endParaRPr lang="en-US" sz="1575" dirty="0"/>
          </a:p>
        </p:txBody>
      </p:sp>
      <p:sp>
        <p:nvSpPr>
          <p:cNvPr id="8" name="Shape 8"/>
          <p:cNvSpPr/>
          <p:nvPr/>
        </p:nvSpPr>
        <p:spPr>
          <a:xfrm>
            <a:off x="6286348" y="1618488"/>
            <a:ext cx="3810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3448050"/>
          </a:xfrm>
          <a:prstGeom prst="line">
            <a:avLst/>
          </a:prstGeom>
          <a:ln w="9525" cap="flat">
            <a:solidFill>
              <a:srgbClr val="E6E8F2"/>
            </a:solidFill>
          </a:ln>
        </p:spPr>
      </p:cxnSp>
      <p:cxnSp>
        <p:nvCxnSpPr>
          <p:cNvPr id="10" name="Line 10"/>
          <p:cNvCxnSpPr/>
          <p:nvPr/>
        </p:nvCxnSpPr>
        <p:spPr>
          <a:xfrm>
            <a:off x="6947383" y="1732788"/>
            <a:ext cx="0" cy="3448050"/>
          </a:xfrm>
          <a:prstGeom prst="line">
            <a:avLst/>
          </a:prstGeom>
          <a:ln w="9525" cap="flat">
            <a:solidFill>
              <a:srgbClr val="E6E8F2"/>
            </a:solidFill>
          </a:ln>
        </p:spPr>
      </p:cxnSp>
      <p:cxnSp>
        <p:nvCxnSpPr>
          <p:cNvPr id="11" name="Line 11"/>
          <p:cNvCxnSpPr/>
          <p:nvPr/>
        </p:nvCxnSpPr>
        <p:spPr>
          <a:xfrm>
            <a:off x="7284568" y="1732788"/>
            <a:ext cx="0" cy="3448050"/>
          </a:xfrm>
          <a:prstGeom prst="line">
            <a:avLst/>
          </a:prstGeom>
          <a:ln w="9525" cap="flat">
            <a:solidFill>
              <a:srgbClr val="E6E8F2"/>
            </a:solidFill>
          </a:ln>
        </p:spPr>
      </p:cxnSp>
      <p:cxnSp>
        <p:nvCxnSpPr>
          <p:cNvPr id="12" name="Line 12"/>
          <p:cNvCxnSpPr/>
          <p:nvPr/>
        </p:nvCxnSpPr>
        <p:spPr>
          <a:xfrm>
            <a:off x="7621753" y="1732788"/>
            <a:ext cx="0" cy="3448050"/>
          </a:xfrm>
          <a:prstGeom prst="line">
            <a:avLst/>
          </a:prstGeom>
          <a:ln w="9525" cap="flat">
            <a:solidFill>
              <a:srgbClr val="E6E8F2"/>
            </a:solidFill>
          </a:ln>
        </p:spPr>
      </p:cxnSp>
      <p:cxnSp>
        <p:nvCxnSpPr>
          <p:cNvPr id="13" name="Line 13"/>
          <p:cNvCxnSpPr/>
          <p:nvPr/>
        </p:nvCxnSpPr>
        <p:spPr>
          <a:xfrm>
            <a:off x="7958938" y="1732788"/>
            <a:ext cx="0" cy="3448050"/>
          </a:xfrm>
          <a:prstGeom prst="line">
            <a:avLst/>
          </a:prstGeom>
          <a:ln w="9525" cap="flat">
            <a:solidFill>
              <a:srgbClr val="E6E8F2"/>
            </a:solidFill>
          </a:ln>
        </p:spPr>
      </p:cxnSp>
      <p:cxnSp>
        <p:nvCxnSpPr>
          <p:cNvPr id="14" name="Line 14"/>
          <p:cNvCxnSpPr/>
          <p:nvPr/>
        </p:nvCxnSpPr>
        <p:spPr>
          <a:xfrm>
            <a:off x="8296123" y="1732788"/>
            <a:ext cx="0" cy="3448050"/>
          </a:xfrm>
          <a:prstGeom prst="line">
            <a:avLst/>
          </a:prstGeom>
          <a:ln w="9525" cap="flat">
            <a:solidFill>
              <a:srgbClr val="E6E8F2"/>
            </a:solidFill>
          </a:ln>
        </p:spPr>
      </p:cxnSp>
      <p:cxnSp>
        <p:nvCxnSpPr>
          <p:cNvPr id="15" name="Line 15"/>
          <p:cNvCxnSpPr/>
          <p:nvPr/>
        </p:nvCxnSpPr>
        <p:spPr>
          <a:xfrm>
            <a:off x="8633308" y="1732788"/>
            <a:ext cx="0" cy="3448050"/>
          </a:xfrm>
          <a:prstGeom prst="line">
            <a:avLst/>
          </a:prstGeom>
          <a:ln w="9525" cap="flat">
            <a:solidFill>
              <a:srgbClr val="E6E8F2"/>
            </a:solidFill>
          </a:ln>
        </p:spPr>
      </p:cxnSp>
      <p:cxnSp>
        <p:nvCxnSpPr>
          <p:cNvPr id="16" name="Line 16"/>
          <p:cNvCxnSpPr/>
          <p:nvPr/>
        </p:nvCxnSpPr>
        <p:spPr>
          <a:xfrm>
            <a:off x="8970493" y="1732788"/>
            <a:ext cx="0" cy="3448050"/>
          </a:xfrm>
          <a:prstGeom prst="line">
            <a:avLst/>
          </a:prstGeom>
          <a:ln w="9525" cap="flat">
            <a:solidFill>
              <a:srgbClr val="E6E8F2"/>
            </a:solidFill>
          </a:ln>
        </p:spPr>
      </p:cxnSp>
      <p:cxnSp>
        <p:nvCxnSpPr>
          <p:cNvPr id="17" name="Line 17"/>
          <p:cNvCxnSpPr/>
          <p:nvPr/>
        </p:nvCxnSpPr>
        <p:spPr>
          <a:xfrm>
            <a:off x="9307678" y="1732788"/>
            <a:ext cx="0" cy="3448050"/>
          </a:xfrm>
          <a:prstGeom prst="line">
            <a:avLst/>
          </a:prstGeom>
          <a:ln w="9525" cap="flat">
            <a:solidFill>
              <a:srgbClr val="E6E8F2"/>
            </a:solidFill>
          </a:ln>
        </p:spPr>
      </p:cxnSp>
      <p:cxnSp>
        <p:nvCxnSpPr>
          <p:cNvPr id="18" name="Line 18"/>
          <p:cNvCxnSpPr/>
          <p:nvPr/>
        </p:nvCxnSpPr>
        <p:spPr>
          <a:xfrm>
            <a:off x="9644863" y="1732788"/>
            <a:ext cx="0" cy="3448050"/>
          </a:xfrm>
          <a:prstGeom prst="line">
            <a:avLst/>
          </a:prstGeom>
          <a:ln w="9525" cap="flat">
            <a:solidFill>
              <a:srgbClr val="E6E8F2"/>
            </a:solidFill>
          </a:ln>
        </p:spPr>
      </p:cxnSp>
      <p:cxnSp>
        <p:nvCxnSpPr>
          <p:cNvPr id="19" name="Line 19"/>
          <p:cNvCxnSpPr/>
          <p:nvPr/>
        </p:nvCxnSpPr>
        <p:spPr>
          <a:xfrm>
            <a:off x="9982048" y="1732788"/>
            <a:ext cx="0" cy="3448050"/>
          </a:xfrm>
          <a:prstGeom prst="line">
            <a:avLst/>
          </a:prstGeom>
          <a:ln w="9525" cap="flat">
            <a:solidFill>
              <a:srgbClr val="E6E8F2"/>
            </a:solidFill>
          </a:ln>
        </p:spPr>
      </p:cxnSp>
      <p:cxnSp>
        <p:nvCxnSpPr>
          <p:cNvPr id="20" name="Line 20"/>
          <p:cNvCxnSpPr/>
          <p:nvPr/>
        </p:nvCxnSpPr>
        <p:spPr>
          <a:xfrm>
            <a:off x="6610198" y="5180838"/>
            <a:ext cx="3371850" cy="0"/>
          </a:xfrm>
          <a:prstGeom prst="line">
            <a:avLst/>
          </a:prstGeom>
          <a:ln w="9525" cap="flat">
            <a:solidFill>
              <a:srgbClr val="E6E8F2"/>
            </a:solidFill>
          </a:ln>
        </p:spPr>
      </p:cxnSp>
      <p:cxnSp>
        <p:nvCxnSpPr>
          <p:cNvPr id="21" name="Line 21"/>
          <p:cNvCxnSpPr/>
          <p:nvPr/>
        </p:nvCxnSpPr>
        <p:spPr>
          <a:xfrm>
            <a:off x="6610198" y="4989280"/>
            <a:ext cx="3371850" cy="0"/>
          </a:xfrm>
          <a:prstGeom prst="line">
            <a:avLst/>
          </a:prstGeom>
          <a:ln w="9525" cap="flat">
            <a:solidFill>
              <a:srgbClr val="E6E8F2"/>
            </a:solidFill>
          </a:ln>
        </p:spPr>
      </p:cxnSp>
      <p:cxnSp>
        <p:nvCxnSpPr>
          <p:cNvPr id="22" name="Line 22"/>
          <p:cNvCxnSpPr/>
          <p:nvPr/>
        </p:nvCxnSpPr>
        <p:spPr>
          <a:xfrm>
            <a:off x="6610198" y="4797721"/>
            <a:ext cx="3371850" cy="0"/>
          </a:xfrm>
          <a:prstGeom prst="line">
            <a:avLst/>
          </a:prstGeom>
          <a:ln w="9525" cap="flat">
            <a:solidFill>
              <a:srgbClr val="E6E8F2"/>
            </a:solidFill>
          </a:ln>
        </p:spPr>
      </p:cxnSp>
      <p:cxnSp>
        <p:nvCxnSpPr>
          <p:cNvPr id="23" name="Line 23"/>
          <p:cNvCxnSpPr/>
          <p:nvPr/>
        </p:nvCxnSpPr>
        <p:spPr>
          <a:xfrm>
            <a:off x="6610198" y="4606163"/>
            <a:ext cx="3371850" cy="0"/>
          </a:xfrm>
          <a:prstGeom prst="line">
            <a:avLst/>
          </a:prstGeom>
          <a:ln w="9525" cap="flat">
            <a:solidFill>
              <a:srgbClr val="E6E8F2"/>
            </a:solidFill>
          </a:ln>
        </p:spPr>
      </p:cxnSp>
      <p:cxnSp>
        <p:nvCxnSpPr>
          <p:cNvPr id="24" name="Line 24"/>
          <p:cNvCxnSpPr/>
          <p:nvPr/>
        </p:nvCxnSpPr>
        <p:spPr>
          <a:xfrm>
            <a:off x="6610198" y="4414605"/>
            <a:ext cx="3371850" cy="0"/>
          </a:xfrm>
          <a:prstGeom prst="line">
            <a:avLst/>
          </a:prstGeom>
          <a:ln w="9525" cap="flat">
            <a:solidFill>
              <a:srgbClr val="E6E8F2"/>
            </a:solidFill>
          </a:ln>
        </p:spPr>
      </p:cxnSp>
      <p:cxnSp>
        <p:nvCxnSpPr>
          <p:cNvPr id="25" name="Line 25"/>
          <p:cNvCxnSpPr/>
          <p:nvPr/>
        </p:nvCxnSpPr>
        <p:spPr>
          <a:xfrm>
            <a:off x="6610198" y="4223046"/>
            <a:ext cx="3371850" cy="0"/>
          </a:xfrm>
          <a:prstGeom prst="line">
            <a:avLst/>
          </a:prstGeom>
          <a:ln w="9525" cap="flat">
            <a:solidFill>
              <a:srgbClr val="E6E8F2"/>
            </a:solidFill>
          </a:ln>
        </p:spPr>
      </p:cxnSp>
      <p:cxnSp>
        <p:nvCxnSpPr>
          <p:cNvPr id="26" name="Line 26"/>
          <p:cNvCxnSpPr/>
          <p:nvPr/>
        </p:nvCxnSpPr>
        <p:spPr>
          <a:xfrm>
            <a:off x="6610198" y="4031488"/>
            <a:ext cx="3371850" cy="0"/>
          </a:xfrm>
          <a:prstGeom prst="line">
            <a:avLst/>
          </a:prstGeom>
          <a:ln w="9525" cap="flat">
            <a:solidFill>
              <a:srgbClr val="E6E8F2"/>
            </a:solidFill>
          </a:ln>
        </p:spPr>
      </p:cxnSp>
      <p:cxnSp>
        <p:nvCxnSpPr>
          <p:cNvPr id="27" name="Line 27"/>
          <p:cNvCxnSpPr/>
          <p:nvPr/>
        </p:nvCxnSpPr>
        <p:spPr>
          <a:xfrm>
            <a:off x="6610198" y="3839930"/>
            <a:ext cx="3371850" cy="0"/>
          </a:xfrm>
          <a:prstGeom prst="line">
            <a:avLst/>
          </a:prstGeom>
          <a:ln w="9525" cap="flat">
            <a:solidFill>
              <a:srgbClr val="E6E8F2"/>
            </a:solidFill>
          </a:ln>
        </p:spPr>
      </p:cxnSp>
      <p:cxnSp>
        <p:nvCxnSpPr>
          <p:cNvPr id="28" name="Line 28"/>
          <p:cNvCxnSpPr/>
          <p:nvPr/>
        </p:nvCxnSpPr>
        <p:spPr>
          <a:xfrm>
            <a:off x="6610198" y="3648371"/>
            <a:ext cx="3371850" cy="0"/>
          </a:xfrm>
          <a:prstGeom prst="line">
            <a:avLst/>
          </a:prstGeom>
          <a:ln w="9525" cap="flat">
            <a:solidFill>
              <a:srgbClr val="E6E8F2"/>
            </a:solidFill>
          </a:ln>
        </p:spPr>
      </p:cxnSp>
      <p:cxnSp>
        <p:nvCxnSpPr>
          <p:cNvPr id="29" name="Line 29"/>
          <p:cNvCxnSpPr/>
          <p:nvPr/>
        </p:nvCxnSpPr>
        <p:spPr>
          <a:xfrm>
            <a:off x="6610198" y="3456813"/>
            <a:ext cx="3371850" cy="0"/>
          </a:xfrm>
          <a:prstGeom prst="line">
            <a:avLst/>
          </a:prstGeom>
          <a:ln w="9525" cap="flat">
            <a:solidFill>
              <a:srgbClr val="E6E8F2"/>
            </a:solidFill>
          </a:ln>
        </p:spPr>
      </p:cxnSp>
      <p:cxnSp>
        <p:nvCxnSpPr>
          <p:cNvPr id="30" name="Line 30"/>
          <p:cNvCxnSpPr/>
          <p:nvPr/>
        </p:nvCxnSpPr>
        <p:spPr>
          <a:xfrm>
            <a:off x="6610198" y="3265255"/>
            <a:ext cx="3371850" cy="0"/>
          </a:xfrm>
          <a:prstGeom prst="line">
            <a:avLst/>
          </a:prstGeom>
          <a:ln w="9525" cap="flat">
            <a:solidFill>
              <a:srgbClr val="E6E8F2"/>
            </a:solidFill>
          </a:ln>
        </p:spPr>
      </p:cxnSp>
      <p:cxnSp>
        <p:nvCxnSpPr>
          <p:cNvPr id="31" name="Line 31"/>
          <p:cNvCxnSpPr/>
          <p:nvPr/>
        </p:nvCxnSpPr>
        <p:spPr>
          <a:xfrm>
            <a:off x="6610198" y="3073696"/>
            <a:ext cx="3371850" cy="0"/>
          </a:xfrm>
          <a:prstGeom prst="line">
            <a:avLst/>
          </a:prstGeom>
          <a:ln w="9525" cap="flat">
            <a:solidFill>
              <a:srgbClr val="E6E8F2"/>
            </a:solidFill>
          </a:ln>
        </p:spPr>
      </p:cxnSp>
      <p:cxnSp>
        <p:nvCxnSpPr>
          <p:cNvPr id="32" name="Line 32"/>
          <p:cNvCxnSpPr/>
          <p:nvPr/>
        </p:nvCxnSpPr>
        <p:spPr>
          <a:xfrm>
            <a:off x="6610198" y="2882138"/>
            <a:ext cx="3371850" cy="0"/>
          </a:xfrm>
          <a:prstGeom prst="line">
            <a:avLst/>
          </a:prstGeom>
          <a:ln w="9525" cap="flat">
            <a:solidFill>
              <a:srgbClr val="E6E8F2"/>
            </a:solidFill>
          </a:ln>
        </p:spPr>
      </p:cxnSp>
      <p:cxnSp>
        <p:nvCxnSpPr>
          <p:cNvPr id="33" name="Line 33"/>
          <p:cNvCxnSpPr/>
          <p:nvPr/>
        </p:nvCxnSpPr>
        <p:spPr>
          <a:xfrm>
            <a:off x="6610198" y="2690580"/>
            <a:ext cx="3371850" cy="0"/>
          </a:xfrm>
          <a:prstGeom prst="line">
            <a:avLst/>
          </a:prstGeom>
          <a:ln w="9525" cap="flat">
            <a:solidFill>
              <a:srgbClr val="E6E8F2"/>
            </a:solidFill>
          </a:ln>
        </p:spPr>
      </p:cxnSp>
      <p:cxnSp>
        <p:nvCxnSpPr>
          <p:cNvPr id="34" name="Line 34"/>
          <p:cNvCxnSpPr/>
          <p:nvPr/>
        </p:nvCxnSpPr>
        <p:spPr>
          <a:xfrm>
            <a:off x="6610198" y="2499021"/>
            <a:ext cx="3371850" cy="0"/>
          </a:xfrm>
          <a:prstGeom prst="line">
            <a:avLst/>
          </a:prstGeom>
          <a:ln w="9525" cap="flat">
            <a:solidFill>
              <a:srgbClr val="E6E8F2"/>
            </a:solidFill>
          </a:ln>
        </p:spPr>
      </p:cxnSp>
      <p:cxnSp>
        <p:nvCxnSpPr>
          <p:cNvPr id="35" name="Line 35"/>
          <p:cNvCxnSpPr/>
          <p:nvPr/>
        </p:nvCxnSpPr>
        <p:spPr>
          <a:xfrm>
            <a:off x="6610198" y="2307463"/>
            <a:ext cx="3371850" cy="0"/>
          </a:xfrm>
          <a:prstGeom prst="line">
            <a:avLst/>
          </a:prstGeom>
          <a:ln w="9525" cap="flat">
            <a:solidFill>
              <a:srgbClr val="E6E8F2"/>
            </a:solidFill>
          </a:ln>
        </p:spPr>
      </p:cxnSp>
      <p:cxnSp>
        <p:nvCxnSpPr>
          <p:cNvPr id="36" name="Line 36"/>
          <p:cNvCxnSpPr/>
          <p:nvPr/>
        </p:nvCxnSpPr>
        <p:spPr>
          <a:xfrm>
            <a:off x="6610198" y="2115905"/>
            <a:ext cx="3371850" cy="0"/>
          </a:xfrm>
          <a:prstGeom prst="line">
            <a:avLst/>
          </a:prstGeom>
          <a:ln w="9525" cap="flat">
            <a:solidFill>
              <a:srgbClr val="E6E8F2"/>
            </a:solidFill>
          </a:ln>
        </p:spPr>
      </p:cxnSp>
      <p:cxnSp>
        <p:nvCxnSpPr>
          <p:cNvPr id="37" name="Line 37"/>
          <p:cNvCxnSpPr/>
          <p:nvPr/>
        </p:nvCxnSpPr>
        <p:spPr>
          <a:xfrm>
            <a:off x="6610198" y="1924346"/>
            <a:ext cx="3371850" cy="0"/>
          </a:xfrm>
          <a:prstGeom prst="line">
            <a:avLst/>
          </a:prstGeom>
          <a:ln w="9525" cap="flat">
            <a:solidFill>
              <a:srgbClr val="E6E8F2"/>
            </a:solidFill>
          </a:ln>
        </p:spPr>
      </p:cxnSp>
      <p:cxnSp>
        <p:nvCxnSpPr>
          <p:cNvPr id="38" name="Line 38"/>
          <p:cNvCxnSpPr/>
          <p:nvPr/>
        </p:nvCxnSpPr>
        <p:spPr>
          <a:xfrm>
            <a:off x="6610198" y="1732788"/>
            <a:ext cx="3371850" cy="0"/>
          </a:xfrm>
          <a:prstGeom prst="line">
            <a:avLst/>
          </a:prstGeom>
          <a:ln w="9525" cap="flat">
            <a:solidFill>
              <a:srgbClr val="E6E8F2"/>
            </a:solidFill>
          </a:ln>
        </p:spPr>
      </p:cxnSp>
      <p:cxnSp>
        <p:nvCxnSpPr>
          <p:cNvPr id="39" name="Line 39"/>
          <p:cNvCxnSpPr/>
          <p:nvPr/>
        </p:nvCxnSpPr>
        <p:spPr>
          <a:xfrm>
            <a:off x="8296123" y="1732788"/>
            <a:ext cx="0" cy="3448050"/>
          </a:xfrm>
          <a:prstGeom prst="line">
            <a:avLst/>
          </a:prstGeom>
          <a:ln w="19050" cap="flat">
            <a:solidFill>
              <a:srgbClr val="5F6272"/>
            </a:solidFill>
          </a:ln>
        </p:spPr>
      </p:cxnSp>
      <p:cxnSp>
        <p:nvCxnSpPr>
          <p:cNvPr id="40" name="Line 40"/>
          <p:cNvCxnSpPr/>
          <p:nvPr/>
        </p:nvCxnSpPr>
        <p:spPr>
          <a:xfrm>
            <a:off x="6610198" y="3456813"/>
            <a:ext cx="3371850" cy="0"/>
          </a:xfrm>
          <a:prstGeom prst="line">
            <a:avLst/>
          </a:prstGeom>
          <a:ln w="19050" cap="flat">
            <a:solidFill>
              <a:srgbClr val="5F6272"/>
            </a:solidFill>
          </a:ln>
        </p:spPr>
      </p:cxnSp>
      <p:sp>
        <p:nvSpPr>
          <p:cNvPr id="41" name="Shape 41"/>
          <p:cNvSpPr txBox="1"/>
          <p:nvPr/>
        </p:nvSpPr>
        <p:spPr>
          <a:xfrm>
            <a:off x="667306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734743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802180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869617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5" name="Shape 45"/>
          <p:cNvSpPr txBox="1"/>
          <p:nvPr/>
        </p:nvSpPr>
        <p:spPr>
          <a:xfrm>
            <a:off x="937054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6" name="Shape 46"/>
          <p:cNvSpPr txBox="1"/>
          <p:nvPr/>
        </p:nvSpPr>
        <p:spPr>
          <a:xfrm>
            <a:off x="6043270"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−18</a:t>
            </a:r>
            <a:endParaRPr lang="en-US" sz="975" dirty="0"/>
          </a:p>
        </p:txBody>
      </p:sp>
      <p:sp>
        <p:nvSpPr>
          <p:cNvPr id="47" name="Shape 47"/>
          <p:cNvSpPr txBox="1"/>
          <p:nvPr/>
        </p:nvSpPr>
        <p:spPr>
          <a:xfrm>
            <a:off x="6043270" y="45147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8" name="Shape 48"/>
          <p:cNvSpPr txBox="1"/>
          <p:nvPr/>
        </p:nvSpPr>
        <p:spPr>
          <a:xfrm>
            <a:off x="6043270" y="3940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9" name="Shape 49"/>
          <p:cNvSpPr txBox="1"/>
          <p:nvPr/>
        </p:nvSpPr>
        <p:spPr>
          <a:xfrm>
            <a:off x="6043270" y="33653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6043270" y="2790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6043270" y="22160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2" name="Shape 52"/>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18</a:t>
            </a:r>
            <a:endParaRPr lang="en-US" sz="975" dirty="0"/>
          </a:p>
        </p:txBody>
      </p:sp>
      <p:cxnSp>
        <p:nvCxnSpPr>
          <p:cNvPr id="53" name="Line 53"/>
          <p:cNvCxnSpPr/>
          <p:nvPr/>
        </p:nvCxnSpPr>
        <p:spPr>
          <a:xfrm flipV="1">
            <a:off x="6947383" y="2690580"/>
            <a:ext cx="2697480" cy="1532467"/>
          </a:xfrm>
          <a:prstGeom prst="line">
            <a:avLst/>
          </a:prstGeom>
          <a:ln w="38100" cap="rnd">
            <a:solidFill>
              <a:srgbClr val="16171D"/>
            </a:solidFill>
          </a:ln>
        </p:spPr>
      </p:cxnSp>
      <p:sp>
        <p:nvSpPr>
          <p:cNvPr id="54" name="Shape 54"/>
          <p:cNvSpPr txBox="1"/>
          <p:nvPr/>
        </p:nvSpPr>
        <p:spPr>
          <a:xfrm>
            <a:off x="7153123" y="2709630"/>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AB</a:t>
            </a:r>
            <a:endParaRPr lang="en-US" sz="1275" dirty="0"/>
          </a:p>
        </p:txBody>
      </p:sp>
      <p:cxnSp>
        <p:nvCxnSpPr>
          <p:cNvPr id="55" name="Line 55"/>
          <p:cNvCxnSpPr/>
          <p:nvPr/>
        </p:nvCxnSpPr>
        <p:spPr>
          <a:xfrm flipV="1">
            <a:off x="6947383" y="1924346"/>
            <a:ext cx="2697480" cy="3064933"/>
          </a:xfrm>
          <a:prstGeom prst="line">
            <a:avLst/>
          </a:prstGeom>
          <a:ln w="38100" cap="rnd">
            <a:solidFill>
              <a:srgbClr val="4F8A3C"/>
            </a:solidFill>
          </a:ln>
        </p:spPr>
      </p:cxnSp>
      <p:sp>
        <p:nvSpPr>
          <p:cNvPr id="56" name="Shape 56"/>
          <p:cNvSpPr txBox="1"/>
          <p:nvPr/>
        </p:nvSpPr>
        <p:spPr>
          <a:xfrm>
            <a:off x="7153123" y="194339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EF</a:t>
            </a:r>
            <a:endParaRPr lang="en-US" sz="1275" dirty="0"/>
          </a:p>
        </p:txBody>
      </p:sp>
      <p:cxnSp>
        <p:nvCxnSpPr>
          <p:cNvPr id="57" name="Line 57"/>
          <p:cNvCxnSpPr/>
          <p:nvPr/>
        </p:nvCxnSpPr>
        <p:spPr>
          <a:xfrm>
            <a:off x="6947383" y="1924346"/>
            <a:ext cx="2697480" cy="3064933"/>
          </a:xfrm>
          <a:prstGeom prst="line">
            <a:avLst/>
          </a:prstGeom>
          <a:ln w="38100" cap="rnd">
            <a:solidFill>
              <a:srgbClr val="7A4FC4"/>
            </a:solidFill>
          </a:ln>
        </p:spPr>
      </p:cxnSp>
      <p:sp>
        <p:nvSpPr>
          <p:cNvPr id="58" name="Shape 58"/>
          <p:cNvSpPr txBox="1"/>
          <p:nvPr/>
        </p:nvSpPr>
        <p:spPr>
          <a:xfrm>
            <a:off x="7023583" y="1943396"/>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GH</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3" presetID="22" presetClass="entr" presetSubtype="8"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left)">
                                      <p:cBhvr>
                                        <p:cTn id="32" dur="700"/>
                                        <p:tgtEl>
                                          <p:spTgt spid="55"/>
                                        </p:tgtEl>
                                      </p:cBhvr>
                                    </p:animEffect>
                                  </p:childTnLst>
                                </p:cTn>
                              </p:par>
                              <p:par>
                                <p:cTn id="36" presetID="22" presetClass="entr" presetSubtype="8"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animEffect transition="in" filter="wipe(left)">
                                      <p:cBhvr>
                                        <p:cTn id="35" dur="700"/>
                                        <p:tgtEl>
                                          <p:spTgt spid="56"/>
                                        </p:tgtEl>
                                      </p:cBhvr>
                                    </p:animEffect>
                                  </p:childTnLst>
                                </p:cTn>
                              </p:par>
                            </p:childTnLst>
                          </p:cTn>
                        </p:par>
                      </p:childTnLst>
                    </p:cTn>
                  </p:par>
                  <p:par>
                    <p:cTn id="45" fill="hold">
                      <p:stCondLst>
                        <p:cond delay="indefinite"/>
                      </p:stCondLst>
                      <p:childTnLst>
                        <p:par>
                          <p:cTn id="46"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wipe(left)">
                                      <p:cBhvr>
                                        <p:cTn id="40" dur="700"/>
                                        <p:tgtEl>
                                          <p:spTgt spid="57"/>
                                        </p:tgtEl>
                                      </p:cBhvr>
                                    </p:animEffect>
                                  </p:childTnLst>
                                </p:cTn>
                              </p:par>
                              <p:par>
                                <p:cTn id="44" presetID="22" presetClass="entr" presetSubtype="8"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wipe(left)">
                                      <p:cBhvr>
                                        <p:cTn id="43"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1.1 · Vertical Translations of Functions · SE p. 272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Translate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r>
              <a:rPr lang="en-US" sz="3450" dirty="0" b="1">
                <a:solidFill>
                  <a:srgbClr val="16171D"/>
                </a:solidFill>
                <a:latin typeface="Segoe UI"/>
                <a:cs typeface="Segoe UI"/>
              </a:rPr>
              <a:t xml:space="preserve"> down 5, then up 5</a:t>
            </a:r>
            <a:endParaRPr lang="en-US" sz="3450" dirty="0"/>
          </a:p>
        </p:txBody>
      </p:sp>
      <p:sp>
        <p:nvSpPr>
          <p:cNvPr id="4" name="Shape 4"/>
          <p:cNvSpPr txBox="1"/>
          <p:nvPr/>
        </p:nvSpPr>
        <p:spPr>
          <a:xfrm>
            <a:off x="685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5" name="Shape 5"/>
          <p:cNvSpPr txBox="1"/>
          <p:nvPr/>
        </p:nvSpPr>
        <p:spPr>
          <a:xfrm>
            <a:off x="1828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6" name="Shape 6"/>
          <p:cNvSpPr txBox="1"/>
          <p:nvPr/>
        </p:nvSpPr>
        <p:spPr>
          <a:xfrm>
            <a:off x="2971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m(x)</a:t>
            </a:r>
            <a:endParaRPr lang="en-US" sz="1650" dirty="0"/>
          </a:p>
        </p:txBody>
      </p:sp>
      <p:sp>
        <p:nvSpPr>
          <p:cNvPr id="7" name="Shape 7"/>
          <p:cNvSpPr txBox="1"/>
          <p:nvPr/>
        </p:nvSpPr>
        <p:spPr>
          <a:xfrm>
            <a:off x="685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8" name="Shape 8"/>
          <p:cNvSpPr txBox="1"/>
          <p:nvPr/>
        </p:nvSpPr>
        <p:spPr>
          <a:xfrm>
            <a:off x="1828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9" name="Shape 9"/>
          <p:cNvSpPr txBox="1"/>
          <p:nvPr/>
        </p:nvSpPr>
        <p:spPr>
          <a:xfrm>
            <a:off x="2971800" y="20162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0" name="Shape 10"/>
          <p:cNvSpPr txBox="1"/>
          <p:nvPr/>
        </p:nvSpPr>
        <p:spPr>
          <a:xfrm>
            <a:off x="2971800" y="20162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a:t>
            </a:r>
            <a:endParaRPr lang="en-US" sz="1650" dirty="0"/>
          </a:p>
        </p:txBody>
      </p:sp>
      <p:sp>
        <p:nvSpPr>
          <p:cNvPr id="11" name="Shape 11"/>
          <p:cNvSpPr txBox="1"/>
          <p:nvPr/>
        </p:nvSpPr>
        <p:spPr>
          <a:xfrm>
            <a:off x="685800" y="241401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2" name="Shape 12"/>
          <p:cNvSpPr txBox="1"/>
          <p:nvPr/>
        </p:nvSpPr>
        <p:spPr>
          <a:xfrm>
            <a:off x="1828800" y="241401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3" name="Shape 13"/>
          <p:cNvSpPr txBox="1"/>
          <p:nvPr/>
        </p:nvSpPr>
        <p:spPr>
          <a:xfrm>
            <a:off x="2971800" y="241401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4" name="Shape 14"/>
          <p:cNvSpPr txBox="1"/>
          <p:nvPr/>
        </p:nvSpPr>
        <p:spPr>
          <a:xfrm>
            <a:off x="2971800" y="241401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−6</a:t>
            </a:r>
            <a:endParaRPr lang="en-US" sz="1650" dirty="0"/>
          </a:p>
        </p:txBody>
      </p:sp>
      <p:sp>
        <p:nvSpPr>
          <p:cNvPr id="15" name="Shape 15"/>
          <p:cNvSpPr txBox="1"/>
          <p:nvPr/>
        </p:nvSpPr>
        <p:spPr>
          <a:xfrm>
            <a:off x="685800" y="281178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6" name="Shape 16"/>
          <p:cNvSpPr txBox="1"/>
          <p:nvPr/>
        </p:nvSpPr>
        <p:spPr>
          <a:xfrm>
            <a:off x="1828800" y="281178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7" name="Shape 17"/>
          <p:cNvSpPr txBox="1"/>
          <p:nvPr/>
        </p:nvSpPr>
        <p:spPr>
          <a:xfrm>
            <a:off x="2971800" y="281178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8" name="Shape 18"/>
          <p:cNvSpPr txBox="1"/>
          <p:nvPr/>
        </p:nvSpPr>
        <p:spPr>
          <a:xfrm>
            <a:off x="2971800" y="281178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19" name="Shape 19"/>
          <p:cNvSpPr txBox="1"/>
          <p:nvPr/>
        </p:nvSpPr>
        <p:spPr>
          <a:xfrm>
            <a:off x="685800" y="320954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0" name="Shape 20"/>
          <p:cNvSpPr txBox="1"/>
          <p:nvPr/>
        </p:nvSpPr>
        <p:spPr>
          <a:xfrm>
            <a:off x="1828800" y="320954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1" name="Shape 21"/>
          <p:cNvSpPr txBox="1"/>
          <p:nvPr/>
        </p:nvSpPr>
        <p:spPr>
          <a:xfrm>
            <a:off x="2971800" y="320954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2" name="Shape 22"/>
          <p:cNvSpPr txBox="1"/>
          <p:nvPr/>
        </p:nvSpPr>
        <p:spPr>
          <a:xfrm>
            <a:off x="2971800" y="320954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23" name="Shape 23"/>
          <p:cNvSpPr txBox="1"/>
          <p:nvPr/>
        </p:nvSpPr>
        <p:spPr>
          <a:xfrm>
            <a:off x="685800" y="360730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4" name="Shape 24"/>
          <p:cNvSpPr txBox="1"/>
          <p:nvPr/>
        </p:nvSpPr>
        <p:spPr>
          <a:xfrm>
            <a:off x="1828800" y="360730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5" name="Shape 25"/>
          <p:cNvSpPr txBox="1"/>
          <p:nvPr/>
        </p:nvSpPr>
        <p:spPr>
          <a:xfrm>
            <a:off x="2971800" y="360730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6" name="Shape 26"/>
          <p:cNvSpPr txBox="1"/>
          <p:nvPr/>
        </p:nvSpPr>
        <p:spPr>
          <a:xfrm>
            <a:off x="2971800" y="360730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27" name="Shape 27"/>
          <p:cNvSpPr txBox="1"/>
          <p:nvPr/>
        </p:nvSpPr>
        <p:spPr>
          <a:xfrm>
            <a:off x="685800" y="4100322"/>
            <a:ext cx="33526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28" name="Shape 28"/>
          <p:cNvSpPr txBox="1"/>
          <p:nvPr/>
        </p:nvSpPr>
        <p:spPr>
          <a:xfrm>
            <a:off x="4419498"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29" name="Shape 29"/>
          <p:cNvSpPr txBox="1"/>
          <p:nvPr/>
        </p:nvSpPr>
        <p:spPr>
          <a:xfrm>
            <a:off x="5562498"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30" name="Shape 30"/>
          <p:cNvSpPr txBox="1"/>
          <p:nvPr/>
        </p:nvSpPr>
        <p:spPr>
          <a:xfrm>
            <a:off x="6705498"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p(x)</a:t>
            </a:r>
            <a:endParaRPr lang="en-US" sz="1650" dirty="0"/>
          </a:p>
        </p:txBody>
      </p:sp>
      <p:sp>
        <p:nvSpPr>
          <p:cNvPr id="31" name="Shape 31"/>
          <p:cNvSpPr txBox="1"/>
          <p:nvPr/>
        </p:nvSpPr>
        <p:spPr>
          <a:xfrm>
            <a:off x="4419498"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2" name="Shape 32"/>
          <p:cNvSpPr txBox="1"/>
          <p:nvPr/>
        </p:nvSpPr>
        <p:spPr>
          <a:xfrm>
            <a:off x="5562498"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3" name="Shape 33"/>
          <p:cNvSpPr txBox="1"/>
          <p:nvPr/>
        </p:nvSpPr>
        <p:spPr>
          <a:xfrm>
            <a:off x="6705498" y="20162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4" name="Shape 34"/>
          <p:cNvSpPr txBox="1"/>
          <p:nvPr/>
        </p:nvSpPr>
        <p:spPr>
          <a:xfrm>
            <a:off x="6705498" y="20162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35" name="Shape 35"/>
          <p:cNvSpPr txBox="1"/>
          <p:nvPr/>
        </p:nvSpPr>
        <p:spPr>
          <a:xfrm>
            <a:off x="4419498" y="241401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6" name="Shape 36"/>
          <p:cNvSpPr txBox="1"/>
          <p:nvPr/>
        </p:nvSpPr>
        <p:spPr>
          <a:xfrm>
            <a:off x="5562498" y="241401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7" name="Shape 37"/>
          <p:cNvSpPr txBox="1"/>
          <p:nvPr/>
        </p:nvSpPr>
        <p:spPr>
          <a:xfrm>
            <a:off x="6705498" y="241401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8" name="Shape 38"/>
          <p:cNvSpPr txBox="1"/>
          <p:nvPr/>
        </p:nvSpPr>
        <p:spPr>
          <a:xfrm>
            <a:off x="6705498" y="241401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39" name="Shape 39"/>
          <p:cNvSpPr txBox="1"/>
          <p:nvPr/>
        </p:nvSpPr>
        <p:spPr>
          <a:xfrm>
            <a:off x="4419498" y="281178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0" name="Shape 40"/>
          <p:cNvSpPr txBox="1"/>
          <p:nvPr/>
        </p:nvSpPr>
        <p:spPr>
          <a:xfrm>
            <a:off x="5562498" y="281178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1" name="Shape 41"/>
          <p:cNvSpPr txBox="1"/>
          <p:nvPr/>
        </p:nvSpPr>
        <p:spPr>
          <a:xfrm>
            <a:off x="6705498" y="281178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2" name="Shape 42"/>
          <p:cNvSpPr txBox="1"/>
          <p:nvPr/>
        </p:nvSpPr>
        <p:spPr>
          <a:xfrm>
            <a:off x="6705498" y="281178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43" name="Shape 43"/>
          <p:cNvSpPr txBox="1"/>
          <p:nvPr/>
        </p:nvSpPr>
        <p:spPr>
          <a:xfrm>
            <a:off x="4419498" y="320954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4" name="Shape 44"/>
          <p:cNvSpPr txBox="1"/>
          <p:nvPr/>
        </p:nvSpPr>
        <p:spPr>
          <a:xfrm>
            <a:off x="5562498" y="320954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5" name="Shape 45"/>
          <p:cNvSpPr txBox="1"/>
          <p:nvPr/>
        </p:nvSpPr>
        <p:spPr>
          <a:xfrm>
            <a:off x="6705498" y="320954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6" name="Shape 46"/>
          <p:cNvSpPr txBox="1"/>
          <p:nvPr/>
        </p:nvSpPr>
        <p:spPr>
          <a:xfrm>
            <a:off x="6705498" y="320954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6</a:t>
            </a:r>
            <a:endParaRPr lang="en-US" sz="1650" dirty="0"/>
          </a:p>
        </p:txBody>
      </p:sp>
      <p:sp>
        <p:nvSpPr>
          <p:cNvPr id="47" name="Shape 47"/>
          <p:cNvSpPr txBox="1"/>
          <p:nvPr/>
        </p:nvSpPr>
        <p:spPr>
          <a:xfrm>
            <a:off x="4419498" y="360730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48" name="Shape 48"/>
          <p:cNvSpPr txBox="1"/>
          <p:nvPr/>
        </p:nvSpPr>
        <p:spPr>
          <a:xfrm>
            <a:off x="5562498" y="360730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49" name="Shape 49"/>
          <p:cNvSpPr txBox="1"/>
          <p:nvPr/>
        </p:nvSpPr>
        <p:spPr>
          <a:xfrm>
            <a:off x="6705498" y="360730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50" name="Shape 50"/>
          <p:cNvSpPr txBox="1"/>
          <p:nvPr/>
        </p:nvSpPr>
        <p:spPr>
          <a:xfrm>
            <a:off x="6705498" y="360730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a:t>
            </a:r>
            <a:endParaRPr lang="en-US" sz="1650" dirty="0"/>
          </a:p>
        </p:txBody>
      </p:sp>
      <p:sp>
        <p:nvSpPr>
          <p:cNvPr id="51" name="Shape 51"/>
          <p:cNvSpPr txBox="1"/>
          <p:nvPr/>
        </p:nvSpPr>
        <p:spPr>
          <a:xfrm>
            <a:off x="4419498" y="4100322"/>
            <a:ext cx="33526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p</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52" name="Shape 52"/>
          <p:cNvSpPr/>
          <p:nvPr/>
        </p:nvSpPr>
        <p:spPr>
          <a:xfrm>
            <a:off x="8153197" y="1618488"/>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3" name="Line 53"/>
          <p:cNvCxnSpPr/>
          <p:nvPr/>
        </p:nvCxnSpPr>
        <p:spPr>
          <a:xfrm>
            <a:off x="8477047" y="1732788"/>
            <a:ext cx="0" cy="2781300"/>
          </a:xfrm>
          <a:prstGeom prst="line">
            <a:avLst/>
          </a:prstGeom>
          <a:ln w="9525" cap="flat">
            <a:solidFill>
              <a:srgbClr val="E6E8F2"/>
            </a:solidFill>
          </a:ln>
        </p:spPr>
      </p:cxnSp>
      <p:cxnSp>
        <p:nvCxnSpPr>
          <p:cNvPr id="54" name="Line 54"/>
          <p:cNvCxnSpPr/>
          <p:nvPr/>
        </p:nvCxnSpPr>
        <p:spPr>
          <a:xfrm>
            <a:off x="8646116" y="1732788"/>
            <a:ext cx="0" cy="2781300"/>
          </a:xfrm>
          <a:prstGeom prst="line">
            <a:avLst/>
          </a:prstGeom>
          <a:ln w="9525" cap="flat">
            <a:solidFill>
              <a:srgbClr val="E6E8F2"/>
            </a:solidFill>
          </a:ln>
        </p:spPr>
      </p:cxnSp>
      <p:cxnSp>
        <p:nvCxnSpPr>
          <p:cNvPr id="55" name="Line 55"/>
          <p:cNvCxnSpPr/>
          <p:nvPr/>
        </p:nvCxnSpPr>
        <p:spPr>
          <a:xfrm>
            <a:off x="8815184" y="1732788"/>
            <a:ext cx="0" cy="2781300"/>
          </a:xfrm>
          <a:prstGeom prst="line">
            <a:avLst/>
          </a:prstGeom>
          <a:ln w="9525" cap="flat">
            <a:solidFill>
              <a:srgbClr val="E6E8F2"/>
            </a:solidFill>
          </a:ln>
        </p:spPr>
      </p:cxnSp>
      <p:cxnSp>
        <p:nvCxnSpPr>
          <p:cNvPr id="56" name="Line 56"/>
          <p:cNvCxnSpPr/>
          <p:nvPr/>
        </p:nvCxnSpPr>
        <p:spPr>
          <a:xfrm>
            <a:off x="8984253" y="1732788"/>
            <a:ext cx="0" cy="2781300"/>
          </a:xfrm>
          <a:prstGeom prst="line">
            <a:avLst/>
          </a:prstGeom>
          <a:ln w="9525" cap="flat">
            <a:solidFill>
              <a:srgbClr val="E6E8F2"/>
            </a:solidFill>
          </a:ln>
        </p:spPr>
      </p:cxnSp>
      <p:cxnSp>
        <p:nvCxnSpPr>
          <p:cNvPr id="57" name="Line 57"/>
          <p:cNvCxnSpPr/>
          <p:nvPr/>
        </p:nvCxnSpPr>
        <p:spPr>
          <a:xfrm>
            <a:off x="9153322" y="1732788"/>
            <a:ext cx="0" cy="2781300"/>
          </a:xfrm>
          <a:prstGeom prst="line">
            <a:avLst/>
          </a:prstGeom>
          <a:ln w="9525" cap="flat">
            <a:solidFill>
              <a:srgbClr val="E6E8F2"/>
            </a:solidFill>
          </a:ln>
        </p:spPr>
      </p:cxnSp>
      <p:cxnSp>
        <p:nvCxnSpPr>
          <p:cNvPr id="58" name="Line 58"/>
          <p:cNvCxnSpPr/>
          <p:nvPr/>
        </p:nvCxnSpPr>
        <p:spPr>
          <a:xfrm>
            <a:off x="9322391" y="1732788"/>
            <a:ext cx="0" cy="2781300"/>
          </a:xfrm>
          <a:prstGeom prst="line">
            <a:avLst/>
          </a:prstGeom>
          <a:ln w="9525" cap="flat">
            <a:solidFill>
              <a:srgbClr val="E6E8F2"/>
            </a:solidFill>
          </a:ln>
        </p:spPr>
      </p:cxnSp>
      <p:cxnSp>
        <p:nvCxnSpPr>
          <p:cNvPr id="59" name="Line 59"/>
          <p:cNvCxnSpPr/>
          <p:nvPr/>
        </p:nvCxnSpPr>
        <p:spPr>
          <a:xfrm>
            <a:off x="9491459" y="1732788"/>
            <a:ext cx="0" cy="2781300"/>
          </a:xfrm>
          <a:prstGeom prst="line">
            <a:avLst/>
          </a:prstGeom>
          <a:ln w="9525" cap="flat">
            <a:solidFill>
              <a:srgbClr val="E6E8F2"/>
            </a:solidFill>
          </a:ln>
        </p:spPr>
      </p:cxnSp>
      <p:cxnSp>
        <p:nvCxnSpPr>
          <p:cNvPr id="60" name="Line 60"/>
          <p:cNvCxnSpPr/>
          <p:nvPr/>
        </p:nvCxnSpPr>
        <p:spPr>
          <a:xfrm>
            <a:off x="9660528" y="1732788"/>
            <a:ext cx="0" cy="2781300"/>
          </a:xfrm>
          <a:prstGeom prst="line">
            <a:avLst/>
          </a:prstGeom>
          <a:ln w="9525" cap="flat">
            <a:solidFill>
              <a:srgbClr val="E6E8F2"/>
            </a:solidFill>
          </a:ln>
        </p:spPr>
      </p:cxnSp>
      <p:cxnSp>
        <p:nvCxnSpPr>
          <p:cNvPr id="61" name="Line 61"/>
          <p:cNvCxnSpPr/>
          <p:nvPr/>
        </p:nvCxnSpPr>
        <p:spPr>
          <a:xfrm>
            <a:off x="9829597" y="1732788"/>
            <a:ext cx="0" cy="2781300"/>
          </a:xfrm>
          <a:prstGeom prst="line">
            <a:avLst/>
          </a:prstGeom>
          <a:ln w="9525" cap="flat">
            <a:solidFill>
              <a:srgbClr val="E6E8F2"/>
            </a:solidFill>
          </a:ln>
        </p:spPr>
      </p:cxnSp>
      <p:cxnSp>
        <p:nvCxnSpPr>
          <p:cNvPr id="62" name="Line 62"/>
          <p:cNvCxnSpPr/>
          <p:nvPr/>
        </p:nvCxnSpPr>
        <p:spPr>
          <a:xfrm>
            <a:off x="9998666" y="1732788"/>
            <a:ext cx="0" cy="2781300"/>
          </a:xfrm>
          <a:prstGeom prst="line">
            <a:avLst/>
          </a:prstGeom>
          <a:ln w="9525" cap="flat">
            <a:solidFill>
              <a:srgbClr val="E6E8F2"/>
            </a:solidFill>
          </a:ln>
        </p:spPr>
      </p:cxnSp>
      <p:cxnSp>
        <p:nvCxnSpPr>
          <p:cNvPr id="63" name="Line 63"/>
          <p:cNvCxnSpPr/>
          <p:nvPr/>
        </p:nvCxnSpPr>
        <p:spPr>
          <a:xfrm>
            <a:off x="10167734" y="1732788"/>
            <a:ext cx="0" cy="2781300"/>
          </a:xfrm>
          <a:prstGeom prst="line">
            <a:avLst/>
          </a:prstGeom>
          <a:ln w="9525" cap="flat">
            <a:solidFill>
              <a:srgbClr val="E6E8F2"/>
            </a:solidFill>
          </a:ln>
        </p:spPr>
      </p:cxnSp>
      <p:cxnSp>
        <p:nvCxnSpPr>
          <p:cNvPr id="64" name="Line 64"/>
          <p:cNvCxnSpPr/>
          <p:nvPr/>
        </p:nvCxnSpPr>
        <p:spPr>
          <a:xfrm>
            <a:off x="10336803" y="1732788"/>
            <a:ext cx="0" cy="2781300"/>
          </a:xfrm>
          <a:prstGeom prst="line">
            <a:avLst/>
          </a:prstGeom>
          <a:ln w="9525" cap="flat">
            <a:solidFill>
              <a:srgbClr val="E6E8F2"/>
            </a:solidFill>
          </a:ln>
        </p:spPr>
      </p:cxnSp>
      <p:cxnSp>
        <p:nvCxnSpPr>
          <p:cNvPr id="65" name="Line 65"/>
          <p:cNvCxnSpPr/>
          <p:nvPr/>
        </p:nvCxnSpPr>
        <p:spPr>
          <a:xfrm>
            <a:off x="10505872" y="1732788"/>
            <a:ext cx="0" cy="2781300"/>
          </a:xfrm>
          <a:prstGeom prst="line">
            <a:avLst/>
          </a:prstGeom>
          <a:ln w="9525" cap="flat">
            <a:solidFill>
              <a:srgbClr val="E6E8F2"/>
            </a:solidFill>
          </a:ln>
        </p:spPr>
      </p:cxnSp>
      <p:cxnSp>
        <p:nvCxnSpPr>
          <p:cNvPr id="66" name="Line 66"/>
          <p:cNvCxnSpPr/>
          <p:nvPr/>
        </p:nvCxnSpPr>
        <p:spPr>
          <a:xfrm>
            <a:off x="10674941" y="1732788"/>
            <a:ext cx="0" cy="2781300"/>
          </a:xfrm>
          <a:prstGeom prst="line">
            <a:avLst/>
          </a:prstGeom>
          <a:ln w="9525" cap="flat">
            <a:solidFill>
              <a:srgbClr val="E6E8F2"/>
            </a:solidFill>
          </a:ln>
        </p:spPr>
      </p:cxnSp>
      <p:cxnSp>
        <p:nvCxnSpPr>
          <p:cNvPr id="67" name="Line 67"/>
          <p:cNvCxnSpPr/>
          <p:nvPr/>
        </p:nvCxnSpPr>
        <p:spPr>
          <a:xfrm>
            <a:off x="10844009" y="1732788"/>
            <a:ext cx="0" cy="2781300"/>
          </a:xfrm>
          <a:prstGeom prst="line">
            <a:avLst/>
          </a:prstGeom>
          <a:ln w="9525" cap="flat">
            <a:solidFill>
              <a:srgbClr val="E6E8F2"/>
            </a:solidFill>
          </a:ln>
        </p:spPr>
      </p:cxnSp>
      <p:cxnSp>
        <p:nvCxnSpPr>
          <p:cNvPr id="68" name="Line 68"/>
          <p:cNvCxnSpPr/>
          <p:nvPr/>
        </p:nvCxnSpPr>
        <p:spPr>
          <a:xfrm>
            <a:off x="11013078" y="1732788"/>
            <a:ext cx="0" cy="2781300"/>
          </a:xfrm>
          <a:prstGeom prst="line">
            <a:avLst/>
          </a:prstGeom>
          <a:ln w="9525" cap="flat">
            <a:solidFill>
              <a:srgbClr val="E6E8F2"/>
            </a:solidFill>
          </a:ln>
        </p:spPr>
      </p:cxnSp>
      <p:cxnSp>
        <p:nvCxnSpPr>
          <p:cNvPr id="69" name="Line 69"/>
          <p:cNvCxnSpPr/>
          <p:nvPr/>
        </p:nvCxnSpPr>
        <p:spPr>
          <a:xfrm>
            <a:off x="11182147" y="1732788"/>
            <a:ext cx="0" cy="2781300"/>
          </a:xfrm>
          <a:prstGeom prst="line">
            <a:avLst/>
          </a:prstGeom>
          <a:ln w="9525" cap="flat">
            <a:solidFill>
              <a:srgbClr val="E6E8F2"/>
            </a:solidFill>
          </a:ln>
        </p:spPr>
      </p:cxnSp>
      <p:cxnSp>
        <p:nvCxnSpPr>
          <p:cNvPr id="70" name="Line 70"/>
          <p:cNvCxnSpPr/>
          <p:nvPr/>
        </p:nvCxnSpPr>
        <p:spPr>
          <a:xfrm>
            <a:off x="8477047" y="4514088"/>
            <a:ext cx="2705100" cy="0"/>
          </a:xfrm>
          <a:prstGeom prst="line">
            <a:avLst/>
          </a:prstGeom>
          <a:ln w="9525" cap="flat">
            <a:solidFill>
              <a:srgbClr val="E6E8F2"/>
            </a:solidFill>
          </a:ln>
        </p:spPr>
      </p:cxnSp>
      <p:cxnSp>
        <p:nvCxnSpPr>
          <p:cNvPr id="71" name="Line 71"/>
          <p:cNvCxnSpPr/>
          <p:nvPr/>
        </p:nvCxnSpPr>
        <p:spPr>
          <a:xfrm>
            <a:off x="8477047" y="4340257"/>
            <a:ext cx="2705100" cy="0"/>
          </a:xfrm>
          <a:prstGeom prst="line">
            <a:avLst/>
          </a:prstGeom>
          <a:ln w="9525" cap="flat">
            <a:solidFill>
              <a:srgbClr val="E6E8F2"/>
            </a:solidFill>
          </a:ln>
        </p:spPr>
      </p:cxnSp>
      <p:cxnSp>
        <p:nvCxnSpPr>
          <p:cNvPr id="72" name="Line 72"/>
          <p:cNvCxnSpPr/>
          <p:nvPr/>
        </p:nvCxnSpPr>
        <p:spPr>
          <a:xfrm>
            <a:off x="8477047" y="4166426"/>
            <a:ext cx="2705100" cy="0"/>
          </a:xfrm>
          <a:prstGeom prst="line">
            <a:avLst/>
          </a:prstGeom>
          <a:ln w="9525" cap="flat">
            <a:solidFill>
              <a:srgbClr val="E6E8F2"/>
            </a:solidFill>
          </a:ln>
        </p:spPr>
      </p:cxnSp>
      <p:cxnSp>
        <p:nvCxnSpPr>
          <p:cNvPr id="73" name="Line 73"/>
          <p:cNvCxnSpPr/>
          <p:nvPr/>
        </p:nvCxnSpPr>
        <p:spPr>
          <a:xfrm>
            <a:off x="8477047" y="3992594"/>
            <a:ext cx="2705100" cy="0"/>
          </a:xfrm>
          <a:prstGeom prst="line">
            <a:avLst/>
          </a:prstGeom>
          <a:ln w="9525" cap="flat">
            <a:solidFill>
              <a:srgbClr val="E6E8F2"/>
            </a:solidFill>
          </a:ln>
        </p:spPr>
      </p:cxnSp>
      <p:cxnSp>
        <p:nvCxnSpPr>
          <p:cNvPr id="74" name="Line 74"/>
          <p:cNvCxnSpPr/>
          <p:nvPr/>
        </p:nvCxnSpPr>
        <p:spPr>
          <a:xfrm>
            <a:off x="8477047" y="3818763"/>
            <a:ext cx="2705100" cy="0"/>
          </a:xfrm>
          <a:prstGeom prst="line">
            <a:avLst/>
          </a:prstGeom>
          <a:ln w="9525" cap="flat">
            <a:solidFill>
              <a:srgbClr val="E6E8F2"/>
            </a:solidFill>
          </a:ln>
        </p:spPr>
      </p:cxnSp>
      <p:cxnSp>
        <p:nvCxnSpPr>
          <p:cNvPr id="75" name="Line 75"/>
          <p:cNvCxnSpPr/>
          <p:nvPr/>
        </p:nvCxnSpPr>
        <p:spPr>
          <a:xfrm>
            <a:off x="8477047" y="3644932"/>
            <a:ext cx="2705100" cy="0"/>
          </a:xfrm>
          <a:prstGeom prst="line">
            <a:avLst/>
          </a:prstGeom>
          <a:ln w="9525" cap="flat">
            <a:solidFill>
              <a:srgbClr val="E6E8F2"/>
            </a:solidFill>
          </a:ln>
        </p:spPr>
      </p:cxnSp>
      <p:cxnSp>
        <p:nvCxnSpPr>
          <p:cNvPr id="76" name="Line 76"/>
          <p:cNvCxnSpPr/>
          <p:nvPr/>
        </p:nvCxnSpPr>
        <p:spPr>
          <a:xfrm>
            <a:off x="8477047" y="3471100"/>
            <a:ext cx="2705100" cy="0"/>
          </a:xfrm>
          <a:prstGeom prst="line">
            <a:avLst/>
          </a:prstGeom>
          <a:ln w="9525" cap="flat">
            <a:solidFill>
              <a:srgbClr val="E6E8F2"/>
            </a:solidFill>
          </a:ln>
        </p:spPr>
      </p:cxnSp>
      <p:cxnSp>
        <p:nvCxnSpPr>
          <p:cNvPr id="77" name="Line 77"/>
          <p:cNvCxnSpPr/>
          <p:nvPr/>
        </p:nvCxnSpPr>
        <p:spPr>
          <a:xfrm>
            <a:off x="8477047" y="3297269"/>
            <a:ext cx="2705100" cy="0"/>
          </a:xfrm>
          <a:prstGeom prst="line">
            <a:avLst/>
          </a:prstGeom>
          <a:ln w="9525" cap="flat">
            <a:solidFill>
              <a:srgbClr val="E6E8F2"/>
            </a:solidFill>
          </a:ln>
        </p:spPr>
      </p:cxnSp>
      <p:cxnSp>
        <p:nvCxnSpPr>
          <p:cNvPr id="78" name="Line 78"/>
          <p:cNvCxnSpPr/>
          <p:nvPr/>
        </p:nvCxnSpPr>
        <p:spPr>
          <a:xfrm>
            <a:off x="8477047" y="3123438"/>
            <a:ext cx="2705100" cy="0"/>
          </a:xfrm>
          <a:prstGeom prst="line">
            <a:avLst/>
          </a:prstGeom>
          <a:ln w="9525" cap="flat">
            <a:solidFill>
              <a:srgbClr val="E6E8F2"/>
            </a:solidFill>
          </a:ln>
        </p:spPr>
      </p:cxnSp>
      <p:cxnSp>
        <p:nvCxnSpPr>
          <p:cNvPr id="79" name="Line 79"/>
          <p:cNvCxnSpPr/>
          <p:nvPr/>
        </p:nvCxnSpPr>
        <p:spPr>
          <a:xfrm>
            <a:off x="8477047" y="2949607"/>
            <a:ext cx="2705100" cy="0"/>
          </a:xfrm>
          <a:prstGeom prst="line">
            <a:avLst/>
          </a:prstGeom>
          <a:ln w="9525" cap="flat">
            <a:solidFill>
              <a:srgbClr val="E6E8F2"/>
            </a:solidFill>
          </a:ln>
        </p:spPr>
      </p:cxnSp>
      <p:cxnSp>
        <p:nvCxnSpPr>
          <p:cNvPr id="80" name="Line 80"/>
          <p:cNvCxnSpPr/>
          <p:nvPr/>
        </p:nvCxnSpPr>
        <p:spPr>
          <a:xfrm>
            <a:off x="8477047" y="2775776"/>
            <a:ext cx="2705100" cy="0"/>
          </a:xfrm>
          <a:prstGeom prst="line">
            <a:avLst/>
          </a:prstGeom>
          <a:ln w="9525" cap="flat">
            <a:solidFill>
              <a:srgbClr val="E6E8F2"/>
            </a:solidFill>
          </a:ln>
        </p:spPr>
      </p:cxnSp>
      <p:cxnSp>
        <p:nvCxnSpPr>
          <p:cNvPr id="81" name="Line 81"/>
          <p:cNvCxnSpPr/>
          <p:nvPr/>
        </p:nvCxnSpPr>
        <p:spPr>
          <a:xfrm>
            <a:off x="8477047" y="2601944"/>
            <a:ext cx="2705100" cy="0"/>
          </a:xfrm>
          <a:prstGeom prst="line">
            <a:avLst/>
          </a:prstGeom>
          <a:ln w="9525" cap="flat">
            <a:solidFill>
              <a:srgbClr val="E6E8F2"/>
            </a:solidFill>
          </a:ln>
        </p:spPr>
      </p:cxnSp>
      <p:cxnSp>
        <p:nvCxnSpPr>
          <p:cNvPr id="82" name="Line 82"/>
          <p:cNvCxnSpPr/>
          <p:nvPr/>
        </p:nvCxnSpPr>
        <p:spPr>
          <a:xfrm>
            <a:off x="8477047" y="2428113"/>
            <a:ext cx="2705100" cy="0"/>
          </a:xfrm>
          <a:prstGeom prst="line">
            <a:avLst/>
          </a:prstGeom>
          <a:ln w="9525" cap="flat">
            <a:solidFill>
              <a:srgbClr val="E6E8F2"/>
            </a:solidFill>
          </a:ln>
        </p:spPr>
      </p:cxnSp>
      <p:cxnSp>
        <p:nvCxnSpPr>
          <p:cNvPr id="83" name="Line 83"/>
          <p:cNvCxnSpPr/>
          <p:nvPr/>
        </p:nvCxnSpPr>
        <p:spPr>
          <a:xfrm>
            <a:off x="8477047" y="2254282"/>
            <a:ext cx="2705100" cy="0"/>
          </a:xfrm>
          <a:prstGeom prst="line">
            <a:avLst/>
          </a:prstGeom>
          <a:ln w="9525" cap="flat">
            <a:solidFill>
              <a:srgbClr val="E6E8F2"/>
            </a:solidFill>
          </a:ln>
        </p:spPr>
      </p:cxnSp>
      <p:cxnSp>
        <p:nvCxnSpPr>
          <p:cNvPr id="84" name="Line 84"/>
          <p:cNvCxnSpPr/>
          <p:nvPr/>
        </p:nvCxnSpPr>
        <p:spPr>
          <a:xfrm>
            <a:off x="8477047" y="2080451"/>
            <a:ext cx="2705100" cy="0"/>
          </a:xfrm>
          <a:prstGeom prst="line">
            <a:avLst/>
          </a:prstGeom>
          <a:ln w="9525" cap="flat">
            <a:solidFill>
              <a:srgbClr val="E6E8F2"/>
            </a:solidFill>
          </a:ln>
        </p:spPr>
      </p:cxnSp>
      <p:cxnSp>
        <p:nvCxnSpPr>
          <p:cNvPr id="85" name="Line 85"/>
          <p:cNvCxnSpPr/>
          <p:nvPr/>
        </p:nvCxnSpPr>
        <p:spPr>
          <a:xfrm>
            <a:off x="8477047" y="1906619"/>
            <a:ext cx="2705100" cy="0"/>
          </a:xfrm>
          <a:prstGeom prst="line">
            <a:avLst/>
          </a:prstGeom>
          <a:ln w="9525" cap="flat">
            <a:solidFill>
              <a:srgbClr val="E6E8F2"/>
            </a:solidFill>
          </a:ln>
        </p:spPr>
      </p:cxnSp>
      <p:cxnSp>
        <p:nvCxnSpPr>
          <p:cNvPr id="86" name="Line 86"/>
          <p:cNvCxnSpPr/>
          <p:nvPr/>
        </p:nvCxnSpPr>
        <p:spPr>
          <a:xfrm>
            <a:off x="8477047" y="1732788"/>
            <a:ext cx="2705100" cy="0"/>
          </a:xfrm>
          <a:prstGeom prst="line">
            <a:avLst/>
          </a:prstGeom>
          <a:ln w="9525" cap="flat">
            <a:solidFill>
              <a:srgbClr val="E6E8F2"/>
            </a:solidFill>
          </a:ln>
        </p:spPr>
      </p:cxnSp>
      <p:cxnSp>
        <p:nvCxnSpPr>
          <p:cNvPr id="87" name="Line 87"/>
          <p:cNvCxnSpPr/>
          <p:nvPr/>
        </p:nvCxnSpPr>
        <p:spPr>
          <a:xfrm>
            <a:off x="9829597" y="1732788"/>
            <a:ext cx="0" cy="2781300"/>
          </a:xfrm>
          <a:prstGeom prst="line">
            <a:avLst/>
          </a:prstGeom>
          <a:ln w="19050" cap="flat">
            <a:solidFill>
              <a:srgbClr val="5F6272"/>
            </a:solidFill>
          </a:ln>
        </p:spPr>
      </p:cxnSp>
      <p:cxnSp>
        <p:nvCxnSpPr>
          <p:cNvPr id="88" name="Line 88"/>
          <p:cNvCxnSpPr/>
          <p:nvPr/>
        </p:nvCxnSpPr>
        <p:spPr>
          <a:xfrm>
            <a:off x="8477047" y="3123438"/>
            <a:ext cx="2705100" cy="0"/>
          </a:xfrm>
          <a:prstGeom prst="line">
            <a:avLst/>
          </a:prstGeom>
          <a:ln w="19050" cap="flat">
            <a:solidFill>
              <a:srgbClr val="5F6272"/>
            </a:solidFill>
          </a:ln>
        </p:spPr>
      </p:cxnSp>
      <p:sp>
        <p:nvSpPr>
          <p:cNvPr id="89" name="Shape 89"/>
          <p:cNvSpPr txBox="1"/>
          <p:nvPr/>
        </p:nvSpPr>
        <p:spPr>
          <a:xfrm>
            <a:off x="8202727"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90" name="Shape 90"/>
          <p:cNvSpPr txBox="1"/>
          <p:nvPr/>
        </p:nvSpPr>
        <p:spPr>
          <a:xfrm>
            <a:off x="8540864"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91" name="Shape 91"/>
          <p:cNvSpPr txBox="1"/>
          <p:nvPr/>
        </p:nvSpPr>
        <p:spPr>
          <a:xfrm>
            <a:off x="8879002"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92" name="Shape 92"/>
          <p:cNvSpPr txBox="1"/>
          <p:nvPr/>
        </p:nvSpPr>
        <p:spPr>
          <a:xfrm>
            <a:off x="9217139"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93" name="Shape 93"/>
          <p:cNvSpPr txBox="1"/>
          <p:nvPr/>
        </p:nvSpPr>
        <p:spPr>
          <a:xfrm>
            <a:off x="9555277"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94" name="Shape 94"/>
          <p:cNvSpPr txBox="1"/>
          <p:nvPr/>
        </p:nvSpPr>
        <p:spPr>
          <a:xfrm>
            <a:off x="9893414"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95" name="Shape 95"/>
          <p:cNvSpPr txBox="1"/>
          <p:nvPr/>
        </p:nvSpPr>
        <p:spPr>
          <a:xfrm>
            <a:off x="10231552"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96" name="Shape 96"/>
          <p:cNvSpPr txBox="1"/>
          <p:nvPr/>
        </p:nvSpPr>
        <p:spPr>
          <a:xfrm>
            <a:off x="10569689"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97" name="Shape 97"/>
          <p:cNvSpPr txBox="1"/>
          <p:nvPr/>
        </p:nvSpPr>
        <p:spPr>
          <a:xfrm>
            <a:off x="10907827"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98" name="Shape 98"/>
          <p:cNvSpPr txBox="1"/>
          <p:nvPr/>
        </p:nvSpPr>
        <p:spPr>
          <a:xfrm>
            <a:off x="7910119" y="44226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99" name="Shape 99"/>
          <p:cNvSpPr txBox="1"/>
          <p:nvPr/>
        </p:nvSpPr>
        <p:spPr>
          <a:xfrm>
            <a:off x="7910119" y="40749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00" name="Shape 100"/>
          <p:cNvSpPr txBox="1"/>
          <p:nvPr/>
        </p:nvSpPr>
        <p:spPr>
          <a:xfrm>
            <a:off x="7910119" y="37273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01" name="Shape 101"/>
          <p:cNvSpPr txBox="1"/>
          <p:nvPr/>
        </p:nvSpPr>
        <p:spPr>
          <a:xfrm>
            <a:off x="7910119" y="33796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02" name="Shape 102"/>
          <p:cNvSpPr txBox="1"/>
          <p:nvPr/>
        </p:nvSpPr>
        <p:spPr>
          <a:xfrm>
            <a:off x="7910119" y="30319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03" name="Shape 103"/>
          <p:cNvSpPr txBox="1"/>
          <p:nvPr/>
        </p:nvSpPr>
        <p:spPr>
          <a:xfrm>
            <a:off x="7910119" y="26843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04" name="Shape 104"/>
          <p:cNvSpPr txBox="1"/>
          <p:nvPr/>
        </p:nvSpPr>
        <p:spPr>
          <a:xfrm>
            <a:off x="7910119" y="23366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05" name="Shape 105"/>
          <p:cNvSpPr txBox="1"/>
          <p:nvPr/>
        </p:nvSpPr>
        <p:spPr>
          <a:xfrm>
            <a:off x="7910119" y="19890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06" name="Shape 106"/>
          <p:cNvSpPr txBox="1"/>
          <p:nvPr/>
        </p:nvSpPr>
        <p:spPr>
          <a:xfrm>
            <a:off x="7910119"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107" name="Line 107"/>
          <p:cNvCxnSpPr/>
          <p:nvPr/>
        </p:nvCxnSpPr>
        <p:spPr>
          <a:xfrm flipV="1">
            <a:off x="8477047" y="1732788"/>
            <a:ext cx="2705100" cy="2781300"/>
          </a:xfrm>
          <a:prstGeom prst="line">
            <a:avLst/>
          </a:prstGeom>
          <a:ln w="38100" cap="rnd">
            <a:solidFill>
              <a:srgbClr val="16171D"/>
            </a:solidFill>
          </a:ln>
        </p:spPr>
      </p:cxnSp>
      <p:sp>
        <p:nvSpPr>
          <p:cNvPr id="108" name="Shape 108"/>
          <p:cNvSpPr txBox="1"/>
          <p:nvPr/>
        </p:nvSpPr>
        <p:spPr>
          <a:xfrm>
            <a:off x="8690407"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109" name="Line 109"/>
          <p:cNvCxnSpPr/>
          <p:nvPr/>
        </p:nvCxnSpPr>
        <p:spPr>
          <a:xfrm flipV="1">
            <a:off x="9322391" y="2601944"/>
            <a:ext cx="1859756" cy="1912144"/>
          </a:xfrm>
          <a:prstGeom prst="line">
            <a:avLst/>
          </a:prstGeom>
          <a:ln w="38100" cap="rnd">
            <a:solidFill>
              <a:srgbClr val="4F8A3C"/>
            </a:solidFill>
          </a:ln>
        </p:spPr>
      </p:cxnSp>
      <p:sp>
        <p:nvSpPr>
          <p:cNvPr id="110" name="Shape 110"/>
          <p:cNvSpPr txBox="1"/>
          <p:nvPr/>
        </p:nvSpPr>
        <p:spPr>
          <a:xfrm>
            <a:off x="8690407" y="2620994"/>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m(x)</a:t>
            </a:r>
            <a:endParaRPr lang="en-US" sz="1275" dirty="0"/>
          </a:p>
        </p:txBody>
      </p:sp>
      <p:cxnSp>
        <p:nvCxnSpPr>
          <p:cNvPr id="111" name="Line 111"/>
          <p:cNvCxnSpPr/>
          <p:nvPr/>
        </p:nvCxnSpPr>
        <p:spPr>
          <a:xfrm flipV="1">
            <a:off x="8477047" y="1732788"/>
            <a:ext cx="1859756" cy="1912144"/>
          </a:xfrm>
          <a:prstGeom prst="line">
            <a:avLst/>
          </a:prstGeom>
          <a:ln w="38100" cap="rnd">
            <a:solidFill>
              <a:srgbClr val="7A4FC4"/>
            </a:solidFill>
          </a:ln>
        </p:spPr>
      </p:cxnSp>
      <p:sp>
        <p:nvSpPr>
          <p:cNvPr id="112" name="Shape 112"/>
          <p:cNvSpPr txBox="1"/>
          <p:nvPr/>
        </p:nvSpPr>
        <p:spPr>
          <a:xfrm>
            <a:off x="7845063"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p(x)</a:t>
            </a:r>
            <a:endParaRPr lang="en-US" sz="1275" dirty="0"/>
          </a:p>
        </p:txBody>
      </p:sp>
      <p:sp>
        <p:nvSpPr>
          <p:cNvPr id="113" name="Shape 113"/>
          <p:cNvSpPr txBox="1"/>
          <p:nvPr/>
        </p:nvSpPr>
        <p:spPr>
          <a:xfrm>
            <a:off x="685800" y="5145024"/>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stays </a:t>
            </a: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only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moves: </a:t>
            </a:r>
            <a:r>
              <a:rPr lang="en-US" sz="1575" dirty="0">
                <a:solidFill>
                  <a:srgbClr val="16171D"/>
                </a:solidFill>
                <a:latin typeface="Cambria"/>
                <a:cs typeface="Cambria"/>
              </a:rPr>
              <a:t xml:space="preserve">(0, −5)</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(0, 5)</a:t>
            </a:r>
            <a:r>
              <a:rPr lang="en-US" sz="1575" dirty="0">
                <a:solidFill>
                  <a:srgbClr val="16171D"/>
                </a:solidFill>
                <a:latin typeface="Segoe UI"/>
                <a:cs typeface="Segoe UI"/>
              </a:rPr>
              <a:t xml:space="preserve">. Also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(2) = 2</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p</a:t>
            </a:r>
            <a:r>
              <a:rPr lang="en-US" sz="1575" dirty="0">
                <a:solidFill>
                  <a:srgbClr val="16171D"/>
                </a:solidFill>
                <a:latin typeface="Cambria"/>
                <a:cs typeface="Cambria"/>
              </a:rPr>
              <a:t xml:space="preserve">(2) = 7</a:t>
            </a:r>
            <a:r>
              <a:rPr lang="en-US" sz="1575" dirty="0">
                <a:solidFill>
                  <a:srgbClr val="16171D"/>
                </a:solidFill>
                <a:latin typeface="Segoe UI"/>
                <a:cs typeface="Segoe UI"/>
              </a:rPr>
              <a:t xml:space="preserve">: the output went up 5.</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anim calcmode="lin" valueType="num">
                                      <p:cBhvr>
                                        <p:cTn id="12" dur="500" fill="hold"/>
                                        <p:tgtEl>
                                          <p:spTgt spid="14"/>
                                        </p:tgtEl>
                                        <p:attrNameLst>
                                          <p:attrName>ppt_x</p:attrName>
                                        </p:attrNameLst>
                                      </p:cBhvr>
                                      <p:tavLst>
                                        <p:tav tm="0">
                                          <p:val>
                                            <p:strVal val="#ppt_x"/>
                                          </p:val>
                                        </p:tav>
                                        <p:tav tm="100000">
                                          <p:val>
                                            <p:strVal val="#ppt_x"/>
                                          </p:val>
                                        </p:tav>
                                      </p:tavLst>
                                    </p:anim>
                                    <p:anim calcmode="lin" valueType="num">
                                      <p:cBhvr>
                                        <p:cTn id="13"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p:cTn id="19" dur="500" fill="hold"/>
                                        <p:tgtEl>
                                          <p:spTgt spid="18"/>
                                        </p:tgtEl>
                                        <p:attrNameLst>
                                          <p:attrName>ppt_x</p:attrName>
                                        </p:attrNameLst>
                                      </p:cBhvr>
                                      <p:tavLst>
                                        <p:tav tm="0">
                                          <p:val>
                                            <p:strVal val="#ppt_x"/>
                                          </p:val>
                                        </p:tav>
                                        <p:tav tm="100000">
                                          <p:val>
                                            <p:strVal val="#ppt_x"/>
                                          </p:val>
                                        </p:tav>
                                      </p:tavLst>
                                    </p:anim>
                                    <p:anim calcmode="lin" valueType="num">
                                      <p:cBhvr>
                                        <p:cTn id="20"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anim calcmode="lin" valueType="num">
                                      <p:cBhvr>
                                        <p:cTn id="26" dur="500" fill="hold"/>
                                        <p:tgtEl>
                                          <p:spTgt spid="22"/>
                                        </p:tgtEl>
                                        <p:attrNameLst>
                                          <p:attrName>ppt_x</p:attrName>
                                        </p:attrNameLst>
                                      </p:cBhvr>
                                      <p:tavLst>
                                        <p:tav tm="0">
                                          <p:val>
                                            <p:strVal val="#ppt_x"/>
                                          </p:val>
                                        </p:tav>
                                        <p:tav tm="100000">
                                          <p:val>
                                            <p:strVal val="#ppt_x"/>
                                          </p:val>
                                        </p:tav>
                                      </p:tavLst>
                                    </p:anim>
                                    <p:anim calcmode="lin" valueType="num">
                                      <p:cBhvr>
                                        <p:cTn id="27"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anim calcmode="lin" valueType="num">
                                      <p:cBhvr>
                                        <p:cTn id="33" dur="500" fill="hold"/>
                                        <p:tgtEl>
                                          <p:spTgt spid="26"/>
                                        </p:tgtEl>
                                        <p:attrNameLst>
                                          <p:attrName>ppt_x</p:attrName>
                                        </p:attrNameLst>
                                      </p:cBhvr>
                                      <p:tavLst>
                                        <p:tav tm="0">
                                          <p:val>
                                            <p:strVal val="#ppt_x"/>
                                          </p:val>
                                        </p:tav>
                                        <p:tav tm="100000">
                                          <p:val>
                                            <p:strVal val="#ppt_x"/>
                                          </p:val>
                                        </p:tav>
                                      </p:tavLst>
                                    </p:anim>
                                    <p:anim calcmode="lin" valueType="num">
                                      <p:cBhvr>
                                        <p:cTn id="34"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anim calcmode="lin" valueType="num">
                                      <p:cBhvr>
                                        <p:cTn id="40" dur="500" fill="hold"/>
                                        <p:tgtEl>
                                          <p:spTgt spid="27"/>
                                        </p:tgtEl>
                                        <p:attrNameLst>
                                          <p:attrName>ppt_w</p:attrName>
                                        </p:attrNameLst>
                                      </p:cBhvr>
                                      <p:tavLst>
                                        <p:tav tm="0">
                                          <p:val>
                                            <p:fltVal val="0"/>
                                          </p:val>
                                        </p:tav>
                                        <p:tav tm="100000">
                                          <p:val>
                                            <p:strVal val="#ppt_w"/>
                                          </p:val>
                                        </p:tav>
                                      </p:tavLst>
                                    </p:anim>
                                    <p:anim calcmode="lin" valueType="num">
                                      <p:cBhvr>
                                        <p:cTn id="41"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anim calcmode="lin" valueType="num">
                                      <p:cBhvr>
                                        <p:cTn id="47" dur="500" fill="hold"/>
                                        <p:tgtEl>
                                          <p:spTgt spid="34"/>
                                        </p:tgtEl>
                                        <p:attrNameLst>
                                          <p:attrName>ppt_x</p:attrName>
                                        </p:attrNameLst>
                                      </p:cBhvr>
                                      <p:tavLst>
                                        <p:tav tm="0">
                                          <p:val>
                                            <p:strVal val="#ppt_x"/>
                                          </p:val>
                                        </p:tav>
                                        <p:tav tm="100000">
                                          <p:val>
                                            <p:strVal val="#ppt_x"/>
                                          </p:val>
                                        </p:tav>
                                      </p:tavLst>
                                    </p:anim>
                                    <p:anim calcmode="lin" valueType="num">
                                      <p:cBhvr>
                                        <p:cTn id="48" dur="5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500"/>
                                        <p:tgtEl>
                                          <p:spTgt spid="38"/>
                                        </p:tgtEl>
                                      </p:cBhvr>
                                    </p:animEffect>
                                    <p:anim calcmode="lin" valueType="num">
                                      <p:cBhvr>
                                        <p:cTn id="54" dur="500" fill="hold"/>
                                        <p:tgtEl>
                                          <p:spTgt spid="38"/>
                                        </p:tgtEl>
                                        <p:attrNameLst>
                                          <p:attrName>ppt_x</p:attrName>
                                        </p:attrNameLst>
                                      </p:cBhvr>
                                      <p:tavLst>
                                        <p:tav tm="0">
                                          <p:val>
                                            <p:strVal val="#ppt_x"/>
                                          </p:val>
                                        </p:tav>
                                        <p:tav tm="100000">
                                          <p:val>
                                            <p:strVal val="#ppt_x"/>
                                          </p:val>
                                        </p:tav>
                                      </p:tavLst>
                                    </p:anim>
                                    <p:anim calcmode="lin" valueType="num">
                                      <p:cBhvr>
                                        <p:cTn id="55"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fade">
                                      <p:cBhvr>
                                        <p:cTn id="60" dur="500"/>
                                        <p:tgtEl>
                                          <p:spTgt spid="42"/>
                                        </p:tgtEl>
                                      </p:cBhvr>
                                    </p:animEffect>
                                    <p:anim calcmode="lin" valueType="num">
                                      <p:cBhvr>
                                        <p:cTn id="61" dur="500" fill="hold"/>
                                        <p:tgtEl>
                                          <p:spTgt spid="42"/>
                                        </p:tgtEl>
                                        <p:attrNameLst>
                                          <p:attrName>ppt_x</p:attrName>
                                        </p:attrNameLst>
                                      </p:cBhvr>
                                      <p:tavLst>
                                        <p:tav tm="0">
                                          <p:val>
                                            <p:strVal val="#ppt_x"/>
                                          </p:val>
                                        </p:tav>
                                        <p:tav tm="100000">
                                          <p:val>
                                            <p:strVal val="#ppt_x"/>
                                          </p:val>
                                        </p:tav>
                                      </p:tavLst>
                                    </p:anim>
                                    <p:anim calcmode="lin" valueType="num">
                                      <p:cBhvr>
                                        <p:cTn id="62" dur="5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fade">
                                      <p:cBhvr>
                                        <p:cTn id="67" dur="500"/>
                                        <p:tgtEl>
                                          <p:spTgt spid="46"/>
                                        </p:tgtEl>
                                      </p:cBhvr>
                                    </p:animEffect>
                                    <p:anim calcmode="lin" valueType="num">
                                      <p:cBhvr>
                                        <p:cTn id="68" dur="500" fill="hold"/>
                                        <p:tgtEl>
                                          <p:spTgt spid="46"/>
                                        </p:tgtEl>
                                        <p:attrNameLst>
                                          <p:attrName>ppt_x</p:attrName>
                                        </p:attrNameLst>
                                      </p:cBhvr>
                                      <p:tavLst>
                                        <p:tav tm="0">
                                          <p:val>
                                            <p:strVal val="#ppt_x"/>
                                          </p:val>
                                        </p:tav>
                                        <p:tav tm="100000">
                                          <p:val>
                                            <p:strVal val="#ppt_x"/>
                                          </p:val>
                                        </p:tav>
                                      </p:tavLst>
                                    </p:anim>
                                    <p:anim calcmode="lin" valueType="num">
                                      <p:cBhvr>
                                        <p:cTn id="69" dur="5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fade">
                                      <p:cBhvr>
                                        <p:cTn id="74" dur="500"/>
                                        <p:tgtEl>
                                          <p:spTgt spid="50"/>
                                        </p:tgtEl>
                                      </p:cBhvr>
                                    </p:animEffect>
                                    <p:anim calcmode="lin" valueType="num">
                                      <p:cBhvr>
                                        <p:cTn id="75" dur="500" fill="hold"/>
                                        <p:tgtEl>
                                          <p:spTgt spid="50"/>
                                        </p:tgtEl>
                                        <p:attrNameLst>
                                          <p:attrName>ppt_x</p:attrName>
                                        </p:attrNameLst>
                                      </p:cBhvr>
                                      <p:tavLst>
                                        <p:tav tm="0">
                                          <p:val>
                                            <p:strVal val="#ppt_x"/>
                                          </p:val>
                                        </p:tav>
                                        <p:tav tm="100000">
                                          <p:val>
                                            <p:strVal val="#ppt_x"/>
                                          </p:val>
                                        </p:tav>
                                      </p:tavLst>
                                    </p:anim>
                                    <p:anim calcmode="lin" valueType="num">
                                      <p:cBhvr>
                                        <p:cTn id="76" dur="5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53" presetClass="entr" presetSubtype="16" fill="hold" nodeType="click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fade">
                                      <p:cBhvr>
                                        <p:cTn id="81" dur="500"/>
                                        <p:tgtEl>
                                          <p:spTgt spid="51"/>
                                        </p:tgtEl>
                                      </p:cBhvr>
                                    </p:animEffect>
                                    <p:anim calcmode="lin" valueType="num">
                                      <p:cBhvr>
                                        <p:cTn id="82" dur="500" fill="hold"/>
                                        <p:tgtEl>
                                          <p:spTgt spid="51"/>
                                        </p:tgtEl>
                                        <p:attrNameLst>
                                          <p:attrName>ppt_w</p:attrName>
                                        </p:attrNameLst>
                                      </p:cBhvr>
                                      <p:tavLst>
                                        <p:tav tm="0">
                                          <p:val>
                                            <p:fltVal val="0"/>
                                          </p:val>
                                        </p:tav>
                                        <p:tav tm="100000">
                                          <p:val>
                                            <p:strVal val="#ppt_w"/>
                                          </p:val>
                                        </p:tav>
                                      </p:tavLst>
                                    </p:anim>
                                    <p:anim calcmode="lin" valueType="num">
                                      <p:cBhvr>
                                        <p:cTn id="83"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89" presetID="22" presetClass="entr" presetSubtype="8" fill="hold" nodeType="clickEffect">
                                  <p:stCondLst>
                                    <p:cond delay="0"/>
                                  </p:stCondLst>
                                  <p:childTnLst>
                                    <p:set>
                                      <p:cBhvr>
                                        <p:cTn id="87" dur="1" fill="hold">
                                          <p:stCondLst>
                                            <p:cond delay="0"/>
                                          </p:stCondLst>
                                        </p:cTn>
                                        <p:tgtEl>
                                          <p:spTgt spid="109"/>
                                        </p:tgtEl>
                                        <p:attrNameLst>
                                          <p:attrName>style.visibility</p:attrName>
                                        </p:attrNameLst>
                                      </p:cBhvr>
                                      <p:to>
                                        <p:strVal val="visible"/>
                                      </p:to>
                                    </p:set>
                                    <p:animEffect transition="in" filter="wipe(left)">
                                      <p:cBhvr>
                                        <p:cTn id="88" dur="700"/>
                                        <p:tgtEl>
                                          <p:spTgt spid="109"/>
                                        </p:tgtEl>
                                      </p:cBhvr>
                                    </p:animEffect>
                                  </p:childTnLst>
                                </p:cTn>
                              </p:par>
                              <p:par>
                                <p:cTn id="92" presetID="22" presetClass="entr" presetSubtype="8" fill="hold" nodeType="withEffect">
                                  <p:stCondLst>
                                    <p:cond delay="0"/>
                                  </p:stCondLst>
                                  <p:childTnLst>
                                    <p:set>
                                      <p:cBhvr>
                                        <p:cTn id="90" dur="1" fill="hold">
                                          <p:stCondLst>
                                            <p:cond delay="0"/>
                                          </p:stCondLst>
                                        </p:cTn>
                                        <p:tgtEl>
                                          <p:spTgt spid="110"/>
                                        </p:tgtEl>
                                        <p:attrNameLst>
                                          <p:attrName>style.visibility</p:attrName>
                                        </p:attrNameLst>
                                      </p:cBhvr>
                                      <p:to>
                                        <p:strVal val="visible"/>
                                      </p:to>
                                    </p:set>
                                    <p:animEffect transition="in" filter="wipe(left)">
                                      <p:cBhvr>
                                        <p:cTn id="91" dur="700"/>
                                        <p:tgtEl>
                                          <p:spTgt spid="110"/>
                                        </p:tgtEl>
                                      </p:cBhvr>
                                    </p:animEffect>
                                  </p:childTnLst>
                                </p:cTn>
                              </p:par>
                            </p:childTnLst>
                          </p:cTn>
                        </p:par>
                      </p:childTnLst>
                    </p:cTn>
                  </p:par>
                  <p:par>
                    <p:cTn id="101" fill="hold">
                      <p:stCondLst>
                        <p:cond delay="indefinite"/>
                      </p:stCondLst>
                      <p:childTnLst>
                        <p:par>
                          <p:cTn id="102" fill="hold">
                            <p:stCondLst>
                              <p:cond delay="0"/>
                            </p:stCondLst>
                            <p:childTnLst>
                              <p:par>
                                <p:cTn id="97" presetID="22" presetClass="entr" presetSubtype="8" fill="hold" nodeType="clickEffect">
                                  <p:stCondLst>
                                    <p:cond delay="0"/>
                                  </p:stCondLst>
                                  <p:childTnLst>
                                    <p:set>
                                      <p:cBhvr>
                                        <p:cTn id="95" dur="1" fill="hold">
                                          <p:stCondLst>
                                            <p:cond delay="0"/>
                                          </p:stCondLst>
                                        </p:cTn>
                                        <p:tgtEl>
                                          <p:spTgt spid="111"/>
                                        </p:tgtEl>
                                        <p:attrNameLst>
                                          <p:attrName>style.visibility</p:attrName>
                                        </p:attrNameLst>
                                      </p:cBhvr>
                                      <p:to>
                                        <p:strVal val="visible"/>
                                      </p:to>
                                    </p:set>
                                    <p:animEffect transition="in" filter="wipe(left)">
                                      <p:cBhvr>
                                        <p:cTn id="96" dur="700"/>
                                        <p:tgtEl>
                                          <p:spTgt spid="111"/>
                                        </p:tgtEl>
                                      </p:cBhvr>
                                    </p:animEffect>
                                  </p:childTnLst>
                                </p:cTn>
                              </p:par>
                              <p:par>
                                <p:cTn id="100" presetID="22" presetClass="entr" presetSubtype="8" fill="hold" nodeType="withEffect">
                                  <p:stCondLst>
                                    <p:cond delay="0"/>
                                  </p:stCondLst>
                                  <p:childTnLst>
                                    <p:set>
                                      <p:cBhvr>
                                        <p:cTn id="98" dur="1" fill="hold">
                                          <p:stCondLst>
                                            <p:cond delay="0"/>
                                          </p:stCondLst>
                                        </p:cTn>
                                        <p:tgtEl>
                                          <p:spTgt spid="112"/>
                                        </p:tgtEl>
                                        <p:attrNameLst>
                                          <p:attrName>style.visibility</p:attrName>
                                        </p:attrNameLst>
                                      </p:cBhvr>
                                      <p:to>
                                        <p:strVal val="visible"/>
                                      </p:to>
                                    </p:set>
                                    <p:animEffect transition="in" filter="wipe(left)">
                                      <p:cBhvr>
                                        <p:cTn id="99" dur="700"/>
                                        <p:tgtEl>
                                          <p:spTgt spid="112"/>
                                        </p:tgtEl>
                                      </p:cBhvr>
                                    </p:animEffect>
                                  </p:childTnLst>
                                </p:cTn>
                              </p:par>
                            </p:childTnLst>
                          </p:cTn>
                        </p:par>
                      </p:childTnLst>
                    </p:cTn>
                  </p:par>
                  <p:par>
                    <p:cTn id="108" fill="hold">
                      <p:stCondLst>
                        <p:cond delay="indefinite"/>
                      </p:stCondLst>
                      <p:childTnLst>
                        <p:par>
                          <p:cTn id="109" fill="hold">
                            <p:stCondLst>
                              <p:cond delay="0"/>
                            </p:stCondLst>
                            <p:childTnLst>
                              <p:par>
                                <p:cTn id="107" presetID="42" presetClass="entr" presetSubtype="0" fill="hold" nodeType="clickEffect">
                                  <p:stCondLst>
                                    <p:cond delay="0"/>
                                  </p:stCondLst>
                                  <p:childTnLst>
                                    <p:set>
                                      <p:cBhvr>
                                        <p:cTn id="103" dur="1" fill="hold">
                                          <p:stCondLst>
                                            <p:cond delay="0"/>
                                          </p:stCondLst>
                                        </p:cTn>
                                        <p:tgtEl>
                                          <p:spTgt spid="113"/>
                                        </p:tgtEl>
                                        <p:attrNameLst>
                                          <p:attrName>style.visibility</p:attrName>
                                        </p:attrNameLst>
                                      </p:cBhvr>
                                      <p:to>
                                        <p:strVal val="visible"/>
                                      </p:to>
                                    </p:set>
                                    <p:animEffect transition="in" filter="fade">
                                      <p:cBhvr>
                                        <p:cTn id="104" dur="500"/>
                                        <p:tgtEl>
                                          <p:spTgt spid="113"/>
                                        </p:tgtEl>
                                      </p:cBhvr>
                                    </p:animEffect>
                                    <p:anim calcmode="lin" valueType="num">
                                      <p:cBhvr>
                                        <p:cTn id="105" dur="500" fill="hold"/>
                                        <p:tgtEl>
                                          <p:spTgt spid="113"/>
                                        </p:tgtEl>
                                        <p:attrNameLst>
                                          <p:attrName>ppt_x</p:attrName>
                                        </p:attrNameLst>
                                      </p:cBhvr>
                                      <p:tavLst>
                                        <p:tav tm="0">
                                          <p:val>
                                            <p:strVal val="#ppt_x"/>
                                          </p:val>
                                        </p:tav>
                                        <p:tav tm="100000">
                                          <p:val>
                                            <p:strVal val="#ppt_x"/>
                                          </p:val>
                                        </p:tav>
                                      </p:tavLst>
                                    </p:anim>
                                    <p:anim calcmode="lin" valueType="num">
                                      <p:cBhvr>
                                        <p:cTn id="106" dur="500" fill="hold"/>
                                        <p:tgtEl>
                                          <p:spTgt spid="1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1.1 · Definition · SE p. 273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Vertical translation: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d</a:t>
            </a:r>
            <a:endParaRPr lang="en-US" sz="3450" dirty="0"/>
          </a:p>
        </p:txBody>
      </p:sp>
      <p:sp>
        <p:nvSpPr>
          <p:cNvPr id="4" name="Shape 4"/>
          <p:cNvSpPr txBox="1"/>
          <p:nvPr/>
        </p:nvSpPr>
        <p:spPr>
          <a:xfrm>
            <a:off x="685800" y="17137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i="1">
                <a:solidFill>
                  <a:srgbClr val="3050B8"/>
                </a:solidFill>
                <a:latin typeface="Cambria"/>
                <a:cs typeface="Cambria"/>
              </a:rPr>
              <a:t xml:space="preserve">d</a:t>
            </a:r>
            <a:r>
              <a:rPr lang="en-US" sz="1950" dirty="0">
                <a:solidFill>
                  <a:srgbClr val="16171D"/>
                </a:solidFill>
                <a:latin typeface="Segoe UI"/>
                <a:cs typeface="Segoe UI"/>
              </a:rPr>
              <a:t xml:space="preserve"> </a:t>
            </a:r>
            <a:r>
              <a:rPr lang="en-US" sz="1950" dirty="0">
                <a:solidFill>
                  <a:srgbClr val="16171D"/>
                </a:solidFill>
                <a:latin typeface="Cambria"/>
                <a:cs typeface="Cambria"/>
              </a:rPr>
              <a:t xml:space="preserve">&gt; 0</a:t>
            </a:r>
            <a:r>
              <a:rPr lang="en-US" sz="1950" dirty="0">
                <a:solidFill>
                  <a:srgbClr val="16171D"/>
                </a:solidFill>
                <a:latin typeface="Segoe UI"/>
                <a:cs typeface="Segoe UI"/>
              </a:rPr>
              <a:t xml:space="preserve">: the graph moves </a:t>
            </a:r>
            <a:r>
              <a:rPr lang="en-US" sz="1950" dirty="0" b="1">
                <a:solidFill>
                  <a:srgbClr val="16171D"/>
                </a:solidFill>
                <a:latin typeface="Segoe UI"/>
                <a:cs typeface="Segoe UI"/>
              </a:rPr>
              <a:t xml:space="preserve">up</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units. </a:t>
            </a:r>
            <a:r>
              <a:rPr lang="en-US" sz="1950" dirty="0" b="1" i="1">
                <a:solidFill>
                  <a:srgbClr val="3050B8"/>
                </a:solidFill>
                <a:latin typeface="Cambria"/>
                <a:cs typeface="Cambria"/>
              </a:rPr>
              <a:t xml:space="preserve">d</a:t>
            </a:r>
            <a:r>
              <a:rPr lang="en-US" sz="1950" dirty="0">
                <a:solidFill>
                  <a:srgbClr val="16171D"/>
                </a:solidFill>
                <a:latin typeface="Segoe UI"/>
                <a:cs typeface="Segoe UI"/>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it moves </a:t>
            </a:r>
            <a:r>
              <a:rPr lang="en-US" sz="1950" dirty="0" b="1">
                <a:solidFill>
                  <a:srgbClr val="16171D"/>
                </a:solidFill>
                <a:latin typeface="Segoe UI"/>
                <a:cs typeface="Segoe UI"/>
              </a:rPr>
              <a:t xml:space="preserve">down</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25628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Only the output values change. The slope stays the same, so the new line is </a:t>
            </a:r>
            <a:r>
              <a:rPr lang="en-US" sz="1950" dirty="0" b="1">
                <a:solidFill>
                  <a:srgbClr val="16171D"/>
                </a:solidFill>
                <a:latin typeface="Segoe UI"/>
                <a:cs typeface="Segoe UI"/>
              </a:rPr>
              <a:t xml:space="preserve">parallel</a:t>
            </a:r>
            <a:r>
              <a:rPr lang="en-US" sz="1950" dirty="0">
                <a:solidFill>
                  <a:srgbClr val="16171D"/>
                </a:solidFill>
                <a:latin typeface="Segoe UI"/>
                <a:cs typeface="Segoe UI"/>
              </a:rPr>
              <a:t xml:space="preserve"> to the original.</a:t>
            </a:r>
            <a:endParaRPr lang="en-US" sz="1950" dirty="0"/>
          </a:p>
        </p:txBody>
      </p:sp>
      <p:sp>
        <p:nvSpPr>
          <p:cNvPr id="6" name="Shape 6"/>
          <p:cNvSpPr txBox="1"/>
          <p:nvPr/>
        </p:nvSpPr>
        <p:spPr>
          <a:xfrm>
            <a:off x="685800" y="30960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a line with slope 1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a:solidFill>
                  <a:srgbClr val="16171D"/>
                </a:solidFill>
                <a:latin typeface="Cambria"/>
                <a:cs typeface="Cambria"/>
              </a:rPr>
              <a:t xml:space="preserve">(0, </a:t>
            </a:r>
            <a:r>
              <a:rPr lang="en-US" sz="1950" dirty="0" i="1">
                <a:solidFill>
                  <a:srgbClr val="16171D"/>
                </a:solidFill>
                <a:latin typeface="Cambria"/>
                <a:cs typeface="Cambria"/>
              </a:rPr>
              <a:t xml:space="preserve">d</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1.1 · Questions 5–6 · SE p. 274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Translate </a:t>
            </a:r>
            <a:r>
              <a:rPr lang="en-US" sz="3450" dirty="0" b="1" i="1">
                <a:solidFill>
                  <a:srgbClr val="16171D"/>
                </a:solidFill>
                <a:latin typeface="Cambria"/>
                <a:cs typeface="Cambria"/>
              </a:rPr>
              <a:t xml:space="preserve">j</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− 1</a:t>
            </a:r>
            <a:r>
              <a:rPr lang="en-US" sz="3450" dirty="0" b="1">
                <a:solidFill>
                  <a:srgbClr val="16171D"/>
                </a:solidFill>
                <a:latin typeface="Segoe UI"/>
                <a:cs typeface="Segoe UI"/>
              </a:rPr>
              <a:t xml:space="preserve"> up 4 and down 4</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4:</a:t>
            </a:r>
            <a:endParaRPr lang="en-US" sz="1575" dirty="0"/>
          </a:p>
        </p:txBody>
      </p:sp>
      <p:sp>
        <p:nvSpPr>
          <p:cNvPr id="5" name="Shape 5"/>
          <p:cNvSpPr txBox="1"/>
          <p:nvPr/>
        </p:nvSpPr>
        <p:spPr>
          <a:xfrm>
            <a:off x="685800" y="2008632"/>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q</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2977134"/>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Down 4:</a:t>
            </a:r>
            <a:endParaRPr lang="en-US" sz="1575" dirty="0"/>
          </a:p>
        </p:txBody>
      </p:sp>
      <p:sp>
        <p:nvSpPr>
          <p:cNvPr id="7" name="Shape 7"/>
          <p:cNvSpPr txBox="1"/>
          <p:nvPr/>
        </p:nvSpPr>
        <p:spPr>
          <a:xfrm>
            <a:off x="685800" y="3367278"/>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8" name="Shape 8"/>
          <p:cNvSpPr txBox="1"/>
          <p:nvPr/>
        </p:nvSpPr>
        <p:spPr>
          <a:xfrm>
            <a:off x="685800" y="4335780"/>
            <a:ext cx="521954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All three have slope 2 and different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-intercepts: (0, −1), (0, 3), (0, −5). They are parallel, so they </a:t>
            </a:r>
            <a:r>
              <a:rPr lang="en-US" sz="1575" dirty="0" b="1">
                <a:solidFill>
                  <a:srgbClr val="16171D"/>
                </a:solidFill>
                <a:latin typeface="Segoe UI"/>
                <a:cs typeface="Segoe UI"/>
              </a:rPr>
              <a:t xml:space="preserve">never intersect</a:t>
            </a:r>
            <a:r>
              <a:rPr lang="en-US" sz="1575" dirty="0">
                <a:solidFill>
                  <a:srgbClr val="16171D"/>
                </a:solidFill>
                <a:latin typeface="Segoe UI"/>
                <a:cs typeface="Segoe UI"/>
              </a:rPr>
              <a:t xml:space="preserve">.</a:t>
            </a:r>
            <a:endParaRPr lang="en-US" sz="1575" dirty="0"/>
          </a:p>
        </p:txBody>
      </p:sp>
      <p:sp>
        <p:nvSpPr>
          <p:cNvPr id="9" name="Shape 9"/>
          <p:cNvSpPr/>
          <p:nvPr/>
        </p:nvSpPr>
        <p:spPr>
          <a:xfrm>
            <a:off x="6286348" y="1618488"/>
            <a:ext cx="3429000" cy="3619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6610198" y="1732788"/>
            <a:ext cx="0" cy="3257550"/>
          </a:xfrm>
          <a:prstGeom prst="line">
            <a:avLst/>
          </a:prstGeom>
          <a:ln w="9525" cap="flat">
            <a:solidFill>
              <a:srgbClr val="E6E8F2"/>
            </a:solidFill>
          </a:ln>
        </p:spPr>
      </p:cxnSp>
      <p:cxnSp>
        <p:nvCxnSpPr>
          <p:cNvPr id="11" name="Line 11"/>
          <p:cNvCxnSpPr/>
          <p:nvPr/>
        </p:nvCxnSpPr>
        <p:spPr>
          <a:xfrm>
            <a:off x="6859435" y="1732788"/>
            <a:ext cx="0" cy="3257550"/>
          </a:xfrm>
          <a:prstGeom prst="line">
            <a:avLst/>
          </a:prstGeom>
          <a:ln w="9525" cap="flat">
            <a:solidFill>
              <a:srgbClr val="E6E8F2"/>
            </a:solidFill>
          </a:ln>
        </p:spPr>
      </p:cxnSp>
      <p:cxnSp>
        <p:nvCxnSpPr>
          <p:cNvPr id="12" name="Line 12"/>
          <p:cNvCxnSpPr/>
          <p:nvPr/>
        </p:nvCxnSpPr>
        <p:spPr>
          <a:xfrm>
            <a:off x="7108673" y="1732788"/>
            <a:ext cx="0" cy="3257550"/>
          </a:xfrm>
          <a:prstGeom prst="line">
            <a:avLst/>
          </a:prstGeom>
          <a:ln w="9525" cap="flat">
            <a:solidFill>
              <a:srgbClr val="E6E8F2"/>
            </a:solidFill>
          </a:ln>
        </p:spPr>
      </p:cxnSp>
      <p:cxnSp>
        <p:nvCxnSpPr>
          <p:cNvPr id="13" name="Line 13"/>
          <p:cNvCxnSpPr/>
          <p:nvPr/>
        </p:nvCxnSpPr>
        <p:spPr>
          <a:xfrm>
            <a:off x="7357910" y="1732788"/>
            <a:ext cx="0" cy="3257550"/>
          </a:xfrm>
          <a:prstGeom prst="line">
            <a:avLst/>
          </a:prstGeom>
          <a:ln w="9525" cap="flat">
            <a:solidFill>
              <a:srgbClr val="E6E8F2"/>
            </a:solidFill>
          </a:ln>
        </p:spPr>
      </p:cxnSp>
      <p:cxnSp>
        <p:nvCxnSpPr>
          <p:cNvPr id="14" name="Line 14"/>
          <p:cNvCxnSpPr/>
          <p:nvPr/>
        </p:nvCxnSpPr>
        <p:spPr>
          <a:xfrm>
            <a:off x="7607148" y="1732788"/>
            <a:ext cx="0" cy="3257550"/>
          </a:xfrm>
          <a:prstGeom prst="line">
            <a:avLst/>
          </a:prstGeom>
          <a:ln w="9525" cap="flat">
            <a:solidFill>
              <a:srgbClr val="E6E8F2"/>
            </a:solidFill>
          </a:ln>
        </p:spPr>
      </p:cxnSp>
      <p:cxnSp>
        <p:nvCxnSpPr>
          <p:cNvPr id="15" name="Line 15"/>
          <p:cNvCxnSpPr/>
          <p:nvPr/>
        </p:nvCxnSpPr>
        <p:spPr>
          <a:xfrm>
            <a:off x="7856385" y="1732788"/>
            <a:ext cx="0" cy="3257550"/>
          </a:xfrm>
          <a:prstGeom prst="line">
            <a:avLst/>
          </a:prstGeom>
          <a:ln w="9525" cap="flat">
            <a:solidFill>
              <a:srgbClr val="E6E8F2"/>
            </a:solidFill>
          </a:ln>
        </p:spPr>
      </p:cxnSp>
      <p:cxnSp>
        <p:nvCxnSpPr>
          <p:cNvPr id="16" name="Line 16"/>
          <p:cNvCxnSpPr/>
          <p:nvPr/>
        </p:nvCxnSpPr>
        <p:spPr>
          <a:xfrm>
            <a:off x="8105623" y="1732788"/>
            <a:ext cx="0" cy="3257550"/>
          </a:xfrm>
          <a:prstGeom prst="line">
            <a:avLst/>
          </a:prstGeom>
          <a:ln w="9525" cap="flat">
            <a:solidFill>
              <a:srgbClr val="E6E8F2"/>
            </a:solidFill>
          </a:ln>
        </p:spPr>
      </p:cxnSp>
      <p:cxnSp>
        <p:nvCxnSpPr>
          <p:cNvPr id="17" name="Line 17"/>
          <p:cNvCxnSpPr/>
          <p:nvPr/>
        </p:nvCxnSpPr>
        <p:spPr>
          <a:xfrm>
            <a:off x="8354860" y="1732788"/>
            <a:ext cx="0" cy="3257550"/>
          </a:xfrm>
          <a:prstGeom prst="line">
            <a:avLst/>
          </a:prstGeom>
          <a:ln w="9525" cap="flat">
            <a:solidFill>
              <a:srgbClr val="E6E8F2"/>
            </a:solidFill>
          </a:ln>
        </p:spPr>
      </p:cxnSp>
      <p:cxnSp>
        <p:nvCxnSpPr>
          <p:cNvPr id="18" name="Line 18"/>
          <p:cNvCxnSpPr/>
          <p:nvPr/>
        </p:nvCxnSpPr>
        <p:spPr>
          <a:xfrm>
            <a:off x="8604098" y="1732788"/>
            <a:ext cx="0" cy="3257550"/>
          </a:xfrm>
          <a:prstGeom prst="line">
            <a:avLst/>
          </a:prstGeom>
          <a:ln w="9525" cap="flat">
            <a:solidFill>
              <a:srgbClr val="E6E8F2"/>
            </a:solidFill>
          </a:ln>
        </p:spPr>
      </p:cxnSp>
      <p:cxnSp>
        <p:nvCxnSpPr>
          <p:cNvPr id="19" name="Line 19"/>
          <p:cNvCxnSpPr/>
          <p:nvPr/>
        </p:nvCxnSpPr>
        <p:spPr>
          <a:xfrm>
            <a:off x="8853335" y="1732788"/>
            <a:ext cx="0" cy="3257550"/>
          </a:xfrm>
          <a:prstGeom prst="line">
            <a:avLst/>
          </a:prstGeom>
          <a:ln w="9525" cap="flat">
            <a:solidFill>
              <a:srgbClr val="E6E8F2"/>
            </a:solidFill>
          </a:ln>
        </p:spPr>
      </p:cxnSp>
      <p:cxnSp>
        <p:nvCxnSpPr>
          <p:cNvPr id="20" name="Line 20"/>
          <p:cNvCxnSpPr/>
          <p:nvPr/>
        </p:nvCxnSpPr>
        <p:spPr>
          <a:xfrm>
            <a:off x="9102573" y="1732788"/>
            <a:ext cx="0" cy="3257550"/>
          </a:xfrm>
          <a:prstGeom prst="line">
            <a:avLst/>
          </a:prstGeom>
          <a:ln w="9525" cap="flat">
            <a:solidFill>
              <a:srgbClr val="E6E8F2"/>
            </a:solidFill>
          </a:ln>
        </p:spPr>
      </p:cxnSp>
      <p:cxnSp>
        <p:nvCxnSpPr>
          <p:cNvPr id="21" name="Line 21"/>
          <p:cNvCxnSpPr/>
          <p:nvPr/>
        </p:nvCxnSpPr>
        <p:spPr>
          <a:xfrm>
            <a:off x="9351810" y="1732788"/>
            <a:ext cx="0" cy="3257550"/>
          </a:xfrm>
          <a:prstGeom prst="line">
            <a:avLst/>
          </a:prstGeom>
          <a:ln w="9525" cap="flat">
            <a:solidFill>
              <a:srgbClr val="E6E8F2"/>
            </a:solidFill>
          </a:ln>
        </p:spPr>
      </p:cxnSp>
      <p:cxnSp>
        <p:nvCxnSpPr>
          <p:cNvPr id="22" name="Line 22"/>
          <p:cNvCxnSpPr/>
          <p:nvPr/>
        </p:nvCxnSpPr>
        <p:spPr>
          <a:xfrm>
            <a:off x="9601048" y="1732788"/>
            <a:ext cx="0" cy="3257550"/>
          </a:xfrm>
          <a:prstGeom prst="line">
            <a:avLst/>
          </a:prstGeom>
          <a:ln w="9525" cap="flat">
            <a:solidFill>
              <a:srgbClr val="E6E8F2"/>
            </a:solidFill>
          </a:ln>
        </p:spPr>
      </p:cxnSp>
      <p:cxnSp>
        <p:nvCxnSpPr>
          <p:cNvPr id="23" name="Line 23"/>
          <p:cNvCxnSpPr/>
          <p:nvPr/>
        </p:nvCxnSpPr>
        <p:spPr>
          <a:xfrm>
            <a:off x="6610198" y="4990338"/>
            <a:ext cx="2990850" cy="0"/>
          </a:xfrm>
          <a:prstGeom prst="line">
            <a:avLst/>
          </a:prstGeom>
          <a:ln w="9525" cap="flat">
            <a:solidFill>
              <a:srgbClr val="E6E8F2"/>
            </a:solidFill>
          </a:ln>
        </p:spPr>
      </p:cxnSp>
      <p:cxnSp>
        <p:nvCxnSpPr>
          <p:cNvPr id="24" name="Line 24"/>
          <p:cNvCxnSpPr/>
          <p:nvPr/>
        </p:nvCxnSpPr>
        <p:spPr>
          <a:xfrm>
            <a:off x="6610198" y="4786741"/>
            <a:ext cx="2990850" cy="0"/>
          </a:xfrm>
          <a:prstGeom prst="line">
            <a:avLst/>
          </a:prstGeom>
          <a:ln w="9525" cap="flat">
            <a:solidFill>
              <a:srgbClr val="E6E8F2"/>
            </a:solidFill>
          </a:ln>
        </p:spPr>
      </p:cxnSp>
      <p:cxnSp>
        <p:nvCxnSpPr>
          <p:cNvPr id="25" name="Line 25"/>
          <p:cNvCxnSpPr/>
          <p:nvPr/>
        </p:nvCxnSpPr>
        <p:spPr>
          <a:xfrm>
            <a:off x="6610198" y="4583144"/>
            <a:ext cx="2990850" cy="0"/>
          </a:xfrm>
          <a:prstGeom prst="line">
            <a:avLst/>
          </a:prstGeom>
          <a:ln w="9525" cap="flat">
            <a:solidFill>
              <a:srgbClr val="E6E8F2"/>
            </a:solidFill>
          </a:ln>
        </p:spPr>
      </p:cxnSp>
      <p:cxnSp>
        <p:nvCxnSpPr>
          <p:cNvPr id="26" name="Line 26"/>
          <p:cNvCxnSpPr/>
          <p:nvPr/>
        </p:nvCxnSpPr>
        <p:spPr>
          <a:xfrm>
            <a:off x="6610198" y="4379547"/>
            <a:ext cx="2990850" cy="0"/>
          </a:xfrm>
          <a:prstGeom prst="line">
            <a:avLst/>
          </a:prstGeom>
          <a:ln w="9525" cap="flat">
            <a:solidFill>
              <a:srgbClr val="E6E8F2"/>
            </a:solidFill>
          </a:ln>
        </p:spPr>
      </p:cxnSp>
      <p:cxnSp>
        <p:nvCxnSpPr>
          <p:cNvPr id="27" name="Line 27"/>
          <p:cNvCxnSpPr/>
          <p:nvPr/>
        </p:nvCxnSpPr>
        <p:spPr>
          <a:xfrm>
            <a:off x="6610198" y="4175950"/>
            <a:ext cx="2990850" cy="0"/>
          </a:xfrm>
          <a:prstGeom prst="line">
            <a:avLst/>
          </a:prstGeom>
          <a:ln w="9525" cap="flat">
            <a:solidFill>
              <a:srgbClr val="E6E8F2"/>
            </a:solidFill>
          </a:ln>
        </p:spPr>
      </p:cxnSp>
      <p:cxnSp>
        <p:nvCxnSpPr>
          <p:cNvPr id="28" name="Line 28"/>
          <p:cNvCxnSpPr/>
          <p:nvPr/>
        </p:nvCxnSpPr>
        <p:spPr>
          <a:xfrm>
            <a:off x="6610198" y="3972354"/>
            <a:ext cx="2990850" cy="0"/>
          </a:xfrm>
          <a:prstGeom prst="line">
            <a:avLst/>
          </a:prstGeom>
          <a:ln w="9525" cap="flat">
            <a:solidFill>
              <a:srgbClr val="E6E8F2"/>
            </a:solidFill>
          </a:ln>
        </p:spPr>
      </p:cxnSp>
      <p:cxnSp>
        <p:nvCxnSpPr>
          <p:cNvPr id="29" name="Line 29"/>
          <p:cNvCxnSpPr/>
          <p:nvPr/>
        </p:nvCxnSpPr>
        <p:spPr>
          <a:xfrm>
            <a:off x="6610198" y="3768757"/>
            <a:ext cx="2990850" cy="0"/>
          </a:xfrm>
          <a:prstGeom prst="line">
            <a:avLst/>
          </a:prstGeom>
          <a:ln w="9525" cap="flat">
            <a:solidFill>
              <a:srgbClr val="E6E8F2"/>
            </a:solidFill>
          </a:ln>
        </p:spPr>
      </p:cxnSp>
      <p:cxnSp>
        <p:nvCxnSpPr>
          <p:cNvPr id="30" name="Line 30"/>
          <p:cNvCxnSpPr/>
          <p:nvPr/>
        </p:nvCxnSpPr>
        <p:spPr>
          <a:xfrm>
            <a:off x="6610198" y="3565160"/>
            <a:ext cx="2990850" cy="0"/>
          </a:xfrm>
          <a:prstGeom prst="line">
            <a:avLst/>
          </a:prstGeom>
          <a:ln w="9525" cap="flat">
            <a:solidFill>
              <a:srgbClr val="E6E8F2"/>
            </a:solidFill>
          </a:ln>
        </p:spPr>
      </p:cxnSp>
      <p:cxnSp>
        <p:nvCxnSpPr>
          <p:cNvPr id="31" name="Line 31"/>
          <p:cNvCxnSpPr/>
          <p:nvPr/>
        </p:nvCxnSpPr>
        <p:spPr>
          <a:xfrm>
            <a:off x="6610198" y="3361563"/>
            <a:ext cx="2990850" cy="0"/>
          </a:xfrm>
          <a:prstGeom prst="line">
            <a:avLst/>
          </a:prstGeom>
          <a:ln w="9525" cap="flat">
            <a:solidFill>
              <a:srgbClr val="E6E8F2"/>
            </a:solidFill>
          </a:ln>
        </p:spPr>
      </p:cxnSp>
      <p:cxnSp>
        <p:nvCxnSpPr>
          <p:cNvPr id="32" name="Line 32"/>
          <p:cNvCxnSpPr/>
          <p:nvPr/>
        </p:nvCxnSpPr>
        <p:spPr>
          <a:xfrm>
            <a:off x="6610198" y="3157966"/>
            <a:ext cx="2990850" cy="0"/>
          </a:xfrm>
          <a:prstGeom prst="line">
            <a:avLst/>
          </a:prstGeom>
          <a:ln w="9525" cap="flat">
            <a:solidFill>
              <a:srgbClr val="E6E8F2"/>
            </a:solidFill>
          </a:ln>
        </p:spPr>
      </p:cxnSp>
      <p:cxnSp>
        <p:nvCxnSpPr>
          <p:cNvPr id="33" name="Line 33"/>
          <p:cNvCxnSpPr/>
          <p:nvPr/>
        </p:nvCxnSpPr>
        <p:spPr>
          <a:xfrm>
            <a:off x="6610198" y="2954369"/>
            <a:ext cx="2990850" cy="0"/>
          </a:xfrm>
          <a:prstGeom prst="line">
            <a:avLst/>
          </a:prstGeom>
          <a:ln w="9525" cap="flat">
            <a:solidFill>
              <a:srgbClr val="E6E8F2"/>
            </a:solidFill>
          </a:ln>
        </p:spPr>
      </p:cxnSp>
      <p:cxnSp>
        <p:nvCxnSpPr>
          <p:cNvPr id="34" name="Line 34"/>
          <p:cNvCxnSpPr/>
          <p:nvPr/>
        </p:nvCxnSpPr>
        <p:spPr>
          <a:xfrm>
            <a:off x="6610198" y="2750772"/>
            <a:ext cx="2990850" cy="0"/>
          </a:xfrm>
          <a:prstGeom prst="line">
            <a:avLst/>
          </a:prstGeom>
          <a:ln w="9525" cap="flat">
            <a:solidFill>
              <a:srgbClr val="E6E8F2"/>
            </a:solidFill>
          </a:ln>
        </p:spPr>
      </p:cxnSp>
      <p:cxnSp>
        <p:nvCxnSpPr>
          <p:cNvPr id="35" name="Line 35"/>
          <p:cNvCxnSpPr/>
          <p:nvPr/>
        </p:nvCxnSpPr>
        <p:spPr>
          <a:xfrm>
            <a:off x="6610198" y="2547176"/>
            <a:ext cx="2990850" cy="0"/>
          </a:xfrm>
          <a:prstGeom prst="line">
            <a:avLst/>
          </a:prstGeom>
          <a:ln w="9525" cap="flat">
            <a:solidFill>
              <a:srgbClr val="E6E8F2"/>
            </a:solidFill>
          </a:ln>
        </p:spPr>
      </p:cxnSp>
      <p:cxnSp>
        <p:nvCxnSpPr>
          <p:cNvPr id="36" name="Line 36"/>
          <p:cNvCxnSpPr/>
          <p:nvPr/>
        </p:nvCxnSpPr>
        <p:spPr>
          <a:xfrm>
            <a:off x="6610198" y="2343579"/>
            <a:ext cx="2990850" cy="0"/>
          </a:xfrm>
          <a:prstGeom prst="line">
            <a:avLst/>
          </a:prstGeom>
          <a:ln w="9525" cap="flat">
            <a:solidFill>
              <a:srgbClr val="E6E8F2"/>
            </a:solidFill>
          </a:ln>
        </p:spPr>
      </p:cxnSp>
      <p:cxnSp>
        <p:nvCxnSpPr>
          <p:cNvPr id="37" name="Line 37"/>
          <p:cNvCxnSpPr/>
          <p:nvPr/>
        </p:nvCxnSpPr>
        <p:spPr>
          <a:xfrm>
            <a:off x="6610198" y="2139982"/>
            <a:ext cx="2990850" cy="0"/>
          </a:xfrm>
          <a:prstGeom prst="line">
            <a:avLst/>
          </a:prstGeom>
          <a:ln w="9525" cap="flat">
            <a:solidFill>
              <a:srgbClr val="E6E8F2"/>
            </a:solidFill>
          </a:ln>
        </p:spPr>
      </p:cxnSp>
      <p:cxnSp>
        <p:nvCxnSpPr>
          <p:cNvPr id="38" name="Line 38"/>
          <p:cNvCxnSpPr/>
          <p:nvPr/>
        </p:nvCxnSpPr>
        <p:spPr>
          <a:xfrm>
            <a:off x="6610198" y="1936385"/>
            <a:ext cx="2990850" cy="0"/>
          </a:xfrm>
          <a:prstGeom prst="line">
            <a:avLst/>
          </a:prstGeom>
          <a:ln w="9525" cap="flat">
            <a:solidFill>
              <a:srgbClr val="E6E8F2"/>
            </a:solidFill>
          </a:ln>
        </p:spPr>
      </p:cxnSp>
      <p:cxnSp>
        <p:nvCxnSpPr>
          <p:cNvPr id="39" name="Line 39"/>
          <p:cNvCxnSpPr/>
          <p:nvPr/>
        </p:nvCxnSpPr>
        <p:spPr>
          <a:xfrm>
            <a:off x="6610198" y="1732788"/>
            <a:ext cx="2990850" cy="0"/>
          </a:xfrm>
          <a:prstGeom prst="line">
            <a:avLst/>
          </a:prstGeom>
          <a:ln w="9525" cap="flat">
            <a:solidFill>
              <a:srgbClr val="E6E8F2"/>
            </a:solidFill>
          </a:ln>
        </p:spPr>
      </p:cxnSp>
      <p:cxnSp>
        <p:nvCxnSpPr>
          <p:cNvPr id="40" name="Line 40"/>
          <p:cNvCxnSpPr/>
          <p:nvPr/>
        </p:nvCxnSpPr>
        <p:spPr>
          <a:xfrm>
            <a:off x="8105623" y="1732788"/>
            <a:ext cx="0" cy="3257550"/>
          </a:xfrm>
          <a:prstGeom prst="line">
            <a:avLst/>
          </a:prstGeom>
          <a:ln w="19050" cap="flat">
            <a:solidFill>
              <a:srgbClr val="5F6272"/>
            </a:solidFill>
          </a:ln>
        </p:spPr>
      </p:cxnSp>
      <p:cxnSp>
        <p:nvCxnSpPr>
          <p:cNvPr id="41" name="Line 41"/>
          <p:cNvCxnSpPr/>
          <p:nvPr/>
        </p:nvCxnSpPr>
        <p:spPr>
          <a:xfrm>
            <a:off x="6610198" y="3361563"/>
            <a:ext cx="2990850" cy="0"/>
          </a:xfrm>
          <a:prstGeom prst="line">
            <a:avLst/>
          </a:prstGeom>
          <a:ln w="19050" cap="flat">
            <a:solidFill>
              <a:srgbClr val="5F6272"/>
            </a:solidFill>
          </a:ln>
        </p:spPr>
      </p:cxnSp>
      <p:sp>
        <p:nvSpPr>
          <p:cNvPr id="42" name="Shape 42"/>
          <p:cNvSpPr txBox="1"/>
          <p:nvPr/>
        </p:nvSpPr>
        <p:spPr>
          <a:xfrm>
            <a:off x="63358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6834353"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73328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7831303"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83297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8828253"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93267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9" name="Shape 49"/>
          <p:cNvSpPr txBox="1"/>
          <p:nvPr/>
        </p:nvSpPr>
        <p:spPr>
          <a:xfrm>
            <a:off x="6043270" y="4898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6043270" y="44917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6043270" y="40845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6043270" y="36773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3" name="Shape 53"/>
          <p:cNvSpPr txBox="1"/>
          <p:nvPr/>
        </p:nvSpPr>
        <p:spPr>
          <a:xfrm>
            <a:off x="6043270" y="32701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4" name="Shape 54"/>
          <p:cNvSpPr txBox="1"/>
          <p:nvPr/>
        </p:nvSpPr>
        <p:spPr>
          <a:xfrm>
            <a:off x="6043270" y="286292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5" name="Shape 55"/>
          <p:cNvSpPr txBox="1"/>
          <p:nvPr/>
        </p:nvSpPr>
        <p:spPr>
          <a:xfrm>
            <a:off x="6043270" y="24557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6" name="Shape 56"/>
          <p:cNvSpPr txBox="1"/>
          <p:nvPr/>
        </p:nvSpPr>
        <p:spPr>
          <a:xfrm>
            <a:off x="6043270" y="20485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7" name="Shape 57"/>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58" name="Line 58"/>
          <p:cNvCxnSpPr/>
          <p:nvPr/>
        </p:nvCxnSpPr>
        <p:spPr>
          <a:xfrm flipV="1">
            <a:off x="7233291" y="1732788"/>
            <a:ext cx="1993900" cy="3257550"/>
          </a:xfrm>
          <a:prstGeom prst="line">
            <a:avLst/>
          </a:prstGeom>
          <a:ln w="38100" cap="rnd">
            <a:solidFill>
              <a:srgbClr val="16171D"/>
            </a:solidFill>
          </a:ln>
        </p:spPr>
      </p:cxnSp>
      <p:sp>
        <p:nvSpPr>
          <p:cNvPr id="59" name="Shape 59"/>
          <p:cNvSpPr txBox="1"/>
          <p:nvPr/>
        </p:nvSpPr>
        <p:spPr>
          <a:xfrm>
            <a:off x="6735451"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j(x)</a:t>
            </a:r>
            <a:endParaRPr lang="en-US" sz="1275" dirty="0"/>
          </a:p>
        </p:txBody>
      </p:sp>
      <p:cxnSp>
        <p:nvCxnSpPr>
          <p:cNvPr id="60" name="Line 60"/>
          <p:cNvCxnSpPr/>
          <p:nvPr/>
        </p:nvCxnSpPr>
        <p:spPr>
          <a:xfrm flipV="1">
            <a:off x="6734816" y="1732788"/>
            <a:ext cx="1993900" cy="3257550"/>
          </a:xfrm>
          <a:prstGeom prst="line">
            <a:avLst/>
          </a:prstGeom>
          <a:ln w="38100" cap="rnd">
            <a:solidFill>
              <a:srgbClr val="7A4FC4"/>
            </a:solidFill>
          </a:ln>
        </p:spPr>
      </p:cxnSp>
      <p:sp>
        <p:nvSpPr>
          <p:cNvPr id="61" name="Shape 61"/>
          <p:cNvSpPr txBox="1"/>
          <p:nvPr/>
        </p:nvSpPr>
        <p:spPr>
          <a:xfrm>
            <a:off x="6236976"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q(x)</a:t>
            </a:r>
            <a:endParaRPr lang="en-US" sz="1275" dirty="0"/>
          </a:p>
        </p:txBody>
      </p:sp>
      <p:cxnSp>
        <p:nvCxnSpPr>
          <p:cNvPr id="62" name="Line 62"/>
          <p:cNvCxnSpPr/>
          <p:nvPr/>
        </p:nvCxnSpPr>
        <p:spPr>
          <a:xfrm flipV="1">
            <a:off x="7731766" y="1936385"/>
            <a:ext cx="1869281" cy="3053953"/>
          </a:xfrm>
          <a:prstGeom prst="line">
            <a:avLst/>
          </a:prstGeom>
          <a:ln w="38100" cap="rnd">
            <a:solidFill>
              <a:srgbClr val="4F8A3C"/>
            </a:solidFill>
          </a:ln>
        </p:spPr>
      </p:cxnSp>
      <p:sp>
        <p:nvSpPr>
          <p:cNvPr id="63" name="Shape 63"/>
          <p:cNvSpPr txBox="1"/>
          <p:nvPr/>
        </p:nvSpPr>
        <p:spPr>
          <a:xfrm>
            <a:off x="7109308" y="1955435"/>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r(x)</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wipe(left)">
                                      <p:cBhvr>
                                        <p:cTn id="25" dur="700"/>
                                        <p:tgtEl>
                                          <p:spTgt spid="60"/>
                                        </p:tgtEl>
                                      </p:cBhvr>
                                    </p:animEffect>
                                  </p:childTnLst>
                                </p:cTn>
                              </p:par>
                              <p:par>
                                <p:cTn id="29" presetID="22" presetClass="entr" presetSubtype="8" fill="hold"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wipe(left)">
                                      <p:cBhvr>
                                        <p:cTn id="28" dur="700"/>
                                        <p:tgtEl>
                                          <p:spTgt spid="61"/>
                                        </p:tgtEl>
                                      </p:cBhvr>
                                    </p:animEffect>
                                  </p:childTnLst>
                                </p:cTn>
                              </p:par>
                            </p:childTnLst>
                          </p:cTn>
                        </p:par>
                      </p:childTnLst>
                    </p:cTn>
                  </p:par>
                  <p:par>
                    <p:cTn id="38" fill="hold">
                      <p:stCondLst>
                        <p:cond delay="indefinite"/>
                      </p:stCondLst>
                      <p:childTnLst>
                        <p:par>
                          <p:cTn id="39" fill="hold">
                            <p:stCondLst>
                              <p:cond delay="0"/>
                            </p:stCondLst>
                            <p:childTnLst>
                              <p:par>
                                <p:cTn id="34" presetID="22" presetClass="entr" presetSubtype="8" fill="hold" nodeType="clickEffect">
                                  <p:stCondLst>
                                    <p:cond delay="0"/>
                                  </p:stCondLst>
                                  <p:childTnLst>
                                    <p:set>
                                      <p:cBhvr>
                                        <p:cTn id="32" dur="1" fill="hold">
                                          <p:stCondLst>
                                            <p:cond delay="0"/>
                                          </p:stCondLst>
                                        </p:cTn>
                                        <p:tgtEl>
                                          <p:spTgt spid="62"/>
                                        </p:tgtEl>
                                        <p:attrNameLst>
                                          <p:attrName>style.visibility</p:attrName>
                                        </p:attrNameLst>
                                      </p:cBhvr>
                                      <p:to>
                                        <p:strVal val="visible"/>
                                      </p:to>
                                    </p:set>
                                    <p:animEffect transition="in" filter="wipe(left)">
                                      <p:cBhvr>
                                        <p:cTn id="33" dur="700"/>
                                        <p:tgtEl>
                                          <p:spTgt spid="62"/>
                                        </p:tgtEl>
                                      </p:cBhvr>
                                    </p:animEffect>
                                  </p:childTnLst>
                                </p:cTn>
                              </p:par>
                              <p:par>
                                <p:cTn id="37" presetID="22" presetClass="entr" presetSubtype="8" fill="hold" nodeType="withEffect">
                                  <p:stCondLst>
                                    <p:cond delay="0"/>
                                  </p:stCondLst>
                                  <p:childTnLst>
                                    <p:set>
                                      <p:cBhvr>
                                        <p:cTn id="35" dur="1" fill="hold">
                                          <p:stCondLst>
                                            <p:cond delay="0"/>
                                          </p:stCondLst>
                                        </p:cTn>
                                        <p:tgtEl>
                                          <p:spTgt spid="63"/>
                                        </p:tgtEl>
                                        <p:attrNameLst>
                                          <p:attrName>style.visibility</p:attrName>
                                        </p:attrNameLst>
                                      </p:cBhvr>
                                      <p:to>
                                        <p:strVal val="visible"/>
                                      </p:to>
                                    </p:set>
                                    <p:animEffect transition="in" filter="wipe(left)">
                                      <p:cBhvr>
                                        <p:cTn id="36" dur="7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1.1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does a vertical translation do?</a:t>
            </a:r>
            <a:endParaRPr lang="en-US" sz="3450" dirty="0"/>
          </a:p>
        </p:txBody>
      </p:sp>
      <p:sp>
        <p:nvSpPr>
          <p:cNvPr id="4" name="Shape 4"/>
          <p:cNvSpPr txBox="1"/>
          <p:nvPr/>
        </p:nvSpPr>
        <p:spPr>
          <a:xfrm>
            <a:off x="685800" y="17137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moves every point up or down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units.</a:t>
            </a:r>
            <a:endParaRPr lang="en-US" sz="1950" dirty="0"/>
          </a:p>
        </p:txBody>
      </p:sp>
      <p:sp>
        <p:nvSpPr>
          <p:cNvPr id="5" name="Shape 5"/>
          <p:cNvSpPr txBox="1"/>
          <p:nvPr/>
        </p:nvSpPr>
        <p:spPr>
          <a:xfrm>
            <a:off x="685800" y="227533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a:t>
            </a:r>
            <a:r>
              <a:rPr lang="en-US" sz="1950" dirty="0" b="1">
                <a:solidFill>
                  <a:srgbClr val="16171D"/>
                </a:solidFill>
                <a:latin typeface="Segoe UI"/>
                <a:cs typeface="Segoe UI"/>
              </a:rPr>
              <a:t xml:space="preserve">slope</a:t>
            </a:r>
            <a:r>
              <a:rPr lang="en-US" sz="1950" dirty="0">
                <a:solidFill>
                  <a:srgbClr val="16171D"/>
                </a:solidFill>
                <a:latin typeface="Segoe UI"/>
                <a:cs typeface="Segoe UI"/>
              </a:rPr>
              <a:t xml:space="preserve"> stays the same. The </a:t>
            </a:r>
            <a:r>
              <a:rPr lang="en-US" sz="1950" dirty="0" b="1" i="1">
                <a:solidFill>
                  <a:srgbClr val="16171D"/>
                </a:solidFill>
                <a:latin typeface="Segoe UI"/>
                <a:cs typeface="Segoe UI"/>
              </a:rPr>
              <a:t xml:space="preserve">y</a:t>
            </a:r>
            <a:r>
              <a:rPr lang="en-US" sz="1950" dirty="0" b="1">
                <a:solidFill>
                  <a:srgbClr val="16171D"/>
                </a:solidFill>
                <a:latin typeface="Segoe UI"/>
                <a:cs typeface="Segoe UI"/>
              </a:rPr>
              <a:t xml:space="preserve">-intercept</a:t>
            </a:r>
            <a:r>
              <a:rPr lang="en-US" sz="1950" dirty="0">
                <a:solidFill>
                  <a:srgbClr val="16171D"/>
                </a:solidFill>
                <a:latin typeface="Segoe UI"/>
                <a:cs typeface="Segoe UI"/>
              </a:rPr>
              <a:t xml:space="preserve"> changes.</a:t>
            </a:r>
            <a:endParaRPr lang="en-US" sz="1950" dirty="0"/>
          </a:p>
        </p:txBody>
      </p:sp>
      <p:sp>
        <p:nvSpPr>
          <p:cNvPr id="6" name="Shape 6"/>
          <p:cNvSpPr txBox="1"/>
          <p:nvPr/>
        </p:nvSpPr>
        <p:spPr>
          <a:xfrm>
            <a:off x="685800" y="283692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A line and its vertical translation are </a:t>
            </a:r>
            <a:r>
              <a:rPr lang="en-US" sz="1950" dirty="0" b="1">
                <a:solidFill>
                  <a:srgbClr val="16171D"/>
                </a:solidFill>
                <a:latin typeface="Segoe UI"/>
                <a:cs typeface="Segoe UI"/>
              </a:rPr>
              <a:t xml:space="preserve">parallel</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1</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Translation</a:t>
            </a:r>
            <a:endParaRPr lang="en-US" sz="2100" dirty="0"/>
          </a:p>
        </p:txBody>
      </p:sp>
      <p:sp>
        <p:nvSpPr>
          <p:cNvPr id="5" name="Shape 5"/>
          <p:cNvSpPr txBox="1"/>
          <p:nvPr/>
        </p:nvSpPr>
        <p:spPr>
          <a:xfrm>
            <a:off x="895350"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a:t>
            </a:r>
            <a:r>
              <a:rPr lang="en-US" sz="2325" dirty="0" b="1" i="1">
                <a:solidFill>
                  <a:srgbClr val="3050B8"/>
                </a:solidFill>
                <a:latin typeface="Cambria"/>
                <a:cs typeface="Cambria"/>
              </a:rPr>
              <a:t xml:space="preserve">d</a:t>
            </a:r>
            <a:endParaRPr lang="en-US" sz="2325" dirty="0"/>
          </a:p>
        </p:txBody>
      </p:sp>
      <p:sp>
        <p:nvSpPr>
          <p:cNvPr id="6" name="Shape 6"/>
          <p:cNvSpPr txBox="1"/>
          <p:nvPr/>
        </p:nvSpPr>
        <p:spPr>
          <a:xfrm>
            <a:off x="895350" y="276453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when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 &gt; 0, down when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 &lt; 0.</a:t>
            </a:r>
            <a:endParaRPr lang="en-US" sz="1575" dirty="0"/>
          </a:p>
        </p:txBody>
      </p:sp>
      <p:sp>
        <p:nvSpPr>
          <p:cNvPr id="10" name="Shape 10"/>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What changes?</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moves.</a:t>
            </a:r>
            <a:br>
              <a:rPr lang="en-US" sz="1575" dirty="0">
                <a:solidFill>
                  <a:srgbClr val="16171D"/>
                </a:solidFill>
                <a:latin typeface="Segoe UI"/>
                <a:cs typeface="Segoe UI"/>
              </a:rPr>
            </a:br>
            <a:r>
              <a:rPr lang="en-US" sz="1575" dirty="0">
                <a:solidFill>
                  <a:srgbClr val="16171D"/>
                </a:solidFill>
                <a:latin typeface="Segoe UI"/>
                <a:cs typeface="Segoe UI"/>
              </a:rPr>
              <a:t xml:space="preserve">The slope stays the same.</a:t>
            </a:r>
            <a:endParaRPr lang="en-US" sz="1575" dirty="0"/>
          </a:p>
        </p:txBody>
      </p:sp>
      <p:sp>
        <p:nvSpPr>
          <p:cNvPr id="13" name="Shape 13"/>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Parallel</a:t>
            </a:r>
            <a:endParaRPr lang="en-US" sz="2100" dirty="0"/>
          </a:p>
        </p:txBody>
      </p:sp>
      <p:sp>
        <p:nvSpPr>
          <p:cNvPr id="12" name="Shape 12"/>
          <p:cNvSpPr txBox="1"/>
          <p:nvPr/>
        </p:nvSpPr>
        <p:spPr>
          <a:xfrm>
            <a:off x="8223047"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line and its translation are parallel: same slope, never meet.</a:t>
            </a:r>
            <a:endParaRPr lang="en-US" sz="1575" dirty="0"/>
          </a:p>
        </p:txBody>
      </p:sp>
      <p:sp>
        <p:nvSpPr>
          <p:cNvPr id="14" name="Shape 14"/>
          <p:cNvSpPr txBox="1"/>
          <p:nvPr/>
        </p:nvSpPr>
        <p:spPr>
          <a:xfrm>
            <a:off x="685800" y="364236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Monday, October 19</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Tuesday, October 20. Start at the next slide, “Start: Tuesday, October 20.”</a:t>
            </a:r>
            <a:endParaRPr lang="en-US" sz="22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Day 2 of 3 · Start here</a:t>
            </a:r>
            <a:endParaRPr lang="en-US" sz="1200" dirty="0"/>
          </a:p>
        </p:txBody>
      </p:sp>
      <p:sp>
        <p:nvSpPr>
          <p:cNvPr id="3" name="Shape 3"/>
          <p:cNvSpPr txBox="1"/>
          <p:nvPr/>
        </p:nvSpPr>
        <p:spPr>
          <a:xfrm>
            <a:off x="685800" y="1323594"/>
            <a:ext cx="10820095" cy="92354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Start: Tuesday, October 20</a:t>
            </a:r>
            <a:endParaRPr lang="en-US" sz="5700" dirty="0"/>
          </a:p>
        </p:txBody>
      </p:sp>
      <p:sp>
        <p:nvSpPr>
          <p:cNvPr id="4" name="Shape 4"/>
          <p:cNvSpPr txBox="1"/>
          <p:nvPr/>
        </p:nvSpPr>
        <p:spPr>
          <a:xfrm>
            <a:off x="685800" y="241858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(Graphing from point-slope form) → Lesson 1, Day 2.</a:t>
            </a:r>
            <a:endParaRPr lang="en-US" sz="2100" dirty="0"/>
          </a:p>
        </p:txBody>
      </p:sp>
      <p:sp>
        <p:nvSpPr>
          <p:cNvPr id="5" name="Shape 5"/>
          <p:cNvSpPr txBox="1"/>
          <p:nvPr/>
        </p:nvSpPr>
        <p:spPr>
          <a:xfrm>
            <a:off x="685800" y="3284982"/>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transform a function? What effects do different transformations have on the characteristics of linear functions?</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 · Tue, Oct 20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is translated up 4 units. Which equation is the new function? </a:t>
            </a:r>
            <a:r>
              <a:rPr lang="en-US" sz="1575" dirty="0">
                <a:solidFill>
                  <a:srgbClr val="5F6272"/>
                </a:solidFill>
                <a:latin typeface="Segoe UI"/>
                <a:cs typeface="Segoe UI"/>
              </a:rPr>
              <a:t xml:space="preserve">(SE p. 272)</a:t>
            </a:r>
            <a:endParaRPr lang="en-US" sz="1950" dirty="0"/>
          </a:p>
        </p:txBody>
      </p:sp>
      <p:sp>
        <p:nvSpPr>
          <p:cNvPr id="5" name="Shape 5"/>
          <p:cNvSpPr txBox="1"/>
          <p:nvPr/>
        </p:nvSpPr>
        <p:spPr>
          <a:xfrm>
            <a:off x="685800" y="275539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6" name="Shape 6"/>
          <p:cNvSpPr txBox="1"/>
          <p:nvPr/>
        </p:nvSpPr>
        <p:spPr>
          <a:xfrm>
            <a:off x="685800" y="354101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The point </a:t>
            </a:r>
            <a:r>
              <a:rPr lang="en-US" sz="1950" dirty="0">
                <a:solidFill>
                  <a:srgbClr val="16171D"/>
                </a:solidFill>
                <a:latin typeface="Cambria"/>
                <a:cs typeface="Cambria"/>
              </a:rPr>
              <a:t xml:space="preserve">(2, 5)</a:t>
            </a:r>
            <a:r>
              <a:rPr lang="en-US" sz="1950" dirty="0">
                <a:solidFill>
                  <a:srgbClr val="16171D"/>
                </a:solidFill>
                <a:latin typeface="Segoe UI"/>
                <a:cs typeface="Segoe UI"/>
              </a:rPr>
              <a:t xml:space="preserve"> is translated down 3 units. Where does it go? </a:t>
            </a:r>
            <a:r>
              <a:rPr lang="en-US" sz="1575" dirty="0">
                <a:solidFill>
                  <a:srgbClr val="5F6272"/>
                </a:solidFill>
                <a:latin typeface="Segoe UI"/>
                <a:cs typeface="Segoe UI"/>
              </a:rPr>
              <a:t xml:space="preserve">(SE p. 273)</a:t>
            </a:r>
            <a:endParaRPr lang="en-US" sz="1950" dirty="0"/>
          </a:p>
        </p:txBody>
      </p:sp>
      <p:sp>
        <p:nvSpPr>
          <p:cNvPr id="7" name="Shape 7"/>
          <p:cNvSpPr txBox="1"/>
          <p:nvPr/>
        </p:nvSpPr>
        <p:spPr>
          <a:xfrm>
            <a:off x="685800" y="432358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(2, 2)</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What is the slope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275)</a:t>
            </a:r>
            <a:endParaRPr lang="en-US" sz="1950" dirty="0"/>
          </a:p>
        </p:txBody>
      </p:sp>
      <p:sp>
        <p:nvSpPr>
          <p:cNvPr id="9" name="Shape 9"/>
          <p:cNvSpPr txBox="1"/>
          <p:nvPr/>
        </p:nvSpPr>
        <p:spPr>
          <a:xfrm>
            <a:off x="6362548"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What is the </a:t>
            </a:r>
            <a:r>
              <a:rPr lang="en-US" sz="1950" dirty="0" i="1">
                <a:solidFill>
                  <a:srgbClr val="16171D"/>
                </a:solidFill>
                <a:latin typeface="Cambria"/>
                <a:cs typeface="Cambria"/>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275)</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Tue, Oct 20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Graphing from point-slope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Activity 1.2 writes parallel lines with point-slope form, so practice it first.</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5.2 · Using Point-Slope Form to Graph a Line · SE p. 223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jazz band's account</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They already had some money. They sell tickets at </a:t>
            </a:r>
            <a:r>
              <a:rPr lang="en-US" sz="1575" dirty="0" b="1">
                <a:solidFill>
                  <a:srgbClr val="16171D"/>
                </a:solidFill>
                <a:latin typeface="Segoe UI"/>
                <a:cs typeface="Segoe UI"/>
              </a:rPr>
              <a:t xml:space="preserve">$5.00 each</a:t>
            </a:r>
            <a:r>
              <a:rPr lang="en-US" sz="1575" dirty="0">
                <a:solidFill>
                  <a:srgbClr val="16171D"/>
                </a:solidFill>
                <a:latin typeface="Segoe UI"/>
                <a:cs typeface="Segoe UI"/>
              </a:rPr>
              <a:t xml:space="preserve">. After selling </a:t>
            </a:r>
            <a:r>
              <a:rPr lang="en-US" sz="1575" dirty="0" b="1">
                <a:solidFill>
                  <a:srgbClr val="16171D"/>
                </a:solidFill>
                <a:latin typeface="Segoe UI"/>
                <a:cs typeface="Segoe UI"/>
              </a:rPr>
              <a:t xml:space="preserve">3 tickets</a:t>
            </a:r>
            <a:r>
              <a:rPr lang="en-US" sz="1575" dirty="0">
                <a:solidFill>
                  <a:srgbClr val="16171D"/>
                </a:solidFill>
                <a:latin typeface="Segoe UI"/>
                <a:cs typeface="Segoe UI"/>
              </a:rPr>
              <a:t xml:space="preserve">, they had </a:t>
            </a:r>
            <a:r>
              <a:rPr lang="en-US" sz="1575" dirty="0" b="1">
                <a:solidFill>
                  <a:srgbClr val="16171D"/>
                </a:solidFill>
                <a:latin typeface="Segoe UI"/>
                <a:cs typeface="Segoe UI"/>
              </a:rPr>
              <a:t xml:space="preserve">$50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tickets sold,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money in the account.</a:t>
            </a:r>
            <a:endParaRPr lang="en-US" sz="1575" dirty="0"/>
          </a:p>
        </p:txBody>
      </p:sp>
      <p:sp>
        <p:nvSpPr>
          <p:cNvPr id="5" name="Shape 5"/>
          <p:cNvSpPr txBox="1"/>
          <p:nvPr/>
        </p:nvSpPr>
        <p:spPr>
          <a:xfrm>
            <a:off x="685800" y="23248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$5 per ticket → </a:t>
            </a:r>
            <a:r>
              <a:rPr lang="en-US" sz="1575" dirty="0" b="1">
                <a:solidFill>
                  <a:srgbClr val="C9561F"/>
                </a:solidFill>
                <a:latin typeface="Segoe UI"/>
                <a:cs typeface="Segoe UI"/>
              </a:rPr>
              <a:t xml:space="preserve">slope 5</a:t>
            </a:r>
            <a:r>
              <a:rPr lang="en-US" sz="1575" dirty="0">
                <a:solidFill>
                  <a:srgbClr val="16171D"/>
                </a:solidFill>
                <a:latin typeface="Segoe UI"/>
                <a:cs typeface="Segoe UI"/>
              </a:rPr>
              <a:t xml:space="preserve">. 3 tickets, $50 → </a:t>
            </a:r>
            <a:r>
              <a:rPr lang="en-US" sz="1575" dirty="0" b="1">
                <a:solidFill>
                  <a:srgbClr val="3050B8"/>
                </a:solidFill>
                <a:latin typeface="Segoe UI"/>
                <a:cs typeface="Segoe UI"/>
              </a:rPr>
              <a:t xml:space="preserve">point (3, 50)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15006"/>
            <a:ext cx="5705673"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5</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a:t>
            </a:r>
            <a:endParaRPr lang="en-US" sz="2850" dirty="0"/>
          </a:p>
        </p:txBody>
      </p:sp>
      <p:sp>
        <p:nvSpPr>
          <p:cNvPr id="7" name="Shape 7"/>
          <p:cNvSpPr txBox="1"/>
          <p:nvPr/>
        </p:nvSpPr>
        <p:spPr>
          <a:xfrm>
            <a:off x="685800" y="340918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Plot the known point, </a:t>
            </a:r>
            <a:r>
              <a:rPr lang="en-US" sz="1575" dirty="0" b="1">
                <a:solidFill>
                  <a:srgbClr val="3050B8"/>
                </a:solidFill>
                <a:latin typeface="Segoe UI"/>
                <a:cs typeface="Segoe UI"/>
              </a:rPr>
              <a:t xml:space="preserve">(3, 50)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799332"/>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Write the slope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(up 5, right 1) and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(down 5, left 1). Count from the point.</a:t>
            </a:r>
            <a:endParaRPr lang="en-US" sz="1575" dirty="0"/>
          </a:p>
        </p:txBody>
      </p:sp>
      <p:sp>
        <p:nvSpPr>
          <p:cNvPr id="9" name="Shape 9"/>
          <p:cNvSpPr txBox="1"/>
          <p:nvPr/>
        </p:nvSpPr>
        <p:spPr>
          <a:xfrm>
            <a:off x="685800" y="4429506"/>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Plot at least two more points, then connect them.</a:t>
            </a:r>
            <a:endParaRPr lang="en-US" sz="1575" dirty="0"/>
          </a:p>
        </p:txBody>
      </p:sp>
      <p:sp>
        <p:nvSpPr>
          <p:cNvPr id="10" name="Shape 10"/>
          <p:cNvSpPr/>
          <p:nvPr/>
        </p:nvSpPr>
        <p:spPr>
          <a:xfrm>
            <a:off x="7886395" y="232486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439162"/>
            <a:ext cx="0" cy="3448050"/>
          </a:xfrm>
          <a:prstGeom prst="line">
            <a:avLst/>
          </a:prstGeom>
          <a:ln w="9525" cap="flat">
            <a:solidFill>
              <a:srgbClr val="E6E8F2"/>
            </a:solidFill>
          </a:ln>
        </p:spPr>
      </p:cxnSp>
      <p:cxnSp>
        <p:nvCxnSpPr>
          <p:cNvPr id="12" name="Line 12"/>
          <p:cNvCxnSpPr/>
          <p:nvPr/>
        </p:nvCxnSpPr>
        <p:spPr>
          <a:xfrm>
            <a:off x="8437484" y="2439162"/>
            <a:ext cx="0" cy="3448050"/>
          </a:xfrm>
          <a:prstGeom prst="line">
            <a:avLst/>
          </a:prstGeom>
          <a:ln w="9525" cap="flat">
            <a:solidFill>
              <a:srgbClr val="E6E8F2"/>
            </a:solidFill>
          </a:ln>
        </p:spPr>
      </p:cxnSp>
      <p:cxnSp>
        <p:nvCxnSpPr>
          <p:cNvPr id="13" name="Line 13"/>
          <p:cNvCxnSpPr/>
          <p:nvPr/>
        </p:nvCxnSpPr>
        <p:spPr>
          <a:xfrm>
            <a:off x="8664724" y="2439162"/>
            <a:ext cx="0" cy="3448050"/>
          </a:xfrm>
          <a:prstGeom prst="line">
            <a:avLst/>
          </a:prstGeom>
          <a:ln w="9525" cap="flat">
            <a:solidFill>
              <a:srgbClr val="E6E8F2"/>
            </a:solidFill>
          </a:ln>
        </p:spPr>
      </p:cxnSp>
      <p:cxnSp>
        <p:nvCxnSpPr>
          <p:cNvPr id="14" name="Line 14"/>
          <p:cNvCxnSpPr/>
          <p:nvPr/>
        </p:nvCxnSpPr>
        <p:spPr>
          <a:xfrm>
            <a:off x="8891963" y="2439162"/>
            <a:ext cx="0" cy="3448050"/>
          </a:xfrm>
          <a:prstGeom prst="line">
            <a:avLst/>
          </a:prstGeom>
          <a:ln w="9525" cap="flat">
            <a:solidFill>
              <a:srgbClr val="E6E8F2"/>
            </a:solidFill>
          </a:ln>
        </p:spPr>
      </p:cxnSp>
      <p:cxnSp>
        <p:nvCxnSpPr>
          <p:cNvPr id="15" name="Line 15"/>
          <p:cNvCxnSpPr/>
          <p:nvPr/>
        </p:nvCxnSpPr>
        <p:spPr>
          <a:xfrm>
            <a:off x="9119202" y="2439162"/>
            <a:ext cx="0" cy="3448050"/>
          </a:xfrm>
          <a:prstGeom prst="line">
            <a:avLst/>
          </a:prstGeom>
          <a:ln w="9525" cap="flat">
            <a:solidFill>
              <a:srgbClr val="E6E8F2"/>
            </a:solidFill>
          </a:ln>
        </p:spPr>
      </p:cxnSp>
      <p:cxnSp>
        <p:nvCxnSpPr>
          <p:cNvPr id="16" name="Line 16"/>
          <p:cNvCxnSpPr/>
          <p:nvPr/>
        </p:nvCxnSpPr>
        <p:spPr>
          <a:xfrm>
            <a:off x="9346442" y="2439162"/>
            <a:ext cx="0" cy="3448050"/>
          </a:xfrm>
          <a:prstGeom prst="line">
            <a:avLst/>
          </a:prstGeom>
          <a:ln w="9525" cap="flat">
            <a:solidFill>
              <a:srgbClr val="E6E8F2"/>
            </a:solidFill>
          </a:ln>
        </p:spPr>
      </p:cxnSp>
      <p:cxnSp>
        <p:nvCxnSpPr>
          <p:cNvPr id="17" name="Line 17"/>
          <p:cNvCxnSpPr/>
          <p:nvPr/>
        </p:nvCxnSpPr>
        <p:spPr>
          <a:xfrm>
            <a:off x="9573681" y="2439162"/>
            <a:ext cx="0" cy="3448050"/>
          </a:xfrm>
          <a:prstGeom prst="line">
            <a:avLst/>
          </a:prstGeom>
          <a:ln w="9525" cap="flat">
            <a:solidFill>
              <a:srgbClr val="E6E8F2"/>
            </a:solidFill>
          </a:ln>
        </p:spPr>
      </p:cxnSp>
      <p:cxnSp>
        <p:nvCxnSpPr>
          <p:cNvPr id="18" name="Line 18"/>
          <p:cNvCxnSpPr/>
          <p:nvPr/>
        </p:nvCxnSpPr>
        <p:spPr>
          <a:xfrm>
            <a:off x="9800920" y="2439162"/>
            <a:ext cx="0" cy="3448050"/>
          </a:xfrm>
          <a:prstGeom prst="line">
            <a:avLst/>
          </a:prstGeom>
          <a:ln w="9525" cap="flat">
            <a:solidFill>
              <a:srgbClr val="E6E8F2"/>
            </a:solidFill>
          </a:ln>
        </p:spPr>
      </p:cxnSp>
      <p:cxnSp>
        <p:nvCxnSpPr>
          <p:cNvPr id="19" name="Line 19"/>
          <p:cNvCxnSpPr/>
          <p:nvPr/>
        </p:nvCxnSpPr>
        <p:spPr>
          <a:xfrm>
            <a:off x="10028159" y="2439162"/>
            <a:ext cx="0" cy="3448050"/>
          </a:xfrm>
          <a:prstGeom prst="line">
            <a:avLst/>
          </a:prstGeom>
          <a:ln w="9525" cap="flat">
            <a:solidFill>
              <a:srgbClr val="E6E8F2"/>
            </a:solidFill>
          </a:ln>
        </p:spPr>
      </p:cxnSp>
      <p:cxnSp>
        <p:nvCxnSpPr>
          <p:cNvPr id="20" name="Line 20"/>
          <p:cNvCxnSpPr/>
          <p:nvPr/>
        </p:nvCxnSpPr>
        <p:spPr>
          <a:xfrm>
            <a:off x="10255399" y="2439162"/>
            <a:ext cx="0" cy="3448050"/>
          </a:xfrm>
          <a:prstGeom prst="line">
            <a:avLst/>
          </a:prstGeom>
          <a:ln w="9525" cap="flat">
            <a:solidFill>
              <a:srgbClr val="E6E8F2"/>
            </a:solidFill>
          </a:ln>
        </p:spPr>
      </p:cxnSp>
      <p:cxnSp>
        <p:nvCxnSpPr>
          <p:cNvPr id="21" name="Line 21"/>
          <p:cNvCxnSpPr/>
          <p:nvPr/>
        </p:nvCxnSpPr>
        <p:spPr>
          <a:xfrm>
            <a:off x="10482638" y="2439162"/>
            <a:ext cx="0" cy="3448050"/>
          </a:xfrm>
          <a:prstGeom prst="line">
            <a:avLst/>
          </a:prstGeom>
          <a:ln w="9525" cap="flat">
            <a:solidFill>
              <a:srgbClr val="E6E8F2"/>
            </a:solidFill>
          </a:ln>
        </p:spPr>
      </p:cxnSp>
      <p:cxnSp>
        <p:nvCxnSpPr>
          <p:cNvPr id="22" name="Line 22"/>
          <p:cNvCxnSpPr/>
          <p:nvPr/>
        </p:nvCxnSpPr>
        <p:spPr>
          <a:xfrm>
            <a:off x="10709877" y="2439162"/>
            <a:ext cx="0" cy="3448050"/>
          </a:xfrm>
          <a:prstGeom prst="line">
            <a:avLst/>
          </a:prstGeom>
          <a:ln w="9525" cap="flat">
            <a:solidFill>
              <a:srgbClr val="E6E8F2"/>
            </a:solidFill>
          </a:ln>
        </p:spPr>
      </p:cxnSp>
      <p:cxnSp>
        <p:nvCxnSpPr>
          <p:cNvPr id="23" name="Line 23"/>
          <p:cNvCxnSpPr/>
          <p:nvPr/>
        </p:nvCxnSpPr>
        <p:spPr>
          <a:xfrm>
            <a:off x="10937117" y="2439162"/>
            <a:ext cx="0" cy="3448050"/>
          </a:xfrm>
          <a:prstGeom prst="line">
            <a:avLst/>
          </a:prstGeom>
          <a:ln w="9525" cap="flat">
            <a:solidFill>
              <a:srgbClr val="E6E8F2"/>
            </a:solidFill>
          </a:ln>
        </p:spPr>
      </p:cxnSp>
      <p:cxnSp>
        <p:nvCxnSpPr>
          <p:cNvPr id="24" name="Line 24"/>
          <p:cNvCxnSpPr/>
          <p:nvPr/>
        </p:nvCxnSpPr>
        <p:spPr>
          <a:xfrm>
            <a:off x="11164356" y="2439162"/>
            <a:ext cx="0" cy="3448050"/>
          </a:xfrm>
          <a:prstGeom prst="line">
            <a:avLst/>
          </a:prstGeom>
          <a:ln w="9525" cap="flat">
            <a:solidFill>
              <a:srgbClr val="E6E8F2"/>
            </a:solidFill>
          </a:ln>
        </p:spPr>
      </p:cxnSp>
      <p:cxnSp>
        <p:nvCxnSpPr>
          <p:cNvPr id="25" name="Line 25"/>
          <p:cNvCxnSpPr/>
          <p:nvPr/>
        </p:nvCxnSpPr>
        <p:spPr>
          <a:xfrm>
            <a:off x="11391595" y="2439162"/>
            <a:ext cx="0" cy="3448050"/>
          </a:xfrm>
          <a:prstGeom prst="line">
            <a:avLst/>
          </a:prstGeom>
          <a:ln w="9525" cap="flat">
            <a:solidFill>
              <a:srgbClr val="E6E8F2"/>
            </a:solidFill>
          </a:ln>
        </p:spPr>
      </p:cxnSp>
      <p:cxnSp>
        <p:nvCxnSpPr>
          <p:cNvPr id="26" name="Line 26"/>
          <p:cNvCxnSpPr/>
          <p:nvPr/>
        </p:nvCxnSpPr>
        <p:spPr>
          <a:xfrm>
            <a:off x="8210245" y="5887212"/>
            <a:ext cx="3181350" cy="0"/>
          </a:xfrm>
          <a:prstGeom prst="line">
            <a:avLst/>
          </a:prstGeom>
          <a:ln w="9525" cap="flat">
            <a:solidFill>
              <a:srgbClr val="E6E8F2"/>
            </a:solidFill>
          </a:ln>
        </p:spPr>
      </p:cxnSp>
      <p:cxnSp>
        <p:nvCxnSpPr>
          <p:cNvPr id="27" name="Line 27"/>
          <p:cNvCxnSpPr/>
          <p:nvPr/>
        </p:nvCxnSpPr>
        <p:spPr>
          <a:xfrm>
            <a:off x="8210245" y="5456206"/>
            <a:ext cx="3181350" cy="0"/>
          </a:xfrm>
          <a:prstGeom prst="line">
            <a:avLst/>
          </a:prstGeom>
          <a:ln w="9525" cap="flat">
            <a:solidFill>
              <a:srgbClr val="E6E8F2"/>
            </a:solidFill>
          </a:ln>
        </p:spPr>
      </p:cxnSp>
      <p:cxnSp>
        <p:nvCxnSpPr>
          <p:cNvPr id="28" name="Line 28"/>
          <p:cNvCxnSpPr/>
          <p:nvPr/>
        </p:nvCxnSpPr>
        <p:spPr>
          <a:xfrm>
            <a:off x="8210245" y="5025200"/>
            <a:ext cx="3181350" cy="0"/>
          </a:xfrm>
          <a:prstGeom prst="line">
            <a:avLst/>
          </a:prstGeom>
          <a:ln w="9525" cap="flat">
            <a:solidFill>
              <a:srgbClr val="E6E8F2"/>
            </a:solidFill>
          </a:ln>
        </p:spPr>
      </p:cxnSp>
      <p:cxnSp>
        <p:nvCxnSpPr>
          <p:cNvPr id="29" name="Line 29"/>
          <p:cNvCxnSpPr/>
          <p:nvPr/>
        </p:nvCxnSpPr>
        <p:spPr>
          <a:xfrm>
            <a:off x="8210245" y="4594193"/>
            <a:ext cx="3181350" cy="0"/>
          </a:xfrm>
          <a:prstGeom prst="line">
            <a:avLst/>
          </a:prstGeom>
          <a:ln w="9525" cap="flat">
            <a:solidFill>
              <a:srgbClr val="E6E8F2"/>
            </a:solidFill>
          </a:ln>
        </p:spPr>
      </p:cxnSp>
      <p:cxnSp>
        <p:nvCxnSpPr>
          <p:cNvPr id="30" name="Line 30"/>
          <p:cNvCxnSpPr/>
          <p:nvPr/>
        </p:nvCxnSpPr>
        <p:spPr>
          <a:xfrm>
            <a:off x="8210245" y="4163187"/>
            <a:ext cx="3181350" cy="0"/>
          </a:xfrm>
          <a:prstGeom prst="line">
            <a:avLst/>
          </a:prstGeom>
          <a:ln w="9525" cap="flat">
            <a:solidFill>
              <a:srgbClr val="E6E8F2"/>
            </a:solidFill>
          </a:ln>
        </p:spPr>
      </p:cxnSp>
      <p:cxnSp>
        <p:nvCxnSpPr>
          <p:cNvPr id="31" name="Line 31"/>
          <p:cNvCxnSpPr/>
          <p:nvPr/>
        </p:nvCxnSpPr>
        <p:spPr>
          <a:xfrm>
            <a:off x="8210245" y="3732181"/>
            <a:ext cx="3181350" cy="0"/>
          </a:xfrm>
          <a:prstGeom prst="line">
            <a:avLst/>
          </a:prstGeom>
          <a:ln w="9525" cap="flat">
            <a:solidFill>
              <a:srgbClr val="E6E8F2"/>
            </a:solidFill>
          </a:ln>
        </p:spPr>
      </p:cxnSp>
      <p:cxnSp>
        <p:nvCxnSpPr>
          <p:cNvPr id="32" name="Line 32"/>
          <p:cNvCxnSpPr/>
          <p:nvPr/>
        </p:nvCxnSpPr>
        <p:spPr>
          <a:xfrm>
            <a:off x="8210245" y="3301174"/>
            <a:ext cx="3181350" cy="0"/>
          </a:xfrm>
          <a:prstGeom prst="line">
            <a:avLst/>
          </a:prstGeom>
          <a:ln w="9525" cap="flat">
            <a:solidFill>
              <a:srgbClr val="E6E8F2"/>
            </a:solidFill>
          </a:ln>
        </p:spPr>
      </p:cxnSp>
      <p:cxnSp>
        <p:nvCxnSpPr>
          <p:cNvPr id="33" name="Line 33"/>
          <p:cNvCxnSpPr/>
          <p:nvPr/>
        </p:nvCxnSpPr>
        <p:spPr>
          <a:xfrm>
            <a:off x="8210245" y="2870168"/>
            <a:ext cx="3181350" cy="0"/>
          </a:xfrm>
          <a:prstGeom prst="line">
            <a:avLst/>
          </a:prstGeom>
          <a:ln w="9525" cap="flat">
            <a:solidFill>
              <a:srgbClr val="E6E8F2"/>
            </a:solidFill>
          </a:ln>
        </p:spPr>
      </p:cxnSp>
      <p:cxnSp>
        <p:nvCxnSpPr>
          <p:cNvPr id="34" name="Line 34"/>
          <p:cNvCxnSpPr/>
          <p:nvPr/>
        </p:nvCxnSpPr>
        <p:spPr>
          <a:xfrm>
            <a:off x="8210245" y="2439162"/>
            <a:ext cx="3181350" cy="0"/>
          </a:xfrm>
          <a:prstGeom prst="line">
            <a:avLst/>
          </a:prstGeom>
          <a:ln w="9525" cap="flat">
            <a:solidFill>
              <a:srgbClr val="E6E8F2"/>
            </a:solidFill>
          </a:ln>
        </p:spPr>
      </p:cxnSp>
      <p:cxnSp>
        <p:nvCxnSpPr>
          <p:cNvPr id="35" name="Line 35"/>
          <p:cNvCxnSpPr/>
          <p:nvPr/>
        </p:nvCxnSpPr>
        <p:spPr>
          <a:xfrm>
            <a:off x="8210245" y="2439162"/>
            <a:ext cx="0" cy="3448050"/>
          </a:xfrm>
          <a:prstGeom prst="line">
            <a:avLst/>
          </a:prstGeom>
          <a:ln w="19050" cap="flat">
            <a:solidFill>
              <a:srgbClr val="5F6272"/>
            </a:solidFill>
          </a:ln>
        </p:spPr>
      </p:cxnSp>
      <p:cxnSp>
        <p:nvCxnSpPr>
          <p:cNvPr id="36" name="Line 36"/>
          <p:cNvCxnSpPr/>
          <p:nvPr/>
        </p:nvCxnSpPr>
        <p:spPr>
          <a:xfrm>
            <a:off x="8210245" y="5887212"/>
            <a:ext cx="3181350" cy="0"/>
          </a:xfrm>
          <a:prstGeom prst="line">
            <a:avLst/>
          </a:prstGeom>
          <a:ln w="19050" cap="flat">
            <a:solidFill>
              <a:srgbClr val="5F6272"/>
            </a:solidFill>
          </a:ln>
        </p:spPr>
      </p:cxnSp>
      <p:sp>
        <p:nvSpPr>
          <p:cNvPr id="37" name="Shape 37"/>
          <p:cNvSpPr txBox="1"/>
          <p:nvPr/>
        </p:nvSpPr>
        <p:spPr>
          <a:xfrm>
            <a:off x="793592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8390404"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844882"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9299361"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9753839"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10208318"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10662797"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1111727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45" name="Shape 45"/>
          <p:cNvSpPr txBox="1"/>
          <p:nvPr/>
        </p:nvSpPr>
        <p:spPr>
          <a:xfrm>
            <a:off x="7643317" y="57957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7643317" y="53647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7" name="Shape 47"/>
          <p:cNvSpPr txBox="1"/>
          <p:nvPr/>
        </p:nvSpPr>
        <p:spPr>
          <a:xfrm>
            <a:off x="7643317" y="49337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48" name="Shape 48"/>
          <p:cNvSpPr txBox="1"/>
          <p:nvPr/>
        </p:nvSpPr>
        <p:spPr>
          <a:xfrm>
            <a:off x="7643317" y="45027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49" name="Shape 49"/>
          <p:cNvSpPr txBox="1"/>
          <p:nvPr/>
        </p:nvSpPr>
        <p:spPr>
          <a:xfrm>
            <a:off x="7643317" y="407174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0" name="Shape 50"/>
          <p:cNvSpPr txBox="1"/>
          <p:nvPr/>
        </p:nvSpPr>
        <p:spPr>
          <a:xfrm>
            <a:off x="7643317" y="364074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51" name="Shape 51"/>
          <p:cNvSpPr txBox="1"/>
          <p:nvPr/>
        </p:nvSpPr>
        <p:spPr>
          <a:xfrm>
            <a:off x="7643317" y="320973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2" name="Shape 52"/>
          <p:cNvSpPr txBox="1"/>
          <p:nvPr/>
        </p:nvSpPr>
        <p:spPr>
          <a:xfrm>
            <a:off x="7643317" y="27787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3" name="Shape 53"/>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4" name="Shape 54"/>
          <p:cNvSpPr/>
          <p:nvPr/>
        </p:nvSpPr>
        <p:spPr>
          <a:xfrm>
            <a:off x="8839576" y="367979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8977688" y="348453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(3, 50)</a:t>
            </a:r>
            <a:endParaRPr lang="en-US" sz="1125" dirty="0"/>
          </a:p>
        </p:txBody>
      </p:sp>
      <p:sp>
        <p:nvSpPr>
          <p:cNvPr id="56" name="Shape 56"/>
          <p:cNvSpPr/>
          <p:nvPr/>
        </p:nvSpPr>
        <p:spPr>
          <a:xfrm>
            <a:off x="9066815" y="346429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p:nvPr/>
        </p:nvSpPr>
        <p:spPr>
          <a:xfrm>
            <a:off x="8612336" y="389529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8" name="Line 58"/>
          <p:cNvCxnSpPr/>
          <p:nvPr/>
        </p:nvCxnSpPr>
        <p:spPr>
          <a:xfrm flipV="1">
            <a:off x="8210245" y="2439162"/>
            <a:ext cx="2045154" cy="1939528"/>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500"/>
                                        <p:tgtEl>
                                          <p:spTgt spid="54"/>
                                        </p:tgtEl>
                                      </p:cBhvr>
                                    </p:animEffect>
                                    <p:anim calcmode="lin" valueType="num">
                                      <p:cBhvr>
                                        <p:cTn id="40" dur="500" fill="hold"/>
                                        <p:tgtEl>
                                          <p:spTgt spid="54"/>
                                        </p:tgtEl>
                                        <p:attrNameLst>
                                          <p:attrName>ppt_w</p:attrName>
                                        </p:attrNameLst>
                                      </p:cBhvr>
                                      <p:tavLst>
                                        <p:tav tm="0">
                                          <p:val>
                                            <p:fltVal val="0"/>
                                          </p:val>
                                        </p:tav>
                                        <p:tav tm="100000">
                                          <p:val>
                                            <p:strVal val="#ppt_w"/>
                                          </p:val>
                                        </p:tav>
                                      </p:tavLst>
                                    </p:anim>
                                    <p:anim calcmode="lin" valueType="num">
                                      <p:cBhvr>
                                        <p:cTn id="41" dur="500" fill="hold"/>
                                        <p:tgtEl>
                                          <p:spTgt spid="54"/>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500"/>
                                        <p:tgtEl>
                                          <p:spTgt spid="55"/>
                                        </p:tgtEl>
                                      </p:cBhvr>
                                    </p:animEffect>
                                    <p:anim calcmode="lin" valueType="num">
                                      <p:cBhvr>
                                        <p:cTn id="45" dur="500" fill="hold"/>
                                        <p:tgtEl>
                                          <p:spTgt spid="55"/>
                                        </p:tgtEl>
                                        <p:attrNameLst>
                                          <p:attrName>ppt_w</p:attrName>
                                        </p:attrNameLst>
                                      </p:cBhvr>
                                      <p:tavLst>
                                        <p:tav tm="0">
                                          <p:val>
                                            <p:fltVal val="0"/>
                                          </p:val>
                                        </p:tav>
                                        <p:tav tm="100000">
                                          <p:val>
                                            <p:strVal val="#ppt_w"/>
                                          </p:val>
                                        </p:tav>
                                      </p:tavLst>
                                    </p:anim>
                                    <p:anim calcmode="lin" valueType="num">
                                      <p:cBhvr>
                                        <p:cTn id="46"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fade">
                                      <p:cBhvr>
                                        <p:cTn id="51" dur="500"/>
                                        <p:tgtEl>
                                          <p:spTgt spid="56"/>
                                        </p:tgtEl>
                                      </p:cBhvr>
                                    </p:animEffect>
                                    <p:anim calcmode="lin" valueType="num">
                                      <p:cBhvr>
                                        <p:cTn id="52" dur="500" fill="hold"/>
                                        <p:tgtEl>
                                          <p:spTgt spid="56"/>
                                        </p:tgtEl>
                                        <p:attrNameLst>
                                          <p:attrName>ppt_w</p:attrName>
                                        </p:attrNameLst>
                                      </p:cBhvr>
                                      <p:tavLst>
                                        <p:tav tm="0">
                                          <p:val>
                                            <p:fltVal val="0"/>
                                          </p:val>
                                        </p:tav>
                                        <p:tav tm="100000">
                                          <p:val>
                                            <p:strVal val="#ppt_w"/>
                                          </p:val>
                                        </p:tav>
                                      </p:tavLst>
                                    </p:anim>
                                    <p:anim calcmode="lin" valueType="num">
                                      <p:cBhvr>
                                        <p:cTn id="53"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500"/>
                                        <p:tgtEl>
                                          <p:spTgt spid="57"/>
                                        </p:tgtEl>
                                      </p:cBhvr>
                                    </p:animEffect>
                                    <p:anim calcmode="lin" valueType="num">
                                      <p:cBhvr>
                                        <p:cTn id="59" dur="500" fill="hold"/>
                                        <p:tgtEl>
                                          <p:spTgt spid="57"/>
                                        </p:tgtEl>
                                        <p:attrNameLst>
                                          <p:attrName>ppt_w</p:attrName>
                                        </p:attrNameLst>
                                      </p:cBhvr>
                                      <p:tavLst>
                                        <p:tav tm="0">
                                          <p:val>
                                            <p:fltVal val="0"/>
                                          </p:val>
                                        </p:tav>
                                        <p:tav tm="100000">
                                          <p:val>
                                            <p:strVal val="#ppt_w"/>
                                          </p:val>
                                        </p:tav>
                                      </p:tavLst>
                                    </p:anim>
                                    <p:anim calcmode="lin" valueType="num">
                                      <p:cBhvr>
                                        <p:cTn id="60"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wipe(left)">
                                      <p:cBhvr>
                                        <p:cTn id="65"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5.2 · Question 2 · SE p. 224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Identify the slope and a point, then graph</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4</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14</a:t>
            </a:r>
            <a:r>
              <a:rPr lang="en-US" sz="2325" dirty="0">
                <a:solidFill>
                  <a:srgbClr val="16171D"/>
                </a:solidFill>
                <a:latin typeface="Cambria"/>
                <a:cs typeface="Cambria"/>
              </a:rPr>
              <a:t xml:space="preserve">)</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(14, 5)</a:t>
            </a:r>
            <a:r>
              <a:rPr lang="en-US" sz="1575" dirty="0">
                <a:solidFill>
                  <a:srgbClr val="16171D"/>
                </a:solidFill>
                <a:latin typeface="Segoe UI"/>
                <a:cs typeface="Segoe UI"/>
              </a:rPr>
              <a:t xml:space="preserve">. Up 3, left 4.</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1009650" y="2589276"/>
            <a:ext cx="0" cy="2781300"/>
          </a:xfrm>
          <a:prstGeom prst="line">
            <a:avLst/>
          </a:prstGeom>
          <a:ln w="19050" cap="flat">
            <a:solidFill>
              <a:srgbClr val="5F6272"/>
            </a:solidFill>
          </a:ln>
        </p:spPr>
      </p:cxnSp>
      <p:cxnSp>
        <p:nvCxnSpPr>
          <p:cNvPr id="42" name="Line 42"/>
          <p:cNvCxnSpPr/>
          <p:nvPr/>
        </p:nvCxnSpPr>
        <p:spPr>
          <a:xfrm>
            <a:off x="1009650" y="537057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1" name="Shape 61"/>
          <p:cNvSpPr/>
          <p:nvPr/>
        </p:nvSpPr>
        <p:spPr>
          <a:xfrm>
            <a:off x="3324225" y="444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3462337" y="425377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(14, 5)</a:t>
            </a:r>
            <a:endParaRPr lang="en-US" sz="1125" dirty="0"/>
          </a:p>
        </p:txBody>
      </p:sp>
      <p:sp>
        <p:nvSpPr>
          <p:cNvPr id="63" name="Shape 63"/>
          <p:cNvSpPr/>
          <p:nvPr/>
        </p:nvSpPr>
        <p:spPr>
          <a:xfrm>
            <a:off x="2647950" y="39275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p:nvPr/>
        </p:nvSpPr>
        <p:spPr>
          <a:xfrm>
            <a:off x="1971675" y="340604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5" name="Line 65"/>
          <p:cNvCxnSpPr/>
          <p:nvPr/>
        </p:nvCxnSpPr>
        <p:spPr>
          <a:xfrm>
            <a:off x="1009650" y="2676192"/>
            <a:ext cx="2705100" cy="2085975"/>
          </a:xfrm>
          <a:prstGeom prst="line">
            <a:avLst/>
          </a:prstGeom>
          <a:ln w="38100" cap="rnd">
            <a:solidFill>
              <a:srgbClr val="16171D"/>
            </a:solidFill>
          </a:ln>
        </p:spPr>
      </p:cxnSp>
      <p:sp>
        <p:nvSpPr>
          <p:cNvPr id="66" name="Shape 66"/>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a:t>
            </a:r>
            <a:endParaRPr lang="en-US" sz="2325" dirty="0"/>
          </a:p>
        </p:txBody>
      </p:sp>
      <p:sp>
        <p:nvSpPr>
          <p:cNvPr id="67" name="Shape 67"/>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(−6, −8)</a:t>
            </a:r>
            <a:r>
              <a:rPr lang="en-US" sz="1575" dirty="0">
                <a:solidFill>
                  <a:srgbClr val="16171D"/>
                </a:solidFill>
                <a:latin typeface="Segoe UI"/>
                <a:cs typeface="Segoe UI"/>
              </a:rPr>
              <a:t xml:space="preserve">. Up 1, right 2.</a:t>
            </a:r>
            <a:endParaRPr lang="en-US" sz="1575" dirty="0"/>
          </a:p>
        </p:txBody>
      </p:sp>
      <p:sp>
        <p:nvSpPr>
          <p:cNvPr id="68" name="Shape 68"/>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9" name="Line 69"/>
          <p:cNvCxnSpPr/>
          <p:nvPr/>
        </p:nvCxnSpPr>
        <p:spPr>
          <a:xfrm>
            <a:off x="6610198" y="2589276"/>
            <a:ext cx="0" cy="2781300"/>
          </a:xfrm>
          <a:prstGeom prst="line">
            <a:avLst/>
          </a:prstGeom>
          <a:ln w="9525" cap="flat">
            <a:solidFill>
              <a:srgbClr val="E6E8F2"/>
            </a:solidFill>
          </a:ln>
        </p:spPr>
      </p:cxnSp>
      <p:cxnSp>
        <p:nvCxnSpPr>
          <p:cNvPr id="70" name="Line 70"/>
          <p:cNvCxnSpPr/>
          <p:nvPr/>
        </p:nvCxnSpPr>
        <p:spPr>
          <a:xfrm>
            <a:off x="6779266" y="2589276"/>
            <a:ext cx="0" cy="2781300"/>
          </a:xfrm>
          <a:prstGeom prst="line">
            <a:avLst/>
          </a:prstGeom>
          <a:ln w="9525" cap="flat">
            <a:solidFill>
              <a:srgbClr val="E6E8F2"/>
            </a:solidFill>
          </a:ln>
        </p:spPr>
      </p:cxnSp>
      <p:cxnSp>
        <p:nvCxnSpPr>
          <p:cNvPr id="71" name="Line 71"/>
          <p:cNvCxnSpPr/>
          <p:nvPr/>
        </p:nvCxnSpPr>
        <p:spPr>
          <a:xfrm>
            <a:off x="6948335" y="2589276"/>
            <a:ext cx="0" cy="2781300"/>
          </a:xfrm>
          <a:prstGeom prst="line">
            <a:avLst/>
          </a:prstGeom>
          <a:ln w="9525" cap="flat">
            <a:solidFill>
              <a:srgbClr val="E6E8F2"/>
            </a:solidFill>
          </a:ln>
        </p:spPr>
      </p:cxnSp>
      <p:cxnSp>
        <p:nvCxnSpPr>
          <p:cNvPr id="72" name="Line 72"/>
          <p:cNvCxnSpPr/>
          <p:nvPr/>
        </p:nvCxnSpPr>
        <p:spPr>
          <a:xfrm>
            <a:off x="7117404" y="2589276"/>
            <a:ext cx="0" cy="2781300"/>
          </a:xfrm>
          <a:prstGeom prst="line">
            <a:avLst/>
          </a:prstGeom>
          <a:ln w="9525" cap="flat">
            <a:solidFill>
              <a:srgbClr val="E6E8F2"/>
            </a:solidFill>
          </a:ln>
        </p:spPr>
      </p:cxnSp>
      <p:cxnSp>
        <p:nvCxnSpPr>
          <p:cNvPr id="73" name="Line 73"/>
          <p:cNvCxnSpPr/>
          <p:nvPr/>
        </p:nvCxnSpPr>
        <p:spPr>
          <a:xfrm>
            <a:off x="7286473" y="2589276"/>
            <a:ext cx="0" cy="2781300"/>
          </a:xfrm>
          <a:prstGeom prst="line">
            <a:avLst/>
          </a:prstGeom>
          <a:ln w="9525" cap="flat">
            <a:solidFill>
              <a:srgbClr val="E6E8F2"/>
            </a:solidFill>
          </a:ln>
        </p:spPr>
      </p:cxnSp>
      <p:cxnSp>
        <p:nvCxnSpPr>
          <p:cNvPr id="74" name="Line 74"/>
          <p:cNvCxnSpPr/>
          <p:nvPr/>
        </p:nvCxnSpPr>
        <p:spPr>
          <a:xfrm>
            <a:off x="7455541" y="2589276"/>
            <a:ext cx="0" cy="2781300"/>
          </a:xfrm>
          <a:prstGeom prst="line">
            <a:avLst/>
          </a:prstGeom>
          <a:ln w="9525" cap="flat">
            <a:solidFill>
              <a:srgbClr val="E6E8F2"/>
            </a:solidFill>
          </a:ln>
        </p:spPr>
      </p:cxnSp>
      <p:cxnSp>
        <p:nvCxnSpPr>
          <p:cNvPr id="75" name="Line 75"/>
          <p:cNvCxnSpPr/>
          <p:nvPr/>
        </p:nvCxnSpPr>
        <p:spPr>
          <a:xfrm>
            <a:off x="7624610" y="2589276"/>
            <a:ext cx="0" cy="2781300"/>
          </a:xfrm>
          <a:prstGeom prst="line">
            <a:avLst/>
          </a:prstGeom>
          <a:ln w="9525" cap="flat">
            <a:solidFill>
              <a:srgbClr val="E6E8F2"/>
            </a:solidFill>
          </a:ln>
        </p:spPr>
      </p:cxnSp>
      <p:cxnSp>
        <p:nvCxnSpPr>
          <p:cNvPr id="76" name="Line 76"/>
          <p:cNvCxnSpPr/>
          <p:nvPr/>
        </p:nvCxnSpPr>
        <p:spPr>
          <a:xfrm>
            <a:off x="7793679" y="2589276"/>
            <a:ext cx="0" cy="2781300"/>
          </a:xfrm>
          <a:prstGeom prst="line">
            <a:avLst/>
          </a:prstGeom>
          <a:ln w="9525" cap="flat">
            <a:solidFill>
              <a:srgbClr val="E6E8F2"/>
            </a:solidFill>
          </a:ln>
        </p:spPr>
      </p:cxnSp>
      <p:cxnSp>
        <p:nvCxnSpPr>
          <p:cNvPr id="77" name="Line 77"/>
          <p:cNvCxnSpPr/>
          <p:nvPr/>
        </p:nvCxnSpPr>
        <p:spPr>
          <a:xfrm>
            <a:off x="7962748" y="2589276"/>
            <a:ext cx="0" cy="2781300"/>
          </a:xfrm>
          <a:prstGeom prst="line">
            <a:avLst/>
          </a:prstGeom>
          <a:ln w="9525" cap="flat">
            <a:solidFill>
              <a:srgbClr val="E6E8F2"/>
            </a:solidFill>
          </a:ln>
        </p:spPr>
      </p:cxnSp>
      <p:cxnSp>
        <p:nvCxnSpPr>
          <p:cNvPr id="78" name="Line 78"/>
          <p:cNvCxnSpPr/>
          <p:nvPr/>
        </p:nvCxnSpPr>
        <p:spPr>
          <a:xfrm>
            <a:off x="8131816" y="2589276"/>
            <a:ext cx="0" cy="2781300"/>
          </a:xfrm>
          <a:prstGeom prst="line">
            <a:avLst/>
          </a:prstGeom>
          <a:ln w="9525" cap="flat">
            <a:solidFill>
              <a:srgbClr val="E6E8F2"/>
            </a:solidFill>
          </a:ln>
        </p:spPr>
      </p:cxnSp>
      <p:cxnSp>
        <p:nvCxnSpPr>
          <p:cNvPr id="79" name="Line 79"/>
          <p:cNvCxnSpPr/>
          <p:nvPr/>
        </p:nvCxnSpPr>
        <p:spPr>
          <a:xfrm>
            <a:off x="8300885" y="2589276"/>
            <a:ext cx="0" cy="2781300"/>
          </a:xfrm>
          <a:prstGeom prst="line">
            <a:avLst/>
          </a:prstGeom>
          <a:ln w="9525" cap="flat">
            <a:solidFill>
              <a:srgbClr val="E6E8F2"/>
            </a:solidFill>
          </a:ln>
        </p:spPr>
      </p:cxnSp>
      <p:cxnSp>
        <p:nvCxnSpPr>
          <p:cNvPr id="80" name="Line 80"/>
          <p:cNvCxnSpPr/>
          <p:nvPr/>
        </p:nvCxnSpPr>
        <p:spPr>
          <a:xfrm>
            <a:off x="8469954" y="2589276"/>
            <a:ext cx="0" cy="2781300"/>
          </a:xfrm>
          <a:prstGeom prst="line">
            <a:avLst/>
          </a:prstGeom>
          <a:ln w="9525" cap="flat">
            <a:solidFill>
              <a:srgbClr val="E6E8F2"/>
            </a:solidFill>
          </a:ln>
        </p:spPr>
      </p:cxnSp>
      <p:cxnSp>
        <p:nvCxnSpPr>
          <p:cNvPr id="81" name="Line 81"/>
          <p:cNvCxnSpPr/>
          <p:nvPr/>
        </p:nvCxnSpPr>
        <p:spPr>
          <a:xfrm>
            <a:off x="8639023" y="2589276"/>
            <a:ext cx="0" cy="2781300"/>
          </a:xfrm>
          <a:prstGeom prst="line">
            <a:avLst/>
          </a:prstGeom>
          <a:ln w="9525" cap="flat">
            <a:solidFill>
              <a:srgbClr val="E6E8F2"/>
            </a:solidFill>
          </a:ln>
        </p:spPr>
      </p:cxnSp>
      <p:cxnSp>
        <p:nvCxnSpPr>
          <p:cNvPr id="82" name="Line 82"/>
          <p:cNvCxnSpPr/>
          <p:nvPr/>
        </p:nvCxnSpPr>
        <p:spPr>
          <a:xfrm>
            <a:off x="8808091" y="2589276"/>
            <a:ext cx="0" cy="2781300"/>
          </a:xfrm>
          <a:prstGeom prst="line">
            <a:avLst/>
          </a:prstGeom>
          <a:ln w="9525" cap="flat">
            <a:solidFill>
              <a:srgbClr val="E6E8F2"/>
            </a:solidFill>
          </a:ln>
        </p:spPr>
      </p:cxnSp>
      <p:cxnSp>
        <p:nvCxnSpPr>
          <p:cNvPr id="83" name="Line 83"/>
          <p:cNvCxnSpPr/>
          <p:nvPr/>
        </p:nvCxnSpPr>
        <p:spPr>
          <a:xfrm>
            <a:off x="8977160" y="2589276"/>
            <a:ext cx="0" cy="2781300"/>
          </a:xfrm>
          <a:prstGeom prst="line">
            <a:avLst/>
          </a:prstGeom>
          <a:ln w="9525" cap="flat">
            <a:solidFill>
              <a:srgbClr val="E6E8F2"/>
            </a:solidFill>
          </a:ln>
        </p:spPr>
      </p:cxnSp>
      <p:cxnSp>
        <p:nvCxnSpPr>
          <p:cNvPr id="84" name="Line 84"/>
          <p:cNvCxnSpPr/>
          <p:nvPr/>
        </p:nvCxnSpPr>
        <p:spPr>
          <a:xfrm>
            <a:off x="9146229" y="2589276"/>
            <a:ext cx="0" cy="2781300"/>
          </a:xfrm>
          <a:prstGeom prst="line">
            <a:avLst/>
          </a:prstGeom>
          <a:ln w="9525" cap="flat">
            <a:solidFill>
              <a:srgbClr val="E6E8F2"/>
            </a:solidFill>
          </a:ln>
        </p:spPr>
      </p:cxnSp>
      <p:cxnSp>
        <p:nvCxnSpPr>
          <p:cNvPr id="85" name="Line 85"/>
          <p:cNvCxnSpPr/>
          <p:nvPr/>
        </p:nvCxnSpPr>
        <p:spPr>
          <a:xfrm>
            <a:off x="9315298" y="2589276"/>
            <a:ext cx="0" cy="2781300"/>
          </a:xfrm>
          <a:prstGeom prst="line">
            <a:avLst/>
          </a:prstGeom>
          <a:ln w="9525" cap="flat">
            <a:solidFill>
              <a:srgbClr val="E6E8F2"/>
            </a:solidFill>
          </a:ln>
        </p:spPr>
      </p:cxnSp>
      <p:cxnSp>
        <p:nvCxnSpPr>
          <p:cNvPr id="86" name="Line 86"/>
          <p:cNvCxnSpPr/>
          <p:nvPr/>
        </p:nvCxnSpPr>
        <p:spPr>
          <a:xfrm>
            <a:off x="6610198" y="5370576"/>
            <a:ext cx="2705100" cy="0"/>
          </a:xfrm>
          <a:prstGeom prst="line">
            <a:avLst/>
          </a:prstGeom>
          <a:ln w="9525" cap="flat">
            <a:solidFill>
              <a:srgbClr val="E6E8F2"/>
            </a:solidFill>
          </a:ln>
        </p:spPr>
      </p:cxnSp>
      <p:cxnSp>
        <p:nvCxnSpPr>
          <p:cNvPr id="87" name="Line 87"/>
          <p:cNvCxnSpPr/>
          <p:nvPr/>
        </p:nvCxnSpPr>
        <p:spPr>
          <a:xfrm>
            <a:off x="6610198" y="5216059"/>
            <a:ext cx="2705100" cy="0"/>
          </a:xfrm>
          <a:prstGeom prst="line">
            <a:avLst/>
          </a:prstGeom>
          <a:ln w="9525" cap="flat">
            <a:solidFill>
              <a:srgbClr val="E6E8F2"/>
            </a:solidFill>
          </a:ln>
        </p:spPr>
      </p:cxnSp>
      <p:cxnSp>
        <p:nvCxnSpPr>
          <p:cNvPr id="88" name="Line 88"/>
          <p:cNvCxnSpPr/>
          <p:nvPr/>
        </p:nvCxnSpPr>
        <p:spPr>
          <a:xfrm>
            <a:off x="6610198" y="5061543"/>
            <a:ext cx="2705100" cy="0"/>
          </a:xfrm>
          <a:prstGeom prst="line">
            <a:avLst/>
          </a:prstGeom>
          <a:ln w="9525" cap="flat">
            <a:solidFill>
              <a:srgbClr val="E6E8F2"/>
            </a:solidFill>
          </a:ln>
        </p:spPr>
      </p:cxnSp>
      <p:cxnSp>
        <p:nvCxnSpPr>
          <p:cNvPr id="89" name="Line 89"/>
          <p:cNvCxnSpPr/>
          <p:nvPr/>
        </p:nvCxnSpPr>
        <p:spPr>
          <a:xfrm>
            <a:off x="6610198" y="4907026"/>
            <a:ext cx="2705100" cy="0"/>
          </a:xfrm>
          <a:prstGeom prst="line">
            <a:avLst/>
          </a:prstGeom>
          <a:ln w="9525" cap="flat">
            <a:solidFill>
              <a:srgbClr val="E6E8F2"/>
            </a:solidFill>
          </a:ln>
        </p:spPr>
      </p:cxnSp>
      <p:cxnSp>
        <p:nvCxnSpPr>
          <p:cNvPr id="90" name="Line 90"/>
          <p:cNvCxnSpPr/>
          <p:nvPr/>
        </p:nvCxnSpPr>
        <p:spPr>
          <a:xfrm>
            <a:off x="6610198" y="4752509"/>
            <a:ext cx="2705100" cy="0"/>
          </a:xfrm>
          <a:prstGeom prst="line">
            <a:avLst/>
          </a:prstGeom>
          <a:ln w="9525" cap="flat">
            <a:solidFill>
              <a:srgbClr val="E6E8F2"/>
            </a:solidFill>
          </a:ln>
        </p:spPr>
      </p:cxnSp>
      <p:cxnSp>
        <p:nvCxnSpPr>
          <p:cNvPr id="91" name="Line 91"/>
          <p:cNvCxnSpPr/>
          <p:nvPr/>
        </p:nvCxnSpPr>
        <p:spPr>
          <a:xfrm>
            <a:off x="6610198" y="4597993"/>
            <a:ext cx="2705100" cy="0"/>
          </a:xfrm>
          <a:prstGeom prst="line">
            <a:avLst/>
          </a:prstGeom>
          <a:ln w="9525" cap="flat">
            <a:solidFill>
              <a:srgbClr val="E6E8F2"/>
            </a:solidFill>
          </a:ln>
        </p:spPr>
      </p:cxnSp>
      <p:cxnSp>
        <p:nvCxnSpPr>
          <p:cNvPr id="92" name="Line 92"/>
          <p:cNvCxnSpPr/>
          <p:nvPr/>
        </p:nvCxnSpPr>
        <p:spPr>
          <a:xfrm>
            <a:off x="6610198" y="4443476"/>
            <a:ext cx="2705100" cy="0"/>
          </a:xfrm>
          <a:prstGeom prst="line">
            <a:avLst/>
          </a:prstGeom>
          <a:ln w="9525" cap="flat">
            <a:solidFill>
              <a:srgbClr val="E6E8F2"/>
            </a:solidFill>
          </a:ln>
        </p:spPr>
      </p:cxnSp>
      <p:cxnSp>
        <p:nvCxnSpPr>
          <p:cNvPr id="93" name="Line 93"/>
          <p:cNvCxnSpPr/>
          <p:nvPr/>
        </p:nvCxnSpPr>
        <p:spPr>
          <a:xfrm>
            <a:off x="6610198" y="4288959"/>
            <a:ext cx="2705100" cy="0"/>
          </a:xfrm>
          <a:prstGeom prst="line">
            <a:avLst/>
          </a:prstGeom>
          <a:ln w="9525" cap="flat">
            <a:solidFill>
              <a:srgbClr val="E6E8F2"/>
            </a:solidFill>
          </a:ln>
        </p:spPr>
      </p:cxnSp>
      <p:cxnSp>
        <p:nvCxnSpPr>
          <p:cNvPr id="94" name="Line 94"/>
          <p:cNvCxnSpPr/>
          <p:nvPr/>
        </p:nvCxnSpPr>
        <p:spPr>
          <a:xfrm>
            <a:off x="6610198" y="4134443"/>
            <a:ext cx="2705100" cy="0"/>
          </a:xfrm>
          <a:prstGeom prst="line">
            <a:avLst/>
          </a:prstGeom>
          <a:ln w="9525" cap="flat">
            <a:solidFill>
              <a:srgbClr val="E6E8F2"/>
            </a:solidFill>
          </a:ln>
        </p:spPr>
      </p:cxnSp>
      <p:cxnSp>
        <p:nvCxnSpPr>
          <p:cNvPr id="95" name="Line 95"/>
          <p:cNvCxnSpPr/>
          <p:nvPr/>
        </p:nvCxnSpPr>
        <p:spPr>
          <a:xfrm>
            <a:off x="6610198" y="3979926"/>
            <a:ext cx="2705100" cy="0"/>
          </a:xfrm>
          <a:prstGeom prst="line">
            <a:avLst/>
          </a:prstGeom>
          <a:ln w="9525" cap="flat">
            <a:solidFill>
              <a:srgbClr val="E6E8F2"/>
            </a:solidFill>
          </a:ln>
        </p:spPr>
      </p:cxnSp>
      <p:cxnSp>
        <p:nvCxnSpPr>
          <p:cNvPr id="96" name="Line 96"/>
          <p:cNvCxnSpPr/>
          <p:nvPr/>
        </p:nvCxnSpPr>
        <p:spPr>
          <a:xfrm>
            <a:off x="6610198" y="3825409"/>
            <a:ext cx="2705100" cy="0"/>
          </a:xfrm>
          <a:prstGeom prst="line">
            <a:avLst/>
          </a:prstGeom>
          <a:ln w="9525" cap="flat">
            <a:solidFill>
              <a:srgbClr val="E6E8F2"/>
            </a:solidFill>
          </a:ln>
        </p:spPr>
      </p:cxnSp>
      <p:cxnSp>
        <p:nvCxnSpPr>
          <p:cNvPr id="97" name="Line 97"/>
          <p:cNvCxnSpPr/>
          <p:nvPr/>
        </p:nvCxnSpPr>
        <p:spPr>
          <a:xfrm>
            <a:off x="6610198" y="3670893"/>
            <a:ext cx="2705100" cy="0"/>
          </a:xfrm>
          <a:prstGeom prst="line">
            <a:avLst/>
          </a:prstGeom>
          <a:ln w="9525" cap="flat">
            <a:solidFill>
              <a:srgbClr val="E6E8F2"/>
            </a:solidFill>
          </a:ln>
        </p:spPr>
      </p:cxnSp>
      <p:cxnSp>
        <p:nvCxnSpPr>
          <p:cNvPr id="98" name="Line 98"/>
          <p:cNvCxnSpPr/>
          <p:nvPr/>
        </p:nvCxnSpPr>
        <p:spPr>
          <a:xfrm>
            <a:off x="6610198" y="3516376"/>
            <a:ext cx="2705100" cy="0"/>
          </a:xfrm>
          <a:prstGeom prst="line">
            <a:avLst/>
          </a:prstGeom>
          <a:ln w="9525" cap="flat">
            <a:solidFill>
              <a:srgbClr val="E6E8F2"/>
            </a:solidFill>
          </a:ln>
        </p:spPr>
      </p:cxnSp>
      <p:cxnSp>
        <p:nvCxnSpPr>
          <p:cNvPr id="99" name="Line 99"/>
          <p:cNvCxnSpPr/>
          <p:nvPr/>
        </p:nvCxnSpPr>
        <p:spPr>
          <a:xfrm>
            <a:off x="6610198" y="3361859"/>
            <a:ext cx="2705100" cy="0"/>
          </a:xfrm>
          <a:prstGeom prst="line">
            <a:avLst/>
          </a:prstGeom>
          <a:ln w="9525" cap="flat">
            <a:solidFill>
              <a:srgbClr val="E6E8F2"/>
            </a:solidFill>
          </a:ln>
        </p:spPr>
      </p:cxnSp>
      <p:cxnSp>
        <p:nvCxnSpPr>
          <p:cNvPr id="100" name="Line 100"/>
          <p:cNvCxnSpPr/>
          <p:nvPr/>
        </p:nvCxnSpPr>
        <p:spPr>
          <a:xfrm>
            <a:off x="6610198" y="3207343"/>
            <a:ext cx="2705100" cy="0"/>
          </a:xfrm>
          <a:prstGeom prst="line">
            <a:avLst/>
          </a:prstGeom>
          <a:ln w="9525" cap="flat">
            <a:solidFill>
              <a:srgbClr val="E6E8F2"/>
            </a:solidFill>
          </a:ln>
        </p:spPr>
      </p:cxnSp>
      <p:cxnSp>
        <p:nvCxnSpPr>
          <p:cNvPr id="101" name="Line 101"/>
          <p:cNvCxnSpPr/>
          <p:nvPr/>
        </p:nvCxnSpPr>
        <p:spPr>
          <a:xfrm>
            <a:off x="6610198" y="3052826"/>
            <a:ext cx="2705100" cy="0"/>
          </a:xfrm>
          <a:prstGeom prst="line">
            <a:avLst/>
          </a:prstGeom>
          <a:ln w="9525" cap="flat">
            <a:solidFill>
              <a:srgbClr val="E6E8F2"/>
            </a:solidFill>
          </a:ln>
        </p:spPr>
      </p:cxnSp>
      <p:cxnSp>
        <p:nvCxnSpPr>
          <p:cNvPr id="102" name="Line 102"/>
          <p:cNvCxnSpPr/>
          <p:nvPr/>
        </p:nvCxnSpPr>
        <p:spPr>
          <a:xfrm>
            <a:off x="6610198" y="2898309"/>
            <a:ext cx="2705100" cy="0"/>
          </a:xfrm>
          <a:prstGeom prst="line">
            <a:avLst/>
          </a:prstGeom>
          <a:ln w="9525" cap="flat">
            <a:solidFill>
              <a:srgbClr val="E6E8F2"/>
            </a:solidFill>
          </a:ln>
        </p:spPr>
      </p:cxnSp>
      <p:cxnSp>
        <p:nvCxnSpPr>
          <p:cNvPr id="103" name="Line 103"/>
          <p:cNvCxnSpPr/>
          <p:nvPr/>
        </p:nvCxnSpPr>
        <p:spPr>
          <a:xfrm>
            <a:off x="6610198" y="2743793"/>
            <a:ext cx="2705100" cy="0"/>
          </a:xfrm>
          <a:prstGeom prst="line">
            <a:avLst/>
          </a:prstGeom>
          <a:ln w="9525" cap="flat">
            <a:solidFill>
              <a:srgbClr val="E6E8F2"/>
            </a:solidFill>
          </a:ln>
        </p:spPr>
      </p:cxnSp>
      <p:cxnSp>
        <p:nvCxnSpPr>
          <p:cNvPr id="104" name="Line 104"/>
          <p:cNvCxnSpPr/>
          <p:nvPr/>
        </p:nvCxnSpPr>
        <p:spPr>
          <a:xfrm>
            <a:off x="6610198" y="2589276"/>
            <a:ext cx="2705100" cy="0"/>
          </a:xfrm>
          <a:prstGeom prst="line">
            <a:avLst/>
          </a:prstGeom>
          <a:ln w="9525" cap="flat">
            <a:solidFill>
              <a:srgbClr val="E6E8F2"/>
            </a:solidFill>
          </a:ln>
        </p:spPr>
      </p:cxnSp>
      <p:cxnSp>
        <p:nvCxnSpPr>
          <p:cNvPr id="105" name="Line 105"/>
          <p:cNvCxnSpPr/>
          <p:nvPr/>
        </p:nvCxnSpPr>
        <p:spPr>
          <a:xfrm>
            <a:off x="7962748" y="2589276"/>
            <a:ext cx="0" cy="2781300"/>
          </a:xfrm>
          <a:prstGeom prst="line">
            <a:avLst/>
          </a:prstGeom>
          <a:ln w="19050" cap="flat">
            <a:solidFill>
              <a:srgbClr val="5F6272"/>
            </a:solidFill>
          </a:ln>
        </p:spPr>
      </p:cxnSp>
      <p:cxnSp>
        <p:nvCxnSpPr>
          <p:cNvPr id="106" name="Line 106"/>
          <p:cNvCxnSpPr/>
          <p:nvPr/>
        </p:nvCxnSpPr>
        <p:spPr>
          <a:xfrm>
            <a:off x="6610198" y="3825409"/>
            <a:ext cx="2705100" cy="0"/>
          </a:xfrm>
          <a:prstGeom prst="line">
            <a:avLst/>
          </a:prstGeom>
          <a:ln w="19050" cap="flat">
            <a:solidFill>
              <a:srgbClr val="5F6272"/>
            </a:solidFill>
          </a:ln>
        </p:spPr>
      </p:cxnSp>
      <p:sp>
        <p:nvSpPr>
          <p:cNvPr id="107" name="Shape 107"/>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08" name="Shape 108"/>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09" name="Shape 109"/>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0" name="Shape 110"/>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1" name="Shape 111"/>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2" name="Shape 112"/>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4" name="Shape 114"/>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5" name="Shape 115"/>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6" name="Shape 116"/>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17" name="Shape 117"/>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19" name="Shape 119"/>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0" name="Shape 120"/>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1" name="Shape 121"/>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2" name="Shape 122"/>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3" name="Shape 123"/>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4" name="Shape 124"/>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5" name="Shape 125"/>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6" name="Shape 126"/>
          <p:cNvSpPr/>
          <p:nvPr/>
        </p:nvSpPr>
        <p:spPr>
          <a:xfrm>
            <a:off x="6895948" y="500915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7" name="Shape 127"/>
          <p:cNvSpPr txBox="1"/>
          <p:nvPr/>
        </p:nvSpPr>
        <p:spPr>
          <a:xfrm>
            <a:off x="7034060" y="481389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 −8)</a:t>
            </a:r>
            <a:endParaRPr lang="en-US" sz="1125" dirty="0"/>
          </a:p>
        </p:txBody>
      </p:sp>
      <p:sp>
        <p:nvSpPr>
          <p:cNvPr id="128" name="Shape 128"/>
          <p:cNvSpPr/>
          <p:nvPr/>
        </p:nvSpPr>
        <p:spPr>
          <a:xfrm>
            <a:off x="7234085" y="48546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p:nvPr/>
        </p:nvSpPr>
        <p:spPr>
          <a:xfrm>
            <a:off x="7572223" y="47001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130" name="Line 130"/>
          <p:cNvCxnSpPr/>
          <p:nvPr/>
        </p:nvCxnSpPr>
        <p:spPr>
          <a:xfrm flipV="1">
            <a:off x="6610198" y="3979926"/>
            <a:ext cx="2705100" cy="123613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anim calcmode="lin" valueType="num">
                                      <p:cBhvr>
                                        <p:cTn id="24" dur="500" fill="hold"/>
                                        <p:tgtEl>
                                          <p:spTgt spid="64"/>
                                        </p:tgtEl>
                                        <p:attrNameLst>
                                          <p:attrName>ppt_w</p:attrName>
                                        </p:attrNameLst>
                                      </p:cBhvr>
                                      <p:tavLst>
                                        <p:tav tm="0">
                                          <p:val>
                                            <p:fltVal val="0"/>
                                          </p:val>
                                        </p:tav>
                                        <p:tav tm="100000">
                                          <p:val>
                                            <p:strVal val="#ppt_w"/>
                                          </p:val>
                                        </p:tav>
                                      </p:tavLst>
                                    </p:anim>
                                    <p:anim calcmode="lin" valueType="num">
                                      <p:cBhvr>
                                        <p:cTn id="25"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wipe(left)">
                                      <p:cBhvr>
                                        <p:cTn id="30" dur="700"/>
                                        <p:tgtEl>
                                          <p:spTgt spid="65"/>
                                        </p:tgtEl>
                                      </p:cBhvr>
                                    </p:animEffect>
                                  </p:childTnLst>
                                </p:cTn>
                              </p:par>
                            </p:childTnLst>
                          </p:cTn>
                        </p:par>
                      </p:childTnLst>
                    </p:cTn>
                  </p:par>
                  <p:par>
                    <p:cTn id="44" fill="hold">
                      <p:stCondLst>
                        <p:cond delay="indefinite"/>
                      </p:stCondLst>
                      <p:childTnLst>
                        <p:par>
                          <p:cTn id="45" fill="hold">
                            <p:stCondLst>
                              <p:cond delay="0"/>
                            </p:stCondLst>
                            <p:childTnLst>
                              <p:par>
                                <p:cTn id="38" presetID="53" presetClass="entr" presetSubtype="16" fill="hold" nodeType="clickEffect">
                                  <p:stCondLst>
                                    <p:cond delay="0"/>
                                  </p:stCondLst>
                                  <p:childTnLst>
                                    <p:set>
                                      <p:cBhvr>
                                        <p:cTn id="34" dur="1" fill="hold">
                                          <p:stCondLst>
                                            <p:cond delay="0"/>
                                          </p:stCondLst>
                                        </p:cTn>
                                        <p:tgtEl>
                                          <p:spTgt spid="126"/>
                                        </p:tgtEl>
                                        <p:attrNameLst>
                                          <p:attrName>style.visibility</p:attrName>
                                        </p:attrNameLst>
                                      </p:cBhvr>
                                      <p:to>
                                        <p:strVal val="visible"/>
                                      </p:to>
                                    </p:set>
                                    <p:animEffect transition="in" filter="fade">
                                      <p:cBhvr>
                                        <p:cTn id="35" dur="500"/>
                                        <p:tgtEl>
                                          <p:spTgt spid="126"/>
                                        </p:tgtEl>
                                      </p:cBhvr>
                                    </p:animEffect>
                                    <p:anim calcmode="lin" valueType="num">
                                      <p:cBhvr>
                                        <p:cTn id="36" dur="500" fill="hold"/>
                                        <p:tgtEl>
                                          <p:spTgt spid="126"/>
                                        </p:tgtEl>
                                        <p:attrNameLst>
                                          <p:attrName>ppt_w</p:attrName>
                                        </p:attrNameLst>
                                      </p:cBhvr>
                                      <p:tavLst>
                                        <p:tav tm="0">
                                          <p:val>
                                            <p:fltVal val="0"/>
                                          </p:val>
                                        </p:tav>
                                        <p:tav tm="100000">
                                          <p:val>
                                            <p:strVal val="#ppt_w"/>
                                          </p:val>
                                        </p:tav>
                                      </p:tavLst>
                                    </p:anim>
                                    <p:anim calcmode="lin" valueType="num">
                                      <p:cBhvr>
                                        <p:cTn id="37" dur="500" fill="hold"/>
                                        <p:tgtEl>
                                          <p:spTgt spid="126"/>
                                        </p:tgtEl>
                                        <p:attrNameLst>
                                          <p:attrName>ppt_h</p:attrName>
                                        </p:attrNameLst>
                                      </p:cBhvr>
                                      <p:tavLst>
                                        <p:tav tm="0">
                                          <p:val>
                                            <p:fltVal val="0"/>
                                          </p:val>
                                        </p:tav>
                                        <p:tav tm="100000">
                                          <p:val>
                                            <p:strVal val="#ppt_h"/>
                                          </p:val>
                                        </p:tav>
                                      </p:tavLst>
                                    </p:anim>
                                  </p:childTnLst>
                                </p:cTn>
                              </p:par>
                              <p:par>
                                <p:cTn id="43" presetID="53" presetClass="entr" presetSubtype="16" fill="hold" nodeType="withEffect">
                                  <p:stCondLst>
                                    <p:cond delay="0"/>
                                  </p:stCondLst>
                                  <p:childTnLst>
                                    <p:set>
                                      <p:cBhvr>
                                        <p:cTn id="39" dur="1" fill="hold">
                                          <p:stCondLst>
                                            <p:cond delay="0"/>
                                          </p:stCondLst>
                                        </p:cTn>
                                        <p:tgtEl>
                                          <p:spTgt spid="127"/>
                                        </p:tgtEl>
                                        <p:attrNameLst>
                                          <p:attrName>style.visibility</p:attrName>
                                        </p:attrNameLst>
                                      </p:cBhvr>
                                      <p:to>
                                        <p:strVal val="visible"/>
                                      </p:to>
                                    </p:set>
                                    <p:animEffect transition="in" filter="fade">
                                      <p:cBhvr>
                                        <p:cTn id="40" dur="500"/>
                                        <p:tgtEl>
                                          <p:spTgt spid="127"/>
                                        </p:tgtEl>
                                      </p:cBhvr>
                                    </p:animEffect>
                                    <p:anim calcmode="lin" valueType="num">
                                      <p:cBhvr>
                                        <p:cTn id="41" dur="500" fill="hold"/>
                                        <p:tgtEl>
                                          <p:spTgt spid="127"/>
                                        </p:tgtEl>
                                        <p:attrNameLst>
                                          <p:attrName>ppt_w</p:attrName>
                                        </p:attrNameLst>
                                      </p:cBhvr>
                                      <p:tavLst>
                                        <p:tav tm="0">
                                          <p:val>
                                            <p:fltVal val="0"/>
                                          </p:val>
                                        </p:tav>
                                        <p:tav tm="100000">
                                          <p:val>
                                            <p:strVal val="#ppt_w"/>
                                          </p:val>
                                        </p:tav>
                                      </p:tavLst>
                                    </p:anim>
                                    <p:anim calcmode="lin" valueType="num">
                                      <p:cBhvr>
                                        <p:cTn id="42" dur="500" fill="hold"/>
                                        <p:tgtEl>
                                          <p:spTgt spid="127"/>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128"/>
                                        </p:tgtEl>
                                        <p:attrNameLst>
                                          <p:attrName>style.visibility</p:attrName>
                                        </p:attrNameLst>
                                      </p:cBhvr>
                                      <p:to>
                                        <p:strVal val="visible"/>
                                      </p:to>
                                    </p:set>
                                    <p:animEffect transition="in" filter="fade">
                                      <p:cBhvr>
                                        <p:cTn id="47" dur="500"/>
                                        <p:tgtEl>
                                          <p:spTgt spid="128"/>
                                        </p:tgtEl>
                                      </p:cBhvr>
                                    </p:animEffect>
                                    <p:anim calcmode="lin" valueType="num">
                                      <p:cBhvr>
                                        <p:cTn id="48" dur="500" fill="hold"/>
                                        <p:tgtEl>
                                          <p:spTgt spid="128"/>
                                        </p:tgtEl>
                                        <p:attrNameLst>
                                          <p:attrName>ppt_w</p:attrName>
                                        </p:attrNameLst>
                                      </p:cBhvr>
                                      <p:tavLst>
                                        <p:tav tm="0">
                                          <p:val>
                                            <p:fltVal val="0"/>
                                          </p:val>
                                        </p:tav>
                                        <p:tav tm="100000">
                                          <p:val>
                                            <p:strVal val="#ppt_w"/>
                                          </p:val>
                                        </p:tav>
                                      </p:tavLst>
                                    </p:anim>
                                    <p:anim calcmode="lin" valueType="num">
                                      <p:cBhvr>
                                        <p:cTn id="49" dur="500" fill="hold"/>
                                        <p:tgtEl>
                                          <p:spTgt spid="128"/>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129"/>
                                        </p:tgtEl>
                                        <p:attrNameLst>
                                          <p:attrName>style.visibility</p:attrName>
                                        </p:attrNameLst>
                                      </p:cBhvr>
                                      <p:to>
                                        <p:strVal val="visible"/>
                                      </p:to>
                                    </p:set>
                                    <p:animEffect transition="in" filter="fade">
                                      <p:cBhvr>
                                        <p:cTn id="54" dur="500"/>
                                        <p:tgtEl>
                                          <p:spTgt spid="129"/>
                                        </p:tgtEl>
                                      </p:cBhvr>
                                    </p:animEffect>
                                    <p:anim calcmode="lin" valueType="num">
                                      <p:cBhvr>
                                        <p:cTn id="55" dur="500" fill="hold"/>
                                        <p:tgtEl>
                                          <p:spTgt spid="129"/>
                                        </p:tgtEl>
                                        <p:attrNameLst>
                                          <p:attrName>ppt_w</p:attrName>
                                        </p:attrNameLst>
                                      </p:cBhvr>
                                      <p:tavLst>
                                        <p:tav tm="0">
                                          <p:val>
                                            <p:fltVal val="0"/>
                                          </p:val>
                                        </p:tav>
                                        <p:tav tm="100000">
                                          <p:val>
                                            <p:strVal val="#ppt_w"/>
                                          </p:val>
                                        </p:tav>
                                      </p:tavLst>
                                    </p:anim>
                                    <p:anim calcmode="lin" valueType="num">
                                      <p:cBhvr>
                                        <p:cTn id="56"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2" presetID="22" presetClass="entr" presetSubtype="8" fill="hold" nodeType="clickEffect">
                                  <p:stCondLst>
                                    <p:cond delay="0"/>
                                  </p:stCondLst>
                                  <p:childTnLst>
                                    <p:set>
                                      <p:cBhvr>
                                        <p:cTn id="60" dur="1" fill="hold">
                                          <p:stCondLst>
                                            <p:cond delay="0"/>
                                          </p:stCondLst>
                                        </p:cTn>
                                        <p:tgtEl>
                                          <p:spTgt spid="130"/>
                                        </p:tgtEl>
                                        <p:attrNameLst>
                                          <p:attrName>style.visibility</p:attrName>
                                        </p:attrNameLst>
                                      </p:cBhvr>
                                      <p:to>
                                        <p:strVal val="visible"/>
                                      </p:to>
                                    </p:set>
                                    <p:animEffect transition="in" filter="wipe(left)">
                                      <p:cBhvr>
                                        <p:cTn id="61" dur="7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1.2: parallel lines</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1.3: stretch and compress</a:t>
            </a:r>
            <a:endParaRPr lang="en-US" sz="1950" dirty="0"/>
          </a:p>
        </p:txBody>
      </p:sp>
      <p:sp>
        <p:nvSpPr>
          <p:cNvPr id="7" name="Shape 7"/>
          <p:cNvSpPr txBox="1"/>
          <p:nvPr/>
        </p:nvSpPr>
        <p:spPr>
          <a:xfrm>
            <a:off x="685800" y="3188970"/>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1.2 · Slopes of Parallel Lines · SE p. 275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Will the graphs of </a:t>
            </a:r>
            <a:r>
              <a:rPr lang="en-US" sz="3450" dirty="0" b="1" i="1">
                <a:solidFill>
                  <a:srgbClr val="16171D"/>
                </a:solidFill>
                <a:latin typeface="Cambria"/>
                <a:cs typeface="Cambria"/>
              </a:rPr>
              <a:t xml:space="preserve">j</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r>
              <a:rPr lang="en-US" sz="3450" dirty="0" b="1">
                <a:solidFill>
                  <a:srgbClr val="16171D"/>
                </a:solidFill>
                <a:latin typeface="Segoe UI"/>
                <a:cs typeface="Segoe UI"/>
              </a:rPr>
              <a:t xml:space="preserve"> and </a:t>
            </a:r>
            <a:r>
              <a:rPr lang="en-US" sz="3450" dirty="0" b="1" i="1">
                <a:solidFill>
                  <a:srgbClr val="16171D"/>
                </a:solidFill>
                <a:latin typeface="Cambria"/>
                <a:cs typeface="Cambria"/>
              </a:rPr>
              <a:t xml:space="preserve">q</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r>
              <a:rPr lang="en-US" sz="3450" dirty="0" b="1">
                <a:solidFill>
                  <a:srgbClr val="16171D"/>
                </a:solidFill>
                <a:latin typeface="Segoe UI"/>
                <a:cs typeface="Segoe UI"/>
              </a:rPr>
              <a:t xml:space="preserve"> ever intersect?</a:t>
            </a:r>
            <a:endParaRPr lang="en-US" sz="3450" dirty="0"/>
          </a:p>
        </p:txBody>
      </p:sp>
      <p:sp>
        <p:nvSpPr>
          <p:cNvPr id="4" name="Shape 4"/>
          <p:cNvSpPr txBox="1"/>
          <p:nvPr/>
        </p:nvSpPr>
        <p:spPr>
          <a:xfrm>
            <a:off x="685800" y="161848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j</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 </a:t>
            </a:r>
            <a:r>
              <a:rPr lang="en-US" sz="2850" dirty="0" i="1">
                <a:solidFill>
                  <a:srgbClr val="16171D"/>
                </a:solidFill>
                <a:latin typeface="Cambria"/>
                <a:cs typeface="Cambria"/>
              </a:rPr>
              <a:t xml:space="preserve">q</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+ 3</a:t>
            </a:r>
            <a:endParaRPr lang="en-US" sz="2850" dirty="0"/>
          </a:p>
        </p:txBody>
      </p:sp>
      <p:sp>
        <p:nvSpPr>
          <p:cNvPr id="5" name="Shape 5"/>
          <p:cNvSpPr txBox="1"/>
          <p:nvPr/>
        </p:nvSpPr>
        <p:spPr>
          <a:xfrm>
            <a:off x="685800" y="227914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No. Both lines have slope 2 and stay 4 units apart, so they are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4548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Prove it for any line. Translate line </a:t>
            </a:r>
            <a:r>
              <a:rPr lang="en-US" sz="1950" dirty="0" i="1">
                <a:solidFill>
                  <a:srgbClr val="16171D"/>
                </a:solidFill>
                <a:latin typeface="Segoe UI"/>
                <a:cs typeface="Segoe UI"/>
              </a:rPr>
              <a:t xml:space="preserve">AB</a:t>
            </a:r>
            <a:r>
              <a:rPr lang="en-US" sz="1950" dirty="0">
                <a:solidFill>
                  <a:srgbClr val="16171D"/>
                </a:solidFill>
                <a:latin typeface="Segoe UI"/>
                <a:cs typeface="Segoe UI"/>
              </a:rPr>
              <a:t xml:space="preserve"> up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 units to make line </a:t>
            </a:r>
            <a:r>
              <a:rPr lang="en-US" sz="1950" dirty="0" i="1">
                <a:solidFill>
                  <a:srgbClr val="16171D"/>
                </a:solidFill>
                <a:latin typeface="Segoe UI"/>
                <a:cs typeface="Segoe UI"/>
              </a:rPr>
              <a:t xml:space="preserve">A′B′</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26898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Pre-image: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a:t>
            </a:r>
            <a:endParaRPr lang="en-US" sz="1575" dirty="0"/>
          </a:p>
        </p:txBody>
      </p:sp>
      <p:sp>
        <p:nvSpPr>
          <p:cNvPr id="8" name="Shape 8"/>
          <p:cNvSpPr txBox="1"/>
          <p:nvPr/>
        </p:nvSpPr>
        <p:spPr>
          <a:xfrm>
            <a:off x="685800" y="3659124"/>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Image: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endParaRPr lang="en-US" sz="1575" dirty="0"/>
          </a:p>
        </p:txBody>
      </p:sp>
      <p:sp>
        <p:nvSpPr>
          <p:cNvPr id="9" name="Shape 9"/>
          <p:cNvSpPr txBox="1"/>
          <p:nvPr/>
        </p:nvSpPr>
        <p:spPr>
          <a:xfrm>
            <a:off x="6286348" y="326898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of the image:</a:t>
            </a:r>
            <a:endParaRPr lang="en-US" sz="1575" dirty="0"/>
          </a:p>
        </p:txBody>
      </p:sp>
      <p:sp>
        <p:nvSpPr>
          <p:cNvPr id="10" name="Shape 10"/>
          <p:cNvSpPr txBox="1"/>
          <p:nvPr/>
        </p:nvSpPr>
        <p:spPr>
          <a:xfrm>
            <a:off x="6286348" y="365912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₂ +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₁ +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₂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₁)</a:t>
            </a:r>
            <a:endParaRPr lang="en-US" sz="2325" dirty="0"/>
          </a:p>
        </p:txBody>
      </p:sp>
      <p:sp>
        <p:nvSpPr>
          <p:cNvPr id="11" name="Shape 11"/>
          <p:cNvSpPr txBox="1"/>
          <p:nvPr/>
        </p:nvSpPr>
        <p:spPr>
          <a:xfrm>
            <a:off x="6286348" y="416356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₂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₁)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₂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₁)</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1.2 · Questions 3–4 · SE p. 276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the equation of a parallel line</a:t>
            </a:r>
            <a:endParaRPr lang="en-US" sz="3450" dirty="0"/>
          </a:p>
        </p:txBody>
      </p:sp>
      <p:sp>
        <p:nvSpPr>
          <p:cNvPr id="6" name="Shape 6"/>
          <p:cNvSpPr txBox="1"/>
          <p:nvPr/>
        </p:nvSpPr>
        <p:spPr>
          <a:xfrm>
            <a:off x="685800" y="1618488"/>
            <a:ext cx="521954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Catalina</a:t>
            </a:r>
            <a:endParaRPr lang="en-US" sz="2100" dirty="0"/>
          </a:p>
        </p:txBody>
      </p:sp>
      <p:sp>
        <p:nvSpPr>
          <p:cNvPr id="5" name="Shape 5"/>
          <p:cNvSpPr txBox="1"/>
          <p:nvPr/>
        </p:nvSpPr>
        <p:spPr>
          <a:xfrm>
            <a:off x="895350" y="2260092"/>
            <a:ext cx="480044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to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½</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through (2, 9): the point on the line at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 is (2, 4), so translate up 5.</a:t>
            </a:r>
            <a:endParaRPr lang="en-US" sz="1575" dirty="0"/>
          </a:p>
        </p:txBody>
      </p:sp>
      <p:sp>
        <p:nvSpPr>
          <p:cNvPr id="9" name="Shape 9"/>
          <p:cNvSpPr txBox="1"/>
          <p:nvPr/>
        </p:nvSpPr>
        <p:spPr>
          <a:xfrm>
            <a:off x="6286348"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James</a:t>
            </a:r>
            <a:endParaRPr lang="en-US" sz="2100" dirty="0"/>
          </a:p>
        </p:txBody>
      </p:sp>
      <p:sp>
        <p:nvSpPr>
          <p:cNvPr id="8" name="Shape 8"/>
          <p:cNvSpPr txBox="1"/>
          <p:nvPr/>
        </p:nvSpPr>
        <p:spPr>
          <a:xfrm>
            <a:off x="6495898"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Use the slope ½ and the point (2, 9): </a:t>
            </a:r>
            <a:r>
              <a:rPr lang="en-US" sz="1575" dirty="0">
                <a:solidFill>
                  <a:srgbClr val="16171D"/>
                </a:solidFill>
                <a:latin typeface="Cambria"/>
                <a:cs typeface="Cambria"/>
              </a:rPr>
              <a:t xml:space="preserve">9 = ½(2)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 8</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85800" y="3377946"/>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½</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11" name="Shape 11"/>
          <p:cNvSpPr txBox="1"/>
          <p:nvPr/>
        </p:nvSpPr>
        <p:spPr>
          <a:xfrm>
            <a:off x="685800" y="406831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Now you: parallel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through </a:t>
            </a:r>
            <a:r>
              <a:rPr lang="en-US" sz="1950" dirty="0">
                <a:solidFill>
                  <a:srgbClr val="16171D"/>
                </a:solidFill>
                <a:latin typeface="Cambria"/>
                <a:cs typeface="Cambria"/>
              </a:rPr>
              <a:t xml:space="preserve">(−1, 5)</a:t>
            </a:r>
            <a:r>
              <a:rPr lang="en-US" sz="1950" dirty="0">
                <a:solidFill>
                  <a:srgbClr val="16171D"/>
                </a:solidFill>
                <a:latin typeface="Segoe UI"/>
                <a:cs typeface="Segoe UI"/>
              </a:rPr>
              <a:t xml:space="preserve">.</a:t>
            </a:r>
            <a:endParaRPr lang="en-US" sz="1950" dirty="0"/>
          </a:p>
        </p:txBody>
      </p:sp>
      <p:sp>
        <p:nvSpPr>
          <p:cNvPr id="12" name="Shape 12"/>
          <p:cNvSpPr txBox="1"/>
          <p:nvPr/>
        </p:nvSpPr>
        <p:spPr>
          <a:xfrm>
            <a:off x="685800" y="459181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so the slope is −3: </a:t>
            </a:r>
            <a:r>
              <a:rPr lang="en-US" sz="1575" dirty="0">
                <a:solidFill>
                  <a:srgbClr val="16171D"/>
                </a:solidFill>
                <a:latin typeface="Cambria"/>
                <a:cs typeface="Cambria"/>
              </a:rPr>
              <a:t xml:space="preserve">5 = −3(−1)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85800" y="5058156"/>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ppt_w</p:attrName>
                                        </p:attrNameLst>
                                      </p:cBhvr>
                                      <p:tavLst>
                                        <p:tav tm="0">
                                          <p:val>
                                            <p:fltVal val="0"/>
                                          </p:val>
                                        </p:tav>
                                        <p:tav tm="100000">
                                          <p:val>
                                            <p:strVal val="#ppt_w"/>
                                          </p:val>
                                        </p:tav>
                                      </p:tavLst>
                                    </p:anim>
                                    <p:anim calcmode="lin" valueType="num">
                                      <p:cBhvr>
                                        <p:cTn id="6"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1.3 · Vertical Dilations of Functions · SE pp. 277–278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Multiply the outputs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endParaRPr lang="en-US" sz="3450" dirty="0"/>
          </a:p>
        </p:txBody>
      </p:sp>
      <p:sp>
        <p:nvSpPr>
          <p:cNvPr id="4" name="Shape 4"/>
          <p:cNvSpPr txBox="1"/>
          <p:nvPr/>
        </p:nvSpPr>
        <p:spPr>
          <a:xfrm>
            <a:off x="685800"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4: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7" name="Shape 7"/>
          <p:cNvSpPr txBox="1"/>
          <p:nvPr/>
        </p:nvSpPr>
        <p:spPr>
          <a:xfrm>
            <a:off x="2971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a(x)</a:t>
            </a:r>
            <a:endParaRPr lang="en-US" sz="1650" dirty="0"/>
          </a:p>
        </p:txBody>
      </p:sp>
      <p:sp>
        <p:nvSpPr>
          <p:cNvPr id="8" name="Shape 8"/>
          <p:cNvSpPr txBox="1"/>
          <p:nvPr/>
        </p:nvSpPr>
        <p:spPr>
          <a:xfrm>
            <a:off x="685800"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9" name="Shape 9"/>
          <p:cNvSpPr txBox="1"/>
          <p:nvPr/>
        </p:nvSpPr>
        <p:spPr>
          <a:xfrm>
            <a:off x="1828800"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10" name="Shape 10"/>
          <p:cNvSpPr txBox="1"/>
          <p:nvPr/>
        </p:nvSpPr>
        <p:spPr>
          <a:xfrm>
            <a:off x="2971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1" name="Shape 11"/>
          <p:cNvSpPr txBox="1"/>
          <p:nvPr/>
        </p:nvSpPr>
        <p:spPr>
          <a:xfrm>
            <a:off x="2971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12" name="Shape 12"/>
          <p:cNvSpPr txBox="1"/>
          <p:nvPr/>
        </p:nvSpPr>
        <p:spPr>
          <a:xfrm>
            <a:off x="685800"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3" name="Shape 13"/>
          <p:cNvSpPr txBox="1"/>
          <p:nvPr/>
        </p:nvSpPr>
        <p:spPr>
          <a:xfrm>
            <a:off x="1828800"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4" name="Shape 14"/>
          <p:cNvSpPr txBox="1"/>
          <p:nvPr/>
        </p:nvSpPr>
        <p:spPr>
          <a:xfrm>
            <a:off x="2971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5" name="Shape 15"/>
          <p:cNvSpPr txBox="1"/>
          <p:nvPr/>
        </p:nvSpPr>
        <p:spPr>
          <a:xfrm>
            <a:off x="2971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16" name="Shape 16"/>
          <p:cNvSpPr txBox="1"/>
          <p:nvPr/>
        </p:nvSpPr>
        <p:spPr>
          <a:xfrm>
            <a:off x="685800"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7" name="Shape 17"/>
          <p:cNvSpPr txBox="1"/>
          <p:nvPr/>
        </p:nvSpPr>
        <p:spPr>
          <a:xfrm>
            <a:off x="1828800"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8" name="Shape 18"/>
          <p:cNvSpPr txBox="1"/>
          <p:nvPr/>
        </p:nvSpPr>
        <p:spPr>
          <a:xfrm>
            <a:off x="2971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9" name="Shape 19"/>
          <p:cNvSpPr txBox="1"/>
          <p:nvPr/>
        </p:nvSpPr>
        <p:spPr>
          <a:xfrm>
            <a:off x="2971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20" name="Shape 20"/>
          <p:cNvSpPr txBox="1"/>
          <p:nvPr/>
        </p:nvSpPr>
        <p:spPr>
          <a:xfrm>
            <a:off x="685800"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1" name="Shape 21"/>
          <p:cNvSpPr txBox="1"/>
          <p:nvPr/>
        </p:nvSpPr>
        <p:spPr>
          <a:xfrm>
            <a:off x="1828800"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2" name="Shape 22"/>
          <p:cNvSpPr txBox="1"/>
          <p:nvPr/>
        </p:nvSpPr>
        <p:spPr>
          <a:xfrm>
            <a:off x="2971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3" name="Shape 23"/>
          <p:cNvSpPr txBox="1"/>
          <p:nvPr/>
        </p:nvSpPr>
        <p:spPr>
          <a:xfrm>
            <a:off x="2971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24" name="Shape 24"/>
          <p:cNvSpPr txBox="1"/>
          <p:nvPr/>
        </p:nvSpPr>
        <p:spPr>
          <a:xfrm>
            <a:off x="685800"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5" name="Shape 25"/>
          <p:cNvSpPr txBox="1"/>
          <p:nvPr/>
        </p:nvSpPr>
        <p:spPr>
          <a:xfrm>
            <a:off x="1828800"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6" name="Shape 26"/>
          <p:cNvSpPr txBox="1"/>
          <p:nvPr/>
        </p:nvSpPr>
        <p:spPr>
          <a:xfrm>
            <a:off x="2971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7" name="Shape 27"/>
          <p:cNvSpPr txBox="1"/>
          <p:nvPr/>
        </p:nvSpPr>
        <p:spPr>
          <a:xfrm>
            <a:off x="2971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28" name="Shape 28"/>
          <p:cNvSpPr txBox="1"/>
          <p:nvPr/>
        </p:nvSpPr>
        <p:spPr>
          <a:xfrm>
            <a:off x="685800" y="4490466"/>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endParaRPr lang="en-US" sz="2325" dirty="0"/>
          </a:p>
        </p:txBody>
      </p:sp>
      <p:sp>
        <p:nvSpPr>
          <p:cNvPr id="29" name="Shape 29"/>
          <p:cNvSpPr txBox="1"/>
          <p:nvPr/>
        </p:nvSpPr>
        <p:spPr>
          <a:xfrm>
            <a:off x="4381398"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⅔: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30" name="Shape 30"/>
          <p:cNvSpPr txBox="1"/>
          <p:nvPr/>
        </p:nvSpPr>
        <p:spPr>
          <a:xfrm>
            <a:off x="4381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31" name="Shape 31"/>
          <p:cNvSpPr txBox="1"/>
          <p:nvPr/>
        </p:nvSpPr>
        <p:spPr>
          <a:xfrm>
            <a:off x="5524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32" name="Shape 32"/>
          <p:cNvSpPr txBox="1"/>
          <p:nvPr/>
        </p:nvSpPr>
        <p:spPr>
          <a:xfrm>
            <a:off x="6667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b(x)</a:t>
            </a:r>
            <a:endParaRPr lang="en-US" sz="1650" dirty="0"/>
          </a:p>
        </p:txBody>
      </p:sp>
      <p:sp>
        <p:nvSpPr>
          <p:cNvPr id="33" name="Shape 33"/>
          <p:cNvSpPr txBox="1"/>
          <p:nvPr/>
        </p:nvSpPr>
        <p:spPr>
          <a:xfrm>
            <a:off x="4381398"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4" name="Shape 34"/>
          <p:cNvSpPr txBox="1"/>
          <p:nvPr/>
        </p:nvSpPr>
        <p:spPr>
          <a:xfrm>
            <a:off x="5524398"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5" name="Shape 35"/>
          <p:cNvSpPr txBox="1"/>
          <p:nvPr/>
        </p:nvSpPr>
        <p:spPr>
          <a:xfrm>
            <a:off x="66673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6" name="Shape 36"/>
          <p:cNvSpPr txBox="1"/>
          <p:nvPr/>
        </p:nvSpPr>
        <p:spPr>
          <a:xfrm>
            <a:off x="66673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−4/3</a:t>
            </a:r>
            <a:endParaRPr lang="en-US" sz="1650" dirty="0"/>
          </a:p>
        </p:txBody>
      </p:sp>
      <p:sp>
        <p:nvSpPr>
          <p:cNvPr id="37" name="Shape 37"/>
          <p:cNvSpPr txBox="1"/>
          <p:nvPr/>
        </p:nvSpPr>
        <p:spPr>
          <a:xfrm>
            <a:off x="4381398"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8" name="Shape 38"/>
          <p:cNvSpPr txBox="1"/>
          <p:nvPr/>
        </p:nvSpPr>
        <p:spPr>
          <a:xfrm>
            <a:off x="5524398"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9" name="Shape 39"/>
          <p:cNvSpPr txBox="1"/>
          <p:nvPr/>
        </p:nvSpPr>
        <p:spPr>
          <a:xfrm>
            <a:off x="66673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0" name="Shape 40"/>
          <p:cNvSpPr txBox="1"/>
          <p:nvPr/>
        </p:nvSpPr>
        <p:spPr>
          <a:xfrm>
            <a:off x="66673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−2/3</a:t>
            </a:r>
            <a:endParaRPr lang="en-US" sz="1650" dirty="0"/>
          </a:p>
        </p:txBody>
      </p:sp>
      <p:sp>
        <p:nvSpPr>
          <p:cNvPr id="41" name="Shape 41"/>
          <p:cNvSpPr txBox="1"/>
          <p:nvPr/>
        </p:nvSpPr>
        <p:spPr>
          <a:xfrm>
            <a:off x="4381398"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2" name="Shape 42"/>
          <p:cNvSpPr txBox="1"/>
          <p:nvPr/>
        </p:nvSpPr>
        <p:spPr>
          <a:xfrm>
            <a:off x="5524398"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3" name="Shape 43"/>
          <p:cNvSpPr txBox="1"/>
          <p:nvPr/>
        </p:nvSpPr>
        <p:spPr>
          <a:xfrm>
            <a:off x="66673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4" name="Shape 44"/>
          <p:cNvSpPr txBox="1"/>
          <p:nvPr/>
        </p:nvSpPr>
        <p:spPr>
          <a:xfrm>
            <a:off x="66673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5" name="Shape 45"/>
          <p:cNvSpPr txBox="1"/>
          <p:nvPr/>
        </p:nvSpPr>
        <p:spPr>
          <a:xfrm>
            <a:off x="4381398"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6" name="Shape 46"/>
          <p:cNvSpPr txBox="1"/>
          <p:nvPr/>
        </p:nvSpPr>
        <p:spPr>
          <a:xfrm>
            <a:off x="5524398"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7" name="Shape 47"/>
          <p:cNvSpPr txBox="1"/>
          <p:nvPr/>
        </p:nvSpPr>
        <p:spPr>
          <a:xfrm>
            <a:off x="66673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8" name="Shape 48"/>
          <p:cNvSpPr txBox="1"/>
          <p:nvPr/>
        </p:nvSpPr>
        <p:spPr>
          <a:xfrm>
            <a:off x="66673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2/3</a:t>
            </a:r>
            <a:endParaRPr lang="en-US" sz="1650" dirty="0"/>
          </a:p>
        </p:txBody>
      </p:sp>
      <p:sp>
        <p:nvSpPr>
          <p:cNvPr id="49" name="Shape 49"/>
          <p:cNvSpPr txBox="1"/>
          <p:nvPr/>
        </p:nvSpPr>
        <p:spPr>
          <a:xfrm>
            <a:off x="4381398"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0" name="Shape 50"/>
          <p:cNvSpPr txBox="1"/>
          <p:nvPr/>
        </p:nvSpPr>
        <p:spPr>
          <a:xfrm>
            <a:off x="5524398"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1" name="Shape 51"/>
          <p:cNvSpPr txBox="1"/>
          <p:nvPr/>
        </p:nvSpPr>
        <p:spPr>
          <a:xfrm>
            <a:off x="66673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52" name="Shape 52"/>
          <p:cNvSpPr txBox="1"/>
          <p:nvPr/>
        </p:nvSpPr>
        <p:spPr>
          <a:xfrm>
            <a:off x="66673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4/3</a:t>
            </a:r>
            <a:endParaRPr lang="en-US" sz="1650" dirty="0"/>
          </a:p>
        </p:txBody>
      </p:sp>
      <p:sp>
        <p:nvSpPr>
          <p:cNvPr id="53" name="Shape 53"/>
          <p:cNvSpPr txBox="1"/>
          <p:nvPr/>
        </p:nvSpPr>
        <p:spPr>
          <a:xfrm>
            <a:off x="4381398" y="4490466"/>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⅔</a:t>
            </a:r>
            <a:r>
              <a:rPr lang="en-US" sz="2325" dirty="0" i="1">
                <a:solidFill>
                  <a:srgbClr val="16171D"/>
                </a:solidFill>
                <a:latin typeface="Cambria"/>
                <a:cs typeface="Cambria"/>
              </a:rPr>
              <a:t xml:space="preserve">x</a:t>
            </a:r>
            <a:endParaRPr lang="en-US" sz="2325" dirty="0"/>
          </a:p>
        </p:txBody>
      </p:sp>
      <p:sp>
        <p:nvSpPr>
          <p:cNvPr id="54" name="Shape 54"/>
          <p:cNvSpPr txBox="1"/>
          <p:nvPr/>
        </p:nvSpPr>
        <p:spPr>
          <a:xfrm>
            <a:off x="8076997"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(−4):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55" name="Shape 55"/>
          <p:cNvSpPr txBox="1"/>
          <p:nvPr/>
        </p:nvSpPr>
        <p:spPr>
          <a:xfrm>
            <a:off x="8076997"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56" name="Shape 56"/>
          <p:cNvSpPr txBox="1"/>
          <p:nvPr/>
        </p:nvSpPr>
        <p:spPr>
          <a:xfrm>
            <a:off x="9219997"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57" name="Shape 57"/>
          <p:cNvSpPr txBox="1"/>
          <p:nvPr/>
        </p:nvSpPr>
        <p:spPr>
          <a:xfrm>
            <a:off x="10362997"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c(x)</a:t>
            </a:r>
            <a:endParaRPr lang="en-US" sz="1650" dirty="0"/>
          </a:p>
        </p:txBody>
      </p:sp>
      <p:sp>
        <p:nvSpPr>
          <p:cNvPr id="58" name="Shape 58"/>
          <p:cNvSpPr txBox="1"/>
          <p:nvPr/>
        </p:nvSpPr>
        <p:spPr>
          <a:xfrm>
            <a:off x="8076997"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9" name="Shape 59"/>
          <p:cNvSpPr txBox="1"/>
          <p:nvPr/>
        </p:nvSpPr>
        <p:spPr>
          <a:xfrm>
            <a:off x="9219997"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60" name="Shape 60"/>
          <p:cNvSpPr txBox="1"/>
          <p:nvPr/>
        </p:nvSpPr>
        <p:spPr>
          <a:xfrm>
            <a:off x="10362997"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61" name="Shape 61"/>
          <p:cNvSpPr txBox="1"/>
          <p:nvPr/>
        </p:nvSpPr>
        <p:spPr>
          <a:xfrm>
            <a:off x="10362997"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62" name="Shape 62"/>
          <p:cNvSpPr txBox="1"/>
          <p:nvPr/>
        </p:nvSpPr>
        <p:spPr>
          <a:xfrm>
            <a:off x="8076997"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63" name="Shape 63"/>
          <p:cNvSpPr txBox="1"/>
          <p:nvPr/>
        </p:nvSpPr>
        <p:spPr>
          <a:xfrm>
            <a:off x="9219997"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64" name="Shape 64"/>
          <p:cNvSpPr txBox="1"/>
          <p:nvPr/>
        </p:nvSpPr>
        <p:spPr>
          <a:xfrm>
            <a:off x="10362997"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65" name="Shape 65"/>
          <p:cNvSpPr txBox="1"/>
          <p:nvPr/>
        </p:nvSpPr>
        <p:spPr>
          <a:xfrm>
            <a:off x="10362997"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66" name="Shape 66"/>
          <p:cNvSpPr txBox="1"/>
          <p:nvPr/>
        </p:nvSpPr>
        <p:spPr>
          <a:xfrm>
            <a:off x="8076997"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67" name="Shape 67"/>
          <p:cNvSpPr txBox="1"/>
          <p:nvPr/>
        </p:nvSpPr>
        <p:spPr>
          <a:xfrm>
            <a:off x="9219997"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68" name="Shape 68"/>
          <p:cNvSpPr txBox="1"/>
          <p:nvPr/>
        </p:nvSpPr>
        <p:spPr>
          <a:xfrm>
            <a:off x="10362997"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69" name="Shape 69"/>
          <p:cNvSpPr txBox="1"/>
          <p:nvPr/>
        </p:nvSpPr>
        <p:spPr>
          <a:xfrm>
            <a:off x="10362997"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70" name="Shape 70"/>
          <p:cNvSpPr txBox="1"/>
          <p:nvPr/>
        </p:nvSpPr>
        <p:spPr>
          <a:xfrm>
            <a:off x="8076997"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71" name="Shape 71"/>
          <p:cNvSpPr txBox="1"/>
          <p:nvPr/>
        </p:nvSpPr>
        <p:spPr>
          <a:xfrm>
            <a:off x="9219997"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72" name="Shape 72"/>
          <p:cNvSpPr txBox="1"/>
          <p:nvPr/>
        </p:nvSpPr>
        <p:spPr>
          <a:xfrm>
            <a:off x="10362997"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73" name="Shape 73"/>
          <p:cNvSpPr txBox="1"/>
          <p:nvPr/>
        </p:nvSpPr>
        <p:spPr>
          <a:xfrm>
            <a:off x="10362997"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74" name="Shape 74"/>
          <p:cNvSpPr txBox="1"/>
          <p:nvPr/>
        </p:nvSpPr>
        <p:spPr>
          <a:xfrm>
            <a:off x="8076997"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75" name="Shape 75"/>
          <p:cNvSpPr txBox="1"/>
          <p:nvPr/>
        </p:nvSpPr>
        <p:spPr>
          <a:xfrm>
            <a:off x="9219997"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76" name="Shape 76"/>
          <p:cNvSpPr txBox="1"/>
          <p:nvPr/>
        </p:nvSpPr>
        <p:spPr>
          <a:xfrm>
            <a:off x="10362997"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77" name="Shape 77"/>
          <p:cNvSpPr txBox="1"/>
          <p:nvPr/>
        </p:nvSpPr>
        <p:spPr>
          <a:xfrm>
            <a:off x="10362997"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78" name="Shape 78"/>
          <p:cNvSpPr txBox="1"/>
          <p:nvPr/>
        </p:nvSpPr>
        <p:spPr>
          <a:xfrm>
            <a:off x="8076997" y="4490466"/>
            <a:ext cx="34288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c</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anim calcmode="lin" valueType="num">
                                      <p:cBhvr>
                                        <p:cTn id="5" dur="500" fill="hold"/>
                                        <p:tgtEl>
                                          <p:spTgt spid="11"/>
                                        </p:tgtEl>
                                        <p:attrNameLst>
                                          <p:attrName>ppt_x</p:attrName>
                                        </p:attrNameLst>
                                      </p:cBhvr>
                                      <p:tavLst>
                                        <p:tav tm="0">
                                          <p:val>
                                            <p:strVal val="#ppt_x"/>
                                          </p:val>
                                        </p:tav>
                                        <p:tav tm="100000">
                                          <p:val>
                                            <p:strVal val="#ppt_x"/>
                                          </p:val>
                                        </p:tav>
                                      </p:tavLst>
                                    </p:anim>
                                    <p:anim calcmode="lin" valueType="num">
                                      <p:cBhvr>
                                        <p:cTn id="6"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anim calcmode="lin" valueType="num">
                                      <p:cBhvr>
                                        <p:cTn id="12" dur="500" fill="hold"/>
                                        <p:tgtEl>
                                          <p:spTgt spid="15"/>
                                        </p:tgtEl>
                                        <p:attrNameLst>
                                          <p:attrName>ppt_x</p:attrName>
                                        </p:attrNameLst>
                                      </p:cBhvr>
                                      <p:tavLst>
                                        <p:tav tm="0">
                                          <p:val>
                                            <p:strVal val="#ppt_x"/>
                                          </p:val>
                                        </p:tav>
                                        <p:tav tm="100000">
                                          <p:val>
                                            <p:strVal val="#ppt_x"/>
                                          </p:val>
                                        </p:tav>
                                      </p:tavLst>
                                    </p:anim>
                                    <p:anim calcmode="lin" valueType="num">
                                      <p:cBhvr>
                                        <p:cTn id="1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ppt_x</p:attrName>
                                        </p:attrNameLst>
                                      </p:cBhvr>
                                      <p:tavLst>
                                        <p:tav tm="0">
                                          <p:val>
                                            <p:strVal val="#ppt_x"/>
                                          </p:val>
                                        </p:tav>
                                        <p:tav tm="100000">
                                          <p:val>
                                            <p:strVal val="#ppt_x"/>
                                          </p:val>
                                        </p:tav>
                                      </p:tavLst>
                                    </p:anim>
                                    <p:anim calcmode="lin" valueType="num">
                                      <p:cBhvr>
                                        <p:cTn id="20"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anim calcmode="lin" valueType="num">
                                      <p:cBhvr>
                                        <p:cTn id="26" dur="500" fill="hold"/>
                                        <p:tgtEl>
                                          <p:spTgt spid="23"/>
                                        </p:tgtEl>
                                        <p:attrNameLst>
                                          <p:attrName>ppt_x</p:attrName>
                                        </p:attrNameLst>
                                      </p:cBhvr>
                                      <p:tavLst>
                                        <p:tav tm="0">
                                          <p:val>
                                            <p:strVal val="#ppt_x"/>
                                          </p:val>
                                        </p:tav>
                                        <p:tav tm="100000">
                                          <p:val>
                                            <p:strVal val="#ppt_x"/>
                                          </p:val>
                                        </p:tav>
                                      </p:tavLst>
                                    </p:anim>
                                    <p:anim calcmode="lin" valueType="num">
                                      <p:cBhvr>
                                        <p:cTn id="2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anim calcmode="lin" valueType="num">
                                      <p:cBhvr>
                                        <p:cTn id="33" dur="500" fill="hold"/>
                                        <p:tgtEl>
                                          <p:spTgt spid="27"/>
                                        </p:tgtEl>
                                        <p:attrNameLst>
                                          <p:attrName>ppt_x</p:attrName>
                                        </p:attrNameLst>
                                      </p:cBhvr>
                                      <p:tavLst>
                                        <p:tav tm="0">
                                          <p:val>
                                            <p:strVal val="#ppt_x"/>
                                          </p:val>
                                        </p:tav>
                                        <p:tav tm="100000">
                                          <p:val>
                                            <p:strVal val="#ppt_x"/>
                                          </p:val>
                                        </p:tav>
                                      </p:tavLst>
                                    </p:anim>
                                    <p:anim calcmode="lin" valueType="num">
                                      <p:cBhvr>
                                        <p:cTn id="34"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anim calcmode="lin" valueType="num">
                                      <p:cBhvr>
                                        <p:cTn id="40" dur="500" fill="hold"/>
                                        <p:tgtEl>
                                          <p:spTgt spid="28"/>
                                        </p:tgtEl>
                                        <p:attrNameLst>
                                          <p:attrName>ppt_w</p:attrName>
                                        </p:attrNameLst>
                                      </p:cBhvr>
                                      <p:tavLst>
                                        <p:tav tm="0">
                                          <p:val>
                                            <p:fltVal val="0"/>
                                          </p:val>
                                        </p:tav>
                                        <p:tav tm="100000">
                                          <p:val>
                                            <p:strVal val="#ppt_w"/>
                                          </p:val>
                                        </p:tav>
                                      </p:tavLst>
                                    </p:anim>
                                    <p:anim calcmode="lin" valueType="num">
                                      <p:cBhvr>
                                        <p:cTn id="41" dur="500" fill="hold"/>
                                        <p:tgtEl>
                                          <p:spTgt spid="28"/>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anim calcmode="lin" valueType="num">
                                      <p:cBhvr>
                                        <p:cTn id="47" dur="500" fill="hold"/>
                                        <p:tgtEl>
                                          <p:spTgt spid="36"/>
                                        </p:tgtEl>
                                        <p:attrNameLst>
                                          <p:attrName>ppt_x</p:attrName>
                                        </p:attrNameLst>
                                      </p:cBhvr>
                                      <p:tavLst>
                                        <p:tav tm="0">
                                          <p:val>
                                            <p:strVal val="#ppt_x"/>
                                          </p:val>
                                        </p:tav>
                                        <p:tav tm="100000">
                                          <p:val>
                                            <p:strVal val="#ppt_x"/>
                                          </p:val>
                                        </p:tav>
                                      </p:tavLst>
                                    </p:anim>
                                    <p:anim calcmode="lin" valueType="num">
                                      <p:cBhvr>
                                        <p:cTn id="48"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500"/>
                                        <p:tgtEl>
                                          <p:spTgt spid="40"/>
                                        </p:tgtEl>
                                      </p:cBhvr>
                                    </p:animEffect>
                                    <p:anim calcmode="lin" valueType="num">
                                      <p:cBhvr>
                                        <p:cTn id="54" dur="500" fill="hold"/>
                                        <p:tgtEl>
                                          <p:spTgt spid="40"/>
                                        </p:tgtEl>
                                        <p:attrNameLst>
                                          <p:attrName>ppt_x</p:attrName>
                                        </p:attrNameLst>
                                      </p:cBhvr>
                                      <p:tavLst>
                                        <p:tav tm="0">
                                          <p:val>
                                            <p:strVal val="#ppt_x"/>
                                          </p:val>
                                        </p:tav>
                                        <p:tav tm="100000">
                                          <p:val>
                                            <p:strVal val="#ppt_x"/>
                                          </p:val>
                                        </p:tav>
                                      </p:tavLst>
                                    </p:anim>
                                    <p:anim calcmode="lin" valueType="num">
                                      <p:cBhvr>
                                        <p:cTn id="55"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500"/>
                                        <p:tgtEl>
                                          <p:spTgt spid="44"/>
                                        </p:tgtEl>
                                      </p:cBhvr>
                                    </p:animEffect>
                                    <p:anim calcmode="lin" valueType="num">
                                      <p:cBhvr>
                                        <p:cTn id="61" dur="500" fill="hold"/>
                                        <p:tgtEl>
                                          <p:spTgt spid="44"/>
                                        </p:tgtEl>
                                        <p:attrNameLst>
                                          <p:attrName>ppt_x</p:attrName>
                                        </p:attrNameLst>
                                      </p:cBhvr>
                                      <p:tavLst>
                                        <p:tav tm="0">
                                          <p:val>
                                            <p:strVal val="#ppt_x"/>
                                          </p:val>
                                        </p:tav>
                                        <p:tav tm="100000">
                                          <p:val>
                                            <p:strVal val="#ppt_x"/>
                                          </p:val>
                                        </p:tav>
                                      </p:tavLst>
                                    </p:anim>
                                    <p:anim calcmode="lin" valueType="num">
                                      <p:cBhvr>
                                        <p:cTn id="62"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fade">
                                      <p:cBhvr>
                                        <p:cTn id="67" dur="500"/>
                                        <p:tgtEl>
                                          <p:spTgt spid="48"/>
                                        </p:tgtEl>
                                      </p:cBhvr>
                                    </p:animEffect>
                                    <p:anim calcmode="lin" valueType="num">
                                      <p:cBhvr>
                                        <p:cTn id="68" dur="500" fill="hold"/>
                                        <p:tgtEl>
                                          <p:spTgt spid="48"/>
                                        </p:tgtEl>
                                        <p:attrNameLst>
                                          <p:attrName>ppt_x</p:attrName>
                                        </p:attrNameLst>
                                      </p:cBhvr>
                                      <p:tavLst>
                                        <p:tav tm="0">
                                          <p:val>
                                            <p:strVal val="#ppt_x"/>
                                          </p:val>
                                        </p:tav>
                                        <p:tav tm="100000">
                                          <p:val>
                                            <p:strVal val="#ppt_x"/>
                                          </p:val>
                                        </p:tav>
                                      </p:tavLst>
                                    </p:anim>
                                    <p:anim calcmode="lin" valueType="num">
                                      <p:cBhvr>
                                        <p:cTn id="69" dur="5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52"/>
                                        </p:tgtEl>
                                        <p:attrNameLst>
                                          <p:attrName>style.visibility</p:attrName>
                                        </p:attrNameLst>
                                      </p:cBhvr>
                                      <p:to>
                                        <p:strVal val="visible"/>
                                      </p:to>
                                    </p:set>
                                    <p:animEffect transition="in" filter="fade">
                                      <p:cBhvr>
                                        <p:cTn id="74" dur="500"/>
                                        <p:tgtEl>
                                          <p:spTgt spid="52"/>
                                        </p:tgtEl>
                                      </p:cBhvr>
                                    </p:animEffect>
                                    <p:anim calcmode="lin" valueType="num">
                                      <p:cBhvr>
                                        <p:cTn id="75" dur="500" fill="hold"/>
                                        <p:tgtEl>
                                          <p:spTgt spid="52"/>
                                        </p:tgtEl>
                                        <p:attrNameLst>
                                          <p:attrName>ppt_x</p:attrName>
                                        </p:attrNameLst>
                                      </p:cBhvr>
                                      <p:tavLst>
                                        <p:tav tm="0">
                                          <p:val>
                                            <p:strVal val="#ppt_x"/>
                                          </p:val>
                                        </p:tav>
                                        <p:tav tm="100000">
                                          <p:val>
                                            <p:strVal val="#ppt_x"/>
                                          </p:val>
                                        </p:tav>
                                      </p:tavLst>
                                    </p:anim>
                                    <p:anim calcmode="lin" valueType="num">
                                      <p:cBhvr>
                                        <p:cTn id="76" dur="5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53" presetClass="entr" presetSubtype="16" fill="hold"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500"/>
                                        <p:tgtEl>
                                          <p:spTgt spid="53"/>
                                        </p:tgtEl>
                                      </p:cBhvr>
                                    </p:animEffect>
                                    <p:anim calcmode="lin" valueType="num">
                                      <p:cBhvr>
                                        <p:cTn id="82" dur="500" fill="hold"/>
                                        <p:tgtEl>
                                          <p:spTgt spid="53"/>
                                        </p:tgtEl>
                                        <p:attrNameLst>
                                          <p:attrName>ppt_w</p:attrName>
                                        </p:attrNameLst>
                                      </p:cBhvr>
                                      <p:tavLst>
                                        <p:tav tm="0">
                                          <p:val>
                                            <p:fltVal val="0"/>
                                          </p:val>
                                        </p:tav>
                                        <p:tav tm="100000">
                                          <p:val>
                                            <p:strVal val="#ppt_w"/>
                                          </p:val>
                                        </p:tav>
                                      </p:tavLst>
                                    </p:anim>
                                    <p:anim calcmode="lin" valueType="num">
                                      <p:cBhvr>
                                        <p:cTn id="83"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1" presetID="42" presetClass="entr" presetSubtype="0" fill="hold" nodeType="clickEffect">
                                  <p:stCondLst>
                                    <p:cond delay="0"/>
                                  </p:stCondLst>
                                  <p:childTnLst>
                                    <p:set>
                                      <p:cBhvr>
                                        <p:cTn id="87" dur="1" fill="hold">
                                          <p:stCondLst>
                                            <p:cond delay="0"/>
                                          </p:stCondLst>
                                        </p:cTn>
                                        <p:tgtEl>
                                          <p:spTgt spid="61"/>
                                        </p:tgtEl>
                                        <p:attrNameLst>
                                          <p:attrName>style.visibility</p:attrName>
                                        </p:attrNameLst>
                                      </p:cBhvr>
                                      <p:to>
                                        <p:strVal val="visible"/>
                                      </p:to>
                                    </p:set>
                                    <p:animEffect transition="in" filter="fade">
                                      <p:cBhvr>
                                        <p:cTn id="88" dur="500"/>
                                        <p:tgtEl>
                                          <p:spTgt spid="61"/>
                                        </p:tgtEl>
                                      </p:cBhvr>
                                    </p:animEffect>
                                    <p:anim calcmode="lin" valueType="num">
                                      <p:cBhvr>
                                        <p:cTn id="89" dur="500" fill="hold"/>
                                        <p:tgtEl>
                                          <p:spTgt spid="61"/>
                                        </p:tgtEl>
                                        <p:attrNameLst>
                                          <p:attrName>ppt_x</p:attrName>
                                        </p:attrNameLst>
                                      </p:cBhvr>
                                      <p:tavLst>
                                        <p:tav tm="0">
                                          <p:val>
                                            <p:strVal val="#ppt_x"/>
                                          </p:val>
                                        </p:tav>
                                        <p:tav tm="100000">
                                          <p:val>
                                            <p:strVal val="#ppt_x"/>
                                          </p:val>
                                        </p:tav>
                                      </p:tavLst>
                                    </p:anim>
                                    <p:anim calcmode="lin" valueType="num">
                                      <p:cBhvr>
                                        <p:cTn id="90" dur="5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98" presetID="42" presetClass="entr" presetSubtype="0" fill="hold" nodeType="clickEffect">
                                  <p:stCondLst>
                                    <p:cond delay="0"/>
                                  </p:stCondLst>
                                  <p:childTnLst>
                                    <p:set>
                                      <p:cBhvr>
                                        <p:cTn id="94" dur="1" fill="hold">
                                          <p:stCondLst>
                                            <p:cond delay="0"/>
                                          </p:stCondLst>
                                        </p:cTn>
                                        <p:tgtEl>
                                          <p:spTgt spid="65"/>
                                        </p:tgtEl>
                                        <p:attrNameLst>
                                          <p:attrName>style.visibility</p:attrName>
                                        </p:attrNameLst>
                                      </p:cBhvr>
                                      <p:to>
                                        <p:strVal val="visible"/>
                                      </p:to>
                                    </p:set>
                                    <p:animEffect transition="in" filter="fade">
                                      <p:cBhvr>
                                        <p:cTn id="95" dur="500"/>
                                        <p:tgtEl>
                                          <p:spTgt spid="65"/>
                                        </p:tgtEl>
                                      </p:cBhvr>
                                    </p:animEffect>
                                    <p:anim calcmode="lin" valueType="num">
                                      <p:cBhvr>
                                        <p:cTn id="96" dur="500" fill="hold"/>
                                        <p:tgtEl>
                                          <p:spTgt spid="65"/>
                                        </p:tgtEl>
                                        <p:attrNameLst>
                                          <p:attrName>ppt_x</p:attrName>
                                        </p:attrNameLst>
                                      </p:cBhvr>
                                      <p:tavLst>
                                        <p:tav tm="0">
                                          <p:val>
                                            <p:strVal val="#ppt_x"/>
                                          </p:val>
                                        </p:tav>
                                        <p:tav tm="100000">
                                          <p:val>
                                            <p:strVal val="#ppt_x"/>
                                          </p:val>
                                        </p:tav>
                                      </p:tavLst>
                                    </p:anim>
                                    <p:anim calcmode="lin" valueType="num">
                                      <p:cBhvr>
                                        <p:cTn id="97" dur="5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5" presetID="42" presetClass="entr" presetSubtype="0" fill="hold" nodeType="clickEffect">
                                  <p:stCondLst>
                                    <p:cond delay="0"/>
                                  </p:stCondLst>
                                  <p:childTnLst>
                                    <p:set>
                                      <p:cBhvr>
                                        <p:cTn id="101" dur="1" fill="hold">
                                          <p:stCondLst>
                                            <p:cond delay="0"/>
                                          </p:stCondLst>
                                        </p:cTn>
                                        <p:tgtEl>
                                          <p:spTgt spid="69"/>
                                        </p:tgtEl>
                                        <p:attrNameLst>
                                          <p:attrName>style.visibility</p:attrName>
                                        </p:attrNameLst>
                                      </p:cBhvr>
                                      <p:to>
                                        <p:strVal val="visible"/>
                                      </p:to>
                                    </p:set>
                                    <p:animEffect transition="in" filter="fade">
                                      <p:cBhvr>
                                        <p:cTn id="102" dur="500"/>
                                        <p:tgtEl>
                                          <p:spTgt spid="69"/>
                                        </p:tgtEl>
                                      </p:cBhvr>
                                    </p:animEffect>
                                    <p:anim calcmode="lin" valueType="num">
                                      <p:cBhvr>
                                        <p:cTn id="103" dur="500" fill="hold"/>
                                        <p:tgtEl>
                                          <p:spTgt spid="69"/>
                                        </p:tgtEl>
                                        <p:attrNameLst>
                                          <p:attrName>ppt_x</p:attrName>
                                        </p:attrNameLst>
                                      </p:cBhvr>
                                      <p:tavLst>
                                        <p:tav tm="0">
                                          <p:val>
                                            <p:strVal val="#ppt_x"/>
                                          </p:val>
                                        </p:tav>
                                        <p:tav tm="100000">
                                          <p:val>
                                            <p:strVal val="#ppt_x"/>
                                          </p:val>
                                        </p:tav>
                                      </p:tavLst>
                                    </p:anim>
                                    <p:anim calcmode="lin" valueType="num">
                                      <p:cBhvr>
                                        <p:cTn id="104" dur="5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2" presetID="42" presetClass="entr" presetSubtype="0" fill="hold" nodeType="clickEffect">
                                  <p:stCondLst>
                                    <p:cond delay="0"/>
                                  </p:stCondLst>
                                  <p:childTnLst>
                                    <p:set>
                                      <p:cBhvr>
                                        <p:cTn id="108" dur="1" fill="hold">
                                          <p:stCondLst>
                                            <p:cond delay="0"/>
                                          </p:stCondLst>
                                        </p:cTn>
                                        <p:tgtEl>
                                          <p:spTgt spid="73"/>
                                        </p:tgtEl>
                                        <p:attrNameLst>
                                          <p:attrName>style.visibility</p:attrName>
                                        </p:attrNameLst>
                                      </p:cBhvr>
                                      <p:to>
                                        <p:strVal val="visible"/>
                                      </p:to>
                                    </p:set>
                                    <p:animEffect transition="in" filter="fade">
                                      <p:cBhvr>
                                        <p:cTn id="109" dur="500"/>
                                        <p:tgtEl>
                                          <p:spTgt spid="73"/>
                                        </p:tgtEl>
                                      </p:cBhvr>
                                    </p:animEffect>
                                    <p:anim calcmode="lin" valueType="num">
                                      <p:cBhvr>
                                        <p:cTn id="110" dur="500" fill="hold"/>
                                        <p:tgtEl>
                                          <p:spTgt spid="73"/>
                                        </p:tgtEl>
                                        <p:attrNameLst>
                                          <p:attrName>ppt_x</p:attrName>
                                        </p:attrNameLst>
                                      </p:cBhvr>
                                      <p:tavLst>
                                        <p:tav tm="0">
                                          <p:val>
                                            <p:strVal val="#ppt_x"/>
                                          </p:val>
                                        </p:tav>
                                        <p:tav tm="100000">
                                          <p:val>
                                            <p:strVal val="#ppt_x"/>
                                          </p:val>
                                        </p:tav>
                                      </p:tavLst>
                                    </p:anim>
                                    <p:anim calcmode="lin" valueType="num">
                                      <p:cBhvr>
                                        <p:cTn id="111" dur="500" fill="hold"/>
                                        <p:tgtEl>
                                          <p:spTgt spid="73"/>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9" presetID="42" presetClass="entr" presetSubtype="0" fill="hold" nodeType="clickEffect">
                                  <p:stCondLst>
                                    <p:cond delay="0"/>
                                  </p:stCondLst>
                                  <p:childTnLst>
                                    <p:set>
                                      <p:cBhvr>
                                        <p:cTn id="115" dur="1" fill="hold">
                                          <p:stCondLst>
                                            <p:cond delay="0"/>
                                          </p:stCondLst>
                                        </p:cTn>
                                        <p:tgtEl>
                                          <p:spTgt spid="77"/>
                                        </p:tgtEl>
                                        <p:attrNameLst>
                                          <p:attrName>style.visibility</p:attrName>
                                        </p:attrNameLst>
                                      </p:cBhvr>
                                      <p:to>
                                        <p:strVal val="visible"/>
                                      </p:to>
                                    </p:set>
                                    <p:animEffect transition="in" filter="fade">
                                      <p:cBhvr>
                                        <p:cTn id="116" dur="500"/>
                                        <p:tgtEl>
                                          <p:spTgt spid="77"/>
                                        </p:tgtEl>
                                      </p:cBhvr>
                                    </p:animEffect>
                                    <p:anim calcmode="lin" valueType="num">
                                      <p:cBhvr>
                                        <p:cTn id="117" dur="500" fill="hold"/>
                                        <p:tgtEl>
                                          <p:spTgt spid="77"/>
                                        </p:tgtEl>
                                        <p:attrNameLst>
                                          <p:attrName>ppt_x</p:attrName>
                                        </p:attrNameLst>
                                      </p:cBhvr>
                                      <p:tavLst>
                                        <p:tav tm="0">
                                          <p:val>
                                            <p:strVal val="#ppt_x"/>
                                          </p:val>
                                        </p:tav>
                                        <p:tav tm="100000">
                                          <p:val>
                                            <p:strVal val="#ppt_x"/>
                                          </p:val>
                                        </p:tav>
                                      </p:tavLst>
                                    </p:anim>
                                    <p:anim calcmode="lin" valueType="num">
                                      <p:cBhvr>
                                        <p:cTn id="118" dur="5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6" presetID="53" presetClass="entr" presetSubtype="16" fill="hold" nodeType="clickEffect">
                                  <p:stCondLst>
                                    <p:cond delay="0"/>
                                  </p:stCondLst>
                                  <p:childTnLst>
                                    <p:set>
                                      <p:cBhvr>
                                        <p:cTn id="122" dur="1" fill="hold">
                                          <p:stCondLst>
                                            <p:cond delay="0"/>
                                          </p:stCondLst>
                                        </p:cTn>
                                        <p:tgtEl>
                                          <p:spTgt spid="78"/>
                                        </p:tgtEl>
                                        <p:attrNameLst>
                                          <p:attrName>style.visibility</p:attrName>
                                        </p:attrNameLst>
                                      </p:cBhvr>
                                      <p:to>
                                        <p:strVal val="visible"/>
                                      </p:to>
                                    </p:set>
                                    <p:animEffect transition="in" filter="fade">
                                      <p:cBhvr>
                                        <p:cTn id="123" dur="500"/>
                                        <p:tgtEl>
                                          <p:spTgt spid="78"/>
                                        </p:tgtEl>
                                      </p:cBhvr>
                                    </p:animEffect>
                                    <p:anim calcmode="lin" valueType="num">
                                      <p:cBhvr>
                                        <p:cTn id="124" dur="500" fill="hold"/>
                                        <p:tgtEl>
                                          <p:spTgt spid="78"/>
                                        </p:tgtEl>
                                        <p:attrNameLst>
                                          <p:attrName>ppt_w</p:attrName>
                                        </p:attrNameLst>
                                      </p:cBhvr>
                                      <p:tavLst>
                                        <p:tav tm="0">
                                          <p:val>
                                            <p:fltVal val="0"/>
                                          </p:val>
                                        </p:tav>
                                        <p:tav tm="100000">
                                          <p:val>
                                            <p:strVal val="#ppt_w"/>
                                          </p:val>
                                        </p:tav>
                                      </p:tavLst>
                                    </p:anim>
                                    <p:anim calcmode="lin" valueType="num">
                                      <p:cBhvr>
                                        <p:cTn id="125" dur="500" fill="hold"/>
                                        <p:tgtEl>
                                          <p:spTgt spid="7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1.3 · Definition · SE p. 279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Vertical dilation: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a</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&gt; 1</a:t>
            </a:r>
            <a:r>
              <a:rPr lang="en-US" sz="1950" dirty="0">
                <a:solidFill>
                  <a:srgbClr val="16171D"/>
                </a:solidFill>
                <a:latin typeface="Segoe UI"/>
                <a:cs typeface="Segoe UI"/>
              </a:rPr>
              <a:t xml:space="preserve">: the graph </a:t>
            </a:r>
            <a:r>
              <a:rPr lang="en-US" sz="1950" dirty="0" b="1">
                <a:solidFill>
                  <a:srgbClr val="16171D"/>
                </a:solidFill>
                <a:latin typeface="Segoe UI"/>
                <a:cs typeface="Segoe UI"/>
              </a:rPr>
              <a:t xml:space="preserve">stretches</a:t>
            </a:r>
            <a:r>
              <a:rPr lang="en-US" sz="1950" dirty="0">
                <a:solidFill>
                  <a:srgbClr val="16171D"/>
                </a:solidFill>
                <a:latin typeface="Segoe UI"/>
                <a:cs typeface="Segoe UI"/>
              </a:rPr>
              <a:t xml:space="preserve"> vertically (steeper).</a:t>
            </a:r>
            <a:endParaRPr lang="en-US" sz="1950" dirty="0"/>
          </a:p>
        </p:txBody>
      </p:sp>
      <p:sp>
        <p:nvSpPr>
          <p:cNvPr id="5" name="Shape 5"/>
          <p:cNvSpPr txBox="1"/>
          <p:nvPr/>
        </p:nvSpPr>
        <p:spPr>
          <a:xfrm>
            <a:off x="685800" y="2439162"/>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1</a:t>
            </a:r>
            <a:r>
              <a:rPr lang="en-US" sz="1950" dirty="0">
                <a:solidFill>
                  <a:srgbClr val="16171D"/>
                </a:solidFill>
                <a:latin typeface="Segoe UI"/>
                <a:cs typeface="Segoe UI"/>
              </a:rPr>
              <a:t xml:space="preserve">: it </a:t>
            </a:r>
            <a:r>
              <a:rPr lang="en-US" sz="1950" dirty="0" b="1">
                <a:solidFill>
                  <a:srgbClr val="16171D"/>
                </a:solidFill>
                <a:latin typeface="Segoe UI"/>
                <a:cs typeface="Segoe UI"/>
              </a:rPr>
              <a:t xml:space="preserve">compresses</a:t>
            </a:r>
            <a:r>
              <a:rPr lang="en-US" sz="1950" dirty="0">
                <a:solidFill>
                  <a:srgbClr val="16171D"/>
                </a:solidFill>
                <a:latin typeface="Segoe UI"/>
                <a:cs typeface="Segoe UI"/>
              </a:rPr>
              <a:t xml:space="preserve"> vertically (less steep).</a:t>
            </a:r>
            <a:endParaRPr lang="en-US" sz="1950" dirty="0"/>
          </a:p>
        </p:txBody>
      </p:sp>
      <p:sp>
        <p:nvSpPr>
          <p:cNvPr id="6" name="Shape 6"/>
          <p:cNvSpPr txBox="1"/>
          <p:nvPr/>
        </p:nvSpPr>
        <p:spPr>
          <a:xfrm>
            <a:off x="685800" y="3259836"/>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it also </a:t>
            </a:r>
            <a:r>
              <a:rPr lang="en-US" sz="1950" dirty="0" b="1">
                <a:solidFill>
                  <a:srgbClr val="16171D"/>
                </a:solidFill>
                <a:latin typeface="Segoe UI"/>
                <a:cs typeface="Segoe UI"/>
              </a:rPr>
              <a:t xml:space="preserve">reflects</a:t>
            </a:r>
            <a:r>
              <a:rPr lang="en-US" sz="1950" dirty="0">
                <a:solidFill>
                  <a:srgbClr val="16171D"/>
                </a:solidFill>
                <a:latin typeface="Segoe UI"/>
                <a:cs typeface="Segoe UI"/>
              </a:rPr>
              <a:t xml:space="preserve"> across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a:t>
            </a:r>
            <a:endParaRPr lang="en-US" sz="1950" dirty="0"/>
          </a:p>
        </p:txBody>
      </p:sp>
      <p:sp>
        <p:nvSpPr>
          <p:cNvPr id="7" name="Shape 7"/>
          <p:cNvSpPr txBox="1"/>
          <p:nvPr/>
        </p:nvSpPr>
        <p:spPr>
          <a:xfrm>
            <a:off x="685800" y="3783330"/>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the new slope is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stays (0, 0).</a:t>
            </a:r>
            <a:endParaRPr lang="en-US" sz="1950" dirty="0"/>
          </a:p>
        </p:txBody>
      </p:sp>
      <p:sp>
        <p:nvSpPr>
          <p:cNvPr id="8" name="Shape 8"/>
          <p:cNvSpPr/>
          <p:nvPr/>
        </p:nvSpPr>
        <p:spPr>
          <a:xfrm>
            <a:off x="6286348" y="1618488"/>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2781300"/>
          </a:xfrm>
          <a:prstGeom prst="line">
            <a:avLst/>
          </a:prstGeom>
          <a:ln w="9525" cap="flat">
            <a:solidFill>
              <a:srgbClr val="E6E8F2"/>
            </a:solidFill>
          </a:ln>
        </p:spPr>
      </p:cxnSp>
      <p:cxnSp>
        <p:nvCxnSpPr>
          <p:cNvPr id="10" name="Line 10"/>
          <p:cNvCxnSpPr/>
          <p:nvPr/>
        </p:nvCxnSpPr>
        <p:spPr>
          <a:xfrm>
            <a:off x="6835623" y="1732788"/>
            <a:ext cx="0" cy="2781300"/>
          </a:xfrm>
          <a:prstGeom prst="line">
            <a:avLst/>
          </a:prstGeom>
          <a:ln w="9525" cap="flat">
            <a:solidFill>
              <a:srgbClr val="E6E8F2"/>
            </a:solidFill>
          </a:ln>
        </p:spPr>
      </p:cxnSp>
      <p:cxnSp>
        <p:nvCxnSpPr>
          <p:cNvPr id="11" name="Line 11"/>
          <p:cNvCxnSpPr/>
          <p:nvPr/>
        </p:nvCxnSpPr>
        <p:spPr>
          <a:xfrm>
            <a:off x="7061048" y="1732788"/>
            <a:ext cx="0" cy="2781300"/>
          </a:xfrm>
          <a:prstGeom prst="line">
            <a:avLst/>
          </a:prstGeom>
          <a:ln w="9525" cap="flat">
            <a:solidFill>
              <a:srgbClr val="E6E8F2"/>
            </a:solidFill>
          </a:ln>
        </p:spPr>
      </p:cxnSp>
      <p:cxnSp>
        <p:nvCxnSpPr>
          <p:cNvPr id="12" name="Line 12"/>
          <p:cNvCxnSpPr/>
          <p:nvPr/>
        </p:nvCxnSpPr>
        <p:spPr>
          <a:xfrm>
            <a:off x="7286473" y="1732788"/>
            <a:ext cx="0" cy="2781300"/>
          </a:xfrm>
          <a:prstGeom prst="line">
            <a:avLst/>
          </a:prstGeom>
          <a:ln w="9525" cap="flat">
            <a:solidFill>
              <a:srgbClr val="E6E8F2"/>
            </a:solidFill>
          </a:ln>
        </p:spPr>
      </p:cxnSp>
      <p:cxnSp>
        <p:nvCxnSpPr>
          <p:cNvPr id="13" name="Line 13"/>
          <p:cNvCxnSpPr/>
          <p:nvPr/>
        </p:nvCxnSpPr>
        <p:spPr>
          <a:xfrm>
            <a:off x="7511898" y="1732788"/>
            <a:ext cx="0" cy="2781300"/>
          </a:xfrm>
          <a:prstGeom prst="line">
            <a:avLst/>
          </a:prstGeom>
          <a:ln w="9525" cap="flat">
            <a:solidFill>
              <a:srgbClr val="E6E8F2"/>
            </a:solidFill>
          </a:ln>
        </p:spPr>
      </p:cxnSp>
      <p:cxnSp>
        <p:nvCxnSpPr>
          <p:cNvPr id="14" name="Line 14"/>
          <p:cNvCxnSpPr/>
          <p:nvPr/>
        </p:nvCxnSpPr>
        <p:spPr>
          <a:xfrm>
            <a:off x="7737323" y="1732788"/>
            <a:ext cx="0" cy="2781300"/>
          </a:xfrm>
          <a:prstGeom prst="line">
            <a:avLst/>
          </a:prstGeom>
          <a:ln w="9525" cap="flat">
            <a:solidFill>
              <a:srgbClr val="E6E8F2"/>
            </a:solidFill>
          </a:ln>
        </p:spPr>
      </p:cxnSp>
      <p:cxnSp>
        <p:nvCxnSpPr>
          <p:cNvPr id="15" name="Line 15"/>
          <p:cNvCxnSpPr/>
          <p:nvPr/>
        </p:nvCxnSpPr>
        <p:spPr>
          <a:xfrm>
            <a:off x="7962748" y="1732788"/>
            <a:ext cx="0" cy="2781300"/>
          </a:xfrm>
          <a:prstGeom prst="line">
            <a:avLst/>
          </a:prstGeom>
          <a:ln w="9525" cap="flat">
            <a:solidFill>
              <a:srgbClr val="E6E8F2"/>
            </a:solidFill>
          </a:ln>
        </p:spPr>
      </p:cxnSp>
      <p:cxnSp>
        <p:nvCxnSpPr>
          <p:cNvPr id="16" name="Line 16"/>
          <p:cNvCxnSpPr/>
          <p:nvPr/>
        </p:nvCxnSpPr>
        <p:spPr>
          <a:xfrm>
            <a:off x="8188173" y="1732788"/>
            <a:ext cx="0" cy="2781300"/>
          </a:xfrm>
          <a:prstGeom prst="line">
            <a:avLst/>
          </a:prstGeom>
          <a:ln w="9525" cap="flat">
            <a:solidFill>
              <a:srgbClr val="E6E8F2"/>
            </a:solidFill>
          </a:ln>
        </p:spPr>
      </p:cxnSp>
      <p:cxnSp>
        <p:nvCxnSpPr>
          <p:cNvPr id="17" name="Line 17"/>
          <p:cNvCxnSpPr/>
          <p:nvPr/>
        </p:nvCxnSpPr>
        <p:spPr>
          <a:xfrm>
            <a:off x="8413598" y="1732788"/>
            <a:ext cx="0" cy="2781300"/>
          </a:xfrm>
          <a:prstGeom prst="line">
            <a:avLst/>
          </a:prstGeom>
          <a:ln w="9525" cap="flat">
            <a:solidFill>
              <a:srgbClr val="E6E8F2"/>
            </a:solidFill>
          </a:ln>
        </p:spPr>
      </p:cxnSp>
      <p:cxnSp>
        <p:nvCxnSpPr>
          <p:cNvPr id="18" name="Line 18"/>
          <p:cNvCxnSpPr/>
          <p:nvPr/>
        </p:nvCxnSpPr>
        <p:spPr>
          <a:xfrm>
            <a:off x="8639023" y="1732788"/>
            <a:ext cx="0" cy="2781300"/>
          </a:xfrm>
          <a:prstGeom prst="line">
            <a:avLst/>
          </a:prstGeom>
          <a:ln w="9525" cap="flat">
            <a:solidFill>
              <a:srgbClr val="E6E8F2"/>
            </a:solidFill>
          </a:ln>
        </p:spPr>
      </p:cxnSp>
      <p:cxnSp>
        <p:nvCxnSpPr>
          <p:cNvPr id="19" name="Line 19"/>
          <p:cNvCxnSpPr/>
          <p:nvPr/>
        </p:nvCxnSpPr>
        <p:spPr>
          <a:xfrm>
            <a:off x="8864448" y="1732788"/>
            <a:ext cx="0" cy="2781300"/>
          </a:xfrm>
          <a:prstGeom prst="line">
            <a:avLst/>
          </a:prstGeom>
          <a:ln w="9525" cap="flat">
            <a:solidFill>
              <a:srgbClr val="E6E8F2"/>
            </a:solidFill>
          </a:ln>
        </p:spPr>
      </p:cxnSp>
      <p:cxnSp>
        <p:nvCxnSpPr>
          <p:cNvPr id="20" name="Line 20"/>
          <p:cNvCxnSpPr/>
          <p:nvPr/>
        </p:nvCxnSpPr>
        <p:spPr>
          <a:xfrm>
            <a:off x="9089873" y="1732788"/>
            <a:ext cx="0" cy="2781300"/>
          </a:xfrm>
          <a:prstGeom prst="line">
            <a:avLst/>
          </a:prstGeom>
          <a:ln w="9525" cap="flat">
            <a:solidFill>
              <a:srgbClr val="E6E8F2"/>
            </a:solidFill>
          </a:ln>
        </p:spPr>
      </p:cxnSp>
      <p:cxnSp>
        <p:nvCxnSpPr>
          <p:cNvPr id="21" name="Line 21"/>
          <p:cNvCxnSpPr/>
          <p:nvPr/>
        </p:nvCxnSpPr>
        <p:spPr>
          <a:xfrm>
            <a:off x="9315298" y="1732788"/>
            <a:ext cx="0" cy="2781300"/>
          </a:xfrm>
          <a:prstGeom prst="line">
            <a:avLst/>
          </a:prstGeom>
          <a:ln w="9525" cap="flat">
            <a:solidFill>
              <a:srgbClr val="E6E8F2"/>
            </a:solidFill>
          </a:ln>
        </p:spPr>
      </p:cxnSp>
      <p:cxnSp>
        <p:nvCxnSpPr>
          <p:cNvPr id="22" name="Line 22"/>
          <p:cNvCxnSpPr/>
          <p:nvPr/>
        </p:nvCxnSpPr>
        <p:spPr>
          <a:xfrm>
            <a:off x="6610198" y="4514088"/>
            <a:ext cx="2705100" cy="0"/>
          </a:xfrm>
          <a:prstGeom prst="line">
            <a:avLst/>
          </a:prstGeom>
          <a:ln w="9525" cap="flat">
            <a:solidFill>
              <a:srgbClr val="E6E8F2"/>
            </a:solidFill>
          </a:ln>
        </p:spPr>
      </p:cxnSp>
      <p:cxnSp>
        <p:nvCxnSpPr>
          <p:cNvPr id="23" name="Line 23"/>
          <p:cNvCxnSpPr/>
          <p:nvPr/>
        </p:nvCxnSpPr>
        <p:spPr>
          <a:xfrm>
            <a:off x="6610198" y="4282313"/>
            <a:ext cx="2705100" cy="0"/>
          </a:xfrm>
          <a:prstGeom prst="line">
            <a:avLst/>
          </a:prstGeom>
          <a:ln w="9525" cap="flat">
            <a:solidFill>
              <a:srgbClr val="E6E8F2"/>
            </a:solidFill>
          </a:ln>
        </p:spPr>
      </p:cxnSp>
      <p:cxnSp>
        <p:nvCxnSpPr>
          <p:cNvPr id="24" name="Line 24"/>
          <p:cNvCxnSpPr/>
          <p:nvPr/>
        </p:nvCxnSpPr>
        <p:spPr>
          <a:xfrm>
            <a:off x="6610198" y="4050538"/>
            <a:ext cx="2705100" cy="0"/>
          </a:xfrm>
          <a:prstGeom prst="line">
            <a:avLst/>
          </a:prstGeom>
          <a:ln w="9525" cap="flat">
            <a:solidFill>
              <a:srgbClr val="E6E8F2"/>
            </a:solidFill>
          </a:ln>
        </p:spPr>
      </p:cxnSp>
      <p:cxnSp>
        <p:nvCxnSpPr>
          <p:cNvPr id="25" name="Line 25"/>
          <p:cNvCxnSpPr/>
          <p:nvPr/>
        </p:nvCxnSpPr>
        <p:spPr>
          <a:xfrm>
            <a:off x="6610198" y="3818763"/>
            <a:ext cx="2705100" cy="0"/>
          </a:xfrm>
          <a:prstGeom prst="line">
            <a:avLst/>
          </a:prstGeom>
          <a:ln w="9525" cap="flat">
            <a:solidFill>
              <a:srgbClr val="E6E8F2"/>
            </a:solidFill>
          </a:ln>
        </p:spPr>
      </p:cxnSp>
      <p:cxnSp>
        <p:nvCxnSpPr>
          <p:cNvPr id="26" name="Line 26"/>
          <p:cNvCxnSpPr/>
          <p:nvPr/>
        </p:nvCxnSpPr>
        <p:spPr>
          <a:xfrm>
            <a:off x="6610198" y="3586988"/>
            <a:ext cx="2705100" cy="0"/>
          </a:xfrm>
          <a:prstGeom prst="line">
            <a:avLst/>
          </a:prstGeom>
          <a:ln w="9525" cap="flat">
            <a:solidFill>
              <a:srgbClr val="E6E8F2"/>
            </a:solidFill>
          </a:ln>
        </p:spPr>
      </p:cxnSp>
      <p:cxnSp>
        <p:nvCxnSpPr>
          <p:cNvPr id="27" name="Line 27"/>
          <p:cNvCxnSpPr/>
          <p:nvPr/>
        </p:nvCxnSpPr>
        <p:spPr>
          <a:xfrm>
            <a:off x="6610198" y="3355213"/>
            <a:ext cx="2705100" cy="0"/>
          </a:xfrm>
          <a:prstGeom prst="line">
            <a:avLst/>
          </a:prstGeom>
          <a:ln w="9525" cap="flat">
            <a:solidFill>
              <a:srgbClr val="E6E8F2"/>
            </a:solidFill>
          </a:ln>
        </p:spPr>
      </p:cxnSp>
      <p:cxnSp>
        <p:nvCxnSpPr>
          <p:cNvPr id="28" name="Line 28"/>
          <p:cNvCxnSpPr/>
          <p:nvPr/>
        </p:nvCxnSpPr>
        <p:spPr>
          <a:xfrm>
            <a:off x="6610198" y="3123438"/>
            <a:ext cx="2705100" cy="0"/>
          </a:xfrm>
          <a:prstGeom prst="line">
            <a:avLst/>
          </a:prstGeom>
          <a:ln w="9525" cap="flat">
            <a:solidFill>
              <a:srgbClr val="E6E8F2"/>
            </a:solidFill>
          </a:ln>
        </p:spPr>
      </p:cxnSp>
      <p:cxnSp>
        <p:nvCxnSpPr>
          <p:cNvPr id="29" name="Line 29"/>
          <p:cNvCxnSpPr/>
          <p:nvPr/>
        </p:nvCxnSpPr>
        <p:spPr>
          <a:xfrm>
            <a:off x="6610198" y="2891663"/>
            <a:ext cx="2705100" cy="0"/>
          </a:xfrm>
          <a:prstGeom prst="line">
            <a:avLst/>
          </a:prstGeom>
          <a:ln w="9525" cap="flat">
            <a:solidFill>
              <a:srgbClr val="E6E8F2"/>
            </a:solidFill>
          </a:ln>
        </p:spPr>
      </p:cxnSp>
      <p:cxnSp>
        <p:nvCxnSpPr>
          <p:cNvPr id="30" name="Line 30"/>
          <p:cNvCxnSpPr/>
          <p:nvPr/>
        </p:nvCxnSpPr>
        <p:spPr>
          <a:xfrm>
            <a:off x="6610198" y="2659888"/>
            <a:ext cx="2705100" cy="0"/>
          </a:xfrm>
          <a:prstGeom prst="line">
            <a:avLst/>
          </a:prstGeom>
          <a:ln w="9525" cap="flat">
            <a:solidFill>
              <a:srgbClr val="E6E8F2"/>
            </a:solidFill>
          </a:ln>
        </p:spPr>
      </p:cxnSp>
      <p:cxnSp>
        <p:nvCxnSpPr>
          <p:cNvPr id="31" name="Line 31"/>
          <p:cNvCxnSpPr/>
          <p:nvPr/>
        </p:nvCxnSpPr>
        <p:spPr>
          <a:xfrm>
            <a:off x="6610198" y="2428113"/>
            <a:ext cx="2705100" cy="0"/>
          </a:xfrm>
          <a:prstGeom prst="line">
            <a:avLst/>
          </a:prstGeom>
          <a:ln w="9525" cap="flat">
            <a:solidFill>
              <a:srgbClr val="E6E8F2"/>
            </a:solidFill>
          </a:ln>
        </p:spPr>
      </p:cxnSp>
      <p:cxnSp>
        <p:nvCxnSpPr>
          <p:cNvPr id="32" name="Line 32"/>
          <p:cNvCxnSpPr/>
          <p:nvPr/>
        </p:nvCxnSpPr>
        <p:spPr>
          <a:xfrm>
            <a:off x="6610198" y="2196338"/>
            <a:ext cx="2705100" cy="0"/>
          </a:xfrm>
          <a:prstGeom prst="line">
            <a:avLst/>
          </a:prstGeom>
          <a:ln w="9525" cap="flat">
            <a:solidFill>
              <a:srgbClr val="E6E8F2"/>
            </a:solidFill>
          </a:ln>
        </p:spPr>
      </p:cxnSp>
      <p:cxnSp>
        <p:nvCxnSpPr>
          <p:cNvPr id="33" name="Line 33"/>
          <p:cNvCxnSpPr/>
          <p:nvPr/>
        </p:nvCxnSpPr>
        <p:spPr>
          <a:xfrm>
            <a:off x="6610198" y="1964563"/>
            <a:ext cx="2705100" cy="0"/>
          </a:xfrm>
          <a:prstGeom prst="line">
            <a:avLst/>
          </a:prstGeom>
          <a:ln w="9525" cap="flat">
            <a:solidFill>
              <a:srgbClr val="E6E8F2"/>
            </a:solidFill>
          </a:ln>
        </p:spPr>
      </p:cxnSp>
      <p:cxnSp>
        <p:nvCxnSpPr>
          <p:cNvPr id="34" name="Line 34"/>
          <p:cNvCxnSpPr/>
          <p:nvPr/>
        </p:nvCxnSpPr>
        <p:spPr>
          <a:xfrm>
            <a:off x="6610198" y="1732788"/>
            <a:ext cx="2705100" cy="0"/>
          </a:xfrm>
          <a:prstGeom prst="line">
            <a:avLst/>
          </a:prstGeom>
          <a:ln w="9525" cap="flat">
            <a:solidFill>
              <a:srgbClr val="E6E8F2"/>
            </a:solidFill>
          </a:ln>
        </p:spPr>
      </p:cxnSp>
      <p:cxnSp>
        <p:nvCxnSpPr>
          <p:cNvPr id="35" name="Line 35"/>
          <p:cNvCxnSpPr/>
          <p:nvPr/>
        </p:nvCxnSpPr>
        <p:spPr>
          <a:xfrm>
            <a:off x="7962748" y="1732788"/>
            <a:ext cx="0" cy="2781300"/>
          </a:xfrm>
          <a:prstGeom prst="line">
            <a:avLst/>
          </a:prstGeom>
          <a:ln w="19050" cap="flat">
            <a:solidFill>
              <a:srgbClr val="5F6272"/>
            </a:solidFill>
          </a:ln>
        </p:spPr>
      </p:cxnSp>
      <p:cxnSp>
        <p:nvCxnSpPr>
          <p:cNvPr id="36" name="Line 36"/>
          <p:cNvCxnSpPr/>
          <p:nvPr/>
        </p:nvCxnSpPr>
        <p:spPr>
          <a:xfrm>
            <a:off x="6610198" y="3123438"/>
            <a:ext cx="2705100" cy="0"/>
          </a:xfrm>
          <a:prstGeom prst="line">
            <a:avLst/>
          </a:prstGeom>
          <a:ln w="19050" cap="flat">
            <a:solidFill>
              <a:srgbClr val="5F6272"/>
            </a:solidFill>
          </a:ln>
        </p:spPr>
      </p:cxnSp>
      <p:sp>
        <p:nvSpPr>
          <p:cNvPr id="37" name="Shape 37"/>
          <p:cNvSpPr txBox="1"/>
          <p:nvPr/>
        </p:nvSpPr>
        <p:spPr>
          <a:xfrm>
            <a:off x="63358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8" name="Shape 38"/>
          <p:cNvSpPr txBox="1"/>
          <p:nvPr/>
        </p:nvSpPr>
        <p:spPr>
          <a:xfrm>
            <a:off x="678672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9" name="Shape 39"/>
          <p:cNvSpPr txBox="1"/>
          <p:nvPr/>
        </p:nvSpPr>
        <p:spPr>
          <a:xfrm>
            <a:off x="72375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0" name="Shape 40"/>
          <p:cNvSpPr txBox="1"/>
          <p:nvPr/>
        </p:nvSpPr>
        <p:spPr>
          <a:xfrm>
            <a:off x="768842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81392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2" name="Shape 42"/>
          <p:cNvSpPr txBox="1"/>
          <p:nvPr/>
        </p:nvSpPr>
        <p:spPr>
          <a:xfrm>
            <a:off x="859012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90409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4" name="Shape 44"/>
          <p:cNvSpPr txBox="1"/>
          <p:nvPr/>
        </p:nvSpPr>
        <p:spPr>
          <a:xfrm>
            <a:off x="6043270" y="44226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6043270" y="39590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6043270" y="34955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6043270" y="30319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6043270" y="25684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6043270" y="2104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51" name="Line 51"/>
          <p:cNvCxnSpPr/>
          <p:nvPr/>
        </p:nvCxnSpPr>
        <p:spPr>
          <a:xfrm flipV="1">
            <a:off x="6610198" y="1732788"/>
            <a:ext cx="2705100" cy="2781300"/>
          </a:xfrm>
          <a:prstGeom prst="line">
            <a:avLst/>
          </a:prstGeom>
          <a:ln w="38100" cap="rnd">
            <a:solidFill>
              <a:srgbClr val="16171D"/>
            </a:solidFill>
          </a:ln>
        </p:spPr>
      </p:cxnSp>
      <p:sp>
        <p:nvSpPr>
          <p:cNvPr id="52" name="Shape 52"/>
          <p:cNvSpPr txBox="1"/>
          <p:nvPr/>
        </p:nvSpPr>
        <p:spPr>
          <a:xfrm>
            <a:off x="6823558"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53" name="Line 53"/>
          <p:cNvCxnSpPr/>
          <p:nvPr/>
        </p:nvCxnSpPr>
        <p:spPr>
          <a:xfrm flipV="1">
            <a:off x="7624610" y="1732788"/>
            <a:ext cx="676275" cy="2781300"/>
          </a:xfrm>
          <a:prstGeom prst="line">
            <a:avLst/>
          </a:prstGeom>
          <a:ln w="38100" cap="rnd">
            <a:solidFill>
              <a:srgbClr val="4F8A3C"/>
            </a:solidFill>
          </a:ln>
        </p:spPr>
      </p:cxnSp>
      <p:sp>
        <p:nvSpPr>
          <p:cNvPr id="54" name="Shape 54"/>
          <p:cNvSpPr txBox="1"/>
          <p:nvPr/>
        </p:nvSpPr>
        <p:spPr>
          <a:xfrm>
            <a:off x="5809145"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4f(x)</a:t>
            </a:r>
            <a:endParaRPr lang="en-US" sz="1275" dirty="0"/>
          </a:p>
        </p:txBody>
      </p:sp>
      <p:cxnSp>
        <p:nvCxnSpPr>
          <p:cNvPr id="55" name="Line 55"/>
          <p:cNvCxnSpPr/>
          <p:nvPr/>
        </p:nvCxnSpPr>
        <p:spPr>
          <a:xfrm flipV="1">
            <a:off x="6610198" y="2196338"/>
            <a:ext cx="2705100" cy="1854200"/>
          </a:xfrm>
          <a:prstGeom prst="line">
            <a:avLst/>
          </a:prstGeom>
          <a:ln w="38100" cap="rnd">
            <a:solidFill>
              <a:srgbClr val="7A4FC4"/>
            </a:solidFill>
          </a:ln>
        </p:spPr>
      </p:cxnSp>
      <p:sp>
        <p:nvSpPr>
          <p:cNvPr id="56" name="Shape 56"/>
          <p:cNvSpPr txBox="1"/>
          <p:nvPr/>
        </p:nvSpPr>
        <p:spPr>
          <a:xfrm>
            <a:off x="6823558" y="221538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⅔f(x)</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3" presetID="22" presetClass="entr" presetSubtype="8" fill="hold"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wipe(left)">
                                      <p:cBhvr>
                                        <p:cTn id="32" dur="700"/>
                                        <p:tgtEl>
                                          <p:spTgt spid="53"/>
                                        </p:tgtEl>
                                      </p:cBhvr>
                                    </p:animEffect>
                                  </p:childTnLst>
                                </p:cTn>
                              </p:par>
                              <p:par>
                                <p:cTn id="36" presetID="22" presetClass="entr" presetSubtype="8"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wipe(left)">
                                      <p:cBhvr>
                                        <p:cTn id="35" dur="700"/>
                                        <p:tgtEl>
                                          <p:spTgt spid="54"/>
                                        </p:tgtEl>
                                      </p:cBhvr>
                                    </p:animEffect>
                                  </p:childTnLst>
                                </p:cTn>
                              </p:par>
                            </p:childTnLst>
                          </p:cTn>
                        </p:par>
                      </p:childTnLst>
                    </p:cTn>
                  </p:par>
                  <p:par>
                    <p:cTn id="45" fill="hold">
                      <p:stCondLst>
                        <p:cond delay="indefinite"/>
                      </p:stCondLst>
                      <p:childTnLst>
                        <p:par>
                          <p:cTn id="46"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700"/>
                                        <p:tgtEl>
                                          <p:spTgt spid="55"/>
                                        </p:tgtEl>
                                      </p:cBhvr>
                                    </p:animEffect>
                                  </p:childTnLst>
                                </p:cTn>
                              </p:par>
                              <p:par>
                                <p:cTn id="44" presetID="22" presetClass="entr" presetSubtype="8"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wipe(left)">
                                      <p:cBhvr>
                                        <p:cTn id="43" dur="7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Translations vs. dilations</a:t>
            </a:r>
            <a:endParaRPr lang="en-US" sz="3450" dirty="0"/>
          </a:p>
        </p:txBody>
      </p:sp>
      <p:sp>
        <p:nvSpPr>
          <p:cNvPr id="6" name="Shape 6"/>
          <p:cNvSpPr txBox="1"/>
          <p:nvPr/>
        </p:nvSpPr>
        <p:spPr>
          <a:xfrm>
            <a:off x="685800"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Translation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d</a:t>
            </a:r>
            <a:endParaRPr lang="en-US" sz="2100" dirty="0"/>
          </a:p>
        </p:txBody>
      </p:sp>
      <p:sp>
        <p:nvSpPr>
          <p:cNvPr id="5" name="Shape 5"/>
          <p:cNvSpPr txBox="1"/>
          <p:nvPr/>
        </p:nvSpPr>
        <p:spPr>
          <a:xfrm>
            <a:off x="895350"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Moves the line up or down. Same slope; new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Parallel lines.</a:t>
            </a:r>
            <a:endParaRPr lang="en-US" sz="1575" dirty="0"/>
          </a:p>
        </p:txBody>
      </p:sp>
      <p:sp>
        <p:nvSpPr>
          <p:cNvPr id="9" name="Shape 9"/>
          <p:cNvSpPr txBox="1"/>
          <p:nvPr/>
        </p:nvSpPr>
        <p:spPr>
          <a:xfrm>
            <a:off x="6286348"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Dilation </a:t>
            </a:r>
            <a:r>
              <a:rPr lang="en-US" sz="2100" dirty="0" b="1" i="1">
                <a:solidFill>
                  <a:srgbClr val="16171D"/>
                </a:solidFill>
                <a:latin typeface="Cambria"/>
                <a:cs typeface="Cambria"/>
              </a:rPr>
              <a:t xml:space="preserve">a</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8" name="Shape 8"/>
          <p:cNvSpPr txBox="1"/>
          <p:nvPr/>
        </p:nvSpPr>
        <p:spPr>
          <a:xfrm>
            <a:off x="6495898"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Stretches, compresses or reflects. New slope; 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stays (0, 0).</a:t>
            </a:r>
            <a:endParaRPr lang="en-US" sz="1575" dirty="0"/>
          </a:p>
        </p:txBody>
      </p:sp>
      <p:sp>
        <p:nvSpPr>
          <p:cNvPr id="10" name="Shape 10"/>
          <p:cNvSpPr txBox="1"/>
          <p:nvPr/>
        </p:nvSpPr>
        <p:spPr>
          <a:xfrm>
            <a:off x="685800" y="31379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line through a point: keep the slope, then find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with the point.</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2</a:t>
            </a:r>
            <a:endParaRPr lang="en-US" sz="3450" dirty="0"/>
          </a:p>
        </p:txBody>
      </p:sp>
      <p:sp>
        <p:nvSpPr>
          <p:cNvPr id="6" name="Shape 6"/>
          <p:cNvSpPr txBox="1"/>
          <p:nvPr/>
        </p:nvSpPr>
        <p:spPr>
          <a:xfrm>
            <a:off x="685800" y="1618488"/>
            <a:ext cx="3492398" cy="21480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Parallel line through a point</a:t>
            </a:r>
            <a:endParaRPr lang="en-US" sz="2100" dirty="0"/>
          </a:p>
        </p:txBody>
      </p:sp>
      <p:sp>
        <p:nvSpPr>
          <p:cNvPr id="5" name="Shape 5"/>
          <p:cNvSpPr txBox="1"/>
          <p:nvPr/>
        </p:nvSpPr>
        <p:spPr>
          <a:xfrm>
            <a:off x="895350" y="2580132"/>
            <a:ext cx="3073298" cy="101498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Keep the slope.</a:t>
            </a:r>
            <a:br>
              <a:rPr lang="en-US" sz="1575" dirty="0">
                <a:solidFill>
                  <a:srgbClr val="16171D"/>
                </a:solidFill>
                <a:latin typeface="Segoe UI"/>
                <a:cs typeface="Segoe UI"/>
              </a:rPr>
            </a:br>
            <a:r>
              <a:rPr lang="en-US" sz="1575" dirty="0">
                <a:solidFill>
                  <a:srgbClr val="16171D"/>
                </a:solidFill>
                <a:latin typeface="Segoe UI"/>
                <a:cs typeface="Segoe UI"/>
              </a:rPr>
              <a:t xml:space="preserve">2. Put the point into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mx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br>
              <a:rPr lang="en-US" sz="1575" dirty="0">
                <a:solidFill>
                  <a:srgbClr val="16171D"/>
                </a:solidFill>
                <a:latin typeface="Segoe UI"/>
                <a:cs typeface="Segoe UI"/>
              </a:rPr>
            </a:br>
            <a:r>
              <a:rPr lang="en-US" sz="1575" dirty="0">
                <a:solidFill>
                  <a:srgbClr val="16171D"/>
                </a:solidFill>
                <a:latin typeface="Segoe UI"/>
                <a:cs typeface="Segoe UI"/>
              </a:rPr>
              <a:t xml:space="preserve">3. Solve for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4349648" y="1618488"/>
            <a:ext cx="3492398" cy="21480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Dilation</a:t>
            </a:r>
            <a:endParaRPr lang="en-US" sz="2100" dirty="0"/>
          </a:p>
        </p:txBody>
      </p:sp>
      <p:sp>
        <p:nvSpPr>
          <p:cNvPr id="8" name="Shape 8"/>
          <p:cNvSpPr txBox="1"/>
          <p:nvPr/>
        </p:nvSpPr>
        <p:spPr>
          <a:xfrm>
            <a:off x="4559198"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a</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9" name="Shape 9"/>
          <p:cNvSpPr txBox="1"/>
          <p:nvPr/>
        </p:nvSpPr>
        <p:spPr>
          <a:xfrm>
            <a:off x="4559198" y="276453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&gt; 1 stretches. 0 &lt;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&lt; 1 compresses.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&lt; 0 reflects.</a:t>
            </a:r>
            <a:endParaRPr lang="en-US" sz="1575" dirty="0"/>
          </a:p>
        </p:txBody>
      </p:sp>
      <p:sp>
        <p:nvSpPr>
          <p:cNvPr id="13" name="Shape 13"/>
          <p:cNvSpPr txBox="1"/>
          <p:nvPr/>
        </p:nvSpPr>
        <p:spPr>
          <a:xfrm>
            <a:off x="8013497" y="1618488"/>
            <a:ext cx="3492398" cy="21480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For </a:t>
            </a: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x</a:t>
            </a:r>
            <a:endParaRPr lang="en-US" sz="2100" dirty="0"/>
          </a:p>
        </p:txBody>
      </p:sp>
      <p:sp>
        <p:nvSpPr>
          <p:cNvPr id="12" name="Shape 12"/>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ax</a:t>
            </a:r>
            <a:r>
              <a:rPr lang="en-US" sz="1575" dirty="0">
                <a:solidFill>
                  <a:srgbClr val="16171D"/>
                </a:solidFill>
                <a:latin typeface="Segoe UI"/>
                <a:cs typeface="Segoe UI"/>
              </a:rPr>
              <a:t xml:space="preserve">: the slope becomes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685800" y="39380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Tuesday, October 20</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Wednesday, October 21. Start at the next slide, “Start: Wednesday, October 21.”</a:t>
            </a:r>
            <a:endParaRPr lang="en-US" sz="22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Day 3 of 3 · Start here</a:t>
            </a:r>
            <a:endParaRPr lang="en-US" sz="1200" dirty="0"/>
          </a:p>
        </p:txBody>
      </p:sp>
      <p:sp>
        <p:nvSpPr>
          <p:cNvPr id="3" name="Shape 3"/>
          <p:cNvSpPr txBox="1"/>
          <p:nvPr/>
        </p:nvSpPr>
        <p:spPr>
          <a:xfrm>
            <a:off x="685800" y="1323594"/>
            <a:ext cx="10820095" cy="92354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Start: Wednesday, October 21</a:t>
            </a:r>
            <a:endParaRPr lang="en-US" sz="5700" dirty="0"/>
          </a:p>
        </p:txBody>
      </p:sp>
      <p:sp>
        <p:nvSpPr>
          <p:cNvPr id="4" name="Shape 4"/>
          <p:cNvSpPr txBox="1"/>
          <p:nvPr/>
        </p:nvSpPr>
        <p:spPr>
          <a:xfrm>
            <a:off x="685800" y="241858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(Standard form and intercepts) → Lesson 1, Day 3.</a:t>
            </a:r>
            <a:endParaRPr lang="en-US" sz="2100" dirty="0"/>
          </a:p>
        </p:txBody>
      </p:sp>
      <p:sp>
        <p:nvSpPr>
          <p:cNvPr id="5" name="Shape 5"/>
          <p:cNvSpPr txBox="1"/>
          <p:nvPr/>
        </p:nvSpPr>
        <p:spPr>
          <a:xfrm>
            <a:off x="685800" y="3284982"/>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transform a function? What effects do different transformations have on the characteristics of linear functions?</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 · Wed, Oct 21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What is the slope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277)</a:t>
            </a:r>
            <a:endParaRPr lang="en-US" sz="1950" dirty="0"/>
          </a:p>
        </p:txBody>
      </p:sp>
      <p:sp>
        <p:nvSpPr>
          <p:cNvPr id="5" name="Shape 5"/>
          <p:cNvSpPr txBox="1"/>
          <p:nvPr/>
        </p:nvSpPr>
        <p:spPr>
          <a:xfrm>
            <a:off x="685800"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How is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related to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278)</a:t>
            </a:r>
            <a:endParaRPr lang="en-US" sz="1950" dirty="0"/>
          </a:p>
        </p:txBody>
      </p:sp>
      <p:sp>
        <p:nvSpPr>
          <p:cNvPr id="7" name="Shape 7"/>
          <p:cNvSpPr txBox="1"/>
          <p:nvPr/>
        </p:nvSpPr>
        <p:spPr>
          <a:xfrm>
            <a:off x="685800" y="4026408"/>
            <a:ext cx="5143348" cy="122758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Stretched vertically by 2 and reflected across the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-axis</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Which function is a vertical compression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278)</a:t>
            </a:r>
            <a:endParaRPr lang="en-US" sz="1950" dirty="0"/>
          </a:p>
        </p:txBody>
      </p:sp>
      <p:sp>
        <p:nvSpPr>
          <p:cNvPr id="9" name="Shape 9"/>
          <p:cNvSpPr txBox="1"/>
          <p:nvPr/>
        </p:nvSpPr>
        <p:spPr>
          <a:xfrm>
            <a:off x="6362548" y="245821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½</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a:solidFill>
                  <a:srgbClr val="16171D"/>
                </a:solidFill>
                <a:latin typeface="Segoe UI"/>
                <a:cs typeface="Segoe UI"/>
              </a:rPr>
              <a:t xml:space="preserve">. What is the </a:t>
            </a:r>
            <a:r>
              <a:rPr lang="en-US" sz="1950" dirty="0" i="1">
                <a:solidFill>
                  <a:srgbClr val="16171D"/>
                </a:solidFill>
                <a:latin typeface="Cambria"/>
                <a:cs typeface="Cambria"/>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280)</a:t>
            </a:r>
            <a:endParaRPr lang="en-US" sz="1950" dirty="0"/>
          </a:p>
        </p:txBody>
      </p:sp>
      <p:sp>
        <p:nvSpPr>
          <p:cNvPr id="11" name="Shape 11"/>
          <p:cNvSpPr txBox="1"/>
          <p:nvPr/>
        </p:nvSpPr>
        <p:spPr>
          <a:xfrm>
            <a:off x="6362548" y="402640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Wed, Oct 21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Standard form and intercepts</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Graphing with the intercepts is a fast check on the transformed graphs in Activity 1.4.</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5.3 · Standard Form of a Linear Equation · SE p. 226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Tickets for the school play</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Student tickets cost </a:t>
            </a: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adult tickets cost </a:t>
            </a:r>
            <a:r>
              <a:rPr lang="en-US" sz="1575" dirty="0" b="1">
                <a:solidFill>
                  <a:srgbClr val="16171D"/>
                </a:solidFill>
                <a:latin typeface="Segoe UI"/>
                <a:cs typeface="Segoe UI"/>
              </a:rPr>
              <a:t xml:space="preserve">$8</a:t>
            </a:r>
            <a:r>
              <a:rPr lang="en-US" sz="1575" dirty="0">
                <a:solidFill>
                  <a:srgbClr val="16171D"/>
                </a:solidFill>
                <a:latin typeface="Segoe UI"/>
                <a:cs typeface="Segoe UI"/>
              </a:rPr>
              <a:t xml:space="preserve">. Opening night collected </a:t>
            </a:r>
            <a:r>
              <a:rPr lang="en-US" sz="1575" dirty="0" b="1">
                <a:solidFill>
                  <a:srgbClr val="16171D"/>
                </a:solidFill>
                <a:latin typeface="Segoe UI"/>
                <a:cs typeface="Segoe UI"/>
              </a:rPr>
              <a:t xml:space="preserve">$1600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student tickets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adult tickets.</a:t>
            </a:r>
            <a:endParaRPr lang="en-US" sz="1575" dirty="0"/>
          </a:p>
        </p:txBody>
      </p:sp>
      <p:sp>
        <p:nvSpPr>
          <p:cNvPr id="5" name="Shape 5"/>
          <p:cNvSpPr txBox="1"/>
          <p:nvPr/>
        </p:nvSpPr>
        <p:spPr>
          <a:xfrm>
            <a:off x="685800" y="2324862"/>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+ 8</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1600</a:t>
            </a:r>
            <a:endParaRPr lang="en-US" sz="2850" dirty="0"/>
          </a:p>
        </p:txBody>
      </p:sp>
      <p:sp>
        <p:nvSpPr>
          <p:cNvPr id="9" name="Shape 9"/>
          <p:cNvSpPr txBox="1"/>
          <p:nvPr/>
        </p:nvSpPr>
        <p:spPr>
          <a:xfrm>
            <a:off x="685800" y="2909316"/>
            <a:ext cx="52385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6" name="Shape 6"/>
          <p:cNvSpPr txBox="1"/>
          <p:nvPr/>
        </p:nvSpPr>
        <p:spPr>
          <a:xfrm>
            <a:off x="895350" y="3080766"/>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Key term: standard form</a:t>
            </a:r>
            <a:endParaRPr lang="en-US" sz="2100" dirty="0"/>
          </a:p>
        </p:txBody>
      </p:sp>
      <p:sp>
        <p:nvSpPr>
          <p:cNvPr id="7" name="Shape 7"/>
          <p:cNvSpPr txBox="1"/>
          <p:nvPr/>
        </p:nvSpPr>
        <p:spPr>
          <a:xfrm>
            <a:off x="895350" y="3550920"/>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Ax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By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C</a:t>
            </a:r>
            <a:endParaRPr lang="en-US" sz="2325" dirty="0"/>
          </a:p>
        </p:txBody>
      </p:sp>
      <p:sp>
        <p:nvSpPr>
          <p:cNvPr id="8" name="Shape 8"/>
          <p:cNvSpPr txBox="1"/>
          <p:nvPr/>
        </p:nvSpPr>
        <p:spPr>
          <a:xfrm>
            <a:off x="895350" y="4055364"/>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are integers, and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are not both zero.</a:t>
            </a:r>
            <a:endParaRPr lang="en-US" sz="1575" dirty="0"/>
          </a:p>
        </p:txBody>
      </p:sp>
      <p:sp>
        <p:nvSpPr>
          <p:cNvPr id="10" name="Shape 10"/>
          <p:cNvSpPr txBox="1"/>
          <p:nvPr/>
        </p:nvSpPr>
        <p:spPr>
          <a:xfrm>
            <a:off x="6267298" y="232486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money from student tickets ($5 times the number sold)</a:t>
            </a:r>
            <a:endParaRPr lang="en-US" sz="1575" dirty="0"/>
          </a:p>
        </p:txBody>
      </p:sp>
      <p:sp>
        <p:nvSpPr>
          <p:cNvPr id="11" name="Shape 11"/>
          <p:cNvSpPr txBox="1"/>
          <p:nvPr/>
        </p:nvSpPr>
        <p:spPr>
          <a:xfrm>
            <a:off x="6267298" y="2955036"/>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money from adult tickets ($8 times the number sold)</a:t>
            </a:r>
            <a:endParaRPr lang="en-US" sz="1575" dirty="0"/>
          </a:p>
        </p:txBody>
      </p:sp>
      <p:sp>
        <p:nvSpPr>
          <p:cNvPr id="12" name="Shape 12"/>
          <p:cNvSpPr txBox="1"/>
          <p:nvPr/>
        </p:nvSpPr>
        <p:spPr>
          <a:xfrm>
            <a:off x="6267298" y="3585210"/>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1600</a:t>
            </a:r>
            <a:r>
              <a:rPr lang="en-US" sz="1575" dirty="0">
                <a:solidFill>
                  <a:srgbClr val="16171D"/>
                </a:solidFill>
                <a:latin typeface="Segoe UI"/>
                <a:cs typeface="Segoe UI"/>
              </a:rPr>
              <a:t xml:space="preserve">: the total money collected</a:t>
            </a:r>
            <a:endParaRPr lang="en-US" sz="1575" dirty="0"/>
          </a:p>
        </p:txBody>
      </p:sp>
      <p:sp>
        <p:nvSpPr>
          <p:cNvPr id="13" name="Shape 13"/>
          <p:cNvSpPr txBox="1"/>
          <p:nvPr/>
        </p:nvSpPr>
        <p:spPr>
          <a:xfrm>
            <a:off x="6267298" y="3975354"/>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Either variable could be independent. The number of student tickets could depend on the number of adult tickets, or the other way around.</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500"/>
                                        <p:tgtEl>
                                          <p:spTgt spid="9"/>
                                        </p:tgtEl>
                                      </p:cBhvr>
                                    </p:animEffect>
                                    <p:anim calcmode="lin" valueType="num">
                                      <p:cBhvr>
                                        <p:cTn id="5" dur="500" fill="hold"/>
                                        <p:tgtEl>
                                          <p:spTgt spid="9"/>
                                        </p:tgtEl>
                                        <p:attrNameLst>
                                          <p:attrName>ppt_x</p:attrName>
                                        </p:attrNameLst>
                                      </p:cBhvr>
                                      <p:tavLst>
                                        <p:tav tm="0">
                                          <p:val>
                                            <p:strVal val="#ppt_x"/>
                                          </p:val>
                                        </p:tav>
                                        <p:tav tm="100000">
                                          <p:val>
                                            <p:strVal val="#ppt_x"/>
                                          </p:val>
                                        </p:tav>
                                      </p:tavLst>
                                    </p:anim>
                                    <p:anim calcmode="lin" valueType="num">
                                      <p:cBhvr>
                                        <p:cTn id="6" dur="500" fill="hold"/>
                                        <p:tgtEl>
                                          <p:spTgt spid="9"/>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anim calcmode="lin" valueType="num">
                                      <p:cBhvr>
                                        <p:cTn id="27" dur="500" fill="hold"/>
                                        <p:tgtEl>
                                          <p:spTgt spid="10"/>
                                        </p:tgtEl>
                                        <p:attrNameLst>
                                          <p:attrName>ppt_x</p:attrName>
                                        </p:attrNameLst>
                                      </p:cBhvr>
                                      <p:tavLst>
                                        <p:tav tm="0">
                                          <p:val>
                                            <p:strVal val="#ppt_x"/>
                                          </p:val>
                                        </p:tav>
                                        <p:tav tm="100000">
                                          <p:val>
                                            <p:strVal val="#ppt_x"/>
                                          </p:val>
                                        </p:tav>
                                      </p:tavLst>
                                    </p:anim>
                                    <p:anim calcmode="lin" valueType="num">
                                      <p:cBhvr>
                                        <p:cTn id="28"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p:cTn id="34" dur="500" fill="hold"/>
                                        <p:tgtEl>
                                          <p:spTgt spid="11"/>
                                        </p:tgtEl>
                                        <p:attrNameLst>
                                          <p:attrName>ppt_x</p:attrName>
                                        </p:attrNameLst>
                                      </p:cBhvr>
                                      <p:tavLst>
                                        <p:tav tm="0">
                                          <p:val>
                                            <p:strVal val="#ppt_x"/>
                                          </p:val>
                                        </p:tav>
                                        <p:tav tm="100000">
                                          <p:val>
                                            <p:strVal val="#ppt_x"/>
                                          </p:val>
                                        </p:tav>
                                      </p:tavLst>
                                    </p:anim>
                                    <p:anim calcmode="lin" valueType="num">
                                      <p:cBhvr>
                                        <p:cTn id="35"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p:cTn id="48" dur="500" fill="hold"/>
                                        <p:tgtEl>
                                          <p:spTgt spid="13"/>
                                        </p:tgtEl>
                                        <p:attrNameLst>
                                          <p:attrName>ppt_x</p:attrName>
                                        </p:attrNameLst>
                                      </p:cBhvr>
                                      <p:tavLst>
                                        <p:tav tm="0">
                                          <p:val>
                                            <p:strVal val="#ppt_x"/>
                                          </p:val>
                                        </p:tav>
                                        <p:tav tm="100000">
                                          <p:val>
                                            <p:strVal val="#ppt_x"/>
                                          </p:val>
                                        </p:tav>
                                      </p:tavLst>
                                    </p:anim>
                                    <p:anim calcmode="lin" valueType="num">
                                      <p:cBhvr>
                                        <p:cTn id="4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5.3 · Questions 3–5 · SE p. 227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using the intercepts</a:t>
            </a:r>
            <a:endParaRPr lang="en-US" sz="3450" dirty="0"/>
          </a:p>
        </p:txBody>
      </p:sp>
      <p:sp>
        <p:nvSpPr>
          <p:cNvPr id="4" name="Shape 4"/>
          <p:cNvSpPr txBox="1"/>
          <p:nvPr/>
        </p:nvSpPr>
        <p:spPr>
          <a:xfrm>
            <a:off x="685800" y="1618488"/>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Key term:</a:t>
            </a:r>
            <a:r>
              <a:rPr lang="en-US" sz="1575" dirty="0">
                <a:solidFill>
                  <a:srgbClr val="16171D"/>
                </a:solidFill>
                <a:latin typeface="Segoe UI"/>
                <a:cs typeface="Segoe UI"/>
              </a:rPr>
              <a:t xml:space="preserve">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is where a line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To find it, substitute 0 for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39137"/>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320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(320, 0)</a:t>
            </a:r>
            <a:r>
              <a:rPr lang="en-US" sz="1575" dirty="0">
                <a:solidFill>
                  <a:srgbClr val="16171D"/>
                </a:solidFill>
                <a:latin typeface="Segoe UI"/>
                <a:cs typeface="Segoe UI"/>
              </a:rPr>
              <a:t xml:space="preserve">. 320 student tickets and no adult tickets.</a:t>
            </a:r>
            <a:endParaRPr lang="en-US" sz="1575" dirty="0"/>
          </a:p>
        </p:txBody>
      </p:sp>
      <p:sp>
        <p:nvSpPr>
          <p:cNvPr id="6" name="Shape 6"/>
          <p:cNvSpPr txBox="1"/>
          <p:nvPr/>
        </p:nvSpPr>
        <p:spPr>
          <a:xfrm>
            <a:off x="685800" y="2859786"/>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200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(0, 200)</a:t>
            </a:r>
            <a:r>
              <a:rPr lang="en-US" sz="1575" dirty="0">
                <a:solidFill>
                  <a:srgbClr val="16171D"/>
                </a:solidFill>
                <a:latin typeface="Segoe UI"/>
                <a:cs typeface="Segoe UI"/>
              </a:rPr>
              <a:t xml:space="preserve">. 200 adult tickets and no student tickets.</a:t>
            </a:r>
            <a:endParaRPr lang="en-US" sz="1575" dirty="0"/>
          </a:p>
        </p:txBody>
      </p:sp>
      <p:sp>
        <p:nvSpPr>
          <p:cNvPr id="7" name="Shape 7"/>
          <p:cNvSpPr txBox="1"/>
          <p:nvPr/>
        </p:nvSpPr>
        <p:spPr>
          <a:xfrm>
            <a:off x="685800" y="3480435"/>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Slope </a:t>
            </a:r>
            <a:r>
              <a:rPr lang="en-US" sz="1575" dirty="0" b="1">
                <a:solidFill>
                  <a:srgbClr val="C9561F"/>
                </a:solidFill>
                <a:latin typeface="Cambria"/>
                <a:cs typeface="Cambria"/>
              </a:rPr>
              <a:t xml:space="preserve">= </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200 − 0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0 − 320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 =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8</a:t>
            </a:r>
            <a:r>
              <a:rPr lang="en-US" sz="1575" dirty="0">
                <a:solidFill>
                  <a:srgbClr val="16171D"/>
                </a:solidFill>
                <a:latin typeface="Segoe UI"/>
                <a:cs typeface="Segoe UI"/>
              </a:rPr>
              <a:t xml:space="preserve">. For every 8 more student tickets, 5 fewer adult tickets.</a:t>
            </a:r>
            <a:endParaRPr lang="en-US" sz="1575" dirty="0"/>
          </a:p>
        </p:txBody>
      </p:sp>
      <p:sp>
        <p:nvSpPr>
          <p:cNvPr id="8" name="Shape 8"/>
          <p:cNvSpPr/>
          <p:nvPr/>
        </p:nvSpPr>
        <p:spPr>
          <a:xfrm>
            <a:off x="7695895" y="1618488"/>
            <a:ext cx="3810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019745" y="1732788"/>
            <a:ext cx="0" cy="3448050"/>
          </a:xfrm>
          <a:prstGeom prst="line">
            <a:avLst/>
          </a:prstGeom>
          <a:ln w="9525" cap="flat">
            <a:solidFill>
              <a:srgbClr val="E6E8F2"/>
            </a:solidFill>
          </a:ln>
        </p:spPr>
      </p:cxnSp>
      <p:cxnSp>
        <p:nvCxnSpPr>
          <p:cNvPr id="10" name="Line 10"/>
          <p:cNvCxnSpPr/>
          <p:nvPr/>
        </p:nvCxnSpPr>
        <p:spPr>
          <a:xfrm>
            <a:off x="8394395" y="1732788"/>
            <a:ext cx="0" cy="3448050"/>
          </a:xfrm>
          <a:prstGeom prst="line">
            <a:avLst/>
          </a:prstGeom>
          <a:ln w="9525" cap="flat">
            <a:solidFill>
              <a:srgbClr val="E6E8F2"/>
            </a:solidFill>
          </a:ln>
        </p:spPr>
      </p:cxnSp>
      <p:cxnSp>
        <p:nvCxnSpPr>
          <p:cNvPr id="11" name="Line 11"/>
          <p:cNvCxnSpPr/>
          <p:nvPr/>
        </p:nvCxnSpPr>
        <p:spPr>
          <a:xfrm>
            <a:off x="8769045" y="1732788"/>
            <a:ext cx="0" cy="3448050"/>
          </a:xfrm>
          <a:prstGeom prst="line">
            <a:avLst/>
          </a:prstGeom>
          <a:ln w="9525" cap="flat">
            <a:solidFill>
              <a:srgbClr val="E6E8F2"/>
            </a:solidFill>
          </a:ln>
        </p:spPr>
      </p:cxnSp>
      <p:cxnSp>
        <p:nvCxnSpPr>
          <p:cNvPr id="12" name="Line 12"/>
          <p:cNvCxnSpPr/>
          <p:nvPr/>
        </p:nvCxnSpPr>
        <p:spPr>
          <a:xfrm>
            <a:off x="9143695" y="1732788"/>
            <a:ext cx="0" cy="3448050"/>
          </a:xfrm>
          <a:prstGeom prst="line">
            <a:avLst/>
          </a:prstGeom>
          <a:ln w="9525" cap="flat">
            <a:solidFill>
              <a:srgbClr val="E6E8F2"/>
            </a:solidFill>
          </a:ln>
        </p:spPr>
      </p:cxnSp>
      <p:cxnSp>
        <p:nvCxnSpPr>
          <p:cNvPr id="13" name="Line 13"/>
          <p:cNvCxnSpPr/>
          <p:nvPr/>
        </p:nvCxnSpPr>
        <p:spPr>
          <a:xfrm>
            <a:off x="9518345" y="1732788"/>
            <a:ext cx="0" cy="3448050"/>
          </a:xfrm>
          <a:prstGeom prst="line">
            <a:avLst/>
          </a:prstGeom>
          <a:ln w="9525" cap="flat">
            <a:solidFill>
              <a:srgbClr val="E6E8F2"/>
            </a:solidFill>
          </a:ln>
        </p:spPr>
      </p:cxnSp>
      <p:cxnSp>
        <p:nvCxnSpPr>
          <p:cNvPr id="14" name="Line 14"/>
          <p:cNvCxnSpPr/>
          <p:nvPr/>
        </p:nvCxnSpPr>
        <p:spPr>
          <a:xfrm>
            <a:off x="9892995" y="1732788"/>
            <a:ext cx="0" cy="3448050"/>
          </a:xfrm>
          <a:prstGeom prst="line">
            <a:avLst/>
          </a:prstGeom>
          <a:ln w="9525" cap="flat">
            <a:solidFill>
              <a:srgbClr val="E6E8F2"/>
            </a:solidFill>
          </a:ln>
        </p:spPr>
      </p:cxnSp>
      <p:cxnSp>
        <p:nvCxnSpPr>
          <p:cNvPr id="15" name="Line 15"/>
          <p:cNvCxnSpPr/>
          <p:nvPr/>
        </p:nvCxnSpPr>
        <p:spPr>
          <a:xfrm>
            <a:off x="10267645" y="1732788"/>
            <a:ext cx="0" cy="3448050"/>
          </a:xfrm>
          <a:prstGeom prst="line">
            <a:avLst/>
          </a:prstGeom>
          <a:ln w="9525" cap="flat">
            <a:solidFill>
              <a:srgbClr val="E6E8F2"/>
            </a:solidFill>
          </a:ln>
        </p:spPr>
      </p:cxnSp>
      <p:cxnSp>
        <p:nvCxnSpPr>
          <p:cNvPr id="16" name="Line 16"/>
          <p:cNvCxnSpPr/>
          <p:nvPr/>
        </p:nvCxnSpPr>
        <p:spPr>
          <a:xfrm>
            <a:off x="10642295" y="1732788"/>
            <a:ext cx="0" cy="3448050"/>
          </a:xfrm>
          <a:prstGeom prst="line">
            <a:avLst/>
          </a:prstGeom>
          <a:ln w="9525" cap="flat">
            <a:solidFill>
              <a:srgbClr val="E6E8F2"/>
            </a:solidFill>
          </a:ln>
        </p:spPr>
      </p:cxnSp>
      <p:cxnSp>
        <p:nvCxnSpPr>
          <p:cNvPr id="17" name="Line 17"/>
          <p:cNvCxnSpPr/>
          <p:nvPr/>
        </p:nvCxnSpPr>
        <p:spPr>
          <a:xfrm>
            <a:off x="11016945" y="1732788"/>
            <a:ext cx="0" cy="3448050"/>
          </a:xfrm>
          <a:prstGeom prst="line">
            <a:avLst/>
          </a:prstGeom>
          <a:ln w="9525" cap="flat">
            <a:solidFill>
              <a:srgbClr val="E6E8F2"/>
            </a:solidFill>
          </a:ln>
        </p:spPr>
      </p:cxnSp>
      <p:cxnSp>
        <p:nvCxnSpPr>
          <p:cNvPr id="18" name="Line 18"/>
          <p:cNvCxnSpPr/>
          <p:nvPr/>
        </p:nvCxnSpPr>
        <p:spPr>
          <a:xfrm>
            <a:off x="11391595" y="1732788"/>
            <a:ext cx="0" cy="3448050"/>
          </a:xfrm>
          <a:prstGeom prst="line">
            <a:avLst/>
          </a:prstGeom>
          <a:ln w="9525" cap="flat">
            <a:solidFill>
              <a:srgbClr val="E6E8F2"/>
            </a:solidFill>
          </a:ln>
        </p:spPr>
      </p:cxnSp>
      <p:cxnSp>
        <p:nvCxnSpPr>
          <p:cNvPr id="19" name="Line 19"/>
          <p:cNvCxnSpPr/>
          <p:nvPr/>
        </p:nvCxnSpPr>
        <p:spPr>
          <a:xfrm>
            <a:off x="8019745" y="5180838"/>
            <a:ext cx="3371850" cy="0"/>
          </a:xfrm>
          <a:prstGeom prst="line">
            <a:avLst/>
          </a:prstGeom>
          <a:ln w="9525" cap="flat">
            <a:solidFill>
              <a:srgbClr val="E6E8F2"/>
            </a:solidFill>
          </a:ln>
        </p:spPr>
      </p:cxnSp>
      <p:cxnSp>
        <p:nvCxnSpPr>
          <p:cNvPr id="20" name="Line 20"/>
          <p:cNvCxnSpPr/>
          <p:nvPr/>
        </p:nvCxnSpPr>
        <p:spPr>
          <a:xfrm>
            <a:off x="8019745" y="4797721"/>
            <a:ext cx="3371850" cy="0"/>
          </a:xfrm>
          <a:prstGeom prst="line">
            <a:avLst/>
          </a:prstGeom>
          <a:ln w="9525" cap="flat">
            <a:solidFill>
              <a:srgbClr val="E6E8F2"/>
            </a:solidFill>
          </a:ln>
        </p:spPr>
      </p:cxnSp>
      <p:cxnSp>
        <p:nvCxnSpPr>
          <p:cNvPr id="21" name="Line 21"/>
          <p:cNvCxnSpPr/>
          <p:nvPr/>
        </p:nvCxnSpPr>
        <p:spPr>
          <a:xfrm>
            <a:off x="8019745" y="4414605"/>
            <a:ext cx="3371850" cy="0"/>
          </a:xfrm>
          <a:prstGeom prst="line">
            <a:avLst/>
          </a:prstGeom>
          <a:ln w="9525" cap="flat">
            <a:solidFill>
              <a:srgbClr val="E6E8F2"/>
            </a:solidFill>
          </a:ln>
        </p:spPr>
      </p:cxnSp>
      <p:cxnSp>
        <p:nvCxnSpPr>
          <p:cNvPr id="22" name="Line 22"/>
          <p:cNvCxnSpPr/>
          <p:nvPr/>
        </p:nvCxnSpPr>
        <p:spPr>
          <a:xfrm>
            <a:off x="8019745" y="4031488"/>
            <a:ext cx="3371850" cy="0"/>
          </a:xfrm>
          <a:prstGeom prst="line">
            <a:avLst/>
          </a:prstGeom>
          <a:ln w="9525" cap="flat">
            <a:solidFill>
              <a:srgbClr val="E6E8F2"/>
            </a:solidFill>
          </a:ln>
        </p:spPr>
      </p:cxnSp>
      <p:cxnSp>
        <p:nvCxnSpPr>
          <p:cNvPr id="23" name="Line 23"/>
          <p:cNvCxnSpPr/>
          <p:nvPr/>
        </p:nvCxnSpPr>
        <p:spPr>
          <a:xfrm>
            <a:off x="8019745" y="3648371"/>
            <a:ext cx="3371850" cy="0"/>
          </a:xfrm>
          <a:prstGeom prst="line">
            <a:avLst/>
          </a:prstGeom>
          <a:ln w="9525" cap="flat">
            <a:solidFill>
              <a:srgbClr val="E6E8F2"/>
            </a:solidFill>
          </a:ln>
        </p:spPr>
      </p:cxnSp>
      <p:cxnSp>
        <p:nvCxnSpPr>
          <p:cNvPr id="24" name="Line 24"/>
          <p:cNvCxnSpPr/>
          <p:nvPr/>
        </p:nvCxnSpPr>
        <p:spPr>
          <a:xfrm>
            <a:off x="8019745" y="3265255"/>
            <a:ext cx="3371850" cy="0"/>
          </a:xfrm>
          <a:prstGeom prst="line">
            <a:avLst/>
          </a:prstGeom>
          <a:ln w="9525" cap="flat">
            <a:solidFill>
              <a:srgbClr val="E6E8F2"/>
            </a:solidFill>
          </a:ln>
        </p:spPr>
      </p:cxnSp>
      <p:cxnSp>
        <p:nvCxnSpPr>
          <p:cNvPr id="25" name="Line 25"/>
          <p:cNvCxnSpPr/>
          <p:nvPr/>
        </p:nvCxnSpPr>
        <p:spPr>
          <a:xfrm>
            <a:off x="8019745" y="2882138"/>
            <a:ext cx="3371850" cy="0"/>
          </a:xfrm>
          <a:prstGeom prst="line">
            <a:avLst/>
          </a:prstGeom>
          <a:ln w="9525" cap="flat">
            <a:solidFill>
              <a:srgbClr val="E6E8F2"/>
            </a:solidFill>
          </a:ln>
        </p:spPr>
      </p:cxnSp>
      <p:cxnSp>
        <p:nvCxnSpPr>
          <p:cNvPr id="26" name="Line 26"/>
          <p:cNvCxnSpPr/>
          <p:nvPr/>
        </p:nvCxnSpPr>
        <p:spPr>
          <a:xfrm>
            <a:off x="8019745" y="2499021"/>
            <a:ext cx="3371850" cy="0"/>
          </a:xfrm>
          <a:prstGeom prst="line">
            <a:avLst/>
          </a:prstGeom>
          <a:ln w="9525" cap="flat">
            <a:solidFill>
              <a:srgbClr val="E6E8F2"/>
            </a:solidFill>
          </a:ln>
        </p:spPr>
      </p:cxnSp>
      <p:cxnSp>
        <p:nvCxnSpPr>
          <p:cNvPr id="27" name="Line 27"/>
          <p:cNvCxnSpPr/>
          <p:nvPr/>
        </p:nvCxnSpPr>
        <p:spPr>
          <a:xfrm>
            <a:off x="8019745" y="2115905"/>
            <a:ext cx="3371850" cy="0"/>
          </a:xfrm>
          <a:prstGeom prst="line">
            <a:avLst/>
          </a:prstGeom>
          <a:ln w="9525" cap="flat">
            <a:solidFill>
              <a:srgbClr val="E6E8F2"/>
            </a:solidFill>
          </a:ln>
        </p:spPr>
      </p:cxnSp>
      <p:cxnSp>
        <p:nvCxnSpPr>
          <p:cNvPr id="28" name="Line 28"/>
          <p:cNvCxnSpPr/>
          <p:nvPr/>
        </p:nvCxnSpPr>
        <p:spPr>
          <a:xfrm>
            <a:off x="8019745" y="1732788"/>
            <a:ext cx="3371850" cy="0"/>
          </a:xfrm>
          <a:prstGeom prst="line">
            <a:avLst/>
          </a:prstGeom>
          <a:ln w="9525" cap="flat">
            <a:solidFill>
              <a:srgbClr val="E6E8F2"/>
            </a:solidFill>
          </a:ln>
        </p:spPr>
      </p:cxnSp>
      <p:cxnSp>
        <p:nvCxnSpPr>
          <p:cNvPr id="29" name="Line 29"/>
          <p:cNvCxnSpPr/>
          <p:nvPr/>
        </p:nvCxnSpPr>
        <p:spPr>
          <a:xfrm>
            <a:off x="8019745" y="1732788"/>
            <a:ext cx="0" cy="3448050"/>
          </a:xfrm>
          <a:prstGeom prst="line">
            <a:avLst/>
          </a:prstGeom>
          <a:ln w="19050" cap="flat">
            <a:solidFill>
              <a:srgbClr val="5F6272"/>
            </a:solidFill>
          </a:ln>
        </p:spPr>
      </p:cxnSp>
      <p:cxnSp>
        <p:nvCxnSpPr>
          <p:cNvPr id="30" name="Line 30"/>
          <p:cNvCxnSpPr/>
          <p:nvPr/>
        </p:nvCxnSpPr>
        <p:spPr>
          <a:xfrm>
            <a:off x="8019745" y="5180838"/>
            <a:ext cx="3371850" cy="0"/>
          </a:xfrm>
          <a:prstGeom prst="line">
            <a:avLst/>
          </a:prstGeom>
          <a:ln w="19050" cap="flat">
            <a:solidFill>
              <a:srgbClr val="5F6272"/>
            </a:solidFill>
          </a:ln>
        </p:spPr>
      </p:cxnSp>
      <p:sp>
        <p:nvSpPr>
          <p:cNvPr id="31" name="Shape 31"/>
          <p:cNvSpPr txBox="1"/>
          <p:nvPr/>
        </p:nvSpPr>
        <p:spPr>
          <a:xfrm>
            <a:off x="77454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84947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80</a:t>
            </a:r>
            <a:endParaRPr lang="en-US" sz="975" dirty="0"/>
          </a:p>
        </p:txBody>
      </p:sp>
      <p:sp>
        <p:nvSpPr>
          <p:cNvPr id="33" name="Shape 33"/>
          <p:cNvSpPr txBox="1"/>
          <p:nvPr/>
        </p:nvSpPr>
        <p:spPr>
          <a:xfrm>
            <a:off x="92440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160</a:t>
            </a:r>
            <a:endParaRPr lang="en-US" sz="975" dirty="0"/>
          </a:p>
        </p:txBody>
      </p:sp>
      <p:sp>
        <p:nvSpPr>
          <p:cNvPr id="34" name="Shape 34"/>
          <p:cNvSpPr txBox="1"/>
          <p:nvPr/>
        </p:nvSpPr>
        <p:spPr>
          <a:xfrm>
            <a:off x="99933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240</a:t>
            </a:r>
            <a:endParaRPr lang="en-US" sz="975" dirty="0"/>
          </a:p>
        </p:txBody>
      </p:sp>
      <p:sp>
        <p:nvSpPr>
          <p:cNvPr id="35" name="Shape 35"/>
          <p:cNvSpPr txBox="1"/>
          <p:nvPr/>
        </p:nvSpPr>
        <p:spPr>
          <a:xfrm>
            <a:off x="107426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320</a:t>
            </a:r>
            <a:endParaRPr lang="en-US" sz="975" dirty="0"/>
          </a:p>
        </p:txBody>
      </p:sp>
      <p:sp>
        <p:nvSpPr>
          <p:cNvPr id="36" name="Shape 36"/>
          <p:cNvSpPr txBox="1"/>
          <p:nvPr/>
        </p:nvSpPr>
        <p:spPr>
          <a:xfrm>
            <a:off x="7452817"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7" name="Shape 37"/>
          <p:cNvSpPr txBox="1"/>
          <p:nvPr/>
        </p:nvSpPr>
        <p:spPr>
          <a:xfrm>
            <a:off x="7452817" y="43231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38" name="Shape 38"/>
          <p:cNvSpPr txBox="1"/>
          <p:nvPr/>
        </p:nvSpPr>
        <p:spPr>
          <a:xfrm>
            <a:off x="7452817" y="35569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160</a:t>
            </a:r>
            <a:endParaRPr lang="en-US" sz="975" dirty="0"/>
          </a:p>
        </p:txBody>
      </p:sp>
      <p:sp>
        <p:nvSpPr>
          <p:cNvPr id="39" name="Shape 39"/>
          <p:cNvSpPr txBox="1"/>
          <p:nvPr/>
        </p:nvSpPr>
        <p:spPr>
          <a:xfrm>
            <a:off x="7452817" y="2790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240</a:t>
            </a:r>
            <a:endParaRPr lang="en-US" sz="975" dirty="0"/>
          </a:p>
        </p:txBody>
      </p:sp>
      <p:sp>
        <p:nvSpPr>
          <p:cNvPr id="40" name="Shape 40"/>
          <p:cNvSpPr txBox="1"/>
          <p:nvPr/>
        </p:nvSpPr>
        <p:spPr>
          <a:xfrm>
            <a:off x="7452817" y="20244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320</a:t>
            </a:r>
            <a:endParaRPr lang="en-US" sz="975" dirty="0"/>
          </a:p>
        </p:txBody>
      </p:sp>
      <p:sp>
        <p:nvSpPr>
          <p:cNvPr id="41" name="Shape 41"/>
          <p:cNvSpPr/>
          <p:nvPr/>
        </p:nvSpPr>
        <p:spPr>
          <a:xfrm>
            <a:off x="10964558" y="5128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2" name="Shape 42"/>
          <p:cNvSpPr txBox="1"/>
          <p:nvPr/>
        </p:nvSpPr>
        <p:spPr>
          <a:xfrm>
            <a:off x="11102670" y="4933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(320, 0)</a:t>
            </a:r>
            <a:endParaRPr lang="en-US" sz="1125" dirty="0"/>
          </a:p>
        </p:txBody>
      </p:sp>
      <p:sp>
        <p:nvSpPr>
          <p:cNvPr id="43" name="Shape 43"/>
          <p:cNvSpPr/>
          <p:nvPr/>
        </p:nvSpPr>
        <p:spPr>
          <a:xfrm>
            <a:off x="7967358" y="321286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4" name="Shape 44"/>
          <p:cNvSpPr txBox="1"/>
          <p:nvPr/>
        </p:nvSpPr>
        <p:spPr>
          <a:xfrm>
            <a:off x="8105470" y="301760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(0, 200)</a:t>
            </a:r>
            <a:endParaRPr lang="en-US" sz="1125" dirty="0"/>
          </a:p>
        </p:txBody>
      </p:sp>
      <p:cxnSp>
        <p:nvCxnSpPr>
          <p:cNvPr id="45" name="Line 45"/>
          <p:cNvCxnSpPr/>
          <p:nvPr/>
        </p:nvCxnSpPr>
        <p:spPr>
          <a:xfrm>
            <a:off x="8019745" y="3265255"/>
            <a:ext cx="2997200" cy="191558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anim calcmode="lin" valueType="num">
                                      <p:cBhvr>
                                        <p:cTn id="26" dur="500" fill="hold"/>
                                        <p:tgtEl>
                                          <p:spTgt spid="41"/>
                                        </p:tgtEl>
                                        <p:attrNameLst>
                                          <p:attrName>ppt_w</p:attrName>
                                        </p:attrNameLst>
                                      </p:cBhvr>
                                      <p:tavLst>
                                        <p:tav tm="0">
                                          <p:val>
                                            <p:fltVal val="0"/>
                                          </p:val>
                                        </p:tav>
                                        <p:tav tm="100000">
                                          <p:val>
                                            <p:strVal val="#ppt_w"/>
                                          </p:val>
                                        </p:tav>
                                      </p:tavLst>
                                    </p:anim>
                                    <p:anim calcmode="lin" valueType="num">
                                      <p:cBhvr>
                                        <p:cTn id="27" dur="500" fill="hold"/>
                                        <p:tgtEl>
                                          <p:spTgt spid="41"/>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anim calcmode="lin" valueType="num">
                                      <p:cBhvr>
                                        <p:cTn id="31" dur="500" fill="hold"/>
                                        <p:tgtEl>
                                          <p:spTgt spid="42"/>
                                        </p:tgtEl>
                                        <p:attrNameLst>
                                          <p:attrName>ppt_w</p:attrName>
                                        </p:attrNameLst>
                                      </p:cBhvr>
                                      <p:tavLst>
                                        <p:tav tm="0">
                                          <p:val>
                                            <p:fltVal val="0"/>
                                          </p:val>
                                        </p:tav>
                                        <p:tav tm="100000">
                                          <p:val>
                                            <p:strVal val="#ppt_w"/>
                                          </p:val>
                                        </p:tav>
                                      </p:tavLst>
                                    </p:anim>
                                    <p:anim calcmode="lin" valueType="num">
                                      <p:cBhvr>
                                        <p:cTn id="32" dur="500" fill="hold"/>
                                        <p:tgtEl>
                                          <p:spTgt spid="42"/>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anim calcmode="lin" valueType="num">
                                      <p:cBhvr>
                                        <p:cTn id="38" dur="500" fill="hold"/>
                                        <p:tgtEl>
                                          <p:spTgt spid="43"/>
                                        </p:tgtEl>
                                        <p:attrNameLst>
                                          <p:attrName>ppt_w</p:attrName>
                                        </p:attrNameLst>
                                      </p:cBhvr>
                                      <p:tavLst>
                                        <p:tav tm="0">
                                          <p:val>
                                            <p:fltVal val="0"/>
                                          </p:val>
                                        </p:tav>
                                        <p:tav tm="100000">
                                          <p:val>
                                            <p:strVal val="#ppt_w"/>
                                          </p:val>
                                        </p:tav>
                                      </p:tavLst>
                                    </p:anim>
                                    <p:anim calcmode="lin" valueType="num">
                                      <p:cBhvr>
                                        <p:cTn id="39" dur="500" fill="hold"/>
                                        <p:tgtEl>
                                          <p:spTgt spid="43"/>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anim calcmode="lin" valueType="num">
                                      <p:cBhvr>
                                        <p:cTn id="43" dur="500" fill="hold"/>
                                        <p:tgtEl>
                                          <p:spTgt spid="44"/>
                                        </p:tgtEl>
                                        <p:attrNameLst>
                                          <p:attrName>ppt_w</p:attrName>
                                        </p:attrNameLst>
                                      </p:cBhvr>
                                      <p:tavLst>
                                        <p:tav tm="0">
                                          <p:val>
                                            <p:fltVal val="0"/>
                                          </p:val>
                                        </p:tav>
                                        <p:tav tm="100000">
                                          <p:val>
                                            <p:strVal val="#ppt_w"/>
                                          </p:val>
                                        </p:tav>
                                      </p:tavLst>
                                    </p:anim>
                                    <p:anim calcmode="lin" valueType="num">
                                      <p:cBhvr>
                                        <p:cTn id="44"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wipe(left)">
                                      <p:cBhvr>
                                        <p:cTn id="49" dur="7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5.3 · Questions 9–10 · SE pp. 229–230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in standard form, then graph with the intercepts</a:t>
            </a:r>
            <a:endParaRPr lang="en-US" sz="3450" dirty="0"/>
          </a:p>
        </p:txBody>
      </p:sp>
      <p:sp>
        <p:nvSpPr>
          <p:cNvPr id="4" name="Shape 4"/>
          <p:cNvSpPr txBox="1"/>
          <p:nvPr/>
        </p:nvSpPr>
        <p:spPr>
          <a:xfrm>
            <a:off x="685800" y="2144268"/>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9.</a:t>
            </a:r>
            <a:r>
              <a:rPr lang="en-US" sz="1575" dirty="0">
                <a:solidFill>
                  <a:srgbClr val="16171D"/>
                </a:solidFill>
                <a:latin typeface="Segoe UI"/>
                <a:cs typeface="Segoe UI"/>
              </a:rPr>
              <a:t xml:space="preserve"> Nia burns 20 calories per 5 minutes of jump rope and 50 per 5 minutes of running: 500 calories in all.</a:t>
            </a:r>
            <a:endParaRPr lang="en-US" sz="1575" dirty="0"/>
          </a:p>
        </p:txBody>
      </p:sp>
      <p:sp>
        <p:nvSpPr>
          <p:cNvPr id="5" name="Shape 5"/>
          <p:cNvSpPr txBox="1"/>
          <p:nvPr/>
        </p:nvSpPr>
        <p:spPr>
          <a:xfrm>
            <a:off x="685800" y="299542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5-minute blocks of jump rope,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5-minute blocks of running</a:t>
            </a:r>
            <a:endParaRPr lang="en-US" sz="1575" dirty="0"/>
          </a:p>
        </p:txBody>
      </p:sp>
      <p:sp>
        <p:nvSpPr>
          <p:cNvPr id="6" name="Shape 6"/>
          <p:cNvSpPr txBox="1"/>
          <p:nvPr/>
        </p:nvSpPr>
        <p:spPr>
          <a:xfrm>
            <a:off x="685800" y="360654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+ 50</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500</a:t>
            </a:r>
            <a:endParaRPr lang="en-US" sz="2325" dirty="0"/>
          </a:p>
        </p:txBody>
      </p:sp>
      <p:sp>
        <p:nvSpPr>
          <p:cNvPr id="7" name="Shape 7"/>
          <p:cNvSpPr/>
          <p:nvPr/>
        </p:nvSpPr>
        <p:spPr>
          <a:xfrm>
            <a:off x="685800" y="420166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8" name="Line 8"/>
          <p:cNvCxnSpPr/>
          <p:nvPr/>
        </p:nvCxnSpPr>
        <p:spPr>
          <a:xfrm>
            <a:off x="1009650" y="4315968"/>
            <a:ext cx="0" cy="2019300"/>
          </a:xfrm>
          <a:prstGeom prst="line">
            <a:avLst/>
          </a:prstGeom>
          <a:ln w="9525" cap="flat">
            <a:solidFill>
              <a:srgbClr val="E6E8F2"/>
            </a:solidFill>
          </a:ln>
        </p:spPr>
      </p:cxnSp>
      <p:cxnSp>
        <p:nvCxnSpPr>
          <p:cNvPr id="9" name="Line 9"/>
          <p:cNvCxnSpPr/>
          <p:nvPr/>
        </p:nvCxnSpPr>
        <p:spPr>
          <a:xfrm>
            <a:off x="1202871" y="4315968"/>
            <a:ext cx="0" cy="2019300"/>
          </a:xfrm>
          <a:prstGeom prst="line">
            <a:avLst/>
          </a:prstGeom>
          <a:ln w="9525" cap="flat">
            <a:solidFill>
              <a:srgbClr val="E6E8F2"/>
            </a:solidFill>
          </a:ln>
        </p:spPr>
      </p:cxnSp>
      <p:cxnSp>
        <p:nvCxnSpPr>
          <p:cNvPr id="10" name="Line 10"/>
          <p:cNvCxnSpPr/>
          <p:nvPr/>
        </p:nvCxnSpPr>
        <p:spPr>
          <a:xfrm>
            <a:off x="1396093" y="4315968"/>
            <a:ext cx="0" cy="2019300"/>
          </a:xfrm>
          <a:prstGeom prst="line">
            <a:avLst/>
          </a:prstGeom>
          <a:ln w="9525" cap="flat">
            <a:solidFill>
              <a:srgbClr val="E6E8F2"/>
            </a:solidFill>
          </a:ln>
        </p:spPr>
      </p:cxnSp>
      <p:cxnSp>
        <p:nvCxnSpPr>
          <p:cNvPr id="11" name="Line 11"/>
          <p:cNvCxnSpPr/>
          <p:nvPr/>
        </p:nvCxnSpPr>
        <p:spPr>
          <a:xfrm>
            <a:off x="1589314" y="4315968"/>
            <a:ext cx="0" cy="2019300"/>
          </a:xfrm>
          <a:prstGeom prst="line">
            <a:avLst/>
          </a:prstGeom>
          <a:ln w="9525" cap="flat">
            <a:solidFill>
              <a:srgbClr val="E6E8F2"/>
            </a:solidFill>
          </a:ln>
        </p:spPr>
      </p:cxnSp>
      <p:cxnSp>
        <p:nvCxnSpPr>
          <p:cNvPr id="12" name="Line 12"/>
          <p:cNvCxnSpPr/>
          <p:nvPr/>
        </p:nvCxnSpPr>
        <p:spPr>
          <a:xfrm>
            <a:off x="1782536" y="4315968"/>
            <a:ext cx="0" cy="2019300"/>
          </a:xfrm>
          <a:prstGeom prst="line">
            <a:avLst/>
          </a:prstGeom>
          <a:ln w="9525" cap="flat">
            <a:solidFill>
              <a:srgbClr val="E6E8F2"/>
            </a:solidFill>
          </a:ln>
        </p:spPr>
      </p:cxnSp>
      <p:cxnSp>
        <p:nvCxnSpPr>
          <p:cNvPr id="13" name="Line 13"/>
          <p:cNvCxnSpPr/>
          <p:nvPr/>
        </p:nvCxnSpPr>
        <p:spPr>
          <a:xfrm>
            <a:off x="1975757" y="4315968"/>
            <a:ext cx="0" cy="2019300"/>
          </a:xfrm>
          <a:prstGeom prst="line">
            <a:avLst/>
          </a:prstGeom>
          <a:ln w="9525" cap="flat">
            <a:solidFill>
              <a:srgbClr val="E6E8F2"/>
            </a:solidFill>
          </a:ln>
        </p:spPr>
      </p:cxnSp>
      <p:cxnSp>
        <p:nvCxnSpPr>
          <p:cNvPr id="14" name="Line 14"/>
          <p:cNvCxnSpPr/>
          <p:nvPr/>
        </p:nvCxnSpPr>
        <p:spPr>
          <a:xfrm>
            <a:off x="2168979" y="4315968"/>
            <a:ext cx="0" cy="2019300"/>
          </a:xfrm>
          <a:prstGeom prst="line">
            <a:avLst/>
          </a:prstGeom>
          <a:ln w="9525" cap="flat">
            <a:solidFill>
              <a:srgbClr val="E6E8F2"/>
            </a:solidFill>
          </a:ln>
        </p:spPr>
      </p:cxnSp>
      <p:cxnSp>
        <p:nvCxnSpPr>
          <p:cNvPr id="15" name="Line 15"/>
          <p:cNvCxnSpPr/>
          <p:nvPr/>
        </p:nvCxnSpPr>
        <p:spPr>
          <a:xfrm>
            <a:off x="2362200" y="4315968"/>
            <a:ext cx="0" cy="2019300"/>
          </a:xfrm>
          <a:prstGeom prst="line">
            <a:avLst/>
          </a:prstGeom>
          <a:ln w="9525" cap="flat">
            <a:solidFill>
              <a:srgbClr val="E6E8F2"/>
            </a:solidFill>
          </a:ln>
        </p:spPr>
      </p:cxnSp>
      <p:cxnSp>
        <p:nvCxnSpPr>
          <p:cNvPr id="16" name="Line 16"/>
          <p:cNvCxnSpPr/>
          <p:nvPr/>
        </p:nvCxnSpPr>
        <p:spPr>
          <a:xfrm>
            <a:off x="2555421" y="4315968"/>
            <a:ext cx="0" cy="2019300"/>
          </a:xfrm>
          <a:prstGeom prst="line">
            <a:avLst/>
          </a:prstGeom>
          <a:ln w="9525" cap="flat">
            <a:solidFill>
              <a:srgbClr val="E6E8F2"/>
            </a:solidFill>
          </a:ln>
        </p:spPr>
      </p:cxnSp>
      <p:cxnSp>
        <p:nvCxnSpPr>
          <p:cNvPr id="17" name="Line 17"/>
          <p:cNvCxnSpPr/>
          <p:nvPr/>
        </p:nvCxnSpPr>
        <p:spPr>
          <a:xfrm>
            <a:off x="2748643" y="4315968"/>
            <a:ext cx="0" cy="2019300"/>
          </a:xfrm>
          <a:prstGeom prst="line">
            <a:avLst/>
          </a:prstGeom>
          <a:ln w="9525" cap="flat">
            <a:solidFill>
              <a:srgbClr val="E6E8F2"/>
            </a:solidFill>
          </a:ln>
        </p:spPr>
      </p:cxnSp>
      <p:cxnSp>
        <p:nvCxnSpPr>
          <p:cNvPr id="18" name="Line 18"/>
          <p:cNvCxnSpPr/>
          <p:nvPr/>
        </p:nvCxnSpPr>
        <p:spPr>
          <a:xfrm>
            <a:off x="2941864" y="4315968"/>
            <a:ext cx="0" cy="2019300"/>
          </a:xfrm>
          <a:prstGeom prst="line">
            <a:avLst/>
          </a:prstGeom>
          <a:ln w="9525" cap="flat">
            <a:solidFill>
              <a:srgbClr val="E6E8F2"/>
            </a:solidFill>
          </a:ln>
        </p:spPr>
      </p:cxnSp>
      <p:cxnSp>
        <p:nvCxnSpPr>
          <p:cNvPr id="19" name="Line 19"/>
          <p:cNvCxnSpPr/>
          <p:nvPr/>
        </p:nvCxnSpPr>
        <p:spPr>
          <a:xfrm>
            <a:off x="3135086" y="4315968"/>
            <a:ext cx="0" cy="2019300"/>
          </a:xfrm>
          <a:prstGeom prst="line">
            <a:avLst/>
          </a:prstGeom>
          <a:ln w="9525" cap="flat">
            <a:solidFill>
              <a:srgbClr val="E6E8F2"/>
            </a:solidFill>
          </a:ln>
        </p:spPr>
      </p:cxnSp>
      <p:cxnSp>
        <p:nvCxnSpPr>
          <p:cNvPr id="20" name="Line 20"/>
          <p:cNvCxnSpPr/>
          <p:nvPr/>
        </p:nvCxnSpPr>
        <p:spPr>
          <a:xfrm>
            <a:off x="3328307" y="4315968"/>
            <a:ext cx="0" cy="2019300"/>
          </a:xfrm>
          <a:prstGeom prst="line">
            <a:avLst/>
          </a:prstGeom>
          <a:ln w="9525" cap="flat">
            <a:solidFill>
              <a:srgbClr val="E6E8F2"/>
            </a:solidFill>
          </a:ln>
        </p:spPr>
      </p:cxnSp>
      <p:cxnSp>
        <p:nvCxnSpPr>
          <p:cNvPr id="21" name="Line 21"/>
          <p:cNvCxnSpPr/>
          <p:nvPr/>
        </p:nvCxnSpPr>
        <p:spPr>
          <a:xfrm>
            <a:off x="3521529" y="4315968"/>
            <a:ext cx="0" cy="2019300"/>
          </a:xfrm>
          <a:prstGeom prst="line">
            <a:avLst/>
          </a:prstGeom>
          <a:ln w="9525" cap="flat">
            <a:solidFill>
              <a:srgbClr val="E6E8F2"/>
            </a:solidFill>
          </a:ln>
        </p:spPr>
      </p:cxnSp>
      <p:cxnSp>
        <p:nvCxnSpPr>
          <p:cNvPr id="22" name="Line 22"/>
          <p:cNvCxnSpPr/>
          <p:nvPr/>
        </p:nvCxnSpPr>
        <p:spPr>
          <a:xfrm>
            <a:off x="3714750" y="4315968"/>
            <a:ext cx="0" cy="2019300"/>
          </a:xfrm>
          <a:prstGeom prst="line">
            <a:avLst/>
          </a:prstGeom>
          <a:ln w="9525" cap="flat">
            <a:solidFill>
              <a:srgbClr val="E6E8F2"/>
            </a:solidFill>
          </a:ln>
        </p:spPr>
      </p:cxnSp>
      <p:cxnSp>
        <p:nvCxnSpPr>
          <p:cNvPr id="23" name="Line 23"/>
          <p:cNvCxnSpPr/>
          <p:nvPr/>
        </p:nvCxnSpPr>
        <p:spPr>
          <a:xfrm>
            <a:off x="1009650" y="6335268"/>
            <a:ext cx="2705100" cy="0"/>
          </a:xfrm>
          <a:prstGeom prst="line">
            <a:avLst/>
          </a:prstGeom>
          <a:ln w="9525" cap="flat">
            <a:solidFill>
              <a:srgbClr val="E6E8F2"/>
            </a:solidFill>
          </a:ln>
        </p:spPr>
      </p:cxnSp>
      <p:cxnSp>
        <p:nvCxnSpPr>
          <p:cNvPr id="24" name="Line 24"/>
          <p:cNvCxnSpPr/>
          <p:nvPr/>
        </p:nvCxnSpPr>
        <p:spPr>
          <a:xfrm>
            <a:off x="1009650" y="6082856"/>
            <a:ext cx="2705100" cy="0"/>
          </a:xfrm>
          <a:prstGeom prst="line">
            <a:avLst/>
          </a:prstGeom>
          <a:ln w="9525" cap="flat">
            <a:solidFill>
              <a:srgbClr val="E6E8F2"/>
            </a:solidFill>
          </a:ln>
        </p:spPr>
      </p:cxnSp>
      <p:cxnSp>
        <p:nvCxnSpPr>
          <p:cNvPr id="25" name="Line 25"/>
          <p:cNvCxnSpPr/>
          <p:nvPr/>
        </p:nvCxnSpPr>
        <p:spPr>
          <a:xfrm>
            <a:off x="1009650" y="5830443"/>
            <a:ext cx="2705100" cy="0"/>
          </a:xfrm>
          <a:prstGeom prst="line">
            <a:avLst/>
          </a:prstGeom>
          <a:ln w="9525" cap="flat">
            <a:solidFill>
              <a:srgbClr val="E6E8F2"/>
            </a:solidFill>
          </a:ln>
        </p:spPr>
      </p:cxnSp>
      <p:cxnSp>
        <p:nvCxnSpPr>
          <p:cNvPr id="26" name="Line 26"/>
          <p:cNvCxnSpPr/>
          <p:nvPr/>
        </p:nvCxnSpPr>
        <p:spPr>
          <a:xfrm>
            <a:off x="1009650" y="5578030"/>
            <a:ext cx="2705100" cy="0"/>
          </a:xfrm>
          <a:prstGeom prst="line">
            <a:avLst/>
          </a:prstGeom>
          <a:ln w="9525" cap="flat">
            <a:solidFill>
              <a:srgbClr val="E6E8F2"/>
            </a:solidFill>
          </a:ln>
        </p:spPr>
      </p:cxnSp>
      <p:cxnSp>
        <p:nvCxnSpPr>
          <p:cNvPr id="27" name="Line 27"/>
          <p:cNvCxnSpPr/>
          <p:nvPr/>
        </p:nvCxnSpPr>
        <p:spPr>
          <a:xfrm>
            <a:off x="1009650" y="5325618"/>
            <a:ext cx="2705100" cy="0"/>
          </a:xfrm>
          <a:prstGeom prst="line">
            <a:avLst/>
          </a:prstGeom>
          <a:ln w="9525" cap="flat">
            <a:solidFill>
              <a:srgbClr val="E6E8F2"/>
            </a:solidFill>
          </a:ln>
        </p:spPr>
      </p:cxnSp>
      <p:cxnSp>
        <p:nvCxnSpPr>
          <p:cNvPr id="28" name="Line 28"/>
          <p:cNvCxnSpPr/>
          <p:nvPr/>
        </p:nvCxnSpPr>
        <p:spPr>
          <a:xfrm>
            <a:off x="1009650" y="5073206"/>
            <a:ext cx="2705100" cy="0"/>
          </a:xfrm>
          <a:prstGeom prst="line">
            <a:avLst/>
          </a:prstGeom>
          <a:ln w="9525" cap="flat">
            <a:solidFill>
              <a:srgbClr val="E6E8F2"/>
            </a:solidFill>
          </a:ln>
        </p:spPr>
      </p:cxnSp>
      <p:cxnSp>
        <p:nvCxnSpPr>
          <p:cNvPr id="29" name="Line 29"/>
          <p:cNvCxnSpPr/>
          <p:nvPr/>
        </p:nvCxnSpPr>
        <p:spPr>
          <a:xfrm>
            <a:off x="1009650" y="4820793"/>
            <a:ext cx="2705100" cy="0"/>
          </a:xfrm>
          <a:prstGeom prst="line">
            <a:avLst/>
          </a:prstGeom>
          <a:ln w="9525" cap="flat">
            <a:solidFill>
              <a:srgbClr val="E6E8F2"/>
            </a:solidFill>
          </a:ln>
        </p:spPr>
      </p:cxnSp>
      <p:cxnSp>
        <p:nvCxnSpPr>
          <p:cNvPr id="30" name="Line 30"/>
          <p:cNvCxnSpPr/>
          <p:nvPr/>
        </p:nvCxnSpPr>
        <p:spPr>
          <a:xfrm>
            <a:off x="1009650" y="4568380"/>
            <a:ext cx="2705100" cy="0"/>
          </a:xfrm>
          <a:prstGeom prst="line">
            <a:avLst/>
          </a:prstGeom>
          <a:ln w="9525" cap="flat">
            <a:solidFill>
              <a:srgbClr val="E6E8F2"/>
            </a:solidFill>
          </a:ln>
        </p:spPr>
      </p:cxnSp>
      <p:cxnSp>
        <p:nvCxnSpPr>
          <p:cNvPr id="31" name="Line 31"/>
          <p:cNvCxnSpPr/>
          <p:nvPr/>
        </p:nvCxnSpPr>
        <p:spPr>
          <a:xfrm>
            <a:off x="1009650" y="4315968"/>
            <a:ext cx="2705100" cy="0"/>
          </a:xfrm>
          <a:prstGeom prst="line">
            <a:avLst/>
          </a:prstGeom>
          <a:ln w="9525" cap="flat">
            <a:solidFill>
              <a:srgbClr val="E6E8F2"/>
            </a:solidFill>
          </a:ln>
        </p:spPr>
      </p:cxnSp>
      <p:cxnSp>
        <p:nvCxnSpPr>
          <p:cNvPr id="32" name="Line 32"/>
          <p:cNvCxnSpPr/>
          <p:nvPr/>
        </p:nvCxnSpPr>
        <p:spPr>
          <a:xfrm>
            <a:off x="1009650" y="4315968"/>
            <a:ext cx="0" cy="2019300"/>
          </a:xfrm>
          <a:prstGeom prst="line">
            <a:avLst/>
          </a:prstGeom>
          <a:ln w="19050" cap="flat">
            <a:solidFill>
              <a:srgbClr val="5F6272"/>
            </a:solidFill>
          </a:ln>
        </p:spPr>
      </p:cxnSp>
      <p:cxnSp>
        <p:nvCxnSpPr>
          <p:cNvPr id="33" name="Line 33"/>
          <p:cNvCxnSpPr/>
          <p:nvPr/>
        </p:nvCxnSpPr>
        <p:spPr>
          <a:xfrm>
            <a:off x="1009650" y="6335268"/>
            <a:ext cx="2705100" cy="0"/>
          </a:xfrm>
          <a:prstGeom prst="line">
            <a:avLst/>
          </a:prstGeom>
          <a:ln w="19050" cap="flat">
            <a:solidFill>
              <a:srgbClr val="5F6272"/>
            </a:solidFill>
          </a:ln>
        </p:spPr>
      </p:cxnSp>
      <p:sp>
        <p:nvSpPr>
          <p:cNvPr id="34" name="Shape 34"/>
          <p:cNvSpPr txBox="1"/>
          <p:nvPr/>
        </p:nvSpPr>
        <p:spPr>
          <a:xfrm>
            <a:off x="7353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5" name="Shape 35"/>
          <p:cNvSpPr txBox="1"/>
          <p:nvPr/>
        </p:nvSpPr>
        <p:spPr>
          <a:xfrm>
            <a:off x="1121773"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6" name="Shape 36"/>
          <p:cNvSpPr txBox="1"/>
          <p:nvPr/>
        </p:nvSpPr>
        <p:spPr>
          <a:xfrm>
            <a:off x="1508216"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37" name="Shape 37"/>
          <p:cNvSpPr txBox="1"/>
          <p:nvPr/>
        </p:nvSpPr>
        <p:spPr>
          <a:xfrm>
            <a:off x="1894659"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8" name="Shape 38"/>
          <p:cNvSpPr txBox="1"/>
          <p:nvPr/>
        </p:nvSpPr>
        <p:spPr>
          <a:xfrm>
            <a:off x="2281101"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39" name="Shape 39"/>
          <p:cNvSpPr txBox="1"/>
          <p:nvPr/>
        </p:nvSpPr>
        <p:spPr>
          <a:xfrm>
            <a:off x="2667544"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40" name="Shape 40"/>
          <p:cNvSpPr txBox="1"/>
          <p:nvPr/>
        </p:nvSpPr>
        <p:spPr>
          <a:xfrm>
            <a:off x="3053987"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41" name="Shape 41"/>
          <p:cNvSpPr txBox="1"/>
          <p:nvPr/>
        </p:nvSpPr>
        <p:spPr>
          <a:xfrm>
            <a:off x="34404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28</a:t>
            </a:r>
            <a:endParaRPr lang="en-US" sz="975" dirty="0"/>
          </a:p>
        </p:txBody>
      </p:sp>
      <p:sp>
        <p:nvSpPr>
          <p:cNvPr id="42" name="Shape 42"/>
          <p:cNvSpPr txBox="1"/>
          <p:nvPr/>
        </p:nvSpPr>
        <p:spPr>
          <a:xfrm>
            <a:off x="442722" y="62438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3" name="Shape 43"/>
          <p:cNvSpPr txBox="1"/>
          <p:nvPr/>
        </p:nvSpPr>
        <p:spPr>
          <a:xfrm>
            <a:off x="442722" y="5739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442722" y="52341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442722" y="47293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6" name="Shape 46"/>
          <p:cNvSpPr txBox="1"/>
          <p:nvPr/>
        </p:nvSpPr>
        <p:spPr>
          <a:xfrm>
            <a:off x="442722" y="42245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7" name="Shape 47"/>
          <p:cNvSpPr/>
          <p:nvPr/>
        </p:nvSpPr>
        <p:spPr>
          <a:xfrm>
            <a:off x="3372530" y="628288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8" name="Shape 48"/>
          <p:cNvSpPr txBox="1"/>
          <p:nvPr/>
        </p:nvSpPr>
        <p:spPr>
          <a:xfrm>
            <a:off x="3510643" y="608761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(25, 0)</a:t>
            </a:r>
            <a:endParaRPr lang="en-US" sz="1125" dirty="0"/>
          </a:p>
        </p:txBody>
      </p:sp>
      <p:sp>
        <p:nvSpPr>
          <p:cNvPr id="49" name="Shape 49"/>
          <p:cNvSpPr/>
          <p:nvPr/>
        </p:nvSpPr>
        <p:spPr>
          <a:xfrm>
            <a:off x="957262" y="502081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0" name="Shape 50"/>
          <p:cNvSpPr txBox="1"/>
          <p:nvPr/>
        </p:nvSpPr>
        <p:spPr>
          <a:xfrm>
            <a:off x="1095375" y="482555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cxnSp>
        <p:nvCxnSpPr>
          <p:cNvPr id="51" name="Line 51"/>
          <p:cNvCxnSpPr/>
          <p:nvPr/>
        </p:nvCxnSpPr>
        <p:spPr>
          <a:xfrm>
            <a:off x="1009650" y="5073206"/>
            <a:ext cx="2415268" cy="1262062"/>
          </a:xfrm>
          <a:prstGeom prst="line">
            <a:avLst/>
          </a:prstGeom>
          <a:ln w="38100" cap="rnd">
            <a:solidFill>
              <a:srgbClr val="16171D"/>
            </a:solidFill>
          </a:ln>
        </p:spPr>
      </p:cxnSp>
      <p:sp>
        <p:nvSpPr>
          <p:cNvPr id="52" name="Shape 52"/>
          <p:cNvSpPr txBox="1"/>
          <p:nvPr/>
        </p:nvSpPr>
        <p:spPr>
          <a:xfrm>
            <a:off x="6267298" y="2144268"/>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10.</a:t>
            </a:r>
            <a:r>
              <a:rPr lang="en-US" sz="1575" dirty="0">
                <a:solidFill>
                  <a:srgbClr val="16171D"/>
                </a:solidFill>
                <a:latin typeface="Segoe UI"/>
                <a:cs typeface="Segoe UI"/>
              </a:rPr>
              <a:t xml:space="preserve"> Show choir tickets: $5 per student, $6 per adult, $270 collected.</a:t>
            </a:r>
            <a:endParaRPr lang="en-US" sz="1575" dirty="0"/>
          </a:p>
        </p:txBody>
      </p:sp>
      <p:sp>
        <p:nvSpPr>
          <p:cNvPr id="53" name="Shape 53"/>
          <p:cNvSpPr txBox="1"/>
          <p:nvPr/>
        </p:nvSpPr>
        <p:spPr>
          <a:xfrm>
            <a:off x="6267298" y="2755392"/>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student tickets,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adult tickets</a:t>
            </a:r>
            <a:endParaRPr lang="en-US" sz="1575" dirty="0"/>
          </a:p>
        </p:txBody>
      </p:sp>
      <p:sp>
        <p:nvSpPr>
          <p:cNvPr id="54" name="Shape 54"/>
          <p:cNvSpPr txBox="1"/>
          <p:nvPr/>
        </p:nvSpPr>
        <p:spPr>
          <a:xfrm>
            <a:off x="6267298" y="3126486"/>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55" name="Shape 55"/>
          <p:cNvSpPr/>
          <p:nvPr/>
        </p:nvSpPr>
        <p:spPr>
          <a:xfrm>
            <a:off x="6267298" y="372160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a:off x="6591148" y="3835908"/>
            <a:ext cx="0" cy="2019300"/>
          </a:xfrm>
          <a:prstGeom prst="line">
            <a:avLst/>
          </a:prstGeom>
          <a:ln w="9525" cap="flat">
            <a:solidFill>
              <a:srgbClr val="E6E8F2"/>
            </a:solidFill>
          </a:ln>
        </p:spPr>
      </p:cxnSp>
      <p:cxnSp>
        <p:nvCxnSpPr>
          <p:cNvPr id="57" name="Line 57"/>
          <p:cNvCxnSpPr/>
          <p:nvPr/>
        </p:nvCxnSpPr>
        <p:spPr>
          <a:xfrm>
            <a:off x="6816573" y="3835908"/>
            <a:ext cx="0" cy="2019300"/>
          </a:xfrm>
          <a:prstGeom prst="line">
            <a:avLst/>
          </a:prstGeom>
          <a:ln w="9525" cap="flat">
            <a:solidFill>
              <a:srgbClr val="E6E8F2"/>
            </a:solidFill>
          </a:ln>
        </p:spPr>
      </p:cxnSp>
      <p:cxnSp>
        <p:nvCxnSpPr>
          <p:cNvPr id="58" name="Line 58"/>
          <p:cNvCxnSpPr/>
          <p:nvPr/>
        </p:nvCxnSpPr>
        <p:spPr>
          <a:xfrm>
            <a:off x="7041998" y="3835908"/>
            <a:ext cx="0" cy="2019300"/>
          </a:xfrm>
          <a:prstGeom prst="line">
            <a:avLst/>
          </a:prstGeom>
          <a:ln w="9525" cap="flat">
            <a:solidFill>
              <a:srgbClr val="E6E8F2"/>
            </a:solidFill>
          </a:ln>
        </p:spPr>
      </p:cxnSp>
      <p:cxnSp>
        <p:nvCxnSpPr>
          <p:cNvPr id="59" name="Line 59"/>
          <p:cNvCxnSpPr/>
          <p:nvPr/>
        </p:nvCxnSpPr>
        <p:spPr>
          <a:xfrm>
            <a:off x="7267423" y="3835908"/>
            <a:ext cx="0" cy="2019300"/>
          </a:xfrm>
          <a:prstGeom prst="line">
            <a:avLst/>
          </a:prstGeom>
          <a:ln w="9525" cap="flat">
            <a:solidFill>
              <a:srgbClr val="E6E8F2"/>
            </a:solidFill>
          </a:ln>
        </p:spPr>
      </p:cxnSp>
      <p:cxnSp>
        <p:nvCxnSpPr>
          <p:cNvPr id="60" name="Line 60"/>
          <p:cNvCxnSpPr/>
          <p:nvPr/>
        </p:nvCxnSpPr>
        <p:spPr>
          <a:xfrm>
            <a:off x="7492848" y="3835908"/>
            <a:ext cx="0" cy="2019300"/>
          </a:xfrm>
          <a:prstGeom prst="line">
            <a:avLst/>
          </a:prstGeom>
          <a:ln w="9525" cap="flat">
            <a:solidFill>
              <a:srgbClr val="E6E8F2"/>
            </a:solidFill>
          </a:ln>
        </p:spPr>
      </p:cxnSp>
      <p:cxnSp>
        <p:nvCxnSpPr>
          <p:cNvPr id="61" name="Line 61"/>
          <p:cNvCxnSpPr/>
          <p:nvPr/>
        </p:nvCxnSpPr>
        <p:spPr>
          <a:xfrm>
            <a:off x="7718273" y="3835908"/>
            <a:ext cx="0" cy="2019300"/>
          </a:xfrm>
          <a:prstGeom prst="line">
            <a:avLst/>
          </a:prstGeom>
          <a:ln w="9525" cap="flat">
            <a:solidFill>
              <a:srgbClr val="E6E8F2"/>
            </a:solidFill>
          </a:ln>
        </p:spPr>
      </p:cxnSp>
      <p:cxnSp>
        <p:nvCxnSpPr>
          <p:cNvPr id="62" name="Line 62"/>
          <p:cNvCxnSpPr/>
          <p:nvPr/>
        </p:nvCxnSpPr>
        <p:spPr>
          <a:xfrm>
            <a:off x="7943698" y="3835908"/>
            <a:ext cx="0" cy="2019300"/>
          </a:xfrm>
          <a:prstGeom prst="line">
            <a:avLst/>
          </a:prstGeom>
          <a:ln w="9525" cap="flat">
            <a:solidFill>
              <a:srgbClr val="E6E8F2"/>
            </a:solidFill>
          </a:ln>
        </p:spPr>
      </p:cxnSp>
      <p:cxnSp>
        <p:nvCxnSpPr>
          <p:cNvPr id="63" name="Line 63"/>
          <p:cNvCxnSpPr/>
          <p:nvPr/>
        </p:nvCxnSpPr>
        <p:spPr>
          <a:xfrm>
            <a:off x="8169123" y="3835908"/>
            <a:ext cx="0" cy="2019300"/>
          </a:xfrm>
          <a:prstGeom prst="line">
            <a:avLst/>
          </a:prstGeom>
          <a:ln w="9525" cap="flat">
            <a:solidFill>
              <a:srgbClr val="E6E8F2"/>
            </a:solidFill>
          </a:ln>
        </p:spPr>
      </p:cxnSp>
      <p:cxnSp>
        <p:nvCxnSpPr>
          <p:cNvPr id="64" name="Line 64"/>
          <p:cNvCxnSpPr/>
          <p:nvPr/>
        </p:nvCxnSpPr>
        <p:spPr>
          <a:xfrm>
            <a:off x="8394548" y="3835908"/>
            <a:ext cx="0" cy="2019300"/>
          </a:xfrm>
          <a:prstGeom prst="line">
            <a:avLst/>
          </a:prstGeom>
          <a:ln w="9525" cap="flat">
            <a:solidFill>
              <a:srgbClr val="E6E8F2"/>
            </a:solidFill>
          </a:ln>
        </p:spPr>
      </p:cxnSp>
      <p:cxnSp>
        <p:nvCxnSpPr>
          <p:cNvPr id="65" name="Line 65"/>
          <p:cNvCxnSpPr/>
          <p:nvPr/>
        </p:nvCxnSpPr>
        <p:spPr>
          <a:xfrm>
            <a:off x="8619973" y="3835908"/>
            <a:ext cx="0" cy="2019300"/>
          </a:xfrm>
          <a:prstGeom prst="line">
            <a:avLst/>
          </a:prstGeom>
          <a:ln w="9525" cap="flat">
            <a:solidFill>
              <a:srgbClr val="E6E8F2"/>
            </a:solidFill>
          </a:ln>
        </p:spPr>
      </p:cxnSp>
      <p:cxnSp>
        <p:nvCxnSpPr>
          <p:cNvPr id="66" name="Line 66"/>
          <p:cNvCxnSpPr/>
          <p:nvPr/>
        </p:nvCxnSpPr>
        <p:spPr>
          <a:xfrm>
            <a:off x="8845398" y="3835908"/>
            <a:ext cx="0" cy="2019300"/>
          </a:xfrm>
          <a:prstGeom prst="line">
            <a:avLst/>
          </a:prstGeom>
          <a:ln w="9525" cap="flat">
            <a:solidFill>
              <a:srgbClr val="E6E8F2"/>
            </a:solidFill>
          </a:ln>
        </p:spPr>
      </p:cxnSp>
      <p:cxnSp>
        <p:nvCxnSpPr>
          <p:cNvPr id="67" name="Line 67"/>
          <p:cNvCxnSpPr/>
          <p:nvPr/>
        </p:nvCxnSpPr>
        <p:spPr>
          <a:xfrm>
            <a:off x="9070823" y="3835908"/>
            <a:ext cx="0" cy="2019300"/>
          </a:xfrm>
          <a:prstGeom prst="line">
            <a:avLst/>
          </a:prstGeom>
          <a:ln w="9525" cap="flat">
            <a:solidFill>
              <a:srgbClr val="E6E8F2"/>
            </a:solidFill>
          </a:ln>
        </p:spPr>
      </p:cxnSp>
      <p:cxnSp>
        <p:nvCxnSpPr>
          <p:cNvPr id="68" name="Line 68"/>
          <p:cNvCxnSpPr/>
          <p:nvPr/>
        </p:nvCxnSpPr>
        <p:spPr>
          <a:xfrm>
            <a:off x="9296248" y="3835908"/>
            <a:ext cx="0" cy="2019300"/>
          </a:xfrm>
          <a:prstGeom prst="line">
            <a:avLst/>
          </a:prstGeom>
          <a:ln w="9525" cap="flat">
            <a:solidFill>
              <a:srgbClr val="E6E8F2"/>
            </a:solidFill>
          </a:ln>
        </p:spPr>
      </p:cxnSp>
      <p:cxnSp>
        <p:nvCxnSpPr>
          <p:cNvPr id="69" name="Line 69"/>
          <p:cNvCxnSpPr/>
          <p:nvPr/>
        </p:nvCxnSpPr>
        <p:spPr>
          <a:xfrm>
            <a:off x="6591148" y="5855208"/>
            <a:ext cx="2705100" cy="0"/>
          </a:xfrm>
          <a:prstGeom prst="line">
            <a:avLst/>
          </a:prstGeom>
          <a:ln w="9525" cap="flat">
            <a:solidFill>
              <a:srgbClr val="E6E8F2"/>
            </a:solidFill>
          </a:ln>
        </p:spPr>
      </p:cxnSp>
      <p:cxnSp>
        <p:nvCxnSpPr>
          <p:cNvPr id="70" name="Line 70"/>
          <p:cNvCxnSpPr/>
          <p:nvPr/>
        </p:nvCxnSpPr>
        <p:spPr>
          <a:xfrm>
            <a:off x="6591148" y="5653278"/>
            <a:ext cx="2705100" cy="0"/>
          </a:xfrm>
          <a:prstGeom prst="line">
            <a:avLst/>
          </a:prstGeom>
          <a:ln w="9525" cap="flat">
            <a:solidFill>
              <a:srgbClr val="E6E8F2"/>
            </a:solidFill>
          </a:ln>
        </p:spPr>
      </p:cxnSp>
      <p:cxnSp>
        <p:nvCxnSpPr>
          <p:cNvPr id="71" name="Line 71"/>
          <p:cNvCxnSpPr/>
          <p:nvPr/>
        </p:nvCxnSpPr>
        <p:spPr>
          <a:xfrm>
            <a:off x="6591148" y="5451348"/>
            <a:ext cx="2705100" cy="0"/>
          </a:xfrm>
          <a:prstGeom prst="line">
            <a:avLst/>
          </a:prstGeom>
          <a:ln w="9525" cap="flat">
            <a:solidFill>
              <a:srgbClr val="E6E8F2"/>
            </a:solidFill>
          </a:ln>
        </p:spPr>
      </p:cxnSp>
      <p:cxnSp>
        <p:nvCxnSpPr>
          <p:cNvPr id="72" name="Line 72"/>
          <p:cNvCxnSpPr/>
          <p:nvPr/>
        </p:nvCxnSpPr>
        <p:spPr>
          <a:xfrm>
            <a:off x="6591148" y="5249418"/>
            <a:ext cx="2705100" cy="0"/>
          </a:xfrm>
          <a:prstGeom prst="line">
            <a:avLst/>
          </a:prstGeom>
          <a:ln w="9525" cap="flat">
            <a:solidFill>
              <a:srgbClr val="E6E8F2"/>
            </a:solidFill>
          </a:ln>
        </p:spPr>
      </p:cxnSp>
      <p:cxnSp>
        <p:nvCxnSpPr>
          <p:cNvPr id="73" name="Line 73"/>
          <p:cNvCxnSpPr/>
          <p:nvPr/>
        </p:nvCxnSpPr>
        <p:spPr>
          <a:xfrm>
            <a:off x="6591148" y="5047488"/>
            <a:ext cx="2705100" cy="0"/>
          </a:xfrm>
          <a:prstGeom prst="line">
            <a:avLst/>
          </a:prstGeom>
          <a:ln w="9525" cap="flat">
            <a:solidFill>
              <a:srgbClr val="E6E8F2"/>
            </a:solidFill>
          </a:ln>
        </p:spPr>
      </p:cxnSp>
      <p:cxnSp>
        <p:nvCxnSpPr>
          <p:cNvPr id="74" name="Line 74"/>
          <p:cNvCxnSpPr/>
          <p:nvPr/>
        </p:nvCxnSpPr>
        <p:spPr>
          <a:xfrm>
            <a:off x="6591148" y="4845558"/>
            <a:ext cx="2705100" cy="0"/>
          </a:xfrm>
          <a:prstGeom prst="line">
            <a:avLst/>
          </a:prstGeom>
          <a:ln w="9525" cap="flat">
            <a:solidFill>
              <a:srgbClr val="E6E8F2"/>
            </a:solidFill>
          </a:ln>
        </p:spPr>
      </p:cxnSp>
      <p:cxnSp>
        <p:nvCxnSpPr>
          <p:cNvPr id="75" name="Line 75"/>
          <p:cNvCxnSpPr/>
          <p:nvPr/>
        </p:nvCxnSpPr>
        <p:spPr>
          <a:xfrm>
            <a:off x="6591148" y="4643628"/>
            <a:ext cx="2705100" cy="0"/>
          </a:xfrm>
          <a:prstGeom prst="line">
            <a:avLst/>
          </a:prstGeom>
          <a:ln w="9525" cap="flat">
            <a:solidFill>
              <a:srgbClr val="E6E8F2"/>
            </a:solidFill>
          </a:ln>
        </p:spPr>
      </p:cxnSp>
      <p:cxnSp>
        <p:nvCxnSpPr>
          <p:cNvPr id="76" name="Line 76"/>
          <p:cNvCxnSpPr/>
          <p:nvPr/>
        </p:nvCxnSpPr>
        <p:spPr>
          <a:xfrm>
            <a:off x="6591148" y="4441698"/>
            <a:ext cx="2705100" cy="0"/>
          </a:xfrm>
          <a:prstGeom prst="line">
            <a:avLst/>
          </a:prstGeom>
          <a:ln w="9525" cap="flat">
            <a:solidFill>
              <a:srgbClr val="E6E8F2"/>
            </a:solidFill>
          </a:ln>
        </p:spPr>
      </p:cxnSp>
      <p:cxnSp>
        <p:nvCxnSpPr>
          <p:cNvPr id="77" name="Line 77"/>
          <p:cNvCxnSpPr/>
          <p:nvPr/>
        </p:nvCxnSpPr>
        <p:spPr>
          <a:xfrm>
            <a:off x="6591148" y="4239768"/>
            <a:ext cx="2705100" cy="0"/>
          </a:xfrm>
          <a:prstGeom prst="line">
            <a:avLst/>
          </a:prstGeom>
          <a:ln w="9525" cap="flat">
            <a:solidFill>
              <a:srgbClr val="E6E8F2"/>
            </a:solidFill>
          </a:ln>
        </p:spPr>
      </p:cxnSp>
      <p:cxnSp>
        <p:nvCxnSpPr>
          <p:cNvPr id="78" name="Line 78"/>
          <p:cNvCxnSpPr/>
          <p:nvPr/>
        </p:nvCxnSpPr>
        <p:spPr>
          <a:xfrm>
            <a:off x="6591148" y="4037838"/>
            <a:ext cx="2705100" cy="0"/>
          </a:xfrm>
          <a:prstGeom prst="line">
            <a:avLst/>
          </a:prstGeom>
          <a:ln w="9525" cap="flat">
            <a:solidFill>
              <a:srgbClr val="E6E8F2"/>
            </a:solidFill>
          </a:ln>
        </p:spPr>
      </p:cxnSp>
      <p:cxnSp>
        <p:nvCxnSpPr>
          <p:cNvPr id="79" name="Line 79"/>
          <p:cNvCxnSpPr/>
          <p:nvPr/>
        </p:nvCxnSpPr>
        <p:spPr>
          <a:xfrm>
            <a:off x="6591148" y="3835908"/>
            <a:ext cx="2705100" cy="0"/>
          </a:xfrm>
          <a:prstGeom prst="line">
            <a:avLst/>
          </a:prstGeom>
          <a:ln w="9525" cap="flat">
            <a:solidFill>
              <a:srgbClr val="E6E8F2"/>
            </a:solidFill>
          </a:ln>
        </p:spPr>
      </p:cxnSp>
      <p:cxnSp>
        <p:nvCxnSpPr>
          <p:cNvPr id="80" name="Line 80"/>
          <p:cNvCxnSpPr/>
          <p:nvPr/>
        </p:nvCxnSpPr>
        <p:spPr>
          <a:xfrm>
            <a:off x="6591148" y="3835908"/>
            <a:ext cx="0" cy="2019300"/>
          </a:xfrm>
          <a:prstGeom prst="line">
            <a:avLst/>
          </a:prstGeom>
          <a:ln w="19050" cap="flat">
            <a:solidFill>
              <a:srgbClr val="5F6272"/>
            </a:solidFill>
          </a:ln>
        </p:spPr>
      </p:cxnSp>
      <p:cxnSp>
        <p:nvCxnSpPr>
          <p:cNvPr id="81" name="Line 81"/>
          <p:cNvCxnSpPr/>
          <p:nvPr/>
        </p:nvCxnSpPr>
        <p:spPr>
          <a:xfrm>
            <a:off x="6591148" y="5855208"/>
            <a:ext cx="2705100" cy="0"/>
          </a:xfrm>
          <a:prstGeom prst="line">
            <a:avLst/>
          </a:prstGeom>
          <a:ln w="19050" cap="flat">
            <a:solidFill>
              <a:srgbClr val="5F6272"/>
            </a:solidFill>
          </a:ln>
        </p:spPr>
      </p:cxnSp>
      <p:sp>
        <p:nvSpPr>
          <p:cNvPr id="82" name="Shape 82"/>
          <p:cNvSpPr txBox="1"/>
          <p:nvPr/>
        </p:nvSpPr>
        <p:spPr>
          <a:xfrm>
            <a:off x="63168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3" name="Shape 83"/>
          <p:cNvSpPr txBox="1"/>
          <p:nvPr/>
        </p:nvSpPr>
        <p:spPr>
          <a:xfrm>
            <a:off x="67676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84" name="Shape 84"/>
          <p:cNvSpPr txBox="1"/>
          <p:nvPr/>
        </p:nvSpPr>
        <p:spPr>
          <a:xfrm>
            <a:off x="72185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85" name="Shape 85"/>
          <p:cNvSpPr txBox="1"/>
          <p:nvPr/>
        </p:nvSpPr>
        <p:spPr>
          <a:xfrm>
            <a:off x="76693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30</a:t>
            </a:r>
            <a:endParaRPr lang="en-US" sz="975" dirty="0"/>
          </a:p>
        </p:txBody>
      </p:sp>
      <p:sp>
        <p:nvSpPr>
          <p:cNvPr id="86" name="Shape 86"/>
          <p:cNvSpPr txBox="1"/>
          <p:nvPr/>
        </p:nvSpPr>
        <p:spPr>
          <a:xfrm>
            <a:off x="81202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40</a:t>
            </a:r>
            <a:endParaRPr lang="en-US" sz="975" dirty="0"/>
          </a:p>
        </p:txBody>
      </p:sp>
      <p:sp>
        <p:nvSpPr>
          <p:cNvPr id="87" name="Shape 87"/>
          <p:cNvSpPr txBox="1"/>
          <p:nvPr/>
        </p:nvSpPr>
        <p:spPr>
          <a:xfrm>
            <a:off x="85710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50</a:t>
            </a:r>
            <a:endParaRPr lang="en-US" sz="975" dirty="0"/>
          </a:p>
        </p:txBody>
      </p:sp>
      <p:sp>
        <p:nvSpPr>
          <p:cNvPr id="88" name="Shape 88"/>
          <p:cNvSpPr txBox="1"/>
          <p:nvPr/>
        </p:nvSpPr>
        <p:spPr>
          <a:xfrm>
            <a:off x="90219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60</a:t>
            </a:r>
            <a:endParaRPr lang="en-US" sz="975" dirty="0"/>
          </a:p>
        </p:txBody>
      </p:sp>
      <p:sp>
        <p:nvSpPr>
          <p:cNvPr id="89" name="Shape 89"/>
          <p:cNvSpPr txBox="1"/>
          <p:nvPr/>
        </p:nvSpPr>
        <p:spPr>
          <a:xfrm>
            <a:off x="6024220" y="5763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0" name="Shape 90"/>
          <p:cNvSpPr txBox="1"/>
          <p:nvPr/>
        </p:nvSpPr>
        <p:spPr>
          <a:xfrm>
            <a:off x="6024220" y="535990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91" name="Shape 91"/>
          <p:cNvSpPr txBox="1"/>
          <p:nvPr/>
        </p:nvSpPr>
        <p:spPr>
          <a:xfrm>
            <a:off x="6024220" y="4956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92" name="Shape 92"/>
          <p:cNvSpPr txBox="1"/>
          <p:nvPr/>
        </p:nvSpPr>
        <p:spPr>
          <a:xfrm>
            <a:off x="6024220" y="4552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93" name="Shape 93"/>
          <p:cNvSpPr txBox="1"/>
          <p:nvPr/>
        </p:nvSpPr>
        <p:spPr>
          <a:xfrm>
            <a:off x="6024220" y="41483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94" name="Shape 94"/>
          <p:cNvSpPr txBox="1"/>
          <p:nvPr/>
        </p:nvSpPr>
        <p:spPr>
          <a:xfrm>
            <a:off x="6024220" y="37444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95" name="Shape 95"/>
          <p:cNvSpPr/>
          <p:nvPr/>
        </p:nvSpPr>
        <p:spPr>
          <a:xfrm>
            <a:off x="8973350" y="580282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6" name="Shape 96"/>
          <p:cNvSpPr txBox="1"/>
          <p:nvPr/>
        </p:nvSpPr>
        <p:spPr>
          <a:xfrm>
            <a:off x="9111463" y="560755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(54, 0)</a:t>
            </a:r>
            <a:endParaRPr lang="en-US" sz="1125" dirty="0"/>
          </a:p>
        </p:txBody>
      </p:sp>
      <p:sp>
        <p:nvSpPr>
          <p:cNvPr id="97" name="Shape 97"/>
          <p:cNvSpPr/>
          <p:nvPr/>
        </p:nvSpPr>
        <p:spPr>
          <a:xfrm>
            <a:off x="6538760" y="3985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8" name="Shape 98"/>
          <p:cNvSpPr txBox="1"/>
          <p:nvPr/>
        </p:nvSpPr>
        <p:spPr>
          <a:xfrm>
            <a:off x="6676873" y="3790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cxnSp>
        <p:nvCxnSpPr>
          <p:cNvPr id="99" name="Line 99"/>
          <p:cNvCxnSpPr/>
          <p:nvPr/>
        </p:nvCxnSpPr>
        <p:spPr>
          <a:xfrm>
            <a:off x="6591148" y="4037838"/>
            <a:ext cx="2434590" cy="181737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anim calcmode="lin" valueType="num">
                                      <p:cBhvr>
                                        <p:cTn id="19" dur="500" fill="hold"/>
                                        <p:tgtEl>
                                          <p:spTgt spid="47"/>
                                        </p:tgtEl>
                                        <p:attrNameLst>
                                          <p:attrName>ppt_w</p:attrName>
                                        </p:attrNameLst>
                                      </p:cBhvr>
                                      <p:tavLst>
                                        <p:tav tm="0">
                                          <p:val>
                                            <p:fltVal val="0"/>
                                          </p:val>
                                        </p:tav>
                                        <p:tav tm="100000">
                                          <p:val>
                                            <p:strVal val="#ppt_w"/>
                                          </p:val>
                                        </p:tav>
                                      </p:tavLst>
                                    </p:anim>
                                    <p:anim calcmode="lin" valueType="num">
                                      <p:cBhvr>
                                        <p:cTn id="20" dur="500" fill="hold"/>
                                        <p:tgtEl>
                                          <p:spTgt spid="47"/>
                                        </p:tgtEl>
                                        <p:attrNameLst>
                                          <p:attrName>ppt_h</p:attrName>
                                        </p:attrNameLst>
                                      </p:cBhvr>
                                      <p:tavLst>
                                        <p:tav tm="0">
                                          <p:val>
                                            <p:fltVal val="0"/>
                                          </p:val>
                                        </p:tav>
                                        <p:tav tm="100000">
                                          <p:val>
                                            <p:strVal val="#ppt_h"/>
                                          </p:val>
                                        </p:tav>
                                      </p:tavLst>
                                    </p:anim>
                                  </p:childTnLst>
                                </p:cTn>
                              </p:par>
                              <p:par>
                                <p:cTn id="26" presetID="53" presetClass="entr" presetSubtype="16"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anim calcmode="lin" valueType="num">
                                      <p:cBhvr>
                                        <p:cTn id="24" dur="500" fill="hold"/>
                                        <p:tgtEl>
                                          <p:spTgt spid="48"/>
                                        </p:tgtEl>
                                        <p:attrNameLst>
                                          <p:attrName>ppt_w</p:attrName>
                                        </p:attrNameLst>
                                      </p:cBhvr>
                                      <p:tavLst>
                                        <p:tav tm="0">
                                          <p:val>
                                            <p:fltVal val="0"/>
                                          </p:val>
                                        </p:tav>
                                        <p:tav tm="100000">
                                          <p:val>
                                            <p:strVal val="#ppt_w"/>
                                          </p:val>
                                        </p:tav>
                                      </p:tavLst>
                                    </p:anim>
                                    <p:anim calcmode="lin" valueType="num">
                                      <p:cBhvr>
                                        <p:cTn id="25" dur="5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anim calcmode="lin" valueType="num">
                                      <p:cBhvr>
                                        <p:cTn id="31" dur="500" fill="hold"/>
                                        <p:tgtEl>
                                          <p:spTgt spid="49"/>
                                        </p:tgtEl>
                                        <p:attrNameLst>
                                          <p:attrName>ppt_w</p:attrName>
                                        </p:attrNameLst>
                                      </p:cBhvr>
                                      <p:tavLst>
                                        <p:tav tm="0">
                                          <p:val>
                                            <p:fltVal val="0"/>
                                          </p:val>
                                        </p:tav>
                                        <p:tav tm="100000">
                                          <p:val>
                                            <p:strVal val="#ppt_w"/>
                                          </p:val>
                                        </p:tav>
                                      </p:tavLst>
                                    </p:anim>
                                    <p:anim calcmode="lin" valueType="num">
                                      <p:cBhvr>
                                        <p:cTn id="32" dur="500" fill="hold"/>
                                        <p:tgtEl>
                                          <p:spTgt spid="49"/>
                                        </p:tgtEl>
                                        <p:attrNameLst>
                                          <p:attrName>ppt_h</p:attrName>
                                        </p:attrNameLst>
                                      </p:cBhvr>
                                      <p:tavLst>
                                        <p:tav tm="0">
                                          <p:val>
                                            <p:fltVal val="0"/>
                                          </p:val>
                                        </p:tav>
                                        <p:tav tm="100000">
                                          <p:val>
                                            <p:strVal val="#ppt_h"/>
                                          </p:val>
                                        </p:tav>
                                      </p:tavLst>
                                    </p:anim>
                                  </p:childTnLst>
                                </p:cTn>
                              </p:par>
                              <p:par>
                                <p:cTn id="38" presetID="53" presetClass="entr" presetSubtype="16"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fade">
                                      <p:cBhvr>
                                        <p:cTn id="35" dur="500"/>
                                        <p:tgtEl>
                                          <p:spTgt spid="50"/>
                                        </p:tgtEl>
                                      </p:cBhvr>
                                    </p:animEffect>
                                    <p:anim calcmode="lin" valueType="num">
                                      <p:cBhvr>
                                        <p:cTn id="36" dur="500" fill="hold"/>
                                        <p:tgtEl>
                                          <p:spTgt spid="50"/>
                                        </p:tgtEl>
                                        <p:attrNameLst>
                                          <p:attrName>ppt_w</p:attrName>
                                        </p:attrNameLst>
                                      </p:cBhvr>
                                      <p:tavLst>
                                        <p:tav tm="0">
                                          <p:val>
                                            <p:fltVal val="0"/>
                                          </p:val>
                                        </p:tav>
                                        <p:tav tm="100000">
                                          <p:val>
                                            <p:strVal val="#ppt_w"/>
                                          </p:val>
                                        </p:tav>
                                      </p:tavLst>
                                    </p:anim>
                                    <p:anim calcmode="lin" valueType="num">
                                      <p:cBhvr>
                                        <p:cTn id="37"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3" presetID="22" presetClass="entr" presetSubtype="8" fill="hold"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wipe(left)">
                                      <p:cBhvr>
                                        <p:cTn id="42" dur="700"/>
                                        <p:tgtEl>
                                          <p:spTgt spid="51"/>
                                        </p:tgtEl>
                                      </p:cBhvr>
                                    </p:animEffect>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anim calcmode="lin" valueType="num">
                                      <p:cBhvr>
                                        <p:cTn id="48" dur="500" fill="hold"/>
                                        <p:tgtEl>
                                          <p:spTgt spid="53"/>
                                        </p:tgtEl>
                                        <p:attrNameLst>
                                          <p:attrName>ppt_x</p:attrName>
                                        </p:attrNameLst>
                                      </p:cBhvr>
                                      <p:tavLst>
                                        <p:tav tm="0">
                                          <p:val>
                                            <p:strVal val="#ppt_x"/>
                                          </p:val>
                                        </p:tav>
                                        <p:tav tm="100000">
                                          <p:val>
                                            <p:strVal val="#ppt_x"/>
                                          </p:val>
                                        </p:tav>
                                      </p:tavLst>
                                    </p:anim>
                                    <p:anim calcmode="lin" valueType="num">
                                      <p:cBhvr>
                                        <p:cTn id="49" dur="5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anim calcmode="lin" valueType="num">
                                      <p:cBhvr>
                                        <p:cTn id="55" dur="500" fill="hold"/>
                                        <p:tgtEl>
                                          <p:spTgt spid="54"/>
                                        </p:tgtEl>
                                        <p:attrNameLst>
                                          <p:attrName>ppt_w</p:attrName>
                                        </p:attrNameLst>
                                      </p:cBhvr>
                                      <p:tavLst>
                                        <p:tav tm="0">
                                          <p:val>
                                            <p:fltVal val="0"/>
                                          </p:val>
                                        </p:tav>
                                        <p:tav tm="100000">
                                          <p:val>
                                            <p:strVal val="#ppt_w"/>
                                          </p:val>
                                        </p:tav>
                                      </p:tavLst>
                                    </p:anim>
                                    <p:anim calcmode="lin" valueType="num">
                                      <p:cBhvr>
                                        <p:cTn id="56"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64" presetID="53" presetClass="entr" presetSubtype="16" fill="hold" nodeType="clickEffect">
                                  <p:stCondLst>
                                    <p:cond delay="0"/>
                                  </p:stCondLst>
                                  <p:childTnLst>
                                    <p:set>
                                      <p:cBhvr>
                                        <p:cTn id="60" dur="1" fill="hold">
                                          <p:stCondLst>
                                            <p:cond delay="0"/>
                                          </p:stCondLst>
                                        </p:cTn>
                                        <p:tgtEl>
                                          <p:spTgt spid="95"/>
                                        </p:tgtEl>
                                        <p:attrNameLst>
                                          <p:attrName>style.visibility</p:attrName>
                                        </p:attrNameLst>
                                      </p:cBhvr>
                                      <p:to>
                                        <p:strVal val="visible"/>
                                      </p:to>
                                    </p:set>
                                    <p:animEffect transition="in" filter="fade">
                                      <p:cBhvr>
                                        <p:cTn id="61" dur="500"/>
                                        <p:tgtEl>
                                          <p:spTgt spid="95"/>
                                        </p:tgtEl>
                                      </p:cBhvr>
                                    </p:animEffect>
                                    <p:anim calcmode="lin" valueType="num">
                                      <p:cBhvr>
                                        <p:cTn id="62" dur="500" fill="hold"/>
                                        <p:tgtEl>
                                          <p:spTgt spid="95"/>
                                        </p:tgtEl>
                                        <p:attrNameLst>
                                          <p:attrName>ppt_w</p:attrName>
                                        </p:attrNameLst>
                                      </p:cBhvr>
                                      <p:tavLst>
                                        <p:tav tm="0">
                                          <p:val>
                                            <p:fltVal val="0"/>
                                          </p:val>
                                        </p:tav>
                                        <p:tav tm="100000">
                                          <p:val>
                                            <p:strVal val="#ppt_w"/>
                                          </p:val>
                                        </p:tav>
                                      </p:tavLst>
                                    </p:anim>
                                    <p:anim calcmode="lin" valueType="num">
                                      <p:cBhvr>
                                        <p:cTn id="63" dur="500" fill="hold"/>
                                        <p:tgtEl>
                                          <p:spTgt spid="95"/>
                                        </p:tgtEl>
                                        <p:attrNameLst>
                                          <p:attrName>ppt_h</p:attrName>
                                        </p:attrNameLst>
                                      </p:cBhvr>
                                      <p:tavLst>
                                        <p:tav tm="0">
                                          <p:val>
                                            <p:fltVal val="0"/>
                                          </p:val>
                                        </p:tav>
                                        <p:tav tm="100000">
                                          <p:val>
                                            <p:strVal val="#ppt_h"/>
                                          </p:val>
                                        </p:tav>
                                      </p:tavLst>
                                    </p:anim>
                                  </p:childTnLst>
                                </p:cTn>
                              </p:par>
                              <p:par>
                                <p:cTn id="69" presetID="53" presetClass="entr" presetSubtype="16" fill="hold" nodeType="withEffect">
                                  <p:stCondLst>
                                    <p:cond delay="0"/>
                                  </p:stCondLst>
                                  <p:childTnLst>
                                    <p:set>
                                      <p:cBhvr>
                                        <p:cTn id="65" dur="1" fill="hold">
                                          <p:stCondLst>
                                            <p:cond delay="0"/>
                                          </p:stCondLst>
                                        </p:cTn>
                                        <p:tgtEl>
                                          <p:spTgt spid="96"/>
                                        </p:tgtEl>
                                        <p:attrNameLst>
                                          <p:attrName>style.visibility</p:attrName>
                                        </p:attrNameLst>
                                      </p:cBhvr>
                                      <p:to>
                                        <p:strVal val="visible"/>
                                      </p:to>
                                    </p:set>
                                    <p:animEffect transition="in" filter="fade">
                                      <p:cBhvr>
                                        <p:cTn id="66" dur="500"/>
                                        <p:tgtEl>
                                          <p:spTgt spid="96"/>
                                        </p:tgtEl>
                                      </p:cBhvr>
                                    </p:animEffect>
                                    <p:anim calcmode="lin" valueType="num">
                                      <p:cBhvr>
                                        <p:cTn id="67" dur="500" fill="hold"/>
                                        <p:tgtEl>
                                          <p:spTgt spid="96"/>
                                        </p:tgtEl>
                                        <p:attrNameLst>
                                          <p:attrName>ppt_w</p:attrName>
                                        </p:attrNameLst>
                                      </p:cBhvr>
                                      <p:tavLst>
                                        <p:tav tm="0">
                                          <p:val>
                                            <p:fltVal val="0"/>
                                          </p:val>
                                        </p:tav>
                                        <p:tav tm="100000">
                                          <p:val>
                                            <p:strVal val="#ppt_w"/>
                                          </p:val>
                                        </p:tav>
                                      </p:tavLst>
                                    </p:anim>
                                    <p:anim calcmode="lin" valueType="num">
                                      <p:cBhvr>
                                        <p:cTn id="68" dur="500" fill="hold"/>
                                        <p:tgtEl>
                                          <p:spTgt spid="96"/>
                                        </p:tgtEl>
                                        <p:attrNameLst>
                                          <p:attrName>ppt_h</p:attrName>
                                        </p:attrNameLst>
                                      </p:cBhvr>
                                      <p:tavLst>
                                        <p:tav tm="0">
                                          <p:val>
                                            <p:flt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76" presetID="53" presetClass="entr" presetSubtype="16" fill="hold" nodeType="clickEffect">
                                  <p:stCondLst>
                                    <p:cond delay="0"/>
                                  </p:stCondLst>
                                  <p:childTnLst>
                                    <p:set>
                                      <p:cBhvr>
                                        <p:cTn id="72" dur="1" fill="hold">
                                          <p:stCondLst>
                                            <p:cond delay="0"/>
                                          </p:stCondLst>
                                        </p:cTn>
                                        <p:tgtEl>
                                          <p:spTgt spid="97"/>
                                        </p:tgtEl>
                                        <p:attrNameLst>
                                          <p:attrName>style.visibility</p:attrName>
                                        </p:attrNameLst>
                                      </p:cBhvr>
                                      <p:to>
                                        <p:strVal val="visible"/>
                                      </p:to>
                                    </p:set>
                                    <p:animEffect transition="in" filter="fade">
                                      <p:cBhvr>
                                        <p:cTn id="73" dur="500"/>
                                        <p:tgtEl>
                                          <p:spTgt spid="97"/>
                                        </p:tgtEl>
                                      </p:cBhvr>
                                    </p:animEffect>
                                    <p:anim calcmode="lin" valueType="num">
                                      <p:cBhvr>
                                        <p:cTn id="74" dur="500" fill="hold"/>
                                        <p:tgtEl>
                                          <p:spTgt spid="97"/>
                                        </p:tgtEl>
                                        <p:attrNameLst>
                                          <p:attrName>ppt_w</p:attrName>
                                        </p:attrNameLst>
                                      </p:cBhvr>
                                      <p:tavLst>
                                        <p:tav tm="0">
                                          <p:val>
                                            <p:fltVal val="0"/>
                                          </p:val>
                                        </p:tav>
                                        <p:tav tm="100000">
                                          <p:val>
                                            <p:strVal val="#ppt_w"/>
                                          </p:val>
                                        </p:tav>
                                      </p:tavLst>
                                    </p:anim>
                                    <p:anim calcmode="lin" valueType="num">
                                      <p:cBhvr>
                                        <p:cTn id="75" dur="500" fill="hold"/>
                                        <p:tgtEl>
                                          <p:spTgt spid="97"/>
                                        </p:tgtEl>
                                        <p:attrNameLst>
                                          <p:attrName>ppt_h</p:attrName>
                                        </p:attrNameLst>
                                      </p:cBhvr>
                                      <p:tavLst>
                                        <p:tav tm="0">
                                          <p:val>
                                            <p:fltVal val="0"/>
                                          </p:val>
                                        </p:tav>
                                        <p:tav tm="100000">
                                          <p:val>
                                            <p:strVal val="#ppt_h"/>
                                          </p:val>
                                        </p:tav>
                                      </p:tavLst>
                                    </p:anim>
                                  </p:childTnLst>
                                </p:cTn>
                              </p:par>
                              <p:par>
                                <p:cTn id="81" presetID="53" presetClass="entr" presetSubtype="16" fill="hold" nodeType="withEffect">
                                  <p:stCondLst>
                                    <p:cond delay="0"/>
                                  </p:stCondLst>
                                  <p:childTnLst>
                                    <p:set>
                                      <p:cBhvr>
                                        <p:cTn id="77" dur="1" fill="hold">
                                          <p:stCondLst>
                                            <p:cond delay="0"/>
                                          </p:stCondLst>
                                        </p:cTn>
                                        <p:tgtEl>
                                          <p:spTgt spid="98"/>
                                        </p:tgtEl>
                                        <p:attrNameLst>
                                          <p:attrName>style.visibility</p:attrName>
                                        </p:attrNameLst>
                                      </p:cBhvr>
                                      <p:to>
                                        <p:strVal val="visible"/>
                                      </p:to>
                                    </p:set>
                                    <p:animEffect transition="in" filter="fade">
                                      <p:cBhvr>
                                        <p:cTn id="78" dur="500"/>
                                        <p:tgtEl>
                                          <p:spTgt spid="98"/>
                                        </p:tgtEl>
                                      </p:cBhvr>
                                    </p:animEffect>
                                    <p:anim calcmode="lin" valueType="num">
                                      <p:cBhvr>
                                        <p:cTn id="79" dur="500" fill="hold"/>
                                        <p:tgtEl>
                                          <p:spTgt spid="98"/>
                                        </p:tgtEl>
                                        <p:attrNameLst>
                                          <p:attrName>ppt_w</p:attrName>
                                        </p:attrNameLst>
                                      </p:cBhvr>
                                      <p:tavLst>
                                        <p:tav tm="0">
                                          <p:val>
                                            <p:fltVal val="0"/>
                                          </p:val>
                                        </p:tav>
                                        <p:tav tm="100000">
                                          <p:val>
                                            <p:strVal val="#ppt_w"/>
                                          </p:val>
                                        </p:tav>
                                      </p:tavLst>
                                    </p:anim>
                                    <p:anim calcmode="lin" valueType="num">
                                      <p:cBhvr>
                                        <p:cTn id="80" dur="500" fill="hold"/>
                                        <p:tgtEl>
                                          <p:spTgt spid="98"/>
                                        </p:tgtEl>
                                        <p:attrNameLst>
                                          <p:attrName>ppt_h</p:attrName>
                                        </p:attrNameLst>
                                      </p:cBhvr>
                                      <p:tavLst>
                                        <p:tav tm="0">
                                          <p:val>
                                            <p:fltVal val="0"/>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6" presetID="22" presetClass="entr" presetSubtype="8" fill="hold" nodeType="clickEffect">
                                  <p:stCondLst>
                                    <p:cond delay="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7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1.4: describe and graph</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1.5: hit the targets</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Talk the Talk</a:t>
            </a:r>
            <a:endParaRPr lang="en-US" sz="1950" dirty="0"/>
          </a:p>
        </p:txBody>
      </p:sp>
      <p:sp>
        <p:nvSpPr>
          <p:cNvPr id="8" name="Shape 8"/>
          <p:cNvSpPr txBox="1"/>
          <p:nvPr/>
        </p:nvSpPr>
        <p:spPr>
          <a:xfrm>
            <a:off x="685800" y="371246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Exit ticket</a:t>
            </a:r>
            <a:endParaRPr lang="en-US" sz="1950" dirty="0"/>
          </a:p>
        </p:txBody>
      </p:sp>
      <p:sp>
        <p:nvSpPr>
          <p:cNvPr id="9" name="Shape 9"/>
          <p:cNvSpPr txBox="1"/>
          <p:nvPr/>
        </p:nvSpPr>
        <p:spPr>
          <a:xfrm>
            <a:off x="685800" y="4235958"/>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1.4 · Graphing Linear Transformations · SE pp. 280–281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Describe each transformation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r>
              <a:rPr lang="en-US" sz="3450" dirty="0" b="1">
                <a:solidFill>
                  <a:srgbClr val="16171D"/>
                </a:solidFill>
                <a:latin typeface="Segoe UI"/>
                <a:cs typeface="Segoe UI"/>
              </a:rPr>
              <a:t xml:space="preserve">, then graph </a:t>
            </a:r>
            <a:r>
              <a:rPr lang="en-US" sz="3450" dirty="0" b="1" i="1">
                <a:solidFill>
                  <a:srgbClr val="16171D"/>
                </a:solidFill>
                <a:latin typeface="Segoe UI"/>
                <a:cs typeface="Segoe UI"/>
              </a:rPr>
              <a:t xml:space="preserve">g</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a:t>
            </a:r>
            <a:endParaRPr lang="en-US" sz="3450" dirty="0"/>
          </a:p>
        </p:txBody>
      </p:sp>
      <p:sp>
        <p:nvSpPr>
          <p:cNvPr id="7" name="Shape 7"/>
          <p:cNvSpPr txBox="1"/>
          <p:nvPr/>
        </p:nvSpPr>
        <p:spPr>
          <a:xfrm>
            <a:off x="685800" y="2144268"/>
            <a:ext cx="349239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231571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2</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+ 7</a:t>
            </a:r>
            <a:endParaRPr lang="en-US" sz="2100" dirty="0"/>
          </a:p>
        </p:txBody>
      </p:sp>
      <p:sp>
        <p:nvSpPr>
          <p:cNvPr id="5" name="Shape 5"/>
          <p:cNvSpPr txBox="1"/>
          <p:nvPr/>
        </p:nvSpPr>
        <p:spPr>
          <a:xfrm>
            <a:off x="895350" y="278587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 by 2, then up 7</a:t>
            </a:r>
            <a:endParaRPr lang="en-US" sz="1575" dirty="0"/>
          </a:p>
        </p:txBody>
      </p:sp>
      <p:sp>
        <p:nvSpPr>
          <p:cNvPr id="6" name="Shape 6"/>
          <p:cNvSpPr txBox="1"/>
          <p:nvPr/>
        </p:nvSpPr>
        <p:spPr>
          <a:xfrm>
            <a:off x="895350" y="317601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1" name="Shape 11"/>
          <p:cNvSpPr txBox="1"/>
          <p:nvPr/>
        </p:nvSpPr>
        <p:spPr>
          <a:xfrm>
            <a:off x="4349648" y="2144268"/>
            <a:ext cx="349239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231571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3</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− 1</a:t>
            </a:r>
            <a:endParaRPr lang="en-US" sz="2100" dirty="0"/>
          </a:p>
        </p:txBody>
      </p:sp>
      <p:sp>
        <p:nvSpPr>
          <p:cNvPr id="9" name="Shape 9"/>
          <p:cNvSpPr txBox="1"/>
          <p:nvPr/>
        </p:nvSpPr>
        <p:spPr>
          <a:xfrm>
            <a:off x="4559198" y="278587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 by 3, then down 1</a:t>
            </a:r>
            <a:endParaRPr lang="en-US" sz="1575" dirty="0"/>
          </a:p>
        </p:txBody>
      </p:sp>
      <p:sp>
        <p:nvSpPr>
          <p:cNvPr id="10" name="Shape 10"/>
          <p:cNvSpPr txBox="1"/>
          <p:nvPr/>
        </p:nvSpPr>
        <p:spPr>
          <a:xfrm>
            <a:off x="4559198" y="317601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5" name="Shape 15"/>
          <p:cNvSpPr txBox="1"/>
          <p:nvPr/>
        </p:nvSpPr>
        <p:spPr>
          <a:xfrm>
            <a:off x="8013497" y="2144268"/>
            <a:ext cx="349239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231571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⅓</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+ 2</a:t>
            </a:r>
            <a:endParaRPr lang="en-US" sz="2100" dirty="0"/>
          </a:p>
        </p:txBody>
      </p:sp>
      <p:sp>
        <p:nvSpPr>
          <p:cNvPr id="13" name="Shape 13"/>
          <p:cNvSpPr txBox="1"/>
          <p:nvPr/>
        </p:nvSpPr>
        <p:spPr>
          <a:xfrm>
            <a:off x="8223047" y="278587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Compress by ⅓, then up 2</a:t>
            </a:r>
            <a:endParaRPr lang="en-US" sz="1575" dirty="0"/>
          </a:p>
        </p:txBody>
      </p:sp>
      <p:sp>
        <p:nvSpPr>
          <p:cNvPr id="14" name="Shape 14"/>
          <p:cNvSpPr txBox="1"/>
          <p:nvPr/>
        </p:nvSpPr>
        <p:spPr>
          <a:xfrm>
            <a:off x="8223047" y="317601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⅓</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9" name="Shape 19"/>
          <p:cNvSpPr txBox="1"/>
          <p:nvPr/>
        </p:nvSpPr>
        <p:spPr>
          <a:xfrm>
            <a:off x="685800" y="399973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171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½</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− 3</a:t>
            </a:r>
            <a:endParaRPr lang="en-US" sz="2100" dirty="0"/>
          </a:p>
        </p:txBody>
      </p:sp>
      <p:sp>
        <p:nvSpPr>
          <p:cNvPr id="17" name="Shape 17"/>
          <p:cNvSpPr txBox="1"/>
          <p:nvPr/>
        </p:nvSpPr>
        <p:spPr>
          <a:xfrm>
            <a:off x="895350" y="46413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Compress by ½, then down 3</a:t>
            </a:r>
            <a:endParaRPr lang="en-US" sz="1575" dirty="0"/>
          </a:p>
        </p:txBody>
      </p:sp>
      <p:sp>
        <p:nvSpPr>
          <p:cNvPr id="18" name="Shape 18"/>
          <p:cNvSpPr txBox="1"/>
          <p:nvPr/>
        </p:nvSpPr>
        <p:spPr>
          <a:xfrm>
            <a:off x="895350" y="503148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½</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23" name="Shape 23"/>
          <p:cNvSpPr txBox="1"/>
          <p:nvPr/>
        </p:nvSpPr>
        <p:spPr>
          <a:xfrm>
            <a:off x="4349648" y="399973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171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− 4</a:t>
            </a:r>
            <a:endParaRPr lang="en-US" sz="2100" dirty="0"/>
          </a:p>
        </p:txBody>
      </p:sp>
      <p:sp>
        <p:nvSpPr>
          <p:cNvPr id="21" name="Shape 21"/>
          <p:cNvSpPr txBox="1"/>
          <p:nvPr/>
        </p:nvSpPr>
        <p:spPr>
          <a:xfrm>
            <a:off x="4559198" y="464134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Reflect across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then down 4</a:t>
            </a:r>
            <a:endParaRPr lang="en-US" sz="1575" dirty="0"/>
          </a:p>
        </p:txBody>
      </p:sp>
      <p:sp>
        <p:nvSpPr>
          <p:cNvPr id="22" name="Shape 22"/>
          <p:cNvSpPr txBox="1"/>
          <p:nvPr/>
        </p:nvSpPr>
        <p:spPr>
          <a:xfrm>
            <a:off x="4559198" y="527151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27" name="Shape 27"/>
          <p:cNvSpPr txBox="1"/>
          <p:nvPr/>
        </p:nvSpPr>
        <p:spPr>
          <a:xfrm>
            <a:off x="8013497" y="399973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171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−⅔</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+ 5</a:t>
            </a:r>
            <a:endParaRPr lang="en-US" sz="2100" dirty="0"/>
          </a:p>
        </p:txBody>
      </p:sp>
      <p:sp>
        <p:nvSpPr>
          <p:cNvPr id="25" name="Shape 25"/>
          <p:cNvSpPr txBox="1"/>
          <p:nvPr/>
        </p:nvSpPr>
        <p:spPr>
          <a:xfrm>
            <a:off x="8223047" y="464134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Reflect and compress by ⅔, then up 5</a:t>
            </a:r>
            <a:endParaRPr lang="en-US" sz="1575" dirty="0"/>
          </a:p>
        </p:txBody>
      </p:sp>
      <p:sp>
        <p:nvSpPr>
          <p:cNvPr id="26" name="Shape 26"/>
          <p:cNvSpPr txBox="1"/>
          <p:nvPr/>
        </p:nvSpPr>
        <p:spPr>
          <a:xfrm>
            <a:off x="8223047" y="5271516"/>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−⅔</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anim calcmode="lin" valueType="num">
                                      <p:cBhvr>
                                        <p:cTn id="47" dur="500" fill="hold"/>
                                        <p:tgtEl>
                                          <p:spTgt spid="17"/>
                                        </p:tgtEl>
                                        <p:attrNameLst>
                                          <p:attrName>ppt_x</p:attrName>
                                        </p:attrNameLst>
                                      </p:cBhvr>
                                      <p:tavLst>
                                        <p:tav tm="0">
                                          <p:val>
                                            <p:strVal val="#ppt_x"/>
                                          </p:val>
                                        </p:tav>
                                        <p:tav tm="100000">
                                          <p:val>
                                            <p:strVal val="#ppt_x"/>
                                          </p:val>
                                        </p:tav>
                                      </p:tavLst>
                                    </p:anim>
                                    <p:anim calcmode="lin" valueType="num">
                                      <p:cBhvr>
                                        <p:cTn id="48"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anim calcmode="lin" valueType="num">
                                      <p:cBhvr>
                                        <p:cTn id="61" dur="500" fill="hold"/>
                                        <p:tgtEl>
                                          <p:spTgt spid="21"/>
                                        </p:tgtEl>
                                        <p:attrNameLst>
                                          <p:attrName>ppt_x</p:attrName>
                                        </p:attrNameLst>
                                      </p:cBhvr>
                                      <p:tavLst>
                                        <p:tav tm="0">
                                          <p:val>
                                            <p:strVal val="#ppt_x"/>
                                          </p:val>
                                        </p:tav>
                                        <p:tav tm="100000">
                                          <p:val>
                                            <p:strVal val="#ppt_x"/>
                                          </p:val>
                                        </p:tav>
                                      </p:tavLst>
                                    </p:anim>
                                    <p:anim calcmode="lin" valueType="num">
                                      <p:cBhvr>
                                        <p:cTn id="62"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53" presetClass="entr" presetSubtype="16"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anim calcmode="lin" valueType="num">
                                      <p:cBhvr>
                                        <p:cTn id="68" dur="500" fill="hold"/>
                                        <p:tgtEl>
                                          <p:spTgt spid="22"/>
                                        </p:tgtEl>
                                        <p:attrNameLst>
                                          <p:attrName>ppt_w</p:attrName>
                                        </p:attrNameLst>
                                      </p:cBhvr>
                                      <p:tavLst>
                                        <p:tav tm="0">
                                          <p:val>
                                            <p:fltVal val="0"/>
                                          </p:val>
                                        </p:tav>
                                        <p:tav tm="100000">
                                          <p:val>
                                            <p:strVal val="#ppt_w"/>
                                          </p:val>
                                        </p:tav>
                                      </p:tavLst>
                                    </p:anim>
                                    <p:anim calcmode="lin" valueType="num">
                                      <p:cBhvr>
                                        <p:cTn id="69"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anim calcmode="lin" valueType="num">
                                      <p:cBhvr>
                                        <p:cTn id="75" dur="500" fill="hold"/>
                                        <p:tgtEl>
                                          <p:spTgt spid="25"/>
                                        </p:tgtEl>
                                        <p:attrNameLst>
                                          <p:attrName>ppt_x</p:attrName>
                                        </p:attrNameLst>
                                      </p:cBhvr>
                                      <p:tavLst>
                                        <p:tav tm="0">
                                          <p:val>
                                            <p:strVal val="#ppt_x"/>
                                          </p:val>
                                        </p:tav>
                                        <p:tav tm="100000">
                                          <p:val>
                                            <p:strVal val="#ppt_x"/>
                                          </p:val>
                                        </p:tav>
                                      </p:tavLst>
                                    </p:anim>
                                    <p:anim calcmode="lin" valueType="num">
                                      <p:cBhvr>
                                        <p:cTn id="7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53" presetClass="entr" presetSubtype="16" fill="hold"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anim calcmode="lin" valueType="num">
                                      <p:cBhvr>
                                        <p:cTn id="82" dur="500" fill="hold"/>
                                        <p:tgtEl>
                                          <p:spTgt spid="26"/>
                                        </p:tgtEl>
                                        <p:attrNameLst>
                                          <p:attrName>ppt_w</p:attrName>
                                        </p:attrNameLst>
                                      </p:cBhvr>
                                      <p:tavLst>
                                        <p:tav tm="0">
                                          <p:val>
                                            <p:fltVal val="0"/>
                                          </p:val>
                                        </p:tav>
                                        <p:tav tm="100000">
                                          <p:val>
                                            <p:strVal val="#ppt_w"/>
                                          </p:val>
                                        </p:tav>
                                      </p:tavLst>
                                    </p:anim>
                                    <p:anim calcmode="lin" valueType="num">
                                      <p:cBhvr>
                                        <p:cTn id="83" dur="5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1.4 · Question 2 · SE p. 281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 </a:t>
            </a:r>
            <a:r>
              <a:rPr lang="en-US" sz="3450" dirty="0" b="1" i="1">
                <a:solidFill>
                  <a:srgbClr val="C9561F"/>
                </a:solidFill>
                <a:latin typeface="Cambria"/>
                <a:cs typeface="Cambria"/>
              </a:rPr>
              <a:t xml:space="preserve">a</a:t>
            </a:r>
            <a:r>
              <a:rPr lang="en-US" sz="3450" dirty="0" b="1">
                <a:solidFill>
                  <a:srgbClr val="16171D"/>
                </a:solidFill>
                <a:latin typeface="Segoe UI"/>
                <a:cs typeface="Segoe UI"/>
              </a:rPr>
              <a:t xml:space="preserve"> and </a:t>
            </a:r>
            <a:r>
              <a:rPr lang="en-US" sz="3450" dirty="0" b="1" i="1">
                <a:solidFill>
                  <a:srgbClr val="3050B8"/>
                </a:solidFill>
                <a:latin typeface="Cambria"/>
                <a:cs typeface="Cambria"/>
              </a:rPr>
              <a:t xml:space="preserve">d</a:t>
            </a:r>
            <a:r>
              <a:rPr lang="en-US" sz="3450" dirty="0" b="1">
                <a:solidFill>
                  <a:srgbClr val="16171D"/>
                </a:solidFill>
                <a:latin typeface="Segoe UI"/>
                <a:cs typeface="Segoe UI"/>
              </a:rPr>
              <a:t xml:space="preserve"> do in </a:t>
            </a:r>
            <a:r>
              <a:rPr lang="en-US" sz="3450" dirty="0" b="1" i="1">
                <a:solidFill>
                  <a:srgbClr val="16171D"/>
                </a:solidFill>
                <a:latin typeface="Cambria"/>
                <a:cs typeface="Cambria"/>
              </a:rPr>
              <a:t xml:space="preserve">g</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a</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d</a:t>
            </a:r>
            <a:r>
              <a:rPr lang="en-US" sz="3450" dirty="0" b="1">
                <a:solidFill>
                  <a:srgbClr val="16171D"/>
                </a:solidFill>
                <a:latin typeface="Segoe UI"/>
                <a:cs typeface="Segoe UI"/>
              </a:rPr>
              <a:t xml:space="preserve">?</a:t>
            </a:r>
            <a:endParaRPr lang="en-US" sz="3450" dirty="0"/>
          </a:p>
        </p:txBody>
      </p:sp>
      <p:sp>
        <p:nvSpPr>
          <p:cNvPr id="7" name="Shape 7"/>
          <p:cNvSpPr txBox="1"/>
          <p:nvPr/>
        </p:nvSpPr>
        <p:spPr>
          <a:xfrm>
            <a:off x="685800" y="1618488"/>
            <a:ext cx="521954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C9561F"/>
                </a:solidFill>
                <a:latin typeface="Cambria"/>
                <a:cs typeface="Cambria"/>
              </a:rPr>
              <a:t xml:space="preserve">a</a:t>
            </a:r>
            <a:endParaRPr lang="en-US" sz="2100" dirty="0"/>
          </a:p>
        </p:txBody>
      </p:sp>
      <p:sp>
        <p:nvSpPr>
          <p:cNvPr id="5" name="Shape 5"/>
          <p:cNvSpPr txBox="1"/>
          <p:nvPr/>
        </p:nvSpPr>
        <p:spPr>
          <a:xfrm>
            <a:off x="895350" y="2260092"/>
            <a:ext cx="480044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slope. 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the slope becomes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steeper when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&gt; 1</a:t>
            </a:r>
            <a:r>
              <a:rPr lang="en-US" sz="1575" dirty="0">
                <a:solidFill>
                  <a:srgbClr val="16171D"/>
                </a:solidFill>
                <a:latin typeface="Segoe UI"/>
                <a:cs typeface="Segoe UI"/>
              </a:rPr>
              <a:t xml:space="preserve">, less steep when </a:t>
            </a:r>
            <a:r>
              <a:rPr lang="en-US" sz="1575" dirty="0">
                <a:solidFill>
                  <a:srgbClr val="16171D"/>
                </a:solidFill>
                <a:latin typeface="Cambria"/>
                <a:cs typeface="Cambria"/>
              </a:rPr>
              <a:t xml:space="preserve">0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1</a:t>
            </a:r>
            <a:r>
              <a:rPr lang="en-US" sz="1575" dirty="0">
                <a:solidFill>
                  <a:srgbClr val="16171D"/>
                </a:solidFill>
                <a:latin typeface="Segoe UI"/>
                <a:cs typeface="Segoe UI"/>
              </a:rPr>
              <a:t xml:space="preserve">, reflected when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895350" y="3130296"/>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Does not change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11" name="Shape 11"/>
          <p:cNvSpPr txBox="1"/>
          <p:nvPr/>
        </p:nvSpPr>
        <p:spPr>
          <a:xfrm>
            <a:off x="6286348" y="1618488"/>
            <a:ext cx="521954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3050B8"/>
                </a:solidFill>
                <a:latin typeface="Cambria"/>
                <a:cs typeface="Cambria"/>
              </a:rPr>
              <a:t xml:space="preserve">d</a:t>
            </a:r>
            <a:endParaRPr lang="en-US" sz="2100" dirty="0"/>
          </a:p>
        </p:txBody>
      </p:sp>
      <p:sp>
        <p:nvSpPr>
          <p:cNvPr id="9" name="Shape 9"/>
          <p:cNvSpPr txBox="1"/>
          <p:nvPr/>
        </p:nvSpPr>
        <p:spPr>
          <a:xfrm>
            <a:off x="6495898" y="226009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Does not change the slope.</a:t>
            </a:r>
            <a:endParaRPr lang="en-US" sz="1575" dirty="0"/>
          </a:p>
        </p:txBody>
      </p:sp>
      <p:sp>
        <p:nvSpPr>
          <p:cNvPr id="10" name="Shape 10"/>
          <p:cNvSpPr txBox="1"/>
          <p:nvPr/>
        </p:nvSpPr>
        <p:spPr>
          <a:xfrm>
            <a:off x="6495898" y="2650236"/>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Moves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to </a:t>
            </a:r>
            <a:r>
              <a:rPr lang="en-US" sz="1575" dirty="0">
                <a:solidFill>
                  <a:srgbClr val="16171D"/>
                </a:solidFill>
                <a:latin typeface="Cambria"/>
                <a:cs typeface="Cambria"/>
              </a:rPr>
              <a:t xml:space="preserve">(0,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up when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&gt; 0</a:t>
            </a:r>
            <a:r>
              <a:rPr lang="en-US" sz="1575" dirty="0">
                <a:solidFill>
                  <a:srgbClr val="16171D"/>
                </a:solidFill>
                <a:latin typeface="Segoe UI"/>
                <a:cs typeface="Segoe UI"/>
              </a:rPr>
              <a:t xml:space="preserve">, down when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1.5 · Hit the Targets · SE pp. 282–283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Aim with </a:t>
            </a:r>
            <a:r>
              <a:rPr lang="en-US" sz="3450" dirty="0" b="1" i="1">
                <a:solidFill>
                  <a:srgbClr val="16171D"/>
                </a:solidFill>
                <a:latin typeface="Cambria"/>
                <a:cs typeface="Cambria"/>
              </a:rPr>
              <a:t xml:space="preserve">g</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a</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d</a:t>
            </a:r>
            <a:endParaRPr lang="en-US" sz="3450" dirty="0"/>
          </a:p>
        </p:txBody>
      </p:sp>
      <p:sp>
        <p:nvSpPr>
          <p:cNvPr id="4" name="Shape 4"/>
          <p:cNvSpPr txBox="1"/>
          <p:nvPr/>
        </p:nvSpPr>
        <p:spPr>
          <a:xfrm>
            <a:off x="685800" y="1618488"/>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shot is the graph of a transformation of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Hit each target.</a:t>
            </a:r>
            <a:endParaRPr lang="en-US" sz="1575" dirty="0"/>
          </a:p>
        </p:txBody>
      </p:sp>
      <p:sp>
        <p:nvSpPr>
          <p:cNvPr id="7" name="Shape 7"/>
          <p:cNvSpPr txBox="1"/>
          <p:nvPr/>
        </p:nvSpPr>
        <p:spPr>
          <a:xfrm>
            <a:off x="685800" y="2248662"/>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 name="Shape 5"/>
          <p:cNvSpPr txBox="1"/>
          <p:nvPr/>
        </p:nvSpPr>
        <p:spPr>
          <a:xfrm>
            <a:off x="895350" y="2420112"/>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Version B: </a:t>
            </a:r>
            <a:r>
              <a:rPr lang="en-US" sz="2100" dirty="0" b="1" i="1">
                <a:solidFill>
                  <a:srgbClr val="16171D"/>
                </a:solidFill>
                <a:latin typeface="Cambria"/>
                <a:cs typeface="Cambria"/>
              </a:rPr>
              <a:t xml:space="preserve">a</a:t>
            </a:r>
            <a:r>
              <a:rPr lang="en-US" sz="2100" dirty="0" b="1">
                <a:solidFill>
                  <a:srgbClr val="16171D"/>
                </a:solidFill>
                <a:latin typeface="Cambria"/>
                <a:cs typeface="Cambria"/>
              </a:rPr>
              <a:t xml:space="preserve"> = 1</a:t>
            </a:r>
            <a:r>
              <a:rPr lang="en-US" sz="2100" dirty="0" b="1">
                <a:solidFill>
                  <a:srgbClr val="16171D"/>
                </a:solidFill>
                <a:latin typeface="Segoe UI"/>
                <a:cs typeface="Segoe UI"/>
              </a:rPr>
              <a:t xml:space="preserve"> or </a:t>
            </a:r>
            <a:r>
              <a:rPr lang="en-US" sz="2100" dirty="0" b="1">
                <a:solidFill>
                  <a:srgbClr val="16171D"/>
                </a:solidFill>
                <a:latin typeface="Cambria"/>
                <a:cs typeface="Cambria"/>
              </a:rPr>
              <a:t xml:space="preserve">−1</a:t>
            </a:r>
            <a:r>
              <a:rPr lang="en-US" sz="2100" dirty="0" b="1">
                <a:solidFill>
                  <a:srgbClr val="16171D"/>
                </a:solidFill>
                <a:latin typeface="Segoe UI"/>
                <a:cs typeface="Segoe UI"/>
              </a:rPr>
              <a:t xml:space="preserve">; choose </a:t>
            </a:r>
            <a:r>
              <a:rPr lang="en-US" sz="2100" dirty="0" b="1" i="1">
                <a:solidFill>
                  <a:srgbClr val="16171D"/>
                </a:solidFill>
                <a:latin typeface="Cambria"/>
                <a:cs typeface="Cambria"/>
              </a:rPr>
              <a:t xml:space="preserve">d</a:t>
            </a:r>
            <a:endParaRPr lang="en-US" sz="2100" dirty="0"/>
          </a:p>
        </p:txBody>
      </p:sp>
      <p:sp>
        <p:nvSpPr>
          <p:cNvPr id="6" name="Shape 6"/>
          <p:cNvSpPr txBox="1"/>
          <p:nvPr/>
        </p:nvSpPr>
        <p:spPr>
          <a:xfrm>
            <a:off x="895350" y="2890266"/>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(−4, 6)</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(5, 4)</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 −1</a:t>
            </a:r>
            <a:br>
              <a:rPr lang="en-US" sz="1575" dirty="0">
                <a:solidFill>
                  <a:srgbClr val="16171D"/>
                </a:solidFill>
                <a:latin typeface="Segoe UI"/>
                <a:cs typeface="Segoe UI"/>
              </a:rPr>
            </a:br>
            <a:r>
              <a:rPr lang="en-US" sz="1575" dirty="0">
                <a:solidFill>
                  <a:srgbClr val="16171D"/>
                </a:solidFill>
                <a:latin typeface="Cambria"/>
                <a:cs typeface="Cambria"/>
              </a:rPr>
              <a:t xml:space="preserve">(1, −3)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 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 −4</a:t>
            </a:r>
            <a:endParaRPr lang="en-US" sz="1575" dirty="0"/>
          </a:p>
        </p:txBody>
      </p:sp>
      <p:sp>
        <p:nvSpPr>
          <p:cNvPr id="10" name="Shape 10"/>
          <p:cNvSpPr txBox="1"/>
          <p:nvPr/>
        </p:nvSpPr>
        <p:spPr>
          <a:xfrm>
            <a:off x="685800" y="3691890"/>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863340"/>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Version C: </a:t>
            </a:r>
            <a:r>
              <a:rPr lang="en-US" sz="2100" dirty="0" b="1" i="1">
                <a:solidFill>
                  <a:srgbClr val="16171D"/>
                </a:solidFill>
                <a:latin typeface="Cambria"/>
                <a:cs typeface="Cambria"/>
              </a:rPr>
              <a:t xml:space="preserve">d</a:t>
            </a:r>
            <a:r>
              <a:rPr lang="en-US" sz="2100" dirty="0" b="1">
                <a:solidFill>
                  <a:srgbClr val="16171D"/>
                </a:solidFill>
                <a:latin typeface="Cambria"/>
                <a:cs typeface="Cambria"/>
              </a:rPr>
              <a:t xml:space="preserve"> = 0</a:t>
            </a:r>
            <a:r>
              <a:rPr lang="en-US" sz="2100" dirty="0" b="1">
                <a:solidFill>
                  <a:srgbClr val="16171D"/>
                </a:solidFill>
                <a:latin typeface="Segoe UI"/>
                <a:cs typeface="Segoe UI"/>
              </a:rPr>
              <a:t xml:space="preserve">; choose </a:t>
            </a:r>
            <a:r>
              <a:rPr lang="en-US" sz="2100" dirty="0" b="1" i="1">
                <a:solidFill>
                  <a:srgbClr val="16171D"/>
                </a:solidFill>
                <a:latin typeface="Cambria"/>
                <a:cs typeface="Cambria"/>
              </a:rPr>
              <a:t xml:space="preserve">a</a:t>
            </a:r>
            <a:endParaRPr lang="en-US" sz="2100" dirty="0"/>
          </a:p>
        </p:txBody>
      </p:sp>
      <p:sp>
        <p:nvSpPr>
          <p:cNvPr id="9" name="Shape 9"/>
          <p:cNvSpPr txBox="1"/>
          <p:nvPr/>
        </p:nvSpPr>
        <p:spPr>
          <a:xfrm>
            <a:off x="895350" y="4333494"/>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(−4, 6)</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−3/2</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(5, 4)</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4/5</a:t>
            </a:r>
            <a:br>
              <a:rPr lang="en-US" sz="1575" dirty="0">
                <a:solidFill>
                  <a:srgbClr val="16171D"/>
                </a:solidFill>
                <a:latin typeface="Segoe UI"/>
                <a:cs typeface="Segoe UI"/>
              </a:rPr>
            </a:br>
            <a:r>
              <a:rPr lang="en-US" sz="1575" dirty="0">
                <a:solidFill>
                  <a:srgbClr val="16171D"/>
                </a:solidFill>
                <a:latin typeface="Cambria"/>
                <a:cs typeface="Cambria"/>
              </a:rPr>
              <a:t xml:space="preserve">(1, −3)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 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−1/5</a:t>
            </a:r>
            <a:endParaRPr lang="en-US" sz="1575" dirty="0"/>
          </a:p>
        </p:txBody>
      </p:sp>
      <p:sp>
        <p:nvSpPr>
          <p:cNvPr id="11" name="Shape 11"/>
          <p:cNvSpPr/>
          <p:nvPr/>
        </p:nvSpPr>
        <p:spPr>
          <a:xfrm>
            <a:off x="6286348" y="1618488"/>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6610198" y="1732788"/>
            <a:ext cx="0" cy="2781300"/>
          </a:xfrm>
          <a:prstGeom prst="line">
            <a:avLst/>
          </a:prstGeom>
          <a:ln w="9525" cap="flat">
            <a:solidFill>
              <a:srgbClr val="E6E8F2"/>
            </a:solidFill>
          </a:ln>
        </p:spPr>
      </p:cxnSp>
      <p:cxnSp>
        <p:nvCxnSpPr>
          <p:cNvPr id="13" name="Line 13"/>
          <p:cNvCxnSpPr/>
          <p:nvPr/>
        </p:nvCxnSpPr>
        <p:spPr>
          <a:xfrm>
            <a:off x="6779266" y="1732788"/>
            <a:ext cx="0" cy="2781300"/>
          </a:xfrm>
          <a:prstGeom prst="line">
            <a:avLst/>
          </a:prstGeom>
          <a:ln w="9525" cap="flat">
            <a:solidFill>
              <a:srgbClr val="E6E8F2"/>
            </a:solidFill>
          </a:ln>
        </p:spPr>
      </p:cxnSp>
      <p:cxnSp>
        <p:nvCxnSpPr>
          <p:cNvPr id="14" name="Line 14"/>
          <p:cNvCxnSpPr/>
          <p:nvPr/>
        </p:nvCxnSpPr>
        <p:spPr>
          <a:xfrm>
            <a:off x="6948335" y="1732788"/>
            <a:ext cx="0" cy="2781300"/>
          </a:xfrm>
          <a:prstGeom prst="line">
            <a:avLst/>
          </a:prstGeom>
          <a:ln w="9525" cap="flat">
            <a:solidFill>
              <a:srgbClr val="E6E8F2"/>
            </a:solidFill>
          </a:ln>
        </p:spPr>
      </p:cxnSp>
      <p:cxnSp>
        <p:nvCxnSpPr>
          <p:cNvPr id="15" name="Line 15"/>
          <p:cNvCxnSpPr/>
          <p:nvPr/>
        </p:nvCxnSpPr>
        <p:spPr>
          <a:xfrm>
            <a:off x="7117404" y="1732788"/>
            <a:ext cx="0" cy="2781300"/>
          </a:xfrm>
          <a:prstGeom prst="line">
            <a:avLst/>
          </a:prstGeom>
          <a:ln w="9525" cap="flat">
            <a:solidFill>
              <a:srgbClr val="E6E8F2"/>
            </a:solidFill>
          </a:ln>
        </p:spPr>
      </p:cxnSp>
      <p:cxnSp>
        <p:nvCxnSpPr>
          <p:cNvPr id="16" name="Line 16"/>
          <p:cNvCxnSpPr/>
          <p:nvPr/>
        </p:nvCxnSpPr>
        <p:spPr>
          <a:xfrm>
            <a:off x="7286473" y="1732788"/>
            <a:ext cx="0" cy="2781300"/>
          </a:xfrm>
          <a:prstGeom prst="line">
            <a:avLst/>
          </a:prstGeom>
          <a:ln w="9525" cap="flat">
            <a:solidFill>
              <a:srgbClr val="E6E8F2"/>
            </a:solidFill>
          </a:ln>
        </p:spPr>
      </p:cxnSp>
      <p:cxnSp>
        <p:nvCxnSpPr>
          <p:cNvPr id="17" name="Line 17"/>
          <p:cNvCxnSpPr/>
          <p:nvPr/>
        </p:nvCxnSpPr>
        <p:spPr>
          <a:xfrm>
            <a:off x="7455541" y="1732788"/>
            <a:ext cx="0" cy="2781300"/>
          </a:xfrm>
          <a:prstGeom prst="line">
            <a:avLst/>
          </a:prstGeom>
          <a:ln w="9525" cap="flat">
            <a:solidFill>
              <a:srgbClr val="E6E8F2"/>
            </a:solidFill>
          </a:ln>
        </p:spPr>
      </p:cxnSp>
      <p:cxnSp>
        <p:nvCxnSpPr>
          <p:cNvPr id="18" name="Line 18"/>
          <p:cNvCxnSpPr/>
          <p:nvPr/>
        </p:nvCxnSpPr>
        <p:spPr>
          <a:xfrm>
            <a:off x="7624610" y="1732788"/>
            <a:ext cx="0" cy="2781300"/>
          </a:xfrm>
          <a:prstGeom prst="line">
            <a:avLst/>
          </a:prstGeom>
          <a:ln w="9525" cap="flat">
            <a:solidFill>
              <a:srgbClr val="E6E8F2"/>
            </a:solidFill>
          </a:ln>
        </p:spPr>
      </p:cxnSp>
      <p:cxnSp>
        <p:nvCxnSpPr>
          <p:cNvPr id="19" name="Line 19"/>
          <p:cNvCxnSpPr/>
          <p:nvPr/>
        </p:nvCxnSpPr>
        <p:spPr>
          <a:xfrm>
            <a:off x="7793679" y="1732788"/>
            <a:ext cx="0" cy="2781300"/>
          </a:xfrm>
          <a:prstGeom prst="line">
            <a:avLst/>
          </a:prstGeom>
          <a:ln w="9525" cap="flat">
            <a:solidFill>
              <a:srgbClr val="E6E8F2"/>
            </a:solidFill>
          </a:ln>
        </p:spPr>
      </p:cxnSp>
      <p:cxnSp>
        <p:nvCxnSpPr>
          <p:cNvPr id="20" name="Line 20"/>
          <p:cNvCxnSpPr/>
          <p:nvPr/>
        </p:nvCxnSpPr>
        <p:spPr>
          <a:xfrm>
            <a:off x="7962748" y="1732788"/>
            <a:ext cx="0" cy="2781300"/>
          </a:xfrm>
          <a:prstGeom prst="line">
            <a:avLst/>
          </a:prstGeom>
          <a:ln w="9525" cap="flat">
            <a:solidFill>
              <a:srgbClr val="E6E8F2"/>
            </a:solidFill>
          </a:ln>
        </p:spPr>
      </p:cxnSp>
      <p:cxnSp>
        <p:nvCxnSpPr>
          <p:cNvPr id="21" name="Line 21"/>
          <p:cNvCxnSpPr/>
          <p:nvPr/>
        </p:nvCxnSpPr>
        <p:spPr>
          <a:xfrm>
            <a:off x="8131816" y="1732788"/>
            <a:ext cx="0" cy="2781300"/>
          </a:xfrm>
          <a:prstGeom prst="line">
            <a:avLst/>
          </a:prstGeom>
          <a:ln w="9525" cap="flat">
            <a:solidFill>
              <a:srgbClr val="E6E8F2"/>
            </a:solidFill>
          </a:ln>
        </p:spPr>
      </p:cxnSp>
      <p:cxnSp>
        <p:nvCxnSpPr>
          <p:cNvPr id="22" name="Line 22"/>
          <p:cNvCxnSpPr/>
          <p:nvPr/>
        </p:nvCxnSpPr>
        <p:spPr>
          <a:xfrm>
            <a:off x="8300885" y="1732788"/>
            <a:ext cx="0" cy="2781300"/>
          </a:xfrm>
          <a:prstGeom prst="line">
            <a:avLst/>
          </a:prstGeom>
          <a:ln w="9525" cap="flat">
            <a:solidFill>
              <a:srgbClr val="E6E8F2"/>
            </a:solidFill>
          </a:ln>
        </p:spPr>
      </p:cxnSp>
      <p:cxnSp>
        <p:nvCxnSpPr>
          <p:cNvPr id="23" name="Line 23"/>
          <p:cNvCxnSpPr/>
          <p:nvPr/>
        </p:nvCxnSpPr>
        <p:spPr>
          <a:xfrm>
            <a:off x="8469954" y="1732788"/>
            <a:ext cx="0" cy="2781300"/>
          </a:xfrm>
          <a:prstGeom prst="line">
            <a:avLst/>
          </a:prstGeom>
          <a:ln w="9525" cap="flat">
            <a:solidFill>
              <a:srgbClr val="E6E8F2"/>
            </a:solidFill>
          </a:ln>
        </p:spPr>
      </p:cxnSp>
      <p:cxnSp>
        <p:nvCxnSpPr>
          <p:cNvPr id="24" name="Line 24"/>
          <p:cNvCxnSpPr/>
          <p:nvPr/>
        </p:nvCxnSpPr>
        <p:spPr>
          <a:xfrm>
            <a:off x="8639023" y="1732788"/>
            <a:ext cx="0" cy="2781300"/>
          </a:xfrm>
          <a:prstGeom prst="line">
            <a:avLst/>
          </a:prstGeom>
          <a:ln w="9525" cap="flat">
            <a:solidFill>
              <a:srgbClr val="E6E8F2"/>
            </a:solidFill>
          </a:ln>
        </p:spPr>
      </p:cxnSp>
      <p:cxnSp>
        <p:nvCxnSpPr>
          <p:cNvPr id="25" name="Line 25"/>
          <p:cNvCxnSpPr/>
          <p:nvPr/>
        </p:nvCxnSpPr>
        <p:spPr>
          <a:xfrm>
            <a:off x="8808091" y="1732788"/>
            <a:ext cx="0" cy="2781300"/>
          </a:xfrm>
          <a:prstGeom prst="line">
            <a:avLst/>
          </a:prstGeom>
          <a:ln w="9525" cap="flat">
            <a:solidFill>
              <a:srgbClr val="E6E8F2"/>
            </a:solidFill>
          </a:ln>
        </p:spPr>
      </p:cxnSp>
      <p:cxnSp>
        <p:nvCxnSpPr>
          <p:cNvPr id="26" name="Line 26"/>
          <p:cNvCxnSpPr/>
          <p:nvPr/>
        </p:nvCxnSpPr>
        <p:spPr>
          <a:xfrm>
            <a:off x="8977160" y="1732788"/>
            <a:ext cx="0" cy="2781300"/>
          </a:xfrm>
          <a:prstGeom prst="line">
            <a:avLst/>
          </a:prstGeom>
          <a:ln w="9525" cap="flat">
            <a:solidFill>
              <a:srgbClr val="E6E8F2"/>
            </a:solidFill>
          </a:ln>
        </p:spPr>
      </p:cxnSp>
      <p:cxnSp>
        <p:nvCxnSpPr>
          <p:cNvPr id="27" name="Line 27"/>
          <p:cNvCxnSpPr/>
          <p:nvPr/>
        </p:nvCxnSpPr>
        <p:spPr>
          <a:xfrm>
            <a:off x="9146229" y="1732788"/>
            <a:ext cx="0" cy="2781300"/>
          </a:xfrm>
          <a:prstGeom prst="line">
            <a:avLst/>
          </a:prstGeom>
          <a:ln w="9525" cap="flat">
            <a:solidFill>
              <a:srgbClr val="E6E8F2"/>
            </a:solidFill>
          </a:ln>
        </p:spPr>
      </p:cxnSp>
      <p:cxnSp>
        <p:nvCxnSpPr>
          <p:cNvPr id="28" name="Line 28"/>
          <p:cNvCxnSpPr/>
          <p:nvPr/>
        </p:nvCxnSpPr>
        <p:spPr>
          <a:xfrm>
            <a:off x="9315298" y="1732788"/>
            <a:ext cx="0" cy="2781300"/>
          </a:xfrm>
          <a:prstGeom prst="line">
            <a:avLst/>
          </a:prstGeom>
          <a:ln w="9525" cap="flat">
            <a:solidFill>
              <a:srgbClr val="E6E8F2"/>
            </a:solidFill>
          </a:ln>
        </p:spPr>
      </p:cxnSp>
      <p:cxnSp>
        <p:nvCxnSpPr>
          <p:cNvPr id="29" name="Line 29"/>
          <p:cNvCxnSpPr/>
          <p:nvPr/>
        </p:nvCxnSpPr>
        <p:spPr>
          <a:xfrm>
            <a:off x="6610198" y="4514088"/>
            <a:ext cx="2705100" cy="0"/>
          </a:xfrm>
          <a:prstGeom prst="line">
            <a:avLst/>
          </a:prstGeom>
          <a:ln w="9525" cap="flat">
            <a:solidFill>
              <a:srgbClr val="E6E8F2"/>
            </a:solidFill>
          </a:ln>
        </p:spPr>
      </p:cxnSp>
      <p:cxnSp>
        <p:nvCxnSpPr>
          <p:cNvPr id="30" name="Line 30"/>
          <p:cNvCxnSpPr/>
          <p:nvPr/>
        </p:nvCxnSpPr>
        <p:spPr>
          <a:xfrm>
            <a:off x="6610198" y="4340257"/>
            <a:ext cx="2705100" cy="0"/>
          </a:xfrm>
          <a:prstGeom prst="line">
            <a:avLst/>
          </a:prstGeom>
          <a:ln w="9525" cap="flat">
            <a:solidFill>
              <a:srgbClr val="E6E8F2"/>
            </a:solidFill>
          </a:ln>
        </p:spPr>
      </p:cxnSp>
      <p:cxnSp>
        <p:nvCxnSpPr>
          <p:cNvPr id="31" name="Line 31"/>
          <p:cNvCxnSpPr/>
          <p:nvPr/>
        </p:nvCxnSpPr>
        <p:spPr>
          <a:xfrm>
            <a:off x="6610198" y="4166426"/>
            <a:ext cx="2705100" cy="0"/>
          </a:xfrm>
          <a:prstGeom prst="line">
            <a:avLst/>
          </a:prstGeom>
          <a:ln w="9525" cap="flat">
            <a:solidFill>
              <a:srgbClr val="E6E8F2"/>
            </a:solidFill>
          </a:ln>
        </p:spPr>
      </p:cxnSp>
      <p:cxnSp>
        <p:nvCxnSpPr>
          <p:cNvPr id="32" name="Line 32"/>
          <p:cNvCxnSpPr/>
          <p:nvPr/>
        </p:nvCxnSpPr>
        <p:spPr>
          <a:xfrm>
            <a:off x="6610198" y="3992594"/>
            <a:ext cx="2705100" cy="0"/>
          </a:xfrm>
          <a:prstGeom prst="line">
            <a:avLst/>
          </a:prstGeom>
          <a:ln w="9525" cap="flat">
            <a:solidFill>
              <a:srgbClr val="E6E8F2"/>
            </a:solidFill>
          </a:ln>
        </p:spPr>
      </p:cxnSp>
      <p:cxnSp>
        <p:nvCxnSpPr>
          <p:cNvPr id="33" name="Line 33"/>
          <p:cNvCxnSpPr/>
          <p:nvPr/>
        </p:nvCxnSpPr>
        <p:spPr>
          <a:xfrm>
            <a:off x="6610198" y="3818763"/>
            <a:ext cx="2705100" cy="0"/>
          </a:xfrm>
          <a:prstGeom prst="line">
            <a:avLst/>
          </a:prstGeom>
          <a:ln w="9525" cap="flat">
            <a:solidFill>
              <a:srgbClr val="E6E8F2"/>
            </a:solidFill>
          </a:ln>
        </p:spPr>
      </p:cxnSp>
      <p:cxnSp>
        <p:nvCxnSpPr>
          <p:cNvPr id="34" name="Line 34"/>
          <p:cNvCxnSpPr/>
          <p:nvPr/>
        </p:nvCxnSpPr>
        <p:spPr>
          <a:xfrm>
            <a:off x="6610198" y="3644932"/>
            <a:ext cx="2705100" cy="0"/>
          </a:xfrm>
          <a:prstGeom prst="line">
            <a:avLst/>
          </a:prstGeom>
          <a:ln w="9525" cap="flat">
            <a:solidFill>
              <a:srgbClr val="E6E8F2"/>
            </a:solidFill>
          </a:ln>
        </p:spPr>
      </p:cxnSp>
      <p:cxnSp>
        <p:nvCxnSpPr>
          <p:cNvPr id="35" name="Line 35"/>
          <p:cNvCxnSpPr/>
          <p:nvPr/>
        </p:nvCxnSpPr>
        <p:spPr>
          <a:xfrm>
            <a:off x="6610198" y="3471100"/>
            <a:ext cx="2705100" cy="0"/>
          </a:xfrm>
          <a:prstGeom prst="line">
            <a:avLst/>
          </a:prstGeom>
          <a:ln w="9525" cap="flat">
            <a:solidFill>
              <a:srgbClr val="E6E8F2"/>
            </a:solidFill>
          </a:ln>
        </p:spPr>
      </p:cxnSp>
      <p:cxnSp>
        <p:nvCxnSpPr>
          <p:cNvPr id="36" name="Line 36"/>
          <p:cNvCxnSpPr/>
          <p:nvPr/>
        </p:nvCxnSpPr>
        <p:spPr>
          <a:xfrm>
            <a:off x="6610198" y="3297269"/>
            <a:ext cx="2705100" cy="0"/>
          </a:xfrm>
          <a:prstGeom prst="line">
            <a:avLst/>
          </a:prstGeom>
          <a:ln w="9525" cap="flat">
            <a:solidFill>
              <a:srgbClr val="E6E8F2"/>
            </a:solidFill>
          </a:ln>
        </p:spPr>
      </p:cxnSp>
      <p:cxnSp>
        <p:nvCxnSpPr>
          <p:cNvPr id="37" name="Line 37"/>
          <p:cNvCxnSpPr/>
          <p:nvPr/>
        </p:nvCxnSpPr>
        <p:spPr>
          <a:xfrm>
            <a:off x="6610198" y="3123438"/>
            <a:ext cx="2705100" cy="0"/>
          </a:xfrm>
          <a:prstGeom prst="line">
            <a:avLst/>
          </a:prstGeom>
          <a:ln w="9525" cap="flat">
            <a:solidFill>
              <a:srgbClr val="E6E8F2"/>
            </a:solidFill>
          </a:ln>
        </p:spPr>
      </p:cxnSp>
      <p:cxnSp>
        <p:nvCxnSpPr>
          <p:cNvPr id="38" name="Line 38"/>
          <p:cNvCxnSpPr/>
          <p:nvPr/>
        </p:nvCxnSpPr>
        <p:spPr>
          <a:xfrm>
            <a:off x="6610198" y="2949607"/>
            <a:ext cx="2705100" cy="0"/>
          </a:xfrm>
          <a:prstGeom prst="line">
            <a:avLst/>
          </a:prstGeom>
          <a:ln w="9525" cap="flat">
            <a:solidFill>
              <a:srgbClr val="E6E8F2"/>
            </a:solidFill>
          </a:ln>
        </p:spPr>
      </p:cxnSp>
      <p:cxnSp>
        <p:nvCxnSpPr>
          <p:cNvPr id="39" name="Line 39"/>
          <p:cNvCxnSpPr/>
          <p:nvPr/>
        </p:nvCxnSpPr>
        <p:spPr>
          <a:xfrm>
            <a:off x="6610198" y="2775776"/>
            <a:ext cx="2705100" cy="0"/>
          </a:xfrm>
          <a:prstGeom prst="line">
            <a:avLst/>
          </a:prstGeom>
          <a:ln w="9525" cap="flat">
            <a:solidFill>
              <a:srgbClr val="E6E8F2"/>
            </a:solidFill>
          </a:ln>
        </p:spPr>
      </p:cxnSp>
      <p:cxnSp>
        <p:nvCxnSpPr>
          <p:cNvPr id="40" name="Line 40"/>
          <p:cNvCxnSpPr/>
          <p:nvPr/>
        </p:nvCxnSpPr>
        <p:spPr>
          <a:xfrm>
            <a:off x="6610198" y="2601944"/>
            <a:ext cx="2705100" cy="0"/>
          </a:xfrm>
          <a:prstGeom prst="line">
            <a:avLst/>
          </a:prstGeom>
          <a:ln w="9525" cap="flat">
            <a:solidFill>
              <a:srgbClr val="E6E8F2"/>
            </a:solidFill>
          </a:ln>
        </p:spPr>
      </p:cxnSp>
      <p:cxnSp>
        <p:nvCxnSpPr>
          <p:cNvPr id="41" name="Line 41"/>
          <p:cNvCxnSpPr/>
          <p:nvPr/>
        </p:nvCxnSpPr>
        <p:spPr>
          <a:xfrm>
            <a:off x="6610198" y="2428113"/>
            <a:ext cx="2705100" cy="0"/>
          </a:xfrm>
          <a:prstGeom prst="line">
            <a:avLst/>
          </a:prstGeom>
          <a:ln w="9525" cap="flat">
            <a:solidFill>
              <a:srgbClr val="E6E8F2"/>
            </a:solidFill>
          </a:ln>
        </p:spPr>
      </p:cxnSp>
      <p:cxnSp>
        <p:nvCxnSpPr>
          <p:cNvPr id="42" name="Line 42"/>
          <p:cNvCxnSpPr/>
          <p:nvPr/>
        </p:nvCxnSpPr>
        <p:spPr>
          <a:xfrm>
            <a:off x="6610198" y="2254282"/>
            <a:ext cx="2705100" cy="0"/>
          </a:xfrm>
          <a:prstGeom prst="line">
            <a:avLst/>
          </a:prstGeom>
          <a:ln w="9525" cap="flat">
            <a:solidFill>
              <a:srgbClr val="E6E8F2"/>
            </a:solidFill>
          </a:ln>
        </p:spPr>
      </p:cxnSp>
      <p:cxnSp>
        <p:nvCxnSpPr>
          <p:cNvPr id="43" name="Line 43"/>
          <p:cNvCxnSpPr/>
          <p:nvPr/>
        </p:nvCxnSpPr>
        <p:spPr>
          <a:xfrm>
            <a:off x="6610198" y="2080451"/>
            <a:ext cx="2705100" cy="0"/>
          </a:xfrm>
          <a:prstGeom prst="line">
            <a:avLst/>
          </a:prstGeom>
          <a:ln w="9525" cap="flat">
            <a:solidFill>
              <a:srgbClr val="E6E8F2"/>
            </a:solidFill>
          </a:ln>
        </p:spPr>
      </p:cxnSp>
      <p:cxnSp>
        <p:nvCxnSpPr>
          <p:cNvPr id="44" name="Line 44"/>
          <p:cNvCxnSpPr/>
          <p:nvPr/>
        </p:nvCxnSpPr>
        <p:spPr>
          <a:xfrm>
            <a:off x="6610198" y="1906619"/>
            <a:ext cx="2705100" cy="0"/>
          </a:xfrm>
          <a:prstGeom prst="line">
            <a:avLst/>
          </a:prstGeom>
          <a:ln w="9525" cap="flat">
            <a:solidFill>
              <a:srgbClr val="E6E8F2"/>
            </a:solidFill>
          </a:ln>
        </p:spPr>
      </p:cxnSp>
      <p:cxnSp>
        <p:nvCxnSpPr>
          <p:cNvPr id="45" name="Line 45"/>
          <p:cNvCxnSpPr/>
          <p:nvPr/>
        </p:nvCxnSpPr>
        <p:spPr>
          <a:xfrm>
            <a:off x="6610198" y="1732788"/>
            <a:ext cx="2705100" cy="0"/>
          </a:xfrm>
          <a:prstGeom prst="line">
            <a:avLst/>
          </a:prstGeom>
          <a:ln w="9525" cap="flat">
            <a:solidFill>
              <a:srgbClr val="E6E8F2"/>
            </a:solidFill>
          </a:ln>
        </p:spPr>
      </p:cxnSp>
      <p:cxnSp>
        <p:nvCxnSpPr>
          <p:cNvPr id="46" name="Line 46"/>
          <p:cNvCxnSpPr/>
          <p:nvPr/>
        </p:nvCxnSpPr>
        <p:spPr>
          <a:xfrm>
            <a:off x="7962748" y="1732788"/>
            <a:ext cx="0" cy="2781300"/>
          </a:xfrm>
          <a:prstGeom prst="line">
            <a:avLst/>
          </a:prstGeom>
          <a:ln w="19050" cap="flat">
            <a:solidFill>
              <a:srgbClr val="5F6272"/>
            </a:solidFill>
          </a:ln>
        </p:spPr>
      </p:cxnSp>
      <p:cxnSp>
        <p:nvCxnSpPr>
          <p:cNvPr id="47" name="Line 47"/>
          <p:cNvCxnSpPr/>
          <p:nvPr/>
        </p:nvCxnSpPr>
        <p:spPr>
          <a:xfrm>
            <a:off x="6610198" y="3123438"/>
            <a:ext cx="2705100" cy="0"/>
          </a:xfrm>
          <a:prstGeom prst="line">
            <a:avLst/>
          </a:prstGeom>
          <a:ln w="19050" cap="flat">
            <a:solidFill>
              <a:srgbClr val="5F6272"/>
            </a:solidFill>
          </a:ln>
        </p:spPr>
      </p:cxnSp>
      <p:sp>
        <p:nvSpPr>
          <p:cNvPr id="48" name="Shape 48"/>
          <p:cNvSpPr txBox="1"/>
          <p:nvPr/>
        </p:nvSpPr>
        <p:spPr>
          <a:xfrm>
            <a:off x="63358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6674015"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0" name="Shape 50"/>
          <p:cNvSpPr txBox="1"/>
          <p:nvPr/>
        </p:nvSpPr>
        <p:spPr>
          <a:xfrm>
            <a:off x="7012153"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1" name="Shape 51"/>
          <p:cNvSpPr txBox="1"/>
          <p:nvPr/>
        </p:nvSpPr>
        <p:spPr>
          <a:xfrm>
            <a:off x="7350290"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2" name="Shape 52"/>
          <p:cNvSpPr txBox="1"/>
          <p:nvPr/>
        </p:nvSpPr>
        <p:spPr>
          <a:xfrm>
            <a:off x="768842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8026565"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8364703"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8702840"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6" name="Shape 56"/>
          <p:cNvSpPr txBox="1"/>
          <p:nvPr/>
        </p:nvSpPr>
        <p:spPr>
          <a:xfrm>
            <a:off x="90409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7" name="Shape 57"/>
          <p:cNvSpPr txBox="1"/>
          <p:nvPr/>
        </p:nvSpPr>
        <p:spPr>
          <a:xfrm>
            <a:off x="6043270" y="44226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8" name="Shape 58"/>
          <p:cNvSpPr txBox="1"/>
          <p:nvPr/>
        </p:nvSpPr>
        <p:spPr>
          <a:xfrm>
            <a:off x="6043270" y="40749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9" name="Shape 59"/>
          <p:cNvSpPr txBox="1"/>
          <p:nvPr/>
        </p:nvSpPr>
        <p:spPr>
          <a:xfrm>
            <a:off x="6043270" y="37273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0" name="Shape 60"/>
          <p:cNvSpPr txBox="1"/>
          <p:nvPr/>
        </p:nvSpPr>
        <p:spPr>
          <a:xfrm>
            <a:off x="6043270" y="33796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1" name="Shape 61"/>
          <p:cNvSpPr txBox="1"/>
          <p:nvPr/>
        </p:nvSpPr>
        <p:spPr>
          <a:xfrm>
            <a:off x="6043270" y="30319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6043270" y="26843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3" name="Shape 63"/>
          <p:cNvSpPr txBox="1"/>
          <p:nvPr/>
        </p:nvSpPr>
        <p:spPr>
          <a:xfrm>
            <a:off x="6043270" y="23366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4" name="Shape 64"/>
          <p:cNvSpPr txBox="1"/>
          <p:nvPr/>
        </p:nvSpPr>
        <p:spPr>
          <a:xfrm>
            <a:off x="6043270" y="19890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5" name="Shape 65"/>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6" name="Shape 66"/>
          <p:cNvSpPr/>
          <p:nvPr/>
        </p:nvSpPr>
        <p:spPr>
          <a:xfrm>
            <a:off x="7234085" y="202806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7" name="Shape 67"/>
          <p:cNvSpPr txBox="1"/>
          <p:nvPr/>
        </p:nvSpPr>
        <p:spPr>
          <a:xfrm>
            <a:off x="7372198" y="183280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6)</a:t>
            </a:r>
            <a:endParaRPr lang="en-US" sz="1125" dirty="0"/>
          </a:p>
        </p:txBody>
      </p:sp>
      <p:sp>
        <p:nvSpPr>
          <p:cNvPr id="68" name="Shape 68"/>
          <p:cNvSpPr/>
          <p:nvPr/>
        </p:nvSpPr>
        <p:spPr>
          <a:xfrm>
            <a:off x="8755704" y="237572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9" name="Shape 69"/>
          <p:cNvSpPr txBox="1"/>
          <p:nvPr/>
        </p:nvSpPr>
        <p:spPr>
          <a:xfrm>
            <a:off x="8893816" y="21804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(5, 4)</a:t>
            </a:r>
            <a:endParaRPr lang="en-US" sz="1125" dirty="0"/>
          </a:p>
        </p:txBody>
      </p:sp>
      <p:sp>
        <p:nvSpPr>
          <p:cNvPr id="70" name="Shape 70"/>
          <p:cNvSpPr/>
          <p:nvPr/>
        </p:nvSpPr>
        <p:spPr>
          <a:xfrm>
            <a:off x="8079429" y="35925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8217541" y="339728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−3)</a:t>
            </a:r>
            <a:endParaRPr lang="en-US" sz="1125" dirty="0"/>
          </a:p>
        </p:txBody>
      </p:sp>
      <p:sp>
        <p:nvSpPr>
          <p:cNvPr id="72" name="Shape 72"/>
          <p:cNvSpPr/>
          <p:nvPr/>
        </p:nvSpPr>
        <p:spPr>
          <a:xfrm>
            <a:off x="7065016" y="289721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7203129" y="270195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(−5, 1)</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ppt_x</p:attrName>
                                        </p:attrNameLst>
                                      </p:cBhvr>
                                      <p:tavLst>
                                        <p:tav tm="0">
                                          <p:val>
                                            <p:strVal val="#ppt_x"/>
                                          </p:val>
                                        </p:tav>
                                        <p:tav tm="100000">
                                          <p:val>
                                            <p:strVal val="#ppt_x"/>
                                          </p:val>
                                        </p:tav>
                                      </p:tavLst>
                                    </p:anim>
                                    <p:anim calcmode="lin" valueType="num">
                                      <p:cBhvr>
                                        <p:cTn id="13"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SE p. 284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Match each graph to an equation in terms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endParaRPr lang="en-US" sz="3450" dirty="0"/>
          </a:p>
        </p:txBody>
      </p:sp>
      <p:sp>
        <p:nvSpPr>
          <p:cNvPr id="7" name="Shape 7"/>
          <p:cNvSpPr txBox="1"/>
          <p:nvPr/>
        </p:nvSpPr>
        <p:spPr>
          <a:xfrm>
            <a:off x="685800" y="161848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k</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5" name="Shape 5"/>
          <p:cNvSpPr txBox="1"/>
          <p:nvPr/>
        </p:nvSpPr>
        <p:spPr>
          <a:xfrm>
            <a:off x="895350" y="22600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6" name="Shape 6"/>
          <p:cNvSpPr txBox="1"/>
          <p:nvPr/>
        </p:nvSpPr>
        <p:spPr>
          <a:xfrm>
            <a:off x="895350" y="28742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Translated up 8.</a:t>
            </a:r>
            <a:endParaRPr lang="en-US" sz="1575" dirty="0"/>
          </a:p>
        </p:txBody>
      </p:sp>
      <p:sp>
        <p:nvSpPr>
          <p:cNvPr id="11" name="Shape 11"/>
          <p:cNvSpPr txBox="1"/>
          <p:nvPr/>
        </p:nvSpPr>
        <p:spPr>
          <a:xfrm>
            <a:off x="4349648" y="161848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h</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9" name="Shape 9"/>
          <p:cNvSpPr txBox="1"/>
          <p:nvPr/>
        </p:nvSpPr>
        <p:spPr>
          <a:xfrm>
            <a:off x="4559198" y="22600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4559198" y="287426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Stretched by 2: steeper, through (0, 0).</a:t>
            </a:r>
            <a:endParaRPr lang="en-US" sz="1575" dirty="0"/>
          </a:p>
        </p:txBody>
      </p:sp>
      <p:sp>
        <p:nvSpPr>
          <p:cNvPr id="15" name="Shape 15"/>
          <p:cNvSpPr txBox="1"/>
          <p:nvPr/>
        </p:nvSpPr>
        <p:spPr>
          <a:xfrm>
            <a:off x="8013497" y="161848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3" name="Shape 13"/>
          <p:cNvSpPr txBox="1"/>
          <p:nvPr/>
        </p:nvSpPr>
        <p:spPr>
          <a:xfrm>
            <a:off x="8223047" y="22600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⅓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4" name="Shape 14"/>
          <p:cNvSpPr txBox="1"/>
          <p:nvPr/>
        </p:nvSpPr>
        <p:spPr>
          <a:xfrm>
            <a:off x="8223047" y="287426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Compressed by ⅓: less steep, through (0, 0).</a:t>
            </a:r>
            <a:endParaRPr lang="en-US" sz="1575" dirty="0"/>
          </a:p>
        </p:txBody>
      </p:sp>
      <p:sp>
        <p:nvSpPr>
          <p:cNvPr id="19" name="Shape 19"/>
          <p:cNvSpPr txBox="1"/>
          <p:nvPr/>
        </p:nvSpPr>
        <p:spPr>
          <a:xfrm>
            <a:off x="685800" y="3713988"/>
            <a:ext cx="349239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38854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j</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7" name="Shape 17"/>
          <p:cNvSpPr txBox="1"/>
          <p:nvPr/>
        </p:nvSpPr>
        <p:spPr>
          <a:xfrm>
            <a:off x="895350" y="43555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8" name="Shape 18"/>
          <p:cNvSpPr txBox="1"/>
          <p:nvPr/>
        </p:nvSpPr>
        <p:spPr>
          <a:xfrm>
            <a:off x="895350" y="49697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Translated down 7.</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53" presetClass="entr" presetSubtype="16"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anim calcmode="lin" valueType="num">
                                      <p:cBhvr>
                                        <p:cTn id="47" dur="500" fill="hold"/>
                                        <p:tgtEl>
                                          <p:spTgt spid="17"/>
                                        </p:tgtEl>
                                        <p:attrNameLst>
                                          <p:attrName>ppt_w</p:attrName>
                                        </p:attrNameLst>
                                      </p:cBhvr>
                                      <p:tavLst>
                                        <p:tav tm="0">
                                          <p:val>
                                            <p:fltVal val="0"/>
                                          </p:val>
                                        </p:tav>
                                        <p:tav tm="100000">
                                          <p:val>
                                            <p:strVal val="#ppt_w"/>
                                          </p:val>
                                        </p:tav>
                                      </p:tavLst>
                                    </p:anim>
                                    <p:anim calcmode="lin" valueType="num">
                                      <p:cBhvr>
                                        <p:cTn id="48"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anim calcmode="lin" valueType="num">
                                      <p:cBhvr>
                                        <p:cTn id="54" dur="500" fill="hold"/>
                                        <p:tgtEl>
                                          <p:spTgt spid="18"/>
                                        </p:tgtEl>
                                        <p:attrNameLst>
                                          <p:attrName>ppt_x</p:attrName>
                                        </p:attrNameLst>
                                      </p:cBhvr>
                                      <p:tavLst>
                                        <p:tav tm="0">
                                          <p:val>
                                            <p:strVal val="#ppt_x"/>
                                          </p:val>
                                        </p:tav>
                                        <p:tav tm="100000">
                                          <p:val>
                                            <p:strVal val="#ppt_x"/>
                                          </p:val>
                                        </p:tav>
                                      </p:tavLst>
                                    </p:anim>
                                    <p:anim calcmode="lin" valueType="num">
                                      <p:cBhvr>
                                        <p:cTn id="55"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3</a:t>
            </a:r>
            <a:endParaRPr lang="en-US" sz="3450" dirty="0"/>
          </a:p>
        </p:txBody>
      </p:sp>
      <p:sp>
        <p:nvSpPr>
          <p:cNvPr id="7" name="Shape 7"/>
          <p:cNvSpPr txBox="1"/>
          <p:nvPr/>
        </p:nvSpPr>
        <p:spPr>
          <a:xfrm>
            <a:off x="685800" y="1618488"/>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Both together</a:t>
            </a:r>
            <a:endParaRPr lang="en-US" sz="2100" dirty="0"/>
          </a:p>
        </p:txBody>
      </p:sp>
      <p:sp>
        <p:nvSpPr>
          <p:cNvPr id="5" name="Shape 5"/>
          <p:cNvSpPr txBox="1"/>
          <p:nvPr/>
        </p:nvSpPr>
        <p:spPr>
          <a:xfrm>
            <a:off x="895350"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a</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a:t>
            </a:r>
            <a:r>
              <a:rPr lang="en-US" sz="2325" dirty="0" b="1" i="1">
                <a:solidFill>
                  <a:srgbClr val="3050B8"/>
                </a:solidFill>
                <a:latin typeface="Cambria"/>
                <a:cs typeface="Cambria"/>
              </a:rPr>
              <a:t xml:space="preserve">d</a:t>
            </a:r>
            <a:endParaRPr lang="en-US" sz="2325" dirty="0"/>
          </a:p>
        </p:txBody>
      </p:sp>
      <p:sp>
        <p:nvSpPr>
          <p:cNvPr id="6" name="Shape 6"/>
          <p:cNvSpPr txBox="1"/>
          <p:nvPr/>
        </p:nvSpPr>
        <p:spPr>
          <a:xfrm>
            <a:off x="895350" y="276453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4349648" y="1618488"/>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To graph</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Plot (0,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a:t>
            </a:r>
            <a:br>
              <a:rPr lang="en-US" sz="1575" dirty="0">
                <a:solidFill>
                  <a:srgbClr val="16171D"/>
                </a:solidFill>
                <a:latin typeface="Segoe UI"/>
                <a:cs typeface="Segoe UI"/>
              </a:rPr>
            </a:br>
            <a:r>
              <a:rPr lang="en-US" sz="1575" dirty="0">
                <a:solidFill>
                  <a:srgbClr val="16171D"/>
                </a:solidFill>
                <a:latin typeface="Segoe UI"/>
                <a:cs typeface="Segoe UI"/>
              </a:rPr>
              <a:t xml:space="preserve">2. Count the slope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8013497" y="1618488"/>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Check a target</a:t>
            </a:r>
            <a:endParaRPr lang="en-US" sz="2100" dirty="0"/>
          </a:p>
        </p:txBody>
      </p:sp>
      <p:sp>
        <p:nvSpPr>
          <p:cNvPr id="12" name="Shape 12"/>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Put the target's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into the equation. Do you get its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685800" y="340233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can you transform a function?</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Translation</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moves the graph up (</a:t>
            </a:r>
            <a:r>
              <a:rPr lang="en-US" sz="1950" dirty="0" i="1">
                <a:solidFill>
                  <a:srgbClr val="16171D"/>
                </a:solidFill>
                <a:latin typeface="Cambria"/>
                <a:cs typeface="Cambria"/>
              </a:rPr>
              <a:t xml:space="preserve">d</a:t>
            </a:r>
            <a:r>
              <a:rPr lang="en-US" sz="1950" dirty="0">
                <a:solidFill>
                  <a:srgbClr val="16171D"/>
                </a:solidFill>
                <a:latin typeface="Cambria"/>
                <a:cs typeface="Cambria"/>
              </a:rPr>
              <a:t xml:space="preserve"> &gt; 0</a:t>
            </a:r>
            <a:r>
              <a:rPr lang="en-US" sz="1950" dirty="0">
                <a:solidFill>
                  <a:srgbClr val="16171D"/>
                </a:solidFill>
                <a:latin typeface="Segoe UI"/>
                <a:cs typeface="Segoe UI"/>
              </a:rPr>
              <a:t xml:space="preserve">) or down (</a:t>
            </a:r>
            <a:r>
              <a:rPr lang="en-US" sz="1950" dirty="0" i="1">
                <a:solidFill>
                  <a:srgbClr val="16171D"/>
                </a:solidFill>
                <a:latin typeface="Cambria"/>
                <a:cs typeface="Cambria"/>
              </a:rPr>
              <a:t xml:space="preserve">d</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The slope stays the same, so the new line is parallel;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changes.</a:t>
            </a:r>
            <a:endParaRPr lang="en-US" sz="1950" dirty="0"/>
          </a:p>
        </p:txBody>
      </p:sp>
      <p:sp>
        <p:nvSpPr>
          <p:cNvPr id="5" name="Shape 5"/>
          <p:cNvSpPr txBox="1"/>
          <p:nvPr/>
        </p:nvSpPr>
        <p:spPr>
          <a:xfrm>
            <a:off x="685800" y="251536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Dilation</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stretches (</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&gt; 1</a:t>
            </a:r>
            <a:r>
              <a:rPr lang="en-US" sz="1950" dirty="0">
                <a:solidFill>
                  <a:srgbClr val="16171D"/>
                </a:solidFill>
                <a:latin typeface="Segoe UI"/>
                <a:cs typeface="Segoe UI"/>
              </a:rPr>
              <a:t xml:space="preserve">) or compresses (</a:t>
            </a: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1</a:t>
            </a:r>
            <a:r>
              <a:rPr lang="en-US" sz="1950" dirty="0">
                <a:solidFill>
                  <a:srgbClr val="16171D"/>
                </a:solidFill>
                <a:latin typeface="Segoe UI"/>
                <a:cs typeface="Segoe UI"/>
              </a:rPr>
              <a:t xml:space="preserve">) the graph;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also reflects it across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 The slope changes;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it becomes </a:t>
            </a:r>
            <a:r>
              <a:rPr lang="en-US" sz="1950" dirty="0" i="1">
                <a:solidFill>
                  <a:srgbClr val="16171D"/>
                </a:solidFill>
                <a:latin typeface="Cambria"/>
                <a:cs typeface="Cambria"/>
              </a:rPr>
              <a:t xml:space="preserve">a</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 Describe the transformation and write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771698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Stretch by 3, down 2: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line parallel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through </a:t>
            </a:r>
            <a:r>
              <a:rPr lang="en-US" sz="1950" dirty="0">
                <a:solidFill>
                  <a:srgbClr val="16171D"/>
                </a:solidFill>
                <a:latin typeface="Cambria"/>
                <a:cs typeface="Cambria"/>
              </a:rPr>
              <a:t xml:space="preserve">(1, 7)</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24154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8" name="Shape 8"/>
          <p:cNvSpPr txBox="1"/>
          <p:nvPr/>
        </p:nvSpPr>
        <p:spPr>
          <a:xfrm>
            <a:off x="685800" y="38747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a:solidFill>
                  <a:srgbClr val="16171D"/>
                </a:solidFill>
                <a:latin typeface="Cambria"/>
                <a:cs typeface="Cambria"/>
              </a:rPr>
              <a:t xml:space="preserve">(2, 5)</a:t>
            </a:r>
            <a:r>
              <a:rPr lang="en-US" sz="1950" dirty="0">
                <a:solidFill>
                  <a:srgbClr val="16171D"/>
                </a:solidFill>
                <a:latin typeface="Segoe UI"/>
                <a:cs typeface="Segoe UI"/>
              </a:rPr>
              <a:t xml:space="preserve"> is on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Which point is on </a:t>
            </a:r>
            <a:r>
              <a:rPr lang="en-US" sz="1950" dirty="0">
                <a:solidFill>
                  <a:srgbClr val="16171D"/>
                </a:solidFill>
                <a:latin typeface="Cambria"/>
                <a:cs typeface="Cambria"/>
              </a:rPr>
              <a:t xml:space="preserve">−2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85800" y="4341114"/>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−10)</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End of Day 3</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Wednesday, October 21</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Thursday, October 22. Skills Practice day: Lesson 1 quiz and Topic 1 Lesson 5 homework. Then Lesson 2 starts Monday, October 26.</a:t>
            </a:r>
            <a:endParaRPr lang="en-US" sz="2250" dirty="0"/>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 SE p. 286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the equation of each line</a:t>
            </a:r>
            <a:endParaRPr lang="en-US" sz="3450" dirty="0"/>
          </a:p>
        </p:txBody>
      </p:sp>
      <p:sp>
        <p:nvSpPr>
          <p:cNvPr id="4" name="Shape 4"/>
          <p:cNvSpPr/>
          <p:nvPr/>
        </p:nvSpPr>
        <p:spPr>
          <a:xfrm>
            <a:off x="685800" y="1618488"/>
            <a:ext cx="34290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 name="Line 5"/>
          <p:cNvCxnSpPr/>
          <p:nvPr/>
        </p:nvCxnSpPr>
        <p:spPr>
          <a:xfrm>
            <a:off x="1009650" y="1732788"/>
            <a:ext cx="0" cy="3067050"/>
          </a:xfrm>
          <a:prstGeom prst="line">
            <a:avLst/>
          </a:prstGeom>
          <a:ln w="9525" cap="flat">
            <a:solidFill>
              <a:srgbClr val="E6E8F2"/>
            </a:solidFill>
          </a:ln>
        </p:spPr>
      </p:cxnSp>
      <p:cxnSp>
        <p:nvCxnSpPr>
          <p:cNvPr id="6" name="Line 6"/>
          <p:cNvCxnSpPr/>
          <p:nvPr/>
        </p:nvCxnSpPr>
        <p:spPr>
          <a:xfrm>
            <a:off x="1196578" y="1732788"/>
            <a:ext cx="0" cy="3067050"/>
          </a:xfrm>
          <a:prstGeom prst="line">
            <a:avLst/>
          </a:prstGeom>
          <a:ln w="9525" cap="flat">
            <a:solidFill>
              <a:srgbClr val="E6E8F2"/>
            </a:solidFill>
          </a:ln>
        </p:spPr>
      </p:cxnSp>
      <p:cxnSp>
        <p:nvCxnSpPr>
          <p:cNvPr id="7" name="Line 7"/>
          <p:cNvCxnSpPr/>
          <p:nvPr/>
        </p:nvCxnSpPr>
        <p:spPr>
          <a:xfrm>
            <a:off x="1383506" y="1732788"/>
            <a:ext cx="0" cy="3067050"/>
          </a:xfrm>
          <a:prstGeom prst="line">
            <a:avLst/>
          </a:prstGeom>
          <a:ln w="9525" cap="flat">
            <a:solidFill>
              <a:srgbClr val="E6E8F2"/>
            </a:solidFill>
          </a:ln>
        </p:spPr>
      </p:cxnSp>
      <p:cxnSp>
        <p:nvCxnSpPr>
          <p:cNvPr id="8" name="Line 8"/>
          <p:cNvCxnSpPr/>
          <p:nvPr/>
        </p:nvCxnSpPr>
        <p:spPr>
          <a:xfrm>
            <a:off x="1570434" y="1732788"/>
            <a:ext cx="0" cy="3067050"/>
          </a:xfrm>
          <a:prstGeom prst="line">
            <a:avLst/>
          </a:prstGeom>
          <a:ln w="9525" cap="flat">
            <a:solidFill>
              <a:srgbClr val="E6E8F2"/>
            </a:solidFill>
          </a:ln>
        </p:spPr>
      </p:cxnSp>
      <p:cxnSp>
        <p:nvCxnSpPr>
          <p:cNvPr id="9" name="Line 9"/>
          <p:cNvCxnSpPr/>
          <p:nvPr/>
        </p:nvCxnSpPr>
        <p:spPr>
          <a:xfrm>
            <a:off x="1757362" y="1732788"/>
            <a:ext cx="0" cy="3067050"/>
          </a:xfrm>
          <a:prstGeom prst="line">
            <a:avLst/>
          </a:prstGeom>
          <a:ln w="9525" cap="flat">
            <a:solidFill>
              <a:srgbClr val="E6E8F2"/>
            </a:solidFill>
          </a:ln>
        </p:spPr>
      </p:cxnSp>
      <p:cxnSp>
        <p:nvCxnSpPr>
          <p:cNvPr id="10" name="Line 10"/>
          <p:cNvCxnSpPr/>
          <p:nvPr/>
        </p:nvCxnSpPr>
        <p:spPr>
          <a:xfrm>
            <a:off x="1944291" y="1732788"/>
            <a:ext cx="0" cy="3067050"/>
          </a:xfrm>
          <a:prstGeom prst="line">
            <a:avLst/>
          </a:prstGeom>
          <a:ln w="9525" cap="flat">
            <a:solidFill>
              <a:srgbClr val="E6E8F2"/>
            </a:solidFill>
          </a:ln>
        </p:spPr>
      </p:cxnSp>
      <p:cxnSp>
        <p:nvCxnSpPr>
          <p:cNvPr id="11" name="Line 11"/>
          <p:cNvCxnSpPr/>
          <p:nvPr/>
        </p:nvCxnSpPr>
        <p:spPr>
          <a:xfrm>
            <a:off x="2131219" y="1732788"/>
            <a:ext cx="0" cy="3067050"/>
          </a:xfrm>
          <a:prstGeom prst="line">
            <a:avLst/>
          </a:prstGeom>
          <a:ln w="9525" cap="flat">
            <a:solidFill>
              <a:srgbClr val="E6E8F2"/>
            </a:solidFill>
          </a:ln>
        </p:spPr>
      </p:cxnSp>
      <p:cxnSp>
        <p:nvCxnSpPr>
          <p:cNvPr id="12" name="Line 12"/>
          <p:cNvCxnSpPr/>
          <p:nvPr/>
        </p:nvCxnSpPr>
        <p:spPr>
          <a:xfrm>
            <a:off x="2318147" y="1732788"/>
            <a:ext cx="0" cy="3067050"/>
          </a:xfrm>
          <a:prstGeom prst="line">
            <a:avLst/>
          </a:prstGeom>
          <a:ln w="9525" cap="flat">
            <a:solidFill>
              <a:srgbClr val="E6E8F2"/>
            </a:solidFill>
          </a:ln>
        </p:spPr>
      </p:cxnSp>
      <p:cxnSp>
        <p:nvCxnSpPr>
          <p:cNvPr id="13" name="Line 13"/>
          <p:cNvCxnSpPr/>
          <p:nvPr/>
        </p:nvCxnSpPr>
        <p:spPr>
          <a:xfrm>
            <a:off x="2505075" y="1732788"/>
            <a:ext cx="0" cy="3067050"/>
          </a:xfrm>
          <a:prstGeom prst="line">
            <a:avLst/>
          </a:prstGeom>
          <a:ln w="9525" cap="flat">
            <a:solidFill>
              <a:srgbClr val="E6E8F2"/>
            </a:solidFill>
          </a:ln>
        </p:spPr>
      </p:cxnSp>
      <p:cxnSp>
        <p:nvCxnSpPr>
          <p:cNvPr id="14" name="Line 14"/>
          <p:cNvCxnSpPr/>
          <p:nvPr/>
        </p:nvCxnSpPr>
        <p:spPr>
          <a:xfrm>
            <a:off x="2692003" y="1732788"/>
            <a:ext cx="0" cy="3067050"/>
          </a:xfrm>
          <a:prstGeom prst="line">
            <a:avLst/>
          </a:prstGeom>
          <a:ln w="9525" cap="flat">
            <a:solidFill>
              <a:srgbClr val="E6E8F2"/>
            </a:solidFill>
          </a:ln>
        </p:spPr>
      </p:cxnSp>
      <p:cxnSp>
        <p:nvCxnSpPr>
          <p:cNvPr id="15" name="Line 15"/>
          <p:cNvCxnSpPr/>
          <p:nvPr/>
        </p:nvCxnSpPr>
        <p:spPr>
          <a:xfrm>
            <a:off x="2878931" y="1732788"/>
            <a:ext cx="0" cy="3067050"/>
          </a:xfrm>
          <a:prstGeom prst="line">
            <a:avLst/>
          </a:prstGeom>
          <a:ln w="9525" cap="flat">
            <a:solidFill>
              <a:srgbClr val="E6E8F2"/>
            </a:solidFill>
          </a:ln>
        </p:spPr>
      </p:cxnSp>
      <p:cxnSp>
        <p:nvCxnSpPr>
          <p:cNvPr id="16" name="Line 16"/>
          <p:cNvCxnSpPr/>
          <p:nvPr/>
        </p:nvCxnSpPr>
        <p:spPr>
          <a:xfrm>
            <a:off x="3065859" y="1732788"/>
            <a:ext cx="0" cy="3067050"/>
          </a:xfrm>
          <a:prstGeom prst="line">
            <a:avLst/>
          </a:prstGeom>
          <a:ln w="9525" cap="flat">
            <a:solidFill>
              <a:srgbClr val="E6E8F2"/>
            </a:solidFill>
          </a:ln>
        </p:spPr>
      </p:cxnSp>
      <p:cxnSp>
        <p:nvCxnSpPr>
          <p:cNvPr id="17" name="Line 17"/>
          <p:cNvCxnSpPr/>
          <p:nvPr/>
        </p:nvCxnSpPr>
        <p:spPr>
          <a:xfrm>
            <a:off x="3252788" y="1732788"/>
            <a:ext cx="0" cy="3067050"/>
          </a:xfrm>
          <a:prstGeom prst="line">
            <a:avLst/>
          </a:prstGeom>
          <a:ln w="9525" cap="flat">
            <a:solidFill>
              <a:srgbClr val="E6E8F2"/>
            </a:solidFill>
          </a:ln>
        </p:spPr>
      </p:cxnSp>
      <p:cxnSp>
        <p:nvCxnSpPr>
          <p:cNvPr id="18" name="Line 18"/>
          <p:cNvCxnSpPr/>
          <p:nvPr/>
        </p:nvCxnSpPr>
        <p:spPr>
          <a:xfrm>
            <a:off x="3439716" y="1732788"/>
            <a:ext cx="0" cy="3067050"/>
          </a:xfrm>
          <a:prstGeom prst="line">
            <a:avLst/>
          </a:prstGeom>
          <a:ln w="9525" cap="flat">
            <a:solidFill>
              <a:srgbClr val="E6E8F2"/>
            </a:solidFill>
          </a:ln>
        </p:spPr>
      </p:cxnSp>
      <p:cxnSp>
        <p:nvCxnSpPr>
          <p:cNvPr id="19" name="Line 19"/>
          <p:cNvCxnSpPr/>
          <p:nvPr/>
        </p:nvCxnSpPr>
        <p:spPr>
          <a:xfrm>
            <a:off x="3626644" y="1732788"/>
            <a:ext cx="0" cy="3067050"/>
          </a:xfrm>
          <a:prstGeom prst="line">
            <a:avLst/>
          </a:prstGeom>
          <a:ln w="9525" cap="flat">
            <a:solidFill>
              <a:srgbClr val="E6E8F2"/>
            </a:solidFill>
          </a:ln>
        </p:spPr>
      </p:cxnSp>
      <p:cxnSp>
        <p:nvCxnSpPr>
          <p:cNvPr id="20" name="Line 20"/>
          <p:cNvCxnSpPr/>
          <p:nvPr/>
        </p:nvCxnSpPr>
        <p:spPr>
          <a:xfrm>
            <a:off x="3813572" y="1732788"/>
            <a:ext cx="0" cy="3067050"/>
          </a:xfrm>
          <a:prstGeom prst="line">
            <a:avLst/>
          </a:prstGeom>
          <a:ln w="9525" cap="flat">
            <a:solidFill>
              <a:srgbClr val="E6E8F2"/>
            </a:solidFill>
          </a:ln>
        </p:spPr>
      </p:cxnSp>
      <p:cxnSp>
        <p:nvCxnSpPr>
          <p:cNvPr id="21" name="Line 21"/>
          <p:cNvCxnSpPr/>
          <p:nvPr/>
        </p:nvCxnSpPr>
        <p:spPr>
          <a:xfrm>
            <a:off x="4000500" y="1732788"/>
            <a:ext cx="0" cy="3067050"/>
          </a:xfrm>
          <a:prstGeom prst="line">
            <a:avLst/>
          </a:prstGeom>
          <a:ln w="9525" cap="flat">
            <a:solidFill>
              <a:srgbClr val="E6E8F2"/>
            </a:solidFill>
          </a:ln>
        </p:spPr>
      </p:cxnSp>
      <p:cxnSp>
        <p:nvCxnSpPr>
          <p:cNvPr id="22" name="Line 22"/>
          <p:cNvCxnSpPr/>
          <p:nvPr/>
        </p:nvCxnSpPr>
        <p:spPr>
          <a:xfrm>
            <a:off x="1009650" y="4799838"/>
            <a:ext cx="2990850" cy="0"/>
          </a:xfrm>
          <a:prstGeom prst="line">
            <a:avLst/>
          </a:prstGeom>
          <a:ln w="9525" cap="flat">
            <a:solidFill>
              <a:srgbClr val="E6E8F2"/>
            </a:solidFill>
          </a:ln>
        </p:spPr>
      </p:cxnSp>
      <p:cxnSp>
        <p:nvCxnSpPr>
          <p:cNvPr id="23" name="Line 23"/>
          <p:cNvCxnSpPr/>
          <p:nvPr/>
        </p:nvCxnSpPr>
        <p:spPr>
          <a:xfrm>
            <a:off x="1009650" y="4608147"/>
            <a:ext cx="2990850" cy="0"/>
          </a:xfrm>
          <a:prstGeom prst="line">
            <a:avLst/>
          </a:prstGeom>
          <a:ln w="9525" cap="flat">
            <a:solidFill>
              <a:srgbClr val="E6E8F2"/>
            </a:solidFill>
          </a:ln>
        </p:spPr>
      </p:cxnSp>
      <p:cxnSp>
        <p:nvCxnSpPr>
          <p:cNvPr id="24" name="Line 24"/>
          <p:cNvCxnSpPr/>
          <p:nvPr/>
        </p:nvCxnSpPr>
        <p:spPr>
          <a:xfrm>
            <a:off x="1009650" y="4416457"/>
            <a:ext cx="2990850" cy="0"/>
          </a:xfrm>
          <a:prstGeom prst="line">
            <a:avLst/>
          </a:prstGeom>
          <a:ln w="9525" cap="flat">
            <a:solidFill>
              <a:srgbClr val="E6E8F2"/>
            </a:solidFill>
          </a:ln>
        </p:spPr>
      </p:cxnSp>
      <p:cxnSp>
        <p:nvCxnSpPr>
          <p:cNvPr id="25" name="Line 25"/>
          <p:cNvCxnSpPr/>
          <p:nvPr/>
        </p:nvCxnSpPr>
        <p:spPr>
          <a:xfrm>
            <a:off x="1009650" y="4224766"/>
            <a:ext cx="2990850" cy="0"/>
          </a:xfrm>
          <a:prstGeom prst="line">
            <a:avLst/>
          </a:prstGeom>
          <a:ln w="9525" cap="flat">
            <a:solidFill>
              <a:srgbClr val="E6E8F2"/>
            </a:solidFill>
          </a:ln>
        </p:spPr>
      </p:cxnSp>
      <p:cxnSp>
        <p:nvCxnSpPr>
          <p:cNvPr id="26" name="Line 26"/>
          <p:cNvCxnSpPr/>
          <p:nvPr/>
        </p:nvCxnSpPr>
        <p:spPr>
          <a:xfrm>
            <a:off x="1009650" y="4033075"/>
            <a:ext cx="2990850" cy="0"/>
          </a:xfrm>
          <a:prstGeom prst="line">
            <a:avLst/>
          </a:prstGeom>
          <a:ln w="9525" cap="flat">
            <a:solidFill>
              <a:srgbClr val="E6E8F2"/>
            </a:solidFill>
          </a:ln>
        </p:spPr>
      </p:cxnSp>
      <p:cxnSp>
        <p:nvCxnSpPr>
          <p:cNvPr id="27" name="Line 27"/>
          <p:cNvCxnSpPr/>
          <p:nvPr/>
        </p:nvCxnSpPr>
        <p:spPr>
          <a:xfrm>
            <a:off x="1009650" y="3841385"/>
            <a:ext cx="2990850" cy="0"/>
          </a:xfrm>
          <a:prstGeom prst="line">
            <a:avLst/>
          </a:prstGeom>
          <a:ln w="9525" cap="flat">
            <a:solidFill>
              <a:srgbClr val="E6E8F2"/>
            </a:solidFill>
          </a:ln>
        </p:spPr>
      </p:cxnSp>
      <p:cxnSp>
        <p:nvCxnSpPr>
          <p:cNvPr id="28" name="Line 28"/>
          <p:cNvCxnSpPr/>
          <p:nvPr/>
        </p:nvCxnSpPr>
        <p:spPr>
          <a:xfrm>
            <a:off x="1009650" y="3649694"/>
            <a:ext cx="2990850" cy="0"/>
          </a:xfrm>
          <a:prstGeom prst="line">
            <a:avLst/>
          </a:prstGeom>
          <a:ln w="9525" cap="flat">
            <a:solidFill>
              <a:srgbClr val="E6E8F2"/>
            </a:solidFill>
          </a:ln>
        </p:spPr>
      </p:cxnSp>
      <p:cxnSp>
        <p:nvCxnSpPr>
          <p:cNvPr id="29" name="Line 29"/>
          <p:cNvCxnSpPr/>
          <p:nvPr/>
        </p:nvCxnSpPr>
        <p:spPr>
          <a:xfrm>
            <a:off x="1009650" y="3458004"/>
            <a:ext cx="2990850" cy="0"/>
          </a:xfrm>
          <a:prstGeom prst="line">
            <a:avLst/>
          </a:prstGeom>
          <a:ln w="9525" cap="flat">
            <a:solidFill>
              <a:srgbClr val="E6E8F2"/>
            </a:solidFill>
          </a:ln>
        </p:spPr>
      </p:cxnSp>
      <p:cxnSp>
        <p:nvCxnSpPr>
          <p:cNvPr id="30" name="Line 30"/>
          <p:cNvCxnSpPr/>
          <p:nvPr/>
        </p:nvCxnSpPr>
        <p:spPr>
          <a:xfrm>
            <a:off x="1009650" y="3266313"/>
            <a:ext cx="2990850" cy="0"/>
          </a:xfrm>
          <a:prstGeom prst="line">
            <a:avLst/>
          </a:prstGeom>
          <a:ln w="9525" cap="flat">
            <a:solidFill>
              <a:srgbClr val="E6E8F2"/>
            </a:solidFill>
          </a:ln>
        </p:spPr>
      </p:cxnSp>
      <p:cxnSp>
        <p:nvCxnSpPr>
          <p:cNvPr id="31" name="Line 31"/>
          <p:cNvCxnSpPr/>
          <p:nvPr/>
        </p:nvCxnSpPr>
        <p:spPr>
          <a:xfrm>
            <a:off x="1009650" y="3074622"/>
            <a:ext cx="2990850" cy="0"/>
          </a:xfrm>
          <a:prstGeom prst="line">
            <a:avLst/>
          </a:prstGeom>
          <a:ln w="9525" cap="flat">
            <a:solidFill>
              <a:srgbClr val="E6E8F2"/>
            </a:solidFill>
          </a:ln>
        </p:spPr>
      </p:cxnSp>
      <p:cxnSp>
        <p:nvCxnSpPr>
          <p:cNvPr id="32" name="Line 32"/>
          <p:cNvCxnSpPr/>
          <p:nvPr/>
        </p:nvCxnSpPr>
        <p:spPr>
          <a:xfrm>
            <a:off x="1009650" y="2882932"/>
            <a:ext cx="2990850" cy="0"/>
          </a:xfrm>
          <a:prstGeom prst="line">
            <a:avLst/>
          </a:prstGeom>
          <a:ln w="9525" cap="flat">
            <a:solidFill>
              <a:srgbClr val="E6E8F2"/>
            </a:solidFill>
          </a:ln>
        </p:spPr>
      </p:cxnSp>
      <p:cxnSp>
        <p:nvCxnSpPr>
          <p:cNvPr id="33" name="Line 33"/>
          <p:cNvCxnSpPr/>
          <p:nvPr/>
        </p:nvCxnSpPr>
        <p:spPr>
          <a:xfrm>
            <a:off x="1009650" y="2691241"/>
            <a:ext cx="2990850" cy="0"/>
          </a:xfrm>
          <a:prstGeom prst="line">
            <a:avLst/>
          </a:prstGeom>
          <a:ln w="9525" cap="flat">
            <a:solidFill>
              <a:srgbClr val="E6E8F2"/>
            </a:solidFill>
          </a:ln>
        </p:spPr>
      </p:cxnSp>
      <p:cxnSp>
        <p:nvCxnSpPr>
          <p:cNvPr id="34" name="Line 34"/>
          <p:cNvCxnSpPr/>
          <p:nvPr/>
        </p:nvCxnSpPr>
        <p:spPr>
          <a:xfrm>
            <a:off x="1009650" y="2499550"/>
            <a:ext cx="2990850" cy="0"/>
          </a:xfrm>
          <a:prstGeom prst="line">
            <a:avLst/>
          </a:prstGeom>
          <a:ln w="9525" cap="flat">
            <a:solidFill>
              <a:srgbClr val="E6E8F2"/>
            </a:solidFill>
          </a:ln>
        </p:spPr>
      </p:cxnSp>
      <p:cxnSp>
        <p:nvCxnSpPr>
          <p:cNvPr id="35" name="Line 35"/>
          <p:cNvCxnSpPr/>
          <p:nvPr/>
        </p:nvCxnSpPr>
        <p:spPr>
          <a:xfrm>
            <a:off x="1009650" y="2307860"/>
            <a:ext cx="2990850" cy="0"/>
          </a:xfrm>
          <a:prstGeom prst="line">
            <a:avLst/>
          </a:prstGeom>
          <a:ln w="9525" cap="flat">
            <a:solidFill>
              <a:srgbClr val="E6E8F2"/>
            </a:solidFill>
          </a:ln>
        </p:spPr>
      </p:cxnSp>
      <p:cxnSp>
        <p:nvCxnSpPr>
          <p:cNvPr id="36" name="Line 36"/>
          <p:cNvCxnSpPr/>
          <p:nvPr/>
        </p:nvCxnSpPr>
        <p:spPr>
          <a:xfrm>
            <a:off x="1009650" y="2116169"/>
            <a:ext cx="2990850" cy="0"/>
          </a:xfrm>
          <a:prstGeom prst="line">
            <a:avLst/>
          </a:prstGeom>
          <a:ln w="9525" cap="flat">
            <a:solidFill>
              <a:srgbClr val="E6E8F2"/>
            </a:solidFill>
          </a:ln>
        </p:spPr>
      </p:cxnSp>
      <p:cxnSp>
        <p:nvCxnSpPr>
          <p:cNvPr id="37" name="Line 37"/>
          <p:cNvCxnSpPr/>
          <p:nvPr/>
        </p:nvCxnSpPr>
        <p:spPr>
          <a:xfrm>
            <a:off x="1009650" y="1924479"/>
            <a:ext cx="2990850" cy="0"/>
          </a:xfrm>
          <a:prstGeom prst="line">
            <a:avLst/>
          </a:prstGeom>
          <a:ln w="9525" cap="flat">
            <a:solidFill>
              <a:srgbClr val="E6E8F2"/>
            </a:solidFill>
          </a:ln>
        </p:spPr>
      </p:cxnSp>
      <p:cxnSp>
        <p:nvCxnSpPr>
          <p:cNvPr id="38" name="Line 38"/>
          <p:cNvCxnSpPr/>
          <p:nvPr/>
        </p:nvCxnSpPr>
        <p:spPr>
          <a:xfrm>
            <a:off x="1009650" y="1732788"/>
            <a:ext cx="2990850" cy="0"/>
          </a:xfrm>
          <a:prstGeom prst="line">
            <a:avLst/>
          </a:prstGeom>
          <a:ln w="9525" cap="flat">
            <a:solidFill>
              <a:srgbClr val="E6E8F2"/>
            </a:solidFill>
          </a:ln>
        </p:spPr>
      </p:cxnSp>
      <p:cxnSp>
        <p:nvCxnSpPr>
          <p:cNvPr id="39" name="Line 39"/>
          <p:cNvCxnSpPr/>
          <p:nvPr/>
        </p:nvCxnSpPr>
        <p:spPr>
          <a:xfrm>
            <a:off x="2878931" y="1732788"/>
            <a:ext cx="0" cy="3067050"/>
          </a:xfrm>
          <a:prstGeom prst="line">
            <a:avLst/>
          </a:prstGeom>
          <a:ln w="19050" cap="flat">
            <a:solidFill>
              <a:srgbClr val="5F6272"/>
            </a:solidFill>
          </a:ln>
        </p:spPr>
      </p:cxnSp>
      <p:cxnSp>
        <p:nvCxnSpPr>
          <p:cNvPr id="40" name="Line 40"/>
          <p:cNvCxnSpPr/>
          <p:nvPr/>
        </p:nvCxnSpPr>
        <p:spPr>
          <a:xfrm>
            <a:off x="1009650" y="2499550"/>
            <a:ext cx="2990850" cy="0"/>
          </a:xfrm>
          <a:prstGeom prst="line">
            <a:avLst/>
          </a:prstGeom>
          <a:ln w="19050" cap="flat">
            <a:solidFill>
              <a:srgbClr val="5F6272"/>
            </a:solidFill>
          </a:ln>
        </p:spPr>
      </p:cxnSp>
      <p:sp>
        <p:nvSpPr>
          <p:cNvPr id="41" name="Shape 41"/>
          <p:cNvSpPr txBox="1"/>
          <p:nvPr/>
        </p:nvSpPr>
        <p:spPr>
          <a:xfrm>
            <a:off x="735330"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2" name="Shape 42"/>
          <p:cNvSpPr txBox="1"/>
          <p:nvPr/>
        </p:nvSpPr>
        <p:spPr>
          <a:xfrm>
            <a:off x="1109186"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3" name="Shape 43"/>
          <p:cNvSpPr txBox="1"/>
          <p:nvPr/>
        </p:nvSpPr>
        <p:spPr>
          <a:xfrm>
            <a:off x="1483042"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4" name="Shape 44"/>
          <p:cNvSpPr txBox="1"/>
          <p:nvPr/>
        </p:nvSpPr>
        <p:spPr>
          <a:xfrm>
            <a:off x="1856899"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5" name="Shape 45"/>
          <p:cNvSpPr txBox="1"/>
          <p:nvPr/>
        </p:nvSpPr>
        <p:spPr>
          <a:xfrm>
            <a:off x="223075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2604611"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7" name="Shape 47"/>
          <p:cNvSpPr txBox="1"/>
          <p:nvPr/>
        </p:nvSpPr>
        <p:spPr>
          <a:xfrm>
            <a:off x="297846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8" name="Shape 48"/>
          <p:cNvSpPr txBox="1"/>
          <p:nvPr/>
        </p:nvSpPr>
        <p:spPr>
          <a:xfrm>
            <a:off x="3352324"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9" name="Shape 49"/>
          <p:cNvSpPr txBox="1"/>
          <p:nvPr/>
        </p:nvSpPr>
        <p:spPr>
          <a:xfrm>
            <a:off x="3726180"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0" name="Shape 50"/>
          <p:cNvSpPr txBox="1"/>
          <p:nvPr/>
        </p:nvSpPr>
        <p:spPr>
          <a:xfrm>
            <a:off x="442722" y="4708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442722" y="43250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2" name="Shape 52"/>
          <p:cNvSpPr txBox="1"/>
          <p:nvPr/>
        </p:nvSpPr>
        <p:spPr>
          <a:xfrm>
            <a:off x="442722" y="39416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3" name="Shape 53"/>
          <p:cNvSpPr txBox="1"/>
          <p:nvPr/>
        </p:nvSpPr>
        <p:spPr>
          <a:xfrm>
            <a:off x="442722" y="355825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4" name="Shape 54"/>
          <p:cNvSpPr txBox="1"/>
          <p:nvPr/>
        </p:nvSpPr>
        <p:spPr>
          <a:xfrm>
            <a:off x="442722" y="3174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27914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txBox="1"/>
          <p:nvPr/>
        </p:nvSpPr>
        <p:spPr>
          <a:xfrm>
            <a:off x="442722" y="24081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7" name="Shape 57"/>
          <p:cNvSpPr txBox="1"/>
          <p:nvPr/>
        </p:nvSpPr>
        <p:spPr>
          <a:xfrm>
            <a:off x="442722" y="202472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8" name="Shape 58"/>
          <p:cNvSpPr txBox="1"/>
          <p:nvPr/>
        </p:nvSpPr>
        <p:spPr>
          <a:xfrm>
            <a:off x="442722"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cxnSp>
        <p:nvCxnSpPr>
          <p:cNvPr id="59" name="Line 59"/>
          <p:cNvCxnSpPr/>
          <p:nvPr/>
        </p:nvCxnSpPr>
        <p:spPr>
          <a:xfrm flipV="1">
            <a:off x="1009650" y="2627344"/>
            <a:ext cx="2990850" cy="2044700"/>
          </a:xfrm>
          <a:prstGeom prst="line">
            <a:avLst/>
          </a:prstGeom>
          <a:ln w="38100" cap="rnd">
            <a:solidFill>
              <a:srgbClr val="16171D"/>
            </a:solidFill>
          </a:ln>
        </p:spPr>
      </p:cxnSp>
      <p:sp>
        <p:nvSpPr>
          <p:cNvPr id="60" name="Shape 60"/>
          <p:cNvSpPr/>
          <p:nvPr/>
        </p:nvSpPr>
        <p:spPr>
          <a:xfrm>
            <a:off x="1331119" y="436406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1" name="Shape 61"/>
          <p:cNvSpPr txBox="1"/>
          <p:nvPr/>
        </p:nvSpPr>
        <p:spPr>
          <a:xfrm>
            <a:off x="1469231" y="416880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(−8, −10)</a:t>
            </a:r>
            <a:endParaRPr lang="en-US" sz="1125" dirty="0"/>
          </a:p>
        </p:txBody>
      </p:sp>
      <p:sp>
        <p:nvSpPr>
          <p:cNvPr id="62" name="Shape 62"/>
          <p:cNvSpPr/>
          <p:nvPr/>
        </p:nvSpPr>
        <p:spPr>
          <a:xfrm>
            <a:off x="2452688" y="359730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3" name="Shape 63"/>
          <p:cNvSpPr txBox="1"/>
          <p:nvPr/>
        </p:nvSpPr>
        <p:spPr>
          <a:xfrm>
            <a:off x="2590800" y="3402044"/>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−6)</a:t>
            </a:r>
            <a:endParaRPr lang="en-US" sz="1125" dirty="0"/>
          </a:p>
        </p:txBody>
      </p:sp>
      <p:sp>
        <p:nvSpPr>
          <p:cNvPr id="64" name="Shape 64"/>
          <p:cNvSpPr/>
          <p:nvPr/>
        </p:nvSpPr>
        <p:spPr>
          <a:xfrm>
            <a:off x="3574256" y="28305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5" name="Shape 65"/>
          <p:cNvSpPr txBox="1"/>
          <p:nvPr/>
        </p:nvSpPr>
        <p:spPr>
          <a:xfrm>
            <a:off x="3712369" y="263528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−2)</a:t>
            </a:r>
            <a:endParaRPr lang="en-US" sz="1125" dirty="0"/>
          </a:p>
        </p:txBody>
      </p:sp>
      <p:sp>
        <p:nvSpPr>
          <p:cNvPr id="66" name="Shape 66"/>
          <p:cNvSpPr txBox="1"/>
          <p:nvPr/>
        </p:nvSpPr>
        <p:spPr>
          <a:xfrm>
            <a:off x="685800" y="5142738"/>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⅔</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− 14/3</a:t>
            </a:r>
            <a:endParaRPr lang="en-US" sz="2325" dirty="0"/>
          </a:p>
        </p:txBody>
      </p:sp>
      <p:sp>
        <p:nvSpPr>
          <p:cNvPr id="67" name="Shape 67"/>
          <p:cNvSpPr/>
          <p:nvPr/>
        </p:nvSpPr>
        <p:spPr>
          <a:xfrm>
            <a:off x="6286348" y="1618488"/>
            <a:ext cx="34290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8" name="Line 68"/>
          <p:cNvCxnSpPr/>
          <p:nvPr/>
        </p:nvCxnSpPr>
        <p:spPr>
          <a:xfrm>
            <a:off x="6610198" y="1732788"/>
            <a:ext cx="0" cy="3067050"/>
          </a:xfrm>
          <a:prstGeom prst="line">
            <a:avLst/>
          </a:prstGeom>
          <a:ln w="9525" cap="flat">
            <a:solidFill>
              <a:srgbClr val="E6E8F2"/>
            </a:solidFill>
          </a:ln>
        </p:spPr>
      </p:cxnSp>
      <p:cxnSp>
        <p:nvCxnSpPr>
          <p:cNvPr id="69" name="Line 69"/>
          <p:cNvCxnSpPr/>
          <p:nvPr/>
        </p:nvCxnSpPr>
        <p:spPr>
          <a:xfrm>
            <a:off x="6797126" y="1732788"/>
            <a:ext cx="0" cy="3067050"/>
          </a:xfrm>
          <a:prstGeom prst="line">
            <a:avLst/>
          </a:prstGeom>
          <a:ln w="9525" cap="flat">
            <a:solidFill>
              <a:srgbClr val="E6E8F2"/>
            </a:solidFill>
          </a:ln>
        </p:spPr>
      </p:cxnSp>
      <p:cxnSp>
        <p:nvCxnSpPr>
          <p:cNvPr id="70" name="Line 70"/>
          <p:cNvCxnSpPr/>
          <p:nvPr/>
        </p:nvCxnSpPr>
        <p:spPr>
          <a:xfrm>
            <a:off x="6984054" y="1732788"/>
            <a:ext cx="0" cy="3067050"/>
          </a:xfrm>
          <a:prstGeom prst="line">
            <a:avLst/>
          </a:prstGeom>
          <a:ln w="9525" cap="flat">
            <a:solidFill>
              <a:srgbClr val="E6E8F2"/>
            </a:solidFill>
          </a:ln>
        </p:spPr>
      </p:cxnSp>
      <p:cxnSp>
        <p:nvCxnSpPr>
          <p:cNvPr id="71" name="Line 71"/>
          <p:cNvCxnSpPr/>
          <p:nvPr/>
        </p:nvCxnSpPr>
        <p:spPr>
          <a:xfrm>
            <a:off x="7170982" y="1732788"/>
            <a:ext cx="0" cy="3067050"/>
          </a:xfrm>
          <a:prstGeom prst="line">
            <a:avLst/>
          </a:prstGeom>
          <a:ln w="9525" cap="flat">
            <a:solidFill>
              <a:srgbClr val="E6E8F2"/>
            </a:solidFill>
          </a:ln>
        </p:spPr>
      </p:cxnSp>
      <p:cxnSp>
        <p:nvCxnSpPr>
          <p:cNvPr id="72" name="Line 72"/>
          <p:cNvCxnSpPr/>
          <p:nvPr/>
        </p:nvCxnSpPr>
        <p:spPr>
          <a:xfrm>
            <a:off x="7357910" y="1732788"/>
            <a:ext cx="0" cy="3067050"/>
          </a:xfrm>
          <a:prstGeom prst="line">
            <a:avLst/>
          </a:prstGeom>
          <a:ln w="9525" cap="flat">
            <a:solidFill>
              <a:srgbClr val="E6E8F2"/>
            </a:solidFill>
          </a:ln>
        </p:spPr>
      </p:cxnSp>
      <p:cxnSp>
        <p:nvCxnSpPr>
          <p:cNvPr id="73" name="Line 73"/>
          <p:cNvCxnSpPr/>
          <p:nvPr/>
        </p:nvCxnSpPr>
        <p:spPr>
          <a:xfrm>
            <a:off x="7544838" y="1732788"/>
            <a:ext cx="0" cy="3067050"/>
          </a:xfrm>
          <a:prstGeom prst="line">
            <a:avLst/>
          </a:prstGeom>
          <a:ln w="9525" cap="flat">
            <a:solidFill>
              <a:srgbClr val="E6E8F2"/>
            </a:solidFill>
          </a:ln>
        </p:spPr>
      </p:cxnSp>
      <p:cxnSp>
        <p:nvCxnSpPr>
          <p:cNvPr id="74" name="Line 74"/>
          <p:cNvCxnSpPr/>
          <p:nvPr/>
        </p:nvCxnSpPr>
        <p:spPr>
          <a:xfrm>
            <a:off x="7731766" y="1732788"/>
            <a:ext cx="0" cy="3067050"/>
          </a:xfrm>
          <a:prstGeom prst="line">
            <a:avLst/>
          </a:prstGeom>
          <a:ln w="9525" cap="flat">
            <a:solidFill>
              <a:srgbClr val="E6E8F2"/>
            </a:solidFill>
          </a:ln>
        </p:spPr>
      </p:cxnSp>
      <p:cxnSp>
        <p:nvCxnSpPr>
          <p:cNvPr id="75" name="Line 75"/>
          <p:cNvCxnSpPr/>
          <p:nvPr/>
        </p:nvCxnSpPr>
        <p:spPr>
          <a:xfrm>
            <a:off x="7918694" y="1732788"/>
            <a:ext cx="0" cy="3067050"/>
          </a:xfrm>
          <a:prstGeom prst="line">
            <a:avLst/>
          </a:prstGeom>
          <a:ln w="9525" cap="flat">
            <a:solidFill>
              <a:srgbClr val="E6E8F2"/>
            </a:solidFill>
          </a:ln>
        </p:spPr>
      </p:cxnSp>
      <p:cxnSp>
        <p:nvCxnSpPr>
          <p:cNvPr id="76" name="Line 76"/>
          <p:cNvCxnSpPr/>
          <p:nvPr/>
        </p:nvCxnSpPr>
        <p:spPr>
          <a:xfrm>
            <a:off x="8105623" y="1732788"/>
            <a:ext cx="0" cy="3067050"/>
          </a:xfrm>
          <a:prstGeom prst="line">
            <a:avLst/>
          </a:prstGeom>
          <a:ln w="9525" cap="flat">
            <a:solidFill>
              <a:srgbClr val="E6E8F2"/>
            </a:solidFill>
          </a:ln>
        </p:spPr>
      </p:cxnSp>
      <p:cxnSp>
        <p:nvCxnSpPr>
          <p:cNvPr id="77" name="Line 77"/>
          <p:cNvCxnSpPr/>
          <p:nvPr/>
        </p:nvCxnSpPr>
        <p:spPr>
          <a:xfrm>
            <a:off x="8292551" y="1732788"/>
            <a:ext cx="0" cy="3067050"/>
          </a:xfrm>
          <a:prstGeom prst="line">
            <a:avLst/>
          </a:prstGeom>
          <a:ln w="9525" cap="flat">
            <a:solidFill>
              <a:srgbClr val="E6E8F2"/>
            </a:solidFill>
          </a:ln>
        </p:spPr>
      </p:cxnSp>
      <p:cxnSp>
        <p:nvCxnSpPr>
          <p:cNvPr id="78" name="Line 78"/>
          <p:cNvCxnSpPr/>
          <p:nvPr/>
        </p:nvCxnSpPr>
        <p:spPr>
          <a:xfrm>
            <a:off x="8479479" y="1732788"/>
            <a:ext cx="0" cy="3067050"/>
          </a:xfrm>
          <a:prstGeom prst="line">
            <a:avLst/>
          </a:prstGeom>
          <a:ln w="9525" cap="flat">
            <a:solidFill>
              <a:srgbClr val="E6E8F2"/>
            </a:solidFill>
          </a:ln>
        </p:spPr>
      </p:cxnSp>
      <p:cxnSp>
        <p:nvCxnSpPr>
          <p:cNvPr id="79" name="Line 79"/>
          <p:cNvCxnSpPr/>
          <p:nvPr/>
        </p:nvCxnSpPr>
        <p:spPr>
          <a:xfrm>
            <a:off x="8666407" y="1732788"/>
            <a:ext cx="0" cy="3067050"/>
          </a:xfrm>
          <a:prstGeom prst="line">
            <a:avLst/>
          </a:prstGeom>
          <a:ln w="9525" cap="flat">
            <a:solidFill>
              <a:srgbClr val="E6E8F2"/>
            </a:solidFill>
          </a:ln>
        </p:spPr>
      </p:cxnSp>
      <p:cxnSp>
        <p:nvCxnSpPr>
          <p:cNvPr id="80" name="Line 80"/>
          <p:cNvCxnSpPr/>
          <p:nvPr/>
        </p:nvCxnSpPr>
        <p:spPr>
          <a:xfrm>
            <a:off x="8853335" y="1732788"/>
            <a:ext cx="0" cy="3067050"/>
          </a:xfrm>
          <a:prstGeom prst="line">
            <a:avLst/>
          </a:prstGeom>
          <a:ln w="9525" cap="flat">
            <a:solidFill>
              <a:srgbClr val="E6E8F2"/>
            </a:solidFill>
          </a:ln>
        </p:spPr>
      </p:cxnSp>
      <p:cxnSp>
        <p:nvCxnSpPr>
          <p:cNvPr id="81" name="Line 81"/>
          <p:cNvCxnSpPr/>
          <p:nvPr/>
        </p:nvCxnSpPr>
        <p:spPr>
          <a:xfrm>
            <a:off x="9040263" y="1732788"/>
            <a:ext cx="0" cy="3067050"/>
          </a:xfrm>
          <a:prstGeom prst="line">
            <a:avLst/>
          </a:prstGeom>
          <a:ln w="9525" cap="flat">
            <a:solidFill>
              <a:srgbClr val="E6E8F2"/>
            </a:solidFill>
          </a:ln>
        </p:spPr>
      </p:cxnSp>
      <p:cxnSp>
        <p:nvCxnSpPr>
          <p:cNvPr id="82" name="Line 82"/>
          <p:cNvCxnSpPr/>
          <p:nvPr/>
        </p:nvCxnSpPr>
        <p:spPr>
          <a:xfrm>
            <a:off x="9227191" y="1732788"/>
            <a:ext cx="0" cy="3067050"/>
          </a:xfrm>
          <a:prstGeom prst="line">
            <a:avLst/>
          </a:prstGeom>
          <a:ln w="9525" cap="flat">
            <a:solidFill>
              <a:srgbClr val="E6E8F2"/>
            </a:solidFill>
          </a:ln>
        </p:spPr>
      </p:cxnSp>
      <p:cxnSp>
        <p:nvCxnSpPr>
          <p:cNvPr id="83" name="Line 83"/>
          <p:cNvCxnSpPr/>
          <p:nvPr/>
        </p:nvCxnSpPr>
        <p:spPr>
          <a:xfrm>
            <a:off x="9414119" y="1732788"/>
            <a:ext cx="0" cy="3067050"/>
          </a:xfrm>
          <a:prstGeom prst="line">
            <a:avLst/>
          </a:prstGeom>
          <a:ln w="9525" cap="flat">
            <a:solidFill>
              <a:srgbClr val="E6E8F2"/>
            </a:solidFill>
          </a:ln>
        </p:spPr>
      </p:cxnSp>
      <p:cxnSp>
        <p:nvCxnSpPr>
          <p:cNvPr id="84" name="Line 84"/>
          <p:cNvCxnSpPr/>
          <p:nvPr/>
        </p:nvCxnSpPr>
        <p:spPr>
          <a:xfrm>
            <a:off x="9601048" y="1732788"/>
            <a:ext cx="0" cy="3067050"/>
          </a:xfrm>
          <a:prstGeom prst="line">
            <a:avLst/>
          </a:prstGeom>
          <a:ln w="9525" cap="flat">
            <a:solidFill>
              <a:srgbClr val="E6E8F2"/>
            </a:solidFill>
          </a:ln>
        </p:spPr>
      </p:cxnSp>
      <p:cxnSp>
        <p:nvCxnSpPr>
          <p:cNvPr id="85" name="Line 85"/>
          <p:cNvCxnSpPr/>
          <p:nvPr/>
        </p:nvCxnSpPr>
        <p:spPr>
          <a:xfrm>
            <a:off x="6610198" y="4799838"/>
            <a:ext cx="2990850" cy="0"/>
          </a:xfrm>
          <a:prstGeom prst="line">
            <a:avLst/>
          </a:prstGeom>
          <a:ln w="9525" cap="flat">
            <a:solidFill>
              <a:srgbClr val="E6E8F2"/>
            </a:solidFill>
          </a:ln>
        </p:spPr>
      </p:cxnSp>
      <p:cxnSp>
        <p:nvCxnSpPr>
          <p:cNvPr id="86" name="Line 86"/>
          <p:cNvCxnSpPr/>
          <p:nvPr/>
        </p:nvCxnSpPr>
        <p:spPr>
          <a:xfrm>
            <a:off x="6610198" y="4493133"/>
            <a:ext cx="2990850" cy="0"/>
          </a:xfrm>
          <a:prstGeom prst="line">
            <a:avLst/>
          </a:prstGeom>
          <a:ln w="9525" cap="flat">
            <a:solidFill>
              <a:srgbClr val="E6E8F2"/>
            </a:solidFill>
          </a:ln>
        </p:spPr>
      </p:cxnSp>
      <p:cxnSp>
        <p:nvCxnSpPr>
          <p:cNvPr id="87" name="Line 87"/>
          <p:cNvCxnSpPr/>
          <p:nvPr/>
        </p:nvCxnSpPr>
        <p:spPr>
          <a:xfrm>
            <a:off x="6610198" y="4186428"/>
            <a:ext cx="2990850" cy="0"/>
          </a:xfrm>
          <a:prstGeom prst="line">
            <a:avLst/>
          </a:prstGeom>
          <a:ln w="9525" cap="flat">
            <a:solidFill>
              <a:srgbClr val="E6E8F2"/>
            </a:solidFill>
          </a:ln>
        </p:spPr>
      </p:cxnSp>
      <p:cxnSp>
        <p:nvCxnSpPr>
          <p:cNvPr id="88" name="Line 88"/>
          <p:cNvCxnSpPr/>
          <p:nvPr/>
        </p:nvCxnSpPr>
        <p:spPr>
          <a:xfrm>
            <a:off x="6610198" y="3879723"/>
            <a:ext cx="2990850" cy="0"/>
          </a:xfrm>
          <a:prstGeom prst="line">
            <a:avLst/>
          </a:prstGeom>
          <a:ln w="9525" cap="flat">
            <a:solidFill>
              <a:srgbClr val="E6E8F2"/>
            </a:solidFill>
          </a:ln>
        </p:spPr>
      </p:cxnSp>
      <p:cxnSp>
        <p:nvCxnSpPr>
          <p:cNvPr id="89" name="Line 89"/>
          <p:cNvCxnSpPr/>
          <p:nvPr/>
        </p:nvCxnSpPr>
        <p:spPr>
          <a:xfrm>
            <a:off x="6610198" y="3573018"/>
            <a:ext cx="2990850" cy="0"/>
          </a:xfrm>
          <a:prstGeom prst="line">
            <a:avLst/>
          </a:prstGeom>
          <a:ln w="9525" cap="flat">
            <a:solidFill>
              <a:srgbClr val="E6E8F2"/>
            </a:solidFill>
          </a:ln>
        </p:spPr>
      </p:cxnSp>
      <p:cxnSp>
        <p:nvCxnSpPr>
          <p:cNvPr id="90" name="Line 90"/>
          <p:cNvCxnSpPr/>
          <p:nvPr/>
        </p:nvCxnSpPr>
        <p:spPr>
          <a:xfrm>
            <a:off x="6610198" y="3266313"/>
            <a:ext cx="2990850" cy="0"/>
          </a:xfrm>
          <a:prstGeom prst="line">
            <a:avLst/>
          </a:prstGeom>
          <a:ln w="9525" cap="flat">
            <a:solidFill>
              <a:srgbClr val="E6E8F2"/>
            </a:solidFill>
          </a:ln>
        </p:spPr>
      </p:cxnSp>
      <p:cxnSp>
        <p:nvCxnSpPr>
          <p:cNvPr id="91" name="Line 91"/>
          <p:cNvCxnSpPr/>
          <p:nvPr/>
        </p:nvCxnSpPr>
        <p:spPr>
          <a:xfrm>
            <a:off x="6610198" y="2959608"/>
            <a:ext cx="2990850" cy="0"/>
          </a:xfrm>
          <a:prstGeom prst="line">
            <a:avLst/>
          </a:prstGeom>
          <a:ln w="9525" cap="flat">
            <a:solidFill>
              <a:srgbClr val="E6E8F2"/>
            </a:solidFill>
          </a:ln>
        </p:spPr>
      </p:cxnSp>
      <p:cxnSp>
        <p:nvCxnSpPr>
          <p:cNvPr id="92" name="Line 92"/>
          <p:cNvCxnSpPr/>
          <p:nvPr/>
        </p:nvCxnSpPr>
        <p:spPr>
          <a:xfrm>
            <a:off x="6610198" y="2652903"/>
            <a:ext cx="2990850" cy="0"/>
          </a:xfrm>
          <a:prstGeom prst="line">
            <a:avLst/>
          </a:prstGeom>
          <a:ln w="9525" cap="flat">
            <a:solidFill>
              <a:srgbClr val="E6E8F2"/>
            </a:solidFill>
          </a:ln>
        </p:spPr>
      </p:cxnSp>
      <p:cxnSp>
        <p:nvCxnSpPr>
          <p:cNvPr id="93" name="Line 93"/>
          <p:cNvCxnSpPr/>
          <p:nvPr/>
        </p:nvCxnSpPr>
        <p:spPr>
          <a:xfrm>
            <a:off x="6610198" y="2346198"/>
            <a:ext cx="2990850" cy="0"/>
          </a:xfrm>
          <a:prstGeom prst="line">
            <a:avLst/>
          </a:prstGeom>
          <a:ln w="9525" cap="flat">
            <a:solidFill>
              <a:srgbClr val="E6E8F2"/>
            </a:solidFill>
          </a:ln>
        </p:spPr>
      </p:cxnSp>
      <p:cxnSp>
        <p:nvCxnSpPr>
          <p:cNvPr id="94" name="Line 94"/>
          <p:cNvCxnSpPr/>
          <p:nvPr/>
        </p:nvCxnSpPr>
        <p:spPr>
          <a:xfrm>
            <a:off x="6610198" y="2039493"/>
            <a:ext cx="2990850" cy="0"/>
          </a:xfrm>
          <a:prstGeom prst="line">
            <a:avLst/>
          </a:prstGeom>
          <a:ln w="9525" cap="flat">
            <a:solidFill>
              <a:srgbClr val="E6E8F2"/>
            </a:solidFill>
          </a:ln>
        </p:spPr>
      </p:cxnSp>
      <p:cxnSp>
        <p:nvCxnSpPr>
          <p:cNvPr id="95" name="Line 95"/>
          <p:cNvCxnSpPr/>
          <p:nvPr/>
        </p:nvCxnSpPr>
        <p:spPr>
          <a:xfrm>
            <a:off x="6610198" y="1732788"/>
            <a:ext cx="2990850" cy="0"/>
          </a:xfrm>
          <a:prstGeom prst="line">
            <a:avLst/>
          </a:prstGeom>
          <a:ln w="9525" cap="flat">
            <a:solidFill>
              <a:srgbClr val="E6E8F2"/>
            </a:solidFill>
          </a:ln>
        </p:spPr>
      </p:cxnSp>
      <p:cxnSp>
        <p:nvCxnSpPr>
          <p:cNvPr id="96" name="Line 96"/>
          <p:cNvCxnSpPr/>
          <p:nvPr/>
        </p:nvCxnSpPr>
        <p:spPr>
          <a:xfrm>
            <a:off x="8105623" y="1732788"/>
            <a:ext cx="0" cy="3067050"/>
          </a:xfrm>
          <a:prstGeom prst="line">
            <a:avLst/>
          </a:prstGeom>
          <a:ln w="19050" cap="flat">
            <a:solidFill>
              <a:srgbClr val="5F6272"/>
            </a:solidFill>
          </a:ln>
        </p:spPr>
      </p:cxnSp>
      <p:cxnSp>
        <p:nvCxnSpPr>
          <p:cNvPr id="97" name="Line 97"/>
          <p:cNvCxnSpPr/>
          <p:nvPr/>
        </p:nvCxnSpPr>
        <p:spPr>
          <a:xfrm>
            <a:off x="6610198" y="3573018"/>
            <a:ext cx="2990850" cy="0"/>
          </a:xfrm>
          <a:prstGeom prst="line">
            <a:avLst/>
          </a:prstGeom>
          <a:ln w="19050" cap="flat">
            <a:solidFill>
              <a:srgbClr val="5F6272"/>
            </a:solidFill>
          </a:ln>
        </p:spPr>
      </p:cxnSp>
      <p:sp>
        <p:nvSpPr>
          <p:cNvPr id="98" name="Shape 98"/>
          <p:cNvSpPr txBox="1"/>
          <p:nvPr/>
        </p:nvSpPr>
        <p:spPr>
          <a:xfrm>
            <a:off x="63358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99" name="Shape 99"/>
          <p:cNvSpPr txBox="1"/>
          <p:nvPr/>
        </p:nvSpPr>
        <p:spPr>
          <a:xfrm>
            <a:off x="6709734"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00" name="Shape 100"/>
          <p:cNvSpPr txBox="1"/>
          <p:nvPr/>
        </p:nvSpPr>
        <p:spPr>
          <a:xfrm>
            <a:off x="7083590"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01" name="Shape 101"/>
          <p:cNvSpPr txBox="1"/>
          <p:nvPr/>
        </p:nvSpPr>
        <p:spPr>
          <a:xfrm>
            <a:off x="7457446"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02" name="Shape 102"/>
          <p:cNvSpPr txBox="1"/>
          <p:nvPr/>
        </p:nvSpPr>
        <p:spPr>
          <a:xfrm>
            <a:off x="7831303"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03" name="Shape 103"/>
          <p:cNvSpPr txBox="1"/>
          <p:nvPr/>
        </p:nvSpPr>
        <p:spPr>
          <a:xfrm>
            <a:off x="8205159"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04" name="Shape 104"/>
          <p:cNvSpPr txBox="1"/>
          <p:nvPr/>
        </p:nvSpPr>
        <p:spPr>
          <a:xfrm>
            <a:off x="857901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05" name="Shape 105"/>
          <p:cNvSpPr txBox="1"/>
          <p:nvPr/>
        </p:nvSpPr>
        <p:spPr>
          <a:xfrm>
            <a:off x="8952871"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06" name="Shape 106"/>
          <p:cNvSpPr txBox="1"/>
          <p:nvPr/>
        </p:nvSpPr>
        <p:spPr>
          <a:xfrm>
            <a:off x="932672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07" name="Shape 107"/>
          <p:cNvSpPr txBox="1"/>
          <p:nvPr/>
        </p:nvSpPr>
        <p:spPr>
          <a:xfrm>
            <a:off x="6043270" y="4708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08" name="Shape 108"/>
          <p:cNvSpPr txBox="1"/>
          <p:nvPr/>
        </p:nvSpPr>
        <p:spPr>
          <a:xfrm>
            <a:off x="6043270" y="40949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09" name="Shape 109"/>
          <p:cNvSpPr txBox="1"/>
          <p:nvPr/>
        </p:nvSpPr>
        <p:spPr>
          <a:xfrm>
            <a:off x="6043270" y="34815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10" name="Shape 110"/>
          <p:cNvSpPr txBox="1"/>
          <p:nvPr/>
        </p:nvSpPr>
        <p:spPr>
          <a:xfrm>
            <a:off x="6043270" y="28681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11" name="Shape 111"/>
          <p:cNvSpPr txBox="1"/>
          <p:nvPr/>
        </p:nvSpPr>
        <p:spPr>
          <a:xfrm>
            <a:off x="6043270" y="22547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12" name="Shape 112"/>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113" name="Line 113"/>
          <p:cNvCxnSpPr/>
          <p:nvPr/>
        </p:nvCxnSpPr>
        <p:spPr>
          <a:xfrm>
            <a:off x="6610198" y="2346198"/>
            <a:ext cx="2990850" cy="1226820"/>
          </a:xfrm>
          <a:prstGeom prst="line">
            <a:avLst/>
          </a:prstGeom>
          <a:ln w="38100" cap="rnd">
            <a:solidFill>
              <a:srgbClr val="16171D"/>
            </a:solidFill>
          </a:ln>
        </p:spPr>
      </p:cxnSp>
      <p:sp>
        <p:nvSpPr>
          <p:cNvPr id="114" name="Shape 114"/>
          <p:cNvSpPr/>
          <p:nvPr/>
        </p:nvSpPr>
        <p:spPr>
          <a:xfrm>
            <a:off x="8053235" y="290722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15" name="Shape 115"/>
          <p:cNvSpPr txBox="1"/>
          <p:nvPr/>
        </p:nvSpPr>
        <p:spPr>
          <a:xfrm>
            <a:off x="8191348" y="271195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a:t>
            </a:r>
            <a:endParaRPr lang="en-US" sz="1125" dirty="0"/>
          </a:p>
        </p:txBody>
      </p:sp>
      <p:sp>
        <p:nvSpPr>
          <p:cNvPr id="116" name="Shape 116"/>
          <p:cNvSpPr/>
          <p:nvPr/>
        </p:nvSpPr>
        <p:spPr>
          <a:xfrm>
            <a:off x="8800948" y="321392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17" name="Shape 117"/>
          <p:cNvSpPr txBox="1"/>
          <p:nvPr/>
        </p:nvSpPr>
        <p:spPr>
          <a:xfrm>
            <a:off x="8939060" y="30186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(4, 1)</a:t>
            </a:r>
            <a:endParaRPr lang="en-US" sz="1125" dirty="0"/>
          </a:p>
        </p:txBody>
      </p:sp>
      <p:sp>
        <p:nvSpPr>
          <p:cNvPr id="118" name="Shape 118"/>
          <p:cNvSpPr txBox="1"/>
          <p:nvPr/>
        </p:nvSpPr>
        <p:spPr>
          <a:xfrm>
            <a:off x="6286348" y="5142738"/>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−¼</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6"/>
                                        </p:tgtEl>
                                        <p:attrNameLst>
                                          <p:attrName>style.visibility</p:attrName>
                                        </p:attrNameLst>
                                      </p:cBhvr>
                                      <p:to>
                                        <p:strVal val="visible"/>
                                      </p:to>
                                    </p:set>
                                    <p:animEffect transition="in" filter="fade">
                                      <p:cBhvr>
                                        <p:cTn id="4" dur="500"/>
                                        <p:tgtEl>
                                          <p:spTgt spid="66"/>
                                        </p:tgtEl>
                                      </p:cBhvr>
                                    </p:animEffect>
                                    <p:anim calcmode="lin" valueType="num">
                                      <p:cBhvr>
                                        <p:cTn id="5" dur="500" fill="hold"/>
                                        <p:tgtEl>
                                          <p:spTgt spid="66"/>
                                        </p:tgtEl>
                                        <p:attrNameLst>
                                          <p:attrName>ppt_w</p:attrName>
                                        </p:attrNameLst>
                                      </p:cBhvr>
                                      <p:tavLst>
                                        <p:tav tm="0">
                                          <p:val>
                                            <p:fltVal val="0"/>
                                          </p:val>
                                        </p:tav>
                                        <p:tav tm="100000">
                                          <p:val>
                                            <p:strVal val="#ppt_w"/>
                                          </p:val>
                                        </p:tav>
                                      </p:tavLst>
                                    </p:anim>
                                    <p:anim calcmode="lin" valueType="num">
                                      <p:cBhvr>
                                        <p:cTn id="6" dur="5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18"/>
                                        </p:tgtEl>
                                        <p:attrNameLst>
                                          <p:attrName>style.visibility</p:attrName>
                                        </p:attrNameLst>
                                      </p:cBhvr>
                                      <p:to>
                                        <p:strVal val="visible"/>
                                      </p:to>
                                    </p:set>
                                    <p:animEffect transition="in" filter="fade">
                                      <p:cBhvr>
                                        <p:cTn id="11" dur="500"/>
                                        <p:tgtEl>
                                          <p:spTgt spid="118"/>
                                        </p:tgtEl>
                                      </p:cBhvr>
                                    </p:animEffect>
                                    <p:anim calcmode="lin" valueType="num">
                                      <p:cBhvr>
                                        <p:cTn id="12" dur="500" fill="hold"/>
                                        <p:tgtEl>
                                          <p:spTgt spid="118"/>
                                        </p:tgtEl>
                                        <p:attrNameLst>
                                          <p:attrName>ppt_w</p:attrName>
                                        </p:attrNameLst>
                                      </p:cBhvr>
                                      <p:tavLst>
                                        <p:tav tm="0">
                                          <p:val>
                                            <p:fltVal val="0"/>
                                          </p:val>
                                        </p:tav>
                                        <p:tav tm="100000">
                                          <p:val>
                                            <p:strVal val="#ppt_w"/>
                                          </p:val>
                                        </p:tav>
                                      </p:tavLst>
                                    </p:anim>
                                    <p:anim calcmode="lin" valueType="num">
                                      <p:cBhvr>
                                        <p:cTn id="13" dur="500" fill="hold"/>
                                        <p:tgtEl>
                                          <p:spTgt spid="1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5"/>
              </a:rPr>
              <a:t xml:space="preserve">Day 3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7"/>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1 Assignment (SE pp. 285–286).</a:t>
            </a:r>
            <a:endParaRPr lang="en-US" sz="1575" dirty="0"/>
          </a:p>
        </p:txBody>
      </p:sp>
    </p:spTree>
  </p:cSld>
  <p:clrMapOvr>
    <a:masterClrMapping/>
  </p:clrMapOvr>
  <p:transition spd="med">
    <p:fade/>
  </p:transition>
</p:sld>
</file>

<file path=ppt/theme/theme1.xml><?xml version="1.0" encoding="utf-8"?>
<a:theme xmlns:a="http://schemas.openxmlformats.org/drawingml/2006/main" name="Transforming Linear Func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53</Slides>
  <Notes>53</Notes>
</Properties>
</file>

<file path=docProps/core.xml><?xml version="1.0" encoding="utf-8"?>
<cp:coreProperties xmlns:cp="http://schemas.openxmlformats.org/package/2006/metadata/core-properties" xmlns:dc="http://purl.org/dc/elements/1.1/">
  <dc:title>Transforming Linear Functions</dc:title>
  <dc:subject>Bluebonnet Algebra I</dc:subject>
</cp:coreProperties>
</file>