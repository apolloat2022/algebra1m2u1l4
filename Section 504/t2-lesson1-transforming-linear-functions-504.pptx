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Topic 2. Students transform the parent function f(x) = x: vertical translations f(x) + d (blue) and vertical dilations a · f(x) (orange). They prove a line and its translation are parallel and write equations of parallel lines. Three days on the 150-day calendar: Day 1 Getting Started and Activity 1.1; Day 2 Activities 1.2 and 1.3; Day 3 Activity 1.4, Activity 1.5 and Talk the Talk. Materials: masking tape and markers for the floor coordinate plane, the Problem-Solving Model Graphic Organizer.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(11 − 2) ÷ (4 − 1) = 9 ÷ 3 = 3. 2. In y = mx + b, the y-intercept is (0, b), so it is (0, −7). 3. 2(−3) + 1 = −6 + 1 = −5. 4. Parallel: same slope 3. Put in the point: 5 = 3(1) + b, so b = 2 and y = 3x + 2.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Tape a large coordinate plane on the floor; students stand on the points of AB and move as directed. Ask: Did anyone move left or right? (No: only the y-coordinates changed.)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point did not move? (The origin: 0 times 2 is still 0.) What does multiplying by a negative do? (It reflects across the x-axis.)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1.1, 20–25 minutes. The slide reveals each table column, then the equation, then the graph line. Ask: Which values changed, the inputs or the outputs? (Only the outputs.)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Stamp the learning: a vertical translation changes the y-intercept, not the slope.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Will the graphs of j(x), q(x) and r(x) ever intersect? Ask: How can you tell from the equations? (Same slope, different y-intercepts.)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1, have students reread the Essential Question and summarize Activity 1.1 in their own words. End of Day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What does f(x) + d do to the graph?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vertical translation adds to the output: g(x) = f(x) + 4 = x + 4. 2. A vertical translation changes only y: 5 − 3 = 2, so (2, 2). 3. A vertical translation does not change the slope. g(x) = 2x + 5 still has slope 2. 4. The − 2 is outside: it subtracts 2 from every output, so the graph moves down 2.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1.2, 15–20 minutes. The a's cancel, so the slopes are the same: the image is parallel to the pre-image. Ask: Why did the x-coordinates stay the same? (A vertical translation moves only up or down.)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 has no single answer: let students defend the method they prefer. Catalina thinks in translations; James uses the slope and a point.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1.3, 20–25 minutes. All three pass through (0, 0): a dilation keeps the origin fixed. The slope becomes the factor: 4, 2/3, −4. Ask: f(−1) = −1 and c(−1) = 4. What did the dilation do to the value at x = −1? (Multiplied it by −4.)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Watch for students who say the slope 'increases' when a = −3: it gets steeper, but the slope is −3.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2, have students reread the Essential Question. End of Day 2.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2: How is a · f(x) different from f(x) + d?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3 bell work. Reveal the answers one at a time. Answer key: 1. g(x) = 3x. A vertical dilation by 3 multiplies the slope of f(x) = x by 3. 2. The 2 stretches the graph and the negative sign reflects it across the x-axis. 3. Multiplying by a number between 0 and 1 compresses the graph toward the x-axis. 4. a = −2: the negative sign reflects across the x-axis, and |−2| = 2 stretches by 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1.4, 20 minutes. To graph g(x), start at the y-intercept (0, d) and use the slope a. Teacher-guide note: the slide numbers two items 'a.' in the student slides; they are b and e. Ask: Which number tells you the slope? Which tells you the y-intercept?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teacher guide says the slope 'increases' or 'decreases'; it means steepness. For a = −3 the slope is −3.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1.5, 20 minutes. Check any answer by substituting the target's x: for (−5, 1) with a = −1, d = −4: −(−5) − 4 = 1. Other Version B answers exist (for example a = 1, d = 6 for (−5, 1)). TE correction: for (−5, 1) the teacher guide's a = 1, d = 4 misses; it is d = 6. Version C's −6/4 simplifies to −3/2.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 minutes. Students match the four transformed graphs in their book (SE p. 284) to the equations.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3x is the stretch, − 2 moves the line down 2. 2. 7 = 4(1) + b, so b = 3. 3. Multiply the output by −2: 5 · (−2) = −10.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1 Assignment. TE correction: the teacher guide gives f(x) = (2/3)x − 5, but the plotted points give slope 2/3 and y-intercept (0, −14/3). Check: (2/3)(4) − 14/3 = 8/3 − 14/3 = −2. ✓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1-bellwork-day1-504.html" TargetMode="External"/><Relationship Id="rId4" Type="http://schemas.openxmlformats.org/officeDocument/2006/relationships/hyperlink" Target="https://algebra1m2u1l4.vercel.app/Section 504/t2-lesson1-bellwork-day2-504.html" TargetMode="External"/><Relationship Id="rId5" Type="http://schemas.openxmlformats.org/officeDocument/2006/relationships/hyperlink" Target="https://algebra1m2u1l4.vercel.app/Section 504/t2-lesson1-bellwork-day3-504.html" TargetMode="External"/><Relationship Id="rId6" Type="http://schemas.openxmlformats.org/officeDocument/2006/relationships/hyperlink" Target="https://algebra1m2u1l4.vercel.app/Section 504/t2-lesson1-homework-504.html" TargetMode="External"/><Relationship Id="rId7" Type="http://schemas.openxmlformats.org/officeDocument/2006/relationships/hyperlink" Target="https://algebra1m2u1l4.vercel.app/Section 504/t2-lesson1-quiz-504.html" TargetMode="External"/><Relationship Id="rId8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algebra1m2u1l4.vercel.app/Section 504/t2-lesson1-bellwork-day1-504.html" TargetMode="External"/><Relationship Id="rId4" Type="http://schemas.openxmlformats.org/officeDocument/2006/relationships/hyperlink" Target="https://algebra1m2u1l4.vercel.app/Section 504/t2-lesson1-bellwork-day2-504.html" TargetMode="External"/><Relationship Id="rId5" Type="http://schemas.openxmlformats.org/officeDocument/2006/relationships/hyperlink" Target="https://algebra1m2u1l4.vercel.app/Section 504/t2-lesson1-bellwork-day3-504.html" TargetMode="External"/><Relationship Id="rId6" Type="http://schemas.openxmlformats.org/officeDocument/2006/relationships/hyperlink" Target="https://algebra1m2u1l4.vercel.app/Section 504/t2-lesson1-homework-504.html" TargetMode="External"/><Relationship Id="rId7" Type="http://schemas.openxmlformats.org/officeDocument/2006/relationships/hyperlink" Target="https://algebra1m2u1l4.vercel.app/Section 504/t2-lesson1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1 · Student Edition pp. 269–286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Transforming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6458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522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8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between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2922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−7)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in slope-intercept form is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move the points on the floor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1.1: translate up and down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Graph transformations of the parent function and describe them.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Prove that a line and its vertical translation are parallel.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56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Write the equation of a line parallel to a given line through a given point.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1914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Key term: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parent function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, the simplest function of its type.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is the parent of the linear function family.</a:t>
            </a:r>
            <a:endParaRPr lang="en-US" sz="157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1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Parent function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simplest function of its type.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change to a graph: move it, stretch it, or flip it.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graph up or down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Same slope.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 or compresses the graph. Changes the slope.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Reflection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Flips the graph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(a negative factor).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lines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the same slope that never meet.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linear functions and their slope and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 What effects do different transformations have on the characteristics of linear functions?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Returning to Transformation Station · SE p. 270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(−8, −8)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(8, 8)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How do translations affect the coordinates?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 point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236296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up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873752" y="2362962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down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80644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451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Draw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7353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Every point moves straight up 4,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5" name="Shape 15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6" name="Line 16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8911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1721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4531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341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57711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8580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1390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4200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7010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8935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3188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6947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5948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0201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6168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1788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74081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30279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647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4267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020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2273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5271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0780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503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19286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cxnSp>
        <p:nvCxnSpPr>
          <p:cNvPr id="56" name="Line 56"/>
          <p:cNvCxnSpPr/>
          <p:nvPr/>
        </p:nvCxnSpPr>
        <p:spPr>
          <a:xfrm flipV="1">
            <a:off x="6891185" y="2594800"/>
            <a:ext cx="2247900" cy="2298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7" name="Shape 57"/>
          <p:cNvSpPr txBox="1"/>
          <p:nvPr/>
        </p:nvSpPr>
        <p:spPr>
          <a:xfrm>
            <a:off x="6647345" y="2613851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6891185" y="2020126"/>
            <a:ext cx="2247900" cy="22987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647345" y="2039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CD</a:t>
            </a:r>
            <a:endParaRPr lang="en-US" sz="127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Dilations · SE p. 271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every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-coordinate by 2, then by −2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move straight up or down, away from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(twice as far).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steeper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stretch.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(−2):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Steeper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 reflected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segments pass through the origin, which doesn't move.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738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456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175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5893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330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049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0767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64486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9892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7977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4146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2230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83993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64837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26525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07369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6905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4990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1159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9243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667306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734743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802180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869617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937054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5089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4514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940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3365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790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216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6947383" y="2690580"/>
            <a:ext cx="2697480" cy="1532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7153123" y="270963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715312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EF</a:t>
            </a:r>
            <a:endParaRPr lang="en-US" sz="1275" dirty="0"/>
          </a:p>
        </p:txBody>
      </p:sp>
      <p:cxnSp>
        <p:nvCxnSpPr>
          <p:cNvPr id="57" name="Line 57"/>
          <p:cNvCxnSpPr/>
          <p:nvPr/>
        </p:nvCxnSpPr>
        <p:spPr>
          <a:xfrm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02358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GH</a:t>
            </a:r>
            <a:endParaRPr lang="en-US" sz="1275" dirty="0"/>
          </a:p>
        </p:txBody>
      </p:sp>
      <p:sp>
        <p:nvSpPr>
          <p:cNvPr id="59" name="Slide Number 5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Vertical Translations of Functions · SE p. 272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down 5, then up 5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1828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1828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1828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6705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461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81518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98425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15332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3223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49145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66052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99986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16773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33680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050587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106749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1084400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1101307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111821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477047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8477047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8477047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8477047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8477047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8477047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8477047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9" name="Shape 89"/>
          <p:cNvSpPr txBox="1"/>
          <p:nvPr/>
        </p:nvSpPr>
        <p:spPr>
          <a:xfrm>
            <a:off x="82027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854086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887900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921713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955527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989341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1023155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1056968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109078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7910119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910119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910119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910119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7910119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7910119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7910119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107" name="Line 107"/>
          <p:cNvCxnSpPr/>
          <p:nvPr/>
        </p:nvCxnSpPr>
        <p:spPr>
          <a:xfrm flipV="1">
            <a:off x="8477047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08" name="Shape 108"/>
          <p:cNvSpPr txBox="1"/>
          <p:nvPr/>
        </p:nvSpPr>
        <p:spPr>
          <a:xfrm>
            <a:off x="869040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109" name="Line 109"/>
          <p:cNvCxnSpPr/>
          <p:nvPr/>
        </p:nvCxnSpPr>
        <p:spPr>
          <a:xfrm flipV="1">
            <a:off x="9322391" y="2601944"/>
            <a:ext cx="1859756" cy="1912144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10" name="Shape 110"/>
          <p:cNvSpPr txBox="1"/>
          <p:nvPr/>
        </p:nvSpPr>
        <p:spPr>
          <a:xfrm>
            <a:off x="8690407" y="262099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111" name="Line 111"/>
          <p:cNvCxnSpPr/>
          <p:nvPr/>
        </p:nvCxnSpPr>
        <p:spPr>
          <a:xfrm flipV="1">
            <a:off x="8477047" y="1732788"/>
            <a:ext cx="1859756" cy="1912144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12" name="Shape 112"/>
          <p:cNvSpPr txBox="1"/>
          <p:nvPr/>
        </p:nvSpPr>
        <p:spPr>
          <a:xfrm>
            <a:off x="7845063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275" dirty="0"/>
          </a:p>
        </p:txBody>
      </p:sp>
      <p:sp>
        <p:nvSpPr>
          <p:cNvPr id="113" name="Shape 113"/>
          <p:cNvSpPr txBox="1"/>
          <p:nvPr/>
        </p:nvSpPr>
        <p:spPr>
          <a:xfrm>
            <a:off x="685800" y="514502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only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Also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7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output went up 5.</a:t>
            </a:r>
            <a:endParaRPr lang="en-US" sz="1575" dirty="0"/>
          </a:p>
        </p:txBody>
      </p:sp>
      <p:sp>
        <p:nvSpPr>
          <p:cNvPr id="114" name="Slide Number 1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Definition · SE p. 273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562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the output values change. The slope stays the same, so the new line is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the original.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960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line with slope 1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Questions 5–6 · SE p. 274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up 4 and down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4: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6727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have slope 2 and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-intercepts: (0, −1), (0, 3), (0, −5). They are parallel, so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never 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429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594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086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579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071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8563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3548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04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533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1025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518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010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9903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7867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58314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3795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1759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97235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7687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5651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579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9543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75077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54717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3435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13998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936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8343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3328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3130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329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8282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93267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49170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0845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773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8629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4557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0485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7233291" y="1732788"/>
            <a:ext cx="19939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735451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6734816" y="1732788"/>
            <a:ext cx="1993900" cy="3257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23697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731766" y="1936385"/>
            <a:ext cx="1869281" cy="305395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109308" y="1955435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Summary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a vertical translation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every point up or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533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69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vertical translation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0, down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changes?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the same.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translation are parallel: same slope, never meet.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up 4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down 3 units.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273)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transformed to make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describes the transformation?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A translation down 2 units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1.2: parallel lines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1.3: stretch and compress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Slopes of Parallel Lines · SE p. 275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Will the graphs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ever intersect?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− 1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No. Both lines have slope 2 and stay 4 units apart, so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454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Prove it for any line. Translate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up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 to make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A′B′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Pre-image: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the image: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365912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416356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Questions 3–4 · SE p. 276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a parallel line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Catalina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(2, 9): the point on the line at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2 is (2, 4), so translate up 5.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James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slope ½ and the point (2, 9):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9 = ½(2)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77946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40683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Now you: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9181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Parallel, so the slope is −3: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 = −3(−1)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50581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Vertical Dilations of Functions · SE pp. 277–278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the outputs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2971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9" name="Shape 29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⅔: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6667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−4/3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−2/3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2/3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2" name="Shape 52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4/3</a:t>
            </a:r>
            <a:endParaRPr lang="en-US" sz="1650" dirty="0"/>
          </a:p>
        </p:txBody>
      </p:sp>
      <p:sp>
        <p:nvSpPr>
          <p:cNvPr id="53" name="Shape 53"/>
          <p:cNvSpPr txBox="1"/>
          <p:nvPr/>
        </p:nvSpPr>
        <p:spPr>
          <a:xfrm>
            <a:off x="4381398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(−4):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5" name="Shape 55"/>
          <p:cNvSpPr txBox="1"/>
          <p:nvPr/>
        </p:nvSpPr>
        <p:spPr>
          <a:xfrm>
            <a:off x="8076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6" name="Shape 56"/>
          <p:cNvSpPr txBox="1"/>
          <p:nvPr/>
        </p:nvSpPr>
        <p:spPr>
          <a:xfrm>
            <a:off x="9219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10362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8076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9219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8076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9219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8076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9219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8" name="Shape 68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9" name="Shape 69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0" name="Shape 70"/>
          <p:cNvSpPr txBox="1"/>
          <p:nvPr/>
        </p:nvSpPr>
        <p:spPr>
          <a:xfrm>
            <a:off x="8076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1" name="Shape 71"/>
          <p:cNvSpPr txBox="1"/>
          <p:nvPr/>
        </p:nvSpPr>
        <p:spPr>
          <a:xfrm>
            <a:off x="9219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2" name="Shape 72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3" name="Shape 73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74" name="Shape 74"/>
          <p:cNvSpPr txBox="1"/>
          <p:nvPr/>
        </p:nvSpPr>
        <p:spPr>
          <a:xfrm>
            <a:off x="8076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5" name="Shape 75"/>
          <p:cNvSpPr txBox="1"/>
          <p:nvPr/>
        </p:nvSpPr>
        <p:spPr>
          <a:xfrm>
            <a:off x="9219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6" name="Shape 76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7" name="Shape 77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78" name="Shape 78"/>
          <p:cNvSpPr txBox="1"/>
          <p:nvPr/>
        </p:nvSpPr>
        <p:spPr>
          <a:xfrm>
            <a:off x="8076997" y="4490466"/>
            <a:ext cx="34288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9" name="Slide Number 7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Definition · SE p. 279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(steeper).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(less steep).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also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83330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new slope is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8356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73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881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898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282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355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8916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19645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7" name="Shape 37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6610198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823558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7624610" y="1732788"/>
            <a:ext cx="676275" cy="278130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5809145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4f(x)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610198" y="2196338"/>
            <a:ext cx="2705100" cy="18542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6823558" y="22153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⅔f(x)</a:t>
            </a:r>
            <a:endParaRPr lang="en-US" sz="1275" dirty="0"/>
          </a:p>
        </p:txBody>
      </p:sp>
      <p:sp>
        <p:nvSpPr>
          <p:cNvPr id="57" name="Slide Number 5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vs. dilations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line up or down. Same slope; new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 Parallel lines.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Stretches, compresses or reflects. New slope;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point: keep the slope, then find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with the point.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Keep the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Put the point into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Solve 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stretches.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compresses.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reflects.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21480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 becomes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9380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Bell Work · Review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277)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How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related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5143348" cy="122758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Stretched vertically by 2 and reflected across the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-axis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function is a vertical compression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function is a reflection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and a vertical dilation by a factor of 2?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1.4: describe and graph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1.5: hit the targets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Graphing Linear Transformations · SE pp. 280–281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then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+ 7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2, then up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− 1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3, then down 1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⅓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⅓, then 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4134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½, then down 3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3148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-axis, then 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715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+ 5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and compress by ⅔, then up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271516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Question 2 · SE p. 281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</a:t>
            </a:r>
            <a:r>
              <a:rPr lang="en-US" sz="34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 in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slope.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slope becomes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steeper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less steep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reflected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3029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slope.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5023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up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down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1.5 · Hit the Targets · SE pp. 282–283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Aim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shot is the graph of a transformation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Hit each target.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B: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C: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4/5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−1/5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792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4833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11740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4555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62461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79367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1318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30088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46995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080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97716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14622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8" name="Shape 48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67401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701215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735029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802656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836470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70284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6043270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6043270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6043270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6" name="Shape 66"/>
          <p:cNvSpPr/>
          <p:nvPr/>
        </p:nvSpPr>
        <p:spPr>
          <a:xfrm>
            <a:off x="7234085" y="202806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7" name="Shape 67"/>
          <p:cNvSpPr txBox="1"/>
          <p:nvPr/>
        </p:nvSpPr>
        <p:spPr>
          <a:xfrm>
            <a:off x="7372198" y="18328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(−4, 6)</a:t>
            </a:r>
            <a:endParaRPr lang="en-US" sz="1125" dirty="0"/>
          </a:p>
        </p:txBody>
      </p:sp>
      <p:sp>
        <p:nvSpPr>
          <p:cNvPr id="68" name="Shape 68"/>
          <p:cNvSpPr/>
          <p:nvPr/>
        </p:nvSpPr>
        <p:spPr>
          <a:xfrm>
            <a:off x="8755704" y="23757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9" name="Shape 69"/>
          <p:cNvSpPr txBox="1"/>
          <p:nvPr/>
        </p:nvSpPr>
        <p:spPr>
          <a:xfrm>
            <a:off x="8893816" y="21804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(5, 4)</a:t>
            </a:r>
            <a:endParaRPr lang="en-US" sz="1125" dirty="0"/>
          </a:p>
        </p:txBody>
      </p:sp>
      <p:sp>
        <p:nvSpPr>
          <p:cNvPr id="70" name="Shape 70"/>
          <p:cNvSpPr/>
          <p:nvPr/>
        </p:nvSpPr>
        <p:spPr>
          <a:xfrm>
            <a:off x="8079429" y="3592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217541" y="3397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−3)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065016" y="289721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203129" y="270195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(−5, 1)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Talk the Talk · SE p. 284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up 8.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Stretched by 2: steeper, through (0, 0).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Compressed by ⅓: less steep, through (0, 0).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71398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854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3555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− 7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697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down 7.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3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Both together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 graph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Plot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Count the slope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a target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Put the target's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into the equation. Do you get its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4023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moves the graph up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down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 The slope stays the same, so the new line is parallel;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changes.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stretches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compresses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the graph;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also reflects it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 The slope changes;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it becomes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771698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 by 3, down 2: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−10)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each line</a:t>
            </a:r>
            <a:endParaRPr lang="en-US" sz="3450" dirty="0"/>
          </a:p>
        </p:txBody>
      </p:sp>
      <p:sp>
        <p:nvSpPr>
          <p:cNvPr id="4" name="Shape 4"/>
          <p:cNvSpPr/>
          <p:nvPr/>
        </p:nvSpPr>
        <p:spPr>
          <a:xfrm>
            <a:off x="685800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100965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19657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8350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7043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75736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9442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1312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31814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50507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69200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06585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25278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43971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62664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81357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400050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6081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4164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42247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403307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841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64969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45800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307462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88293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6912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3078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21161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9244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73533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110918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483042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185689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23075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260461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97846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335232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72618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442722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42722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42722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442722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442722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1009650" y="2627344"/>
            <a:ext cx="2990850" cy="2044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0" name="Shape 60"/>
          <p:cNvSpPr/>
          <p:nvPr/>
        </p:nvSpPr>
        <p:spPr>
          <a:xfrm>
            <a:off x="1331119" y="436406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1469231" y="416880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(−8, −10)</a:t>
            </a:r>
            <a:endParaRPr lang="en-US" sz="1125" dirty="0"/>
          </a:p>
        </p:txBody>
      </p:sp>
      <p:sp>
        <p:nvSpPr>
          <p:cNvPr id="62" name="Shape 62"/>
          <p:cNvSpPr/>
          <p:nvPr/>
        </p:nvSpPr>
        <p:spPr>
          <a:xfrm>
            <a:off x="2452688" y="35973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3" name="Shape 63"/>
          <p:cNvSpPr txBox="1"/>
          <p:nvPr/>
        </p:nvSpPr>
        <p:spPr>
          <a:xfrm>
            <a:off x="2590800" y="340204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(−2, −6)</a:t>
            </a:r>
            <a:endParaRPr lang="en-US" sz="1125" dirty="0"/>
          </a:p>
        </p:txBody>
      </p:sp>
      <p:sp>
        <p:nvSpPr>
          <p:cNvPr id="64" name="Shape 64"/>
          <p:cNvSpPr/>
          <p:nvPr/>
        </p:nvSpPr>
        <p:spPr>
          <a:xfrm>
            <a:off x="3574256" y="2830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3712369" y="2635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−2)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685800" y="5142738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− 14/3</a:t>
            </a:r>
            <a:endParaRPr lang="en-US" sz="2325" dirty="0"/>
          </a:p>
        </p:txBody>
      </p:sp>
      <p:sp>
        <p:nvSpPr>
          <p:cNvPr id="67" name="Shape 67"/>
          <p:cNvSpPr/>
          <p:nvPr/>
        </p:nvSpPr>
        <p:spPr>
          <a:xfrm>
            <a:off x="6286348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679712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698405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717098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735791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754483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773176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791869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29255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947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66640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85333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904026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92271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94141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960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6610198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6610198" y="449313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6610198" y="418642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6610198" y="387972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9" name="Line 89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0" name="Line 90"/>
          <p:cNvCxnSpPr/>
          <p:nvPr/>
        </p:nvCxnSpPr>
        <p:spPr>
          <a:xfrm>
            <a:off x="6610198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1" name="Line 91"/>
          <p:cNvCxnSpPr/>
          <p:nvPr/>
        </p:nvCxnSpPr>
        <p:spPr>
          <a:xfrm>
            <a:off x="6610198" y="295960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2" name="Line 92"/>
          <p:cNvCxnSpPr/>
          <p:nvPr/>
        </p:nvCxnSpPr>
        <p:spPr>
          <a:xfrm>
            <a:off x="6610198" y="265290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3" name="Line 93"/>
          <p:cNvCxnSpPr/>
          <p:nvPr/>
        </p:nvCxnSpPr>
        <p:spPr>
          <a:xfrm>
            <a:off x="6610198" y="234619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4" name="Line 94"/>
          <p:cNvCxnSpPr/>
          <p:nvPr/>
        </p:nvCxnSpPr>
        <p:spPr>
          <a:xfrm>
            <a:off x="6610198" y="203949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5" name="Line 95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6" name="Line 9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97" name="Line 97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670973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08359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45744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8313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820515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857901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895287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932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107" name="Shape 107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8" name="Shape 108"/>
          <p:cNvSpPr txBox="1"/>
          <p:nvPr/>
        </p:nvSpPr>
        <p:spPr>
          <a:xfrm>
            <a:off x="6043270" y="40949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9" name="Shape 109"/>
          <p:cNvSpPr txBox="1"/>
          <p:nvPr/>
        </p:nvSpPr>
        <p:spPr>
          <a:xfrm>
            <a:off x="6043270" y="3481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10" name="Shape 110"/>
          <p:cNvSpPr txBox="1"/>
          <p:nvPr/>
        </p:nvSpPr>
        <p:spPr>
          <a:xfrm>
            <a:off x="6043270" y="28681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11" name="Shape 111"/>
          <p:cNvSpPr txBox="1"/>
          <p:nvPr/>
        </p:nvSpPr>
        <p:spPr>
          <a:xfrm>
            <a:off x="6043270" y="22547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12" name="Shape 11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113" name="Line 113"/>
          <p:cNvCxnSpPr/>
          <p:nvPr/>
        </p:nvCxnSpPr>
        <p:spPr>
          <a:xfrm>
            <a:off x="6610198" y="2346198"/>
            <a:ext cx="2990850" cy="122682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14" name="Shape 114"/>
          <p:cNvSpPr/>
          <p:nvPr/>
        </p:nvSpPr>
        <p:spPr>
          <a:xfrm>
            <a:off x="8053235" y="290722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5" name="Shape 115"/>
          <p:cNvSpPr txBox="1"/>
          <p:nvPr/>
        </p:nvSpPr>
        <p:spPr>
          <a:xfrm>
            <a:off x="8191348" y="271195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(0, 2)</a:t>
            </a:r>
            <a:endParaRPr lang="en-US" sz="1125" dirty="0"/>
          </a:p>
        </p:txBody>
      </p:sp>
      <p:sp>
        <p:nvSpPr>
          <p:cNvPr id="116" name="Shape 116"/>
          <p:cNvSpPr/>
          <p:nvPr/>
        </p:nvSpPr>
        <p:spPr>
          <a:xfrm>
            <a:off x="8800948" y="32139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7" name="Shape 117"/>
          <p:cNvSpPr txBox="1"/>
          <p:nvPr/>
        </p:nvSpPr>
        <p:spPr>
          <a:xfrm>
            <a:off x="8939060" y="30186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(4, 1)</a:t>
            </a:r>
            <a:endParaRPr lang="en-US" sz="1125" dirty="0"/>
          </a:p>
        </p:txBody>
      </p:sp>
      <p:sp>
        <p:nvSpPr>
          <p:cNvPr id="118" name="Shape 118"/>
          <p:cNvSpPr txBox="1"/>
          <p:nvPr/>
        </p:nvSpPr>
        <p:spPr>
          <a:xfrm>
            <a:off x="6286348" y="514273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19" name="Slide Number 11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1 Assignment (SE pp. 285–286).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ransforming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34</Slides>
  <Notes>34</Notes>
</Properties>
</file>

<file path=docProps/core.xml><?xml version="1.0" encoding="utf-8"?>
<cp:coreProperties xmlns:cp="http://schemas.openxmlformats.org/package/2006/metadata/core-properties" xmlns:dc="http://purl.org/dc/elements/1.1/">
  <dc:title>Transforming Linear Functions</dc:title>
  <dc:subject>Bluebonnet Algebra I</dc:subject>
</cp:coreProperties>
</file>