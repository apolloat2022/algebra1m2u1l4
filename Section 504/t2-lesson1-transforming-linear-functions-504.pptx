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  <p:sldId id="286" r:id="rId41"/>
    <p:sldId id="287" r:id="rId42"/>
    <p:sldId id="288" r:id="rId43"/>
    <p:sldId id="289" r:id="rId44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to Topic 2. Students transform the parent function f(x) = x: vertical translations f(x) + d (blue) and vertical dilations a · f(x) (orange). They prove a line and its translation are parallel and write equations of parallel lines. Three days on the 150-day calendar: Day 1 Getting Started and Activity 1.1; Day 2 Activities 1.2 and 1.3; Day 3 Activity 1.4, Activity 1.5 and Talk the Talk. Materials: masking tape and markers for the floor coordinate plane, the Problem-Solving Model Graphic Organizer.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1 bell work. Reveal the answers one at a time. Answer key: 1. Slope = (11 − 2) ÷ (4 − 1) = 9 ÷ 3 = 3. 2. In y = mx + b, the y-intercept is (0, b), so it is (0, −7). 3. 2(−3) + 1 = −6 + 1 = −5. 4. Parallel: same slope 3. Put in the point: 5 = 3(1) + b, so b = 2 and y = 3x + 2.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chunked directions. Check off each part as the class finishes it.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each objective aloud as it appears.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preview the key terms before the lesson. Leave this slide up or print it as a reference card.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write the Essential Question at the top of their notes. Don't answer it yet; we come back to it at the end of the lesson.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Getting Started, 15–20 minutes. Tape a large coordinate plane on the floor; students stand on the points of AB and move as directed. Ask: Did anyone move left or right? (No: only the y-coordinates changed.)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Which point did not move? (The origin: 0 times 2 is still 0.) What does multiplying by a negative do? (It reflects across the x-axis.)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1.1, 20–25 minutes. The slide reveals each table column, then the equation, then the graph line. Ask: Which values changed, the inputs or the outputs? (Only the outputs.)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copy the definition. Stamp the learning: a vertical translation changes the y-intercept, not the slope.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Yourself: Will the graphs of j(x), q(x) and r(x) ever intersect? Ask: How can you tell from the equations? (Same slope, different y-intercepts.)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close Day 1, have students reread the Essential Question and summarize Activity 1.1 in their own words. End of Day 1.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a copy of the day's notes. Hand out a printed copy if the student's plan lists copies of notes.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this, then go to the bell work while you take attendance. Afterward, have a student read the Essential Question aloud and ask two or three students to summarize Day 1: What does f(x) + d do to the graph?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2 bell work. Reveal the answers one at a time. Answer key: 1. A vertical translation adds to the output: g(x) = f(x) + 4 = x + 4. 2. A vertical translation changes only y: 5 − 3 = 2, so (2, 2). 3. A vertical translation does not change the slope. g(x) = 2x + 5 still has slope 2. 4. The − 2 is outside: it subtracts 2 from every output, so the graph moves down 2.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chunked directions. Check off each part as the class finishes it.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1.2, 15–20 minutes. The a's cancel, so the slopes are the same: the image is parallel to the pre-image. Ask: Why did the x-coordinates stay the same? (A vertical translation moves only up or down.)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3 has no single answer: let students defend the method they prefer. Catalina thinks in translations; James uses the slope and a point.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1.3, 20–25 minutes. All three pass through (0, 0): a dilation keeps the origin fixed. The slope becomes the factor: 4, 2/3, −4. Ask: f(−1) = −1 and c(−1) = 4. What did the dilation do to the value at x = −1? (Multiplied it by −4.)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copy the definition. Watch for students who say the slope 'increases' when a = −3: it gets steeper, but the slope is −3.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close Day 2, have students reread the Essential Question. End of Day 2.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a copy of the day's notes. Hand out a printed copy if the student's plan lists copies of notes.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this, then go to the bell work while you take attendance. Afterward, have a student read the Essential Question aloud and ask two or three students to summarize Day 2: How is a · f(x) different from f(x) + d?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3 bell work. Reveal the answers one at a time. Answer key: 1. g(x) = 3x. A vertical dilation by 3 multiplies the slope of f(x) = x by 3. 2. The 2 stretches the graph and the negative sign reflects it across the x-axis. 3. Multiplying by a number between 0 and 1 compresses the graph toward the x-axis. 4. a = −2: the negative sign reflects across the x-axis, and |−2| = 2 stretches by 2.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chunked directions. Check off each part as the class finishes it.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1.4, 20 minutes. To graph g(x), start at the y-intercept (0, d) and use the slope a. Teacher-guide note: the slide numbers two items 'a.' in the student slides; they are b and e. Ask: Which number tells you the slope? Which tells you the y-intercept?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 correction: the teacher guide says the slope 'increases' or 'decreases'; it means steepness. For a = −3 the slope is −3.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1.5, 20 minutes. Check any answer by substituting the target's x: for (−5, 1) with a = −1, d = −4: −(−5) − 4 = 1. Other Version B answers exist (for example a = 1, d = 6 for (−5, 1)). TE correction: for (−5, 1) the teacher guide's a = 1, d = 4 misses; it is d = 6. Version C's −6/4 simplifies to −3/2.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the Talk, 10 minutes. Students match the four transformed graphs in their book (SE p. 284) to the equations.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a copy of the day's notes. Hand out a printed copy if the student's plan lists copies of notes.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answer the Essential Question on the lesson opener page.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Give 3–4 minutes, collect the answers, and use them to decide who needs Skills Practice. Work: 1. 3x is the stretch, − 2 moves the line down 2. 2. 7 = 4(1) + b, so b = 3. 3. Multiply the output by −2: 5 · (−2) = −10.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the Lesson 1 Assignment. TE correction: the teacher guide gives f(x) = (2/3)x − 5, but the plotted points give slope 2/3 and y-intercept (0, −14/3). Check: (2/3)(4) − 14/3 = 8/3 − 14/3 = −2. ✓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Click a title to open it in a new tab. Put the day's bell work link up as students walk in. The 150-day pacing calendar (topic2-pacing-150.html) gives the day for each homework and quiz.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algebra1m2u1l4.vercel.app/Section 504/t2-lesson1-bellwork-day1-504.html" TargetMode="External"/><Relationship Id="rId4" Type="http://schemas.openxmlformats.org/officeDocument/2006/relationships/hyperlink" Target="https://algebra1m2u1l4.vercel.app/Section 504/t2-lesson1-bellwork-day2-504.html" TargetMode="External"/><Relationship Id="rId5" Type="http://schemas.openxmlformats.org/officeDocument/2006/relationships/hyperlink" Target="https://algebra1m2u1l4.vercel.app/Section 504/t2-lesson1-bellwork-day3-504.html" TargetMode="External"/><Relationship Id="rId6" Type="http://schemas.openxmlformats.org/officeDocument/2006/relationships/hyperlink" Target="https://algebra1m2u1l4.vercel.app/Section 504/t2-lesson1-homework-504.html" TargetMode="External"/><Relationship Id="rId7" Type="http://schemas.openxmlformats.org/officeDocument/2006/relationships/hyperlink" Target="https://algebra1m2u1l4.vercel.app/Section 504/t2-lesson1-quiz-504.html" TargetMode="External"/><Relationship Id="rId8" Type="http://schemas.openxmlformats.org/officeDocument/2006/relationships/hyperlink" Target="https://creativecommons.org/licenses/by-nc/4.0/" TargetMode="Externa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algebra1m2u1l4.vercel.app/Section 504/t2-lesson1-bellwork-day1-504.html" TargetMode="External"/><Relationship Id="rId4" Type="http://schemas.openxmlformats.org/officeDocument/2006/relationships/hyperlink" Target="https://algebra1m2u1l4.vercel.app/Section 504/t2-lesson1-bellwork-day2-504.html" TargetMode="External"/><Relationship Id="rId5" Type="http://schemas.openxmlformats.org/officeDocument/2006/relationships/hyperlink" Target="https://algebra1m2u1l4.vercel.app/Section 504/t2-lesson1-bellwork-day3-504.html" TargetMode="External"/><Relationship Id="rId6" Type="http://schemas.openxmlformats.org/officeDocument/2006/relationships/hyperlink" Target="https://algebra1m2u1l4.vercel.app/Section 504/t2-lesson1-homework-504.html" TargetMode="External"/><Relationship Id="rId7" Type="http://schemas.openxmlformats.org/officeDocument/2006/relationships/hyperlink" Target="https://algebra1m2u1l4.vercel.app/Section 504/t2-lesson1-quiz-504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 · Module 2 · Topic 2 · Lesson 1 · Student Edition pp. 269–286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923544"/>
            <a:ext cx="10820095" cy="6949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2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Transforming Linear Functions</a:t>
            </a:r>
            <a:endParaRPr lang="en-US" sz="42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866138"/>
            <a:ext cx="10820095" cy="5120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00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0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00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300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0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300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d</a:t>
            </a:r>
            <a:endParaRPr lang="en-US" sz="300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06802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Section 504 Version</a:t>
            </a:r>
            <a:endParaRPr lang="en-US" sz="18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164586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Day 3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| Practice: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7"/>
              </a:rPr>
              <a:t xml:space="preserve">Quiz →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66522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Click, or press → / Space, to reveal each step. ← goes back. F = full screen.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5500116"/>
            <a:ext cx="1082009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 · a companion to Bluebonnet Learning Secondary Mathematics, Algebra I, Edition 1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This work is based on original works of the Texas Education Agency and Carnegie Learning, Inc. This work is made available under a Creative Commons Attribution-Non-Commercial-4.0 International License. This does not in any way imply endorsement by those authors of this work.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©2024–2025 Texas Education Agency, portions ©2021 Carnegie Learning, Inc.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Licensed </a:t>
            </a:r>
            <a:r>
              <a:rPr lang="en-US" sz="1125" dirty="0">
                <a:solidFill>
                  <a:srgbClr val="3050B8"/>
                </a:solidFill>
                <a:latin typeface="Segoe UI"/>
                <a:cs typeface="Segoe UI"/>
                <a:hlinkClick r:id="rId8"/>
              </a:rPr>
              <a:t xml:space="preserve">CC BY-NC 4.0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This is a private site for Algebra I teachers and is not publicly available.</a:t>
            </a:r>
            <a:endParaRPr lang="en-US" sz="1125" dirty="0"/>
          </a:p>
        </p:txBody>
      </p:sp>
      <p:sp>
        <p:nvSpPr>
          <p:cNvPr id="9" name="Slide Number 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Bell Work · Review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What is the slope between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(1, 2)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(4, 11)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58212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243834"/>
            <a:ext cx="51433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What is the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− 7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729228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(0, −7)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What is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(−3)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161032"/>
            <a:ext cx="224471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−5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294665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Which equation in slope-intercept form is parallel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passes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(1, 5)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026408"/>
            <a:ext cx="357132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Today's Plan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Today's plan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Bell work (5 min)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Getting Started: move the points on the floor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6547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1.1: translate up and down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88970"/>
            <a:ext cx="7628725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One part at a time. Ask for help or a break whenever you need it.</a:t>
            </a:r>
            <a:endParaRPr lang="en-US" sz="1650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1 · SE p. 269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 you will…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5658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Determine the effects on the graph of a linear function when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is replaced by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+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or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0106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Graph transformations of the parent function and describe them.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84835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Prove that a line and its vertical translation are parallel.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9565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Write the equation of a line parallel to a given line through a given point.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19144"/>
            <a:ext cx="10820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Key term: </a:t>
            </a:r>
            <a:r>
              <a:rPr lang="en-US" sz="1575" dirty="0" b="1">
                <a:solidFill>
                  <a:srgbClr val="5F6272"/>
                </a:solidFill>
                <a:latin typeface="Segoe UI"/>
                <a:cs typeface="Segoe UI"/>
              </a:rPr>
              <a:t xml:space="preserve">parent function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, the simplest function of its type. </a:t>
            </a:r>
            <a:r>
              <a:rPr lang="en-US" sz="1575" dirty="0" i="1">
                <a:solidFill>
                  <a:srgbClr val="5F6272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5F6272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5F6272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5F6272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5F6272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 is the parent of the linear function family.</a:t>
            </a:r>
            <a:endParaRPr lang="en-US" sz="1575" dirty="0"/>
          </a:p>
        </p:txBody>
      </p:sp>
      <p:sp>
        <p:nvSpPr>
          <p:cNvPr id="9" name="Slide Number 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Lesson 1 · Key Vocabulary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Key vocabulary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Parent function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simplest function of its type.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4349648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Transformation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 change to a graph: move it, stretch it, or flip it.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8013497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 translation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Moves the graph up or down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units. Same slope.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223047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</a:t>
            </a:r>
            <a:r>
              <a:rPr lang="en-US" sz="2325" dirty="0" b="1">
                <a:solidFill>
                  <a:srgbClr val="3050B8"/>
                </a:solidFill>
                <a:latin typeface="Cambria"/>
                <a:cs typeface="Cambria"/>
              </a:rPr>
              <a:t xml:space="preserve">+ 5</a:t>
            </a:r>
            <a:endParaRPr lang="en-US" sz="2325" dirty="0"/>
          </a:p>
        </p:txBody>
      </p:sp>
      <p:sp>
        <p:nvSpPr>
          <p:cNvPr id="18" name="Shape 18"/>
          <p:cNvSpPr txBox="1"/>
          <p:nvPr/>
        </p:nvSpPr>
        <p:spPr>
          <a:xfrm>
            <a:off x="685800" y="3642360"/>
            <a:ext cx="3492398" cy="2206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5" name="Shape 15"/>
          <p:cNvSpPr txBox="1"/>
          <p:nvPr/>
        </p:nvSpPr>
        <p:spPr>
          <a:xfrm>
            <a:off x="895350" y="381381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 dilation</a:t>
            </a:r>
            <a:endParaRPr lang="en-US" sz="2100" dirty="0"/>
          </a:p>
        </p:txBody>
      </p:sp>
      <p:sp>
        <p:nvSpPr>
          <p:cNvPr id="16" name="Shape 16"/>
          <p:cNvSpPr txBox="1"/>
          <p:nvPr/>
        </p:nvSpPr>
        <p:spPr>
          <a:xfrm>
            <a:off x="895350" y="4283964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Stretches or compresses the graph. Changes the slope.</a:t>
            </a:r>
            <a:endParaRPr lang="en-US" sz="1575" dirty="0"/>
          </a:p>
        </p:txBody>
      </p:sp>
      <p:sp>
        <p:nvSpPr>
          <p:cNvPr id="17" name="Shape 17"/>
          <p:cNvSpPr txBox="1"/>
          <p:nvPr/>
        </p:nvSpPr>
        <p:spPr>
          <a:xfrm>
            <a:off x="895350" y="4914138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b="1">
                <a:solidFill>
                  <a:srgbClr val="C9561F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22" name="Shape 22"/>
          <p:cNvSpPr txBox="1"/>
          <p:nvPr/>
        </p:nvSpPr>
        <p:spPr>
          <a:xfrm>
            <a:off x="4349648" y="3642360"/>
            <a:ext cx="3492398" cy="2206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9" name="Shape 19"/>
          <p:cNvSpPr txBox="1"/>
          <p:nvPr/>
        </p:nvSpPr>
        <p:spPr>
          <a:xfrm>
            <a:off x="4559198" y="381381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Reflection</a:t>
            </a:r>
            <a:endParaRPr lang="en-US" sz="2100" dirty="0"/>
          </a:p>
        </p:txBody>
      </p:sp>
      <p:sp>
        <p:nvSpPr>
          <p:cNvPr id="20" name="Shape 20"/>
          <p:cNvSpPr txBox="1"/>
          <p:nvPr/>
        </p:nvSpPr>
        <p:spPr>
          <a:xfrm>
            <a:off x="4559198" y="4283964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Flips the graph across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-axis (a negative factor).</a:t>
            </a:r>
            <a:endParaRPr lang="en-US" sz="1575" dirty="0"/>
          </a:p>
        </p:txBody>
      </p:sp>
      <p:sp>
        <p:nvSpPr>
          <p:cNvPr id="21" name="Shape 21"/>
          <p:cNvSpPr txBox="1"/>
          <p:nvPr/>
        </p:nvSpPr>
        <p:spPr>
          <a:xfrm>
            <a:off x="4559198" y="4914138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26" name="Shape 26"/>
          <p:cNvSpPr txBox="1"/>
          <p:nvPr/>
        </p:nvSpPr>
        <p:spPr>
          <a:xfrm>
            <a:off x="8013497" y="3642360"/>
            <a:ext cx="3492398" cy="2206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3" name="Shape 23"/>
          <p:cNvSpPr txBox="1"/>
          <p:nvPr/>
        </p:nvSpPr>
        <p:spPr>
          <a:xfrm>
            <a:off x="8223047" y="381381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 lines</a:t>
            </a:r>
            <a:endParaRPr lang="en-US" sz="2100" dirty="0"/>
          </a:p>
        </p:txBody>
      </p:sp>
      <p:sp>
        <p:nvSpPr>
          <p:cNvPr id="24" name="Shape 24"/>
          <p:cNvSpPr txBox="1"/>
          <p:nvPr/>
        </p:nvSpPr>
        <p:spPr>
          <a:xfrm>
            <a:off x="8223047" y="4283964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Lines with the same slope that never meet.</a:t>
            </a:r>
            <a:endParaRPr lang="en-US" sz="1575" dirty="0"/>
          </a:p>
        </p:txBody>
      </p:sp>
      <p:sp>
        <p:nvSpPr>
          <p:cNvPr id="25" name="Shape 25"/>
          <p:cNvSpPr txBox="1"/>
          <p:nvPr/>
        </p:nvSpPr>
        <p:spPr>
          <a:xfrm>
            <a:off x="8223047" y="4914138"/>
            <a:ext cx="3073298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+ 3,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− 5</a:t>
            </a:r>
            <a:endParaRPr lang="en-US" sz="2325" dirty="0"/>
          </a:p>
        </p:txBody>
      </p:sp>
      <p:sp>
        <p:nvSpPr>
          <p:cNvPr id="27" name="Slide Number 2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SE p. 269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You know linear functions and their slope and 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25268"/>
            <a:ext cx="10820095" cy="8778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700" dirty="0">
                <a:solidFill>
                  <a:srgbClr val="16171D"/>
                </a:solidFill>
                <a:latin typeface="Segoe UI"/>
                <a:cs typeface="Segoe UI"/>
              </a:rPr>
              <a:t xml:space="preserve">How can you transform a function? What effects do different transformations have on the characteristics of linear functions?</a:t>
            </a:r>
            <a:endParaRPr lang="en-US" sz="27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Getting Started · Returning to Transformation Station · SE p. 270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with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(−8, −8)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(8, 8)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How do translations affect the coordinates?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362962"/>
            <a:ext cx="2351532" cy="44348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Original point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3037332" y="2362962"/>
            <a:ext cx="1836420" cy="44348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4 units up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4873752" y="2362962"/>
            <a:ext cx="2093976" cy="44348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4 units down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2806446"/>
            <a:ext cx="2351532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3037332" y="2806446"/>
            <a:ext cx="183642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3037332" y="2806446"/>
            <a:ext cx="1836420" cy="44348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+ 4)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4873752" y="2806446"/>
            <a:ext cx="2093976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4873752" y="2806446"/>
            <a:ext cx="2093976" cy="44348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− 4)</a:t>
            </a:r>
            <a:endParaRPr lang="en-US" sz="1950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334518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2. Draw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a translation of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up 4 units.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3735324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(−8, −4)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(8, 12)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Every point moves straight up 4, so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is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5" name="Shape 15"/>
          <p:cNvSpPr/>
          <p:nvPr/>
        </p:nvSpPr>
        <p:spPr>
          <a:xfrm>
            <a:off x="6286348" y="1618488"/>
            <a:ext cx="3810000" cy="381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6" name="Line 16"/>
          <p:cNvCxnSpPr/>
          <p:nvPr/>
        </p:nvCxnSpPr>
        <p:spPr>
          <a:xfrm>
            <a:off x="661019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6891185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7172173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7453160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773414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8015135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8296123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8577110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885809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9139085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9420073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9701060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998204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5180838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4893500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4606163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4318826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4031488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3744151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3456813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3169476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2882138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610198" y="2594800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6610198" y="2307463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6610198" y="2020126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6610198" y="1732788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8015135" y="1732788"/>
            <a:ext cx="0" cy="3448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6610198" y="3744151"/>
            <a:ext cx="3371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4" name="Shape 44"/>
          <p:cNvSpPr txBox="1"/>
          <p:nvPr/>
        </p:nvSpPr>
        <p:spPr>
          <a:xfrm>
            <a:off x="6616865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7178840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7740815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8302790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8864765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9426740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12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6043270" y="480206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6043270" y="422738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6043270" y="3652711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6043270" y="307803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6043270" y="250336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6043270" y="192868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12</a:t>
            </a:r>
            <a:endParaRPr lang="en-US" sz="975" dirty="0"/>
          </a:p>
        </p:txBody>
      </p:sp>
      <p:cxnSp>
        <p:nvCxnSpPr>
          <p:cNvPr id="56" name="Line 56"/>
          <p:cNvCxnSpPr/>
          <p:nvPr/>
        </p:nvCxnSpPr>
        <p:spPr>
          <a:xfrm flipV="1">
            <a:off x="6891185" y="2594800"/>
            <a:ext cx="2247900" cy="229870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7" name="Shape 57"/>
          <p:cNvSpPr txBox="1"/>
          <p:nvPr/>
        </p:nvSpPr>
        <p:spPr>
          <a:xfrm>
            <a:off x="6647345" y="2613851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AB</a:t>
            </a:r>
            <a:endParaRPr lang="en-US" sz="1275" dirty="0"/>
          </a:p>
        </p:txBody>
      </p:sp>
      <p:cxnSp>
        <p:nvCxnSpPr>
          <p:cNvPr id="58" name="Line 58"/>
          <p:cNvCxnSpPr/>
          <p:nvPr/>
        </p:nvCxnSpPr>
        <p:spPr>
          <a:xfrm flipV="1">
            <a:off x="6891185" y="2020126"/>
            <a:ext cx="2247900" cy="229870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59" name="Shape 59"/>
          <p:cNvSpPr txBox="1"/>
          <p:nvPr/>
        </p:nvSpPr>
        <p:spPr>
          <a:xfrm>
            <a:off x="6647345" y="203917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CD</a:t>
            </a:r>
            <a:endParaRPr lang="en-US" sz="1275" dirty="0"/>
          </a:p>
        </p:txBody>
      </p:sp>
      <p:sp>
        <p:nvSpPr>
          <p:cNvPr id="60" name="Slide Number 6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7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7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Getting Started · Dilations · SE p. 271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Multiply every 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-coordinate by 2, then by −2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points move straight up or down, away from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-axis (twice as far).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48662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× 2: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(−8, −16)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(8, 16)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is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steeper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a vertical stretch.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878836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× (−2):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(−8, 16)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H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(8, −16)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Steeper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and reflected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across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-axis.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509010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All three segments pass through the origin, which doesn't move.</a:t>
            </a:r>
            <a:endParaRPr lang="en-US" sz="1575" dirty="0"/>
          </a:p>
        </p:txBody>
      </p:sp>
      <p:sp>
        <p:nvSpPr>
          <p:cNvPr id="8" name="Shape 8"/>
          <p:cNvSpPr/>
          <p:nvPr/>
        </p:nvSpPr>
        <p:spPr>
          <a:xfrm>
            <a:off x="6286348" y="1618488"/>
            <a:ext cx="3810000" cy="381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9" name="Line 9"/>
          <p:cNvCxnSpPr/>
          <p:nvPr/>
        </p:nvCxnSpPr>
        <p:spPr>
          <a:xfrm>
            <a:off x="661019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6947383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728456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621753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795893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8296123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63330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970493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930767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9644863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998204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6610198" y="5180838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6610198" y="4989280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6610198" y="4797721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6610198" y="4606163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6610198" y="4414605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4223046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4031488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3839930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3648371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3456813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3265255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3073696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2882138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2690580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2499021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2307463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2115905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1924346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610198" y="1732788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8296123" y="1732788"/>
            <a:ext cx="0" cy="3448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6610198" y="3456813"/>
            <a:ext cx="3371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1" name="Shape 41"/>
          <p:cNvSpPr txBox="1"/>
          <p:nvPr/>
        </p:nvSpPr>
        <p:spPr>
          <a:xfrm>
            <a:off x="6673063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7347433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8021803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8696173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9370543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6043270" y="50893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−18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6043270" y="45147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−12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6043270" y="39400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6043270" y="33653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6043270" y="27906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6043270" y="22160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12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18</a:t>
            </a:r>
            <a:endParaRPr lang="en-US" sz="975" dirty="0"/>
          </a:p>
        </p:txBody>
      </p:sp>
      <p:cxnSp>
        <p:nvCxnSpPr>
          <p:cNvPr id="53" name="Line 53"/>
          <p:cNvCxnSpPr/>
          <p:nvPr/>
        </p:nvCxnSpPr>
        <p:spPr>
          <a:xfrm flipV="1">
            <a:off x="6947383" y="2690580"/>
            <a:ext cx="2697480" cy="1532467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4" name="Shape 54"/>
          <p:cNvSpPr txBox="1"/>
          <p:nvPr/>
        </p:nvSpPr>
        <p:spPr>
          <a:xfrm>
            <a:off x="7153123" y="270963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AB</a:t>
            </a:r>
            <a:endParaRPr lang="en-US" sz="1275" dirty="0"/>
          </a:p>
        </p:txBody>
      </p:sp>
      <p:cxnSp>
        <p:nvCxnSpPr>
          <p:cNvPr id="55" name="Line 55"/>
          <p:cNvCxnSpPr/>
          <p:nvPr/>
        </p:nvCxnSpPr>
        <p:spPr>
          <a:xfrm flipV="1">
            <a:off x="6947383" y="1924346"/>
            <a:ext cx="2697480" cy="3064933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56" name="Shape 56"/>
          <p:cNvSpPr txBox="1"/>
          <p:nvPr/>
        </p:nvSpPr>
        <p:spPr>
          <a:xfrm>
            <a:off x="7153123" y="194339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EF</a:t>
            </a:r>
            <a:endParaRPr lang="en-US" sz="1275" dirty="0"/>
          </a:p>
        </p:txBody>
      </p:sp>
      <p:cxnSp>
        <p:nvCxnSpPr>
          <p:cNvPr id="57" name="Line 57"/>
          <p:cNvCxnSpPr/>
          <p:nvPr/>
        </p:nvCxnSpPr>
        <p:spPr>
          <a:xfrm>
            <a:off x="6947383" y="1924346"/>
            <a:ext cx="2697480" cy="3064933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58" name="Shape 58"/>
          <p:cNvSpPr txBox="1"/>
          <p:nvPr/>
        </p:nvSpPr>
        <p:spPr>
          <a:xfrm>
            <a:off x="7023583" y="194339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GH</a:t>
            </a:r>
            <a:endParaRPr lang="en-US" sz="1275" dirty="0"/>
          </a:p>
        </p:txBody>
      </p:sp>
      <p:sp>
        <p:nvSpPr>
          <p:cNvPr id="59" name="Slide Number 5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7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7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7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1.1 · Vertical Translations of Functions · SE p. 272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down 5, then up 5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5" name="Shape 5"/>
          <p:cNvSpPr txBox="1"/>
          <p:nvPr/>
        </p:nvSpPr>
        <p:spPr>
          <a:xfrm>
            <a:off x="1828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2971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m(x)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1828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2971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2971800" y="20162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−7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241401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1828800" y="241401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2971800" y="241401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2971800" y="241401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−6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281178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6" name="Shape 16"/>
          <p:cNvSpPr txBox="1"/>
          <p:nvPr/>
        </p:nvSpPr>
        <p:spPr>
          <a:xfrm>
            <a:off x="1828800" y="281178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7" name="Shape 17"/>
          <p:cNvSpPr txBox="1"/>
          <p:nvPr/>
        </p:nvSpPr>
        <p:spPr>
          <a:xfrm>
            <a:off x="2971800" y="281178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8" name="Shape 18"/>
          <p:cNvSpPr txBox="1"/>
          <p:nvPr/>
        </p:nvSpPr>
        <p:spPr>
          <a:xfrm>
            <a:off x="2971800" y="281178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−5</a:t>
            </a:r>
            <a:endParaRPr lang="en-US" sz="1650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320954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20" name="Shape 20"/>
          <p:cNvSpPr txBox="1"/>
          <p:nvPr/>
        </p:nvSpPr>
        <p:spPr>
          <a:xfrm>
            <a:off x="1828800" y="320954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21" name="Shape 21"/>
          <p:cNvSpPr txBox="1"/>
          <p:nvPr/>
        </p:nvSpPr>
        <p:spPr>
          <a:xfrm>
            <a:off x="2971800" y="320954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2" name="Shape 22"/>
          <p:cNvSpPr txBox="1"/>
          <p:nvPr/>
        </p:nvSpPr>
        <p:spPr>
          <a:xfrm>
            <a:off x="2971800" y="320954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−4</a:t>
            </a:r>
            <a:endParaRPr lang="en-US" sz="1650" dirty="0"/>
          </a:p>
        </p:txBody>
      </p:sp>
      <p:sp>
        <p:nvSpPr>
          <p:cNvPr id="23" name="Shape 23"/>
          <p:cNvSpPr txBox="1"/>
          <p:nvPr/>
        </p:nvSpPr>
        <p:spPr>
          <a:xfrm>
            <a:off x="685800" y="360730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24" name="Shape 24"/>
          <p:cNvSpPr txBox="1"/>
          <p:nvPr/>
        </p:nvSpPr>
        <p:spPr>
          <a:xfrm>
            <a:off x="1828800" y="360730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25" name="Shape 25"/>
          <p:cNvSpPr txBox="1"/>
          <p:nvPr/>
        </p:nvSpPr>
        <p:spPr>
          <a:xfrm>
            <a:off x="2971800" y="360730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6" name="Shape 26"/>
          <p:cNvSpPr txBox="1"/>
          <p:nvPr/>
        </p:nvSpPr>
        <p:spPr>
          <a:xfrm>
            <a:off x="2971800" y="360730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−3</a:t>
            </a:r>
            <a:endParaRPr lang="en-US" sz="1650" dirty="0"/>
          </a:p>
        </p:txBody>
      </p:sp>
      <p:sp>
        <p:nvSpPr>
          <p:cNvPr id="27" name="Shape 27"/>
          <p:cNvSpPr txBox="1"/>
          <p:nvPr/>
        </p:nvSpPr>
        <p:spPr>
          <a:xfrm>
            <a:off x="685800" y="4100322"/>
            <a:ext cx="33526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− 5</a:t>
            </a:r>
            <a:endParaRPr lang="en-US" sz="2325" dirty="0"/>
          </a:p>
        </p:txBody>
      </p:sp>
      <p:sp>
        <p:nvSpPr>
          <p:cNvPr id="28" name="Shape 28"/>
          <p:cNvSpPr txBox="1"/>
          <p:nvPr/>
        </p:nvSpPr>
        <p:spPr>
          <a:xfrm>
            <a:off x="4419498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29" name="Shape 29"/>
          <p:cNvSpPr txBox="1"/>
          <p:nvPr/>
        </p:nvSpPr>
        <p:spPr>
          <a:xfrm>
            <a:off x="5562498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650" dirty="0"/>
          </a:p>
        </p:txBody>
      </p:sp>
      <p:sp>
        <p:nvSpPr>
          <p:cNvPr id="30" name="Shape 30"/>
          <p:cNvSpPr txBox="1"/>
          <p:nvPr/>
        </p:nvSpPr>
        <p:spPr>
          <a:xfrm>
            <a:off x="6705498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p(x)</a:t>
            </a:r>
            <a:endParaRPr lang="en-US" sz="1650" dirty="0"/>
          </a:p>
        </p:txBody>
      </p:sp>
      <p:sp>
        <p:nvSpPr>
          <p:cNvPr id="31" name="Shape 31"/>
          <p:cNvSpPr txBox="1"/>
          <p:nvPr/>
        </p:nvSpPr>
        <p:spPr>
          <a:xfrm>
            <a:off x="4419498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32" name="Shape 32"/>
          <p:cNvSpPr txBox="1"/>
          <p:nvPr/>
        </p:nvSpPr>
        <p:spPr>
          <a:xfrm>
            <a:off x="5562498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33" name="Shape 33"/>
          <p:cNvSpPr txBox="1"/>
          <p:nvPr/>
        </p:nvSpPr>
        <p:spPr>
          <a:xfrm>
            <a:off x="6705498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4" name="Shape 34"/>
          <p:cNvSpPr txBox="1"/>
          <p:nvPr/>
        </p:nvSpPr>
        <p:spPr>
          <a:xfrm>
            <a:off x="6705498" y="20162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650" dirty="0"/>
          </a:p>
        </p:txBody>
      </p:sp>
      <p:sp>
        <p:nvSpPr>
          <p:cNvPr id="35" name="Shape 35"/>
          <p:cNvSpPr txBox="1"/>
          <p:nvPr/>
        </p:nvSpPr>
        <p:spPr>
          <a:xfrm>
            <a:off x="4419498" y="241401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36" name="Shape 36"/>
          <p:cNvSpPr txBox="1"/>
          <p:nvPr/>
        </p:nvSpPr>
        <p:spPr>
          <a:xfrm>
            <a:off x="5562498" y="241401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37" name="Shape 37"/>
          <p:cNvSpPr txBox="1"/>
          <p:nvPr/>
        </p:nvSpPr>
        <p:spPr>
          <a:xfrm>
            <a:off x="6705498" y="241401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8" name="Shape 38"/>
          <p:cNvSpPr txBox="1"/>
          <p:nvPr/>
        </p:nvSpPr>
        <p:spPr>
          <a:xfrm>
            <a:off x="6705498" y="241401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650" dirty="0"/>
          </a:p>
        </p:txBody>
      </p:sp>
      <p:sp>
        <p:nvSpPr>
          <p:cNvPr id="39" name="Shape 39"/>
          <p:cNvSpPr txBox="1"/>
          <p:nvPr/>
        </p:nvSpPr>
        <p:spPr>
          <a:xfrm>
            <a:off x="4419498" y="281178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0" name="Shape 40"/>
          <p:cNvSpPr txBox="1"/>
          <p:nvPr/>
        </p:nvSpPr>
        <p:spPr>
          <a:xfrm>
            <a:off x="5562498" y="281178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1" name="Shape 41"/>
          <p:cNvSpPr txBox="1"/>
          <p:nvPr/>
        </p:nvSpPr>
        <p:spPr>
          <a:xfrm>
            <a:off x="6705498" y="281178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2" name="Shape 42"/>
          <p:cNvSpPr txBox="1"/>
          <p:nvPr/>
        </p:nvSpPr>
        <p:spPr>
          <a:xfrm>
            <a:off x="6705498" y="281178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5</a:t>
            </a:r>
            <a:endParaRPr lang="en-US" sz="1650" dirty="0"/>
          </a:p>
        </p:txBody>
      </p:sp>
      <p:sp>
        <p:nvSpPr>
          <p:cNvPr id="43" name="Shape 43"/>
          <p:cNvSpPr txBox="1"/>
          <p:nvPr/>
        </p:nvSpPr>
        <p:spPr>
          <a:xfrm>
            <a:off x="4419498" y="320954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44" name="Shape 44"/>
          <p:cNvSpPr txBox="1"/>
          <p:nvPr/>
        </p:nvSpPr>
        <p:spPr>
          <a:xfrm>
            <a:off x="5562498" y="320954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45" name="Shape 45"/>
          <p:cNvSpPr txBox="1"/>
          <p:nvPr/>
        </p:nvSpPr>
        <p:spPr>
          <a:xfrm>
            <a:off x="6705498" y="320954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6" name="Shape 46"/>
          <p:cNvSpPr txBox="1"/>
          <p:nvPr/>
        </p:nvSpPr>
        <p:spPr>
          <a:xfrm>
            <a:off x="6705498" y="320954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6</a:t>
            </a:r>
            <a:endParaRPr lang="en-US" sz="1650" dirty="0"/>
          </a:p>
        </p:txBody>
      </p:sp>
      <p:sp>
        <p:nvSpPr>
          <p:cNvPr id="47" name="Shape 47"/>
          <p:cNvSpPr txBox="1"/>
          <p:nvPr/>
        </p:nvSpPr>
        <p:spPr>
          <a:xfrm>
            <a:off x="4419498" y="360730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48" name="Shape 48"/>
          <p:cNvSpPr txBox="1"/>
          <p:nvPr/>
        </p:nvSpPr>
        <p:spPr>
          <a:xfrm>
            <a:off x="5562498" y="360730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49" name="Shape 49"/>
          <p:cNvSpPr txBox="1"/>
          <p:nvPr/>
        </p:nvSpPr>
        <p:spPr>
          <a:xfrm>
            <a:off x="6705498" y="360730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50" name="Shape 50"/>
          <p:cNvSpPr txBox="1"/>
          <p:nvPr/>
        </p:nvSpPr>
        <p:spPr>
          <a:xfrm>
            <a:off x="6705498" y="360730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7</a:t>
            </a:r>
            <a:endParaRPr lang="en-US" sz="1650" dirty="0"/>
          </a:p>
        </p:txBody>
      </p:sp>
      <p:sp>
        <p:nvSpPr>
          <p:cNvPr id="51" name="Shape 51"/>
          <p:cNvSpPr txBox="1"/>
          <p:nvPr/>
        </p:nvSpPr>
        <p:spPr>
          <a:xfrm>
            <a:off x="4419498" y="4100322"/>
            <a:ext cx="33526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52" name="Shape 52"/>
          <p:cNvSpPr/>
          <p:nvPr/>
        </p:nvSpPr>
        <p:spPr>
          <a:xfrm>
            <a:off x="8153197" y="1618488"/>
            <a:ext cx="3143250" cy="3143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53" name="Line 53"/>
          <p:cNvCxnSpPr/>
          <p:nvPr/>
        </p:nvCxnSpPr>
        <p:spPr>
          <a:xfrm>
            <a:off x="8477047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8646116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881518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898425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9153322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8" name="Line 58"/>
          <p:cNvCxnSpPr/>
          <p:nvPr/>
        </p:nvCxnSpPr>
        <p:spPr>
          <a:xfrm>
            <a:off x="932239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9" name="Line 59"/>
          <p:cNvCxnSpPr/>
          <p:nvPr/>
        </p:nvCxnSpPr>
        <p:spPr>
          <a:xfrm>
            <a:off x="9491459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0" name="Line 60"/>
          <p:cNvCxnSpPr/>
          <p:nvPr/>
        </p:nvCxnSpPr>
        <p:spPr>
          <a:xfrm>
            <a:off x="966052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1" name="Line 61"/>
          <p:cNvCxnSpPr/>
          <p:nvPr/>
        </p:nvCxnSpPr>
        <p:spPr>
          <a:xfrm>
            <a:off x="9829597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2" name="Line 62"/>
          <p:cNvCxnSpPr/>
          <p:nvPr/>
        </p:nvCxnSpPr>
        <p:spPr>
          <a:xfrm>
            <a:off x="9998666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3" name="Line 63"/>
          <p:cNvCxnSpPr/>
          <p:nvPr/>
        </p:nvCxnSpPr>
        <p:spPr>
          <a:xfrm>
            <a:off x="1016773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4" name="Line 64"/>
          <p:cNvCxnSpPr/>
          <p:nvPr/>
        </p:nvCxnSpPr>
        <p:spPr>
          <a:xfrm>
            <a:off x="1033680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5" name="Line 65"/>
          <p:cNvCxnSpPr/>
          <p:nvPr/>
        </p:nvCxnSpPr>
        <p:spPr>
          <a:xfrm>
            <a:off x="10505872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6" name="Line 66"/>
          <p:cNvCxnSpPr/>
          <p:nvPr/>
        </p:nvCxnSpPr>
        <p:spPr>
          <a:xfrm>
            <a:off x="1067494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7" name="Line 67"/>
          <p:cNvCxnSpPr/>
          <p:nvPr/>
        </p:nvCxnSpPr>
        <p:spPr>
          <a:xfrm>
            <a:off x="10844009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8" name="Line 68"/>
          <p:cNvCxnSpPr/>
          <p:nvPr/>
        </p:nvCxnSpPr>
        <p:spPr>
          <a:xfrm>
            <a:off x="1101307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9" name="Line 69"/>
          <p:cNvCxnSpPr/>
          <p:nvPr/>
        </p:nvCxnSpPr>
        <p:spPr>
          <a:xfrm>
            <a:off x="11182147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0" name="Line 70"/>
          <p:cNvCxnSpPr/>
          <p:nvPr/>
        </p:nvCxnSpPr>
        <p:spPr>
          <a:xfrm>
            <a:off x="8477047" y="45140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1" name="Line 71"/>
          <p:cNvCxnSpPr/>
          <p:nvPr/>
        </p:nvCxnSpPr>
        <p:spPr>
          <a:xfrm>
            <a:off x="8477047" y="4340257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2" name="Line 72"/>
          <p:cNvCxnSpPr/>
          <p:nvPr/>
        </p:nvCxnSpPr>
        <p:spPr>
          <a:xfrm>
            <a:off x="8477047" y="4166426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3" name="Line 73"/>
          <p:cNvCxnSpPr/>
          <p:nvPr/>
        </p:nvCxnSpPr>
        <p:spPr>
          <a:xfrm>
            <a:off x="8477047" y="3992594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4" name="Line 74"/>
          <p:cNvCxnSpPr/>
          <p:nvPr/>
        </p:nvCxnSpPr>
        <p:spPr>
          <a:xfrm>
            <a:off x="8477047" y="381876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5" name="Line 75"/>
          <p:cNvCxnSpPr/>
          <p:nvPr/>
        </p:nvCxnSpPr>
        <p:spPr>
          <a:xfrm>
            <a:off x="8477047" y="3644932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6" name="Line 76"/>
          <p:cNvCxnSpPr/>
          <p:nvPr/>
        </p:nvCxnSpPr>
        <p:spPr>
          <a:xfrm>
            <a:off x="8477047" y="3471100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7" name="Line 77"/>
          <p:cNvCxnSpPr/>
          <p:nvPr/>
        </p:nvCxnSpPr>
        <p:spPr>
          <a:xfrm>
            <a:off x="8477047" y="3297269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8" name="Line 78"/>
          <p:cNvCxnSpPr/>
          <p:nvPr/>
        </p:nvCxnSpPr>
        <p:spPr>
          <a:xfrm>
            <a:off x="8477047" y="31234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9" name="Line 79"/>
          <p:cNvCxnSpPr/>
          <p:nvPr/>
        </p:nvCxnSpPr>
        <p:spPr>
          <a:xfrm>
            <a:off x="8477047" y="2949607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0" name="Line 80"/>
          <p:cNvCxnSpPr/>
          <p:nvPr/>
        </p:nvCxnSpPr>
        <p:spPr>
          <a:xfrm>
            <a:off x="8477047" y="2775776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1" name="Line 81"/>
          <p:cNvCxnSpPr/>
          <p:nvPr/>
        </p:nvCxnSpPr>
        <p:spPr>
          <a:xfrm>
            <a:off x="8477047" y="2601944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2" name="Line 82"/>
          <p:cNvCxnSpPr/>
          <p:nvPr/>
        </p:nvCxnSpPr>
        <p:spPr>
          <a:xfrm>
            <a:off x="8477047" y="242811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3" name="Line 83"/>
          <p:cNvCxnSpPr/>
          <p:nvPr/>
        </p:nvCxnSpPr>
        <p:spPr>
          <a:xfrm>
            <a:off x="8477047" y="2254282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4" name="Line 84"/>
          <p:cNvCxnSpPr/>
          <p:nvPr/>
        </p:nvCxnSpPr>
        <p:spPr>
          <a:xfrm>
            <a:off x="8477047" y="208045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5" name="Line 85"/>
          <p:cNvCxnSpPr/>
          <p:nvPr/>
        </p:nvCxnSpPr>
        <p:spPr>
          <a:xfrm>
            <a:off x="8477047" y="1906619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6" name="Line 86"/>
          <p:cNvCxnSpPr/>
          <p:nvPr/>
        </p:nvCxnSpPr>
        <p:spPr>
          <a:xfrm>
            <a:off x="8477047" y="17327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7" name="Line 87"/>
          <p:cNvCxnSpPr/>
          <p:nvPr/>
        </p:nvCxnSpPr>
        <p:spPr>
          <a:xfrm>
            <a:off x="9829597" y="1732788"/>
            <a:ext cx="0" cy="278130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88" name="Line 88"/>
          <p:cNvCxnSpPr/>
          <p:nvPr/>
        </p:nvCxnSpPr>
        <p:spPr>
          <a:xfrm>
            <a:off x="8477047" y="3123438"/>
            <a:ext cx="270510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89" name="Shape 89"/>
          <p:cNvSpPr txBox="1"/>
          <p:nvPr/>
        </p:nvSpPr>
        <p:spPr>
          <a:xfrm>
            <a:off x="8202727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90" name="Shape 90"/>
          <p:cNvSpPr txBox="1"/>
          <p:nvPr/>
        </p:nvSpPr>
        <p:spPr>
          <a:xfrm>
            <a:off x="8540864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91" name="Shape 91"/>
          <p:cNvSpPr txBox="1"/>
          <p:nvPr/>
        </p:nvSpPr>
        <p:spPr>
          <a:xfrm>
            <a:off x="8879002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92" name="Shape 92"/>
          <p:cNvSpPr txBox="1"/>
          <p:nvPr/>
        </p:nvSpPr>
        <p:spPr>
          <a:xfrm>
            <a:off x="9217139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93" name="Shape 93"/>
          <p:cNvSpPr txBox="1"/>
          <p:nvPr/>
        </p:nvSpPr>
        <p:spPr>
          <a:xfrm>
            <a:off x="9555277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94" name="Shape 94"/>
          <p:cNvSpPr txBox="1"/>
          <p:nvPr/>
        </p:nvSpPr>
        <p:spPr>
          <a:xfrm>
            <a:off x="9893414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95" name="Shape 95"/>
          <p:cNvSpPr txBox="1"/>
          <p:nvPr/>
        </p:nvSpPr>
        <p:spPr>
          <a:xfrm>
            <a:off x="10231552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96" name="Shape 96"/>
          <p:cNvSpPr txBox="1"/>
          <p:nvPr/>
        </p:nvSpPr>
        <p:spPr>
          <a:xfrm>
            <a:off x="10569689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97" name="Shape 97"/>
          <p:cNvSpPr txBox="1"/>
          <p:nvPr/>
        </p:nvSpPr>
        <p:spPr>
          <a:xfrm>
            <a:off x="10907827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98" name="Shape 98"/>
          <p:cNvSpPr txBox="1"/>
          <p:nvPr/>
        </p:nvSpPr>
        <p:spPr>
          <a:xfrm>
            <a:off x="7910119" y="44226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99" name="Shape 99"/>
          <p:cNvSpPr txBox="1"/>
          <p:nvPr/>
        </p:nvSpPr>
        <p:spPr>
          <a:xfrm>
            <a:off x="7910119" y="407498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100" name="Shape 100"/>
          <p:cNvSpPr txBox="1"/>
          <p:nvPr/>
        </p:nvSpPr>
        <p:spPr>
          <a:xfrm>
            <a:off x="7910119" y="37273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101" name="Shape 101"/>
          <p:cNvSpPr txBox="1"/>
          <p:nvPr/>
        </p:nvSpPr>
        <p:spPr>
          <a:xfrm>
            <a:off x="7910119" y="337966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102" name="Shape 102"/>
          <p:cNvSpPr txBox="1"/>
          <p:nvPr/>
        </p:nvSpPr>
        <p:spPr>
          <a:xfrm>
            <a:off x="7910119" y="30319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103" name="Shape 103"/>
          <p:cNvSpPr txBox="1"/>
          <p:nvPr/>
        </p:nvSpPr>
        <p:spPr>
          <a:xfrm>
            <a:off x="7910119" y="268433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104" name="Shape 104"/>
          <p:cNvSpPr txBox="1"/>
          <p:nvPr/>
        </p:nvSpPr>
        <p:spPr>
          <a:xfrm>
            <a:off x="7910119" y="23366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105" name="Shape 105"/>
          <p:cNvSpPr txBox="1"/>
          <p:nvPr/>
        </p:nvSpPr>
        <p:spPr>
          <a:xfrm>
            <a:off x="7910119" y="198901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106" name="Shape 106"/>
          <p:cNvSpPr txBox="1"/>
          <p:nvPr/>
        </p:nvSpPr>
        <p:spPr>
          <a:xfrm>
            <a:off x="7910119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cxnSp>
        <p:nvCxnSpPr>
          <p:cNvPr id="107" name="Line 107"/>
          <p:cNvCxnSpPr/>
          <p:nvPr/>
        </p:nvCxnSpPr>
        <p:spPr>
          <a:xfrm flipV="1">
            <a:off x="8477047" y="1732788"/>
            <a:ext cx="2705100" cy="278130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108" name="Shape 108"/>
          <p:cNvSpPr txBox="1"/>
          <p:nvPr/>
        </p:nvSpPr>
        <p:spPr>
          <a:xfrm>
            <a:off x="8690407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275" dirty="0"/>
          </a:p>
        </p:txBody>
      </p:sp>
      <p:cxnSp>
        <p:nvCxnSpPr>
          <p:cNvPr id="109" name="Line 109"/>
          <p:cNvCxnSpPr/>
          <p:nvPr/>
        </p:nvCxnSpPr>
        <p:spPr>
          <a:xfrm flipV="1">
            <a:off x="9322391" y="2601944"/>
            <a:ext cx="1859756" cy="1912144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110" name="Shape 110"/>
          <p:cNvSpPr txBox="1"/>
          <p:nvPr/>
        </p:nvSpPr>
        <p:spPr>
          <a:xfrm>
            <a:off x="8690407" y="262099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m(x)</a:t>
            </a:r>
            <a:endParaRPr lang="en-US" sz="1275" dirty="0"/>
          </a:p>
        </p:txBody>
      </p:sp>
      <p:cxnSp>
        <p:nvCxnSpPr>
          <p:cNvPr id="111" name="Line 111"/>
          <p:cNvCxnSpPr/>
          <p:nvPr/>
        </p:nvCxnSpPr>
        <p:spPr>
          <a:xfrm flipV="1">
            <a:off x="8477047" y="1732788"/>
            <a:ext cx="1859756" cy="1912144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112" name="Shape 112"/>
          <p:cNvSpPr txBox="1"/>
          <p:nvPr/>
        </p:nvSpPr>
        <p:spPr>
          <a:xfrm>
            <a:off x="7845063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p(x)</a:t>
            </a:r>
            <a:endParaRPr lang="en-US" sz="1275" dirty="0"/>
          </a:p>
        </p:txBody>
      </p:sp>
      <p:sp>
        <p:nvSpPr>
          <p:cNvPr id="113" name="Shape 113"/>
          <p:cNvSpPr txBox="1"/>
          <p:nvPr/>
        </p:nvSpPr>
        <p:spPr>
          <a:xfrm>
            <a:off x="685800" y="5145024"/>
            <a:ext cx="10820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slope stays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; only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moves: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(0, −5)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(0, 5)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Also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(2) = 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(2) = 7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the output went up 5.</a:t>
            </a:r>
            <a:endParaRPr lang="en-US" sz="1575" dirty="0"/>
          </a:p>
        </p:txBody>
      </p:sp>
      <p:sp>
        <p:nvSpPr>
          <p:cNvPr id="114" name="Slide Number 11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9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8" dur="7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1" dur="7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6" dur="7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9" dur="7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5" dur="5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6" dur="5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1.1 · Definition · SE p. 273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 translation: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7137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&gt; 0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the graph moves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up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units. </a:t>
            </a:r>
            <a:r>
              <a:rPr lang="en-US" sz="195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it moves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down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5628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Only the output values change. The slope stays the same, so the new line is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to the original.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09600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a line with slope 1 and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10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1.1 · Questions 5–6 · SE p. 274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up 4 and down 4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Up 4: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521954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+ 4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7713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Down 4: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367278"/>
            <a:ext cx="521954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− 4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− 5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335780"/>
            <a:ext cx="521954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All three have slope 2 and different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-intercepts: (0, −1), (0, 3), (0, −5). They are parallel, so they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never intersect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9" name="Shape 9"/>
          <p:cNvSpPr/>
          <p:nvPr/>
        </p:nvSpPr>
        <p:spPr>
          <a:xfrm>
            <a:off x="6286348" y="1618488"/>
            <a:ext cx="3429000" cy="3619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0" name="Line 10"/>
          <p:cNvCxnSpPr/>
          <p:nvPr/>
        </p:nvCxnSpPr>
        <p:spPr>
          <a:xfrm>
            <a:off x="661019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6859435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108673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7357910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760714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7856385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105623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354860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860409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8853335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9102573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9351810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960104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6610198" y="499033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6610198" y="4786741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4583144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4379547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4175950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3972354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3768757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3565160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3361563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3157966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2954369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2750772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2547176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2343579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2139982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610198" y="1936385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6610198" y="173278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8105623" y="1732788"/>
            <a:ext cx="0" cy="3257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6610198" y="3361563"/>
            <a:ext cx="2990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2" name="Shape 42"/>
          <p:cNvSpPr txBox="1"/>
          <p:nvPr/>
        </p:nvSpPr>
        <p:spPr>
          <a:xfrm>
            <a:off x="633587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6834353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733282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7831303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832977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8828253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932672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6043270" y="48988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6043270" y="449170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6043270" y="408451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6043270" y="367731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6043270" y="32701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6043270" y="286292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6043270" y="245573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6043270" y="204854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cxnSp>
        <p:nvCxnSpPr>
          <p:cNvPr id="58" name="Line 58"/>
          <p:cNvCxnSpPr/>
          <p:nvPr/>
        </p:nvCxnSpPr>
        <p:spPr>
          <a:xfrm flipV="1">
            <a:off x="7233291" y="1732788"/>
            <a:ext cx="1993900" cy="32575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9" name="Shape 59"/>
          <p:cNvSpPr txBox="1"/>
          <p:nvPr/>
        </p:nvSpPr>
        <p:spPr>
          <a:xfrm>
            <a:off x="6735451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j(x)</a:t>
            </a:r>
            <a:endParaRPr lang="en-US" sz="1275" dirty="0"/>
          </a:p>
        </p:txBody>
      </p:sp>
      <p:cxnSp>
        <p:nvCxnSpPr>
          <p:cNvPr id="60" name="Line 60"/>
          <p:cNvCxnSpPr/>
          <p:nvPr/>
        </p:nvCxnSpPr>
        <p:spPr>
          <a:xfrm flipV="1">
            <a:off x="6734816" y="1732788"/>
            <a:ext cx="1993900" cy="325755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1" name="Shape 61"/>
          <p:cNvSpPr txBox="1"/>
          <p:nvPr/>
        </p:nvSpPr>
        <p:spPr>
          <a:xfrm>
            <a:off x="6236976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q(x)</a:t>
            </a:r>
            <a:endParaRPr lang="en-US" sz="1275" dirty="0"/>
          </a:p>
        </p:txBody>
      </p:sp>
      <p:cxnSp>
        <p:nvCxnSpPr>
          <p:cNvPr id="62" name="Line 62"/>
          <p:cNvCxnSpPr/>
          <p:nvPr/>
        </p:nvCxnSpPr>
        <p:spPr>
          <a:xfrm flipV="1">
            <a:off x="7731766" y="1936385"/>
            <a:ext cx="1869281" cy="3053953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63" name="Shape 63"/>
          <p:cNvSpPr txBox="1"/>
          <p:nvPr/>
        </p:nvSpPr>
        <p:spPr>
          <a:xfrm>
            <a:off x="7109308" y="1955435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r(x)</a:t>
            </a:r>
            <a:endParaRPr lang="en-US" sz="1275" dirty="0"/>
          </a:p>
        </p:txBody>
      </p:sp>
      <p:sp>
        <p:nvSpPr>
          <p:cNvPr id="64" name="Slide Number 6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11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7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7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7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7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1.1 · Summary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What does a vertical translation do?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7137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moves every point up or down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units.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7533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The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stays the same. The </a:t>
            </a:r>
            <a:r>
              <a:rPr lang="en-US" sz="19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changes.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83692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A line and its vertical translation are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Notes to Keep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Notes to keep: Day 1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Translation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</a:t>
            </a:r>
            <a:r>
              <a:rPr lang="en-US" sz="2325" dirty="0" b="1">
                <a:solidFill>
                  <a:srgbClr val="3050B8"/>
                </a:solidFill>
                <a:latin typeface="Cambria"/>
                <a:cs typeface="Cambria"/>
              </a:rPr>
              <a:t xml:space="preserve">+ </a:t>
            </a:r>
            <a:r>
              <a:rPr lang="en-US" sz="2325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d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764536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Up when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&gt; 0, down when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&lt; 0.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349648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What changes?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moves.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slope stays the same.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013497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2260092"/>
            <a:ext cx="30732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 line and its translation are parallel: same slope, never meet.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364236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Copy these into your notes, or ask your teacher for a printed copy.</a:t>
            </a:r>
            <a:endParaRPr lang="en-US" sz="1575" dirty="0"/>
          </a:p>
        </p:txBody>
      </p:sp>
      <p:sp>
        <p:nvSpPr>
          <p:cNvPr id="15" name="Slide Number 1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13</a:t>
            </a:fld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13121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3995928"/>
            <a:ext cx="10820095" cy="11521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Essential Question: How can you transform a function? What effects do different transformations have on the characteristics of linear functions?</a:t>
            </a:r>
            <a:endParaRPr lang="en-US" sz="24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Bell Work · Review of Day 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translated up 4 units. Which equation is the new function?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272)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755392"/>
            <a:ext cx="3902979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+ 4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54101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The point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(2, 5)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translated down 3 units. Where does it go?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273)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323588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(2, 2)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What is the slope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+ 6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275)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The graph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transformed to make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Which describes the transformation?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275)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323588"/>
            <a:ext cx="514334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A translation down 2 units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Today's Plan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Today's plan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Bell work (5 min)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1.2: parallel lines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6547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1.3: stretch and compress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88970"/>
            <a:ext cx="7628725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One part at a time. Ask for help or a break whenever you need it.</a:t>
            </a:r>
            <a:endParaRPr lang="en-US" sz="1650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16</a:t>
            </a:fld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1.2 · Slopes of Parallel Lines · SE p. 275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Will the graphs of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ever intersect?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4892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− 1 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endParaRPr lang="en-US" sz="28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79142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No. Both lines have slope 2 and stay 4 units apart, so they are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4548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Prove it for any line. Translate line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AB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up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units to make line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A′B′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6898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Pre-image: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₂)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65912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Image: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′(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 +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′(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 +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326898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of the image: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286348" y="3659124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₂ +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− 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₁ +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)) ÷ 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₂ −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₁)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286348" y="4163568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= 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₂ −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₁) ÷ 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₂ −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₁)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1.2 · Questions 3–4 · SE p. 276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Write the equation of a parallel line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521954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Catalina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480044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Parallel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½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(2, 9): the point on the line at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2 is (2, 4), so translate up 5.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1618488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495898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James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6495898" y="2260092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Use the slope ½ and the point (2, 9):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9 = ½(2) +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8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3377946"/>
            <a:ext cx="357132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½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+ 8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406831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Now you: parallel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(−1, 5)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4591812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Parallel, so the slope is −3: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5 = −3(−1) +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5058156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endParaRPr lang="en-US" sz="2325" dirty="0"/>
          </a:p>
        </p:txBody>
      </p:sp>
      <p:sp>
        <p:nvSpPr>
          <p:cNvPr id="14" name="Slide Number 1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1.3 · Vertical Dilations of Functions · SE pp. 277–278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Multiply the outputs of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× 4: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1828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2971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a(x)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1828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2971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2971800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−8</a:t>
            </a: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1828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2971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2971800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−4</a:t>
            </a:r>
            <a:endParaRPr lang="en-US" sz="1650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7" name="Shape 17"/>
          <p:cNvSpPr txBox="1"/>
          <p:nvPr/>
        </p:nvSpPr>
        <p:spPr>
          <a:xfrm>
            <a:off x="1828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8" name="Shape 18"/>
          <p:cNvSpPr txBox="1"/>
          <p:nvPr/>
        </p:nvSpPr>
        <p:spPr>
          <a:xfrm>
            <a:off x="2971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9" name="Shape 19"/>
          <p:cNvSpPr txBox="1"/>
          <p:nvPr/>
        </p:nvSpPr>
        <p:spPr>
          <a:xfrm>
            <a:off x="2971800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20" name="Shape 20"/>
          <p:cNvSpPr txBox="1"/>
          <p:nvPr/>
        </p:nvSpPr>
        <p:spPr>
          <a:xfrm>
            <a:off x="685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21" name="Shape 21"/>
          <p:cNvSpPr txBox="1"/>
          <p:nvPr/>
        </p:nvSpPr>
        <p:spPr>
          <a:xfrm>
            <a:off x="1828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22" name="Shape 22"/>
          <p:cNvSpPr txBox="1"/>
          <p:nvPr/>
        </p:nvSpPr>
        <p:spPr>
          <a:xfrm>
            <a:off x="2971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3" name="Shape 23"/>
          <p:cNvSpPr txBox="1"/>
          <p:nvPr/>
        </p:nvSpPr>
        <p:spPr>
          <a:xfrm>
            <a:off x="2971800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650" dirty="0"/>
          </a:p>
        </p:txBody>
      </p:sp>
      <p:sp>
        <p:nvSpPr>
          <p:cNvPr id="24" name="Shape 24"/>
          <p:cNvSpPr txBox="1"/>
          <p:nvPr/>
        </p:nvSpPr>
        <p:spPr>
          <a:xfrm>
            <a:off x="685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25" name="Shape 25"/>
          <p:cNvSpPr txBox="1"/>
          <p:nvPr/>
        </p:nvSpPr>
        <p:spPr>
          <a:xfrm>
            <a:off x="1828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26" name="Shape 26"/>
          <p:cNvSpPr txBox="1"/>
          <p:nvPr/>
        </p:nvSpPr>
        <p:spPr>
          <a:xfrm>
            <a:off x="2971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7" name="Shape 27"/>
          <p:cNvSpPr txBox="1"/>
          <p:nvPr/>
        </p:nvSpPr>
        <p:spPr>
          <a:xfrm>
            <a:off x="2971800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8</a:t>
            </a:r>
            <a:endParaRPr lang="en-US" sz="1650" dirty="0"/>
          </a:p>
        </p:txBody>
      </p:sp>
      <p:sp>
        <p:nvSpPr>
          <p:cNvPr id="28" name="Shape 28"/>
          <p:cNvSpPr txBox="1"/>
          <p:nvPr/>
        </p:nvSpPr>
        <p:spPr>
          <a:xfrm>
            <a:off x="685800" y="4490466"/>
            <a:ext cx="3405500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4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29" name="Shape 29"/>
          <p:cNvSpPr txBox="1"/>
          <p:nvPr/>
        </p:nvSpPr>
        <p:spPr>
          <a:xfrm>
            <a:off x="4381398" y="1618488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× ⅔: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575" dirty="0"/>
          </a:p>
        </p:txBody>
      </p:sp>
      <p:sp>
        <p:nvSpPr>
          <p:cNvPr id="30" name="Shape 30"/>
          <p:cNvSpPr txBox="1"/>
          <p:nvPr/>
        </p:nvSpPr>
        <p:spPr>
          <a:xfrm>
            <a:off x="43813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31" name="Shape 31"/>
          <p:cNvSpPr txBox="1"/>
          <p:nvPr/>
        </p:nvSpPr>
        <p:spPr>
          <a:xfrm>
            <a:off x="55243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650" dirty="0"/>
          </a:p>
        </p:txBody>
      </p:sp>
      <p:sp>
        <p:nvSpPr>
          <p:cNvPr id="32" name="Shape 32"/>
          <p:cNvSpPr txBox="1"/>
          <p:nvPr/>
        </p:nvSpPr>
        <p:spPr>
          <a:xfrm>
            <a:off x="66673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b(x)</a:t>
            </a:r>
            <a:endParaRPr lang="en-US" sz="1650" dirty="0"/>
          </a:p>
        </p:txBody>
      </p:sp>
      <p:sp>
        <p:nvSpPr>
          <p:cNvPr id="33" name="Shape 33"/>
          <p:cNvSpPr txBox="1"/>
          <p:nvPr/>
        </p:nvSpPr>
        <p:spPr>
          <a:xfrm>
            <a:off x="43813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34" name="Shape 34"/>
          <p:cNvSpPr txBox="1"/>
          <p:nvPr/>
        </p:nvSpPr>
        <p:spPr>
          <a:xfrm>
            <a:off x="55243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35" name="Shape 35"/>
          <p:cNvSpPr txBox="1"/>
          <p:nvPr/>
        </p:nvSpPr>
        <p:spPr>
          <a:xfrm>
            <a:off x="66673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6" name="Shape 36"/>
          <p:cNvSpPr txBox="1"/>
          <p:nvPr/>
        </p:nvSpPr>
        <p:spPr>
          <a:xfrm>
            <a:off x="6667398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−4/3</a:t>
            </a:r>
            <a:endParaRPr lang="en-US" sz="1650" dirty="0"/>
          </a:p>
        </p:txBody>
      </p:sp>
      <p:sp>
        <p:nvSpPr>
          <p:cNvPr id="37" name="Shape 37"/>
          <p:cNvSpPr txBox="1"/>
          <p:nvPr/>
        </p:nvSpPr>
        <p:spPr>
          <a:xfrm>
            <a:off x="43813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38" name="Shape 38"/>
          <p:cNvSpPr txBox="1"/>
          <p:nvPr/>
        </p:nvSpPr>
        <p:spPr>
          <a:xfrm>
            <a:off x="55243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39" name="Shape 39"/>
          <p:cNvSpPr txBox="1"/>
          <p:nvPr/>
        </p:nvSpPr>
        <p:spPr>
          <a:xfrm>
            <a:off x="66673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0" name="Shape 40"/>
          <p:cNvSpPr txBox="1"/>
          <p:nvPr/>
        </p:nvSpPr>
        <p:spPr>
          <a:xfrm>
            <a:off x="6667398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−2/3</a:t>
            </a:r>
            <a:endParaRPr lang="en-US" sz="1650" dirty="0"/>
          </a:p>
        </p:txBody>
      </p:sp>
      <p:sp>
        <p:nvSpPr>
          <p:cNvPr id="41" name="Shape 41"/>
          <p:cNvSpPr txBox="1"/>
          <p:nvPr/>
        </p:nvSpPr>
        <p:spPr>
          <a:xfrm>
            <a:off x="43813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2" name="Shape 42"/>
          <p:cNvSpPr txBox="1"/>
          <p:nvPr/>
        </p:nvSpPr>
        <p:spPr>
          <a:xfrm>
            <a:off x="55243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3" name="Shape 43"/>
          <p:cNvSpPr txBox="1"/>
          <p:nvPr/>
        </p:nvSpPr>
        <p:spPr>
          <a:xfrm>
            <a:off x="66673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4" name="Shape 44"/>
          <p:cNvSpPr txBox="1"/>
          <p:nvPr/>
        </p:nvSpPr>
        <p:spPr>
          <a:xfrm>
            <a:off x="6667398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5" name="Shape 45"/>
          <p:cNvSpPr txBox="1"/>
          <p:nvPr/>
        </p:nvSpPr>
        <p:spPr>
          <a:xfrm>
            <a:off x="43813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46" name="Shape 46"/>
          <p:cNvSpPr txBox="1"/>
          <p:nvPr/>
        </p:nvSpPr>
        <p:spPr>
          <a:xfrm>
            <a:off x="55243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47" name="Shape 47"/>
          <p:cNvSpPr txBox="1"/>
          <p:nvPr/>
        </p:nvSpPr>
        <p:spPr>
          <a:xfrm>
            <a:off x="66673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8" name="Shape 48"/>
          <p:cNvSpPr txBox="1"/>
          <p:nvPr/>
        </p:nvSpPr>
        <p:spPr>
          <a:xfrm>
            <a:off x="6667398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2/3</a:t>
            </a:r>
            <a:endParaRPr lang="en-US" sz="1650" dirty="0"/>
          </a:p>
        </p:txBody>
      </p:sp>
      <p:sp>
        <p:nvSpPr>
          <p:cNvPr id="49" name="Shape 49"/>
          <p:cNvSpPr txBox="1"/>
          <p:nvPr/>
        </p:nvSpPr>
        <p:spPr>
          <a:xfrm>
            <a:off x="43813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50" name="Shape 50"/>
          <p:cNvSpPr txBox="1"/>
          <p:nvPr/>
        </p:nvSpPr>
        <p:spPr>
          <a:xfrm>
            <a:off x="55243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51" name="Shape 51"/>
          <p:cNvSpPr txBox="1"/>
          <p:nvPr/>
        </p:nvSpPr>
        <p:spPr>
          <a:xfrm>
            <a:off x="66673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52" name="Shape 52"/>
          <p:cNvSpPr txBox="1"/>
          <p:nvPr/>
        </p:nvSpPr>
        <p:spPr>
          <a:xfrm>
            <a:off x="6667398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4/3</a:t>
            </a:r>
            <a:endParaRPr lang="en-US" sz="1650" dirty="0"/>
          </a:p>
        </p:txBody>
      </p:sp>
      <p:sp>
        <p:nvSpPr>
          <p:cNvPr id="53" name="Shape 53"/>
          <p:cNvSpPr txBox="1"/>
          <p:nvPr/>
        </p:nvSpPr>
        <p:spPr>
          <a:xfrm>
            <a:off x="4381398" y="4490466"/>
            <a:ext cx="3405500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⅔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54" name="Shape 54"/>
          <p:cNvSpPr txBox="1"/>
          <p:nvPr/>
        </p:nvSpPr>
        <p:spPr>
          <a:xfrm>
            <a:off x="8076997" y="1618488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× (−4):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575" dirty="0"/>
          </a:p>
        </p:txBody>
      </p:sp>
      <p:sp>
        <p:nvSpPr>
          <p:cNvPr id="55" name="Shape 55"/>
          <p:cNvSpPr txBox="1"/>
          <p:nvPr/>
        </p:nvSpPr>
        <p:spPr>
          <a:xfrm>
            <a:off x="8076997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56" name="Shape 56"/>
          <p:cNvSpPr txBox="1"/>
          <p:nvPr/>
        </p:nvSpPr>
        <p:spPr>
          <a:xfrm>
            <a:off x="9219997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650" dirty="0"/>
          </a:p>
        </p:txBody>
      </p:sp>
      <p:sp>
        <p:nvSpPr>
          <p:cNvPr id="57" name="Shape 57"/>
          <p:cNvSpPr txBox="1"/>
          <p:nvPr/>
        </p:nvSpPr>
        <p:spPr>
          <a:xfrm>
            <a:off x="10362997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c(x)</a:t>
            </a:r>
            <a:endParaRPr lang="en-US" sz="1650" dirty="0"/>
          </a:p>
        </p:txBody>
      </p:sp>
      <p:sp>
        <p:nvSpPr>
          <p:cNvPr id="58" name="Shape 58"/>
          <p:cNvSpPr txBox="1"/>
          <p:nvPr/>
        </p:nvSpPr>
        <p:spPr>
          <a:xfrm>
            <a:off x="8076997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59" name="Shape 59"/>
          <p:cNvSpPr txBox="1"/>
          <p:nvPr/>
        </p:nvSpPr>
        <p:spPr>
          <a:xfrm>
            <a:off x="9219997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60" name="Shape 60"/>
          <p:cNvSpPr txBox="1"/>
          <p:nvPr/>
        </p:nvSpPr>
        <p:spPr>
          <a:xfrm>
            <a:off x="10362997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61" name="Shape 61"/>
          <p:cNvSpPr txBox="1"/>
          <p:nvPr/>
        </p:nvSpPr>
        <p:spPr>
          <a:xfrm>
            <a:off x="10362997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8</a:t>
            </a:r>
            <a:endParaRPr lang="en-US" sz="1650" dirty="0"/>
          </a:p>
        </p:txBody>
      </p:sp>
      <p:sp>
        <p:nvSpPr>
          <p:cNvPr id="62" name="Shape 62"/>
          <p:cNvSpPr txBox="1"/>
          <p:nvPr/>
        </p:nvSpPr>
        <p:spPr>
          <a:xfrm>
            <a:off x="8076997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63" name="Shape 63"/>
          <p:cNvSpPr txBox="1"/>
          <p:nvPr/>
        </p:nvSpPr>
        <p:spPr>
          <a:xfrm>
            <a:off x="9219997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64" name="Shape 64"/>
          <p:cNvSpPr txBox="1"/>
          <p:nvPr/>
        </p:nvSpPr>
        <p:spPr>
          <a:xfrm>
            <a:off x="10362997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65" name="Shape 65"/>
          <p:cNvSpPr txBox="1"/>
          <p:nvPr/>
        </p:nvSpPr>
        <p:spPr>
          <a:xfrm>
            <a:off x="10362997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650" dirty="0"/>
          </a:p>
        </p:txBody>
      </p:sp>
      <p:sp>
        <p:nvSpPr>
          <p:cNvPr id="66" name="Shape 66"/>
          <p:cNvSpPr txBox="1"/>
          <p:nvPr/>
        </p:nvSpPr>
        <p:spPr>
          <a:xfrm>
            <a:off x="8076997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67" name="Shape 67"/>
          <p:cNvSpPr txBox="1"/>
          <p:nvPr/>
        </p:nvSpPr>
        <p:spPr>
          <a:xfrm>
            <a:off x="9219997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68" name="Shape 68"/>
          <p:cNvSpPr txBox="1"/>
          <p:nvPr/>
        </p:nvSpPr>
        <p:spPr>
          <a:xfrm>
            <a:off x="10362997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69" name="Shape 69"/>
          <p:cNvSpPr txBox="1"/>
          <p:nvPr/>
        </p:nvSpPr>
        <p:spPr>
          <a:xfrm>
            <a:off x="10362997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70" name="Shape 70"/>
          <p:cNvSpPr txBox="1"/>
          <p:nvPr/>
        </p:nvSpPr>
        <p:spPr>
          <a:xfrm>
            <a:off x="8076997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71" name="Shape 71"/>
          <p:cNvSpPr txBox="1"/>
          <p:nvPr/>
        </p:nvSpPr>
        <p:spPr>
          <a:xfrm>
            <a:off x="9219997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72" name="Shape 72"/>
          <p:cNvSpPr txBox="1"/>
          <p:nvPr/>
        </p:nvSpPr>
        <p:spPr>
          <a:xfrm>
            <a:off x="10362997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73" name="Shape 73"/>
          <p:cNvSpPr txBox="1"/>
          <p:nvPr/>
        </p:nvSpPr>
        <p:spPr>
          <a:xfrm>
            <a:off x="10362997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−4</a:t>
            </a:r>
            <a:endParaRPr lang="en-US" sz="1650" dirty="0"/>
          </a:p>
        </p:txBody>
      </p:sp>
      <p:sp>
        <p:nvSpPr>
          <p:cNvPr id="74" name="Shape 74"/>
          <p:cNvSpPr txBox="1"/>
          <p:nvPr/>
        </p:nvSpPr>
        <p:spPr>
          <a:xfrm>
            <a:off x="8076997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75" name="Shape 75"/>
          <p:cNvSpPr txBox="1"/>
          <p:nvPr/>
        </p:nvSpPr>
        <p:spPr>
          <a:xfrm>
            <a:off x="9219997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76" name="Shape 76"/>
          <p:cNvSpPr txBox="1"/>
          <p:nvPr/>
        </p:nvSpPr>
        <p:spPr>
          <a:xfrm>
            <a:off x="10362997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77" name="Shape 77"/>
          <p:cNvSpPr txBox="1"/>
          <p:nvPr/>
        </p:nvSpPr>
        <p:spPr>
          <a:xfrm>
            <a:off x="10362997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−8</a:t>
            </a:r>
            <a:endParaRPr lang="en-US" sz="1650" dirty="0"/>
          </a:p>
        </p:txBody>
      </p:sp>
      <p:sp>
        <p:nvSpPr>
          <p:cNvPr id="78" name="Shape 78"/>
          <p:cNvSpPr txBox="1"/>
          <p:nvPr/>
        </p:nvSpPr>
        <p:spPr>
          <a:xfrm>
            <a:off x="8076997" y="4490466"/>
            <a:ext cx="342889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−4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79" name="Slide Number 7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19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1.3 · Definition · SE p. 279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 dilation: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|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| &gt;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the graph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stretches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vertically (steeper).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39162"/>
            <a:ext cx="52195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0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|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|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it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compresses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vertically (less steep).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259836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it also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reflects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across the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-axis.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783330"/>
            <a:ext cx="52195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the new slope is </a:t>
            </a:r>
            <a:r>
              <a:rPr lang="en-US" sz="195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; the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stays (0, 0).</a:t>
            </a:r>
            <a:endParaRPr lang="en-US" sz="1950" dirty="0"/>
          </a:p>
        </p:txBody>
      </p:sp>
      <p:sp>
        <p:nvSpPr>
          <p:cNvPr id="8" name="Shape 8"/>
          <p:cNvSpPr/>
          <p:nvPr/>
        </p:nvSpPr>
        <p:spPr>
          <a:xfrm>
            <a:off x="6286348" y="1618488"/>
            <a:ext cx="3143250" cy="3143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9" name="Line 9"/>
          <p:cNvCxnSpPr/>
          <p:nvPr/>
        </p:nvCxnSpPr>
        <p:spPr>
          <a:xfrm>
            <a:off x="66101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683562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70610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28647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75118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773732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79627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18817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4135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863902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88644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908987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93152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6610198" y="45140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6610198" y="428231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6610198" y="40505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381876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35869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335521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31234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289166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26598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242811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21963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196456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17327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7962748" y="1732788"/>
            <a:ext cx="0" cy="278130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3123438"/>
            <a:ext cx="270510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37" name="Shape 37"/>
          <p:cNvSpPr txBox="1"/>
          <p:nvPr/>
        </p:nvSpPr>
        <p:spPr>
          <a:xfrm>
            <a:off x="63358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38" name="Shape 38"/>
          <p:cNvSpPr txBox="1"/>
          <p:nvPr/>
        </p:nvSpPr>
        <p:spPr>
          <a:xfrm>
            <a:off x="67867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39" name="Shape 39"/>
          <p:cNvSpPr txBox="1"/>
          <p:nvPr/>
        </p:nvSpPr>
        <p:spPr>
          <a:xfrm>
            <a:off x="72375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0" name="Shape 40"/>
          <p:cNvSpPr txBox="1"/>
          <p:nvPr/>
        </p:nvSpPr>
        <p:spPr>
          <a:xfrm>
            <a:off x="76884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1" name="Shape 41"/>
          <p:cNvSpPr txBox="1"/>
          <p:nvPr/>
        </p:nvSpPr>
        <p:spPr>
          <a:xfrm>
            <a:off x="81392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85901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90409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6043270" y="44226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6043270" y="39590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6043270" y="34955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6043270" y="30319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6043270" y="25684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6043270" y="21048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cxnSp>
        <p:nvCxnSpPr>
          <p:cNvPr id="51" name="Line 51"/>
          <p:cNvCxnSpPr/>
          <p:nvPr/>
        </p:nvCxnSpPr>
        <p:spPr>
          <a:xfrm flipV="1">
            <a:off x="6610198" y="1732788"/>
            <a:ext cx="2705100" cy="278130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2" name="Shape 52"/>
          <p:cNvSpPr txBox="1"/>
          <p:nvPr/>
        </p:nvSpPr>
        <p:spPr>
          <a:xfrm>
            <a:off x="6823558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275" dirty="0"/>
          </a:p>
        </p:txBody>
      </p:sp>
      <p:cxnSp>
        <p:nvCxnSpPr>
          <p:cNvPr id="53" name="Line 53"/>
          <p:cNvCxnSpPr/>
          <p:nvPr/>
        </p:nvCxnSpPr>
        <p:spPr>
          <a:xfrm flipV="1">
            <a:off x="7624610" y="1732788"/>
            <a:ext cx="676275" cy="2781300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54" name="Shape 54"/>
          <p:cNvSpPr txBox="1"/>
          <p:nvPr/>
        </p:nvSpPr>
        <p:spPr>
          <a:xfrm>
            <a:off x="5809145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4f(x)</a:t>
            </a:r>
            <a:endParaRPr lang="en-US" sz="1275" dirty="0"/>
          </a:p>
        </p:txBody>
      </p:sp>
      <p:cxnSp>
        <p:nvCxnSpPr>
          <p:cNvPr id="55" name="Line 55"/>
          <p:cNvCxnSpPr/>
          <p:nvPr/>
        </p:nvCxnSpPr>
        <p:spPr>
          <a:xfrm flipV="1">
            <a:off x="6610198" y="2196338"/>
            <a:ext cx="2705100" cy="185420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56" name="Shape 56"/>
          <p:cNvSpPr txBox="1"/>
          <p:nvPr/>
        </p:nvSpPr>
        <p:spPr>
          <a:xfrm>
            <a:off x="6823558" y="221538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⅔f(x)</a:t>
            </a:r>
            <a:endParaRPr lang="en-US" sz="1275" dirty="0"/>
          </a:p>
        </p:txBody>
      </p:sp>
      <p:sp>
        <p:nvSpPr>
          <p:cNvPr id="57" name="Slide Number 5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20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7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7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7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Summary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Translations vs. dilations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Translation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Moves the line up or down. Same slope; new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-intercept. Parallel lines.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1618488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495898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Dilation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6495898" y="2260092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Stretches, compresses or reflects. New slope; for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stays (0, 0).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313791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Parallel line through a point: keep the slope, then find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with the point.</a:t>
            </a:r>
            <a:endParaRPr lang="en-US" sz="1575" dirty="0"/>
          </a:p>
        </p:txBody>
      </p:sp>
      <p:sp>
        <p:nvSpPr>
          <p:cNvPr id="11" name="Slide Number 11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21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Notes to Keep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Notes to keep: Day 2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3492398" cy="21480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6949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 line through a point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580132"/>
            <a:ext cx="3073298" cy="10149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1. Keep the slope.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2. Put the point into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mx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+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3. Solve for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349648" y="1618488"/>
            <a:ext cx="3492398" cy="21480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Dilation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2260092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764536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|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| &gt; 1 stretches. 0 &lt; |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| &lt; 1 compresses.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&lt; 0 reflects.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013497" y="1618488"/>
            <a:ext cx="3492398" cy="21480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For </a:t>
            </a:r>
            <a:r>
              <a:rPr lang="en-US" sz="21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21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the slope becomes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393801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Copy these into your notes, or ask your teacher for a printed copy.</a:t>
            </a:r>
            <a:endParaRPr lang="en-US" sz="1575" dirty="0"/>
          </a:p>
        </p:txBody>
      </p:sp>
      <p:sp>
        <p:nvSpPr>
          <p:cNvPr id="15" name="Slide Number 1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22</a:t>
            </a:fld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13121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3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3995928"/>
            <a:ext cx="10820095" cy="11521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Essential Question: How can you transform a function? What effects do different transformations have on the characteristics of linear functions?</a:t>
            </a:r>
            <a:endParaRPr lang="en-US" sz="24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3 · Bell Work · Review of Day 2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What is the slope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277)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58212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24383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How is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−2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related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278)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026408"/>
            <a:ext cx="5143348" cy="122758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Stretched vertically by 2 and reflected across the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-axis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Which function is a vertical compression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278)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3902979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½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Which function is a reflection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across the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-axis and a vertical dilation by a factor of 2?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278)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323588"/>
            <a:ext cx="357132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−2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3 · Today's Plan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Today's plan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Bell work (5 min)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1.4: describe and graph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6547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1.5: hit the targets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889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Talk the Talk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71246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Exit ticket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235958"/>
            <a:ext cx="7628725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One part at a time. Ask for help or a break whenever you need it.</a:t>
            </a:r>
            <a:endParaRPr lang="en-US" sz="1650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25</a:t>
            </a:fld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3 · Activity 1.4 · Graphing Linear Transformations · SE pp. 280–281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Describe each transformation of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, then graph 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144268"/>
            <a:ext cx="3492398" cy="1722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231571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+ 7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78587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Stretch by 2, then up 7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3176016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+ 7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4349648" y="2144268"/>
            <a:ext cx="3492398" cy="1722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231571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− 1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78587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Stretch by 3, then down 1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559198" y="3176016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8013497" y="2144268"/>
            <a:ext cx="3492398" cy="1722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231571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⅓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+ 2</a:t>
            </a:r>
            <a:endParaRPr lang="en-US" sz="2100" dirty="0"/>
          </a:p>
        </p:txBody>
      </p:sp>
      <p:sp>
        <p:nvSpPr>
          <p:cNvPr id="13" name="Shape 13"/>
          <p:cNvSpPr txBox="1"/>
          <p:nvPr/>
        </p:nvSpPr>
        <p:spPr>
          <a:xfrm>
            <a:off x="8223047" y="278587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Compress by ⅓, then up 2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8223047" y="3176016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endParaRPr lang="en-US" sz="2325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3999738"/>
            <a:ext cx="3492398" cy="1962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6" name="Shape 16"/>
          <p:cNvSpPr txBox="1"/>
          <p:nvPr/>
        </p:nvSpPr>
        <p:spPr>
          <a:xfrm>
            <a:off x="895350" y="417118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½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− 3</a:t>
            </a:r>
            <a:endParaRPr lang="en-US" sz="2100" dirty="0"/>
          </a:p>
        </p:txBody>
      </p:sp>
      <p:sp>
        <p:nvSpPr>
          <p:cNvPr id="17" name="Shape 17"/>
          <p:cNvSpPr txBox="1"/>
          <p:nvPr/>
        </p:nvSpPr>
        <p:spPr>
          <a:xfrm>
            <a:off x="895350" y="464134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Compress by ½, then down 3</a:t>
            </a:r>
            <a:endParaRPr lang="en-US" sz="1575" dirty="0"/>
          </a:p>
        </p:txBody>
      </p:sp>
      <p:sp>
        <p:nvSpPr>
          <p:cNvPr id="18" name="Shape 18"/>
          <p:cNvSpPr txBox="1"/>
          <p:nvPr/>
        </p:nvSpPr>
        <p:spPr>
          <a:xfrm>
            <a:off x="895350" y="5031486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½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endParaRPr lang="en-US" sz="2325" dirty="0"/>
          </a:p>
        </p:txBody>
      </p:sp>
      <p:sp>
        <p:nvSpPr>
          <p:cNvPr id="23" name="Shape 23"/>
          <p:cNvSpPr txBox="1"/>
          <p:nvPr/>
        </p:nvSpPr>
        <p:spPr>
          <a:xfrm>
            <a:off x="4349648" y="3999738"/>
            <a:ext cx="3492398" cy="1962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0" name="Shape 20"/>
          <p:cNvSpPr txBox="1"/>
          <p:nvPr/>
        </p:nvSpPr>
        <p:spPr>
          <a:xfrm>
            <a:off x="4559198" y="417118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−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− 4</a:t>
            </a:r>
            <a:endParaRPr lang="en-US" sz="2100" dirty="0"/>
          </a:p>
        </p:txBody>
      </p:sp>
      <p:sp>
        <p:nvSpPr>
          <p:cNvPr id="21" name="Shape 21"/>
          <p:cNvSpPr txBox="1"/>
          <p:nvPr/>
        </p:nvSpPr>
        <p:spPr>
          <a:xfrm>
            <a:off x="4559198" y="464134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Reflect across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-axis, then down 4</a:t>
            </a:r>
            <a:endParaRPr lang="en-US" sz="1575" dirty="0"/>
          </a:p>
        </p:txBody>
      </p:sp>
      <p:sp>
        <p:nvSpPr>
          <p:cNvPr id="22" name="Shape 22"/>
          <p:cNvSpPr txBox="1"/>
          <p:nvPr/>
        </p:nvSpPr>
        <p:spPr>
          <a:xfrm>
            <a:off x="4559198" y="5271516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− 4</a:t>
            </a:r>
            <a:endParaRPr lang="en-US" sz="2325" dirty="0"/>
          </a:p>
        </p:txBody>
      </p:sp>
      <p:sp>
        <p:nvSpPr>
          <p:cNvPr id="27" name="Shape 27"/>
          <p:cNvSpPr txBox="1"/>
          <p:nvPr/>
        </p:nvSpPr>
        <p:spPr>
          <a:xfrm>
            <a:off x="8013497" y="3999738"/>
            <a:ext cx="3492398" cy="1962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4" name="Shape 24"/>
          <p:cNvSpPr txBox="1"/>
          <p:nvPr/>
        </p:nvSpPr>
        <p:spPr>
          <a:xfrm>
            <a:off x="8223047" y="417118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−⅔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+ 5</a:t>
            </a:r>
            <a:endParaRPr lang="en-US" sz="2100" dirty="0"/>
          </a:p>
        </p:txBody>
      </p:sp>
      <p:sp>
        <p:nvSpPr>
          <p:cNvPr id="25" name="Shape 25"/>
          <p:cNvSpPr txBox="1"/>
          <p:nvPr/>
        </p:nvSpPr>
        <p:spPr>
          <a:xfrm>
            <a:off x="8223047" y="464134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Reflect and compress by ⅔, then up 5</a:t>
            </a:r>
            <a:endParaRPr lang="en-US" sz="1575" dirty="0"/>
          </a:p>
        </p:txBody>
      </p:sp>
      <p:sp>
        <p:nvSpPr>
          <p:cNvPr id="26" name="Shape 26"/>
          <p:cNvSpPr txBox="1"/>
          <p:nvPr/>
        </p:nvSpPr>
        <p:spPr>
          <a:xfrm>
            <a:off x="8223047" y="5271516"/>
            <a:ext cx="307329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−⅔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28" name="Slide Number 2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3 · Activity 1.4 · Question 2 · SE p. 281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What do </a:t>
            </a:r>
            <a:r>
              <a:rPr lang="en-US" sz="345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345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d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do in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5219548" cy="1978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480044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Changes the slope. For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slope becomes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steeper when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|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| &gt;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less steep when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0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|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|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reflected when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3130296"/>
            <a:ext cx="48004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Does not change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-intercept.</a:t>
            </a:r>
            <a:endParaRPr lang="en-US" sz="1575" dirty="0"/>
          </a:p>
        </p:txBody>
      </p:sp>
      <p:sp>
        <p:nvSpPr>
          <p:cNvPr id="11" name="Shape 11"/>
          <p:cNvSpPr txBox="1"/>
          <p:nvPr/>
        </p:nvSpPr>
        <p:spPr>
          <a:xfrm>
            <a:off x="6286348" y="1618488"/>
            <a:ext cx="5219548" cy="17381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495898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d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6495898" y="2260092"/>
            <a:ext cx="48004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Does not change the slope.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495898" y="2650236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Moves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to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up when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&gt;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down when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3 · Activity 1.5 · Hit the Targets · SE pp. 282–283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Aim with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Each shot is the graph of a transformation of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Hit each target.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248662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20112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Version B: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1</a:t>
            </a: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or 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; choose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endParaRPr lang="en-US" sz="2100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90266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(−4, 6)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−1,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(5, 4)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1,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−1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(1, −3)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−1,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(−5, 1)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−1,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−4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3691890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895350" y="3863340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Version C: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0</a:t>
            </a: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; choose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895350" y="4333494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(−4, 6)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−3/2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(5, 4)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4/5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(1, −3)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(−5, 1)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−1/5</a:t>
            </a:r>
            <a:endParaRPr lang="en-US" sz="1575" dirty="0"/>
          </a:p>
        </p:txBody>
      </p:sp>
      <p:sp>
        <p:nvSpPr>
          <p:cNvPr id="11" name="Shape 11"/>
          <p:cNvSpPr/>
          <p:nvPr/>
        </p:nvSpPr>
        <p:spPr>
          <a:xfrm>
            <a:off x="6286348" y="1618488"/>
            <a:ext cx="3143250" cy="3143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2" name="Line 12"/>
          <p:cNvCxnSpPr/>
          <p:nvPr/>
        </p:nvCxnSpPr>
        <p:spPr>
          <a:xfrm>
            <a:off x="66101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6779266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6948335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711740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728647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745554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7624610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7793679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79627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8131816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8300885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846995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863902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880809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8977160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9146229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93152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45140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4340257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4166426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3992594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381876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3644932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3471100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3297269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31234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610198" y="2949607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6610198" y="2775776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6610198" y="2601944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6610198" y="242811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6610198" y="2254282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6610198" y="208045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6610198" y="1906619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6610198" y="17327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7962748" y="1732788"/>
            <a:ext cx="0" cy="278130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6610198" y="3123438"/>
            <a:ext cx="270510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8" name="Shape 48"/>
          <p:cNvSpPr txBox="1"/>
          <p:nvPr/>
        </p:nvSpPr>
        <p:spPr>
          <a:xfrm>
            <a:off x="63358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6674015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7012153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7350290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76884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8026565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8364703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8702840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90409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6043270" y="44226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58" name="Shape 58"/>
          <p:cNvSpPr txBox="1"/>
          <p:nvPr/>
        </p:nvSpPr>
        <p:spPr>
          <a:xfrm>
            <a:off x="6043270" y="407498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6043270" y="37273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60" name="Shape 60"/>
          <p:cNvSpPr txBox="1"/>
          <p:nvPr/>
        </p:nvSpPr>
        <p:spPr>
          <a:xfrm>
            <a:off x="6043270" y="337966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6043270" y="30319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2" name="Shape 62"/>
          <p:cNvSpPr txBox="1"/>
          <p:nvPr/>
        </p:nvSpPr>
        <p:spPr>
          <a:xfrm>
            <a:off x="6043270" y="268433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63" name="Shape 63"/>
          <p:cNvSpPr txBox="1"/>
          <p:nvPr/>
        </p:nvSpPr>
        <p:spPr>
          <a:xfrm>
            <a:off x="6043270" y="23366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64" name="Shape 64"/>
          <p:cNvSpPr txBox="1"/>
          <p:nvPr/>
        </p:nvSpPr>
        <p:spPr>
          <a:xfrm>
            <a:off x="6043270" y="198901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65" name="Shape 65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66" name="Shape 66"/>
          <p:cNvSpPr/>
          <p:nvPr/>
        </p:nvSpPr>
        <p:spPr>
          <a:xfrm>
            <a:off x="7234085" y="2028063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7" name="Shape 67"/>
          <p:cNvSpPr txBox="1"/>
          <p:nvPr/>
        </p:nvSpPr>
        <p:spPr>
          <a:xfrm>
            <a:off x="7372198" y="1832800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(−4, 6)</a:t>
            </a:r>
            <a:endParaRPr lang="en-US" sz="1125" dirty="0"/>
          </a:p>
        </p:txBody>
      </p:sp>
      <p:sp>
        <p:nvSpPr>
          <p:cNvPr id="68" name="Shape 68"/>
          <p:cNvSpPr/>
          <p:nvPr/>
        </p:nvSpPr>
        <p:spPr>
          <a:xfrm>
            <a:off x="8755704" y="23757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9" name="Shape 69"/>
          <p:cNvSpPr txBox="1"/>
          <p:nvPr/>
        </p:nvSpPr>
        <p:spPr>
          <a:xfrm>
            <a:off x="8893816" y="21804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(5, 4)</a:t>
            </a:r>
            <a:endParaRPr lang="en-US" sz="1125" dirty="0"/>
          </a:p>
        </p:txBody>
      </p:sp>
      <p:sp>
        <p:nvSpPr>
          <p:cNvPr id="70" name="Shape 70"/>
          <p:cNvSpPr/>
          <p:nvPr/>
        </p:nvSpPr>
        <p:spPr>
          <a:xfrm>
            <a:off x="8079429" y="359254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1" name="Shape 71"/>
          <p:cNvSpPr txBox="1"/>
          <p:nvPr/>
        </p:nvSpPr>
        <p:spPr>
          <a:xfrm>
            <a:off x="8217541" y="3397282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(1, −3)</a:t>
            </a:r>
            <a:endParaRPr lang="en-US" sz="1125" dirty="0"/>
          </a:p>
        </p:txBody>
      </p:sp>
      <p:sp>
        <p:nvSpPr>
          <p:cNvPr id="72" name="Shape 72"/>
          <p:cNvSpPr/>
          <p:nvPr/>
        </p:nvSpPr>
        <p:spPr>
          <a:xfrm>
            <a:off x="7065016" y="2897219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3" name="Shape 73"/>
          <p:cNvSpPr txBox="1"/>
          <p:nvPr/>
        </p:nvSpPr>
        <p:spPr>
          <a:xfrm>
            <a:off x="7203129" y="2701957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(−5, 1)</a:t>
            </a:r>
            <a:endParaRPr lang="en-US" sz="1125" dirty="0"/>
          </a:p>
        </p:txBody>
      </p:sp>
      <p:sp>
        <p:nvSpPr>
          <p:cNvPr id="74" name="Slide Number 7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3 · Talk the Talk · SE p. 284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Match each graph to an equation in terms of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3492398" cy="1962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+ 8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74264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Translated up 8.</a:t>
            </a:r>
            <a:endParaRPr lang="en-US" sz="1575" dirty="0"/>
          </a:p>
        </p:txBody>
      </p:sp>
      <p:sp>
        <p:nvSpPr>
          <p:cNvPr id="11" name="Shape 11"/>
          <p:cNvSpPr txBox="1"/>
          <p:nvPr/>
        </p:nvSpPr>
        <p:spPr>
          <a:xfrm>
            <a:off x="4349648" y="1618488"/>
            <a:ext cx="3492398" cy="1962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h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260092"/>
            <a:ext cx="307329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 ·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4559198" y="2874264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Stretched by 2: steeper, through (0, 0).</a:t>
            </a:r>
            <a:endParaRPr lang="en-US" sz="1575" dirty="0"/>
          </a:p>
        </p:txBody>
      </p:sp>
      <p:sp>
        <p:nvSpPr>
          <p:cNvPr id="15" name="Shape 15"/>
          <p:cNvSpPr txBox="1"/>
          <p:nvPr/>
        </p:nvSpPr>
        <p:spPr>
          <a:xfrm>
            <a:off x="8013497" y="1618488"/>
            <a:ext cx="3492398" cy="1962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13" name="Shape 13"/>
          <p:cNvSpPr txBox="1"/>
          <p:nvPr/>
        </p:nvSpPr>
        <p:spPr>
          <a:xfrm>
            <a:off x="8223047" y="2260092"/>
            <a:ext cx="307329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⅓ ·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14" name="Shape 14"/>
          <p:cNvSpPr txBox="1"/>
          <p:nvPr/>
        </p:nvSpPr>
        <p:spPr>
          <a:xfrm>
            <a:off x="8223047" y="2874264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Compressed by ⅓: less steep, through (0, 0).</a:t>
            </a:r>
            <a:endParaRPr lang="en-US" sz="1575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3713988"/>
            <a:ext cx="3492398" cy="1722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6" name="Shape 16"/>
          <p:cNvSpPr txBox="1"/>
          <p:nvPr/>
        </p:nvSpPr>
        <p:spPr>
          <a:xfrm>
            <a:off x="895350" y="38854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17" name="Shape 17"/>
          <p:cNvSpPr txBox="1"/>
          <p:nvPr/>
        </p:nvSpPr>
        <p:spPr>
          <a:xfrm>
            <a:off x="895350" y="4355592"/>
            <a:ext cx="307329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− 7</a:t>
            </a:r>
            <a:endParaRPr lang="en-US" sz="2325" dirty="0"/>
          </a:p>
        </p:txBody>
      </p:sp>
      <p:sp>
        <p:nvSpPr>
          <p:cNvPr id="18" name="Shape 18"/>
          <p:cNvSpPr txBox="1"/>
          <p:nvPr/>
        </p:nvSpPr>
        <p:spPr>
          <a:xfrm>
            <a:off x="895350" y="4969764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Translated down 7.</a:t>
            </a:r>
            <a:endParaRPr lang="en-US" sz="157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29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3 · Notes to Keep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Notes to keep: Day 3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3492398" cy="1612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Both together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</a:t>
            </a:r>
            <a:r>
              <a:rPr lang="en-US" sz="2325" dirty="0" b="1">
                <a:solidFill>
                  <a:srgbClr val="3050B8"/>
                </a:solidFill>
                <a:latin typeface="Cambria"/>
                <a:cs typeface="Cambria"/>
              </a:rPr>
              <a:t xml:space="preserve">+ </a:t>
            </a:r>
            <a:r>
              <a:rPr lang="en-US" sz="2325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d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764536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(0,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349648" y="1618488"/>
            <a:ext cx="3492398" cy="1612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 graph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1. Plot (0,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).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2. Count the slope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013497" y="1618488"/>
            <a:ext cx="3492398" cy="1612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Check a target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Put the target's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into the equation. Do you get its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340233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Copy these into your notes, or ask your teacher for a printed copy.</a:t>
            </a:r>
            <a:endParaRPr lang="en-US" sz="1575" dirty="0"/>
          </a:p>
        </p:txBody>
      </p:sp>
      <p:sp>
        <p:nvSpPr>
          <p:cNvPr id="15" name="Slide Number 1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30</a:t>
            </a:fld>
          </a:p>
        </p:txBody>
      </p:sp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Answered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How can you transform a function?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Translation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moves the graph up 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&gt; 0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or down 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). The slope stays the same, so the new line is parallel; the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changes.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1536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Dilation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stretches (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|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| &gt;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or compresses (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0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|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|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the graph;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also reflects it across the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-axis. The slope changes; 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it becomes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6" name="Slide Number 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31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Exit Ticket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Show what you know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− 2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Describe the transformation and write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771698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Stretch by 3, down 2: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− 2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7520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Write the line parallel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(1, 7)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41548"/>
            <a:ext cx="357132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747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(2, 5)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on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Which point is on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−2 ·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341114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(2, −10)</a:t>
            </a:r>
            <a:endParaRPr lang="en-US" sz="23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Prepare · SE p. 286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Write the equation of each line</a:t>
            </a:r>
            <a:endParaRPr lang="en-US" sz="3450" dirty="0"/>
          </a:p>
        </p:txBody>
      </p:sp>
      <p:sp>
        <p:nvSpPr>
          <p:cNvPr id="4" name="Shape 4"/>
          <p:cNvSpPr/>
          <p:nvPr/>
        </p:nvSpPr>
        <p:spPr>
          <a:xfrm>
            <a:off x="685800" y="1618488"/>
            <a:ext cx="342900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5" name="Line 5"/>
          <p:cNvCxnSpPr/>
          <p:nvPr/>
        </p:nvCxnSpPr>
        <p:spPr>
          <a:xfrm>
            <a:off x="1009650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" name="Line 6"/>
          <p:cNvCxnSpPr/>
          <p:nvPr/>
        </p:nvCxnSpPr>
        <p:spPr>
          <a:xfrm>
            <a:off x="119657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" name="Line 7"/>
          <p:cNvCxnSpPr/>
          <p:nvPr/>
        </p:nvCxnSpPr>
        <p:spPr>
          <a:xfrm>
            <a:off x="1383506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" name="Line 8"/>
          <p:cNvCxnSpPr/>
          <p:nvPr/>
        </p:nvCxnSpPr>
        <p:spPr>
          <a:xfrm>
            <a:off x="1570434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" name="Line 9"/>
          <p:cNvCxnSpPr/>
          <p:nvPr/>
        </p:nvCxnSpPr>
        <p:spPr>
          <a:xfrm>
            <a:off x="1757362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1944291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2131219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2318147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2505075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269200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2878931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3065859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325278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3439716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3626644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3813572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4000500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1009650" y="479983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1009650" y="4608147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1009650" y="4416457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1009650" y="4224766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1009650" y="4033075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1009650" y="3841385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1009650" y="3649694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1009650" y="3458004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1009650" y="3266313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009650" y="3074622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1009650" y="2882932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1009650" y="2691241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1009650" y="2499550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1009650" y="2307860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1009650" y="2116169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1009650" y="1924479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1009650" y="173278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2878931" y="1732788"/>
            <a:ext cx="0" cy="3067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1009650" y="2499550"/>
            <a:ext cx="2990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1" name="Shape 41"/>
          <p:cNvSpPr txBox="1"/>
          <p:nvPr/>
        </p:nvSpPr>
        <p:spPr>
          <a:xfrm>
            <a:off x="735330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−10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1109186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1483042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1856899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2230755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2604611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297846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3352324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3726180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442722" y="47083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−12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442722" y="432501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−10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442722" y="394163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442722" y="355825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442722" y="31748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442722" y="279149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442722" y="240811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442722" y="202472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8" name="Shape 58"/>
          <p:cNvSpPr txBox="1"/>
          <p:nvPr/>
        </p:nvSpPr>
        <p:spPr>
          <a:xfrm>
            <a:off x="442722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cxnSp>
        <p:nvCxnSpPr>
          <p:cNvPr id="59" name="Line 59"/>
          <p:cNvCxnSpPr/>
          <p:nvPr/>
        </p:nvCxnSpPr>
        <p:spPr>
          <a:xfrm flipV="1">
            <a:off x="1009650" y="2627344"/>
            <a:ext cx="2990850" cy="204470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60" name="Shape 60"/>
          <p:cNvSpPr/>
          <p:nvPr/>
        </p:nvSpPr>
        <p:spPr>
          <a:xfrm>
            <a:off x="1331119" y="4364069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1" name="Shape 61"/>
          <p:cNvSpPr txBox="1"/>
          <p:nvPr/>
        </p:nvSpPr>
        <p:spPr>
          <a:xfrm>
            <a:off x="1469231" y="4168807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(−8, −10)</a:t>
            </a:r>
            <a:endParaRPr lang="en-US" sz="1125" dirty="0"/>
          </a:p>
        </p:txBody>
      </p:sp>
      <p:sp>
        <p:nvSpPr>
          <p:cNvPr id="62" name="Shape 62"/>
          <p:cNvSpPr/>
          <p:nvPr/>
        </p:nvSpPr>
        <p:spPr>
          <a:xfrm>
            <a:off x="2452688" y="3597307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3" name="Shape 63"/>
          <p:cNvSpPr txBox="1"/>
          <p:nvPr/>
        </p:nvSpPr>
        <p:spPr>
          <a:xfrm>
            <a:off x="2590800" y="3402044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(−2, −6)</a:t>
            </a:r>
            <a:endParaRPr lang="en-US" sz="1125" dirty="0"/>
          </a:p>
        </p:txBody>
      </p:sp>
      <p:sp>
        <p:nvSpPr>
          <p:cNvPr id="64" name="Shape 64"/>
          <p:cNvSpPr/>
          <p:nvPr/>
        </p:nvSpPr>
        <p:spPr>
          <a:xfrm>
            <a:off x="3574256" y="283054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5" name="Shape 65"/>
          <p:cNvSpPr txBox="1"/>
          <p:nvPr/>
        </p:nvSpPr>
        <p:spPr>
          <a:xfrm>
            <a:off x="3712369" y="2635282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(4, −2)</a:t>
            </a:r>
            <a:endParaRPr lang="en-US" sz="1125" dirty="0"/>
          </a:p>
        </p:txBody>
      </p:sp>
      <p:sp>
        <p:nvSpPr>
          <p:cNvPr id="66" name="Shape 66"/>
          <p:cNvSpPr txBox="1"/>
          <p:nvPr/>
        </p:nvSpPr>
        <p:spPr>
          <a:xfrm>
            <a:off x="685800" y="5142738"/>
            <a:ext cx="456628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⅔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− 14/3</a:t>
            </a:r>
            <a:endParaRPr lang="en-US" sz="2325" dirty="0"/>
          </a:p>
        </p:txBody>
      </p:sp>
      <p:sp>
        <p:nvSpPr>
          <p:cNvPr id="67" name="Shape 67"/>
          <p:cNvSpPr/>
          <p:nvPr/>
        </p:nvSpPr>
        <p:spPr>
          <a:xfrm>
            <a:off x="6286348" y="1618488"/>
            <a:ext cx="342900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68" name="Line 68"/>
          <p:cNvCxnSpPr/>
          <p:nvPr/>
        </p:nvCxnSpPr>
        <p:spPr>
          <a:xfrm>
            <a:off x="661019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9" name="Line 69"/>
          <p:cNvCxnSpPr/>
          <p:nvPr/>
        </p:nvCxnSpPr>
        <p:spPr>
          <a:xfrm>
            <a:off x="6797126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0" name="Line 70"/>
          <p:cNvCxnSpPr/>
          <p:nvPr/>
        </p:nvCxnSpPr>
        <p:spPr>
          <a:xfrm>
            <a:off x="6984054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1" name="Line 71"/>
          <p:cNvCxnSpPr/>
          <p:nvPr/>
        </p:nvCxnSpPr>
        <p:spPr>
          <a:xfrm>
            <a:off x="7170982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2" name="Line 72"/>
          <p:cNvCxnSpPr/>
          <p:nvPr/>
        </p:nvCxnSpPr>
        <p:spPr>
          <a:xfrm>
            <a:off x="7357910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3" name="Line 73"/>
          <p:cNvCxnSpPr/>
          <p:nvPr/>
        </p:nvCxnSpPr>
        <p:spPr>
          <a:xfrm>
            <a:off x="754483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4" name="Line 74"/>
          <p:cNvCxnSpPr/>
          <p:nvPr/>
        </p:nvCxnSpPr>
        <p:spPr>
          <a:xfrm>
            <a:off x="7731766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5" name="Line 75"/>
          <p:cNvCxnSpPr/>
          <p:nvPr/>
        </p:nvCxnSpPr>
        <p:spPr>
          <a:xfrm>
            <a:off x="7918694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6" name="Line 76"/>
          <p:cNvCxnSpPr/>
          <p:nvPr/>
        </p:nvCxnSpPr>
        <p:spPr>
          <a:xfrm>
            <a:off x="810562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7" name="Line 77"/>
          <p:cNvCxnSpPr/>
          <p:nvPr/>
        </p:nvCxnSpPr>
        <p:spPr>
          <a:xfrm>
            <a:off x="8292551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8" name="Line 78"/>
          <p:cNvCxnSpPr/>
          <p:nvPr/>
        </p:nvCxnSpPr>
        <p:spPr>
          <a:xfrm>
            <a:off x="8479479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9" name="Line 79"/>
          <p:cNvCxnSpPr/>
          <p:nvPr/>
        </p:nvCxnSpPr>
        <p:spPr>
          <a:xfrm>
            <a:off x="8666407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0" name="Line 80"/>
          <p:cNvCxnSpPr/>
          <p:nvPr/>
        </p:nvCxnSpPr>
        <p:spPr>
          <a:xfrm>
            <a:off x="8853335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1" name="Line 81"/>
          <p:cNvCxnSpPr/>
          <p:nvPr/>
        </p:nvCxnSpPr>
        <p:spPr>
          <a:xfrm>
            <a:off x="904026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2" name="Line 82"/>
          <p:cNvCxnSpPr/>
          <p:nvPr/>
        </p:nvCxnSpPr>
        <p:spPr>
          <a:xfrm>
            <a:off x="9227191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3" name="Line 83"/>
          <p:cNvCxnSpPr/>
          <p:nvPr/>
        </p:nvCxnSpPr>
        <p:spPr>
          <a:xfrm>
            <a:off x="9414119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4" name="Line 84"/>
          <p:cNvCxnSpPr/>
          <p:nvPr/>
        </p:nvCxnSpPr>
        <p:spPr>
          <a:xfrm>
            <a:off x="960104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5" name="Line 85"/>
          <p:cNvCxnSpPr/>
          <p:nvPr/>
        </p:nvCxnSpPr>
        <p:spPr>
          <a:xfrm>
            <a:off x="6610198" y="479983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6" name="Line 86"/>
          <p:cNvCxnSpPr/>
          <p:nvPr/>
        </p:nvCxnSpPr>
        <p:spPr>
          <a:xfrm>
            <a:off x="6610198" y="4493133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7" name="Line 87"/>
          <p:cNvCxnSpPr/>
          <p:nvPr/>
        </p:nvCxnSpPr>
        <p:spPr>
          <a:xfrm>
            <a:off x="6610198" y="418642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8" name="Line 88"/>
          <p:cNvCxnSpPr/>
          <p:nvPr/>
        </p:nvCxnSpPr>
        <p:spPr>
          <a:xfrm>
            <a:off x="6610198" y="3879723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9" name="Line 89"/>
          <p:cNvCxnSpPr/>
          <p:nvPr/>
        </p:nvCxnSpPr>
        <p:spPr>
          <a:xfrm>
            <a:off x="6610198" y="357301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0" name="Line 90"/>
          <p:cNvCxnSpPr/>
          <p:nvPr/>
        </p:nvCxnSpPr>
        <p:spPr>
          <a:xfrm>
            <a:off x="6610198" y="3266313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1" name="Line 91"/>
          <p:cNvCxnSpPr/>
          <p:nvPr/>
        </p:nvCxnSpPr>
        <p:spPr>
          <a:xfrm>
            <a:off x="6610198" y="295960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2" name="Line 92"/>
          <p:cNvCxnSpPr/>
          <p:nvPr/>
        </p:nvCxnSpPr>
        <p:spPr>
          <a:xfrm>
            <a:off x="6610198" y="2652903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3" name="Line 93"/>
          <p:cNvCxnSpPr/>
          <p:nvPr/>
        </p:nvCxnSpPr>
        <p:spPr>
          <a:xfrm>
            <a:off x="6610198" y="234619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4" name="Line 94"/>
          <p:cNvCxnSpPr/>
          <p:nvPr/>
        </p:nvCxnSpPr>
        <p:spPr>
          <a:xfrm>
            <a:off x="6610198" y="2039493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5" name="Line 95"/>
          <p:cNvCxnSpPr/>
          <p:nvPr/>
        </p:nvCxnSpPr>
        <p:spPr>
          <a:xfrm>
            <a:off x="6610198" y="173278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6" name="Line 96"/>
          <p:cNvCxnSpPr/>
          <p:nvPr/>
        </p:nvCxnSpPr>
        <p:spPr>
          <a:xfrm>
            <a:off x="8105623" y="1732788"/>
            <a:ext cx="0" cy="3067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97" name="Line 97"/>
          <p:cNvCxnSpPr/>
          <p:nvPr/>
        </p:nvCxnSpPr>
        <p:spPr>
          <a:xfrm>
            <a:off x="6610198" y="3573018"/>
            <a:ext cx="2990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98" name="Shape 98"/>
          <p:cNvSpPr txBox="1"/>
          <p:nvPr/>
        </p:nvSpPr>
        <p:spPr>
          <a:xfrm>
            <a:off x="633587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99" name="Shape 99"/>
          <p:cNvSpPr txBox="1"/>
          <p:nvPr/>
        </p:nvSpPr>
        <p:spPr>
          <a:xfrm>
            <a:off x="6709734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100" name="Shape 100"/>
          <p:cNvSpPr txBox="1"/>
          <p:nvPr/>
        </p:nvSpPr>
        <p:spPr>
          <a:xfrm>
            <a:off x="7083590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101" name="Shape 101"/>
          <p:cNvSpPr txBox="1"/>
          <p:nvPr/>
        </p:nvSpPr>
        <p:spPr>
          <a:xfrm>
            <a:off x="7457446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102" name="Shape 102"/>
          <p:cNvSpPr txBox="1"/>
          <p:nvPr/>
        </p:nvSpPr>
        <p:spPr>
          <a:xfrm>
            <a:off x="7831303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103" name="Shape 103"/>
          <p:cNvSpPr txBox="1"/>
          <p:nvPr/>
        </p:nvSpPr>
        <p:spPr>
          <a:xfrm>
            <a:off x="8205159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104" name="Shape 104"/>
          <p:cNvSpPr txBox="1"/>
          <p:nvPr/>
        </p:nvSpPr>
        <p:spPr>
          <a:xfrm>
            <a:off x="8579015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105" name="Shape 105"/>
          <p:cNvSpPr txBox="1"/>
          <p:nvPr/>
        </p:nvSpPr>
        <p:spPr>
          <a:xfrm>
            <a:off x="8952871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106" name="Shape 106"/>
          <p:cNvSpPr txBox="1"/>
          <p:nvPr/>
        </p:nvSpPr>
        <p:spPr>
          <a:xfrm>
            <a:off x="932672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107" name="Shape 107"/>
          <p:cNvSpPr txBox="1"/>
          <p:nvPr/>
        </p:nvSpPr>
        <p:spPr>
          <a:xfrm>
            <a:off x="6043270" y="47083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108" name="Shape 108"/>
          <p:cNvSpPr txBox="1"/>
          <p:nvPr/>
        </p:nvSpPr>
        <p:spPr>
          <a:xfrm>
            <a:off x="6043270" y="409498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109" name="Shape 109"/>
          <p:cNvSpPr txBox="1"/>
          <p:nvPr/>
        </p:nvSpPr>
        <p:spPr>
          <a:xfrm>
            <a:off x="6043270" y="34815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110" name="Shape 110"/>
          <p:cNvSpPr txBox="1"/>
          <p:nvPr/>
        </p:nvSpPr>
        <p:spPr>
          <a:xfrm>
            <a:off x="6043270" y="286816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111" name="Shape 111"/>
          <p:cNvSpPr txBox="1"/>
          <p:nvPr/>
        </p:nvSpPr>
        <p:spPr>
          <a:xfrm>
            <a:off x="6043270" y="225475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112" name="Shape 112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cxnSp>
        <p:nvCxnSpPr>
          <p:cNvPr id="113" name="Line 113"/>
          <p:cNvCxnSpPr/>
          <p:nvPr/>
        </p:nvCxnSpPr>
        <p:spPr>
          <a:xfrm>
            <a:off x="6610198" y="2346198"/>
            <a:ext cx="2990850" cy="122682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114" name="Shape 114"/>
          <p:cNvSpPr/>
          <p:nvPr/>
        </p:nvSpPr>
        <p:spPr>
          <a:xfrm>
            <a:off x="8053235" y="2907221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5" name="Shape 115"/>
          <p:cNvSpPr txBox="1"/>
          <p:nvPr/>
        </p:nvSpPr>
        <p:spPr>
          <a:xfrm>
            <a:off x="8191348" y="2711958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(0, 2)</a:t>
            </a:r>
            <a:endParaRPr lang="en-US" sz="1125" dirty="0"/>
          </a:p>
        </p:txBody>
      </p:sp>
      <p:sp>
        <p:nvSpPr>
          <p:cNvPr id="116" name="Shape 116"/>
          <p:cNvSpPr/>
          <p:nvPr/>
        </p:nvSpPr>
        <p:spPr>
          <a:xfrm>
            <a:off x="8800948" y="32139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7" name="Shape 117"/>
          <p:cNvSpPr txBox="1"/>
          <p:nvPr/>
        </p:nvSpPr>
        <p:spPr>
          <a:xfrm>
            <a:off x="8939060" y="30186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(4, 1)</a:t>
            </a:r>
            <a:endParaRPr lang="en-US" sz="1125" dirty="0"/>
          </a:p>
        </p:txBody>
      </p:sp>
      <p:sp>
        <p:nvSpPr>
          <p:cNvPr id="118" name="Shape 118"/>
          <p:cNvSpPr txBox="1"/>
          <p:nvPr/>
        </p:nvSpPr>
        <p:spPr>
          <a:xfrm>
            <a:off x="6286348" y="5142738"/>
            <a:ext cx="4234632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−¼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endParaRPr lang="en-US" sz="2325" dirty="0"/>
          </a:p>
        </p:txBody>
      </p:sp>
      <p:sp>
        <p:nvSpPr>
          <p:cNvPr id="119" name="Slide Number 11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Practice Online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Work, Homework and Quiz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808988"/>
            <a:ext cx="3378098" cy="1978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50592"/>
            <a:ext cx="29589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Day 3 →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40736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 questions each, the same as the bell work slides. Scored when students submit.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406798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616348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Homework →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616348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practice questions. Each answer is checked right away, with an explanation.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127797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337347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7"/>
              </a:rPr>
              <a:t xml:space="preserve">Quiz →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337347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scored when students submit. Correct answers are shown after submitting.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401574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All are multiple choice. The homework follows the Lesson 1 Assignment (SE pp. 285–286).</a:t>
            </a:r>
            <a:endParaRPr lang="en-US" sz="1575" dirty="0"/>
          </a:p>
        </p:txBody>
      </p:sp>
      <p:sp>
        <p:nvSpPr>
          <p:cNvPr id="15" name="Slide Number 1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34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ransforming Linear Function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34</Slides>
  <Notes>34</Notes>
</Properties>
</file>

<file path=docProps/core.xml><?xml version="1.0" encoding="utf-8"?>
<cp:coreProperties xmlns:cp="http://schemas.openxmlformats.org/package/2006/metadata/core-properties" xmlns:dc="http://purl.org/dc/elements/1.1/">
  <dc:title>Transforming Linear Functions</dc:title>
  <dc:subject>Bluebonnet Algebra I</dc:subject>
</cp:coreProperties>
</file>