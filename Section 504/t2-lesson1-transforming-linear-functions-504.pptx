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Topic 2. Students transform the parent function f(x) = x: vertical translations f(x) + d (blue) and vertical dilations a · f(x) (orange). They prove a line and its translation are parallel and write equations of parallel lines. Three days on the 150-day calendar: Day 1 Getting Started and Activity 1.1; Day 2 Activities 1.2 and 1.3; Day 3 Activity 1.4, Activity 1.5 and Talk the Talk. Materials: masking tape and markers for the floor coordinate plane, the Problem-Solving Model Graphic Organizer.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Slope = (11 − 2) ÷ (4 − 1) = 9 ÷ 3 = 3. 2. In y = mx + b, the y-intercept is (0, b), so it is (0, −7). 3. 2(−3) + 1 = −6 + 1 = −5. 4. Parallel lines have the same slope. Only y = 3x − 5 has slope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15–20 minutes. Tape a large coordinate plane on the floor; students stand on the points of AB and move as directed. Ask: Did anyone move left or right? (No: only the y-coordinates changed.)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point did not move? (The origin: 0 times 2 is still 0.) What does multiplying by a negative do? (It reflects across the x-axis.)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1.1, 20–25 minutes. The slide reveals each table column, then the equation, then the graph line. Ask: Which values changed, the inputs or the outputs? (Only the outputs.)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copy the definition. Stamp the learning: a vertical translation changes the y-intercept, not the slope.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Yourself: Will the graphs of j(x), q(x) and r(x) ever intersect? Ask: How can you tell from the equations? (Same slope, different y-intercepts.)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Day 1, have students reread the Essential Question and summarize Activity 1.1 in their own words. End of Day 1.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What does f(x) + d do to the graph?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A vertical translation adds to the output: g(x) = f(x) + 4 = x + 4. 2. A vertical translation changes only y: 5 − 3 = 2, so (2, 2). 3. A vertical translation does not change the slope. g(x) = 2x + 5 still has slope 2. 4. g(x) = 2x − 1 + 6 = 2x + 5, so the y-intercept moves from (0, −1) up 6 to (0, 5).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1.2, 15–20 minutes. The a's cancel, so the slopes are the same: the image is parallel to the pre-image. Ask: Why did the x-coordinates stay the same? (A vertical translation moves only up or down.)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has no single answer: let students defend the method they prefer. Catalina thinks in translations; James uses the slope and a point.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1.3, 20–25 minutes. All three pass through (0, 0): a dilation keeps the origin fixed. The slope becomes the factor: 4, 2/3, −4. Ask: f(−1) = −1 and c(−1) = 4. What did the dilation do to the value at x = −1? (Multiplied it by −4.)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copy the definition. Watch for students who say the slope 'increases' when a = −3: it gets steeper, but the slope is −3.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Day 2, have students reread the Essential Question. End of Day 2.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2: How is a · f(x) different from f(x) + d?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3 bell work. Reveal the answers one at a time. Answer key: 1. g(x) = 3x. A vertical dilation by 3 multiplies the slope of f(x) = x by 3. 2. The 2 stretches the graph and the negative sign reflects it across the x-axis. 3. Multiplying by a number between 0 and 1 compresses the graph toward the x-axis. 4. g(x) = 2x − 5. The dilation keeps (0, 0) fixed, then the graph moves down 5.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1.4, 20 minutes. To graph g(x), start at the y-intercept (0, d) and use the slope a. Teacher-guide note: the slide numbers two items 'a.' in the student slides; they are b and e. Ask: Which number tells you the slope? Which tells you the y-intercept?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correction: the teacher guide says the slope 'increases' or 'decreases'; it means steepness. For a = −3 the slope is −3.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1.5, 20 minutes. Check any answer by substituting the target's x: for (−5, 1) with a = −1, d = −4: −(−5) − 4 = 1. Other Version B answers exist (for example a = 1, d = 6 for (−5, 1)). TE correction: for (−5, 1) the teacher guide's a = 1, d = 4 misses; it is d = 6. Version C's −6/4 simplifies to −3/2.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Talk, 10 minutes. Students match the four transformed graphs in their book (SE p. 284) to the equations.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3x is the stretch, − 2 moves the line down 2. 2. 7 = 4(1) + b, so b = 3. 3. Multiply the output by −2: 5 · (−2) = −10.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1 Assignment. TE correction: the teacher guide gives f(x) = (2/3)x − 5, but the plotted points give slope 2/3 and y-intercept (0, −14/3). Check: (2/3)(4) − 14/3 = 8/3 − 14/3 = −2. ✓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t2-lesson1-bellwork-day1-504.html" TargetMode="External"/><Relationship Id="rId4" Type="http://schemas.openxmlformats.org/officeDocument/2006/relationships/hyperlink" Target="https://algebra1m2u1l4.vercel.app/Section 504/t2-lesson1-bellwork-day2-504.html" TargetMode="External"/><Relationship Id="rId5" Type="http://schemas.openxmlformats.org/officeDocument/2006/relationships/hyperlink" Target="https://algebra1m2u1l4.vercel.app/Section 504/t2-lesson1-bellwork-day3-504.html" TargetMode="External"/><Relationship Id="rId6" Type="http://schemas.openxmlformats.org/officeDocument/2006/relationships/hyperlink" Target="https://algebra1m2u1l4.vercel.app/Section 504/t2-lesson1-homework-504.html" TargetMode="External"/><Relationship Id="rId7" Type="http://schemas.openxmlformats.org/officeDocument/2006/relationships/hyperlink" Target="https://algebra1m2u1l4.vercel.app/Section 504/t2-lesson1-quiz-504.html" TargetMode="External"/><Relationship Id="rId8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algebra1m2u1l4.vercel.app/Section 504/t2-lesson1-bellwork-day1-504.html" TargetMode="External"/><Relationship Id="rId4" Type="http://schemas.openxmlformats.org/officeDocument/2006/relationships/hyperlink" Target="https://algebra1m2u1l4.vercel.app/Section 504/t2-lesson1-bellwork-day2-504.html" TargetMode="External"/><Relationship Id="rId5" Type="http://schemas.openxmlformats.org/officeDocument/2006/relationships/hyperlink" Target="https://algebra1m2u1l4.vercel.app/Section 504/t2-lesson1-bellwork-day3-504.html" TargetMode="External"/><Relationship Id="rId6" Type="http://schemas.openxmlformats.org/officeDocument/2006/relationships/hyperlink" Target="https://algebra1m2u1l4.vercel.app/Section 504/t2-lesson1-homework-504.html" TargetMode="External"/><Relationship Id="rId7" Type="http://schemas.openxmlformats.org/officeDocument/2006/relationships/hyperlink" Target="https://algebra1m2u1l4.vercel.app/Section 504/t2-lesson1-quiz-50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1 · Student Edition pp. 269–286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Transforming Linear Functions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0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0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Quiz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522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8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slope between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(1, 2)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(4, 11)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2922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−7)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(−3)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line is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43204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move the points on the floor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1.1: translate up and down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SE p. 269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Determine the effects on the graph of a linear function when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is replaced by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or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Graph transformations of the parent function and describe them.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4835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Prove that a line and its vertical translation are parallel.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9565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Write the equation of a line parallel to a given line through a given point.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19144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Key term: </a:t>
            </a: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parent function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, the simplest function of its type. </a:t>
            </a:r>
            <a:r>
              <a:rPr lang="en-US" sz="1575" dirty="0" i="1">
                <a:solidFill>
                  <a:srgbClr val="5F6272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5F6272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5F6272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5F6272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5F6272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 is the parent of the linear function family.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Lesson 1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Parent function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simplest function of its type.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change to a graph: move it, stretch it, or flip it.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graph up or down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units. Same slope.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+ 5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</a:t>
            </a:r>
            <a:endParaRPr lang="en-US" sz="210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Stretches or compresses the graph. Changes the slope.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b="1">
                <a:solidFill>
                  <a:srgbClr val="C9561F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22" name="Shape 22"/>
          <p:cNvSpPr txBox="1"/>
          <p:nvPr/>
        </p:nvSpPr>
        <p:spPr>
          <a:xfrm>
            <a:off x="4349648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4559198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Reflection</a:t>
            </a:r>
            <a:endParaRPr lang="en-US" sz="210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Flips the graph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 (a negative factor).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91413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26" name="Shape 26"/>
          <p:cNvSpPr txBox="1"/>
          <p:nvPr/>
        </p:nvSpPr>
        <p:spPr>
          <a:xfrm>
            <a:off x="8013497" y="3642360"/>
            <a:ext cx="3492398" cy="220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3" name="Shape 23"/>
          <p:cNvSpPr txBox="1"/>
          <p:nvPr/>
        </p:nvSpPr>
        <p:spPr>
          <a:xfrm>
            <a:off x="8223047" y="381381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lines</a:t>
            </a:r>
            <a:endParaRPr lang="en-US" sz="210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2839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with the same slope that never meet.</a:t>
            </a:r>
            <a:endParaRPr lang="en-US" sz="1575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914138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269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know linear functions and their slope and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transform a function? What effects do different transformations have on the characteristics of linear functions?</a:t>
            </a:r>
            <a:endParaRPr lang="en-US" sz="2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Returning to Transformation Station · SE p. 270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with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(−8, −8)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(8, 8)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How do translations affect the coordinates?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2351532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Original point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3037332" y="2362962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4 units up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873752" y="2362962"/>
            <a:ext cx="2093976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4 units down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806446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3037332" y="2806446"/>
            <a:ext cx="183642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3037332" y="2806446"/>
            <a:ext cx="1836420" cy="44348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873752" y="2806446"/>
            <a:ext cx="209397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4873752" y="2806446"/>
            <a:ext cx="2093976" cy="44348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− 4)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3451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Draw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 translation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up 4 units.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73532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(8, 12)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Every point moves straight up 4,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5" name="Shape 15"/>
          <p:cNvSpPr/>
          <p:nvPr/>
        </p:nvSpPr>
        <p:spPr>
          <a:xfrm>
            <a:off x="6286348" y="1618488"/>
            <a:ext cx="3810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6" name="Line 16"/>
          <p:cNvCxnSpPr/>
          <p:nvPr/>
        </p:nvCxnSpPr>
        <p:spPr>
          <a:xfrm>
            <a:off x="661019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6891185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17217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453160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73414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015135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29612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577110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85809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9139085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942007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9701060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998204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51808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489350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6061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31882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40314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74415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45681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16947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28821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259480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23074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202012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17327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015135" y="1732788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3744151"/>
            <a:ext cx="3371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6616865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7178840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7740815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8302790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8864765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9426740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48020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42273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365271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30780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25033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19286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cxnSp>
        <p:nvCxnSpPr>
          <p:cNvPr id="56" name="Line 56"/>
          <p:cNvCxnSpPr/>
          <p:nvPr/>
        </p:nvCxnSpPr>
        <p:spPr>
          <a:xfrm flipV="1">
            <a:off x="6891185" y="2594800"/>
            <a:ext cx="2247900" cy="22987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7" name="Shape 57"/>
          <p:cNvSpPr txBox="1"/>
          <p:nvPr/>
        </p:nvSpPr>
        <p:spPr>
          <a:xfrm>
            <a:off x="6647345" y="2613851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AB</a:t>
            </a:r>
            <a:endParaRPr lang="en-US" sz="1275" dirty="0"/>
          </a:p>
        </p:txBody>
      </p:sp>
      <p:cxnSp>
        <p:nvCxnSpPr>
          <p:cNvPr id="58" name="Line 58"/>
          <p:cNvCxnSpPr/>
          <p:nvPr/>
        </p:nvCxnSpPr>
        <p:spPr>
          <a:xfrm flipV="1">
            <a:off x="6891185" y="2020126"/>
            <a:ext cx="2247900" cy="229870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647345" y="203917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CD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Dilations · SE p. 271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Multiply every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-coordinate by 2, then by −2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points move straight up or down, away from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 (twice as far).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4866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(8, 16)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steeper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a vertical stretch.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7883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(−2):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(−8, 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(8, −16)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Steeper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 reflected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090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three segments pass through the origin, which doesn't move.</a:t>
            </a:r>
            <a:endParaRPr lang="en-US" sz="1575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810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94738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28456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62175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95893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29612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63330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97049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930767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644863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982048" y="1732788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51808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98928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79772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6061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414605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422304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0314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83993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64837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345681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265255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07369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88213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2690580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2499021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2307463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2115905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1924346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1732788"/>
            <a:ext cx="3371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8296123" y="1732788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456813"/>
            <a:ext cx="3371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1" name="Shape 41"/>
          <p:cNvSpPr txBox="1"/>
          <p:nvPr/>
        </p:nvSpPr>
        <p:spPr>
          <a:xfrm>
            <a:off x="667306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734743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802180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869617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9370543" y="5199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5089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−18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45147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−12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3940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3365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7906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22160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18</a:t>
            </a:r>
            <a:endParaRPr lang="en-US" sz="9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6947383" y="2690580"/>
            <a:ext cx="2697480" cy="15324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7153123" y="270963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AB</a:t>
            </a:r>
            <a:endParaRPr lang="en-US" sz="1275" dirty="0"/>
          </a:p>
        </p:txBody>
      </p:sp>
      <p:cxnSp>
        <p:nvCxnSpPr>
          <p:cNvPr id="55" name="Line 55"/>
          <p:cNvCxnSpPr/>
          <p:nvPr/>
        </p:nvCxnSpPr>
        <p:spPr>
          <a:xfrm flipV="1">
            <a:off x="6947383" y="1924346"/>
            <a:ext cx="2697480" cy="30649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56" name="Shape 56"/>
          <p:cNvSpPr txBox="1"/>
          <p:nvPr/>
        </p:nvSpPr>
        <p:spPr>
          <a:xfrm>
            <a:off x="7153123" y="19433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EF</a:t>
            </a:r>
            <a:endParaRPr lang="en-US" sz="1275" dirty="0"/>
          </a:p>
        </p:txBody>
      </p:sp>
      <p:cxnSp>
        <p:nvCxnSpPr>
          <p:cNvPr id="57" name="Line 57"/>
          <p:cNvCxnSpPr/>
          <p:nvPr/>
        </p:nvCxnSpPr>
        <p:spPr>
          <a:xfrm>
            <a:off x="6947383" y="1924346"/>
            <a:ext cx="2697480" cy="3064933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8" name="Shape 58"/>
          <p:cNvSpPr txBox="1"/>
          <p:nvPr/>
        </p:nvSpPr>
        <p:spPr>
          <a:xfrm>
            <a:off x="7023583" y="19433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GH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Vertical Translations of Functions · SE p. 272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down 5, then up 5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971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1828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2971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971800" y="20162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−7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1828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2971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971800" y="241401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1828800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2971800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2971800" y="281178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1828800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2971800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2971800" y="320954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1828800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2971800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2971800" y="360730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4100322"/>
            <a:ext cx="33526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62498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6705498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p(x)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62498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6705498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6705498" y="20162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62498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6705498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6705498" y="241401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62498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6705498" y="281178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6705498" y="281178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62498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6705498" y="320954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6705498" y="320954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62498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6705498" y="360730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6705498" y="360730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4419498" y="4100322"/>
            <a:ext cx="33526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52" name="Shape 52"/>
          <p:cNvSpPr/>
          <p:nvPr/>
        </p:nvSpPr>
        <p:spPr>
          <a:xfrm>
            <a:off x="8153197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>
            <a:off x="847704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864611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81518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98425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915332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32239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949145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966052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982959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999866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16773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1033680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1050587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1067494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1084400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1101307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1118214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43402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416642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399259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364493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34711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477047" y="329726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8477047" y="294960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477047" y="277577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1" name="Line 81"/>
          <p:cNvCxnSpPr/>
          <p:nvPr/>
        </p:nvCxnSpPr>
        <p:spPr>
          <a:xfrm>
            <a:off x="8477047" y="260194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2" name="Line 82"/>
          <p:cNvCxnSpPr/>
          <p:nvPr/>
        </p:nvCxnSpPr>
        <p:spPr>
          <a:xfrm>
            <a:off x="8477047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3" name="Line 83"/>
          <p:cNvCxnSpPr/>
          <p:nvPr/>
        </p:nvCxnSpPr>
        <p:spPr>
          <a:xfrm>
            <a:off x="8477047" y="225428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8477047" y="208045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5" name="Line 85"/>
          <p:cNvCxnSpPr/>
          <p:nvPr/>
        </p:nvCxnSpPr>
        <p:spPr>
          <a:xfrm>
            <a:off x="8477047" y="190661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8477047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7" name="Line 87"/>
          <p:cNvCxnSpPr/>
          <p:nvPr/>
        </p:nvCxnSpPr>
        <p:spPr>
          <a:xfrm>
            <a:off x="9829597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8" name="Line 88"/>
          <p:cNvCxnSpPr/>
          <p:nvPr/>
        </p:nvCxnSpPr>
        <p:spPr>
          <a:xfrm>
            <a:off x="8477047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9" name="Shape 89"/>
          <p:cNvSpPr txBox="1"/>
          <p:nvPr/>
        </p:nvSpPr>
        <p:spPr>
          <a:xfrm>
            <a:off x="8202727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8540864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8879002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9217139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9555277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9893414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5" name="Shape 95"/>
          <p:cNvSpPr txBox="1"/>
          <p:nvPr/>
        </p:nvSpPr>
        <p:spPr>
          <a:xfrm>
            <a:off x="10231552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6" name="Shape 96"/>
          <p:cNvSpPr txBox="1"/>
          <p:nvPr/>
        </p:nvSpPr>
        <p:spPr>
          <a:xfrm>
            <a:off x="10569689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97" name="Shape 97"/>
          <p:cNvSpPr txBox="1"/>
          <p:nvPr/>
        </p:nvSpPr>
        <p:spPr>
          <a:xfrm>
            <a:off x="10907827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98" name="Shape 98"/>
          <p:cNvSpPr txBox="1"/>
          <p:nvPr/>
        </p:nvSpPr>
        <p:spPr>
          <a:xfrm>
            <a:off x="7910119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9" name="Shape 99"/>
          <p:cNvSpPr txBox="1"/>
          <p:nvPr/>
        </p:nvSpPr>
        <p:spPr>
          <a:xfrm>
            <a:off x="7910119" y="40749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100" name="Shape 100"/>
          <p:cNvSpPr txBox="1"/>
          <p:nvPr/>
        </p:nvSpPr>
        <p:spPr>
          <a:xfrm>
            <a:off x="7910119" y="37273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101" name="Shape 101"/>
          <p:cNvSpPr txBox="1"/>
          <p:nvPr/>
        </p:nvSpPr>
        <p:spPr>
          <a:xfrm>
            <a:off x="7910119" y="33796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102" name="Shape 102"/>
          <p:cNvSpPr txBox="1"/>
          <p:nvPr/>
        </p:nvSpPr>
        <p:spPr>
          <a:xfrm>
            <a:off x="7910119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103" name="Shape 103"/>
          <p:cNvSpPr txBox="1"/>
          <p:nvPr/>
        </p:nvSpPr>
        <p:spPr>
          <a:xfrm>
            <a:off x="7910119" y="26843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104" name="Shape 104"/>
          <p:cNvSpPr txBox="1"/>
          <p:nvPr/>
        </p:nvSpPr>
        <p:spPr>
          <a:xfrm>
            <a:off x="7910119" y="23366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105" name="Shape 105"/>
          <p:cNvSpPr txBox="1"/>
          <p:nvPr/>
        </p:nvSpPr>
        <p:spPr>
          <a:xfrm>
            <a:off x="7910119" y="19890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106" name="Shape 106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107" name="Line 107"/>
          <p:cNvCxnSpPr/>
          <p:nvPr/>
        </p:nvCxnSpPr>
        <p:spPr>
          <a:xfrm flipV="1">
            <a:off x="8477047" y="1732788"/>
            <a:ext cx="2705100" cy="27813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108" name="Shape 108"/>
          <p:cNvSpPr txBox="1"/>
          <p:nvPr/>
        </p:nvSpPr>
        <p:spPr>
          <a:xfrm>
            <a:off x="8690407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109" name="Line 109"/>
          <p:cNvCxnSpPr/>
          <p:nvPr/>
        </p:nvCxnSpPr>
        <p:spPr>
          <a:xfrm flipV="1">
            <a:off x="9322391" y="2601944"/>
            <a:ext cx="1859756" cy="1912144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110" name="Shape 110"/>
          <p:cNvSpPr txBox="1"/>
          <p:nvPr/>
        </p:nvSpPr>
        <p:spPr>
          <a:xfrm>
            <a:off x="8690407" y="262099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m(x)</a:t>
            </a:r>
            <a:endParaRPr lang="en-US" sz="1275" dirty="0"/>
          </a:p>
        </p:txBody>
      </p:sp>
      <p:cxnSp>
        <p:nvCxnSpPr>
          <p:cNvPr id="111" name="Line 111"/>
          <p:cNvCxnSpPr/>
          <p:nvPr/>
        </p:nvCxnSpPr>
        <p:spPr>
          <a:xfrm flipV="1">
            <a:off x="8477047" y="1732788"/>
            <a:ext cx="1859756" cy="1912144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112" name="Shape 112"/>
          <p:cNvSpPr txBox="1"/>
          <p:nvPr/>
        </p:nvSpPr>
        <p:spPr>
          <a:xfrm>
            <a:off x="7845063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p(x)</a:t>
            </a:r>
            <a:endParaRPr lang="en-US" sz="1275" dirty="0"/>
          </a:p>
        </p:txBody>
      </p:sp>
      <p:sp>
        <p:nvSpPr>
          <p:cNvPr id="113" name="Shape 113"/>
          <p:cNvSpPr txBox="1"/>
          <p:nvPr/>
        </p:nvSpPr>
        <p:spPr>
          <a:xfrm>
            <a:off x="685800" y="5145024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stays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; only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moves: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−5)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Also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(2)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(2) = 7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output went up 5.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7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7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7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Definition · SE p. 273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translation: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&gt;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the graph moves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units. </a:t>
            </a:r>
            <a:r>
              <a:rPr lang="en-US" sz="19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moves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5628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Only the output values change. The slope stays the same, so the new line is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the original.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960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 line with slope 1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Questions 5–6 · SE p. 274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up 4 and down 4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4: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+ 4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7713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Down 4: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67278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− 4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35780"/>
            <a:ext cx="52195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three have slope 2 and different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-intercepts: (0, −1), (0, 3), (0, −5). They are parallel, so they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never intersect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6286348" y="1618488"/>
            <a:ext cx="3429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85943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10867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35791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6071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85638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10562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35486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0409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53335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102573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351810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601048" y="1732788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99033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786741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458314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437954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417595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97235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376875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356516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36156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157966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295436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275077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2547176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234357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213998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1936385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173278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105623" y="1732788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3361563"/>
            <a:ext cx="2990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2" name="Shape 42"/>
          <p:cNvSpPr txBox="1"/>
          <p:nvPr/>
        </p:nvSpPr>
        <p:spPr>
          <a:xfrm>
            <a:off x="63358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83435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73328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783130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832977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8828253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9326728" y="5009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4898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449170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40845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6043270" y="36773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6043270" y="3270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6043270" y="28629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6043270" y="24557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6043270" y="204854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 flipV="1">
            <a:off x="7233291" y="1732788"/>
            <a:ext cx="1993900" cy="32575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735451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j(x)</a:t>
            </a:r>
            <a:endParaRPr lang="en-US" sz="1275" dirty="0"/>
          </a:p>
        </p:txBody>
      </p:sp>
      <p:cxnSp>
        <p:nvCxnSpPr>
          <p:cNvPr id="60" name="Line 60"/>
          <p:cNvCxnSpPr/>
          <p:nvPr/>
        </p:nvCxnSpPr>
        <p:spPr>
          <a:xfrm flipV="1">
            <a:off x="6734816" y="1732788"/>
            <a:ext cx="1993900" cy="3257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1" name="Shape 61"/>
          <p:cNvSpPr txBox="1"/>
          <p:nvPr/>
        </p:nvSpPr>
        <p:spPr>
          <a:xfrm>
            <a:off x="6236976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q(x)</a:t>
            </a:r>
            <a:endParaRPr lang="en-US" sz="12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7731766" y="1936385"/>
            <a:ext cx="1869281" cy="305395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7109308" y="1955435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r(x)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1.1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does a vertical translation do?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every point up or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533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stays the same. The </a:t>
            </a:r>
            <a:r>
              <a:rPr lang="en-US" sz="19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692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and its vertical translation are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+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0, down 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changes?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moves.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stays the same.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013497" y="1618488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line and its translation are parallel: same slope, never meet.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64236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11521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transform a function? What effects do different transformations have on the characteristics of linear functions?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up 4 units. Which equation is the new function?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272)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down 3 units. Where does it go?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273)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(2, 2)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+ 6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275)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+ 6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275)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(0, 5)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1.2: parallel lines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1.3: stretch and compress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1.2 · Slopes of Parallel Lines · SE p. 275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Will the graphs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ever intersect?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− 1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914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No. Both lines have slope 2 and stay 4 units apart, so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454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Prove it for any line. Translate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up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 to make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A′B′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Pre-image: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the image: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365912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416356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1.2 · Questions 3–4 · SE p. 276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a parallel line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Catalina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(2, 9): the point on the line at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 is (2, 4), so translate up 5.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James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slope ½ and the point (2, 9):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 = ½(2)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77946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06831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Now you: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(−1,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59181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Parallel, so the slope is −3: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 = −3(−1)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50581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1.3 · Vertical Dilations of Functions · SE pp. 277–278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Multiply the outputs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4: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2971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a(x)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971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2971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−8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971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2971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2971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2971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2971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2971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2971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2971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650" dirty="0"/>
          </a:p>
        </p:txBody>
      </p:sp>
      <p:sp>
        <p:nvSpPr>
          <p:cNvPr id="28" name="Shape 28"/>
          <p:cNvSpPr txBox="1"/>
          <p:nvPr/>
        </p:nvSpPr>
        <p:spPr>
          <a:xfrm>
            <a:off x="685800" y="4490466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9" name="Shape 29"/>
          <p:cNvSpPr txBox="1"/>
          <p:nvPr/>
        </p:nvSpPr>
        <p:spPr>
          <a:xfrm>
            <a:off x="4381398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⅔: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30" name="Shape 30"/>
          <p:cNvSpPr txBox="1"/>
          <p:nvPr/>
        </p:nvSpPr>
        <p:spPr>
          <a:xfrm>
            <a:off x="4381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5524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66673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b(x)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4381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5524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66673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66673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−4/3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4381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5524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66673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66673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−2/3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4381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5524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66673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66673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4381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5524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66673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66673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2/3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4381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5524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66673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2" name="Shape 52"/>
          <p:cNvSpPr txBox="1"/>
          <p:nvPr/>
        </p:nvSpPr>
        <p:spPr>
          <a:xfrm>
            <a:off x="66673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4/3</a:t>
            </a:r>
            <a:endParaRPr lang="en-US" sz="1650" dirty="0"/>
          </a:p>
        </p:txBody>
      </p:sp>
      <p:sp>
        <p:nvSpPr>
          <p:cNvPr id="53" name="Shape 53"/>
          <p:cNvSpPr txBox="1"/>
          <p:nvPr/>
        </p:nvSpPr>
        <p:spPr>
          <a:xfrm>
            <a:off x="4381398" y="4490466"/>
            <a:ext cx="340550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54" name="Shape 54"/>
          <p:cNvSpPr txBox="1"/>
          <p:nvPr/>
        </p:nvSpPr>
        <p:spPr>
          <a:xfrm>
            <a:off x="8076997" y="1618488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× (−4):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5" name="Shape 55"/>
          <p:cNvSpPr txBox="1"/>
          <p:nvPr/>
        </p:nvSpPr>
        <p:spPr>
          <a:xfrm>
            <a:off x="8076997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56" name="Shape 56"/>
          <p:cNvSpPr txBox="1"/>
          <p:nvPr/>
        </p:nvSpPr>
        <p:spPr>
          <a:xfrm>
            <a:off x="9219997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650" dirty="0"/>
          </a:p>
        </p:txBody>
      </p:sp>
      <p:sp>
        <p:nvSpPr>
          <p:cNvPr id="57" name="Shape 57"/>
          <p:cNvSpPr txBox="1"/>
          <p:nvPr/>
        </p:nvSpPr>
        <p:spPr>
          <a:xfrm>
            <a:off x="10362997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c(x)</a:t>
            </a:r>
            <a:endParaRPr lang="en-US" sz="1650" dirty="0"/>
          </a:p>
        </p:txBody>
      </p:sp>
      <p:sp>
        <p:nvSpPr>
          <p:cNvPr id="58" name="Shape 58"/>
          <p:cNvSpPr txBox="1"/>
          <p:nvPr/>
        </p:nvSpPr>
        <p:spPr>
          <a:xfrm>
            <a:off x="8076997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59" name="Shape 59"/>
          <p:cNvSpPr txBox="1"/>
          <p:nvPr/>
        </p:nvSpPr>
        <p:spPr>
          <a:xfrm>
            <a:off x="9219997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60" name="Shape 60"/>
          <p:cNvSpPr txBox="1"/>
          <p:nvPr/>
        </p:nvSpPr>
        <p:spPr>
          <a:xfrm>
            <a:off x="10362997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61" name="Shape 61"/>
          <p:cNvSpPr txBox="1"/>
          <p:nvPr/>
        </p:nvSpPr>
        <p:spPr>
          <a:xfrm>
            <a:off x="10362997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650" dirty="0"/>
          </a:p>
        </p:txBody>
      </p:sp>
      <p:sp>
        <p:nvSpPr>
          <p:cNvPr id="62" name="Shape 62"/>
          <p:cNvSpPr txBox="1"/>
          <p:nvPr/>
        </p:nvSpPr>
        <p:spPr>
          <a:xfrm>
            <a:off x="8076997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63" name="Shape 63"/>
          <p:cNvSpPr txBox="1"/>
          <p:nvPr/>
        </p:nvSpPr>
        <p:spPr>
          <a:xfrm>
            <a:off x="9219997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64" name="Shape 64"/>
          <p:cNvSpPr txBox="1"/>
          <p:nvPr/>
        </p:nvSpPr>
        <p:spPr>
          <a:xfrm>
            <a:off x="10362997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65" name="Shape 65"/>
          <p:cNvSpPr txBox="1"/>
          <p:nvPr/>
        </p:nvSpPr>
        <p:spPr>
          <a:xfrm>
            <a:off x="10362997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66" name="Shape 66"/>
          <p:cNvSpPr txBox="1"/>
          <p:nvPr/>
        </p:nvSpPr>
        <p:spPr>
          <a:xfrm>
            <a:off x="8076997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7" name="Shape 67"/>
          <p:cNvSpPr txBox="1"/>
          <p:nvPr/>
        </p:nvSpPr>
        <p:spPr>
          <a:xfrm>
            <a:off x="9219997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8" name="Shape 68"/>
          <p:cNvSpPr txBox="1"/>
          <p:nvPr/>
        </p:nvSpPr>
        <p:spPr>
          <a:xfrm>
            <a:off x="10362997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69" name="Shape 69"/>
          <p:cNvSpPr txBox="1"/>
          <p:nvPr/>
        </p:nvSpPr>
        <p:spPr>
          <a:xfrm>
            <a:off x="10362997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70" name="Shape 70"/>
          <p:cNvSpPr txBox="1"/>
          <p:nvPr/>
        </p:nvSpPr>
        <p:spPr>
          <a:xfrm>
            <a:off x="8076997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71" name="Shape 71"/>
          <p:cNvSpPr txBox="1"/>
          <p:nvPr/>
        </p:nvSpPr>
        <p:spPr>
          <a:xfrm>
            <a:off x="9219997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72" name="Shape 72"/>
          <p:cNvSpPr txBox="1"/>
          <p:nvPr/>
        </p:nvSpPr>
        <p:spPr>
          <a:xfrm>
            <a:off x="10362997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73" name="Shape 73"/>
          <p:cNvSpPr txBox="1"/>
          <p:nvPr/>
        </p:nvSpPr>
        <p:spPr>
          <a:xfrm>
            <a:off x="10362997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74" name="Shape 74"/>
          <p:cNvSpPr txBox="1"/>
          <p:nvPr/>
        </p:nvSpPr>
        <p:spPr>
          <a:xfrm>
            <a:off x="8076997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75" name="Shape 75"/>
          <p:cNvSpPr txBox="1"/>
          <p:nvPr/>
        </p:nvSpPr>
        <p:spPr>
          <a:xfrm>
            <a:off x="9219997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76" name="Shape 76"/>
          <p:cNvSpPr txBox="1"/>
          <p:nvPr/>
        </p:nvSpPr>
        <p:spPr>
          <a:xfrm>
            <a:off x="10362997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77" name="Shape 77"/>
          <p:cNvSpPr txBox="1"/>
          <p:nvPr/>
        </p:nvSpPr>
        <p:spPr>
          <a:xfrm>
            <a:off x="10362997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−8</a:t>
            </a:r>
            <a:endParaRPr lang="en-US" sz="1650" dirty="0"/>
          </a:p>
        </p:txBody>
      </p:sp>
      <p:sp>
        <p:nvSpPr>
          <p:cNvPr id="78" name="Shape 78"/>
          <p:cNvSpPr txBox="1"/>
          <p:nvPr/>
        </p:nvSpPr>
        <p:spPr>
          <a:xfrm>
            <a:off x="8076997" y="4490466"/>
            <a:ext cx="34288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1.3 · Definition · SE p. 279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dilation: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the graph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(steeper).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compresses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(less steep).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also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83330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new slope is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950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8356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2864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73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1881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390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0898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2823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3552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8916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19645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7" name="Shape 37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6610198" y="1732788"/>
            <a:ext cx="2705100" cy="27813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823558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7624610" y="1732788"/>
            <a:ext cx="676275" cy="278130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5809145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4f(x)</a:t>
            </a:r>
            <a:endParaRPr lang="en-US" sz="1275" dirty="0"/>
          </a:p>
        </p:txBody>
      </p:sp>
      <p:cxnSp>
        <p:nvCxnSpPr>
          <p:cNvPr id="55" name="Line 55"/>
          <p:cNvCxnSpPr/>
          <p:nvPr/>
        </p:nvCxnSpPr>
        <p:spPr>
          <a:xfrm flipV="1">
            <a:off x="6610198" y="2196338"/>
            <a:ext cx="2705100" cy="185420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6" name="Shape 56"/>
          <p:cNvSpPr txBox="1"/>
          <p:nvPr/>
        </p:nvSpPr>
        <p:spPr>
          <a:xfrm>
            <a:off x="6823558" y="22153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⅔f(x)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vs. dilations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line up or down. Same slope; new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 Parallel lines.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Stretches, compresses or reflects. New slope;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 through a point: keep the slope, then find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with the point.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21480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line through a point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80132"/>
            <a:ext cx="30732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Keep the slope.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Put the point into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Solve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21480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76453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&gt; 1 stretches. 0 &lt; 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&lt; 1 compresses.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reflects.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013497" y="1618488"/>
            <a:ext cx="3492398" cy="21480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slope becomes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9380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11521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transform a function? What effects do different transformations have on the characteristics of linear functions?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Bell Work · Review of Day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277)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How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related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278)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5143348" cy="122758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Stretched vertically by 2 and reflected across the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-axis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function is a vertical compression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278)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280)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(0, −5)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1.4: describe and graph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1.5: hit the targets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1.4 · Graphing Linear Transformations · SE pp. 280–281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then 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+ 7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2, then up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− 1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3, then down 1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⅓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⅓, then 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64134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½, then down 3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03148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-axis, then 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2715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+ 5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and compress by ⅔, then up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271516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1.4 · Question 2 · SE p. 281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 </a:t>
            </a:r>
            <a:r>
              <a:rPr lang="en-US" sz="34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do in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1954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slope.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slope becomes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steeper when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less steep when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reflected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30296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Does not change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1618488"/>
            <a:ext cx="5219548" cy="17381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Does not change the slope.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65023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up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down when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1.5 · Hit the Targets · SE pp. 282–283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Aim with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shot is the graph of a transformation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Hit each target.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248662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20112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Version B: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1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or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; choose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−3)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691890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863340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Version C: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; choose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33349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−3/2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4/5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−3)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−1/5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7926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694833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11740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2864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45554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62461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79367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13181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30088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46995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6390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80809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97716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914622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434025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16642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99259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64493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471100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29726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2949607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2775776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2601944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254282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08045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1906619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8" name="Shape 48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674015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7012153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735029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8026565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8364703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70284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407498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37273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337966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6043270" y="26843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6043270" y="23366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6043270" y="19890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66" name="Shape 66"/>
          <p:cNvSpPr/>
          <p:nvPr/>
        </p:nvSpPr>
        <p:spPr>
          <a:xfrm>
            <a:off x="7234085" y="2028063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7" name="Shape 67"/>
          <p:cNvSpPr txBox="1"/>
          <p:nvPr/>
        </p:nvSpPr>
        <p:spPr>
          <a:xfrm>
            <a:off x="7372198" y="1832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(−4, 6)</a:t>
            </a:r>
            <a:endParaRPr lang="en-US" sz="1125" dirty="0"/>
          </a:p>
        </p:txBody>
      </p:sp>
      <p:sp>
        <p:nvSpPr>
          <p:cNvPr id="68" name="Shape 68"/>
          <p:cNvSpPr/>
          <p:nvPr/>
        </p:nvSpPr>
        <p:spPr>
          <a:xfrm>
            <a:off x="8755704" y="23757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9" name="Shape 69"/>
          <p:cNvSpPr txBox="1"/>
          <p:nvPr/>
        </p:nvSpPr>
        <p:spPr>
          <a:xfrm>
            <a:off x="8893816" y="21804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(5, 4)</a:t>
            </a:r>
            <a:endParaRPr lang="en-US" sz="1125" dirty="0"/>
          </a:p>
        </p:txBody>
      </p:sp>
      <p:sp>
        <p:nvSpPr>
          <p:cNvPr id="70" name="Shape 70"/>
          <p:cNvSpPr/>
          <p:nvPr/>
        </p:nvSpPr>
        <p:spPr>
          <a:xfrm>
            <a:off x="8079429" y="359254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8217541" y="339728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(1, −3)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7065016" y="289721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7203129" y="270195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(−5, 1)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Talk the Talk · SE p. 284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Match each graph to an equation in terms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+ 8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Translated up 8.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742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Stretched by 2: steeper, through (0, 0).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⅓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7426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Compressed by ⅓: less steep, through (0, 0).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71398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854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355592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− 7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6976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Translated down 7.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3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Both together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+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d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(0,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349648" y="1618488"/>
            <a:ext cx="34923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 graph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Plot (0,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Count the slope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013497" y="1618488"/>
            <a:ext cx="34923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Check a target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Put the target's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into the equation. Do you get its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40233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can you transform a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moves the graph up 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or down 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 The slope stays the same, so the new line is parallel;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changes.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153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stretches (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or compresses (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 the graph;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also reflects it across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-axis. The slope changes;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it becomes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 and write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771698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Stretch by 3, down 2: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(1, 7)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point is on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−2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(2, −10)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286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each line</a:t>
            </a:r>
            <a:endParaRPr lang="en-US" sz="3450" dirty="0"/>
          </a:p>
        </p:txBody>
      </p:sp>
      <p:sp>
        <p:nvSpPr>
          <p:cNvPr id="4" name="Shape 4"/>
          <p:cNvSpPr/>
          <p:nvPr/>
        </p:nvSpPr>
        <p:spPr>
          <a:xfrm>
            <a:off x="685800" y="1618488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1009650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19657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38350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57043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757362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94429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13121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318147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505075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269200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287893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306585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325278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343971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362664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3813572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4000500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479983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60814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416457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4224766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4033075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841385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64969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458004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326631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307462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882932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691241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49955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307860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211616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924479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73278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2878931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2499550"/>
            <a:ext cx="2990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1" name="Shape 41"/>
          <p:cNvSpPr txBox="1"/>
          <p:nvPr/>
        </p:nvSpPr>
        <p:spPr>
          <a:xfrm>
            <a:off x="735330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1109186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1483042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1856899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2230755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2604611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97846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3352324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726180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442722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−12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42722" y="432501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42722" y="394163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442722" y="35582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31748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279149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40811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20247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442722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59" name="Line 59"/>
          <p:cNvCxnSpPr/>
          <p:nvPr/>
        </p:nvCxnSpPr>
        <p:spPr>
          <a:xfrm flipV="1">
            <a:off x="1009650" y="2627344"/>
            <a:ext cx="2990850" cy="20447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0" name="Shape 60"/>
          <p:cNvSpPr/>
          <p:nvPr/>
        </p:nvSpPr>
        <p:spPr>
          <a:xfrm>
            <a:off x="1331119" y="436406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1" name="Shape 61"/>
          <p:cNvSpPr txBox="1"/>
          <p:nvPr/>
        </p:nvSpPr>
        <p:spPr>
          <a:xfrm>
            <a:off x="1469231" y="416880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(−8, −10)</a:t>
            </a:r>
            <a:endParaRPr lang="en-US" sz="1125" dirty="0"/>
          </a:p>
        </p:txBody>
      </p:sp>
      <p:sp>
        <p:nvSpPr>
          <p:cNvPr id="62" name="Shape 62"/>
          <p:cNvSpPr/>
          <p:nvPr/>
        </p:nvSpPr>
        <p:spPr>
          <a:xfrm>
            <a:off x="2452688" y="359730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3" name="Shape 63"/>
          <p:cNvSpPr txBox="1"/>
          <p:nvPr/>
        </p:nvSpPr>
        <p:spPr>
          <a:xfrm>
            <a:off x="2590800" y="340204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(−2, −6)</a:t>
            </a:r>
            <a:endParaRPr lang="en-US" sz="1125" dirty="0"/>
          </a:p>
        </p:txBody>
      </p:sp>
      <p:sp>
        <p:nvSpPr>
          <p:cNvPr id="64" name="Shape 64"/>
          <p:cNvSpPr/>
          <p:nvPr/>
        </p:nvSpPr>
        <p:spPr>
          <a:xfrm>
            <a:off x="3574256" y="283054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5" name="Shape 65"/>
          <p:cNvSpPr txBox="1"/>
          <p:nvPr/>
        </p:nvSpPr>
        <p:spPr>
          <a:xfrm>
            <a:off x="3712369" y="263528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−2)</a:t>
            </a:r>
            <a:endParaRPr lang="en-US" sz="1125" dirty="0"/>
          </a:p>
        </p:txBody>
      </p:sp>
      <p:sp>
        <p:nvSpPr>
          <p:cNvPr id="66" name="Shape 66"/>
          <p:cNvSpPr txBox="1"/>
          <p:nvPr/>
        </p:nvSpPr>
        <p:spPr>
          <a:xfrm>
            <a:off x="685800" y="5142738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− 14/3</a:t>
            </a:r>
            <a:endParaRPr lang="en-US" sz="2325" dirty="0"/>
          </a:p>
        </p:txBody>
      </p:sp>
      <p:sp>
        <p:nvSpPr>
          <p:cNvPr id="67" name="Shape 67"/>
          <p:cNvSpPr/>
          <p:nvPr/>
        </p:nvSpPr>
        <p:spPr>
          <a:xfrm>
            <a:off x="6286348" y="1618488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68" name="Line 68"/>
          <p:cNvCxnSpPr/>
          <p:nvPr/>
        </p:nvCxnSpPr>
        <p:spPr>
          <a:xfrm>
            <a:off x="66101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679712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698405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7170982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7357910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754483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7731766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7918694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1056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29255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947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8666407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853335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1" name="Line 81"/>
          <p:cNvCxnSpPr/>
          <p:nvPr/>
        </p:nvCxnSpPr>
        <p:spPr>
          <a:xfrm>
            <a:off x="904026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2" name="Line 82"/>
          <p:cNvCxnSpPr/>
          <p:nvPr/>
        </p:nvCxnSpPr>
        <p:spPr>
          <a:xfrm>
            <a:off x="9227191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3" name="Line 83"/>
          <p:cNvCxnSpPr/>
          <p:nvPr/>
        </p:nvCxnSpPr>
        <p:spPr>
          <a:xfrm>
            <a:off x="9414119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96010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5" name="Line 85"/>
          <p:cNvCxnSpPr/>
          <p:nvPr/>
        </p:nvCxnSpPr>
        <p:spPr>
          <a:xfrm>
            <a:off x="6610198" y="479983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6610198" y="449313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7" name="Line 87"/>
          <p:cNvCxnSpPr/>
          <p:nvPr/>
        </p:nvCxnSpPr>
        <p:spPr>
          <a:xfrm>
            <a:off x="6610198" y="418642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8" name="Line 88"/>
          <p:cNvCxnSpPr/>
          <p:nvPr/>
        </p:nvCxnSpPr>
        <p:spPr>
          <a:xfrm>
            <a:off x="6610198" y="387972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9" name="Line 89"/>
          <p:cNvCxnSpPr/>
          <p:nvPr/>
        </p:nvCxnSpPr>
        <p:spPr>
          <a:xfrm>
            <a:off x="6610198" y="357301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0" name="Line 90"/>
          <p:cNvCxnSpPr/>
          <p:nvPr/>
        </p:nvCxnSpPr>
        <p:spPr>
          <a:xfrm>
            <a:off x="6610198" y="326631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1" name="Line 91"/>
          <p:cNvCxnSpPr/>
          <p:nvPr/>
        </p:nvCxnSpPr>
        <p:spPr>
          <a:xfrm>
            <a:off x="6610198" y="295960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2" name="Line 92"/>
          <p:cNvCxnSpPr/>
          <p:nvPr/>
        </p:nvCxnSpPr>
        <p:spPr>
          <a:xfrm>
            <a:off x="6610198" y="265290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3" name="Line 93"/>
          <p:cNvCxnSpPr/>
          <p:nvPr/>
        </p:nvCxnSpPr>
        <p:spPr>
          <a:xfrm>
            <a:off x="6610198" y="234619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4" name="Line 94"/>
          <p:cNvCxnSpPr/>
          <p:nvPr/>
        </p:nvCxnSpPr>
        <p:spPr>
          <a:xfrm>
            <a:off x="6610198" y="2039493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5" name="Line 95"/>
          <p:cNvCxnSpPr/>
          <p:nvPr/>
        </p:nvCxnSpPr>
        <p:spPr>
          <a:xfrm>
            <a:off x="6610198" y="1732788"/>
            <a:ext cx="2990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6" name="Line 96"/>
          <p:cNvCxnSpPr/>
          <p:nvPr/>
        </p:nvCxnSpPr>
        <p:spPr>
          <a:xfrm>
            <a:off x="8105623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97" name="Line 97"/>
          <p:cNvCxnSpPr/>
          <p:nvPr/>
        </p:nvCxnSpPr>
        <p:spPr>
          <a:xfrm>
            <a:off x="6610198" y="3573018"/>
            <a:ext cx="2990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98" name="Shape 98"/>
          <p:cNvSpPr txBox="1"/>
          <p:nvPr/>
        </p:nvSpPr>
        <p:spPr>
          <a:xfrm>
            <a:off x="63358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−8</a:t>
            </a:r>
            <a:endParaRPr lang="en-US" sz="975" dirty="0"/>
          </a:p>
        </p:txBody>
      </p:sp>
      <p:sp>
        <p:nvSpPr>
          <p:cNvPr id="99" name="Shape 99"/>
          <p:cNvSpPr txBox="1"/>
          <p:nvPr/>
        </p:nvSpPr>
        <p:spPr>
          <a:xfrm>
            <a:off x="6709734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100" name="Shape 100"/>
          <p:cNvSpPr txBox="1"/>
          <p:nvPr/>
        </p:nvSpPr>
        <p:spPr>
          <a:xfrm>
            <a:off x="7083590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101" name="Shape 101"/>
          <p:cNvSpPr txBox="1"/>
          <p:nvPr/>
        </p:nvSpPr>
        <p:spPr>
          <a:xfrm>
            <a:off x="7457446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102" name="Shape 102"/>
          <p:cNvSpPr txBox="1"/>
          <p:nvPr/>
        </p:nvSpPr>
        <p:spPr>
          <a:xfrm>
            <a:off x="7831303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103" name="Shape 103"/>
          <p:cNvSpPr txBox="1"/>
          <p:nvPr/>
        </p:nvSpPr>
        <p:spPr>
          <a:xfrm>
            <a:off x="8205159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104" name="Shape 104"/>
          <p:cNvSpPr txBox="1"/>
          <p:nvPr/>
        </p:nvSpPr>
        <p:spPr>
          <a:xfrm>
            <a:off x="8579015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105" name="Shape 105"/>
          <p:cNvSpPr txBox="1"/>
          <p:nvPr/>
        </p:nvSpPr>
        <p:spPr>
          <a:xfrm>
            <a:off x="8952871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106" name="Shape 106"/>
          <p:cNvSpPr txBox="1"/>
          <p:nvPr/>
        </p:nvSpPr>
        <p:spPr>
          <a:xfrm>
            <a:off x="93267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107" name="Shape 107"/>
          <p:cNvSpPr txBox="1"/>
          <p:nvPr/>
        </p:nvSpPr>
        <p:spPr>
          <a:xfrm>
            <a:off x="6043270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108" name="Shape 108"/>
          <p:cNvSpPr txBox="1"/>
          <p:nvPr/>
        </p:nvSpPr>
        <p:spPr>
          <a:xfrm>
            <a:off x="6043270" y="40949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109" name="Shape 109"/>
          <p:cNvSpPr txBox="1"/>
          <p:nvPr/>
        </p:nvSpPr>
        <p:spPr>
          <a:xfrm>
            <a:off x="6043270" y="34815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110" name="Shape 110"/>
          <p:cNvSpPr txBox="1"/>
          <p:nvPr/>
        </p:nvSpPr>
        <p:spPr>
          <a:xfrm>
            <a:off x="6043270" y="28681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111" name="Shape 111"/>
          <p:cNvSpPr txBox="1"/>
          <p:nvPr/>
        </p:nvSpPr>
        <p:spPr>
          <a:xfrm>
            <a:off x="6043270" y="22547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112" name="Shape 11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113" name="Line 113"/>
          <p:cNvCxnSpPr/>
          <p:nvPr/>
        </p:nvCxnSpPr>
        <p:spPr>
          <a:xfrm>
            <a:off x="6610198" y="2346198"/>
            <a:ext cx="2990850" cy="122682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114" name="Shape 114"/>
          <p:cNvSpPr/>
          <p:nvPr/>
        </p:nvSpPr>
        <p:spPr>
          <a:xfrm>
            <a:off x="8053235" y="290722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5" name="Shape 115"/>
          <p:cNvSpPr txBox="1"/>
          <p:nvPr/>
        </p:nvSpPr>
        <p:spPr>
          <a:xfrm>
            <a:off x="8191348" y="271195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(0, 2)</a:t>
            </a:r>
            <a:endParaRPr lang="en-US" sz="1125" dirty="0"/>
          </a:p>
        </p:txBody>
      </p:sp>
      <p:sp>
        <p:nvSpPr>
          <p:cNvPr id="116" name="Shape 116"/>
          <p:cNvSpPr/>
          <p:nvPr/>
        </p:nvSpPr>
        <p:spPr>
          <a:xfrm>
            <a:off x="8800948" y="32139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7" name="Shape 117"/>
          <p:cNvSpPr txBox="1"/>
          <p:nvPr/>
        </p:nvSpPr>
        <p:spPr>
          <a:xfrm>
            <a:off x="8939060" y="30186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(4, 1)</a:t>
            </a:r>
            <a:endParaRPr lang="en-US" sz="1125" dirty="0"/>
          </a:p>
        </p:txBody>
      </p:sp>
      <p:sp>
        <p:nvSpPr>
          <p:cNvPr id="118" name="Shape 118"/>
          <p:cNvSpPr txBox="1"/>
          <p:nvPr/>
        </p:nvSpPr>
        <p:spPr>
          <a:xfrm>
            <a:off x="6286348" y="5142738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−¼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1 Assignment (SE pp. 285–286).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ransforming Linear Func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34</Slides>
  <Notes>34</Notes>
</Properties>
</file>

<file path=docProps/core.xml><?xml version="1.0" encoding="utf-8"?>
<cp:coreProperties xmlns:cp="http://schemas.openxmlformats.org/package/2006/metadata/core-properties" xmlns:dc="http://purl.org/dc/elements/1.1/">
  <dc:title>Transforming Linear Functions</dc:title>
  <dc:subject>Bluebonnet Algebra I</dc:subject>
</cp:coreProperties>
</file>