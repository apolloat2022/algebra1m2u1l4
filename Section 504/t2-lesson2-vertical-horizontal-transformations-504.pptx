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compare horizontal transformations f(x − c) and f(bx) with the vertical ones from Lesson 1. For f(x) = x, a horizontal translation right n matches a vertical translation down n, and a vertical dilation by n matches a horizontal dilation by 1/n, but these pairs do not match for other linear functions. Two days on the 150-day calendar: Day 1 Getting Started and Activity 2.1; Day 2 Activities 2.2, 2.3 and Talk the Talk.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Subtracting from the output is a vertical translation down 3. 2. In y = mx + b, m is the slope. 3. Set g(x) = 0: 3x − 8 = 0, so x = 8/3. 4. The slope −⅔ is negative, so the line falls from left to right.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chunked directions. Check off each part as the class finishes it.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aloud as it appears.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preview the key terms before the lesson. Leave this slide up or print it as a reference card.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 Essential Question at the top of their notes. Don't answer it yet; we come back to it at the end of the lesson.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Started, 5–10 minutes. To find the x-intercept, set the function equal to 0: 3x − 8 = 0 gives x = 8/3; −(2/3)x + 5 = 0 gives x = 7.5.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2.1, 30–35 minutes. A horizontal translation left 3 subtracts 3 from each input value; the outputs stay the same.Ask: Which values were affected? (Left 3 changed the inputs; up 3 changed the outputs.)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sign: f(x − 3) moves right 3, f(x + 3) moves left 3.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Teacher-guide misconception: students expect left 4 to equal up 4 for every line. It works only for slope 1. Slide typos in the student slides: some items labeled 'a.' are b, c and 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Day 1.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a copy of the day's notes. Hand out a printed copy if the student's plan lists copies of notes.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this, then go to the bell work while you take attendance. Afterward, have a student read the Essential Question aloud and ask two or three students to summarize Day 1: Does a translation right n always match a translation down n?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2 bell work. Reveal the answers one at a time. Answer key: 1. A horizontal translation right 5 subtracts 5 from the input: f(x − 5). 2. f(x − 5) = x − 5 = f(x) − 5, a vertical translation down 5. 3. 2(x + 4) − 1 = 2x + 8 − 1 = 2x + 7. 4. f(2x) = 2x and 2f(x) = 2x. For the parent function they match.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chunked directions. Check off each part as the class finishes it.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2.2, 15–20 minutes. Changing the inputs by a factor of 1/2 is a horizontal compression: each point moves halfway to the y-axis.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Why are the tables different if the graphs are the same? (They list different points of the same line.)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Counterexamples will vary; any linear function other than f(x) = x works.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2.3, 15–20 minutes. Graph each g(x) on the grids in the book: plot the y-intercept and use the slope. Slide typo in the student slides: items 2, 3, 5 and 6 are numbered '1.'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the Talk, 5 minutes. For f(x) = x, f(x) + 8 is also f(x + 8), and f(⅓x) is also ⅓f(x).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a copy of the day's notes. Hand out a printed copy if the student's plan lists copies of notes.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answer the Essential Question on the lesson opener page.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Give 3–4 minutes, collect the answers, and use them to decide who needs Skills Practice. Work: 1. Adding to the input moves left. 2. 3(x − 2) + 1 = 3x − 5. 3. f(5x) = 5x = 5f(x).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Lesson 2 Assignment. TE correction: the teacher guide gives the reciprocal of −10 as 1/10; it is −1/10, since (−10)(−1/10) = 1.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Click a title to open it in a new tab. Put the day's bell work link up as students walk in. The 150-day pacing calendar (topic2-pacing-150.html) gives the day for each homework and quiz.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Section 504/t2-lesson2-bellwork-day1-504.html" TargetMode="External"/><Relationship Id="rId4" Type="http://schemas.openxmlformats.org/officeDocument/2006/relationships/hyperlink" Target="https://algebra1m2u1l4.vercel.app/Section 504/t2-lesson2-bellwork-day2-504.html" TargetMode="External"/><Relationship Id="rId5" Type="http://schemas.openxmlformats.org/officeDocument/2006/relationships/hyperlink" Target="https://algebra1m2u1l4.vercel.app/Section 504/t2-lesson2-homework-504.html" TargetMode="External"/><Relationship Id="rId6" Type="http://schemas.openxmlformats.org/officeDocument/2006/relationships/hyperlink" Target="https://algebra1m2u1l4.vercel.app/Section 504/t2-lesson2-quiz-504.html" TargetMode="External"/><Relationship Id="rId7" Type="http://schemas.openxmlformats.org/officeDocument/2006/relationships/hyperlink" Target="https://creativecommons.org/licenses/by-nc/4.0/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algebra1m2u1l4.vercel.app/Section 504/t2-lesson2-bellwork-day1-504.html" TargetMode="External"/><Relationship Id="rId4" Type="http://schemas.openxmlformats.org/officeDocument/2006/relationships/hyperlink" Target="https://algebra1m2u1l4.vercel.app/Section 504/t2-lesson2-bellwork-day2-504.html" TargetMode="External"/><Relationship Id="rId5" Type="http://schemas.openxmlformats.org/officeDocument/2006/relationships/hyperlink" Target="https://algebra1m2u1l4.vercel.app/Section 504/t2-lesson2-homework-504.html" TargetMode="External"/><Relationship Id="rId6" Type="http://schemas.openxmlformats.org/officeDocument/2006/relationships/hyperlink" Target="https://algebra1m2u1l4.vercel.app/Section 504/t2-lesson2-quiz-504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2 · Topic 2 · Lesson 2 · Student Edition pp. 287–304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23544"/>
            <a:ext cx="10820095" cy="13350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2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and Horizontal Transformations of Linear Functions</a:t>
            </a:r>
            <a:endParaRPr lang="en-US" sz="42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06218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300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00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b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300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c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)) + </a:t>
            </a:r>
            <a:r>
              <a:rPr lang="en-US" sz="300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d</a:t>
            </a:r>
            <a:endParaRPr lang="en-US" sz="30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324688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Section 504 Version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804666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| Practice: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30530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Click, or press → / Space, to reveal each step. ← goes back. F = full screen.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5500116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 · a companion to Bluebonnet Learning Secondary Mathematics, Algebra I, Edition 1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This work is based on original works of the Texas Education Agency and Carnegie Learning, Inc. This work is made available under a Creative Commons Attribution-Non-Commercial-4.0 International License. This does not in any way imply endorsement by those authors of this work.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©2024–2025 Texas Education Agency, portions ©2021 Carnegie Learning, Inc.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Licensed </a:t>
            </a:r>
            <a:r>
              <a:rPr lang="en-US" sz="1125" dirty="0">
                <a:solidFill>
                  <a:srgbClr val="3050B8"/>
                </a:solidFill>
                <a:latin typeface="Segoe UI"/>
                <a:cs typeface="Segoe UI"/>
                <a:hlinkClick r:id="rId7"/>
              </a:rPr>
              <a:t xml:space="preserve">CC BY-NC 4.0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This is a private site for Algebra I teachers and is not publicly available.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− 3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How does the graph move?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58212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Down 3 units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is the slope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− 8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288)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What is the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− 8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288)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(8/3, 0)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−⅔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increasing or decreasing?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288)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026408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Decreasing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Today's Plan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Today's plan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Bell work (5 min)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Getting Started: key characteristics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2.1: horizontal vs. vertical translations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762872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One part at a time. Ask for help or a break whenever you need it.</a:t>
            </a:r>
            <a:endParaRPr lang="en-US" sz="16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2 · SE p. 287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 you will…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Identify key characteristics of linear functions.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Determine the effects on the graph of a linear function when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is replaced by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+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and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1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2 Lesson 2 · Key Vocabulary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Key vocabulary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612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Input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-value you put in.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1612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Output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value that comes out,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 or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8013497" y="1618488"/>
            <a:ext cx="3492398" cy="1612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translation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Moves the graph left or right.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265023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b="1">
                <a:solidFill>
                  <a:srgbClr val="3050B8"/>
                </a:solidFill>
                <a:latin typeface="Cambria"/>
                <a:cs typeface="Cambria"/>
              </a:rPr>
              <a:t xml:space="preserve">− 3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): right 3</a:t>
            </a:r>
            <a:endParaRPr lang="en-US" sz="2325" dirty="0"/>
          </a:p>
        </p:txBody>
      </p:sp>
      <p:sp>
        <p:nvSpPr>
          <p:cNvPr id="17" name="Shape 17"/>
          <p:cNvSpPr txBox="1"/>
          <p:nvPr/>
        </p:nvSpPr>
        <p:spPr>
          <a:xfrm>
            <a:off x="685800" y="340233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4" name="Shape 14"/>
          <p:cNvSpPr txBox="1"/>
          <p:nvPr/>
        </p:nvSpPr>
        <p:spPr>
          <a:xfrm>
            <a:off x="895350" y="357378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dilation</a:t>
            </a:r>
            <a:endParaRPr lang="en-US" sz="2100" dirty="0"/>
          </a:p>
        </p:txBody>
      </p:sp>
      <p:sp>
        <p:nvSpPr>
          <p:cNvPr id="15" name="Shape 15"/>
          <p:cNvSpPr txBox="1"/>
          <p:nvPr/>
        </p:nvSpPr>
        <p:spPr>
          <a:xfrm>
            <a:off x="895350" y="404393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Stretches or compresses the graph toward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467410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b="1">
                <a:solidFill>
                  <a:srgbClr val="C9561F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20" name="Shape 20"/>
          <p:cNvSpPr txBox="1"/>
          <p:nvPr/>
        </p:nvSpPr>
        <p:spPr>
          <a:xfrm>
            <a:off x="4349648" y="340233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8" name="Shape 18"/>
          <p:cNvSpPr txBox="1"/>
          <p:nvPr/>
        </p:nvSpPr>
        <p:spPr>
          <a:xfrm>
            <a:off x="4559198" y="357378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Inside vs. outside</a:t>
            </a:r>
            <a:endParaRPr lang="en-US" sz="2100" dirty="0"/>
          </a:p>
        </p:txBody>
      </p:sp>
      <p:sp>
        <p:nvSpPr>
          <p:cNvPr id="19" name="Shape 19"/>
          <p:cNvSpPr txBox="1"/>
          <p:nvPr/>
        </p:nvSpPr>
        <p:spPr>
          <a:xfrm>
            <a:off x="4559198" y="404393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Inside the parentheses: input. Outside: output.</a:t>
            </a:r>
            <a:endParaRPr lang="en-US" sz="1575" dirty="0"/>
          </a:p>
        </p:txBody>
      </p:sp>
      <p:sp>
        <p:nvSpPr>
          <p:cNvPr id="23" name="Shape 23"/>
          <p:cNvSpPr txBox="1"/>
          <p:nvPr/>
        </p:nvSpPr>
        <p:spPr>
          <a:xfrm>
            <a:off x="8013497" y="340233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1" name="Shape 21"/>
          <p:cNvSpPr txBox="1"/>
          <p:nvPr/>
        </p:nvSpPr>
        <p:spPr>
          <a:xfrm>
            <a:off x="8223047" y="357378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Counterexample</a:t>
            </a:r>
            <a:endParaRPr lang="en-US" sz="2100" dirty="0"/>
          </a:p>
        </p:txBody>
      </p:sp>
      <p:sp>
        <p:nvSpPr>
          <p:cNvPr id="22" name="Shape 22"/>
          <p:cNvSpPr txBox="1"/>
          <p:nvPr/>
        </p:nvSpPr>
        <p:spPr>
          <a:xfrm>
            <a:off x="8223047" y="404393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One example that shows a rule is not always true.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SE p. 287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have learned the effects of vertical transformations on linear functions.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25268"/>
            <a:ext cx="10820095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700" dirty="0">
                <a:solidFill>
                  <a:srgbClr val="16171D"/>
                </a:solidFill>
                <a:latin typeface="Segoe UI"/>
                <a:cs typeface="Segoe UI"/>
              </a:rPr>
              <a:t xml:space="preserve">What effect do horizontal transformations have on linear functions? How do they compare to vertical transformations?</a:t>
            </a:r>
            <a:endParaRPr lang="en-US" sz="2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Getting Started · Hey, I Remember This! · SE p. 288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Graph each function and describe its key characteristics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144268"/>
            <a:ext cx="33526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− 8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48712"/>
            <a:ext cx="1508714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Domain, range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2194514" y="2648712"/>
            <a:ext cx="184398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2194514" y="2648712"/>
            <a:ext cx="1843984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All real numbers</a:t>
            </a:r>
            <a:endParaRPr lang="en-US" sz="1800" dirty="0"/>
          </a:p>
        </p:txBody>
      </p:sp>
      <p:cxnSp>
        <p:nvCxnSpPr>
          <p:cNvPr id="8" name="Line 8"/>
          <p:cNvCxnSpPr/>
          <p:nvPr/>
        </p:nvCxnSpPr>
        <p:spPr>
          <a:xfrm>
            <a:off x="685800" y="3398520"/>
            <a:ext cx="3352698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85800" y="3398520"/>
            <a:ext cx="150871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2194514" y="3398520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2194514" y="3398520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(8/3, 0)</a:t>
            </a:r>
            <a:endParaRPr lang="en-US" sz="1800" dirty="0"/>
          </a:p>
        </p:txBody>
      </p:sp>
      <p:cxnSp>
        <p:nvCxnSpPr>
          <p:cNvPr id="12" name="Line 12"/>
          <p:cNvCxnSpPr/>
          <p:nvPr/>
        </p:nvCxnSpPr>
        <p:spPr>
          <a:xfrm>
            <a:off x="685800" y="3874008"/>
            <a:ext cx="3352698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3" name="Shape 13"/>
          <p:cNvSpPr txBox="1"/>
          <p:nvPr/>
        </p:nvSpPr>
        <p:spPr>
          <a:xfrm>
            <a:off x="685800" y="3874008"/>
            <a:ext cx="150871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2194514" y="3874008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2194514" y="3874008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(0, −8)</a:t>
            </a:r>
            <a:endParaRPr lang="en-US" sz="1800" dirty="0"/>
          </a:p>
        </p:txBody>
      </p:sp>
      <p:cxnSp>
        <p:nvCxnSpPr>
          <p:cNvPr id="16" name="Line 16"/>
          <p:cNvCxnSpPr/>
          <p:nvPr/>
        </p:nvCxnSpPr>
        <p:spPr>
          <a:xfrm>
            <a:off x="685800" y="4349496"/>
            <a:ext cx="3352698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7" name="Shape 17"/>
          <p:cNvSpPr txBox="1"/>
          <p:nvPr/>
        </p:nvSpPr>
        <p:spPr>
          <a:xfrm>
            <a:off x="685800" y="4349496"/>
            <a:ext cx="150871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endParaRPr lang="en-US" sz="1800" dirty="0"/>
          </a:p>
        </p:txBody>
      </p:sp>
      <p:sp>
        <p:nvSpPr>
          <p:cNvPr id="18" name="Shape 18"/>
          <p:cNvSpPr txBox="1"/>
          <p:nvPr/>
        </p:nvSpPr>
        <p:spPr>
          <a:xfrm>
            <a:off x="2194514" y="4349496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9" name="Shape 19"/>
          <p:cNvSpPr txBox="1"/>
          <p:nvPr/>
        </p:nvSpPr>
        <p:spPr>
          <a:xfrm>
            <a:off x="2194514" y="4349496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3, increasing</a:t>
            </a:r>
            <a:endParaRPr lang="en-US" sz="1800" dirty="0"/>
          </a:p>
        </p:txBody>
      </p:sp>
      <p:cxnSp>
        <p:nvCxnSpPr>
          <p:cNvPr id="20" name="Line 20"/>
          <p:cNvCxnSpPr/>
          <p:nvPr/>
        </p:nvCxnSpPr>
        <p:spPr>
          <a:xfrm>
            <a:off x="685800" y="4824984"/>
            <a:ext cx="3352698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1" name="Shape 21"/>
          <p:cNvSpPr txBox="1"/>
          <p:nvPr/>
        </p:nvSpPr>
        <p:spPr>
          <a:xfrm>
            <a:off x="4419498" y="2144268"/>
            <a:ext cx="33526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−⅔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22" name="Shape 22"/>
          <p:cNvSpPr txBox="1"/>
          <p:nvPr/>
        </p:nvSpPr>
        <p:spPr>
          <a:xfrm>
            <a:off x="4419498" y="2648712"/>
            <a:ext cx="1508714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Domain, range</a:t>
            </a:r>
            <a:endParaRPr lang="en-US" sz="1800" dirty="0"/>
          </a:p>
        </p:txBody>
      </p:sp>
      <p:sp>
        <p:nvSpPr>
          <p:cNvPr id="23" name="Shape 23"/>
          <p:cNvSpPr txBox="1"/>
          <p:nvPr/>
        </p:nvSpPr>
        <p:spPr>
          <a:xfrm>
            <a:off x="5928213" y="2648712"/>
            <a:ext cx="184398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24" name="Shape 24"/>
          <p:cNvSpPr txBox="1"/>
          <p:nvPr/>
        </p:nvSpPr>
        <p:spPr>
          <a:xfrm>
            <a:off x="5928213" y="2648712"/>
            <a:ext cx="1843984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All real numbers</a:t>
            </a:r>
            <a:endParaRPr lang="en-US" sz="1800" dirty="0"/>
          </a:p>
        </p:txBody>
      </p:sp>
      <p:cxnSp>
        <p:nvCxnSpPr>
          <p:cNvPr id="25" name="Line 25"/>
          <p:cNvCxnSpPr/>
          <p:nvPr/>
        </p:nvCxnSpPr>
        <p:spPr>
          <a:xfrm>
            <a:off x="4419498" y="3398520"/>
            <a:ext cx="3352698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6" name="Shape 26"/>
          <p:cNvSpPr txBox="1"/>
          <p:nvPr/>
        </p:nvSpPr>
        <p:spPr>
          <a:xfrm>
            <a:off x="4419498" y="3398520"/>
            <a:ext cx="150871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1800" dirty="0"/>
          </a:p>
        </p:txBody>
      </p:sp>
      <p:sp>
        <p:nvSpPr>
          <p:cNvPr id="27" name="Shape 27"/>
          <p:cNvSpPr txBox="1"/>
          <p:nvPr/>
        </p:nvSpPr>
        <p:spPr>
          <a:xfrm>
            <a:off x="5928213" y="3398520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28" name="Shape 28"/>
          <p:cNvSpPr txBox="1"/>
          <p:nvPr/>
        </p:nvSpPr>
        <p:spPr>
          <a:xfrm>
            <a:off x="5928213" y="3398520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(7.5, 0)</a:t>
            </a:r>
            <a:endParaRPr lang="en-US" sz="1800" dirty="0"/>
          </a:p>
        </p:txBody>
      </p:sp>
      <p:cxnSp>
        <p:nvCxnSpPr>
          <p:cNvPr id="29" name="Line 29"/>
          <p:cNvCxnSpPr/>
          <p:nvPr/>
        </p:nvCxnSpPr>
        <p:spPr>
          <a:xfrm>
            <a:off x="4419498" y="3874008"/>
            <a:ext cx="3352698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30" name="Shape 30"/>
          <p:cNvSpPr txBox="1"/>
          <p:nvPr/>
        </p:nvSpPr>
        <p:spPr>
          <a:xfrm>
            <a:off x="4419498" y="3874008"/>
            <a:ext cx="150871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1800" dirty="0"/>
          </a:p>
        </p:txBody>
      </p:sp>
      <p:sp>
        <p:nvSpPr>
          <p:cNvPr id="31" name="Shape 31"/>
          <p:cNvSpPr txBox="1"/>
          <p:nvPr/>
        </p:nvSpPr>
        <p:spPr>
          <a:xfrm>
            <a:off x="5928213" y="3874008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32" name="Shape 32"/>
          <p:cNvSpPr txBox="1"/>
          <p:nvPr/>
        </p:nvSpPr>
        <p:spPr>
          <a:xfrm>
            <a:off x="5928213" y="3874008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(0, 5)</a:t>
            </a:r>
            <a:endParaRPr lang="en-US" sz="1800" dirty="0"/>
          </a:p>
        </p:txBody>
      </p:sp>
      <p:cxnSp>
        <p:nvCxnSpPr>
          <p:cNvPr id="33" name="Line 33"/>
          <p:cNvCxnSpPr/>
          <p:nvPr/>
        </p:nvCxnSpPr>
        <p:spPr>
          <a:xfrm>
            <a:off x="4419498" y="4349496"/>
            <a:ext cx="3352698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34" name="Shape 34"/>
          <p:cNvSpPr txBox="1"/>
          <p:nvPr/>
        </p:nvSpPr>
        <p:spPr>
          <a:xfrm>
            <a:off x="4419498" y="4349496"/>
            <a:ext cx="150871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endParaRPr lang="en-US" sz="1800" dirty="0"/>
          </a:p>
        </p:txBody>
      </p:sp>
      <p:sp>
        <p:nvSpPr>
          <p:cNvPr id="35" name="Shape 35"/>
          <p:cNvSpPr txBox="1"/>
          <p:nvPr/>
        </p:nvSpPr>
        <p:spPr>
          <a:xfrm>
            <a:off x="5928213" y="4349496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36" name="Shape 36"/>
          <p:cNvSpPr txBox="1"/>
          <p:nvPr/>
        </p:nvSpPr>
        <p:spPr>
          <a:xfrm>
            <a:off x="5928213" y="4349496"/>
            <a:ext cx="1843984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−⅔, decreasing</a:t>
            </a:r>
            <a:endParaRPr lang="en-US" sz="1800" dirty="0"/>
          </a:p>
        </p:txBody>
      </p:sp>
      <p:cxnSp>
        <p:nvCxnSpPr>
          <p:cNvPr id="37" name="Line 37"/>
          <p:cNvCxnSpPr/>
          <p:nvPr/>
        </p:nvCxnSpPr>
        <p:spPr>
          <a:xfrm>
            <a:off x="4419498" y="4824984"/>
            <a:ext cx="3352698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38" name="Shape 38"/>
          <p:cNvSpPr/>
          <p:nvPr/>
        </p:nvSpPr>
        <p:spPr>
          <a:xfrm>
            <a:off x="8153197" y="2144268"/>
            <a:ext cx="3048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39" name="Line 39"/>
          <p:cNvCxnSpPr/>
          <p:nvPr/>
        </p:nvCxnSpPr>
        <p:spPr>
          <a:xfrm>
            <a:off x="8477047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8622038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8767030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8912022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9057013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9202005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9346997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9491988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9636980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9781972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9926963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10071955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10216947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10361938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10506930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10651922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10796913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10941905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11086897" y="225856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8477047" y="494461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8477047" y="479539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8477047" y="464616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8477047" y="449694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2" name="Line 62"/>
          <p:cNvCxnSpPr/>
          <p:nvPr/>
        </p:nvCxnSpPr>
        <p:spPr>
          <a:xfrm>
            <a:off x="8477047" y="434771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8477047" y="419849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8477047" y="404926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8477047" y="390004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8477047" y="375081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8477047" y="360159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8" name="Line 68"/>
          <p:cNvCxnSpPr/>
          <p:nvPr/>
        </p:nvCxnSpPr>
        <p:spPr>
          <a:xfrm>
            <a:off x="8477047" y="345236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9" name="Line 69"/>
          <p:cNvCxnSpPr/>
          <p:nvPr/>
        </p:nvCxnSpPr>
        <p:spPr>
          <a:xfrm>
            <a:off x="8477047" y="330314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0" name="Line 70"/>
          <p:cNvCxnSpPr/>
          <p:nvPr/>
        </p:nvCxnSpPr>
        <p:spPr>
          <a:xfrm>
            <a:off x="8477047" y="315391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1" name="Line 71"/>
          <p:cNvCxnSpPr/>
          <p:nvPr/>
        </p:nvCxnSpPr>
        <p:spPr>
          <a:xfrm>
            <a:off x="8477047" y="300469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2" name="Line 72"/>
          <p:cNvCxnSpPr/>
          <p:nvPr/>
        </p:nvCxnSpPr>
        <p:spPr>
          <a:xfrm>
            <a:off x="8477047" y="285546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3" name="Line 73"/>
          <p:cNvCxnSpPr/>
          <p:nvPr/>
        </p:nvCxnSpPr>
        <p:spPr>
          <a:xfrm>
            <a:off x="8477047" y="270624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4" name="Line 74"/>
          <p:cNvCxnSpPr/>
          <p:nvPr/>
        </p:nvCxnSpPr>
        <p:spPr>
          <a:xfrm>
            <a:off x="8477047" y="255701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5" name="Line 75"/>
          <p:cNvCxnSpPr/>
          <p:nvPr/>
        </p:nvCxnSpPr>
        <p:spPr>
          <a:xfrm>
            <a:off x="8477047" y="240779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6" name="Line 76"/>
          <p:cNvCxnSpPr/>
          <p:nvPr/>
        </p:nvCxnSpPr>
        <p:spPr>
          <a:xfrm>
            <a:off x="8477047" y="225856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7" name="Line 77"/>
          <p:cNvCxnSpPr/>
          <p:nvPr/>
        </p:nvCxnSpPr>
        <p:spPr>
          <a:xfrm>
            <a:off x="9636980" y="2258568"/>
            <a:ext cx="0" cy="2686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78" name="Line 78"/>
          <p:cNvCxnSpPr/>
          <p:nvPr/>
        </p:nvCxnSpPr>
        <p:spPr>
          <a:xfrm>
            <a:off x="8477047" y="3452368"/>
            <a:ext cx="2609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79" name="Shape 79"/>
          <p:cNvSpPr txBox="1"/>
          <p:nvPr/>
        </p:nvSpPr>
        <p:spPr>
          <a:xfrm>
            <a:off x="8202727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80" name="Shape 80"/>
          <p:cNvSpPr txBox="1"/>
          <p:nvPr/>
        </p:nvSpPr>
        <p:spPr>
          <a:xfrm>
            <a:off x="8492710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81" name="Shape 81"/>
          <p:cNvSpPr txBox="1"/>
          <p:nvPr/>
        </p:nvSpPr>
        <p:spPr>
          <a:xfrm>
            <a:off x="8782693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82" name="Shape 82"/>
          <p:cNvSpPr txBox="1"/>
          <p:nvPr/>
        </p:nvSpPr>
        <p:spPr>
          <a:xfrm>
            <a:off x="9072677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83" name="Shape 83"/>
          <p:cNvSpPr txBox="1"/>
          <p:nvPr/>
        </p:nvSpPr>
        <p:spPr>
          <a:xfrm>
            <a:off x="9362660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84" name="Shape 84"/>
          <p:cNvSpPr txBox="1"/>
          <p:nvPr/>
        </p:nvSpPr>
        <p:spPr>
          <a:xfrm>
            <a:off x="9652643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85" name="Shape 85"/>
          <p:cNvSpPr txBox="1"/>
          <p:nvPr/>
        </p:nvSpPr>
        <p:spPr>
          <a:xfrm>
            <a:off x="9942627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86" name="Shape 86"/>
          <p:cNvSpPr txBox="1"/>
          <p:nvPr/>
        </p:nvSpPr>
        <p:spPr>
          <a:xfrm>
            <a:off x="10232610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87" name="Shape 87"/>
          <p:cNvSpPr txBox="1"/>
          <p:nvPr/>
        </p:nvSpPr>
        <p:spPr>
          <a:xfrm>
            <a:off x="10522593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88" name="Shape 88"/>
          <p:cNvSpPr txBox="1"/>
          <p:nvPr/>
        </p:nvSpPr>
        <p:spPr>
          <a:xfrm>
            <a:off x="10812577" y="49636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89" name="Shape 89"/>
          <p:cNvSpPr txBox="1"/>
          <p:nvPr/>
        </p:nvSpPr>
        <p:spPr>
          <a:xfrm>
            <a:off x="7910119" y="48531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−10</a:t>
            </a:r>
            <a:endParaRPr lang="en-US" sz="975" dirty="0"/>
          </a:p>
        </p:txBody>
      </p:sp>
      <p:sp>
        <p:nvSpPr>
          <p:cNvPr id="90" name="Shape 90"/>
          <p:cNvSpPr txBox="1"/>
          <p:nvPr/>
        </p:nvSpPr>
        <p:spPr>
          <a:xfrm>
            <a:off x="7910119" y="455472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91" name="Shape 91"/>
          <p:cNvSpPr txBox="1"/>
          <p:nvPr/>
        </p:nvSpPr>
        <p:spPr>
          <a:xfrm>
            <a:off x="7910119" y="42562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92" name="Shape 92"/>
          <p:cNvSpPr txBox="1"/>
          <p:nvPr/>
        </p:nvSpPr>
        <p:spPr>
          <a:xfrm>
            <a:off x="7910119" y="395782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93" name="Shape 93"/>
          <p:cNvSpPr txBox="1"/>
          <p:nvPr/>
        </p:nvSpPr>
        <p:spPr>
          <a:xfrm>
            <a:off x="7910119" y="36593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94" name="Shape 94"/>
          <p:cNvSpPr txBox="1"/>
          <p:nvPr/>
        </p:nvSpPr>
        <p:spPr>
          <a:xfrm>
            <a:off x="7910119" y="336092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95" name="Shape 95"/>
          <p:cNvSpPr txBox="1"/>
          <p:nvPr/>
        </p:nvSpPr>
        <p:spPr>
          <a:xfrm>
            <a:off x="7910119" y="30624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96" name="Shape 96"/>
          <p:cNvSpPr txBox="1"/>
          <p:nvPr/>
        </p:nvSpPr>
        <p:spPr>
          <a:xfrm>
            <a:off x="7910119" y="276402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97" name="Shape 97"/>
          <p:cNvSpPr txBox="1"/>
          <p:nvPr/>
        </p:nvSpPr>
        <p:spPr>
          <a:xfrm>
            <a:off x="7910119" y="24655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98" name="Shape 98"/>
          <p:cNvSpPr txBox="1"/>
          <p:nvPr/>
        </p:nvSpPr>
        <p:spPr>
          <a:xfrm>
            <a:off x="7910119" y="216712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cxnSp>
        <p:nvCxnSpPr>
          <p:cNvPr id="99" name="Line 99"/>
          <p:cNvCxnSpPr/>
          <p:nvPr/>
        </p:nvCxnSpPr>
        <p:spPr>
          <a:xfrm flipV="1">
            <a:off x="9540319" y="2258568"/>
            <a:ext cx="869950" cy="2686050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100" name="Shape 100"/>
          <p:cNvSpPr txBox="1"/>
          <p:nvPr/>
        </p:nvSpPr>
        <p:spPr>
          <a:xfrm>
            <a:off x="7918529" y="227761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g(x)</a:t>
            </a:r>
            <a:endParaRPr lang="en-US" sz="1275" dirty="0"/>
          </a:p>
        </p:txBody>
      </p:sp>
      <p:cxnSp>
        <p:nvCxnSpPr>
          <p:cNvPr id="101" name="Line 101"/>
          <p:cNvCxnSpPr/>
          <p:nvPr/>
        </p:nvCxnSpPr>
        <p:spPr>
          <a:xfrm>
            <a:off x="8984518" y="2258568"/>
            <a:ext cx="2102379" cy="1442508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102" name="Shape 102"/>
          <p:cNvSpPr txBox="1"/>
          <p:nvPr/>
        </p:nvSpPr>
        <p:spPr>
          <a:xfrm>
            <a:off x="9060718" y="227761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h(x)</a:t>
            </a:r>
            <a:endParaRPr lang="en-US" sz="12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7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2.1 · Comparing Vertical and Horizontal Translations · SE pp. 289–290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left 3, then up 3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Left 3: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1828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t(x)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−5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−3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6" name="Shape 26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7" name="Shape 27"/>
          <p:cNvSpPr txBox="1"/>
          <p:nvPr/>
        </p:nvSpPr>
        <p:spPr>
          <a:xfrm>
            <a:off x="685800" y="4490466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inputs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change.</a:t>
            </a:r>
            <a:endParaRPr lang="en-US" sz="1575" dirty="0"/>
          </a:p>
        </p:txBody>
      </p:sp>
      <p:sp>
        <p:nvSpPr>
          <p:cNvPr id="28" name="Shape 28"/>
          <p:cNvSpPr txBox="1"/>
          <p:nvPr/>
        </p:nvSpPr>
        <p:spPr>
          <a:xfrm>
            <a:off x="4419498" y="1618488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Up 3: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+ 3</a:t>
            </a:r>
            <a:endParaRPr lang="en-US" sz="1575" dirty="0"/>
          </a:p>
        </p:txBody>
      </p:sp>
      <p:sp>
        <p:nvSpPr>
          <p:cNvPr id="29" name="Shape 29"/>
          <p:cNvSpPr txBox="1"/>
          <p:nvPr/>
        </p:nvSpPr>
        <p:spPr>
          <a:xfrm>
            <a:off x="44194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30" name="Shape 30"/>
          <p:cNvSpPr txBox="1"/>
          <p:nvPr/>
        </p:nvSpPr>
        <p:spPr>
          <a:xfrm>
            <a:off x="55624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w(x)</a:t>
            </a:r>
            <a:endParaRPr lang="en-US" sz="1650" dirty="0"/>
          </a:p>
        </p:txBody>
      </p:sp>
      <p:sp>
        <p:nvSpPr>
          <p:cNvPr id="31" name="Shape 31"/>
          <p:cNvSpPr txBox="1"/>
          <p:nvPr/>
        </p:nvSpPr>
        <p:spPr>
          <a:xfrm>
            <a:off x="44194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2" name="Shape 32"/>
          <p:cNvSpPr txBox="1"/>
          <p:nvPr/>
        </p:nvSpPr>
        <p:spPr>
          <a:xfrm>
            <a:off x="44194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3" name="Shape 33"/>
          <p:cNvSpPr txBox="1"/>
          <p:nvPr/>
        </p:nvSpPr>
        <p:spPr>
          <a:xfrm>
            <a:off x="55624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4" name="Shape 34"/>
          <p:cNvSpPr txBox="1"/>
          <p:nvPr/>
        </p:nvSpPr>
        <p:spPr>
          <a:xfrm>
            <a:off x="55624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35" name="Shape 35"/>
          <p:cNvSpPr txBox="1"/>
          <p:nvPr/>
        </p:nvSpPr>
        <p:spPr>
          <a:xfrm>
            <a:off x="44194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6" name="Shape 36"/>
          <p:cNvSpPr txBox="1"/>
          <p:nvPr/>
        </p:nvSpPr>
        <p:spPr>
          <a:xfrm>
            <a:off x="44194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7" name="Shape 37"/>
          <p:cNvSpPr txBox="1"/>
          <p:nvPr/>
        </p:nvSpPr>
        <p:spPr>
          <a:xfrm>
            <a:off x="55624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8" name="Shape 38"/>
          <p:cNvSpPr txBox="1"/>
          <p:nvPr/>
        </p:nvSpPr>
        <p:spPr>
          <a:xfrm>
            <a:off x="55624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39" name="Shape 39"/>
          <p:cNvSpPr txBox="1"/>
          <p:nvPr/>
        </p:nvSpPr>
        <p:spPr>
          <a:xfrm>
            <a:off x="44194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0" name="Shape 40"/>
          <p:cNvSpPr txBox="1"/>
          <p:nvPr/>
        </p:nvSpPr>
        <p:spPr>
          <a:xfrm>
            <a:off x="44194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1" name="Shape 41"/>
          <p:cNvSpPr txBox="1"/>
          <p:nvPr/>
        </p:nvSpPr>
        <p:spPr>
          <a:xfrm>
            <a:off x="55624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2" name="Shape 42"/>
          <p:cNvSpPr txBox="1"/>
          <p:nvPr/>
        </p:nvSpPr>
        <p:spPr>
          <a:xfrm>
            <a:off x="55624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650" dirty="0"/>
          </a:p>
        </p:txBody>
      </p:sp>
      <p:sp>
        <p:nvSpPr>
          <p:cNvPr id="43" name="Shape 43"/>
          <p:cNvSpPr txBox="1"/>
          <p:nvPr/>
        </p:nvSpPr>
        <p:spPr>
          <a:xfrm>
            <a:off x="44194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4" name="Shape 44"/>
          <p:cNvSpPr txBox="1"/>
          <p:nvPr/>
        </p:nvSpPr>
        <p:spPr>
          <a:xfrm>
            <a:off x="44194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5" name="Shape 45"/>
          <p:cNvSpPr txBox="1"/>
          <p:nvPr/>
        </p:nvSpPr>
        <p:spPr>
          <a:xfrm>
            <a:off x="55624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6" name="Shape 46"/>
          <p:cNvSpPr txBox="1"/>
          <p:nvPr/>
        </p:nvSpPr>
        <p:spPr>
          <a:xfrm>
            <a:off x="55624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47" name="Shape 47"/>
          <p:cNvSpPr txBox="1"/>
          <p:nvPr/>
        </p:nvSpPr>
        <p:spPr>
          <a:xfrm>
            <a:off x="44194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8" name="Shape 48"/>
          <p:cNvSpPr txBox="1"/>
          <p:nvPr/>
        </p:nvSpPr>
        <p:spPr>
          <a:xfrm>
            <a:off x="44194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49" name="Shape 49"/>
          <p:cNvSpPr txBox="1"/>
          <p:nvPr/>
        </p:nvSpPr>
        <p:spPr>
          <a:xfrm>
            <a:off x="55624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50" name="Shape 50"/>
          <p:cNvSpPr txBox="1"/>
          <p:nvPr/>
        </p:nvSpPr>
        <p:spPr>
          <a:xfrm>
            <a:off x="55624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1650" dirty="0"/>
          </a:p>
        </p:txBody>
      </p:sp>
      <p:sp>
        <p:nvSpPr>
          <p:cNvPr id="51" name="Shape 51"/>
          <p:cNvSpPr txBox="1"/>
          <p:nvPr/>
        </p:nvSpPr>
        <p:spPr>
          <a:xfrm>
            <a:off x="4419498" y="4490466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outputs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change.</a:t>
            </a:r>
            <a:endParaRPr lang="en-US" sz="1575" dirty="0"/>
          </a:p>
        </p:txBody>
      </p:sp>
      <p:sp>
        <p:nvSpPr>
          <p:cNvPr id="52" name="Shape 52"/>
          <p:cNvSpPr/>
          <p:nvPr/>
        </p:nvSpPr>
        <p:spPr>
          <a:xfrm>
            <a:off x="8153197" y="1618488"/>
            <a:ext cx="3048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3" name="Line 53"/>
          <p:cNvCxnSpPr/>
          <p:nvPr/>
        </p:nvCxnSpPr>
        <p:spPr>
          <a:xfrm>
            <a:off x="8477047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869453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8912022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912950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9346997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956448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9781972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999945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10216947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2" name="Line 62"/>
          <p:cNvCxnSpPr/>
          <p:nvPr/>
        </p:nvCxnSpPr>
        <p:spPr>
          <a:xfrm>
            <a:off x="1043443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10651922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1086940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11086897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8477047" y="44188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8477047" y="4195000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8" name="Line 68"/>
          <p:cNvCxnSpPr/>
          <p:nvPr/>
        </p:nvCxnSpPr>
        <p:spPr>
          <a:xfrm>
            <a:off x="8477047" y="39711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9" name="Line 69"/>
          <p:cNvCxnSpPr/>
          <p:nvPr/>
        </p:nvCxnSpPr>
        <p:spPr>
          <a:xfrm>
            <a:off x="8477047" y="3747325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0" name="Line 70"/>
          <p:cNvCxnSpPr/>
          <p:nvPr/>
        </p:nvCxnSpPr>
        <p:spPr>
          <a:xfrm>
            <a:off x="8477047" y="35234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1" name="Line 71"/>
          <p:cNvCxnSpPr/>
          <p:nvPr/>
        </p:nvCxnSpPr>
        <p:spPr>
          <a:xfrm>
            <a:off x="8477047" y="3299650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2" name="Line 72"/>
          <p:cNvCxnSpPr/>
          <p:nvPr/>
        </p:nvCxnSpPr>
        <p:spPr>
          <a:xfrm>
            <a:off x="8477047" y="30758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3" name="Line 73"/>
          <p:cNvCxnSpPr/>
          <p:nvPr/>
        </p:nvCxnSpPr>
        <p:spPr>
          <a:xfrm>
            <a:off x="8477047" y="2851976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4" name="Line 74"/>
          <p:cNvCxnSpPr/>
          <p:nvPr/>
        </p:nvCxnSpPr>
        <p:spPr>
          <a:xfrm>
            <a:off x="8477047" y="26281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5" name="Line 75"/>
          <p:cNvCxnSpPr/>
          <p:nvPr/>
        </p:nvCxnSpPr>
        <p:spPr>
          <a:xfrm>
            <a:off x="8477047" y="2404300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6" name="Line 76"/>
          <p:cNvCxnSpPr/>
          <p:nvPr/>
        </p:nvCxnSpPr>
        <p:spPr>
          <a:xfrm>
            <a:off x="8477047" y="21804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7" name="Line 77"/>
          <p:cNvCxnSpPr/>
          <p:nvPr/>
        </p:nvCxnSpPr>
        <p:spPr>
          <a:xfrm>
            <a:off x="8477047" y="1956625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8" name="Line 78"/>
          <p:cNvCxnSpPr/>
          <p:nvPr/>
        </p:nvCxnSpPr>
        <p:spPr>
          <a:xfrm>
            <a:off x="8477047" y="17327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9" name="Line 79"/>
          <p:cNvCxnSpPr/>
          <p:nvPr/>
        </p:nvCxnSpPr>
        <p:spPr>
          <a:xfrm>
            <a:off x="9781972" y="1732788"/>
            <a:ext cx="0" cy="2686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80" name="Line 80"/>
          <p:cNvCxnSpPr/>
          <p:nvPr/>
        </p:nvCxnSpPr>
        <p:spPr>
          <a:xfrm>
            <a:off x="8477047" y="3075813"/>
            <a:ext cx="2609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81" name="Shape 81"/>
          <p:cNvSpPr txBox="1"/>
          <p:nvPr/>
        </p:nvSpPr>
        <p:spPr>
          <a:xfrm>
            <a:off x="8202727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82" name="Shape 82"/>
          <p:cNvSpPr txBox="1"/>
          <p:nvPr/>
        </p:nvSpPr>
        <p:spPr>
          <a:xfrm>
            <a:off x="8637702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83" name="Shape 83"/>
          <p:cNvSpPr txBox="1"/>
          <p:nvPr/>
        </p:nvSpPr>
        <p:spPr>
          <a:xfrm>
            <a:off x="9072677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84" name="Shape 84"/>
          <p:cNvSpPr txBox="1"/>
          <p:nvPr/>
        </p:nvSpPr>
        <p:spPr>
          <a:xfrm>
            <a:off x="9507652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85" name="Shape 85"/>
          <p:cNvSpPr txBox="1"/>
          <p:nvPr/>
        </p:nvSpPr>
        <p:spPr>
          <a:xfrm>
            <a:off x="9942627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86" name="Shape 86"/>
          <p:cNvSpPr txBox="1"/>
          <p:nvPr/>
        </p:nvSpPr>
        <p:spPr>
          <a:xfrm>
            <a:off x="10377602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87" name="Shape 87"/>
          <p:cNvSpPr txBox="1"/>
          <p:nvPr/>
        </p:nvSpPr>
        <p:spPr>
          <a:xfrm>
            <a:off x="10812577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88" name="Shape 88"/>
          <p:cNvSpPr txBox="1"/>
          <p:nvPr/>
        </p:nvSpPr>
        <p:spPr>
          <a:xfrm>
            <a:off x="7910119" y="43273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89" name="Shape 89"/>
          <p:cNvSpPr txBox="1"/>
          <p:nvPr/>
        </p:nvSpPr>
        <p:spPr>
          <a:xfrm>
            <a:off x="7910119" y="38797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90" name="Shape 90"/>
          <p:cNvSpPr txBox="1"/>
          <p:nvPr/>
        </p:nvSpPr>
        <p:spPr>
          <a:xfrm>
            <a:off x="7910119" y="34320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91" name="Shape 91"/>
          <p:cNvSpPr txBox="1"/>
          <p:nvPr/>
        </p:nvSpPr>
        <p:spPr>
          <a:xfrm>
            <a:off x="7910119" y="29843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92" name="Shape 92"/>
          <p:cNvSpPr txBox="1"/>
          <p:nvPr/>
        </p:nvSpPr>
        <p:spPr>
          <a:xfrm>
            <a:off x="7910119" y="25366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93" name="Shape 93"/>
          <p:cNvSpPr txBox="1"/>
          <p:nvPr/>
        </p:nvSpPr>
        <p:spPr>
          <a:xfrm>
            <a:off x="7910119" y="20890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94" name="Shape 94"/>
          <p:cNvSpPr txBox="1"/>
          <p:nvPr/>
        </p:nvSpPr>
        <p:spPr>
          <a:xfrm>
            <a:off x="7910119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95" name="Line 95"/>
          <p:cNvCxnSpPr/>
          <p:nvPr/>
        </p:nvCxnSpPr>
        <p:spPr>
          <a:xfrm flipV="1">
            <a:off x="8477047" y="1732788"/>
            <a:ext cx="2609850" cy="26860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96" name="Shape 96"/>
          <p:cNvSpPr txBox="1"/>
          <p:nvPr/>
        </p:nvSpPr>
        <p:spPr>
          <a:xfrm>
            <a:off x="8595157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97" name="Line 97"/>
          <p:cNvCxnSpPr/>
          <p:nvPr/>
        </p:nvCxnSpPr>
        <p:spPr>
          <a:xfrm flipV="1">
            <a:off x="8477047" y="1732788"/>
            <a:ext cx="1957388" cy="2014537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98" name="Shape 98"/>
          <p:cNvSpPr txBox="1"/>
          <p:nvPr/>
        </p:nvSpPr>
        <p:spPr>
          <a:xfrm>
            <a:off x="7942694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t(x) = w(x)</a:t>
            </a:r>
            <a:endParaRPr lang="en-US" sz="1275" dirty="0"/>
          </a:p>
        </p:txBody>
      </p:sp>
      <p:sp>
        <p:nvSpPr>
          <p:cNvPr id="99" name="Shape 99"/>
          <p:cNvSpPr txBox="1"/>
          <p:nvPr/>
        </p:nvSpPr>
        <p:spPr>
          <a:xfrm>
            <a:off x="8153197" y="4761738"/>
            <a:ext cx="3352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Same line,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but different tables.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7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7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2.1 · Definitions · SE p. 291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vs. vertical translations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Changes the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inputs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shift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right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shift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left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Changes the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outputs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shift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up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shift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down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1379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For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right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down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and left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up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3604260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Does that work for </a:t>
            </a:r>
            <a:r>
              <a:rPr lang="en-US" sz="16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every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linear function?</a:t>
            </a:r>
            <a:endParaRPr lang="en-US" sz="16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2.1 · Questions 6–9 · SE pp. 292–294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Try it with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Up 4 and left 4: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+ 4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77134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+ 4) = 2(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+ 4) − 1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+ 7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94563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Right 2 and down 2: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335780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− 2)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5304282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− 2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6272784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 the same.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lines are parallel with different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-intercepts.</a:t>
            </a:r>
            <a:endParaRPr lang="en-US" sz="1575" dirty="0"/>
          </a:p>
        </p:txBody>
      </p:sp>
      <p:sp>
        <p:nvSpPr>
          <p:cNvPr id="11" name="Shape 11"/>
          <p:cNvSpPr/>
          <p:nvPr/>
        </p:nvSpPr>
        <p:spPr>
          <a:xfrm>
            <a:off x="6286348" y="1618488"/>
            <a:ext cx="314325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2" name="Line 12"/>
          <p:cNvCxnSpPr/>
          <p:nvPr/>
        </p:nvCxnSpPr>
        <p:spPr>
          <a:xfrm>
            <a:off x="661019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683562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706104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728647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751189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773732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796274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818817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841359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863902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886444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908987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931529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47998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4608147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4416457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422476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403307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384138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3649694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3458004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32663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3074622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610198" y="2882932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269124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6610198" y="2499550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6610198" y="2307860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6610198" y="2116169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6610198" y="1924479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6610198" y="17327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7962748" y="1732788"/>
            <a:ext cx="0" cy="3067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6610198" y="3266313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4" name="Shape 44"/>
          <p:cNvSpPr txBox="1"/>
          <p:nvPr/>
        </p:nvSpPr>
        <p:spPr>
          <a:xfrm>
            <a:off x="633587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678672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723757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768842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813927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859012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904097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6043270" y="47083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6043270" y="432501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6043270" y="394163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6043270" y="355825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6043270" y="31748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6043270" y="279149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6043270" y="240811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8" name="Shape 58"/>
          <p:cNvSpPr txBox="1"/>
          <p:nvPr/>
        </p:nvSpPr>
        <p:spPr>
          <a:xfrm>
            <a:off x="6043270" y="202472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59" name="Shape 59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cxnSp>
        <p:nvCxnSpPr>
          <p:cNvPr id="60" name="Line 60"/>
          <p:cNvCxnSpPr/>
          <p:nvPr/>
        </p:nvCxnSpPr>
        <p:spPr>
          <a:xfrm flipV="1">
            <a:off x="7173760" y="1732788"/>
            <a:ext cx="1803400" cy="30670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61" name="Shape 61"/>
          <p:cNvSpPr txBox="1"/>
          <p:nvPr/>
        </p:nvSpPr>
        <p:spPr>
          <a:xfrm>
            <a:off x="6485420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j(x)</a:t>
            </a:r>
            <a:endParaRPr lang="en-US" sz="1275" dirty="0"/>
          </a:p>
        </p:txBody>
      </p:sp>
      <p:cxnSp>
        <p:nvCxnSpPr>
          <p:cNvPr id="62" name="Line 62"/>
          <p:cNvCxnSpPr/>
          <p:nvPr/>
        </p:nvCxnSpPr>
        <p:spPr>
          <a:xfrm flipV="1">
            <a:off x="6722910" y="1732788"/>
            <a:ext cx="1803400" cy="3067050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63" name="Shape 63"/>
          <p:cNvSpPr txBox="1"/>
          <p:nvPr/>
        </p:nvSpPr>
        <p:spPr>
          <a:xfrm>
            <a:off x="6034570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q(x)</a:t>
            </a:r>
            <a:endParaRPr lang="en-US" sz="1275" dirty="0"/>
          </a:p>
        </p:txBody>
      </p:sp>
      <p:cxnSp>
        <p:nvCxnSpPr>
          <p:cNvPr id="64" name="Line 64"/>
          <p:cNvCxnSpPr/>
          <p:nvPr/>
        </p:nvCxnSpPr>
        <p:spPr>
          <a:xfrm flipV="1">
            <a:off x="6610198" y="1732788"/>
            <a:ext cx="1465262" cy="2491978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65" name="Shape 65"/>
          <p:cNvSpPr txBox="1"/>
          <p:nvPr/>
        </p:nvSpPr>
        <p:spPr>
          <a:xfrm>
            <a:off x="5583720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r(x)</a:t>
            </a:r>
            <a:endParaRPr lang="en-US" sz="12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2.1 · Summary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Translations of linear functions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71373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Inside the parentheses changes the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input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(horizontal); outside changes the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output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(vertical).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7251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moves right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; the sign flips.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3410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Only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does right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match down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1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325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764536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Right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The sign flips: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+ 3) is left 3.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2325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d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764536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Up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No sign flip.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013497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Only for 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Right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same as down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Not for other lines.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364236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What effect do horizontal transformations have on linear functions? How do they compare to vertical transformations?</a:t>
            </a:r>
            <a:endParaRPr lang="en-US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Bell Work · Review of Day 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translated right 5 units. Which equation is the new function?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289)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55392"/>
            <a:ext cx="51433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89534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a translation right 5 gives the same graph as which other translation?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291)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975098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Down 5 units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+ 4)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Simplify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292)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+ 7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is the graph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the same as the graph of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295)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026408"/>
            <a:ext cx="51433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Yes, both are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Today's Plan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Today's plan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Bell work (5 min)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2.2: horizontal vs. vertical dilations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2.3: describe and graph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Talk the Talk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Exit ticket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35958"/>
            <a:ext cx="762872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One part at a time. Ask for help or a break whenever you need it.</a:t>
            </a:r>
            <a:endParaRPr lang="en-US" sz="165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2.2 · Comparing Vertical and Horizontal Dilations · SE pp. 295–296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Change the outputs or the inputs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Outputs × 2: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1828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a(x)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6" name="Shape 26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27" name="Shape 27"/>
          <p:cNvSpPr txBox="1"/>
          <p:nvPr/>
        </p:nvSpPr>
        <p:spPr>
          <a:xfrm>
            <a:off x="4419498" y="1618488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Inputs × ½: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28" name="Shape 28"/>
          <p:cNvSpPr txBox="1"/>
          <p:nvPr/>
        </p:nvSpPr>
        <p:spPr>
          <a:xfrm>
            <a:off x="44194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29" name="Shape 29"/>
          <p:cNvSpPr txBox="1"/>
          <p:nvPr/>
        </p:nvSpPr>
        <p:spPr>
          <a:xfrm>
            <a:off x="55624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b(x)</a:t>
            </a:r>
            <a:endParaRPr lang="en-US" sz="1650" dirty="0"/>
          </a:p>
        </p:txBody>
      </p:sp>
      <p:sp>
        <p:nvSpPr>
          <p:cNvPr id="30" name="Shape 30"/>
          <p:cNvSpPr txBox="1"/>
          <p:nvPr/>
        </p:nvSpPr>
        <p:spPr>
          <a:xfrm>
            <a:off x="44194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1" name="Shape 31"/>
          <p:cNvSpPr txBox="1"/>
          <p:nvPr/>
        </p:nvSpPr>
        <p:spPr>
          <a:xfrm>
            <a:off x="44194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2" name="Shape 32"/>
          <p:cNvSpPr txBox="1"/>
          <p:nvPr/>
        </p:nvSpPr>
        <p:spPr>
          <a:xfrm>
            <a:off x="55624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3" name="Shape 33"/>
          <p:cNvSpPr txBox="1"/>
          <p:nvPr/>
        </p:nvSpPr>
        <p:spPr>
          <a:xfrm>
            <a:off x="55624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4" name="Shape 34"/>
          <p:cNvSpPr txBox="1"/>
          <p:nvPr/>
        </p:nvSpPr>
        <p:spPr>
          <a:xfrm>
            <a:off x="44194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5" name="Shape 35"/>
          <p:cNvSpPr txBox="1"/>
          <p:nvPr/>
        </p:nvSpPr>
        <p:spPr>
          <a:xfrm>
            <a:off x="44194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−½</a:t>
            </a:r>
            <a:endParaRPr lang="en-US" sz="1650" dirty="0"/>
          </a:p>
        </p:txBody>
      </p:sp>
      <p:sp>
        <p:nvSpPr>
          <p:cNvPr id="36" name="Shape 36"/>
          <p:cNvSpPr txBox="1"/>
          <p:nvPr/>
        </p:nvSpPr>
        <p:spPr>
          <a:xfrm>
            <a:off x="55624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7" name="Shape 37"/>
          <p:cNvSpPr txBox="1"/>
          <p:nvPr/>
        </p:nvSpPr>
        <p:spPr>
          <a:xfrm>
            <a:off x="55624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8" name="Shape 38"/>
          <p:cNvSpPr txBox="1"/>
          <p:nvPr/>
        </p:nvSpPr>
        <p:spPr>
          <a:xfrm>
            <a:off x="44194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9" name="Shape 39"/>
          <p:cNvSpPr txBox="1"/>
          <p:nvPr/>
        </p:nvSpPr>
        <p:spPr>
          <a:xfrm>
            <a:off x="44194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0" name="Shape 40"/>
          <p:cNvSpPr txBox="1"/>
          <p:nvPr/>
        </p:nvSpPr>
        <p:spPr>
          <a:xfrm>
            <a:off x="55624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1" name="Shape 41"/>
          <p:cNvSpPr txBox="1"/>
          <p:nvPr/>
        </p:nvSpPr>
        <p:spPr>
          <a:xfrm>
            <a:off x="55624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2" name="Shape 42"/>
          <p:cNvSpPr txBox="1"/>
          <p:nvPr/>
        </p:nvSpPr>
        <p:spPr>
          <a:xfrm>
            <a:off x="44194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3" name="Shape 43"/>
          <p:cNvSpPr txBox="1"/>
          <p:nvPr/>
        </p:nvSpPr>
        <p:spPr>
          <a:xfrm>
            <a:off x="44194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½</a:t>
            </a:r>
            <a:endParaRPr lang="en-US" sz="1650" dirty="0"/>
          </a:p>
        </p:txBody>
      </p:sp>
      <p:sp>
        <p:nvSpPr>
          <p:cNvPr id="44" name="Shape 44"/>
          <p:cNvSpPr txBox="1"/>
          <p:nvPr/>
        </p:nvSpPr>
        <p:spPr>
          <a:xfrm>
            <a:off x="55624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5" name="Shape 45"/>
          <p:cNvSpPr txBox="1"/>
          <p:nvPr/>
        </p:nvSpPr>
        <p:spPr>
          <a:xfrm>
            <a:off x="55624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6" name="Shape 46"/>
          <p:cNvSpPr txBox="1"/>
          <p:nvPr/>
        </p:nvSpPr>
        <p:spPr>
          <a:xfrm>
            <a:off x="44194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7" name="Shape 47"/>
          <p:cNvSpPr txBox="1"/>
          <p:nvPr/>
        </p:nvSpPr>
        <p:spPr>
          <a:xfrm>
            <a:off x="44194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8" name="Shape 48"/>
          <p:cNvSpPr txBox="1"/>
          <p:nvPr/>
        </p:nvSpPr>
        <p:spPr>
          <a:xfrm>
            <a:off x="55624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9" name="Shape 49"/>
          <p:cNvSpPr txBox="1"/>
          <p:nvPr/>
        </p:nvSpPr>
        <p:spPr>
          <a:xfrm>
            <a:off x="55624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50" name="Shape 50"/>
          <p:cNvSpPr/>
          <p:nvPr/>
        </p:nvSpPr>
        <p:spPr>
          <a:xfrm>
            <a:off x="8153197" y="1618488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1" name="Line 51"/>
          <p:cNvCxnSpPr/>
          <p:nvPr/>
        </p:nvCxnSpPr>
        <p:spPr>
          <a:xfrm>
            <a:off x="8477047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8779466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9081884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9384303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9686722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9989141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10291559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10593978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10896397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8477047" y="422833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8477047" y="397878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2" name="Line 62"/>
          <p:cNvCxnSpPr/>
          <p:nvPr/>
        </p:nvCxnSpPr>
        <p:spPr>
          <a:xfrm>
            <a:off x="8477047" y="372922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8477047" y="347967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8477047" y="323011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8477047" y="298056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8477047" y="273100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8477047" y="248145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8" name="Line 68"/>
          <p:cNvCxnSpPr/>
          <p:nvPr/>
        </p:nvCxnSpPr>
        <p:spPr>
          <a:xfrm>
            <a:off x="8477047" y="223189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9" name="Line 69"/>
          <p:cNvCxnSpPr/>
          <p:nvPr/>
        </p:nvCxnSpPr>
        <p:spPr>
          <a:xfrm>
            <a:off x="8477047" y="198234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0" name="Line 70"/>
          <p:cNvCxnSpPr/>
          <p:nvPr/>
        </p:nvCxnSpPr>
        <p:spPr>
          <a:xfrm>
            <a:off x="8477047" y="173278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1" name="Line 71"/>
          <p:cNvCxnSpPr/>
          <p:nvPr/>
        </p:nvCxnSpPr>
        <p:spPr>
          <a:xfrm>
            <a:off x="9686722" y="1732788"/>
            <a:ext cx="0" cy="2495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72" name="Line 72"/>
          <p:cNvCxnSpPr/>
          <p:nvPr/>
        </p:nvCxnSpPr>
        <p:spPr>
          <a:xfrm>
            <a:off x="8477047" y="2980563"/>
            <a:ext cx="2419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73" name="Shape 73"/>
          <p:cNvSpPr txBox="1"/>
          <p:nvPr/>
        </p:nvSpPr>
        <p:spPr>
          <a:xfrm>
            <a:off x="8202727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74" name="Shape 74"/>
          <p:cNvSpPr txBox="1"/>
          <p:nvPr/>
        </p:nvSpPr>
        <p:spPr>
          <a:xfrm>
            <a:off x="8505146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75" name="Shape 75"/>
          <p:cNvSpPr txBox="1"/>
          <p:nvPr/>
        </p:nvSpPr>
        <p:spPr>
          <a:xfrm>
            <a:off x="8807564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76" name="Shape 76"/>
          <p:cNvSpPr txBox="1"/>
          <p:nvPr/>
        </p:nvSpPr>
        <p:spPr>
          <a:xfrm>
            <a:off x="9109983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77" name="Shape 77"/>
          <p:cNvSpPr txBox="1"/>
          <p:nvPr/>
        </p:nvSpPr>
        <p:spPr>
          <a:xfrm>
            <a:off x="9412402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78" name="Shape 78"/>
          <p:cNvSpPr txBox="1"/>
          <p:nvPr/>
        </p:nvSpPr>
        <p:spPr>
          <a:xfrm>
            <a:off x="9714821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79" name="Shape 79"/>
          <p:cNvSpPr txBox="1"/>
          <p:nvPr/>
        </p:nvSpPr>
        <p:spPr>
          <a:xfrm>
            <a:off x="10017239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80" name="Shape 80"/>
          <p:cNvSpPr txBox="1"/>
          <p:nvPr/>
        </p:nvSpPr>
        <p:spPr>
          <a:xfrm>
            <a:off x="10319658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81" name="Shape 81"/>
          <p:cNvSpPr txBox="1"/>
          <p:nvPr/>
        </p:nvSpPr>
        <p:spPr>
          <a:xfrm>
            <a:off x="10622077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82" name="Shape 82"/>
          <p:cNvSpPr txBox="1"/>
          <p:nvPr/>
        </p:nvSpPr>
        <p:spPr>
          <a:xfrm>
            <a:off x="7910119" y="4136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</a:t>
            </a:r>
            <a:endParaRPr lang="en-US" sz="975" dirty="0"/>
          </a:p>
        </p:txBody>
      </p:sp>
      <p:sp>
        <p:nvSpPr>
          <p:cNvPr id="83" name="Shape 83"/>
          <p:cNvSpPr txBox="1"/>
          <p:nvPr/>
        </p:nvSpPr>
        <p:spPr>
          <a:xfrm>
            <a:off x="7910119" y="388734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84" name="Shape 84"/>
          <p:cNvSpPr txBox="1"/>
          <p:nvPr/>
        </p:nvSpPr>
        <p:spPr>
          <a:xfrm>
            <a:off x="7910119" y="363778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85" name="Shape 85"/>
          <p:cNvSpPr txBox="1"/>
          <p:nvPr/>
        </p:nvSpPr>
        <p:spPr>
          <a:xfrm>
            <a:off x="7910119" y="338823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86" name="Shape 86"/>
          <p:cNvSpPr txBox="1"/>
          <p:nvPr/>
        </p:nvSpPr>
        <p:spPr>
          <a:xfrm>
            <a:off x="7910119" y="31386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87" name="Shape 87"/>
          <p:cNvSpPr txBox="1"/>
          <p:nvPr/>
        </p:nvSpPr>
        <p:spPr>
          <a:xfrm>
            <a:off x="7910119" y="28891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88" name="Shape 88"/>
          <p:cNvSpPr txBox="1"/>
          <p:nvPr/>
        </p:nvSpPr>
        <p:spPr>
          <a:xfrm>
            <a:off x="7910119" y="263956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89" name="Shape 89"/>
          <p:cNvSpPr txBox="1"/>
          <p:nvPr/>
        </p:nvSpPr>
        <p:spPr>
          <a:xfrm>
            <a:off x="7910119" y="239001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90" name="Shape 90"/>
          <p:cNvSpPr txBox="1"/>
          <p:nvPr/>
        </p:nvSpPr>
        <p:spPr>
          <a:xfrm>
            <a:off x="7910119" y="214045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91" name="Shape 91"/>
          <p:cNvSpPr txBox="1"/>
          <p:nvPr/>
        </p:nvSpPr>
        <p:spPr>
          <a:xfrm>
            <a:off x="7910119" y="189090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92" name="Shape 92"/>
          <p:cNvSpPr txBox="1"/>
          <p:nvPr/>
        </p:nvSpPr>
        <p:spPr>
          <a:xfrm>
            <a:off x="7910119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cxnSp>
        <p:nvCxnSpPr>
          <p:cNvPr id="93" name="Line 93"/>
          <p:cNvCxnSpPr/>
          <p:nvPr/>
        </p:nvCxnSpPr>
        <p:spPr>
          <a:xfrm flipV="1">
            <a:off x="8477047" y="1982343"/>
            <a:ext cx="2419350" cy="199644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94" name="Shape 94"/>
          <p:cNvSpPr txBox="1"/>
          <p:nvPr/>
        </p:nvSpPr>
        <p:spPr>
          <a:xfrm>
            <a:off x="8404657" y="2001393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95" name="Line 95"/>
          <p:cNvCxnSpPr/>
          <p:nvPr/>
        </p:nvCxnSpPr>
        <p:spPr>
          <a:xfrm flipV="1">
            <a:off x="8930675" y="1732788"/>
            <a:ext cx="1512094" cy="2495550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96" name="Shape 96"/>
          <p:cNvSpPr txBox="1"/>
          <p:nvPr/>
        </p:nvSpPr>
        <p:spPr>
          <a:xfrm>
            <a:off x="7951029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y = 2x</a:t>
            </a:r>
            <a:endParaRPr lang="en-US" sz="1275" dirty="0"/>
          </a:p>
        </p:txBody>
      </p:sp>
      <p:sp>
        <p:nvSpPr>
          <p:cNvPr id="97" name="Shape 97"/>
          <p:cNvSpPr txBox="1"/>
          <p:nvPr/>
        </p:nvSpPr>
        <p:spPr>
          <a:xfrm>
            <a:off x="8153197" y="4571238"/>
            <a:ext cx="3352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Both are the line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with different tables.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7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7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2.2 · Questions 2–3 · SE p. 296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Factors of ⅘ and 5/4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Outputs × ⅘: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⅘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1828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c(x)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−8/5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−4/5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4/5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6" name="Shape 26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8/5</a:t>
            </a:r>
            <a:endParaRPr lang="en-US" sz="1650" dirty="0"/>
          </a:p>
        </p:txBody>
      </p:sp>
      <p:sp>
        <p:nvSpPr>
          <p:cNvPr id="27" name="Shape 27"/>
          <p:cNvSpPr txBox="1"/>
          <p:nvPr/>
        </p:nvSpPr>
        <p:spPr>
          <a:xfrm>
            <a:off x="4381398" y="1618488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Inputs × 5/4: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(⅘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28" name="Shape 28"/>
          <p:cNvSpPr txBox="1"/>
          <p:nvPr/>
        </p:nvSpPr>
        <p:spPr>
          <a:xfrm>
            <a:off x="43813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29" name="Shape 29"/>
          <p:cNvSpPr txBox="1"/>
          <p:nvPr/>
        </p:nvSpPr>
        <p:spPr>
          <a:xfrm>
            <a:off x="55243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d(x)</a:t>
            </a:r>
            <a:endParaRPr lang="en-US" sz="1650" dirty="0"/>
          </a:p>
        </p:txBody>
      </p:sp>
      <p:sp>
        <p:nvSpPr>
          <p:cNvPr id="30" name="Shape 30"/>
          <p:cNvSpPr txBox="1"/>
          <p:nvPr/>
        </p:nvSpPr>
        <p:spPr>
          <a:xfrm>
            <a:off x="43813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1" name="Shape 31"/>
          <p:cNvSpPr txBox="1"/>
          <p:nvPr/>
        </p:nvSpPr>
        <p:spPr>
          <a:xfrm>
            <a:off x="43813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−5/2</a:t>
            </a:r>
            <a:endParaRPr lang="en-US" sz="1650" dirty="0"/>
          </a:p>
        </p:txBody>
      </p:sp>
      <p:sp>
        <p:nvSpPr>
          <p:cNvPr id="32" name="Shape 32"/>
          <p:cNvSpPr txBox="1"/>
          <p:nvPr/>
        </p:nvSpPr>
        <p:spPr>
          <a:xfrm>
            <a:off x="55243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3" name="Shape 33"/>
          <p:cNvSpPr txBox="1"/>
          <p:nvPr/>
        </p:nvSpPr>
        <p:spPr>
          <a:xfrm>
            <a:off x="55243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4" name="Shape 34"/>
          <p:cNvSpPr txBox="1"/>
          <p:nvPr/>
        </p:nvSpPr>
        <p:spPr>
          <a:xfrm>
            <a:off x="43813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5" name="Shape 35"/>
          <p:cNvSpPr txBox="1"/>
          <p:nvPr/>
        </p:nvSpPr>
        <p:spPr>
          <a:xfrm>
            <a:off x="43813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−5/4</a:t>
            </a:r>
            <a:endParaRPr lang="en-US" sz="1650" dirty="0"/>
          </a:p>
        </p:txBody>
      </p:sp>
      <p:sp>
        <p:nvSpPr>
          <p:cNvPr id="36" name="Shape 36"/>
          <p:cNvSpPr txBox="1"/>
          <p:nvPr/>
        </p:nvSpPr>
        <p:spPr>
          <a:xfrm>
            <a:off x="55243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7" name="Shape 37"/>
          <p:cNvSpPr txBox="1"/>
          <p:nvPr/>
        </p:nvSpPr>
        <p:spPr>
          <a:xfrm>
            <a:off x="55243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8" name="Shape 38"/>
          <p:cNvSpPr txBox="1"/>
          <p:nvPr/>
        </p:nvSpPr>
        <p:spPr>
          <a:xfrm>
            <a:off x="43813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9" name="Shape 39"/>
          <p:cNvSpPr txBox="1"/>
          <p:nvPr/>
        </p:nvSpPr>
        <p:spPr>
          <a:xfrm>
            <a:off x="43813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0" name="Shape 40"/>
          <p:cNvSpPr txBox="1"/>
          <p:nvPr/>
        </p:nvSpPr>
        <p:spPr>
          <a:xfrm>
            <a:off x="55243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1" name="Shape 41"/>
          <p:cNvSpPr txBox="1"/>
          <p:nvPr/>
        </p:nvSpPr>
        <p:spPr>
          <a:xfrm>
            <a:off x="55243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2" name="Shape 42"/>
          <p:cNvSpPr txBox="1"/>
          <p:nvPr/>
        </p:nvSpPr>
        <p:spPr>
          <a:xfrm>
            <a:off x="43813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3" name="Shape 43"/>
          <p:cNvSpPr txBox="1"/>
          <p:nvPr/>
        </p:nvSpPr>
        <p:spPr>
          <a:xfrm>
            <a:off x="43813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5/4</a:t>
            </a:r>
            <a:endParaRPr lang="en-US" sz="1650" dirty="0"/>
          </a:p>
        </p:txBody>
      </p:sp>
      <p:sp>
        <p:nvSpPr>
          <p:cNvPr id="44" name="Shape 44"/>
          <p:cNvSpPr txBox="1"/>
          <p:nvPr/>
        </p:nvSpPr>
        <p:spPr>
          <a:xfrm>
            <a:off x="55243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5" name="Shape 45"/>
          <p:cNvSpPr txBox="1"/>
          <p:nvPr/>
        </p:nvSpPr>
        <p:spPr>
          <a:xfrm>
            <a:off x="55243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6" name="Shape 46"/>
          <p:cNvSpPr txBox="1"/>
          <p:nvPr/>
        </p:nvSpPr>
        <p:spPr>
          <a:xfrm>
            <a:off x="43813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7" name="Shape 47"/>
          <p:cNvSpPr txBox="1"/>
          <p:nvPr/>
        </p:nvSpPr>
        <p:spPr>
          <a:xfrm>
            <a:off x="43813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5/2</a:t>
            </a:r>
            <a:endParaRPr lang="en-US" sz="1650" dirty="0"/>
          </a:p>
        </p:txBody>
      </p:sp>
      <p:sp>
        <p:nvSpPr>
          <p:cNvPr id="48" name="Shape 48"/>
          <p:cNvSpPr txBox="1"/>
          <p:nvPr/>
        </p:nvSpPr>
        <p:spPr>
          <a:xfrm>
            <a:off x="55243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9" name="Shape 49"/>
          <p:cNvSpPr txBox="1"/>
          <p:nvPr/>
        </p:nvSpPr>
        <p:spPr>
          <a:xfrm>
            <a:off x="55243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50" name="Shape 50"/>
          <p:cNvSpPr txBox="1"/>
          <p:nvPr/>
        </p:nvSpPr>
        <p:spPr>
          <a:xfrm>
            <a:off x="8076997" y="1618488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Same line,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⅘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51" name="Shape 51"/>
          <p:cNvSpPr txBox="1"/>
          <p:nvPr/>
        </p:nvSpPr>
        <p:spPr>
          <a:xfrm>
            <a:off x="8076997" y="2008632"/>
            <a:ext cx="34288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For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a vertical dilation by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a horizontal dilation by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1/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54" name="Shape 54"/>
          <p:cNvSpPr txBox="1"/>
          <p:nvPr/>
        </p:nvSpPr>
        <p:spPr>
          <a:xfrm>
            <a:off x="8076997" y="2878836"/>
            <a:ext cx="3428898" cy="230809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2" name="Shape 52"/>
          <p:cNvSpPr txBox="1"/>
          <p:nvPr/>
        </p:nvSpPr>
        <p:spPr>
          <a:xfrm>
            <a:off x="8286547" y="3050286"/>
            <a:ext cx="30097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Definitions</a:t>
            </a:r>
            <a:endParaRPr lang="en-US" sz="2100" dirty="0"/>
          </a:p>
        </p:txBody>
      </p:sp>
      <p:sp>
        <p:nvSpPr>
          <p:cNvPr id="53" name="Shape 53"/>
          <p:cNvSpPr txBox="1"/>
          <p:nvPr/>
        </p:nvSpPr>
        <p:spPr>
          <a:xfrm>
            <a:off x="8286547" y="3520440"/>
            <a:ext cx="3009798" cy="1495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vertical, changes outputs.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horizontal, changes inputs;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|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| &gt;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compresses,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0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|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|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stretches,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reflects across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2.2 · Question 4 · SE p. 297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Does this hold for any linear function?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Counterexample: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473211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b="1">
                <a:solidFill>
                  <a:srgbClr val="4F8A3C"/>
                </a:solidFill>
                <a:latin typeface="Cambria"/>
                <a:cs typeface="Cambria"/>
              </a:rPr>
              <a:t xml:space="preserve">3 · </a:t>
            </a:r>
            <a:r>
              <a:rPr lang="en-US" sz="2325" dirty="0" b="1" i="1">
                <a:solidFill>
                  <a:srgbClr val="4F8A3C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 b="1">
                <a:solidFill>
                  <a:srgbClr val="4F8A3C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b="1" i="1">
                <a:solidFill>
                  <a:srgbClr val="4F8A3C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 b="1">
                <a:solidFill>
                  <a:srgbClr val="4F8A3C"/>
                </a:solidFill>
                <a:latin typeface="Cambria"/>
                <a:cs typeface="Cambria"/>
              </a:rPr>
              <a:t xml:space="preserve">) = 6</a:t>
            </a:r>
            <a:r>
              <a:rPr lang="en-US" sz="2325" dirty="0" b="1" i="1">
                <a:solidFill>
                  <a:srgbClr val="4F8A3C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 b="1">
                <a:solidFill>
                  <a:srgbClr val="4F8A3C"/>
                </a:solidFill>
                <a:latin typeface="Cambria"/>
                <a:cs typeface="Cambria"/>
              </a:rPr>
              <a:t xml:space="preserve"> − 3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79954"/>
            <a:ext cx="423463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b="1" i="1">
                <a:solidFill>
                  <a:srgbClr val="7A4FC4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 b="1">
                <a:solidFill>
                  <a:srgbClr val="7A4FC4"/>
                </a:solidFill>
                <a:latin typeface="Cambria"/>
                <a:cs typeface="Cambria"/>
              </a:rPr>
              <a:t xml:space="preserve">(3</a:t>
            </a:r>
            <a:r>
              <a:rPr lang="en-US" sz="2325" dirty="0" b="1" i="1">
                <a:solidFill>
                  <a:srgbClr val="7A4FC4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 b="1">
                <a:solidFill>
                  <a:srgbClr val="7A4FC4"/>
                </a:solidFill>
                <a:latin typeface="Cambria"/>
                <a:cs typeface="Cambria"/>
              </a:rPr>
              <a:t xml:space="preserve">) = 6</a:t>
            </a:r>
            <a:r>
              <a:rPr lang="en-US" sz="2325" dirty="0" b="1" i="1">
                <a:solidFill>
                  <a:srgbClr val="7A4FC4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 b="1">
                <a:solidFill>
                  <a:srgbClr val="7A4FC4"/>
                </a:solidFill>
                <a:latin typeface="Cambria"/>
                <a:cs typeface="Cambria"/>
              </a:rPr>
              <a:t xml:space="preserve"> − 1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94126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graphs are parallel, not the same. It works only for the parent function.</a:t>
            </a:r>
            <a:endParaRPr lang="en-US" sz="1575" dirty="0"/>
          </a:p>
        </p:txBody>
      </p:sp>
      <p:sp>
        <p:nvSpPr>
          <p:cNvPr id="8" name="Shape 8"/>
          <p:cNvSpPr/>
          <p:nvPr/>
        </p:nvSpPr>
        <p:spPr>
          <a:xfrm>
            <a:off x="6286348" y="1618488"/>
            <a:ext cx="3143250" cy="323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9" name="Line 9"/>
          <p:cNvCxnSpPr/>
          <p:nvPr/>
        </p:nvCxnSpPr>
        <p:spPr>
          <a:xfrm>
            <a:off x="6610198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6948335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7286473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624610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962748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8300885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639023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977160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9315298" y="1732788"/>
            <a:ext cx="0" cy="2876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6610198" y="46093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6610198" y="436962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6610198" y="41299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610198" y="3890200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36504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341077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31710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2931350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26916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245192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22122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1972500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17327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7962748" y="1732788"/>
            <a:ext cx="0" cy="2876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3171063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3" name="Shape 33"/>
          <p:cNvSpPr txBox="1"/>
          <p:nvPr/>
        </p:nvSpPr>
        <p:spPr>
          <a:xfrm>
            <a:off x="6335878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6674015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7012153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7350290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7688428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8026565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8364703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8702840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9040978" y="4628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6043270" y="4517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6043270" y="40384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6043270" y="35590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6043270" y="30796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6043270" y="26001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043270" y="21207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49" name="Line 49"/>
          <p:cNvCxnSpPr/>
          <p:nvPr/>
        </p:nvCxnSpPr>
        <p:spPr>
          <a:xfrm flipV="1">
            <a:off x="7117404" y="1732788"/>
            <a:ext cx="2028825" cy="28765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0" name="Shape 50"/>
          <p:cNvSpPr txBox="1"/>
          <p:nvPr/>
        </p:nvSpPr>
        <p:spPr>
          <a:xfrm>
            <a:off x="6654489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m(x)</a:t>
            </a:r>
            <a:endParaRPr lang="en-US" sz="1275" dirty="0"/>
          </a:p>
        </p:txBody>
      </p:sp>
      <p:cxnSp>
        <p:nvCxnSpPr>
          <p:cNvPr id="51" name="Line 51"/>
          <p:cNvCxnSpPr/>
          <p:nvPr/>
        </p:nvCxnSpPr>
        <p:spPr>
          <a:xfrm flipV="1">
            <a:off x="7793679" y="1732788"/>
            <a:ext cx="676275" cy="2876550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cxnSp>
        <p:nvCxnSpPr>
          <p:cNvPr id="52" name="Line 52"/>
          <p:cNvCxnSpPr/>
          <p:nvPr/>
        </p:nvCxnSpPr>
        <p:spPr>
          <a:xfrm flipV="1">
            <a:off x="7680966" y="1732788"/>
            <a:ext cx="676275" cy="287655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2.3 · Graphing Linear Transformations · SE pp. 298–300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Describe each transformation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− 7)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Right 7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502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− 7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16184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Vertical stretch by 3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6502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16184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+ 2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Up 2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26502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8282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39997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(½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4698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Horizontal stretch by 2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48600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4349648" y="38282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39997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− 4</a:t>
            </a:r>
            <a:endParaRPr lang="en-US" sz="2100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4698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Down 4</a:t>
            </a:r>
            <a:endParaRPr lang="en-US" sz="1575" dirty="0"/>
          </a:p>
        </p:txBody>
      </p:sp>
      <p:sp>
        <p:nvSpPr>
          <p:cNvPr id="22" name="Shape 22"/>
          <p:cNvSpPr txBox="1"/>
          <p:nvPr/>
        </p:nvSpPr>
        <p:spPr>
          <a:xfrm>
            <a:off x="4559198" y="48600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endParaRPr lang="en-US" sz="2325" dirty="0"/>
          </a:p>
        </p:txBody>
      </p:sp>
      <p:sp>
        <p:nvSpPr>
          <p:cNvPr id="27" name="Shape 27"/>
          <p:cNvSpPr txBox="1"/>
          <p:nvPr/>
        </p:nvSpPr>
        <p:spPr>
          <a:xfrm>
            <a:off x="8013497" y="38282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39997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+ 5)</a:t>
            </a:r>
            <a:endParaRPr lang="en-US" sz="2100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4698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Left 5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8223047" y="48600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Talk the Talk · Show Me What You've Got · SE p. 301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Match each graph to an equation in terms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331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+ 8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1331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1331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3083814"/>
            <a:ext cx="3492398" cy="1331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895350" y="3255264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14" name="Shape 14"/>
          <p:cNvSpPr txBox="1"/>
          <p:nvPr/>
        </p:nvSpPr>
        <p:spPr>
          <a:xfrm>
            <a:off x="895350" y="3725418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− 7)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2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19667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dilation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764536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 &gt; 1 compresses. 0 &lt; |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 &lt; 1 stretches.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349648" y="1618488"/>
            <a:ext cx="3492398" cy="19667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Matching dilations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For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vertical by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horizontal by 1/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013497" y="1618488"/>
            <a:ext cx="3492398" cy="19667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Simplify first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2260092"/>
            <a:ext cx="3073298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+ 4) = 2(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+ 4) − 1</a:t>
            </a:r>
            <a:endParaRPr lang="en-US" sz="2325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3118866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Distribute, then combine.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375666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Answered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What do horizontal transformations do?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In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)) +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change the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inputs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(horizontal); </a:t>
            </a:r>
            <a:r>
              <a:rPr lang="en-US" sz="195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change the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outputs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(vertical).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1536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right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down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and a vertical dilation by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a horizontal dilation by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1/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35508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For other linear functions these pairs are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the same.</a:t>
            </a:r>
            <a:endParaRPr lang="en-US" sz="1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+ 6)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Describe the transformation.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Left 6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7520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Simplify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− 2)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747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which vertical dilation gives the same graph as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(5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341114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Prepare · SE p. 304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Determine the reciprocal of each value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1. 3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2293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1/3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37104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3. 1/5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55720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5. 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360164"/>
            <a:ext cx="257636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−1/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2. −10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212293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−1/10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286348" y="2737104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4. −5/4</a:t>
            </a:r>
            <a:endParaRPr lang="en-US" sz="2325" dirty="0"/>
          </a:p>
        </p:txBody>
      </p:sp>
      <p:sp>
        <p:nvSpPr>
          <p:cNvPr id="13" name="Shape 13"/>
          <p:cNvSpPr txBox="1"/>
          <p:nvPr/>
        </p:nvSpPr>
        <p:spPr>
          <a:xfrm>
            <a:off x="6286348" y="3241548"/>
            <a:ext cx="257636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−4/5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6286348" y="3855720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6.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6286348" y="4360164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Practice Online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Work, Homework and Quiz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08988"/>
            <a:ext cx="3378098" cy="1978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450592"/>
            <a:ext cx="29589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40736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 questions each, the same as the bell work slides. Scored when students submit.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406798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616348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616348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practice questions. Each answer is checked right away, with an explanation.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8127797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337347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337347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scored when students submit. Correct answers are shown after submitting.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401574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All are multiple choice. The homework follows the Lesson 2 Assignment (SE pp. 303–304).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Vertical and Horizontal Transformations of Linear Function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25</Slides>
  <Notes>25</Notes>
</Properties>
</file>

<file path=docProps/core.xml><?xml version="1.0" encoding="utf-8"?>
<cp:coreProperties xmlns:cp="http://schemas.openxmlformats.org/package/2006/metadata/core-properties" xmlns:dc="http://purl.org/dc/elements/1.1/">
  <dc:title>Vertical and Horizontal Transformations of Linear Functions</dc:title>
  <dc:subject>Bluebonnet Algebra I</dc:subject>
</cp:coreProperties>
</file>