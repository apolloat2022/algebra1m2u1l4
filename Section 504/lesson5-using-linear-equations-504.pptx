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students graph lines straight from their equations, without making a table first. Same color code as Lesson 4: orange always means slope, blue always means a point. The lesson runs three days, and each day opens with bell work while you take attendance (slide 2 for Day 1, slide 14 for Day 2, slide 26 for Day 3). Day 1 covers Getting Started and Activity 5.1. Day 2 covers Activities 5.2 and 5.3. Day 3 covers Activity 5.4 and Talk the Talk. Materials: straightedges.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reading the slope and y-intercept from slope-intercept form, reading the slope and point from point-slope form (Lesson 4), solving for y (the Lesson 4 Prepare page), and counting rise over run on a grid. Reveal the answers one at a time. Watch #2: y − 4 = −2(x + 1) means the point is (−1, 4), because the sign inside the parentheses flips. Answer key: 1. y = ½x − 3: m = ½, y-intercept (0, −3). 2. y − 4 = −2(x + 1): m = −2, point (−1, 4). 3. 4x + 2y = 10: 2y = −4x + 10, so y = −2x + 5. 4. From (0, 1), up 3 and right 2 lands on (2, 4).</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two forms do you already know? (slope-intercept and point-slope). Standard form is the new one. Have students write the two new key terms in their notes.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how they would graph y = 2x + 1 right now. Most will say "make a table". That's the method this lesson replaces.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5.1, 25–30 minutes in total. Ask a student to read the introduction aloud. Ask: Why is the slope negative? (Tickets go down as more people ask.) Why −2? (A pair per person.) The sign of the number tells you which way to go. Both ratios equal −2; using both lets you plot points on each side of the starting point. Optional, from the teacher guide: before the Worked Example, let students try graphing the context on their own, then connect their graph to the Worked Example.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teacher guide flags this one: students count grid spaces instead of units. On this grid one square up is 10 units, so a rise of 10 is one square. Each click plots one point; the fourth draws the line. Ask: Why does it help to write the number 10 as a fraction, 10/1?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to label the axes with the quantities: Number of Lawns Mowed and Total Savings (dollars). The teacher guide's equation is y = 30 + 15x, which is the same thing. Ask: Why is this graph increasing? Use the graph to show how total savings goes up by 15 for every lawn. Discuss the Ask Yourself: a closed circle at (0, 30) because 0 lawns is possible; an arrow to the right because he can keep mowing. Strictly, only whole numbers of lawns make sense; accept either a ray or points, as long as the reasoning is sound. Each click plots one point, then the line.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a slope of −20 because the depth numbers are negative. Ask: Is the diver going up or down? So is the depth increasing or decreasing? The teacher guide writes it as y = −130 + 20x. The graph lives below the x-axis because depth below sea level is negative. Each click plots one point, then the line. Questions 1–3 are a good check of today's content; for more practice graphing from slope-intercept form, assign Skills Practice Set A.</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do you graph a line from slope-intercept form?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#1 and #2 review Day 1. #3 reviews reading point-slope form, which Activity 5.2 uses to graph. #4 previews the x-intercept from Activity 5.3: on the x-axis, y is 0. Answer key: 1. y = −⅓x + 4: y-intercept (0, 4); down 1, right 3 gives (3, 3); up 1, left 3 gives (−3, 5). 2. y = 5x + 25 (x = weeks, y = dollars saved). 3. y + 2 = 4(x − 1): m = 4, point (1, −2). 4. Set y = 0: 0 = 2x − 6, so x = 3; the point is (3, 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different scales on the x-axis (some students may use minutes); our grid counts seconds by 20. Ask: How did you rewrite the rate to use it as the slope? (Lowered means negative: −0.3, which is −3/10 or −6/20.) Each click plots one point, then the line. Extension: in slope-intercept form, y = −0.3x + 1.2, so the ROV started 1.2 m above the water (on the boat) and reached the surface after 4 seconds. Note: the teacher guide's sample answer says x is in minutes, but the problem gives the rate per second, so use seconds.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6 and 7, then share. Each click fills one blank, row by row. Common misconception: students think the coefficient of x is always the slope. In 5x + 2y = 6 the slope is −5/2, not 5. Clear this up while sharing Question 6. For row 2, start from the slope −3/4 = −A/B to get A = 3, B = 4, then C = 3 · 7/3 = 7. For row 3, the slope 2/3 gives A = 2, B = −3, and the y-intercept −3 gives C = −3 · −3 = 9. Note: the y-intercept of 3x + 4y = 7 is (0, 7/4); the teacher guide prints 4/3, which is a typo. Challenge: derive the Question 7 patterns by substituting 0 for y, then 0 for x.</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student book the axes have no numbers, so students must reason from structure. Ask: What strategies can you use? Because all three lines share a y-intercept, the slope decides: the greatest slope is the steepest line. Show the steps with −A/B for each: a. −3/−12 = 1/4; b. −6/−2 = 3; c. −9/−9 = 1. Question 8 is a good check of standard form; for more practice, assign Skills Practice Set C.</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Analyze the Worked Example together as a class. The last step subtracts 2x from both sides so x and y are on the same side. Ask: Why do we need the slope first? Which form would you prefer when you are given two points? 2x − y = −5 is also correct; it's the same equation multiplied by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 11, then share. Part c is where students leave a fraction in the equation, such as −½x + y = 4; send them back to the definition. Equivalent answers are fine (for a, 3x − y = 4). Stamp the learning, from the teacher guide: "The standard form of a linear equation is Ax + By = C, where A, B, and C are integers and A and B are not both zero. An equation in standard form can be graphed by calculating and graphing the intercepts." To close Day 2, have students reread the Essential Question and read the activity summaries to the class. End of Day 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How do you graph from point-slope form? From standard form?</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slope is −A/B = −3/(−4) = 3/4; students who forget the sign of B get −3/4. Answer key: 1. y = 0 gives 2x = 20, x = 10; x = 0 gives 5y = 20, y = 4. Intercepts (10, 0) and (0, 4). 2. m = −A/B = −3/(−4) = 3/4. 3. Multiply by 3: 3y = 2x − 3, so −2x + 3y = −3, or 2x − 3y = 3. 4. m = (0 − 6)/(3 − 0) = −2, so y = −2x + 6, and 2x + y = 6.</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about #8: Why doesn't this line have a y-intercept? (It's vertical and never crosses the y-axis; HOY VUX from Lesson 4.) For #10, the terms are in a different order: −½ is still the coefficient of x. For #7, −A/B = −4/(−12) = 1/3. Stamp the learning, from the teacher guide: the slope can be read directly in slope-intercept or point-slope form, calculated with −A/B in standard form, and the y-intercept can be found by substituting x = 0 in any form. Activity 5.4 is a good check; for more practice, assign Skills Practice Set D.</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Does y = 5x + 20 or y = 5x − 20 represent this? Is it in slope-intercept or point-slope form? The trap is a slope of 10: the $10 is every two weeks, so the rate is $5 per week. Writing the slope as 10/2 makes the graph easy: up 10, right 2. Also accept point-slope form, such as y − 30 = 5(x − 2).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read and answer the Essential Question on the lesson opener page. Stamp the learning, from the teacher guide: "Different forms of equations, such as standard form, slope-intercept form, and point-slope form can be used to represent linear relationships."</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A–D. For #1, up 3 and left 4 to (−4, 5) is also right. For #3, y − 1 = 2x + 6, so y = 2x + 7.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5 Assignment. Prepares students for Lesson 6. Assign it as homework or use it as a warm-up. Work: 1. (12 − 10)/(3 − 0) = 2/3. 2. (−4.5 − 4.5)/(1 − (−1)) = −9/2. 3. (12 − 0)/(0 − 21) = 12/−21 = −4/7. The Lesson 5 Assignment (SE pp. 235–237) is the practice for this lesson.</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5-bellwork-day1-504.html" TargetMode="External"/><Relationship Id="rId4" Type="http://schemas.openxmlformats.org/officeDocument/2006/relationships/hyperlink" Target="https://algebra1m2u1l4.vercel.app/Section 504/lesson5-bellwork-day2-504.html" TargetMode="External"/><Relationship Id="rId5" Type="http://schemas.openxmlformats.org/officeDocument/2006/relationships/hyperlink" Target="https://algebra1m2u1l4.vercel.app/Section 504/lesson5-bellwork-day3-504.html" TargetMode="External"/><Relationship Id="rId6" Type="http://schemas.openxmlformats.org/officeDocument/2006/relationships/hyperlink" Target="https://algebra1m2u1l4.vercel.app/Section 504/lesson5-homework-504.html" TargetMode="External"/><Relationship Id="rId7" Type="http://schemas.openxmlformats.org/officeDocument/2006/relationships/hyperlink" Target="https://algebra1m2u1l4.vercel.app/Section 504/lesson5-quiz-504.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hyperlink" Target="https://algebra1m2u1l4.vercel.app/Section 504/lesson5-bellwork-day1-504.html" TargetMode="External"/><Relationship Id="rId4" Type="http://schemas.openxmlformats.org/officeDocument/2006/relationships/hyperlink" Target="https://algebra1m2u1l4.vercel.app/Section 504/lesson5-bellwork-day2-504.html" TargetMode="External"/><Relationship Id="rId5" Type="http://schemas.openxmlformats.org/officeDocument/2006/relationships/hyperlink" Target="https://algebra1m2u1l4.vercel.app/Section 504/lesson5-bellwork-day3-504.html" TargetMode="External"/><Relationship Id="rId6" Type="http://schemas.openxmlformats.org/officeDocument/2006/relationships/hyperlink" Target="https://algebra1m2u1l4.vercel.app/Section 504/lesson5-homework-504.html" TargetMode="External"/><Relationship Id="rId7" Type="http://schemas.openxmlformats.org/officeDocument/2006/relationships/hyperlink" Target="https://algebra1m2u1l4.vercel.app/Section 504/lesson5-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5 · Student Edition pp. 217–237</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Using Linear</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Equations</a:t>
            </a:r>
            <a:endParaRPr lang="en-US" sz="5700" dirty="0"/>
          </a:p>
        </p:txBody>
      </p:sp>
      <p:sp>
        <p:nvSpPr>
          <p:cNvPr id="4" name="Shape 4"/>
          <p:cNvSpPr txBox="1"/>
          <p:nvPr/>
        </p:nvSpPr>
        <p:spPr>
          <a:xfrm>
            <a:off x="685800" y="30015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y</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x</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Ax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By</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C</a:t>
            </a:r>
            <a:endParaRPr lang="en-US" sz="3000" dirty="0"/>
          </a:p>
        </p:txBody>
      </p:sp>
      <p:sp>
        <p:nvSpPr>
          <p:cNvPr id="5" name="Shape 5"/>
          <p:cNvSpPr txBox="1"/>
          <p:nvPr/>
        </p:nvSpPr>
        <p:spPr>
          <a:xfrm>
            <a:off x="685800" y="37421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r>
              <a:rPr lang="en-US" sz="1800" dirty="0">
                <a:solidFill>
                  <a:srgbClr val="16171D"/>
                </a:solidFill>
                <a:latin typeface="Segoe UI"/>
                <a:cs typeface="Segoe UI"/>
              </a:rPr>
              <a:t xml:space="preserve"> · </a:t>
            </a: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42999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8006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(0, −3)</a:t>
            </a:r>
            <a:endParaRPr lang="en-US" sz="2325" dirty="0"/>
          </a:p>
        </p:txBody>
      </p:sp>
      <p:sp>
        <p:nvSpPr>
          <p:cNvPr id="6" name="Shape 6"/>
          <p:cNvSpPr txBox="1"/>
          <p:nvPr/>
        </p:nvSpPr>
        <p:spPr>
          <a:xfrm>
            <a:off x="685800"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(−1, 4)</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for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10</a:t>
            </a:r>
            <a:endParaRPr lang="en-US" sz="1950" dirty="0"/>
          </a:p>
        </p:txBody>
      </p:sp>
      <p:sp>
        <p:nvSpPr>
          <p:cNvPr id="9" name="Shape 9"/>
          <p:cNvSpPr txBox="1"/>
          <p:nvPr/>
        </p:nvSpPr>
        <p:spPr>
          <a:xfrm>
            <a:off x="6362548" y="21610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Start at (0, 1). Go </a:t>
            </a:r>
            <a:r>
              <a:rPr lang="en-US" sz="1950" dirty="0" b="1">
                <a:solidFill>
                  <a:srgbClr val="16171D"/>
                </a:solidFill>
                <a:latin typeface="Segoe UI"/>
                <a:cs typeface="Segoe UI"/>
              </a:rPr>
              <a:t xml:space="preserve">up 3</a:t>
            </a:r>
            <a:r>
              <a:rPr lang="en-US" sz="1950" dirty="0">
                <a:solidFill>
                  <a:srgbClr val="16171D"/>
                </a:solidFill>
                <a:latin typeface="Segoe UI"/>
                <a:cs typeface="Segoe UI"/>
              </a:rPr>
              <a:t xml:space="preserve"> and </a:t>
            </a:r>
            <a:r>
              <a:rPr lang="en-US" sz="1950" dirty="0" b="1">
                <a:solidFill>
                  <a:srgbClr val="16171D"/>
                </a:solidFill>
                <a:latin typeface="Segoe UI"/>
                <a:cs typeface="Segoe UI"/>
              </a:rPr>
              <a:t xml:space="preserve">right 2</a:t>
            </a:r>
            <a:r>
              <a:rPr lang="en-US" sz="1950" dirty="0">
                <a:solidFill>
                  <a:srgbClr val="16171D"/>
                </a:solidFill>
                <a:latin typeface="Segoe UI"/>
                <a:cs typeface="Segoe UI"/>
              </a:rPr>
              <a:t xml:space="preserve">. Where do you land?</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Jump In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5.1: graph from slope-intercept form</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SE p. 217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9468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1. </a:t>
            </a:r>
            <a:r>
              <a:rPr lang="en-US" sz="2025" dirty="0" b="1">
                <a:solidFill>
                  <a:srgbClr val="16171D"/>
                </a:solidFill>
                <a:latin typeface="Segoe UI"/>
                <a:cs typeface="Segoe UI"/>
              </a:rPr>
              <a:t xml:space="preserve">Construct</a:t>
            </a:r>
            <a:r>
              <a:rPr lang="en-US" sz="2025" dirty="0">
                <a:solidFill>
                  <a:srgbClr val="16171D"/>
                </a:solidFill>
                <a:latin typeface="Segoe UI"/>
                <a:cs typeface="Segoe UI"/>
              </a:rPr>
              <a:t xml:space="preserve"> linear equations to model relationships between two quantities.</a:t>
            </a:r>
            <a:endParaRPr lang="en-US" sz="2025" dirty="0"/>
          </a:p>
        </p:txBody>
      </p:sp>
      <p:sp>
        <p:nvSpPr>
          <p:cNvPr id="5" name="Shape 5"/>
          <p:cNvSpPr txBox="1"/>
          <p:nvPr/>
        </p:nvSpPr>
        <p:spPr>
          <a:xfrm>
            <a:off x="685800" y="2210562"/>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2. Graph lines using </a:t>
            </a:r>
            <a:r>
              <a:rPr lang="en-US" sz="2025" dirty="0" b="1">
                <a:solidFill>
                  <a:srgbClr val="16171D"/>
                </a:solidFill>
                <a:latin typeface="Segoe UI"/>
                <a:cs typeface="Segoe UI"/>
              </a:rPr>
              <a:t xml:space="preserve">slope-intercept form</a:t>
            </a:r>
            <a:r>
              <a:rPr lang="en-US" sz="2025" dirty="0">
                <a:solidFill>
                  <a:srgbClr val="16171D"/>
                </a:solidFill>
                <a:latin typeface="Segoe UI"/>
                <a:cs typeface="Segoe UI"/>
              </a:rPr>
              <a:t xml:space="preserve">.</a:t>
            </a:r>
            <a:endParaRPr lang="en-US" sz="2025" dirty="0"/>
          </a:p>
        </p:txBody>
      </p:sp>
      <p:sp>
        <p:nvSpPr>
          <p:cNvPr id="6" name="Shape 6"/>
          <p:cNvSpPr txBox="1"/>
          <p:nvPr/>
        </p:nvSpPr>
        <p:spPr>
          <a:xfrm>
            <a:off x="685800" y="2726436"/>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3. Graph lines using </a:t>
            </a:r>
            <a:r>
              <a:rPr lang="en-US" sz="2025" dirty="0" b="1">
                <a:solidFill>
                  <a:srgbClr val="16171D"/>
                </a:solidFill>
                <a:latin typeface="Segoe UI"/>
                <a:cs typeface="Segoe UI"/>
              </a:rPr>
              <a:t xml:space="preserve">point-slope form</a:t>
            </a:r>
            <a:r>
              <a:rPr lang="en-US" sz="2025" dirty="0">
                <a:solidFill>
                  <a:srgbClr val="16171D"/>
                </a:solidFill>
                <a:latin typeface="Segoe UI"/>
                <a:cs typeface="Segoe UI"/>
              </a:rPr>
              <a:t xml:space="preserve">.</a:t>
            </a:r>
            <a:endParaRPr lang="en-US" sz="2025" dirty="0"/>
          </a:p>
        </p:txBody>
      </p:sp>
      <p:sp>
        <p:nvSpPr>
          <p:cNvPr id="7" name="Shape 7"/>
          <p:cNvSpPr txBox="1"/>
          <p:nvPr/>
        </p:nvSpPr>
        <p:spPr>
          <a:xfrm>
            <a:off x="685800" y="3242310"/>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4. Graph lines using </a:t>
            </a:r>
            <a:r>
              <a:rPr lang="en-US" sz="2025" dirty="0" b="1">
                <a:solidFill>
                  <a:srgbClr val="16171D"/>
                </a:solidFill>
                <a:latin typeface="Segoe UI"/>
                <a:cs typeface="Segoe UI"/>
              </a:rPr>
              <a:t xml:space="preserve">standard form</a:t>
            </a:r>
            <a:r>
              <a:rPr lang="en-US" sz="2025" dirty="0">
                <a:solidFill>
                  <a:srgbClr val="16171D"/>
                </a:solidFill>
                <a:latin typeface="Segoe UI"/>
                <a:cs typeface="Segoe UI"/>
              </a:rPr>
              <a:t xml:space="preserve">.</a:t>
            </a:r>
            <a:endParaRPr lang="en-US" sz="2025" dirty="0"/>
          </a:p>
        </p:txBody>
      </p:sp>
      <p:sp>
        <p:nvSpPr>
          <p:cNvPr id="8" name="Shape 8"/>
          <p:cNvSpPr txBox="1"/>
          <p:nvPr/>
        </p:nvSpPr>
        <p:spPr>
          <a:xfrm>
            <a:off x="685800" y="3758184"/>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5. </a:t>
            </a:r>
            <a:r>
              <a:rPr lang="en-US" sz="2025" dirty="0" b="1">
                <a:solidFill>
                  <a:srgbClr val="16171D"/>
                </a:solidFill>
                <a:latin typeface="Segoe UI"/>
                <a:cs typeface="Segoe UI"/>
              </a:rPr>
              <a:t xml:space="preserve">Convert</a:t>
            </a:r>
            <a:r>
              <a:rPr lang="en-US" sz="2025" dirty="0">
                <a:solidFill>
                  <a:srgbClr val="16171D"/>
                </a:solidFill>
                <a:latin typeface="Segoe UI"/>
                <a:cs typeface="Segoe UI"/>
              </a:rPr>
              <a:t xml:space="preserve"> equations from point-slope or standard form to slope-intercept form.</a:t>
            </a:r>
            <a:endParaRPr lang="en-US" sz="2025" dirty="0"/>
          </a:p>
        </p:txBody>
      </p:sp>
      <p:sp>
        <p:nvSpPr>
          <p:cNvPr id="9" name="Shape 9"/>
          <p:cNvSpPr txBox="1"/>
          <p:nvPr/>
        </p:nvSpPr>
        <p:spPr>
          <a:xfrm>
            <a:off x="685800" y="427405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6. Discuss the </a:t>
            </a:r>
            <a:r>
              <a:rPr lang="en-US" sz="2025" dirty="0" b="1">
                <a:solidFill>
                  <a:srgbClr val="16171D"/>
                </a:solidFill>
                <a:latin typeface="Segoe UI"/>
                <a:cs typeface="Segoe UI"/>
              </a:rPr>
              <a:t xml:space="preserve">advantages and disadvantages</a:t>
            </a:r>
            <a:r>
              <a:rPr lang="en-US" sz="2025" dirty="0">
                <a:solidFill>
                  <a:srgbClr val="16171D"/>
                </a:solidFill>
                <a:latin typeface="Segoe UI"/>
                <a:cs typeface="Segoe UI"/>
              </a:rPr>
              <a:t xml:space="preserve"> of each form.</a:t>
            </a:r>
            <a:endParaRPr lang="en-US" sz="2025" dirty="0"/>
          </a:p>
        </p:txBody>
      </p:sp>
      <p:sp>
        <p:nvSpPr>
          <p:cNvPr id="10" name="Shape 10"/>
          <p:cNvSpPr txBox="1"/>
          <p:nvPr/>
        </p:nvSpPr>
        <p:spPr>
          <a:xfrm>
            <a:off x="685800" y="480898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standard form</a:t>
            </a:r>
            <a:r>
              <a:rPr lang="en-US" sz="1575" dirty="0">
                <a:solidFill>
                  <a:srgbClr val="5F6272"/>
                </a:solidFill>
                <a:latin typeface="Segoe UI"/>
                <a:cs typeface="Segoe UI"/>
              </a:rPr>
              <a:t xml:space="preserve"> · </a:t>
            </a:r>
            <a:r>
              <a:rPr lang="en-US" sz="1575" dirty="0" b="1" i="1">
                <a:solidFill>
                  <a:srgbClr val="5F6272"/>
                </a:solidFill>
                <a:latin typeface="Segoe UI"/>
                <a:cs typeface="Segoe UI"/>
              </a:rPr>
              <a:t xml:space="preserve">x</a:t>
            </a:r>
            <a:r>
              <a:rPr lang="en-US" sz="1575" dirty="0" b="1">
                <a:solidFill>
                  <a:srgbClr val="5F6272"/>
                </a:solidFill>
                <a:latin typeface="Segoe UI"/>
                <a:cs typeface="Segoe UI"/>
              </a:rPr>
              <a:t xml:space="preserve">-intercept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anim calcmode="lin" valueType="num">
                                      <p:cBhvr>
                                        <p:cTn id="47" dur="500" fill="hold"/>
                                        <p:tgtEl>
                                          <p:spTgt spid="10"/>
                                        </p:tgtEl>
                                        <p:attrNameLst>
                                          <p:attrName>ppt_x</p:attrName>
                                        </p:attrNameLst>
                                      </p:cBhvr>
                                      <p:tavLst>
                                        <p:tav tm="0">
                                          <p:val>
                                            <p:strVal val="#ppt_x"/>
                                          </p:val>
                                        </p:tav>
                                        <p:tav tm="100000">
                                          <p:val>
                                            <p:strVal val="#ppt_x"/>
                                          </p:val>
                                        </p:tav>
                                      </p:tavLst>
                                    </p:anim>
                                    <p:anim calcmode="lin" valueType="num">
                                      <p:cBhvr>
                                        <p:cTn id="4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as rise over run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 up (+) or down (−). Run = right (+) or left (−).</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endParaRPr lang="en-US" sz="2325" dirty="0"/>
          </a:p>
        </p:txBody>
      </p:sp>
      <p:sp>
        <p:nvSpPr>
          <p:cNvPr id="11" name="Shape 11"/>
          <p:cNvSpPr txBox="1"/>
          <p:nvPr/>
        </p:nvSpPr>
        <p:spPr>
          <a:xfrm>
            <a:off x="4349648"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Plot it first.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 → (0, 10)</a:t>
            </a:r>
            <a:endParaRPr lang="en-US" sz="2325" dirty="0"/>
          </a:p>
        </p:txBody>
      </p:sp>
      <p:sp>
        <p:nvSpPr>
          <p:cNvPr id="15" name="Shape 15"/>
          <p:cNvSpPr txBox="1"/>
          <p:nvPr/>
        </p:nvSpPr>
        <p:spPr>
          <a:xfrm>
            <a:off x="8013497"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 Find it by putting 0 in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313029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1600 → (320, 0)</a:t>
            </a:r>
            <a:endParaRPr lang="en-US" sz="2325" dirty="0"/>
          </a:p>
        </p:txBody>
      </p:sp>
      <p:sp>
        <p:nvSpPr>
          <p:cNvPr id="19" name="Shape 19"/>
          <p:cNvSpPr txBox="1"/>
          <p:nvPr/>
        </p:nvSpPr>
        <p:spPr>
          <a:xfrm>
            <a:off x="685800"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where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a:t>
            </a:r>
            <a:endParaRPr lang="en-US" sz="1575" dirty="0"/>
          </a:p>
        </p:txBody>
      </p:sp>
      <p:sp>
        <p:nvSpPr>
          <p:cNvPr id="18" name="Shape 18"/>
          <p:cNvSpPr txBox="1"/>
          <p:nvPr/>
        </p:nvSpPr>
        <p:spPr>
          <a:xfrm>
            <a:off x="895350"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1600</a:t>
            </a:r>
            <a:endParaRPr lang="en-US" sz="2325" dirty="0"/>
          </a:p>
        </p:txBody>
      </p:sp>
      <p:sp>
        <p:nvSpPr>
          <p:cNvPr id="23" name="Shape 23"/>
          <p:cNvSpPr txBox="1"/>
          <p:nvPr/>
        </p:nvSpPr>
        <p:spPr>
          <a:xfrm>
            <a:off x="4349648"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1" name="Shape 21"/>
          <p:cNvSpPr txBox="1"/>
          <p:nvPr/>
        </p:nvSpPr>
        <p:spPr>
          <a:xfrm>
            <a:off x="4559198"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Uses the slope and a point on the line.</a:t>
            </a:r>
            <a:endParaRPr lang="en-US" sz="1575" dirty="0"/>
          </a:p>
        </p:txBody>
      </p:sp>
      <p:sp>
        <p:nvSpPr>
          <p:cNvPr id="22" name="Shape 22"/>
          <p:cNvSpPr txBox="1"/>
          <p:nvPr/>
        </p:nvSpPr>
        <p:spPr>
          <a:xfrm>
            <a:off x="4559198"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7" name="Shape 27"/>
          <p:cNvSpPr txBox="1"/>
          <p:nvPr/>
        </p:nvSpPr>
        <p:spPr>
          <a:xfrm>
            <a:off x="8013497"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5" name="Shape 25"/>
          <p:cNvSpPr txBox="1"/>
          <p:nvPr/>
        </p:nvSpPr>
        <p:spPr>
          <a:xfrm>
            <a:off x="8223047"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Uses the slope and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6" name="Shape 26"/>
          <p:cNvSpPr txBox="1"/>
          <p:nvPr/>
        </p:nvSpPr>
        <p:spPr>
          <a:xfrm>
            <a:off x="8223047"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217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graphed equations using tables of values.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Is there a </a:t>
            </a:r>
            <a:r>
              <a:rPr lang="en-US" sz="2700" dirty="0" b="1">
                <a:solidFill>
                  <a:srgbClr val="16171D"/>
                </a:solidFill>
                <a:latin typeface="Segoe UI"/>
                <a:cs typeface="Segoe UI"/>
              </a:rPr>
              <a:t xml:space="preserve">more efficient</a:t>
            </a:r>
            <a:r>
              <a:rPr lang="en-US" sz="2700" dirty="0">
                <a:solidFill>
                  <a:srgbClr val="16171D"/>
                </a:solidFill>
                <a:latin typeface="Segoe UI"/>
                <a:cs typeface="Segoe UI"/>
              </a:rPr>
              <a:t xml:space="preserve"> method to graphing a linear relationship?</a:t>
            </a:r>
            <a:endParaRPr lang="en-US" sz="2700" dirty="0"/>
          </a:p>
        </p:txBody>
      </p:sp>
      <p:sp>
        <p:nvSpPr>
          <p:cNvPr id="5" name="Shape 5"/>
          <p:cNvSpPr txBox="1"/>
          <p:nvPr/>
        </p:nvSpPr>
        <p:spPr>
          <a:xfrm>
            <a:off x="685800" y="3688842"/>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Can you use the </a:t>
            </a:r>
            <a:r>
              <a:rPr lang="en-US" sz="2700" dirty="0" b="1">
                <a:solidFill>
                  <a:srgbClr val="16171D"/>
                </a:solidFill>
                <a:latin typeface="Segoe UI"/>
                <a:cs typeface="Segoe UI"/>
              </a:rPr>
              <a:t xml:space="preserve">equation</a:t>
            </a:r>
            <a:r>
              <a:rPr lang="en-US" sz="2700" dirty="0">
                <a:solidFill>
                  <a:srgbClr val="16171D"/>
                </a:solidFill>
                <a:latin typeface="Segoe UI"/>
                <a:cs typeface="Segoe UI"/>
              </a:rPr>
              <a:t xml:space="preserve"> of a linear relationship to create a graphical representation?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Using Slope-Intercept Form to Graph a Line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Douglas's concert tickets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Douglas has </a:t>
            </a:r>
            <a:r>
              <a:rPr lang="en-US" sz="1575" dirty="0" b="1">
                <a:solidFill>
                  <a:srgbClr val="16171D"/>
                </a:solidFill>
                <a:latin typeface="Segoe UI"/>
                <a:cs typeface="Segoe UI"/>
              </a:rPr>
              <a:t xml:space="preserve">10 tickets</a:t>
            </a:r>
            <a:r>
              <a:rPr lang="en-US" sz="1575" dirty="0">
                <a:solidFill>
                  <a:srgbClr val="16171D"/>
                </a:solidFill>
                <a:latin typeface="Segoe UI"/>
                <a:cs typeface="Segoe UI"/>
              </a:rPr>
              <a:t xml:space="preserve"> left. He gives a </a:t>
            </a:r>
            <a:r>
              <a:rPr lang="en-US" sz="1575" dirty="0" b="1">
                <a:solidFill>
                  <a:srgbClr val="16171D"/>
                </a:solidFill>
                <a:latin typeface="Segoe UI"/>
                <a:cs typeface="Segoe UI"/>
              </a:rPr>
              <a:t xml:space="preserve">pair</a:t>
            </a:r>
            <a:r>
              <a:rPr lang="en-US" sz="1575" dirty="0">
                <a:solidFill>
                  <a:srgbClr val="16171D"/>
                </a:solidFill>
                <a:latin typeface="Segoe UI"/>
                <a:cs typeface="Segoe UI"/>
              </a:rPr>
              <a:t xml:space="preserve"> of tickets to each person who asks.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people who ask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tickets left.</a:t>
            </a:r>
            <a:endParaRPr lang="en-US" sz="1575" dirty="0"/>
          </a:p>
        </p:txBody>
      </p:sp>
      <p:sp>
        <p:nvSpPr>
          <p:cNvPr id="5" name="Shape 5"/>
          <p:cNvSpPr txBox="1"/>
          <p:nvPr/>
        </p:nvSpPr>
        <p:spPr>
          <a:xfrm>
            <a:off x="685800" y="23248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endParaRPr lang="en-US" sz="2850" dirty="0"/>
          </a:p>
        </p:txBody>
      </p:sp>
      <p:sp>
        <p:nvSpPr>
          <p:cNvPr id="6" name="Shape 6"/>
          <p:cNvSpPr txBox="1"/>
          <p:nvPr/>
        </p:nvSpPr>
        <p:spPr>
          <a:xfrm>
            <a:off x="685800" y="29855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Segoe UI"/>
                <a:cs typeface="Segoe UI"/>
              </a:rPr>
              <a:t xml:space="preserve">(0, 10)</a:t>
            </a:r>
            <a:r>
              <a:rPr lang="en-US" sz="1950" dirty="0">
                <a:solidFill>
                  <a:srgbClr val="16171D"/>
                </a:solidFill>
                <a:latin typeface="Segoe UI"/>
                <a:cs typeface="Segoe UI"/>
              </a:rPr>
              <a:t xml:space="preserve"> first. Then use the slope to count to more points.</a:t>
            </a:r>
            <a:endParaRPr lang="en-US" sz="1950" dirty="0"/>
          </a:p>
        </p:txBody>
      </p:sp>
      <p:sp>
        <p:nvSpPr>
          <p:cNvPr id="7" name="Shape 7"/>
          <p:cNvSpPr txBox="1"/>
          <p:nvPr/>
        </p:nvSpPr>
        <p:spPr>
          <a:xfrm>
            <a:off x="685800" y="350901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is </a:t>
            </a:r>
            <a:r>
              <a:rPr lang="en-US" sz="1950" dirty="0" b="1">
                <a:solidFill>
                  <a:srgbClr val="16171D"/>
                </a:solidFill>
                <a:latin typeface="Segoe UI"/>
                <a:cs typeface="Segoe UI"/>
              </a:rPr>
              <a:t xml:space="preserve">rise over run</a:t>
            </a:r>
            <a:r>
              <a:rPr lang="en-US" sz="1950" dirty="0">
                <a:solidFill>
                  <a:srgbClr val="16171D"/>
                </a:solidFill>
                <a:latin typeface="Segoe UI"/>
                <a:cs typeface="Segoe UI"/>
              </a:rPr>
              <a:t xml:space="preserve">. You can write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−2</a:t>
            </a:r>
            <a:r>
              <a:rPr lang="en-US" sz="1950" dirty="0">
                <a:solidFill>
                  <a:srgbClr val="16171D"/>
                </a:solidFill>
                <a:latin typeface="Segoe UI"/>
                <a:cs typeface="Segoe UI"/>
              </a:rPr>
              <a:t xml:space="preserve"> as two different ratios:</a:t>
            </a:r>
            <a:endParaRPr lang="en-US" sz="1950" dirty="0"/>
          </a:p>
        </p:txBody>
      </p:sp>
      <p:sp>
        <p:nvSpPr>
          <p:cNvPr id="10" name="Shape 10"/>
          <p:cNvSpPr txBox="1"/>
          <p:nvPr/>
        </p:nvSpPr>
        <p:spPr>
          <a:xfrm>
            <a:off x="685800"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9" name="Shape 9"/>
          <p:cNvSpPr txBox="1"/>
          <p:nvPr/>
        </p:nvSpPr>
        <p:spPr>
          <a:xfrm>
            <a:off x="895350"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negative rise, positive run: </a:t>
            </a:r>
            <a:r>
              <a:rPr lang="en-US" sz="1575" dirty="0" b="1">
                <a:solidFill>
                  <a:srgbClr val="16171D"/>
                </a:solidFill>
                <a:latin typeface="Segoe UI"/>
                <a:cs typeface="Segoe UI"/>
              </a:rPr>
              <a:t xml:space="preserve">down 2, right 1</a:t>
            </a:r>
            <a:endParaRPr lang="en-US" sz="1575" dirty="0"/>
          </a:p>
        </p:txBody>
      </p:sp>
      <p:sp>
        <p:nvSpPr>
          <p:cNvPr id="13" name="Shape 13"/>
          <p:cNvSpPr txBox="1"/>
          <p:nvPr/>
        </p:nvSpPr>
        <p:spPr>
          <a:xfrm>
            <a:off x="6229198"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38748"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12" name="Shape 12"/>
          <p:cNvSpPr txBox="1"/>
          <p:nvPr/>
        </p:nvSpPr>
        <p:spPr>
          <a:xfrm>
            <a:off x="6438748"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rise, negative run: </a:t>
            </a:r>
            <a:r>
              <a:rPr lang="en-US" sz="1575" dirty="0" b="1">
                <a:solidFill>
                  <a:srgbClr val="16171D"/>
                </a:solidFill>
                <a:latin typeface="Segoe UI"/>
                <a:cs typeface="Segoe UI"/>
              </a:rPr>
              <a:t xml:space="preserve">up 2, left 1</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anim calcmode="lin" valueType="num">
                                      <p:cBhvr>
                                        <p:cTn id="24" dur="500" fill="hold"/>
                                        <p:tgtEl>
                                          <p:spTgt spid="10"/>
                                        </p:tgtEl>
                                        <p:attrNameLst>
                                          <p:attrName>ppt_x</p:attrName>
                                        </p:attrNameLst>
                                      </p:cBhvr>
                                      <p:tavLst>
                                        <p:tav tm="0">
                                          <p:val>
                                            <p:strVal val="#ppt_x"/>
                                          </p:val>
                                        </p:tav>
                                        <p:tav tm="100000">
                                          <p:val>
                                            <p:strVal val="#ppt_x"/>
                                          </p:val>
                                        </p:tav>
                                      </p:tavLst>
                                    </p:anim>
                                    <p:anim calcmode="lin" valueType="num">
                                      <p:cBhvr>
                                        <p:cTn id="25"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fill="hold"/>
                                        <p:tgtEl>
                                          <p:spTgt spid="9"/>
                                        </p:tgtEl>
                                        <p:attrNameLst>
                                          <p:attrName>ppt_x</p:attrName>
                                        </p:attrNameLst>
                                      </p:cBhvr>
                                      <p:tavLst>
                                        <p:tav tm="0">
                                          <p:val>
                                            <p:strVal val="#ppt_x"/>
                                          </p:val>
                                        </p:tav>
                                        <p:tav tm="100000">
                                          <p:val>
                                            <p:strVal val="#ppt_x"/>
                                          </p:val>
                                        </p:tav>
                                      </p:tavLst>
                                    </p:anim>
                                    <p:anim calcmode="lin" valueType="num">
                                      <p:cBhvr>
                                        <p:cTn id="35"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anim calcmode="lin" valueType="num">
                                      <p:cBhvr>
                                        <p:cTn id="41" dur="500" fill="hold"/>
                                        <p:tgtEl>
                                          <p:spTgt spid="13"/>
                                        </p:tgtEl>
                                        <p:attrNameLst>
                                          <p:attrName>ppt_x</p:attrName>
                                        </p:attrNameLst>
                                      </p:cBhvr>
                                      <p:tavLst>
                                        <p:tav tm="0">
                                          <p:val>
                                            <p:strVal val="#ppt_x"/>
                                          </p:val>
                                        </p:tav>
                                        <p:tav tm="100000">
                                          <p:val>
                                            <p:strVal val="#ppt_x"/>
                                          </p:val>
                                        </p:tav>
                                      </p:tavLst>
                                    </p:anim>
                                    <p:anim calcmode="lin" valueType="num">
                                      <p:cBhvr>
                                        <p:cTn id="42"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3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Watch the scale: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10</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25</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-axis counts by </a:t>
            </a:r>
            <a:r>
              <a:rPr lang="en-US" sz="1950" dirty="0" b="1">
                <a:solidFill>
                  <a:srgbClr val="16171D"/>
                </a:solidFill>
                <a:latin typeface="Segoe UI"/>
                <a:cs typeface="Segoe UI"/>
              </a:rPr>
              <a:t xml:space="preserve">10</a:t>
            </a:r>
            <a:r>
              <a:rPr lang="en-US" sz="1950" dirty="0">
                <a:solidFill>
                  <a:srgbClr val="16171D"/>
                </a:solidFill>
                <a:latin typeface="Segoe UI"/>
                <a:cs typeface="Segoe UI"/>
              </a:rPr>
              <a:t xml:space="preserve">, not by 1.</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a:t>
            </a:r>
            <a:r>
              <a:rPr lang="en-US" sz="1950" dirty="0" b="1">
                <a:solidFill>
                  <a:srgbClr val="3050B8"/>
                </a:solidFill>
                <a:latin typeface="Cambria"/>
                <a:cs typeface="Cambria"/>
              </a:rPr>
              <a:t xml:space="preserve">(0, 25)</a:t>
            </a:r>
            <a:r>
              <a:rPr lang="en-US" sz="1950" dirty="0">
                <a:solidFill>
                  <a:srgbClr val="16171D"/>
                </a:solidFill>
                <a:latin typeface="Segoe UI"/>
                <a:cs typeface="Segoe UI"/>
              </a:rPr>
              <a:t xml:space="preserve">, halfway between 20 and 30.</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Write the slope as </a:t>
            </a:r>
            <a:r>
              <a:rPr lang="en-US" sz="1950" dirty="0" b="1">
                <a:solidFill>
                  <a:srgbClr val="C9561F"/>
                </a:solidFill>
                <a:latin typeface="Cambria"/>
                <a:cs typeface="Cambria"/>
              </a:rPr>
              <a:t xml:space="preserve">10</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up 10 units, right 1 unit.</a:t>
            </a:r>
            <a:endParaRPr lang="en-US" sz="1950" dirty="0"/>
          </a:p>
        </p:txBody>
      </p:sp>
      <p:sp>
        <p:nvSpPr>
          <p:cNvPr id="7" name="Shape 7"/>
          <p:cNvSpPr txBox="1"/>
          <p:nvPr/>
        </p:nvSpPr>
        <p:spPr>
          <a:xfrm>
            <a:off x="685800" y="3074670"/>
            <a:ext cx="67433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Count </a:t>
            </a:r>
            <a:r>
              <a:rPr lang="en-US" sz="1650" dirty="0" b="1">
                <a:solidFill>
                  <a:srgbClr val="16171D"/>
                </a:solidFill>
                <a:latin typeface="Segoe UI"/>
                <a:cs typeface="Segoe UI"/>
              </a:rPr>
              <a:t xml:space="preserve">units</a:t>
            </a:r>
            <a:r>
              <a:rPr lang="en-US" sz="1650" dirty="0">
                <a:solidFill>
                  <a:srgbClr val="16171D"/>
                </a:solidFill>
                <a:latin typeface="Segoe UI"/>
                <a:cs typeface="Segoe UI"/>
              </a:rPr>
              <a:t xml:space="preserve">, not grid squares. Up 10 is only one square here.</a:t>
            </a:r>
            <a:endParaRPr lang="en-US" sz="1650" dirty="0"/>
          </a:p>
        </p:txBody>
      </p:sp>
      <p:sp>
        <p:nvSpPr>
          <p:cNvPr id="8" name="Shape 8"/>
          <p:cNvSpPr txBox="1"/>
          <p:nvPr/>
        </p:nvSpPr>
        <p:spPr>
          <a:xfrm>
            <a:off x="685800" y="3605784"/>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Use a straightedge to draw your lines.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409080" y="1732788"/>
            <a:ext cx="0" cy="3829050"/>
          </a:xfrm>
          <a:prstGeom prst="line">
            <a:avLst/>
          </a:prstGeom>
          <a:ln w="9525" cap="flat">
            <a:solidFill>
              <a:srgbClr val="E6E8F2"/>
            </a:solidFill>
          </a:ln>
        </p:spPr>
      </p:cxnSp>
      <p:cxnSp>
        <p:nvCxnSpPr>
          <p:cNvPr id="12" name="Line 12"/>
          <p:cNvCxnSpPr/>
          <p:nvPr/>
        </p:nvCxnSpPr>
        <p:spPr>
          <a:xfrm>
            <a:off x="8607914" y="1732788"/>
            <a:ext cx="0" cy="3829050"/>
          </a:xfrm>
          <a:prstGeom prst="line">
            <a:avLst/>
          </a:prstGeom>
          <a:ln w="9525" cap="flat">
            <a:solidFill>
              <a:srgbClr val="E6E8F2"/>
            </a:solidFill>
          </a:ln>
        </p:spPr>
      </p:cxnSp>
      <p:cxnSp>
        <p:nvCxnSpPr>
          <p:cNvPr id="13" name="Line 13"/>
          <p:cNvCxnSpPr/>
          <p:nvPr/>
        </p:nvCxnSpPr>
        <p:spPr>
          <a:xfrm>
            <a:off x="8806748" y="1732788"/>
            <a:ext cx="0" cy="3829050"/>
          </a:xfrm>
          <a:prstGeom prst="line">
            <a:avLst/>
          </a:prstGeom>
          <a:ln w="9525" cap="flat">
            <a:solidFill>
              <a:srgbClr val="E6E8F2"/>
            </a:solidFill>
          </a:ln>
        </p:spPr>
      </p:cxnSp>
      <p:cxnSp>
        <p:nvCxnSpPr>
          <p:cNvPr id="14" name="Line 14"/>
          <p:cNvCxnSpPr/>
          <p:nvPr/>
        </p:nvCxnSpPr>
        <p:spPr>
          <a:xfrm>
            <a:off x="9005583" y="1732788"/>
            <a:ext cx="0" cy="3829050"/>
          </a:xfrm>
          <a:prstGeom prst="line">
            <a:avLst/>
          </a:prstGeom>
          <a:ln w="9525" cap="flat">
            <a:solidFill>
              <a:srgbClr val="E6E8F2"/>
            </a:solidFill>
          </a:ln>
        </p:spPr>
      </p:cxnSp>
      <p:cxnSp>
        <p:nvCxnSpPr>
          <p:cNvPr id="15" name="Line 15"/>
          <p:cNvCxnSpPr/>
          <p:nvPr/>
        </p:nvCxnSpPr>
        <p:spPr>
          <a:xfrm>
            <a:off x="9204417" y="1732788"/>
            <a:ext cx="0" cy="3829050"/>
          </a:xfrm>
          <a:prstGeom prst="line">
            <a:avLst/>
          </a:prstGeom>
          <a:ln w="9525" cap="flat">
            <a:solidFill>
              <a:srgbClr val="E6E8F2"/>
            </a:solidFill>
          </a:ln>
        </p:spPr>
      </p:cxnSp>
      <p:cxnSp>
        <p:nvCxnSpPr>
          <p:cNvPr id="16" name="Line 16"/>
          <p:cNvCxnSpPr/>
          <p:nvPr/>
        </p:nvCxnSpPr>
        <p:spPr>
          <a:xfrm>
            <a:off x="9403251" y="1732788"/>
            <a:ext cx="0" cy="3829050"/>
          </a:xfrm>
          <a:prstGeom prst="line">
            <a:avLst/>
          </a:prstGeom>
          <a:ln w="9525" cap="flat">
            <a:solidFill>
              <a:srgbClr val="E6E8F2"/>
            </a:solidFill>
          </a:ln>
        </p:spPr>
      </p:cxnSp>
      <p:cxnSp>
        <p:nvCxnSpPr>
          <p:cNvPr id="17" name="Line 17"/>
          <p:cNvCxnSpPr/>
          <p:nvPr/>
        </p:nvCxnSpPr>
        <p:spPr>
          <a:xfrm>
            <a:off x="9602086" y="1732788"/>
            <a:ext cx="0" cy="3829050"/>
          </a:xfrm>
          <a:prstGeom prst="line">
            <a:avLst/>
          </a:prstGeom>
          <a:ln w="9525" cap="flat">
            <a:solidFill>
              <a:srgbClr val="E6E8F2"/>
            </a:solidFill>
          </a:ln>
        </p:spPr>
      </p:cxnSp>
      <p:cxnSp>
        <p:nvCxnSpPr>
          <p:cNvPr id="18" name="Line 18"/>
          <p:cNvCxnSpPr/>
          <p:nvPr/>
        </p:nvCxnSpPr>
        <p:spPr>
          <a:xfrm>
            <a:off x="9800920" y="1732788"/>
            <a:ext cx="0" cy="3829050"/>
          </a:xfrm>
          <a:prstGeom prst="line">
            <a:avLst/>
          </a:prstGeom>
          <a:ln w="9525" cap="flat">
            <a:solidFill>
              <a:srgbClr val="E6E8F2"/>
            </a:solidFill>
          </a:ln>
        </p:spPr>
      </p:cxnSp>
      <p:cxnSp>
        <p:nvCxnSpPr>
          <p:cNvPr id="19" name="Line 19"/>
          <p:cNvCxnSpPr/>
          <p:nvPr/>
        </p:nvCxnSpPr>
        <p:spPr>
          <a:xfrm>
            <a:off x="9999755" y="1732788"/>
            <a:ext cx="0" cy="3829050"/>
          </a:xfrm>
          <a:prstGeom prst="line">
            <a:avLst/>
          </a:prstGeom>
          <a:ln w="9525" cap="flat">
            <a:solidFill>
              <a:srgbClr val="E6E8F2"/>
            </a:solidFill>
          </a:ln>
        </p:spPr>
      </p:cxnSp>
      <p:cxnSp>
        <p:nvCxnSpPr>
          <p:cNvPr id="20" name="Line 20"/>
          <p:cNvCxnSpPr/>
          <p:nvPr/>
        </p:nvCxnSpPr>
        <p:spPr>
          <a:xfrm>
            <a:off x="10198589" y="1732788"/>
            <a:ext cx="0" cy="3829050"/>
          </a:xfrm>
          <a:prstGeom prst="line">
            <a:avLst/>
          </a:prstGeom>
          <a:ln w="9525" cap="flat">
            <a:solidFill>
              <a:srgbClr val="E6E8F2"/>
            </a:solidFill>
          </a:ln>
        </p:spPr>
      </p:cxnSp>
      <p:cxnSp>
        <p:nvCxnSpPr>
          <p:cNvPr id="21" name="Line 21"/>
          <p:cNvCxnSpPr/>
          <p:nvPr/>
        </p:nvCxnSpPr>
        <p:spPr>
          <a:xfrm>
            <a:off x="10397423" y="1732788"/>
            <a:ext cx="0" cy="3829050"/>
          </a:xfrm>
          <a:prstGeom prst="line">
            <a:avLst/>
          </a:prstGeom>
          <a:ln w="9525" cap="flat">
            <a:solidFill>
              <a:srgbClr val="E6E8F2"/>
            </a:solidFill>
          </a:ln>
        </p:spPr>
      </p:cxnSp>
      <p:cxnSp>
        <p:nvCxnSpPr>
          <p:cNvPr id="22" name="Line 22"/>
          <p:cNvCxnSpPr/>
          <p:nvPr/>
        </p:nvCxnSpPr>
        <p:spPr>
          <a:xfrm>
            <a:off x="10596258" y="1732788"/>
            <a:ext cx="0" cy="3829050"/>
          </a:xfrm>
          <a:prstGeom prst="line">
            <a:avLst/>
          </a:prstGeom>
          <a:ln w="9525" cap="flat">
            <a:solidFill>
              <a:srgbClr val="E6E8F2"/>
            </a:solidFill>
          </a:ln>
        </p:spPr>
      </p:cxnSp>
      <p:cxnSp>
        <p:nvCxnSpPr>
          <p:cNvPr id="23" name="Line 23"/>
          <p:cNvCxnSpPr/>
          <p:nvPr/>
        </p:nvCxnSpPr>
        <p:spPr>
          <a:xfrm>
            <a:off x="10795092" y="1732788"/>
            <a:ext cx="0" cy="3829050"/>
          </a:xfrm>
          <a:prstGeom prst="line">
            <a:avLst/>
          </a:prstGeom>
          <a:ln w="9525" cap="flat">
            <a:solidFill>
              <a:srgbClr val="E6E8F2"/>
            </a:solidFill>
          </a:ln>
        </p:spPr>
      </p:cxnSp>
      <p:cxnSp>
        <p:nvCxnSpPr>
          <p:cNvPr id="24" name="Line 24"/>
          <p:cNvCxnSpPr/>
          <p:nvPr/>
        </p:nvCxnSpPr>
        <p:spPr>
          <a:xfrm>
            <a:off x="10993926" y="1732788"/>
            <a:ext cx="0" cy="3829050"/>
          </a:xfrm>
          <a:prstGeom prst="line">
            <a:avLst/>
          </a:prstGeom>
          <a:ln w="9525" cap="flat">
            <a:solidFill>
              <a:srgbClr val="E6E8F2"/>
            </a:solidFill>
          </a:ln>
        </p:spPr>
      </p:cxnSp>
      <p:cxnSp>
        <p:nvCxnSpPr>
          <p:cNvPr id="25" name="Line 25"/>
          <p:cNvCxnSpPr/>
          <p:nvPr/>
        </p:nvCxnSpPr>
        <p:spPr>
          <a:xfrm>
            <a:off x="11192761" y="1732788"/>
            <a:ext cx="0" cy="3829050"/>
          </a:xfrm>
          <a:prstGeom prst="line">
            <a:avLst/>
          </a:prstGeom>
          <a:ln w="9525" cap="flat">
            <a:solidFill>
              <a:srgbClr val="E6E8F2"/>
            </a:solidFill>
          </a:ln>
        </p:spPr>
      </p:cxnSp>
      <p:cxnSp>
        <p:nvCxnSpPr>
          <p:cNvPr id="26" name="Line 26"/>
          <p:cNvCxnSpPr/>
          <p:nvPr/>
        </p:nvCxnSpPr>
        <p:spPr>
          <a:xfrm>
            <a:off x="11391595" y="1732788"/>
            <a:ext cx="0" cy="3829050"/>
          </a:xfrm>
          <a:prstGeom prst="line">
            <a:avLst/>
          </a:prstGeom>
          <a:ln w="9525" cap="flat">
            <a:solidFill>
              <a:srgbClr val="E6E8F2"/>
            </a:solidFill>
          </a:ln>
        </p:spPr>
      </p:cxnSp>
      <p:cxnSp>
        <p:nvCxnSpPr>
          <p:cNvPr id="27" name="Line 27"/>
          <p:cNvCxnSpPr/>
          <p:nvPr/>
        </p:nvCxnSpPr>
        <p:spPr>
          <a:xfrm>
            <a:off x="8210245" y="5561838"/>
            <a:ext cx="3181350" cy="0"/>
          </a:xfrm>
          <a:prstGeom prst="line">
            <a:avLst/>
          </a:prstGeom>
          <a:ln w="9525" cap="flat">
            <a:solidFill>
              <a:srgbClr val="E6E8F2"/>
            </a:solidFill>
          </a:ln>
        </p:spPr>
      </p:cxnSp>
      <p:cxnSp>
        <p:nvCxnSpPr>
          <p:cNvPr id="28" name="Line 28"/>
          <p:cNvCxnSpPr/>
          <p:nvPr/>
        </p:nvCxnSpPr>
        <p:spPr>
          <a:xfrm>
            <a:off x="8210245" y="5136388"/>
            <a:ext cx="3181350" cy="0"/>
          </a:xfrm>
          <a:prstGeom prst="line">
            <a:avLst/>
          </a:prstGeom>
          <a:ln w="9525" cap="flat">
            <a:solidFill>
              <a:srgbClr val="E6E8F2"/>
            </a:solidFill>
          </a:ln>
        </p:spPr>
      </p:cxnSp>
      <p:cxnSp>
        <p:nvCxnSpPr>
          <p:cNvPr id="29" name="Line 29"/>
          <p:cNvCxnSpPr/>
          <p:nvPr/>
        </p:nvCxnSpPr>
        <p:spPr>
          <a:xfrm>
            <a:off x="8210245" y="4710938"/>
            <a:ext cx="3181350" cy="0"/>
          </a:xfrm>
          <a:prstGeom prst="line">
            <a:avLst/>
          </a:prstGeom>
          <a:ln w="9525" cap="flat">
            <a:solidFill>
              <a:srgbClr val="E6E8F2"/>
            </a:solidFill>
          </a:ln>
        </p:spPr>
      </p:cxnSp>
      <p:cxnSp>
        <p:nvCxnSpPr>
          <p:cNvPr id="30" name="Line 30"/>
          <p:cNvCxnSpPr/>
          <p:nvPr/>
        </p:nvCxnSpPr>
        <p:spPr>
          <a:xfrm>
            <a:off x="8210245" y="4285488"/>
            <a:ext cx="3181350" cy="0"/>
          </a:xfrm>
          <a:prstGeom prst="line">
            <a:avLst/>
          </a:prstGeom>
          <a:ln w="9525" cap="flat">
            <a:solidFill>
              <a:srgbClr val="E6E8F2"/>
            </a:solidFill>
          </a:ln>
        </p:spPr>
      </p:cxnSp>
      <p:cxnSp>
        <p:nvCxnSpPr>
          <p:cNvPr id="31" name="Line 31"/>
          <p:cNvCxnSpPr/>
          <p:nvPr/>
        </p:nvCxnSpPr>
        <p:spPr>
          <a:xfrm>
            <a:off x="8210245" y="3860038"/>
            <a:ext cx="3181350" cy="0"/>
          </a:xfrm>
          <a:prstGeom prst="line">
            <a:avLst/>
          </a:prstGeom>
          <a:ln w="9525" cap="flat">
            <a:solidFill>
              <a:srgbClr val="E6E8F2"/>
            </a:solidFill>
          </a:ln>
        </p:spPr>
      </p:cxnSp>
      <p:cxnSp>
        <p:nvCxnSpPr>
          <p:cNvPr id="32" name="Line 32"/>
          <p:cNvCxnSpPr/>
          <p:nvPr/>
        </p:nvCxnSpPr>
        <p:spPr>
          <a:xfrm>
            <a:off x="8210245" y="3434588"/>
            <a:ext cx="3181350" cy="0"/>
          </a:xfrm>
          <a:prstGeom prst="line">
            <a:avLst/>
          </a:prstGeom>
          <a:ln w="9525" cap="flat">
            <a:solidFill>
              <a:srgbClr val="E6E8F2"/>
            </a:solidFill>
          </a:ln>
        </p:spPr>
      </p:cxnSp>
      <p:cxnSp>
        <p:nvCxnSpPr>
          <p:cNvPr id="33" name="Line 33"/>
          <p:cNvCxnSpPr/>
          <p:nvPr/>
        </p:nvCxnSpPr>
        <p:spPr>
          <a:xfrm>
            <a:off x="8210245" y="3009138"/>
            <a:ext cx="3181350" cy="0"/>
          </a:xfrm>
          <a:prstGeom prst="line">
            <a:avLst/>
          </a:prstGeom>
          <a:ln w="9525" cap="flat">
            <a:solidFill>
              <a:srgbClr val="E6E8F2"/>
            </a:solidFill>
          </a:ln>
        </p:spPr>
      </p:cxnSp>
      <p:cxnSp>
        <p:nvCxnSpPr>
          <p:cNvPr id="34" name="Line 34"/>
          <p:cNvCxnSpPr/>
          <p:nvPr/>
        </p:nvCxnSpPr>
        <p:spPr>
          <a:xfrm>
            <a:off x="8210245" y="2583688"/>
            <a:ext cx="3181350" cy="0"/>
          </a:xfrm>
          <a:prstGeom prst="line">
            <a:avLst/>
          </a:prstGeom>
          <a:ln w="9525" cap="flat">
            <a:solidFill>
              <a:srgbClr val="E6E8F2"/>
            </a:solidFill>
          </a:ln>
        </p:spPr>
      </p:cxnSp>
      <p:cxnSp>
        <p:nvCxnSpPr>
          <p:cNvPr id="35" name="Line 35"/>
          <p:cNvCxnSpPr/>
          <p:nvPr/>
        </p:nvCxnSpPr>
        <p:spPr>
          <a:xfrm>
            <a:off x="8210245" y="2158238"/>
            <a:ext cx="3181350" cy="0"/>
          </a:xfrm>
          <a:prstGeom prst="line">
            <a:avLst/>
          </a:prstGeom>
          <a:ln w="9525" cap="flat">
            <a:solidFill>
              <a:srgbClr val="E6E8F2"/>
            </a:solidFill>
          </a:ln>
        </p:spPr>
      </p:cxnSp>
      <p:cxnSp>
        <p:nvCxnSpPr>
          <p:cNvPr id="36" name="Line 36"/>
          <p:cNvCxnSpPr/>
          <p:nvPr/>
        </p:nvCxnSpPr>
        <p:spPr>
          <a:xfrm>
            <a:off x="8210245" y="1732788"/>
            <a:ext cx="3181350" cy="0"/>
          </a:xfrm>
          <a:prstGeom prst="line">
            <a:avLst/>
          </a:prstGeom>
          <a:ln w="9525" cap="flat">
            <a:solidFill>
              <a:srgbClr val="E6E8F2"/>
            </a:solidFill>
          </a:ln>
        </p:spPr>
      </p:cxnSp>
      <p:cxnSp>
        <p:nvCxnSpPr>
          <p:cNvPr id="37" name="Line 37"/>
          <p:cNvCxnSpPr/>
          <p:nvPr/>
        </p:nvCxnSpPr>
        <p:spPr>
          <a:xfrm>
            <a:off x="9800920" y="1732788"/>
            <a:ext cx="0" cy="3829050"/>
          </a:xfrm>
          <a:prstGeom prst="line">
            <a:avLst/>
          </a:prstGeom>
          <a:ln w="19050" cap="flat">
            <a:solidFill>
              <a:srgbClr val="5F6272"/>
            </a:solidFill>
          </a:ln>
        </p:spPr>
      </p:cxnSp>
      <p:cxnSp>
        <p:nvCxnSpPr>
          <p:cNvPr id="38" name="Line 38"/>
          <p:cNvCxnSpPr/>
          <p:nvPr/>
        </p:nvCxnSpPr>
        <p:spPr>
          <a:xfrm>
            <a:off x="8210245" y="5136388"/>
            <a:ext cx="3181350" cy="0"/>
          </a:xfrm>
          <a:prstGeom prst="line">
            <a:avLst/>
          </a:prstGeom>
          <a:ln w="19050" cap="flat">
            <a:solidFill>
              <a:srgbClr val="5F6272"/>
            </a:solidFill>
          </a:ln>
        </p:spPr>
      </p:cxnSp>
      <p:sp>
        <p:nvSpPr>
          <p:cNvPr id="39" name="Shape 39"/>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8333594"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128931"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9924269"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0719606"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7643317" y="50449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7643317" y="4619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1" name="Shape 51"/>
          <p:cNvSpPr txBox="1"/>
          <p:nvPr/>
        </p:nvSpPr>
        <p:spPr>
          <a:xfrm>
            <a:off x="7643317" y="4194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2" name="Shape 52"/>
          <p:cNvSpPr txBox="1"/>
          <p:nvPr/>
        </p:nvSpPr>
        <p:spPr>
          <a:xfrm>
            <a:off x="7643317" y="3768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53" name="Shape 53"/>
          <p:cNvSpPr txBox="1"/>
          <p:nvPr/>
        </p:nvSpPr>
        <p:spPr>
          <a:xfrm>
            <a:off x="7643317" y="3343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917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5" name="Shape 55"/>
          <p:cNvSpPr txBox="1"/>
          <p:nvPr/>
        </p:nvSpPr>
        <p:spPr>
          <a:xfrm>
            <a:off x="7643317" y="24922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20667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7" name="Shape 57"/>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8" name="Shape 58"/>
          <p:cNvSpPr/>
          <p:nvPr/>
        </p:nvSpPr>
        <p:spPr>
          <a:xfrm>
            <a:off x="9748533" y="40203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86645" y="38251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(0, 25)</a:t>
            </a:r>
            <a:endParaRPr lang="en-US" sz="1125" dirty="0"/>
          </a:p>
        </p:txBody>
      </p:sp>
      <p:sp>
        <p:nvSpPr>
          <p:cNvPr id="60" name="Shape 60"/>
          <p:cNvSpPr/>
          <p:nvPr/>
        </p:nvSpPr>
        <p:spPr>
          <a:xfrm>
            <a:off x="9947367" y="3594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0085480" y="3399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(1, 35)</a:t>
            </a:r>
            <a:endParaRPr lang="en-US" sz="1125" dirty="0"/>
          </a:p>
        </p:txBody>
      </p:sp>
      <p:sp>
        <p:nvSpPr>
          <p:cNvPr id="62" name="Shape 62"/>
          <p:cNvSpPr/>
          <p:nvPr/>
        </p:nvSpPr>
        <p:spPr>
          <a:xfrm>
            <a:off x="9549698" y="444582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9687811" y="42505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15)</a:t>
            </a:r>
            <a:endParaRPr lang="en-US" sz="1125" dirty="0"/>
          </a:p>
        </p:txBody>
      </p:sp>
      <p:cxnSp>
        <p:nvCxnSpPr>
          <p:cNvPr id="64" name="Line 64"/>
          <p:cNvCxnSpPr/>
          <p:nvPr/>
        </p:nvCxnSpPr>
        <p:spPr>
          <a:xfrm flipV="1">
            <a:off x="9105000" y="1732788"/>
            <a:ext cx="1789509"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8"/>
                                        </p:tgtEl>
                                        <p:attrNameLst>
                                          <p:attrName>style.visibility</p:attrName>
                                        </p:attrNameLst>
                                      </p:cBhvr>
                                      <p:to>
                                        <p:strVal val="visible"/>
                                      </p:to>
                                    </p:set>
                                    <p:animEffect transition="in" filter="fade">
                                      <p:cBhvr>
                                        <p:cTn id="4" dur="500"/>
                                        <p:tgtEl>
                                          <p:spTgt spid="58"/>
                                        </p:tgtEl>
                                      </p:cBhvr>
                                    </p:animEffect>
                                    <p:anim calcmode="lin" valueType="num">
                                      <p:cBhvr>
                                        <p:cTn id="5" dur="500" fill="hold"/>
                                        <p:tgtEl>
                                          <p:spTgt spid="58"/>
                                        </p:tgtEl>
                                        <p:attrNameLst>
                                          <p:attrName>ppt_w</p:attrName>
                                        </p:attrNameLst>
                                      </p:cBhvr>
                                      <p:tavLst>
                                        <p:tav tm="0">
                                          <p:val>
                                            <p:fltVal val="0"/>
                                          </p:val>
                                        </p:tav>
                                        <p:tav tm="100000">
                                          <p:val>
                                            <p:strVal val="#ppt_w"/>
                                          </p:val>
                                        </p:tav>
                                      </p:tavLst>
                                    </p:anim>
                                    <p:anim calcmode="lin" valueType="num">
                                      <p:cBhvr>
                                        <p:cTn id="6" dur="500" fill="hold"/>
                                        <p:tgtEl>
                                          <p:spTgt spid="58"/>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9"/>
                                        </p:tgtEl>
                                        <p:attrNameLst>
                                          <p:attrName>style.visibility</p:attrName>
                                        </p:attrNameLst>
                                      </p:cBhvr>
                                      <p:to>
                                        <p:strVal val="visible"/>
                                      </p:to>
                                    </p:set>
                                    <p:animEffect transition="in" filter="fade">
                                      <p:cBhvr>
                                        <p:cTn id="9" dur="500"/>
                                        <p:tgtEl>
                                          <p:spTgt spid="59"/>
                                        </p:tgtEl>
                                      </p:cBhvr>
                                    </p:animEffect>
                                    <p:anim calcmode="lin" valueType="num">
                                      <p:cBhvr>
                                        <p:cTn id="10" dur="500" fill="hold"/>
                                        <p:tgtEl>
                                          <p:spTgt spid="59"/>
                                        </p:tgtEl>
                                        <p:attrNameLst>
                                          <p:attrName>ppt_w</p:attrName>
                                        </p:attrNameLst>
                                      </p:cBhvr>
                                      <p:tavLst>
                                        <p:tav tm="0">
                                          <p:val>
                                            <p:fltVal val="0"/>
                                          </p:val>
                                        </p:tav>
                                        <p:tav tm="100000">
                                          <p:val>
                                            <p:strVal val="#ppt_w"/>
                                          </p:val>
                                        </p:tav>
                                      </p:tavLst>
                                    </p:anim>
                                    <p:anim calcmode="lin" valueType="num">
                                      <p:cBhvr>
                                        <p:cTn id="11"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fade">
                                      <p:cBhvr>
                                        <p:cTn id="16" dur="500"/>
                                        <p:tgtEl>
                                          <p:spTgt spid="60"/>
                                        </p:tgtEl>
                                      </p:cBhvr>
                                    </p:animEffect>
                                    <p:anim calcmode="lin" valueType="num">
                                      <p:cBhvr>
                                        <p:cTn id="17" dur="500" fill="hold"/>
                                        <p:tgtEl>
                                          <p:spTgt spid="60"/>
                                        </p:tgtEl>
                                        <p:attrNameLst>
                                          <p:attrName>ppt_w</p:attrName>
                                        </p:attrNameLst>
                                      </p:cBhvr>
                                      <p:tavLst>
                                        <p:tav tm="0">
                                          <p:val>
                                            <p:fltVal val="0"/>
                                          </p:val>
                                        </p:tav>
                                        <p:tav tm="100000">
                                          <p:val>
                                            <p:strVal val="#ppt_w"/>
                                          </p:val>
                                        </p:tav>
                                      </p:tavLst>
                                    </p:anim>
                                    <p:anim calcmode="lin" valueType="num">
                                      <p:cBhvr>
                                        <p:cTn id="18" dur="500" fill="hold"/>
                                        <p:tgtEl>
                                          <p:spTgt spid="60"/>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500"/>
                                        <p:tgtEl>
                                          <p:spTgt spid="61"/>
                                        </p:tgtEl>
                                      </p:cBhvr>
                                    </p:animEffect>
                                    <p:anim calcmode="lin" valueType="num">
                                      <p:cBhvr>
                                        <p:cTn id="22" dur="500" fill="hold"/>
                                        <p:tgtEl>
                                          <p:spTgt spid="61"/>
                                        </p:tgtEl>
                                        <p:attrNameLst>
                                          <p:attrName>ppt_w</p:attrName>
                                        </p:attrNameLst>
                                      </p:cBhvr>
                                      <p:tavLst>
                                        <p:tav tm="0">
                                          <p:val>
                                            <p:fltVal val="0"/>
                                          </p:val>
                                        </p:tav>
                                        <p:tav tm="100000">
                                          <p:val>
                                            <p:strVal val="#ppt_w"/>
                                          </p:val>
                                        </p:tav>
                                      </p:tavLst>
                                    </p:anim>
                                    <p:anim calcmode="lin" valueType="num">
                                      <p:cBhvr>
                                        <p:cTn id="23" dur="500" fill="hold"/>
                                        <p:tgtEl>
                                          <p:spTgt spid="61"/>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anim calcmode="lin" valueType="num">
                                      <p:cBhvr>
                                        <p:cTn id="29" dur="500" fill="hold"/>
                                        <p:tgtEl>
                                          <p:spTgt spid="62"/>
                                        </p:tgtEl>
                                        <p:attrNameLst>
                                          <p:attrName>ppt_w</p:attrName>
                                        </p:attrNameLst>
                                      </p:cBhvr>
                                      <p:tavLst>
                                        <p:tav tm="0">
                                          <p:val>
                                            <p:fltVal val="0"/>
                                          </p:val>
                                        </p:tav>
                                        <p:tav tm="100000">
                                          <p:val>
                                            <p:strVal val="#ppt_w"/>
                                          </p:val>
                                        </p:tav>
                                      </p:tavLst>
                                    </p:anim>
                                    <p:anim calcmode="lin" valueType="num">
                                      <p:cBhvr>
                                        <p:cTn id="30" dur="500" fill="hold"/>
                                        <p:tgtEl>
                                          <p:spTgt spid="62"/>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ppt_w</p:attrName>
                                        </p:attrNameLst>
                                      </p:cBhvr>
                                      <p:tavLst>
                                        <p:tav tm="0">
                                          <p:val>
                                            <p:fltVal val="0"/>
                                          </p:val>
                                        </p:tav>
                                        <p:tav tm="100000">
                                          <p:val>
                                            <p:strVal val="#ppt_w"/>
                                          </p:val>
                                        </p:tav>
                                      </p:tavLst>
                                    </p:anim>
                                    <p:anim calcmode="lin" valueType="num">
                                      <p:cBhvr>
                                        <p:cTn id="35"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7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4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Avery's headset savings</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Avery has </a:t>
            </a:r>
            <a:r>
              <a:rPr lang="en-US" sz="1575" dirty="0" b="1">
                <a:solidFill>
                  <a:srgbClr val="16171D"/>
                </a:solidFill>
                <a:latin typeface="Segoe UI"/>
                <a:cs typeface="Segoe UI"/>
              </a:rPr>
              <a:t xml:space="preserve">$30</a:t>
            </a:r>
            <a:r>
              <a:rPr lang="en-US" sz="1575" dirty="0">
                <a:solidFill>
                  <a:srgbClr val="16171D"/>
                </a:solidFill>
                <a:latin typeface="Segoe UI"/>
                <a:cs typeface="Segoe UI"/>
              </a:rPr>
              <a:t xml:space="preserve"> saved and plans to mow lawns for </a:t>
            </a:r>
            <a:r>
              <a:rPr lang="en-US" sz="1575" dirty="0" b="1">
                <a:solidFill>
                  <a:srgbClr val="16171D"/>
                </a:solidFill>
                <a:latin typeface="Segoe UI"/>
                <a:cs typeface="Segoe UI"/>
              </a:rPr>
              <a:t xml:space="preserve">$15 each</a:t>
            </a:r>
            <a:r>
              <a:rPr lang="en-US" sz="1575" dirty="0">
                <a:solidFill>
                  <a:srgbClr val="16171D"/>
                </a:solidFill>
                <a:latin typeface="Segoe UI"/>
                <a:cs typeface="Segoe UI"/>
              </a:rPr>
              <a:t xml:space="preserve">. Write an equation, then graph it.</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lawns mowed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 in dollars.</a:t>
            </a:r>
            <a:endParaRPr lang="en-US" sz="1575" dirty="0"/>
          </a:p>
        </p:txBody>
      </p:sp>
      <p:sp>
        <p:nvSpPr>
          <p:cNvPr id="6" name="Shape 6"/>
          <p:cNvSpPr txBox="1"/>
          <p:nvPr/>
        </p:nvSpPr>
        <p:spPr>
          <a:xfrm>
            <a:off x="685800" y="2494026"/>
            <a:ext cx="67433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Starts at $30 → </a:t>
            </a:r>
            <a:r>
              <a:rPr lang="en-US" sz="1950" dirty="0" b="1">
                <a:solidFill>
                  <a:srgbClr val="3050B8"/>
                </a:solidFill>
                <a:latin typeface="Segoe UI"/>
                <a:cs typeface="Segoe UI"/>
              </a:rPr>
              <a:t xml:space="preserve">(0, 30)</a:t>
            </a:r>
            <a:r>
              <a:rPr lang="en-US" sz="1950" dirty="0">
                <a:solidFill>
                  <a:srgbClr val="16171D"/>
                </a:solidFill>
                <a:latin typeface="Segoe UI"/>
                <a:cs typeface="Segoe UI"/>
              </a:rPr>
              <a:t xml:space="preserve">. Earns $15 per lawn → </a:t>
            </a:r>
            <a:r>
              <a:rPr lang="en-US" sz="1950" dirty="0" b="1">
                <a:solidFill>
                  <a:srgbClr val="C9561F"/>
                </a:solidFill>
                <a:latin typeface="Segoe UI"/>
                <a:cs typeface="Segoe UI"/>
              </a:rPr>
              <a:t xml:space="preserve">slope 15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57550"/>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30</a:t>
            </a:r>
            <a:endParaRPr lang="en-US" sz="2850" dirty="0"/>
          </a:p>
        </p:txBody>
      </p:sp>
      <p:sp>
        <p:nvSpPr>
          <p:cNvPr id="8" name="Shape 8"/>
          <p:cNvSpPr txBox="1"/>
          <p:nvPr/>
        </p:nvSpPr>
        <p:spPr>
          <a:xfrm>
            <a:off x="685800" y="397078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30), then up 15 and right 1 for each lawn.</a:t>
            </a:r>
            <a:endParaRPr lang="en-US" sz="1575" dirty="0"/>
          </a:p>
        </p:txBody>
      </p:sp>
      <p:sp>
        <p:nvSpPr>
          <p:cNvPr id="9" name="Shape 9"/>
          <p:cNvSpPr txBox="1"/>
          <p:nvPr/>
        </p:nvSpPr>
        <p:spPr>
          <a:xfrm>
            <a:off x="685800" y="4379976"/>
            <a:ext cx="6743395"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Should the graph have arrows or points on each end? Avery can't mow −1 lawns, so the graph starts at (0, 30) with a closed point.</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28380" y="2199132"/>
            <a:ext cx="0" cy="3448050"/>
          </a:xfrm>
          <a:prstGeom prst="line">
            <a:avLst/>
          </a:prstGeom>
          <a:ln w="9525" cap="flat">
            <a:solidFill>
              <a:srgbClr val="E6E8F2"/>
            </a:solidFill>
          </a:ln>
        </p:spPr>
      </p:cxnSp>
      <p:cxnSp>
        <p:nvCxnSpPr>
          <p:cNvPr id="13" name="Line 13"/>
          <p:cNvCxnSpPr/>
          <p:nvPr/>
        </p:nvCxnSpPr>
        <p:spPr>
          <a:xfrm>
            <a:off x="8846515" y="2199132"/>
            <a:ext cx="0" cy="3448050"/>
          </a:xfrm>
          <a:prstGeom prst="line">
            <a:avLst/>
          </a:prstGeom>
          <a:ln w="9525" cap="flat">
            <a:solidFill>
              <a:srgbClr val="E6E8F2"/>
            </a:solidFill>
          </a:ln>
        </p:spPr>
      </p:cxnSp>
      <p:cxnSp>
        <p:nvCxnSpPr>
          <p:cNvPr id="14" name="Line 14"/>
          <p:cNvCxnSpPr/>
          <p:nvPr/>
        </p:nvCxnSpPr>
        <p:spPr>
          <a:xfrm>
            <a:off x="9164650" y="2199132"/>
            <a:ext cx="0" cy="3448050"/>
          </a:xfrm>
          <a:prstGeom prst="line">
            <a:avLst/>
          </a:prstGeom>
          <a:ln w="9525" cap="flat">
            <a:solidFill>
              <a:srgbClr val="E6E8F2"/>
            </a:solidFill>
          </a:ln>
        </p:spPr>
      </p:cxnSp>
      <p:cxnSp>
        <p:nvCxnSpPr>
          <p:cNvPr id="15" name="Line 15"/>
          <p:cNvCxnSpPr/>
          <p:nvPr/>
        </p:nvCxnSpPr>
        <p:spPr>
          <a:xfrm>
            <a:off x="9482785" y="2199132"/>
            <a:ext cx="0" cy="3448050"/>
          </a:xfrm>
          <a:prstGeom prst="line">
            <a:avLst/>
          </a:prstGeom>
          <a:ln w="9525" cap="flat">
            <a:solidFill>
              <a:srgbClr val="E6E8F2"/>
            </a:solidFill>
          </a:ln>
        </p:spPr>
      </p:cxnSp>
      <p:cxnSp>
        <p:nvCxnSpPr>
          <p:cNvPr id="16" name="Line 16"/>
          <p:cNvCxnSpPr/>
          <p:nvPr/>
        </p:nvCxnSpPr>
        <p:spPr>
          <a:xfrm>
            <a:off x="9800920" y="2199132"/>
            <a:ext cx="0" cy="3448050"/>
          </a:xfrm>
          <a:prstGeom prst="line">
            <a:avLst/>
          </a:prstGeom>
          <a:ln w="9525" cap="flat">
            <a:solidFill>
              <a:srgbClr val="E6E8F2"/>
            </a:solidFill>
          </a:ln>
        </p:spPr>
      </p:cxnSp>
      <p:cxnSp>
        <p:nvCxnSpPr>
          <p:cNvPr id="17" name="Line 17"/>
          <p:cNvCxnSpPr/>
          <p:nvPr/>
        </p:nvCxnSpPr>
        <p:spPr>
          <a:xfrm>
            <a:off x="10119055" y="2199132"/>
            <a:ext cx="0" cy="3448050"/>
          </a:xfrm>
          <a:prstGeom prst="line">
            <a:avLst/>
          </a:prstGeom>
          <a:ln w="9525" cap="flat">
            <a:solidFill>
              <a:srgbClr val="E6E8F2"/>
            </a:solidFill>
          </a:ln>
        </p:spPr>
      </p:cxnSp>
      <p:cxnSp>
        <p:nvCxnSpPr>
          <p:cNvPr id="18" name="Line 18"/>
          <p:cNvCxnSpPr/>
          <p:nvPr/>
        </p:nvCxnSpPr>
        <p:spPr>
          <a:xfrm>
            <a:off x="10437190" y="2199132"/>
            <a:ext cx="0" cy="3448050"/>
          </a:xfrm>
          <a:prstGeom prst="line">
            <a:avLst/>
          </a:prstGeom>
          <a:ln w="9525" cap="flat">
            <a:solidFill>
              <a:srgbClr val="E6E8F2"/>
            </a:solidFill>
          </a:ln>
        </p:spPr>
      </p:cxnSp>
      <p:cxnSp>
        <p:nvCxnSpPr>
          <p:cNvPr id="19" name="Line 19"/>
          <p:cNvCxnSpPr/>
          <p:nvPr/>
        </p:nvCxnSpPr>
        <p:spPr>
          <a:xfrm>
            <a:off x="10755325" y="2199132"/>
            <a:ext cx="0" cy="3448050"/>
          </a:xfrm>
          <a:prstGeom prst="line">
            <a:avLst/>
          </a:prstGeom>
          <a:ln w="9525" cap="flat">
            <a:solidFill>
              <a:srgbClr val="E6E8F2"/>
            </a:solidFill>
          </a:ln>
        </p:spPr>
      </p:cxnSp>
      <p:cxnSp>
        <p:nvCxnSpPr>
          <p:cNvPr id="20" name="Line 20"/>
          <p:cNvCxnSpPr/>
          <p:nvPr/>
        </p:nvCxnSpPr>
        <p:spPr>
          <a:xfrm>
            <a:off x="11073460" y="2199132"/>
            <a:ext cx="0" cy="3448050"/>
          </a:xfrm>
          <a:prstGeom prst="line">
            <a:avLst/>
          </a:prstGeom>
          <a:ln w="9525" cap="flat">
            <a:solidFill>
              <a:srgbClr val="E6E8F2"/>
            </a:solidFill>
          </a:ln>
        </p:spPr>
      </p:cxnSp>
      <p:cxnSp>
        <p:nvCxnSpPr>
          <p:cNvPr id="21" name="Line 21"/>
          <p:cNvCxnSpPr/>
          <p:nvPr/>
        </p:nvCxnSpPr>
        <p:spPr>
          <a:xfrm>
            <a:off x="11391595" y="2199132"/>
            <a:ext cx="0" cy="3448050"/>
          </a:xfrm>
          <a:prstGeom prst="line">
            <a:avLst/>
          </a:prstGeom>
          <a:ln w="9525" cap="flat">
            <a:solidFill>
              <a:srgbClr val="E6E8F2"/>
            </a:solidFill>
          </a:ln>
        </p:spPr>
      </p:cxnSp>
      <p:cxnSp>
        <p:nvCxnSpPr>
          <p:cNvPr id="22" name="Line 22"/>
          <p:cNvCxnSpPr/>
          <p:nvPr/>
        </p:nvCxnSpPr>
        <p:spPr>
          <a:xfrm>
            <a:off x="8210245" y="5647182"/>
            <a:ext cx="3181350" cy="0"/>
          </a:xfrm>
          <a:prstGeom prst="line">
            <a:avLst/>
          </a:prstGeom>
          <a:ln w="9525" cap="flat">
            <a:solidFill>
              <a:srgbClr val="E6E8F2"/>
            </a:solidFill>
          </a:ln>
        </p:spPr>
      </p:cxnSp>
      <p:cxnSp>
        <p:nvCxnSpPr>
          <p:cNvPr id="23" name="Line 23"/>
          <p:cNvCxnSpPr/>
          <p:nvPr/>
        </p:nvCxnSpPr>
        <p:spPr>
          <a:xfrm>
            <a:off x="8210245" y="5431679"/>
            <a:ext cx="3181350" cy="0"/>
          </a:xfrm>
          <a:prstGeom prst="line">
            <a:avLst/>
          </a:prstGeom>
          <a:ln w="9525" cap="flat">
            <a:solidFill>
              <a:srgbClr val="E6E8F2"/>
            </a:solidFill>
          </a:ln>
        </p:spPr>
      </p:cxnSp>
      <p:cxnSp>
        <p:nvCxnSpPr>
          <p:cNvPr id="24" name="Line 24"/>
          <p:cNvCxnSpPr/>
          <p:nvPr/>
        </p:nvCxnSpPr>
        <p:spPr>
          <a:xfrm>
            <a:off x="8210245" y="5216176"/>
            <a:ext cx="3181350" cy="0"/>
          </a:xfrm>
          <a:prstGeom prst="line">
            <a:avLst/>
          </a:prstGeom>
          <a:ln w="9525" cap="flat">
            <a:solidFill>
              <a:srgbClr val="E6E8F2"/>
            </a:solidFill>
          </a:ln>
        </p:spPr>
      </p:cxnSp>
      <p:cxnSp>
        <p:nvCxnSpPr>
          <p:cNvPr id="25" name="Line 25"/>
          <p:cNvCxnSpPr/>
          <p:nvPr/>
        </p:nvCxnSpPr>
        <p:spPr>
          <a:xfrm>
            <a:off x="8210245" y="5000673"/>
            <a:ext cx="3181350" cy="0"/>
          </a:xfrm>
          <a:prstGeom prst="line">
            <a:avLst/>
          </a:prstGeom>
          <a:ln w="9525" cap="flat">
            <a:solidFill>
              <a:srgbClr val="E6E8F2"/>
            </a:solidFill>
          </a:ln>
        </p:spPr>
      </p:cxnSp>
      <p:cxnSp>
        <p:nvCxnSpPr>
          <p:cNvPr id="26" name="Line 26"/>
          <p:cNvCxnSpPr/>
          <p:nvPr/>
        </p:nvCxnSpPr>
        <p:spPr>
          <a:xfrm>
            <a:off x="8210245" y="4785170"/>
            <a:ext cx="3181350" cy="0"/>
          </a:xfrm>
          <a:prstGeom prst="line">
            <a:avLst/>
          </a:prstGeom>
          <a:ln w="9525" cap="flat">
            <a:solidFill>
              <a:srgbClr val="E6E8F2"/>
            </a:solidFill>
          </a:ln>
        </p:spPr>
      </p:cxnSp>
      <p:cxnSp>
        <p:nvCxnSpPr>
          <p:cNvPr id="27" name="Line 27"/>
          <p:cNvCxnSpPr/>
          <p:nvPr/>
        </p:nvCxnSpPr>
        <p:spPr>
          <a:xfrm>
            <a:off x="8210245" y="4569666"/>
            <a:ext cx="3181350" cy="0"/>
          </a:xfrm>
          <a:prstGeom prst="line">
            <a:avLst/>
          </a:prstGeom>
          <a:ln w="9525" cap="flat">
            <a:solidFill>
              <a:srgbClr val="E6E8F2"/>
            </a:solidFill>
          </a:ln>
        </p:spPr>
      </p:cxnSp>
      <p:cxnSp>
        <p:nvCxnSpPr>
          <p:cNvPr id="28" name="Line 28"/>
          <p:cNvCxnSpPr/>
          <p:nvPr/>
        </p:nvCxnSpPr>
        <p:spPr>
          <a:xfrm>
            <a:off x="8210245" y="4354163"/>
            <a:ext cx="3181350" cy="0"/>
          </a:xfrm>
          <a:prstGeom prst="line">
            <a:avLst/>
          </a:prstGeom>
          <a:ln w="9525" cap="flat">
            <a:solidFill>
              <a:srgbClr val="E6E8F2"/>
            </a:solidFill>
          </a:ln>
        </p:spPr>
      </p:cxnSp>
      <p:cxnSp>
        <p:nvCxnSpPr>
          <p:cNvPr id="29" name="Line 29"/>
          <p:cNvCxnSpPr/>
          <p:nvPr/>
        </p:nvCxnSpPr>
        <p:spPr>
          <a:xfrm>
            <a:off x="8210245" y="4138660"/>
            <a:ext cx="3181350" cy="0"/>
          </a:xfrm>
          <a:prstGeom prst="line">
            <a:avLst/>
          </a:prstGeom>
          <a:ln w="9525" cap="flat">
            <a:solidFill>
              <a:srgbClr val="E6E8F2"/>
            </a:solidFill>
          </a:ln>
        </p:spPr>
      </p:cxnSp>
      <p:cxnSp>
        <p:nvCxnSpPr>
          <p:cNvPr id="30" name="Line 30"/>
          <p:cNvCxnSpPr/>
          <p:nvPr/>
        </p:nvCxnSpPr>
        <p:spPr>
          <a:xfrm>
            <a:off x="8210245" y="3923157"/>
            <a:ext cx="3181350" cy="0"/>
          </a:xfrm>
          <a:prstGeom prst="line">
            <a:avLst/>
          </a:prstGeom>
          <a:ln w="9525" cap="flat">
            <a:solidFill>
              <a:srgbClr val="E6E8F2"/>
            </a:solidFill>
          </a:ln>
        </p:spPr>
      </p:cxnSp>
      <p:cxnSp>
        <p:nvCxnSpPr>
          <p:cNvPr id="31" name="Line 31"/>
          <p:cNvCxnSpPr/>
          <p:nvPr/>
        </p:nvCxnSpPr>
        <p:spPr>
          <a:xfrm>
            <a:off x="8210245" y="3707654"/>
            <a:ext cx="3181350" cy="0"/>
          </a:xfrm>
          <a:prstGeom prst="line">
            <a:avLst/>
          </a:prstGeom>
          <a:ln w="9525" cap="flat">
            <a:solidFill>
              <a:srgbClr val="E6E8F2"/>
            </a:solidFill>
          </a:ln>
        </p:spPr>
      </p:cxnSp>
      <p:cxnSp>
        <p:nvCxnSpPr>
          <p:cNvPr id="32" name="Line 32"/>
          <p:cNvCxnSpPr/>
          <p:nvPr/>
        </p:nvCxnSpPr>
        <p:spPr>
          <a:xfrm>
            <a:off x="8210245" y="3492151"/>
            <a:ext cx="3181350" cy="0"/>
          </a:xfrm>
          <a:prstGeom prst="line">
            <a:avLst/>
          </a:prstGeom>
          <a:ln w="9525" cap="flat">
            <a:solidFill>
              <a:srgbClr val="E6E8F2"/>
            </a:solidFill>
          </a:ln>
        </p:spPr>
      </p:cxnSp>
      <p:cxnSp>
        <p:nvCxnSpPr>
          <p:cNvPr id="33" name="Line 33"/>
          <p:cNvCxnSpPr/>
          <p:nvPr/>
        </p:nvCxnSpPr>
        <p:spPr>
          <a:xfrm>
            <a:off x="8210245" y="3276648"/>
            <a:ext cx="3181350" cy="0"/>
          </a:xfrm>
          <a:prstGeom prst="line">
            <a:avLst/>
          </a:prstGeom>
          <a:ln w="9525" cap="flat">
            <a:solidFill>
              <a:srgbClr val="E6E8F2"/>
            </a:solidFill>
          </a:ln>
        </p:spPr>
      </p:cxnSp>
      <p:cxnSp>
        <p:nvCxnSpPr>
          <p:cNvPr id="34" name="Line 34"/>
          <p:cNvCxnSpPr/>
          <p:nvPr/>
        </p:nvCxnSpPr>
        <p:spPr>
          <a:xfrm>
            <a:off x="8210245" y="3061144"/>
            <a:ext cx="3181350" cy="0"/>
          </a:xfrm>
          <a:prstGeom prst="line">
            <a:avLst/>
          </a:prstGeom>
          <a:ln w="9525" cap="flat">
            <a:solidFill>
              <a:srgbClr val="E6E8F2"/>
            </a:solidFill>
          </a:ln>
        </p:spPr>
      </p:cxnSp>
      <p:cxnSp>
        <p:nvCxnSpPr>
          <p:cNvPr id="35" name="Line 35"/>
          <p:cNvCxnSpPr/>
          <p:nvPr/>
        </p:nvCxnSpPr>
        <p:spPr>
          <a:xfrm>
            <a:off x="8210245" y="2845641"/>
            <a:ext cx="3181350" cy="0"/>
          </a:xfrm>
          <a:prstGeom prst="line">
            <a:avLst/>
          </a:prstGeom>
          <a:ln w="9525" cap="flat">
            <a:solidFill>
              <a:srgbClr val="E6E8F2"/>
            </a:solidFill>
          </a:ln>
        </p:spPr>
      </p:cxnSp>
      <p:cxnSp>
        <p:nvCxnSpPr>
          <p:cNvPr id="36" name="Line 36"/>
          <p:cNvCxnSpPr/>
          <p:nvPr/>
        </p:nvCxnSpPr>
        <p:spPr>
          <a:xfrm>
            <a:off x="8210245" y="2630138"/>
            <a:ext cx="3181350" cy="0"/>
          </a:xfrm>
          <a:prstGeom prst="line">
            <a:avLst/>
          </a:prstGeom>
          <a:ln w="9525" cap="flat">
            <a:solidFill>
              <a:srgbClr val="E6E8F2"/>
            </a:solidFill>
          </a:ln>
        </p:spPr>
      </p:cxnSp>
      <p:cxnSp>
        <p:nvCxnSpPr>
          <p:cNvPr id="37" name="Line 37"/>
          <p:cNvCxnSpPr/>
          <p:nvPr/>
        </p:nvCxnSpPr>
        <p:spPr>
          <a:xfrm>
            <a:off x="8210245" y="2414635"/>
            <a:ext cx="3181350" cy="0"/>
          </a:xfrm>
          <a:prstGeom prst="line">
            <a:avLst/>
          </a:prstGeom>
          <a:ln w="9525" cap="flat">
            <a:solidFill>
              <a:srgbClr val="E6E8F2"/>
            </a:solidFill>
          </a:ln>
        </p:spPr>
      </p:cxnSp>
      <p:cxnSp>
        <p:nvCxnSpPr>
          <p:cNvPr id="38" name="Line 38"/>
          <p:cNvCxnSpPr/>
          <p:nvPr/>
        </p:nvCxnSpPr>
        <p:spPr>
          <a:xfrm>
            <a:off x="8210245" y="2199132"/>
            <a:ext cx="3181350" cy="0"/>
          </a:xfrm>
          <a:prstGeom prst="line">
            <a:avLst/>
          </a:prstGeom>
          <a:ln w="9525" cap="flat">
            <a:solidFill>
              <a:srgbClr val="E6E8F2"/>
            </a:solidFill>
          </a:ln>
        </p:spPr>
      </p:cxnSp>
      <p:cxnSp>
        <p:nvCxnSpPr>
          <p:cNvPr id="39" name="Line 39"/>
          <p:cNvCxnSpPr/>
          <p:nvPr/>
        </p:nvCxnSpPr>
        <p:spPr>
          <a:xfrm>
            <a:off x="8210245" y="2199132"/>
            <a:ext cx="0" cy="3448050"/>
          </a:xfrm>
          <a:prstGeom prst="line">
            <a:avLst/>
          </a:prstGeom>
          <a:ln w="19050" cap="flat">
            <a:solidFill>
              <a:srgbClr val="5F6272"/>
            </a:solidFill>
          </a:ln>
        </p:spPr>
      </p:cxnSp>
      <p:cxnSp>
        <p:nvCxnSpPr>
          <p:cNvPr id="40" name="Line 40"/>
          <p:cNvCxnSpPr/>
          <p:nvPr/>
        </p:nvCxnSpPr>
        <p:spPr>
          <a:xfrm>
            <a:off x="8210245" y="5647182"/>
            <a:ext cx="3181350" cy="0"/>
          </a:xfrm>
          <a:prstGeom prst="line">
            <a:avLst/>
          </a:prstGeom>
          <a:ln w="19050" cap="flat">
            <a:solidFill>
              <a:srgbClr val="5F6272"/>
            </a:solidFill>
          </a:ln>
        </p:spPr>
      </p:cxnSp>
      <p:sp>
        <p:nvSpPr>
          <p:cNvPr id="41" name="Shape 41"/>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825406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857219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89033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920846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52660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984473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1016287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1048100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1079914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51" name="Shape 51"/>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7643317" y="5124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4" name="Shape 54"/>
          <p:cNvSpPr txBox="1"/>
          <p:nvPr/>
        </p:nvSpPr>
        <p:spPr>
          <a:xfrm>
            <a:off x="7643317" y="46937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5" name="Shape 55"/>
          <p:cNvSpPr txBox="1"/>
          <p:nvPr/>
        </p:nvSpPr>
        <p:spPr>
          <a:xfrm>
            <a:off x="7643317" y="4262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38317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7" name="Shape 57"/>
          <p:cNvSpPr txBox="1"/>
          <p:nvPr/>
        </p:nvSpPr>
        <p:spPr>
          <a:xfrm>
            <a:off x="7643317" y="3400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8" name="Shape 58"/>
          <p:cNvSpPr txBox="1"/>
          <p:nvPr/>
        </p:nvSpPr>
        <p:spPr>
          <a:xfrm>
            <a:off x="7643317" y="2969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9" name="Shape 59"/>
          <p:cNvSpPr txBox="1"/>
          <p:nvPr/>
        </p:nvSpPr>
        <p:spPr>
          <a:xfrm>
            <a:off x="7643317" y="2538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60" name="Shape 60"/>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61" name="Shape 61"/>
          <p:cNvSpPr/>
          <p:nvPr/>
        </p:nvSpPr>
        <p:spPr>
          <a:xfrm>
            <a:off x="8157858" y="49482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8295970" y="475302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(0, 30)</a:t>
            </a:r>
            <a:endParaRPr lang="en-US" sz="1125" dirty="0"/>
          </a:p>
        </p:txBody>
      </p:sp>
      <p:sp>
        <p:nvSpPr>
          <p:cNvPr id="63" name="Shape 63"/>
          <p:cNvSpPr/>
          <p:nvPr/>
        </p:nvSpPr>
        <p:spPr>
          <a:xfrm>
            <a:off x="8475993" y="462503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8794128" y="43017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flipV="1">
            <a:off x="8210245" y="2199132"/>
            <a:ext cx="2757170" cy="280154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500"/>
                                        <p:tgtEl>
                                          <p:spTgt spid="61"/>
                                        </p:tgtEl>
                                      </p:cBhvr>
                                    </p:animEffect>
                                    <p:anim calcmode="lin" valueType="num">
                                      <p:cBhvr>
                                        <p:cTn id="40" dur="500" fill="hold"/>
                                        <p:tgtEl>
                                          <p:spTgt spid="61"/>
                                        </p:tgtEl>
                                        <p:attrNameLst>
                                          <p:attrName>ppt_w</p:attrName>
                                        </p:attrNameLst>
                                      </p:cBhvr>
                                      <p:tavLst>
                                        <p:tav tm="0">
                                          <p:val>
                                            <p:fltVal val="0"/>
                                          </p:val>
                                        </p:tav>
                                        <p:tav tm="100000">
                                          <p:val>
                                            <p:strVal val="#ppt_w"/>
                                          </p:val>
                                        </p:tav>
                                      </p:tavLst>
                                    </p:anim>
                                    <p:anim calcmode="lin" valueType="num">
                                      <p:cBhvr>
                                        <p:cTn id="41" dur="500" fill="hold"/>
                                        <p:tgtEl>
                                          <p:spTgt spid="61"/>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62"/>
                                        </p:tgtEl>
                                        <p:attrNameLst>
                                          <p:attrName>style.visibility</p:attrName>
                                        </p:attrNameLst>
                                      </p:cBhvr>
                                      <p:to>
                                        <p:strVal val="visible"/>
                                      </p:to>
                                    </p:set>
                                    <p:animEffect transition="in" filter="fade">
                                      <p:cBhvr>
                                        <p:cTn id="44" dur="500"/>
                                        <p:tgtEl>
                                          <p:spTgt spid="62"/>
                                        </p:tgtEl>
                                      </p:cBhvr>
                                    </p:animEffect>
                                    <p:anim calcmode="lin" valueType="num">
                                      <p:cBhvr>
                                        <p:cTn id="45" dur="500" fill="hold"/>
                                        <p:tgtEl>
                                          <p:spTgt spid="62"/>
                                        </p:tgtEl>
                                        <p:attrNameLst>
                                          <p:attrName>ppt_w</p:attrName>
                                        </p:attrNameLst>
                                      </p:cBhvr>
                                      <p:tavLst>
                                        <p:tav tm="0">
                                          <p:val>
                                            <p:fltVal val="0"/>
                                          </p:val>
                                        </p:tav>
                                        <p:tav tm="100000">
                                          <p:val>
                                            <p:strVal val="#ppt_w"/>
                                          </p:val>
                                        </p:tav>
                                      </p:tavLst>
                                    </p:anim>
                                    <p:anim calcmode="lin" valueType="num">
                                      <p:cBhvr>
                                        <p:cTn id="46"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63"/>
                                        </p:tgtEl>
                                        <p:attrNameLst>
                                          <p:attrName>style.visibility</p:attrName>
                                        </p:attrNameLst>
                                      </p:cBhvr>
                                      <p:to>
                                        <p:strVal val="visible"/>
                                      </p:to>
                                    </p:set>
                                    <p:animEffect transition="in" filter="fade">
                                      <p:cBhvr>
                                        <p:cTn id="51" dur="500"/>
                                        <p:tgtEl>
                                          <p:spTgt spid="63"/>
                                        </p:tgtEl>
                                      </p:cBhvr>
                                    </p:animEffect>
                                    <p:anim calcmode="lin" valueType="num">
                                      <p:cBhvr>
                                        <p:cTn id="52" dur="500" fill="hold"/>
                                        <p:tgtEl>
                                          <p:spTgt spid="63"/>
                                        </p:tgtEl>
                                        <p:attrNameLst>
                                          <p:attrName>ppt_w</p:attrName>
                                        </p:attrNameLst>
                                      </p:cBhvr>
                                      <p:tavLst>
                                        <p:tav tm="0">
                                          <p:val>
                                            <p:fltVal val="0"/>
                                          </p:val>
                                        </p:tav>
                                        <p:tav tm="100000">
                                          <p:val>
                                            <p:strVal val="#ppt_w"/>
                                          </p:val>
                                        </p:tav>
                                      </p:tavLst>
                                    </p:anim>
                                    <p:anim calcmode="lin" valueType="num">
                                      <p:cBhvr>
                                        <p:cTn id="53"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64"/>
                                        </p:tgtEl>
                                        <p:attrNameLst>
                                          <p:attrName>style.visibility</p:attrName>
                                        </p:attrNameLst>
                                      </p:cBhvr>
                                      <p:to>
                                        <p:strVal val="visible"/>
                                      </p:to>
                                    </p:set>
                                    <p:animEffect transition="in" filter="fade">
                                      <p:cBhvr>
                                        <p:cTn id="58" dur="500"/>
                                        <p:tgtEl>
                                          <p:spTgt spid="64"/>
                                        </p:tgtEl>
                                      </p:cBhvr>
                                    </p:animEffect>
                                    <p:anim calcmode="lin" valueType="num">
                                      <p:cBhvr>
                                        <p:cTn id="59" dur="500" fill="hold"/>
                                        <p:tgtEl>
                                          <p:spTgt spid="64"/>
                                        </p:tgtEl>
                                        <p:attrNameLst>
                                          <p:attrName>ppt_w</p:attrName>
                                        </p:attrNameLst>
                                      </p:cBhvr>
                                      <p:tavLst>
                                        <p:tav tm="0">
                                          <p:val>
                                            <p:fltVal val="0"/>
                                          </p:val>
                                        </p:tav>
                                        <p:tav tm="100000">
                                          <p:val>
                                            <p:strVal val="#ppt_w"/>
                                          </p:val>
                                        </p:tav>
                                      </p:tavLst>
                                    </p:anim>
                                    <p:anim calcmode="lin" valueType="num">
                                      <p:cBhvr>
                                        <p:cTn id="60"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5"/>
                                        </p:tgtEl>
                                        <p:attrNameLst>
                                          <p:attrName>style.visibility</p:attrName>
                                        </p:attrNameLst>
                                      </p:cBhvr>
                                      <p:to>
                                        <p:strVal val="visible"/>
                                      </p:to>
                                    </p:set>
                                    <p:animEffect transition="in" filter="wipe(left)">
                                      <p:cBhvr>
                                        <p:cTn id="65"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5 · SE p. 222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scuba diver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scuba diver is </a:t>
            </a:r>
            <a:r>
              <a:rPr lang="en-US" sz="1575" dirty="0" b="1">
                <a:solidFill>
                  <a:srgbClr val="16171D"/>
                </a:solidFill>
                <a:latin typeface="Segoe UI"/>
                <a:cs typeface="Segoe UI"/>
              </a:rPr>
              <a:t xml:space="preserve">130 feet below sea level</a:t>
            </a:r>
            <a:r>
              <a:rPr lang="en-US" sz="1575" dirty="0">
                <a:solidFill>
                  <a:srgbClr val="16171D"/>
                </a:solidFill>
                <a:latin typeface="Segoe UI"/>
                <a:cs typeface="Segoe UI"/>
              </a:rPr>
              <a:t xml:space="preserve">. The diver ascends at a constant rate of </a:t>
            </a:r>
            <a:r>
              <a:rPr lang="en-US" sz="1575" dirty="0" b="1">
                <a:solidFill>
                  <a:srgbClr val="16171D"/>
                </a:solidFill>
                <a:latin typeface="Segoe UI"/>
                <a:cs typeface="Segoe UI"/>
              </a:rPr>
              <a:t xml:space="preserve">20 feet per minute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minutes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feet.</a:t>
            </a:r>
            <a:endParaRPr lang="en-US" sz="1575" dirty="0"/>
          </a:p>
        </p:txBody>
      </p:sp>
      <p:sp>
        <p:nvSpPr>
          <p:cNvPr id="6" name="Shape 6"/>
          <p:cNvSpPr txBox="1"/>
          <p:nvPr/>
        </p:nvSpPr>
        <p:spPr>
          <a:xfrm>
            <a:off x="685800" y="249402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Below sea level → </a:t>
            </a:r>
            <a:r>
              <a:rPr lang="en-US" sz="1950" dirty="0" b="1">
                <a:solidFill>
                  <a:srgbClr val="3050B8"/>
                </a:solidFill>
                <a:latin typeface="Segoe UI"/>
                <a:cs typeface="Segoe UI"/>
              </a:rPr>
              <a:t xml:space="preserve">(0, −130)</a:t>
            </a:r>
            <a:r>
              <a:rPr lang="en-US" sz="1950" dirty="0">
                <a:solidFill>
                  <a:srgbClr val="16171D"/>
                </a:solidFill>
                <a:latin typeface="Segoe UI"/>
                <a:cs typeface="Segoe UI"/>
              </a:rPr>
              <a:t xml:space="preserve">. Rising → </a:t>
            </a:r>
            <a:r>
              <a:rPr lang="en-US" sz="1950" dirty="0" b="1">
                <a:solidFill>
                  <a:srgbClr val="C9561F"/>
                </a:solidFill>
                <a:latin typeface="Segoe UI"/>
                <a:cs typeface="Segoe UI"/>
              </a:rPr>
              <a:t xml:space="preserve">slope +20</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2960370"/>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20</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130</a:t>
            </a:r>
            <a:endParaRPr lang="en-US" sz="2850" dirty="0"/>
          </a:p>
        </p:txBody>
      </p:sp>
      <p:sp>
        <p:nvSpPr>
          <p:cNvPr id="8" name="Shape 8"/>
          <p:cNvSpPr txBox="1"/>
          <p:nvPr/>
        </p:nvSpPr>
        <p:spPr>
          <a:xfrm>
            <a:off x="685800" y="367360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−130), then up 20 and right 1 each minute.</a:t>
            </a:r>
            <a:endParaRPr lang="en-US" sz="1575" dirty="0"/>
          </a:p>
        </p:txBody>
      </p:sp>
      <p:sp>
        <p:nvSpPr>
          <p:cNvPr id="9" name="Shape 9"/>
          <p:cNvSpPr txBox="1"/>
          <p:nvPr/>
        </p:nvSpPr>
        <p:spPr>
          <a:xfrm>
            <a:off x="685800" y="4082796"/>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diver reaches the surface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after 6.5 minutes.</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63729" y="2199132"/>
            <a:ext cx="0" cy="3448050"/>
          </a:xfrm>
          <a:prstGeom prst="line">
            <a:avLst/>
          </a:prstGeom>
          <a:ln w="9525" cap="flat">
            <a:solidFill>
              <a:srgbClr val="E6E8F2"/>
            </a:solidFill>
          </a:ln>
        </p:spPr>
      </p:cxnSp>
      <p:cxnSp>
        <p:nvCxnSpPr>
          <p:cNvPr id="13" name="Line 13"/>
          <p:cNvCxnSpPr/>
          <p:nvPr/>
        </p:nvCxnSpPr>
        <p:spPr>
          <a:xfrm>
            <a:off x="8917212" y="2199132"/>
            <a:ext cx="0" cy="3448050"/>
          </a:xfrm>
          <a:prstGeom prst="line">
            <a:avLst/>
          </a:prstGeom>
          <a:ln w="9525" cap="flat">
            <a:solidFill>
              <a:srgbClr val="E6E8F2"/>
            </a:solidFill>
          </a:ln>
        </p:spPr>
      </p:cxnSp>
      <p:cxnSp>
        <p:nvCxnSpPr>
          <p:cNvPr id="14" name="Line 14"/>
          <p:cNvCxnSpPr/>
          <p:nvPr/>
        </p:nvCxnSpPr>
        <p:spPr>
          <a:xfrm>
            <a:off x="9270695" y="2199132"/>
            <a:ext cx="0" cy="3448050"/>
          </a:xfrm>
          <a:prstGeom prst="line">
            <a:avLst/>
          </a:prstGeom>
          <a:ln w="9525" cap="flat">
            <a:solidFill>
              <a:srgbClr val="E6E8F2"/>
            </a:solidFill>
          </a:ln>
        </p:spPr>
      </p:cxnSp>
      <p:cxnSp>
        <p:nvCxnSpPr>
          <p:cNvPr id="15" name="Line 15"/>
          <p:cNvCxnSpPr/>
          <p:nvPr/>
        </p:nvCxnSpPr>
        <p:spPr>
          <a:xfrm>
            <a:off x="9624179" y="2199132"/>
            <a:ext cx="0" cy="3448050"/>
          </a:xfrm>
          <a:prstGeom prst="line">
            <a:avLst/>
          </a:prstGeom>
          <a:ln w="9525" cap="flat">
            <a:solidFill>
              <a:srgbClr val="E6E8F2"/>
            </a:solidFill>
          </a:ln>
        </p:spPr>
      </p:cxnSp>
      <p:cxnSp>
        <p:nvCxnSpPr>
          <p:cNvPr id="16" name="Line 16"/>
          <p:cNvCxnSpPr/>
          <p:nvPr/>
        </p:nvCxnSpPr>
        <p:spPr>
          <a:xfrm>
            <a:off x="9977662" y="2199132"/>
            <a:ext cx="0" cy="3448050"/>
          </a:xfrm>
          <a:prstGeom prst="line">
            <a:avLst/>
          </a:prstGeom>
          <a:ln w="9525" cap="flat">
            <a:solidFill>
              <a:srgbClr val="E6E8F2"/>
            </a:solidFill>
          </a:ln>
        </p:spPr>
      </p:cxnSp>
      <p:cxnSp>
        <p:nvCxnSpPr>
          <p:cNvPr id="17" name="Line 17"/>
          <p:cNvCxnSpPr/>
          <p:nvPr/>
        </p:nvCxnSpPr>
        <p:spPr>
          <a:xfrm>
            <a:off x="10331145" y="2199132"/>
            <a:ext cx="0" cy="3448050"/>
          </a:xfrm>
          <a:prstGeom prst="line">
            <a:avLst/>
          </a:prstGeom>
          <a:ln w="9525" cap="flat">
            <a:solidFill>
              <a:srgbClr val="E6E8F2"/>
            </a:solidFill>
          </a:ln>
        </p:spPr>
      </p:cxnSp>
      <p:cxnSp>
        <p:nvCxnSpPr>
          <p:cNvPr id="18" name="Line 18"/>
          <p:cNvCxnSpPr/>
          <p:nvPr/>
        </p:nvCxnSpPr>
        <p:spPr>
          <a:xfrm>
            <a:off x="10684629" y="2199132"/>
            <a:ext cx="0" cy="3448050"/>
          </a:xfrm>
          <a:prstGeom prst="line">
            <a:avLst/>
          </a:prstGeom>
          <a:ln w="9525" cap="flat">
            <a:solidFill>
              <a:srgbClr val="E6E8F2"/>
            </a:solidFill>
          </a:ln>
        </p:spPr>
      </p:cxnSp>
      <p:cxnSp>
        <p:nvCxnSpPr>
          <p:cNvPr id="19" name="Line 19"/>
          <p:cNvCxnSpPr/>
          <p:nvPr/>
        </p:nvCxnSpPr>
        <p:spPr>
          <a:xfrm>
            <a:off x="11038112" y="2199132"/>
            <a:ext cx="0" cy="3448050"/>
          </a:xfrm>
          <a:prstGeom prst="line">
            <a:avLst/>
          </a:prstGeom>
          <a:ln w="9525" cap="flat">
            <a:solidFill>
              <a:srgbClr val="E6E8F2"/>
            </a:solidFill>
          </a:ln>
        </p:spPr>
      </p:cxnSp>
      <p:cxnSp>
        <p:nvCxnSpPr>
          <p:cNvPr id="20" name="Line 20"/>
          <p:cNvCxnSpPr/>
          <p:nvPr/>
        </p:nvCxnSpPr>
        <p:spPr>
          <a:xfrm>
            <a:off x="11391595" y="2199132"/>
            <a:ext cx="0" cy="3448050"/>
          </a:xfrm>
          <a:prstGeom prst="line">
            <a:avLst/>
          </a:prstGeom>
          <a:ln w="9525" cap="flat">
            <a:solidFill>
              <a:srgbClr val="E6E8F2"/>
            </a:solidFill>
          </a:ln>
        </p:spPr>
      </p:cxnSp>
      <p:cxnSp>
        <p:nvCxnSpPr>
          <p:cNvPr id="21" name="Line 21"/>
          <p:cNvCxnSpPr/>
          <p:nvPr/>
        </p:nvCxnSpPr>
        <p:spPr>
          <a:xfrm>
            <a:off x="8210245" y="5647182"/>
            <a:ext cx="3181350" cy="0"/>
          </a:xfrm>
          <a:prstGeom prst="line">
            <a:avLst/>
          </a:prstGeom>
          <a:ln w="9525" cap="flat">
            <a:solidFill>
              <a:srgbClr val="E6E8F2"/>
            </a:solidFill>
          </a:ln>
        </p:spPr>
      </p:cxnSp>
      <p:cxnSp>
        <p:nvCxnSpPr>
          <p:cNvPr id="22" name="Line 22"/>
          <p:cNvCxnSpPr/>
          <p:nvPr/>
        </p:nvCxnSpPr>
        <p:spPr>
          <a:xfrm>
            <a:off x="8210245" y="5400893"/>
            <a:ext cx="3181350" cy="0"/>
          </a:xfrm>
          <a:prstGeom prst="line">
            <a:avLst/>
          </a:prstGeom>
          <a:ln w="9525" cap="flat">
            <a:solidFill>
              <a:srgbClr val="E6E8F2"/>
            </a:solidFill>
          </a:ln>
        </p:spPr>
      </p:cxnSp>
      <p:cxnSp>
        <p:nvCxnSpPr>
          <p:cNvPr id="23" name="Line 23"/>
          <p:cNvCxnSpPr/>
          <p:nvPr/>
        </p:nvCxnSpPr>
        <p:spPr>
          <a:xfrm>
            <a:off x="8210245" y="5154603"/>
            <a:ext cx="3181350" cy="0"/>
          </a:xfrm>
          <a:prstGeom prst="line">
            <a:avLst/>
          </a:prstGeom>
          <a:ln w="9525" cap="flat">
            <a:solidFill>
              <a:srgbClr val="E6E8F2"/>
            </a:solidFill>
          </a:ln>
        </p:spPr>
      </p:cxnSp>
      <p:cxnSp>
        <p:nvCxnSpPr>
          <p:cNvPr id="24" name="Line 24"/>
          <p:cNvCxnSpPr/>
          <p:nvPr/>
        </p:nvCxnSpPr>
        <p:spPr>
          <a:xfrm>
            <a:off x="8210245" y="4908314"/>
            <a:ext cx="3181350" cy="0"/>
          </a:xfrm>
          <a:prstGeom prst="line">
            <a:avLst/>
          </a:prstGeom>
          <a:ln w="9525" cap="flat">
            <a:solidFill>
              <a:srgbClr val="E6E8F2"/>
            </a:solidFill>
          </a:ln>
        </p:spPr>
      </p:cxnSp>
      <p:cxnSp>
        <p:nvCxnSpPr>
          <p:cNvPr id="25" name="Line 25"/>
          <p:cNvCxnSpPr/>
          <p:nvPr/>
        </p:nvCxnSpPr>
        <p:spPr>
          <a:xfrm>
            <a:off x="8210245" y="4662025"/>
            <a:ext cx="3181350" cy="0"/>
          </a:xfrm>
          <a:prstGeom prst="line">
            <a:avLst/>
          </a:prstGeom>
          <a:ln w="9525" cap="flat">
            <a:solidFill>
              <a:srgbClr val="E6E8F2"/>
            </a:solidFill>
          </a:ln>
        </p:spPr>
      </p:cxnSp>
      <p:cxnSp>
        <p:nvCxnSpPr>
          <p:cNvPr id="26" name="Line 26"/>
          <p:cNvCxnSpPr/>
          <p:nvPr/>
        </p:nvCxnSpPr>
        <p:spPr>
          <a:xfrm>
            <a:off x="8210245" y="4415736"/>
            <a:ext cx="3181350" cy="0"/>
          </a:xfrm>
          <a:prstGeom prst="line">
            <a:avLst/>
          </a:prstGeom>
          <a:ln w="9525" cap="flat">
            <a:solidFill>
              <a:srgbClr val="E6E8F2"/>
            </a:solidFill>
          </a:ln>
        </p:spPr>
      </p:cxnSp>
      <p:cxnSp>
        <p:nvCxnSpPr>
          <p:cNvPr id="27" name="Line 27"/>
          <p:cNvCxnSpPr/>
          <p:nvPr/>
        </p:nvCxnSpPr>
        <p:spPr>
          <a:xfrm>
            <a:off x="8210245" y="4169446"/>
            <a:ext cx="3181350" cy="0"/>
          </a:xfrm>
          <a:prstGeom prst="line">
            <a:avLst/>
          </a:prstGeom>
          <a:ln w="9525" cap="flat">
            <a:solidFill>
              <a:srgbClr val="E6E8F2"/>
            </a:solidFill>
          </a:ln>
        </p:spPr>
      </p:cxnSp>
      <p:cxnSp>
        <p:nvCxnSpPr>
          <p:cNvPr id="28" name="Line 28"/>
          <p:cNvCxnSpPr/>
          <p:nvPr/>
        </p:nvCxnSpPr>
        <p:spPr>
          <a:xfrm>
            <a:off x="8210245" y="3923157"/>
            <a:ext cx="3181350" cy="0"/>
          </a:xfrm>
          <a:prstGeom prst="line">
            <a:avLst/>
          </a:prstGeom>
          <a:ln w="9525" cap="flat">
            <a:solidFill>
              <a:srgbClr val="E6E8F2"/>
            </a:solidFill>
          </a:ln>
        </p:spPr>
      </p:cxnSp>
      <p:cxnSp>
        <p:nvCxnSpPr>
          <p:cNvPr id="29" name="Line 29"/>
          <p:cNvCxnSpPr/>
          <p:nvPr/>
        </p:nvCxnSpPr>
        <p:spPr>
          <a:xfrm>
            <a:off x="8210245" y="3676868"/>
            <a:ext cx="3181350" cy="0"/>
          </a:xfrm>
          <a:prstGeom prst="line">
            <a:avLst/>
          </a:prstGeom>
          <a:ln w="9525" cap="flat">
            <a:solidFill>
              <a:srgbClr val="E6E8F2"/>
            </a:solidFill>
          </a:ln>
        </p:spPr>
      </p:cxnSp>
      <p:cxnSp>
        <p:nvCxnSpPr>
          <p:cNvPr id="30" name="Line 30"/>
          <p:cNvCxnSpPr/>
          <p:nvPr/>
        </p:nvCxnSpPr>
        <p:spPr>
          <a:xfrm>
            <a:off x="8210245" y="3430578"/>
            <a:ext cx="3181350" cy="0"/>
          </a:xfrm>
          <a:prstGeom prst="line">
            <a:avLst/>
          </a:prstGeom>
          <a:ln w="9525" cap="flat">
            <a:solidFill>
              <a:srgbClr val="E6E8F2"/>
            </a:solidFill>
          </a:ln>
        </p:spPr>
      </p:cxnSp>
      <p:cxnSp>
        <p:nvCxnSpPr>
          <p:cNvPr id="31" name="Line 31"/>
          <p:cNvCxnSpPr/>
          <p:nvPr/>
        </p:nvCxnSpPr>
        <p:spPr>
          <a:xfrm>
            <a:off x="8210245" y="3184289"/>
            <a:ext cx="3181350" cy="0"/>
          </a:xfrm>
          <a:prstGeom prst="line">
            <a:avLst/>
          </a:prstGeom>
          <a:ln w="9525" cap="flat">
            <a:solidFill>
              <a:srgbClr val="E6E8F2"/>
            </a:solidFill>
          </a:ln>
        </p:spPr>
      </p:cxnSp>
      <p:cxnSp>
        <p:nvCxnSpPr>
          <p:cNvPr id="32" name="Line 32"/>
          <p:cNvCxnSpPr/>
          <p:nvPr/>
        </p:nvCxnSpPr>
        <p:spPr>
          <a:xfrm>
            <a:off x="8210245" y="2938000"/>
            <a:ext cx="3181350" cy="0"/>
          </a:xfrm>
          <a:prstGeom prst="line">
            <a:avLst/>
          </a:prstGeom>
          <a:ln w="9525" cap="flat">
            <a:solidFill>
              <a:srgbClr val="E6E8F2"/>
            </a:solidFill>
          </a:ln>
        </p:spPr>
      </p:cxnSp>
      <p:cxnSp>
        <p:nvCxnSpPr>
          <p:cNvPr id="33" name="Line 33"/>
          <p:cNvCxnSpPr/>
          <p:nvPr/>
        </p:nvCxnSpPr>
        <p:spPr>
          <a:xfrm>
            <a:off x="8210245" y="2691711"/>
            <a:ext cx="3181350" cy="0"/>
          </a:xfrm>
          <a:prstGeom prst="line">
            <a:avLst/>
          </a:prstGeom>
          <a:ln w="9525" cap="flat">
            <a:solidFill>
              <a:srgbClr val="E6E8F2"/>
            </a:solidFill>
          </a:ln>
        </p:spPr>
      </p:cxnSp>
      <p:cxnSp>
        <p:nvCxnSpPr>
          <p:cNvPr id="34" name="Line 34"/>
          <p:cNvCxnSpPr/>
          <p:nvPr/>
        </p:nvCxnSpPr>
        <p:spPr>
          <a:xfrm>
            <a:off x="8210245" y="2445421"/>
            <a:ext cx="3181350" cy="0"/>
          </a:xfrm>
          <a:prstGeom prst="line">
            <a:avLst/>
          </a:prstGeom>
          <a:ln w="9525" cap="flat">
            <a:solidFill>
              <a:srgbClr val="E6E8F2"/>
            </a:solidFill>
          </a:ln>
        </p:spPr>
      </p:cxnSp>
      <p:cxnSp>
        <p:nvCxnSpPr>
          <p:cNvPr id="35" name="Line 35"/>
          <p:cNvCxnSpPr/>
          <p:nvPr/>
        </p:nvCxnSpPr>
        <p:spPr>
          <a:xfrm>
            <a:off x="8210245" y="2199132"/>
            <a:ext cx="3181350" cy="0"/>
          </a:xfrm>
          <a:prstGeom prst="line">
            <a:avLst/>
          </a:prstGeom>
          <a:ln w="9525" cap="flat">
            <a:solidFill>
              <a:srgbClr val="E6E8F2"/>
            </a:solidFill>
          </a:ln>
        </p:spPr>
      </p:cxnSp>
      <p:cxnSp>
        <p:nvCxnSpPr>
          <p:cNvPr id="36" name="Line 36"/>
          <p:cNvCxnSpPr/>
          <p:nvPr/>
        </p:nvCxnSpPr>
        <p:spPr>
          <a:xfrm>
            <a:off x="8210245" y="2199132"/>
            <a:ext cx="0" cy="3448050"/>
          </a:xfrm>
          <a:prstGeom prst="line">
            <a:avLst/>
          </a:prstGeom>
          <a:ln w="19050" cap="flat">
            <a:solidFill>
              <a:srgbClr val="5F6272"/>
            </a:solidFill>
          </a:ln>
        </p:spPr>
      </p:cxnSp>
      <p:cxnSp>
        <p:nvCxnSpPr>
          <p:cNvPr id="37" name="Line 37"/>
          <p:cNvCxnSpPr/>
          <p:nvPr/>
        </p:nvCxnSpPr>
        <p:spPr>
          <a:xfrm>
            <a:off x="8210245" y="2199132"/>
            <a:ext cx="3181350" cy="0"/>
          </a:xfrm>
          <a:prstGeom prst="line">
            <a:avLst/>
          </a:prstGeom>
          <a:ln w="19050" cap="flat">
            <a:solidFill>
              <a:srgbClr val="5F6272"/>
            </a:solidFill>
          </a:ln>
        </p:spPr>
      </p:cxnSp>
      <p:sp>
        <p:nvSpPr>
          <p:cNvPr id="38" name="Shape 38"/>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82894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86428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89963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34985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70334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100568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04103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6" name="Shape 46"/>
          <p:cNvSpPr txBox="1"/>
          <p:nvPr/>
        </p:nvSpPr>
        <p:spPr>
          <a:xfrm>
            <a:off x="107637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8" name="Shape 48"/>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49" name="Shape 49"/>
          <p:cNvSpPr txBox="1"/>
          <p:nvPr/>
        </p:nvSpPr>
        <p:spPr>
          <a:xfrm>
            <a:off x="7643317" y="5063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0" name="Shape 50"/>
          <p:cNvSpPr txBox="1"/>
          <p:nvPr/>
        </p:nvSpPr>
        <p:spPr>
          <a:xfrm>
            <a:off x="7643317" y="45705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1" name="Shape 51"/>
          <p:cNvSpPr txBox="1"/>
          <p:nvPr/>
        </p:nvSpPr>
        <p:spPr>
          <a:xfrm>
            <a:off x="7643317" y="40780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txBox="1"/>
          <p:nvPr/>
        </p:nvSpPr>
        <p:spPr>
          <a:xfrm>
            <a:off x="7643317" y="3585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7643317" y="309284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60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p:nvPr/>
        </p:nvSpPr>
        <p:spPr>
          <a:xfrm>
            <a:off x="8157858" y="534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295970" y="515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−130)</a:t>
            </a:r>
            <a:endParaRPr lang="en-US" sz="1125" dirty="0"/>
          </a:p>
        </p:txBody>
      </p:sp>
      <p:sp>
        <p:nvSpPr>
          <p:cNvPr id="58" name="Shape 58"/>
          <p:cNvSpPr/>
          <p:nvPr/>
        </p:nvSpPr>
        <p:spPr>
          <a:xfrm>
            <a:off x="8511341" y="485592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p:nvPr/>
        </p:nvSpPr>
        <p:spPr>
          <a:xfrm>
            <a:off x="8864824" y="43633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0" name="Line 60"/>
          <p:cNvCxnSpPr/>
          <p:nvPr/>
        </p:nvCxnSpPr>
        <p:spPr>
          <a:xfrm flipV="1">
            <a:off x="8210245" y="2199132"/>
            <a:ext cx="2297642" cy="320176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500"/>
                                        <p:tgtEl>
                                          <p:spTgt spid="56"/>
                                        </p:tgtEl>
                                      </p:cBhvr>
                                    </p:animEffect>
                                    <p:anim calcmode="lin" valueType="num">
                                      <p:cBhvr>
                                        <p:cTn id="40" dur="500" fill="hold"/>
                                        <p:tgtEl>
                                          <p:spTgt spid="56"/>
                                        </p:tgtEl>
                                        <p:attrNameLst>
                                          <p:attrName>ppt_w</p:attrName>
                                        </p:attrNameLst>
                                      </p:cBhvr>
                                      <p:tavLst>
                                        <p:tav tm="0">
                                          <p:val>
                                            <p:fltVal val="0"/>
                                          </p:val>
                                        </p:tav>
                                        <p:tav tm="100000">
                                          <p:val>
                                            <p:strVal val="#ppt_w"/>
                                          </p:val>
                                        </p:tav>
                                      </p:tavLst>
                                    </p:anim>
                                    <p:anim calcmode="lin" valueType="num">
                                      <p:cBhvr>
                                        <p:cTn id="41" dur="500" fill="hold"/>
                                        <p:tgtEl>
                                          <p:spTgt spid="56"/>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7"/>
                                        </p:tgtEl>
                                        <p:attrNameLst>
                                          <p:attrName>style.visibility</p:attrName>
                                        </p:attrNameLst>
                                      </p:cBhvr>
                                      <p:to>
                                        <p:strVal val="visible"/>
                                      </p:to>
                                    </p:set>
                                    <p:animEffect transition="in" filter="fade">
                                      <p:cBhvr>
                                        <p:cTn id="44" dur="500"/>
                                        <p:tgtEl>
                                          <p:spTgt spid="57"/>
                                        </p:tgtEl>
                                      </p:cBhvr>
                                    </p:animEffect>
                                    <p:anim calcmode="lin" valueType="num">
                                      <p:cBhvr>
                                        <p:cTn id="45" dur="500" fill="hold"/>
                                        <p:tgtEl>
                                          <p:spTgt spid="57"/>
                                        </p:tgtEl>
                                        <p:attrNameLst>
                                          <p:attrName>ppt_w</p:attrName>
                                        </p:attrNameLst>
                                      </p:cBhvr>
                                      <p:tavLst>
                                        <p:tav tm="0">
                                          <p:val>
                                            <p:fltVal val="0"/>
                                          </p:val>
                                        </p:tav>
                                        <p:tav tm="100000">
                                          <p:val>
                                            <p:strVal val="#ppt_w"/>
                                          </p:val>
                                        </p:tav>
                                      </p:tavLst>
                                    </p:anim>
                                    <p:anim calcmode="lin" valueType="num">
                                      <p:cBhvr>
                                        <p:cTn id="4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8"/>
                                        </p:tgtEl>
                                        <p:attrNameLst>
                                          <p:attrName>style.visibility</p:attrName>
                                        </p:attrNameLst>
                                      </p:cBhvr>
                                      <p:to>
                                        <p:strVal val="visible"/>
                                      </p:to>
                                    </p:set>
                                    <p:animEffect transition="in" filter="fade">
                                      <p:cBhvr>
                                        <p:cTn id="51" dur="500"/>
                                        <p:tgtEl>
                                          <p:spTgt spid="58"/>
                                        </p:tgtEl>
                                      </p:cBhvr>
                                    </p:animEffect>
                                    <p:anim calcmode="lin" valueType="num">
                                      <p:cBhvr>
                                        <p:cTn id="52" dur="500" fill="hold"/>
                                        <p:tgtEl>
                                          <p:spTgt spid="58"/>
                                        </p:tgtEl>
                                        <p:attrNameLst>
                                          <p:attrName>ppt_w</p:attrName>
                                        </p:attrNameLst>
                                      </p:cBhvr>
                                      <p:tavLst>
                                        <p:tav tm="0">
                                          <p:val>
                                            <p:fltVal val="0"/>
                                          </p:val>
                                        </p:tav>
                                        <p:tav tm="100000">
                                          <p:val>
                                            <p:strVal val="#ppt_w"/>
                                          </p:val>
                                        </p:tav>
                                      </p:tavLst>
                                    </p:anim>
                                    <p:anim calcmode="lin" valueType="num">
                                      <p:cBhvr>
                                        <p:cTn id="5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fade">
                                      <p:cBhvr>
                                        <p:cTn id="58" dur="500"/>
                                        <p:tgtEl>
                                          <p:spTgt spid="59"/>
                                        </p:tgtEl>
                                      </p:cBhvr>
                                    </p:animEffect>
                                    <p:anim calcmode="lin" valueType="num">
                                      <p:cBhvr>
                                        <p:cTn id="59" dur="500" fill="hold"/>
                                        <p:tgtEl>
                                          <p:spTgt spid="59"/>
                                        </p:tgtEl>
                                        <p:attrNameLst>
                                          <p:attrName>ppt_w</p:attrName>
                                        </p:attrNameLst>
                                      </p:cBhvr>
                                      <p:tavLst>
                                        <p:tav tm="0">
                                          <p:val>
                                            <p:fltVal val="0"/>
                                          </p:val>
                                        </p:tav>
                                        <p:tav tm="100000">
                                          <p:val>
                                            <p:strVal val="#ppt_w"/>
                                          </p:val>
                                        </p:tav>
                                      </p:tavLst>
                                    </p:anim>
                                    <p:anim calcmode="lin" valueType="num">
                                      <p:cBhvr>
                                        <p:cTn id="60"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wipe(left)">
                                      <p:cBhvr>
                                        <p:cTn id="65"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Write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as </a:t>
            </a:r>
            <a:r>
              <a:rPr lang="en-US" sz="1575" dirty="0">
                <a:solidFill>
                  <a:srgbClr val="16171D"/>
                </a:solidFill>
                <a:latin typeface="Segoe UI"/>
                <a:cs typeface="Segoe UI"/>
              </a:rPr>
              <a:t xml:space="preserve">rise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run</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3. Count to the next point.</a:t>
            </a:r>
            <a:br>
              <a:rPr lang="en-US" sz="1575" dirty="0">
                <a:solidFill>
                  <a:srgbClr val="16171D"/>
                </a:solidFill>
                <a:latin typeface="Segoe UI"/>
                <a:cs typeface="Segoe UI"/>
              </a:rPr>
            </a:br>
            <a:r>
              <a:rPr lang="en-US" sz="1575" dirty="0">
                <a:solidFill>
                  <a:srgbClr val="16171D"/>
                </a:solidFill>
                <a:latin typeface="Segoe UI"/>
                <a:cs typeface="Segoe UI"/>
              </a:rPr>
              <a:t xml:space="preserve">4. Plot 3 points and connect.</a:t>
            </a:r>
            <a:endParaRPr lang="en-US" sz="1575" dirty="0"/>
          </a:p>
        </p:txBody>
      </p:sp>
      <p:sp>
        <p:nvSpPr>
          <p:cNvPr id="9" name="Shape 9"/>
          <p:cNvSpPr txBox="1"/>
          <p:nvPr/>
        </p:nvSpPr>
        <p:spPr>
          <a:xfrm>
            <a:off x="4349648"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Watch the scale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Count </a:t>
            </a:r>
            <a:r>
              <a:rPr lang="en-US" sz="1575" dirty="0" b="1">
                <a:solidFill>
                  <a:srgbClr val="16171D"/>
                </a:solidFill>
                <a:latin typeface="Segoe UI"/>
                <a:cs typeface="Segoe UI"/>
              </a:rPr>
              <a:t xml:space="preserve">units</a:t>
            </a:r>
            <a:r>
              <a:rPr lang="en-US" sz="1575" dirty="0">
                <a:solidFill>
                  <a:srgbClr val="16171D"/>
                </a:solidFill>
                <a:latin typeface="Segoe UI"/>
                <a:cs typeface="Segoe UI"/>
              </a:rPr>
              <a:t xml:space="preserve">, not grid squares. If the axis counts by 10, up 10 is one square.</a:t>
            </a:r>
            <a:endParaRPr lang="en-US" sz="1575" dirty="0"/>
          </a:p>
        </p:txBody>
      </p:sp>
      <p:sp>
        <p:nvSpPr>
          <p:cNvPr id="12" name="Shape 12"/>
          <p:cNvSpPr txBox="1"/>
          <p:nvPr/>
        </p:nvSpPr>
        <p:spPr>
          <a:xfrm>
            <a:off x="8013497"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Check the direction</a:t>
            </a:r>
            <a:endParaRPr lang="en-US" sz="2100" dirty="0"/>
          </a:p>
        </p:txBody>
      </p:sp>
      <p:sp>
        <p:nvSpPr>
          <p:cNvPr id="11" name="Shape 11"/>
          <p:cNvSpPr txBox="1"/>
          <p:nvPr/>
        </p:nvSpPr>
        <p:spPr>
          <a:xfrm>
            <a:off x="8223047"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slope: rises left to right.</a:t>
            </a:r>
            <a:br>
              <a:rPr lang="en-US" sz="1575" dirty="0">
                <a:solidFill>
                  <a:srgbClr val="16171D"/>
                </a:solidFill>
                <a:latin typeface="Segoe UI"/>
                <a:cs typeface="Segoe UI"/>
              </a:rPr>
            </a:br>
            <a:r>
              <a:rPr lang="en-US" sz="1575" dirty="0">
                <a:solidFill>
                  <a:srgbClr val="16171D"/>
                </a:solidFill>
                <a:latin typeface="Segoe UI"/>
                <a:cs typeface="Segoe UI"/>
              </a:rPr>
              <a:t xml:space="preserve">Negative slope: falls left to right.</a:t>
            </a:r>
            <a:endParaRPr lang="en-US" sz="1575" dirty="0"/>
          </a:p>
        </p:txBody>
      </p:sp>
      <p:sp>
        <p:nvSpPr>
          <p:cNvPr id="13" name="Shape 13"/>
          <p:cNvSpPr txBox="1"/>
          <p:nvPr/>
        </p:nvSpPr>
        <p:spPr>
          <a:xfrm>
            <a:off x="685800" y="361797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two more points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 (3, 3), (−3, 5)</a:t>
            </a:r>
            <a:endParaRPr lang="en-US" sz="2325" dirty="0"/>
          </a:p>
        </p:txBody>
      </p:sp>
      <p:sp>
        <p:nvSpPr>
          <p:cNvPr id="6" name="Shape 6"/>
          <p:cNvSpPr txBox="1"/>
          <p:nvPr/>
        </p:nvSpPr>
        <p:spPr>
          <a:xfrm>
            <a:off x="685800" y="359816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Lena has $25 and saves $5 a week. Write an equation. </a:t>
            </a:r>
            <a:r>
              <a:rPr lang="en-US" sz="1575" dirty="0">
                <a:solidFill>
                  <a:srgbClr val="5F6272"/>
                </a:solidFill>
                <a:latin typeface="Segoe UI"/>
                <a:cs typeface="Segoe UI"/>
              </a:rPr>
              <a:t xml:space="preserve">(SE p. 221)</a:t>
            </a:r>
            <a:endParaRPr lang="en-US" sz="1950" dirty="0"/>
          </a:p>
        </p:txBody>
      </p:sp>
      <p:sp>
        <p:nvSpPr>
          <p:cNvPr id="7" name="Shape 7"/>
          <p:cNvSpPr txBox="1"/>
          <p:nvPr/>
        </p:nvSpPr>
        <p:spPr>
          <a:xfrm>
            <a:off x="685800" y="438073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(Lesson 4)</a:t>
            </a:r>
            <a:endParaRPr lang="en-US" sz="1950" dirty="0"/>
          </a:p>
        </p:txBody>
      </p:sp>
      <p:sp>
        <p:nvSpPr>
          <p:cNvPr id="9" name="Shape 9"/>
          <p:cNvSpPr txBox="1"/>
          <p:nvPr/>
        </p:nvSpPr>
        <p:spPr>
          <a:xfrm>
            <a:off x="6362548"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4, (1, −2)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Where does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5.2: graph from point-slope form</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5.3: standard form and intercepts</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3 · SE p. 225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underwater ROV</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ROV is lowered from a boat at </a:t>
            </a:r>
            <a:r>
              <a:rPr lang="en-US" sz="1575" dirty="0" b="1">
                <a:solidFill>
                  <a:srgbClr val="16171D"/>
                </a:solidFill>
                <a:latin typeface="Segoe UI"/>
                <a:cs typeface="Segoe UI"/>
              </a:rPr>
              <a:t xml:space="preserve">0.3 meters per second</a:t>
            </a:r>
            <a:r>
              <a:rPr lang="en-US" sz="1575" dirty="0">
                <a:solidFill>
                  <a:srgbClr val="16171D"/>
                </a:solidFill>
                <a:latin typeface="Segoe UI"/>
                <a:cs typeface="Segoe UI"/>
              </a:rPr>
              <a:t xml:space="preserve">. After </a:t>
            </a:r>
            <a:r>
              <a:rPr lang="en-US" sz="1575" dirty="0" b="1">
                <a:solidFill>
                  <a:srgbClr val="16171D"/>
                </a:solidFill>
                <a:latin typeface="Segoe UI"/>
                <a:cs typeface="Segoe UI"/>
              </a:rPr>
              <a:t xml:space="preserve">90 seconds</a:t>
            </a:r>
            <a:r>
              <a:rPr lang="en-US" sz="1575" dirty="0">
                <a:solidFill>
                  <a:srgbClr val="16171D"/>
                </a:solidFill>
                <a:latin typeface="Segoe UI"/>
                <a:cs typeface="Segoe UI"/>
              </a:rPr>
              <a:t xml:space="preserve">, it is at a depth of </a:t>
            </a:r>
            <a:r>
              <a:rPr lang="en-US" sz="1575" dirty="0" b="1">
                <a:solidFill>
                  <a:srgbClr val="16171D"/>
                </a:solidFill>
                <a:latin typeface="Segoe UI"/>
                <a:cs typeface="Segoe UI"/>
              </a:rPr>
              <a:t xml:space="preserve">−25.8 meters</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seconds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meters.</a:t>
            </a:r>
            <a:endParaRPr lang="en-US" sz="1575" dirty="0"/>
          </a:p>
        </p:txBody>
      </p:sp>
      <p:sp>
        <p:nvSpPr>
          <p:cNvPr id="6" name="Shape 6"/>
          <p:cNvSpPr txBox="1"/>
          <p:nvPr/>
        </p:nvSpPr>
        <p:spPr>
          <a:xfrm>
            <a:off x="685800" y="247497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Going down → </a:t>
            </a:r>
            <a:r>
              <a:rPr lang="en-US" sz="1575" dirty="0" b="1">
                <a:solidFill>
                  <a:srgbClr val="C9561F"/>
                </a:solidFill>
                <a:latin typeface="Segoe UI"/>
                <a:cs typeface="Segoe UI"/>
              </a:rPr>
              <a:t xml:space="preserve">slope −0.3</a:t>
            </a:r>
            <a:r>
              <a:rPr lang="en-US" sz="1575" dirty="0">
                <a:solidFill>
                  <a:srgbClr val="16171D"/>
                </a:solidFill>
                <a:latin typeface="Segoe UI"/>
                <a:cs typeface="Segoe UI"/>
              </a:rPr>
              <a:t xml:space="preserve">. After 90 s at −25.8 m → </a:t>
            </a:r>
            <a:r>
              <a:rPr lang="en-US" sz="1575" dirty="0" b="1">
                <a:solidFill>
                  <a:srgbClr val="3050B8"/>
                </a:solidFill>
                <a:latin typeface="Segoe UI"/>
                <a:cs typeface="Segoe UI"/>
              </a:rPr>
              <a:t xml:space="preserve">point (90, −25.8)</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105150"/>
            <a:ext cx="66671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8" name="Shape 8"/>
          <p:cNvSpPr txBox="1"/>
          <p:nvPr/>
        </p:nvSpPr>
        <p:spPr>
          <a:xfrm>
            <a:off x="685800" y="3609594"/>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685800" y="4223766"/>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To graph, write the slope as </a:t>
            </a:r>
            <a:r>
              <a:rPr lang="en-US" sz="1575" dirty="0" b="1">
                <a:solidFill>
                  <a:srgbClr val="C9561F"/>
                </a:solidFill>
                <a:latin typeface="Cambria"/>
                <a:cs typeface="Cambria"/>
              </a:rPr>
              <a:t xml:space="preserve">−6</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a:t>
            </a:r>
            <a:r>
              <a:rPr lang="en-US" sz="1575" dirty="0">
                <a:solidFill>
                  <a:srgbClr val="16171D"/>
                </a:solidFill>
                <a:latin typeface="Segoe UI"/>
                <a:cs typeface="Segoe UI"/>
              </a:rPr>
              <a:t xml:space="preserve">: down 6 m for every 20 s.</a:t>
            </a:r>
            <a:endParaRPr lang="en-US" sz="1575" dirty="0"/>
          </a:p>
        </p:txBody>
      </p:sp>
      <p:sp>
        <p:nvSpPr>
          <p:cNvPr id="10" name="Shape 10"/>
          <p:cNvSpPr/>
          <p:nvPr/>
        </p:nvSpPr>
        <p:spPr>
          <a:xfrm>
            <a:off x="7695895" y="2084832"/>
            <a:ext cx="3810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019745" y="2199132"/>
            <a:ext cx="0" cy="3067050"/>
          </a:xfrm>
          <a:prstGeom prst="line">
            <a:avLst/>
          </a:prstGeom>
          <a:ln w="9525" cap="flat">
            <a:solidFill>
              <a:srgbClr val="E6E8F2"/>
            </a:solidFill>
          </a:ln>
        </p:spPr>
      </p:cxnSp>
      <p:cxnSp>
        <p:nvCxnSpPr>
          <p:cNvPr id="12" name="Line 12"/>
          <p:cNvCxnSpPr/>
          <p:nvPr/>
        </p:nvCxnSpPr>
        <p:spPr>
          <a:xfrm>
            <a:off x="8207070" y="2199132"/>
            <a:ext cx="0" cy="3067050"/>
          </a:xfrm>
          <a:prstGeom prst="line">
            <a:avLst/>
          </a:prstGeom>
          <a:ln w="9525" cap="flat">
            <a:solidFill>
              <a:srgbClr val="E6E8F2"/>
            </a:solidFill>
          </a:ln>
        </p:spPr>
      </p:cxnSp>
      <p:cxnSp>
        <p:nvCxnSpPr>
          <p:cNvPr id="13" name="Line 13"/>
          <p:cNvCxnSpPr/>
          <p:nvPr/>
        </p:nvCxnSpPr>
        <p:spPr>
          <a:xfrm>
            <a:off x="8394395" y="2199132"/>
            <a:ext cx="0" cy="3067050"/>
          </a:xfrm>
          <a:prstGeom prst="line">
            <a:avLst/>
          </a:prstGeom>
          <a:ln w="9525" cap="flat">
            <a:solidFill>
              <a:srgbClr val="E6E8F2"/>
            </a:solidFill>
          </a:ln>
        </p:spPr>
      </p:cxnSp>
      <p:cxnSp>
        <p:nvCxnSpPr>
          <p:cNvPr id="14" name="Line 14"/>
          <p:cNvCxnSpPr/>
          <p:nvPr/>
        </p:nvCxnSpPr>
        <p:spPr>
          <a:xfrm>
            <a:off x="8581720" y="2199132"/>
            <a:ext cx="0" cy="3067050"/>
          </a:xfrm>
          <a:prstGeom prst="line">
            <a:avLst/>
          </a:prstGeom>
          <a:ln w="9525" cap="flat">
            <a:solidFill>
              <a:srgbClr val="E6E8F2"/>
            </a:solidFill>
          </a:ln>
        </p:spPr>
      </p:cxnSp>
      <p:cxnSp>
        <p:nvCxnSpPr>
          <p:cNvPr id="15" name="Line 15"/>
          <p:cNvCxnSpPr/>
          <p:nvPr/>
        </p:nvCxnSpPr>
        <p:spPr>
          <a:xfrm>
            <a:off x="8769045" y="2199132"/>
            <a:ext cx="0" cy="3067050"/>
          </a:xfrm>
          <a:prstGeom prst="line">
            <a:avLst/>
          </a:prstGeom>
          <a:ln w="9525" cap="flat">
            <a:solidFill>
              <a:srgbClr val="E6E8F2"/>
            </a:solidFill>
          </a:ln>
        </p:spPr>
      </p:cxnSp>
      <p:cxnSp>
        <p:nvCxnSpPr>
          <p:cNvPr id="16" name="Line 16"/>
          <p:cNvCxnSpPr/>
          <p:nvPr/>
        </p:nvCxnSpPr>
        <p:spPr>
          <a:xfrm>
            <a:off x="8956370" y="2199132"/>
            <a:ext cx="0" cy="3067050"/>
          </a:xfrm>
          <a:prstGeom prst="line">
            <a:avLst/>
          </a:prstGeom>
          <a:ln w="9525" cap="flat">
            <a:solidFill>
              <a:srgbClr val="E6E8F2"/>
            </a:solidFill>
          </a:ln>
        </p:spPr>
      </p:cxnSp>
      <p:cxnSp>
        <p:nvCxnSpPr>
          <p:cNvPr id="17" name="Line 17"/>
          <p:cNvCxnSpPr/>
          <p:nvPr/>
        </p:nvCxnSpPr>
        <p:spPr>
          <a:xfrm>
            <a:off x="9143695" y="2199132"/>
            <a:ext cx="0" cy="3067050"/>
          </a:xfrm>
          <a:prstGeom prst="line">
            <a:avLst/>
          </a:prstGeom>
          <a:ln w="9525" cap="flat">
            <a:solidFill>
              <a:srgbClr val="E6E8F2"/>
            </a:solidFill>
          </a:ln>
        </p:spPr>
      </p:cxnSp>
      <p:cxnSp>
        <p:nvCxnSpPr>
          <p:cNvPr id="18" name="Line 18"/>
          <p:cNvCxnSpPr/>
          <p:nvPr/>
        </p:nvCxnSpPr>
        <p:spPr>
          <a:xfrm>
            <a:off x="9331020" y="2199132"/>
            <a:ext cx="0" cy="3067050"/>
          </a:xfrm>
          <a:prstGeom prst="line">
            <a:avLst/>
          </a:prstGeom>
          <a:ln w="9525" cap="flat">
            <a:solidFill>
              <a:srgbClr val="E6E8F2"/>
            </a:solidFill>
          </a:ln>
        </p:spPr>
      </p:cxnSp>
      <p:cxnSp>
        <p:nvCxnSpPr>
          <p:cNvPr id="19" name="Line 19"/>
          <p:cNvCxnSpPr/>
          <p:nvPr/>
        </p:nvCxnSpPr>
        <p:spPr>
          <a:xfrm>
            <a:off x="9518345" y="2199132"/>
            <a:ext cx="0" cy="3067050"/>
          </a:xfrm>
          <a:prstGeom prst="line">
            <a:avLst/>
          </a:prstGeom>
          <a:ln w="9525" cap="flat">
            <a:solidFill>
              <a:srgbClr val="E6E8F2"/>
            </a:solidFill>
          </a:ln>
        </p:spPr>
      </p:cxnSp>
      <p:cxnSp>
        <p:nvCxnSpPr>
          <p:cNvPr id="20" name="Line 20"/>
          <p:cNvCxnSpPr/>
          <p:nvPr/>
        </p:nvCxnSpPr>
        <p:spPr>
          <a:xfrm>
            <a:off x="9705670" y="2199132"/>
            <a:ext cx="0" cy="3067050"/>
          </a:xfrm>
          <a:prstGeom prst="line">
            <a:avLst/>
          </a:prstGeom>
          <a:ln w="9525" cap="flat">
            <a:solidFill>
              <a:srgbClr val="E6E8F2"/>
            </a:solidFill>
          </a:ln>
        </p:spPr>
      </p:cxnSp>
      <p:cxnSp>
        <p:nvCxnSpPr>
          <p:cNvPr id="21" name="Line 21"/>
          <p:cNvCxnSpPr/>
          <p:nvPr/>
        </p:nvCxnSpPr>
        <p:spPr>
          <a:xfrm>
            <a:off x="9892995" y="2199132"/>
            <a:ext cx="0" cy="3067050"/>
          </a:xfrm>
          <a:prstGeom prst="line">
            <a:avLst/>
          </a:prstGeom>
          <a:ln w="9525" cap="flat">
            <a:solidFill>
              <a:srgbClr val="E6E8F2"/>
            </a:solidFill>
          </a:ln>
        </p:spPr>
      </p:cxnSp>
      <p:cxnSp>
        <p:nvCxnSpPr>
          <p:cNvPr id="22" name="Line 22"/>
          <p:cNvCxnSpPr/>
          <p:nvPr/>
        </p:nvCxnSpPr>
        <p:spPr>
          <a:xfrm>
            <a:off x="10080320" y="2199132"/>
            <a:ext cx="0" cy="3067050"/>
          </a:xfrm>
          <a:prstGeom prst="line">
            <a:avLst/>
          </a:prstGeom>
          <a:ln w="9525" cap="flat">
            <a:solidFill>
              <a:srgbClr val="E6E8F2"/>
            </a:solidFill>
          </a:ln>
        </p:spPr>
      </p:cxnSp>
      <p:cxnSp>
        <p:nvCxnSpPr>
          <p:cNvPr id="23" name="Line 23"/>
          <p:cNvCxnSpPr/>
          <p:nvPr/>
        </p:nvCxnSpPr>
        <p:spPr>
          <a:xfrm>
            <a:off x="10267645" y="2199132"/>
            <a:ext cx="0" cy="3067050"/>
          </a:xfrm>
          <a:prstGeom prst="line">
            <a:avLst/>
          </a:prstGeom>
          <a:ln w="9525" cap="flat">
            <a:solidFill>
              <a:srgbClr val="E6E8F2"/>
            </a:solidFill>
          </a:ln>
        </p:spPr>
      </p:cxnSp>
      <p:cxnSp>
        <p:nvCxnSpPr>
          <p:cNvPr id="24" name="Line 24"/>
          <p:cNvCxnSpPr/>
          <p:nvPr/>
        </p:nvCxnSpPr>
        <p:spPr>
          <a:xfrm>
            <a:off x="10454970" y="2199132"/>
            <a:ext cx="0" cy="3067050"/>
          </a:xfrm>
          <a:prstGeom prst="line">
            <a:avLst/>
          </a:prstGeom>
          <a:ln w="9525" cap="flat">
            <a:solidFill>
              <a:srgbClr val="E6E8F2"/>
            </a:solidFill>
          </a:ln>
        </p:spPr>
      </p:cxnSp>
      <p:cxnSp>
        <p:nvCxnSpPr>
          <p:cNvPr id="25" name="Line 25"/>
          <p:cNvCxnSpPr/>
          <p:nvPr/>
        </p:nvCxnSpPr>
        <p:spPr>
          <a:xfrm>
            <a:off x="10642295" y="2199132"/>
            <a:ext cx="0" cy="3067050"/>
          </a:xfrm>
          <a:prstGeom prst="line">
            <a:avLst/>
          </a:prstGeom>
          <a:ln w="9525" cap="flat">
            <a:solidFill>
              <a:srgbClr val="E6E8F2"/>
            </a:solidFill>
          </a:ln>
        </p:spPr>
      </p:cxnSp>
      <p:cxnSp>
        <p:nvCxnSpPr>
          <p:cNvPr id="26" name="Line 26"/>
          <p:cNvCxnSpPr/>
          <p:nvPr/>
        </p:nvCxnSpPr>
        <p:spPr>
          <a:xfrm>
            <a:off x="10829620" y="2199132"/>
            <a:ext cx="0" cy="3067050"/>
          </a:xfrm>
          <a:prstGeom prst="line">
            <a:avLst/>
          </a:prstGeom>
          <a:ln w="9525" cap="flat">
            <a:solidFill>
              <a:srgbClr val="E6E8F2"/>
            </a:solidFill>
          </a:ln>
        </p:spPr>
      </p:cxnSp>
      <p:cxnSp>
        <p:nvCxnSpPr>
          <p:cNvPr id="27" name="Line 27"/>
          <p:cNvCxnSpPr/>
          <p:nvPr/>
        </p:nvCxnSpPr>
        <p:spPr>
          <a:xfrm>
            <a:off x="11016945" y="2199132"/>
            <a:ext cx="0" cy="3067050"/>
          </a:xfrm>
          <a:prstGeom prst="line">
            <a:avLst/>
          </a:prstGeom>
          <a:ln w="9525" cap="flat">
            <a:solidFill>
              <a:srgbClr val="E6E8F2"/>
            </a:solidFill>
          </a:ln>
        </p:spPr>
      </p:cxnSp>
      <p:cxnSp>
        <p:nvCxnSpPr>
          <p:cNvPr id="28" name="Line 28"/>
          <p:cNvCxnSpPr/>
          <p:nvPr/>
        </p:nvCxnSpPr>
        <p:spPr>
          <a:xfrm>
            <a:off x="11204270" y="2199132"/>
            <a:ext cx="0" cy="3067050"/>
          </a:xfrm>
          <a:prstGeom prst="line">
            <a:avLst/>
          </a:prstGeom>
          <a:ln w="9525" cap="flat">
            <a:solidFill>
              <a:srgbClr val="E6E8F2"/>
            </a:solidFill>
          </a:ln>
        </p:spPr>
      </p:cxnSp>
      <p:cxnSp>
        <p:nvCxnSpPr>
          <p:cNvPr id="29" name="Line 29"/>
          <p:cNvCxnSpPr/>
          <p:nvPr/>
        </p:nvCxnSpPr>
        <p:spPr>
          <a:xfrm>
            <a:off x="11391595" y="2199132"/>
            <a:ext cx="0" cy="3067050"/>
          </a:xfrm>
          <a:prstGeom prst="line">
            <a:avLst/>
          </a:prstGeom>
          <a:ln w="9525" cap="flat">
            <a:solidFill>
              <a:srgbClr val="E6E8F2"/>
            </a:solidFill>
          </a:ln>
        </p:spPr>
      </p:cxnSp>
      <p:cxnSp>
        <p:nvCxnSpPr>
          <p:cNvPr id="30" name="Line 30"/>
          <p:cNvCxnSpPr/>
          <p:nvPr/>
        </p:nvCxnSpPr>
        <p:spPr>
          <a:xfrm>
            <a:off x="8019745" y="5266182"/>
            <a:ext cx="3371850" cy="0"/>
          </a:xfrm>
          <a:prstGeom prst="line">
            <a:avLst/>
          </a:prstGeom>
          <a:ln w="9525" cap="flat">
            <a:solidFill>
              <a:srgbClr val="E6E8F2"/>
            </a:solidFill>
          </a:ln>
        </p:spPr>
      </p:cxnSp>
      <p:cxnSp>
        <p:nvCxnSpPr>
          <p:cNvPr id="31" name="Line 31"/>
          <p:cNvCxnSpPr/>
          <p:nvPr/>
        </p:nvCxnSpPr>
        <p:spPr>
          <a:xfrm>
            <a:off x="8019745" y="5074491"/>
            <a:ext cx="3371850" cy="0"/>
          </a:xfrm>
          <a:prstGeom prst="line">
            <a:avLst/>
          </a:prstGeom>
          <a:ln w="9525" cap="flat">
            <a:solidFill>
              <a:srgbClr val="E6E8F2"/>
            </a:solidFill>
          </a:ln>
        </p:spPr>
      </p:cxnSp>
      <p:cxnSp>
        <p:nvCxnSpPr>
          <p:cNvPr id="32" name="Line 32"/>
          <p:cNvCxnSpPr/>
          <p:nvPr/>
        </p:nvCxnSpPr>
        <p:spPr>
          <a:xfrm>
            <a:off x="8019745" y="4882801"/>
            <a:ext cx="3371850" cy="0"/>
          </a:xfrm>
          <a:prstGeom prst="line">
            <a:avLst/>
          </a:prstGeom>
          <a:ln w="9525" cap="flat">
            <a:solidFill>
              <a:srgbClr val="E6E8F2"/>
            </a:solidFill>
          </a:ln>
        </p:spPr>
      </p:cxnSp>
      <p:cxnSp>
        <p:nvCxnSpPr>
          <p:cNvPr id="33" name="Line 33"/>
          <p:cNvCxnSpPr/>
          <p:nvPr/>
        </p:nvCxnSpPr>
        <p:spPr>
          <a:xfrm>
            <a:off x="8019745" y="4691110"/>
            <a:ext cx="3371850" cy="0"/>
          </a:xfrm>
          <a:prstGeom prst="line">
            <a:avLst/>
          </a:prstGeom>
          <a:ln w="9525" cap="flat">
            <a:solidFill>
              <a:srgbClr val="E6E8F2"/>
            </a:solidFill>
          </a:ln>
        </p:spPr>
      </p:cxnSp>
      <p:cxnSp>
        <p:nvCxnSpPr>
          <p:cNvPr id="34" name="Line 34"/>
          <p:cNvCxnSpPr/>
          <p:nvPr/>
        </p:nvCxnSpPr>
        <p:spPr>
          <a:xfrm>
            <a:off x="8019745" y="4499420"/>
            <a:ext cx="3371850" cy="0"/>
          </a:xfrm>
          <a:prstGeom prst="line">
            <a:avLst/>
          </a:prstGeom>
          <a:ln w="9525" cap="flat">
            <a:solidFill>
              <a:srgbClr val="E6E8F2"/>
            </a:solidFill>
          </a:ln>
        </p:spPr>
      </p:cxnSp>
      <p:cxnSp>
        <p:nvCxnSpPr>
          <p:cNvPr id="35" name="Line 35"/>
          <p:cNvCxnSpPr/>
          <p:nvPr/>
        </p:nvCxnSpPr>
        <p:spPr>
          <a:xfrm>
            <a:off x="8019745" y="4307729"/>
            <a:ext cx="3371850" cy="0"/>
          </a:xfrm>
          <a:prstGeom prst="line">
            <a:avLst/>
          </a:prstGeom>
          <a:ln w="9525" cap="flat">
            <a:solidFill>
              <a:srgbClr val="E6E8F2"/>
            </a:solidFill>
          </a:ln>
        </p:spPr>
      </p:cxnSp>
      <p:cxnSp>
        <p:nvCxnSpPr>
          <p:cNvPr id="36" name="Line 36"/>
          <p:cNvCxnSpPr/>
          <p:nvPr/>
        </p:nvCxnSpPr>
        <p:spPr>
          <a:xfrm>
            <a:off x="8019745" y="4116038"/>
            <a:ext cx="3371850" cy="0"/>
          </a:xfrm>
          <a:prstGeom prst="line">
            <a:avLst/>
          </a:prstGeom>
          <a:ln w="9525" cap="flat">
            <a:solidFill>
              <a:srgbClr val="E6E8F2"/>
            </a:solidFill>
          </a:ln>
        </p:spPr>
      </p:cxnSp>
      <p:cxnSp>
        <p:nvCxnSpPr>
          <p:cNvPr id="37" name="Line 37"/>
          <p:cNvCxnSpPr/>
          <p:nvPr/>
        </p:nvCxnSpPr>
        <p:spPr>
          <a:xfrm>
            <a:off x="8019745" y="3924348"/>
            <a:ext cx="3371850" cy="0"/>
          </a:xfrm>
          <a:prstGeom prst="line">
            <a:avLst/>
          </a:prstGeom>
          <a:ln w="9525" cap="flat">
            <a:solidFill>
              <a:srgbClr val="E6E8F2"/>
            </a:solidFill>
          </a:ln>
        </p:spPr>
      </p:cxnSp>
      <p:cxnSp>
        <p:nvCxnSpPr>
          <p:cNvPr id="38" name="Line 38"/>
          <p:cNvCxnSpPr/>
          <p:nvPr/>
        </p:nvCxnSpPr>
        <p:spPr>
          <a:xfrm>
            <a:off x="8019745" y="3732657"/>
            <a:ext cx="3371850" cy="0"/>
          </a:xfrm>
          <a:prstGeom prst="line">
            <a:avLst/>
          </a:prstGeom>
          <a:ln w="9525" cap="flat">
            <a:solidFill>
              <a:srgbClr val="E6E8F2"/>
            </a:solidFill>
          </a:ln>
        </p:spPr>
      </p:cxnSp>
      <p:cxnSp>
        <p:nvCxnSpPr>
          <p:cNvPr id="39" name="Line 39"/>
          <p:cNvCxnSpPr/>
          <p:nvPr/>
        </p:nvCxnSpPr>
        <p:spPr>
          <a:xfrm>
            <a:off x="8019745" y="3540966"/>
            <a:ext cx="3371850" cy="0"/>
          </a:xfrm>
          <a:prstGeom prst="line">
            <a:avLst/>
          </a:prstGeom>
          <a:ln w="9525" cap="flat">
            <a:solidFill>
              <a:srgbClr val="E6E8F2"/>
            </a:solidFill>
          </a:ln>
        </p:spPr>
      </p:cxnSp>
      <p:cxnSp>
        <p:nvCxnSpPr>
          <p:cNvPr id="40" name="Line 40"/>
          <p:cNvCxnSpPr/>
          <p:nvPr/>
        </p:nvCxnSpPr>
        <p:spPr>
          <a:xfrm>
            <a:off x="8019745" y="3349276"/>
            <a:ext cx="3371850" cy="0"/>
          </a:xfrm>
          <a:prstGeom prst="line">
            <a:avLst/>
          </a:prstGeom>
          <a:ln w="9525" cap="flat">
            <a:solidFill>
              <a:srgbClr val="E6E8F2"/>
            </a:solidFill>
          </a:ln>
        </p:spPr>
      </p:cxnSp>
      <p:cxnSp>
        <p:nvCxnSpPr>
          <p:cNvPr id="41" name="Line 41"/>
          <p:cNvCxnSpPr/>
          <p:nvPr/>
        </p:nvCxnSpPr>
        <p:spPr>
          <a:xfrm>
            <a:off x="8019745" y="3157585"/>
            <a:ext cx="3371850" cy="0"/>
          </a:xfrm>
          <a:prstGeom prst="line">
            <a:avLst/>
          </a:prstGeom>
          <a:ln w="9525" cap="flat">
            <a:solidFill>
              <a:srgbClr val="E6E8F2"/>
            </a:solidFill>
          </a:ln>
        </p:spPr>
      </p:cxnSp>
      <p:cxnSp>
        <p:nvCxnSpPr>
          <p:cNvPr id="42" name="Line 42"/>
          <p:cNvCxnSpPr/>
          <p:nvPr/>
        </p:nvCxnSpPr>
        <p:spPr>
          <a:xfrm>
            <a:off x="8019745" y="2965894"/>
            <a:ext cx="3371850" cy="0"/>
          </a:xfrm>
          <a:prstGeom prst="line">
            <a:avLst/>
          </a:prstGeom>
          <a:ln w="9525" cap="flat">
            <a:solidFill>
              <a:srgbClr val="E6E8F2"/>
            </a:solidFill>
          </a:ln>
        </p:spPr>
      </p:cxnSp>
      <p:cxnSp>
        <p:nvCxnSpPr>
          <p:cNvPr id="43" name="Line 43"/>
          <p:cNvCxnSpPr/>
          <p:nvPr/>
        </p:nvCxnSpPr>
        <p:spPr>
          <a:xfrm>
            <a:off x="8019745" y="2774204"/>
            <a:ext cx="3371850" cy="0"/>
          </a:xfrm>
          <a:prstGeom prst="line">
            <a:avLst/>
          </a:prstGeom>
          <a:ln w="9525" cap="flat">
            <a:solidFill>
              <a:srgbClr val="E6E8F2"/>
            </a:solidFill>
          </a:ln>
        </p:spPr>
      </p:cxnSp>
      <p:cxnSp>
        <p:nvCxnSpPr>
          <p:cNvPr id="44" name="Line 44"/>
          <p:cNvCxnSpPr/>
          <p:nvPr/>
        </p:nvCxnSpPr>
        <p:spPr>
          <a:xfrm>
            <a:off x="8019745" y="2582513"/>
            <a:ext cx="3371850" cy="0"/>
          </a:xfrm>
          <a:prstGeom prst="line">
            <a:avLst/>
          </a:prstGeom>
          <a:ln w="9525" cap="flat">
            <a:solidFill>
              <a:srgbClr val="E6E8F2"/>
            </a:solidFill>
          </a:ln>
        </p:spPr>
      </p:cxnSp>
      <p:cxnSp>
        <p:nvCxnSpPr>
          <p:cNvPr id="45" name="Line 45"/>
          <p:cNvCxnSpPr/>
          <p:nvPr/>
        </p:nvCxnSpPr>
        <p:spPr>
          <a:xfrm>
            <a:off x="8019745" y="2390823"/>
            <a:ext cx="3371850" cy="0"/>
          </a:xfrm>
          <a:prstGeom prst="line">
            <a:avLst/>
          </a:prstGeom>
          <a:ln w="9525" cap="flat">
            <a:solidFill>
              <a:srgbClr val="E6E8F2"/>
            </a:solidFill>
          </a:ln>
        </p:spPr>
      </p:cxnSp>
      <p:cxnSp>
        <p:nvCxnSpPr>
          <p:cNvPr id="46" name="Line 46"/>
          <p:cNvCxnSpPr/>
          <p:nvPr/>
        </p:nvCxnSpPr>
        <p:spPr>
          <a:xfrm>
            <a:off x="8019745" y="2199132"/>
            <a:ext cx="3371850" cy="0"/>
          </a:xfrm>
          <a:prstGeom prst="line">
            <a:avLst/>
          </a:prstGeom>
          <a:ln w="9525" cap="flat">
            <a:solidFill>
              <a:srgbClr val="E6E8F2"/>
            </a:solidFill>
          </a:ln>
        </p:spPr>
      </p:cxnSp>
      <p:cxnSp>
        <p:nvCxnSpPr>
          <p:cNvPr id="47" name="Line 47"/>
          <p:cNvCxnSpPr/>
          <p:nvPr/>
        </p:nvCxnSpPr>
        <p:spPr>
          <a:xfrm>
            <a:off x="8019745" y="2199132"/>
            <a:ext cx="0" cy="3067050"/>
          </a:xfrm>
          <a:prstGeom prst="line">
            <a:avLst/>
          </a:prstGeom>
          <a:ln w="19050" cap="flat">
            <a:solidFill>
              <a:srgbClr val="5F6272"/>
            </a:solidFill>
          </a:ln>
        </p:spPr>
      </p:cxnSp>
      <p:cxnSp>
        <p:nvCxnSpPr>
          <p:cNvPr id="48" name="Line 48"/>
          <p:cNvCxnSpPr/>
          <p:nvPr/>
        </p:nvCxnSpPr>
        <p:spPr>
          <a:xfrm>
            <a:off x="8019745" y="2582513"/>
            <a:ext cx="3371850" cy="0"/>
          </a:xfrm>
          <a:prstGeom prst="line">
            <a:avLst/>
          </a:prstGeom>
          <a:ln w="19050" cap="flat">
            <a:solidFill>
              <a:srgbClr val="5F6272"/>
            </a:solidFill>
          </a:ln>
        </p:spPr>
      </p:cxnSp>
      <p:sp>
        <p:nvSpPr>
          <p:cNvPr id="49" name="Shape 49"/>
          <p:cNvSpPr txBox="1"/>
          <p:nvPr/>
        </p:nvSpPr>
        <p:spPr>
          <a:xfrm>
            <a:off x="77454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1200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51" name="Shape 51"/>
          <p:cNvSpPr txBox="1"/>
          <p:nvPr/>
        </p:nvSpPr>
        <p:spPr>
          <a:xfrm>
            <a:off x="84947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88693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92440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txBox="1"/>
          <p:nvPr/>
        </p:nvSpPr>
        <p:spPr>
          <a:xfrm>
            <a:off x="96186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100</a:t>
            </a:r>
            <a:endParaRPr lang="en-US" sz="975" dirty="0"/>
          </a:p>
        </p:txBody>
      </p:sp>
      <p:sp>
        <p:nvSpPr>
          <p:cNvPr id="55" name="Shape 55"/>
          <p:cNvSpPr txBox="1"/>
          <p:nvPr/>
        </p:nvSpPr>
        <p:spPr>
          <a:xfrm>
            <a:off x="99933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120</a:t>
            </a:r>
            <a:endParaRPr lang="en-US" sz="975" dirty="0"/>
          </a:p>
        </p:txBody>
      </p:sp>
      <p:sp>
        <p:nvSpPr>
          <p:cNvPr id="56" name="Shape 56"/>
          <p:cNvSpPr txBox="1"/>
          <p:nvPr/>
        </p:nvSpPr>
        <p:spPr>
          <a:xfrm>
            <a:off x="103679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140</a:t>
            </a:r>
            <a:endParaRPr lang="en-US" sz="975" dirty="0"/>
          </a:p>
        </p:txBody>
      </p:sp>
      <p:sp>
        <p:nvSpPr>
          <p:cNvPr id="57" name="Shape 57"/>
          <p:cNvSpPr txBox="1"/>
          <p:nvPr/>
        </p:nvSpPr>
        <p:spPr>
          <a:xfrm>
            <a:off x="107426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58" name="Shape 58"/>
          <p:cNvSpPr txBox="1"/>
          <p:nvPr/>
        </p:nvSpPr>
        <p:spPr>
          <a:xfrm>
            <a:off x="111172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180</a:t>
            </a:r>
            <a:endParaRPr lang="en-US" sz="975" dirty="0"/>
          </a:p>
        </p:txBody>
      </p:sp>
      <p:sp>
        <p:nvSpPr>
          <p:cNvPr id="59" name="Shape 59"/>
          <p:cNvSpPr txBox="1"/>
          <p:nvPr/>
        </p:nvSpPr>
        <p:spPr>
          <a:xfrm>
            <a:off x="7452817" y="5174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60" name="Shape 60"/>
          <p:cNvSpPr txBox="1"/>
          <p:nvPr/>
        </p:nvSpPr>
        <p:spPr>
          <a:xfrm>
            <a:off x="7452817" y="47913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61" name="Shape 61"/>
          <p:cNvSpPr txBox="1"/>
          <p:nvPr/>
        </p:nvSpPr>
        <p:spPr>
          <a:xfrm>
            <a:off x="7452817" y="44079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2" name="Shape 62"/>
          <p:cNvSpPr txBox="1"/>
          <p:nvPr/>
        </p:nvSpPr>
        <p:spPr>
          <a:xfrm>
            <a:off x="7452817" y="4024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63" name="Shape 63"/>
          <p:cNvSpPr txBox="1"/>
          <p:nvPr/>
        </p:nvSpPr>
        <p:spPr>
          <a:xfrm>
            <a:off x="7452817" y="36412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64" name="Shape 64"/>
          <p:cNvSpPr txBox="1"/>
          <p:nvPr/>
        </p:nvSpPr>
        <p:spPr>
          <a:xfrm>
            <a:off x="7452817" y="325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65" name="Shape 65"/>
          <p:cNvSpPr txBox="1"/>
          <p:nvPr/>
        </p:nvSpPr>
        <p:spPr>
          <a:xfrm>
            <a:off x="7452817" y="28744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452817" y="24910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4528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8" name="Shape 68"/>
          <p:cNvSpPr/>
          <p:nvPr/>
        </p:nvSpPr>
        <p:spPr>
          <a:xfrm>
            <a:off x="9653283" y="35192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9791395" y="332398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(90, −25.8)</a:t>
            </a:r>
            <a:endParaRPr lang="en-US" sz="1125" dirty="0"/>
          </a:p>
        </p:txBody>
      </p:sp>
      <p:sp>
        <p:nvSpPr>
          <p:cNvPr id="70" name="Shape 70"/>
          <p:cNvSpPr/>
          <p:nvPr/>
        </p:nvSpPr>
        <p:spPr>
          <a:xfrm>
            <a:off x="10027933" y="374927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p:nvPr/>
        </p:nvSpPr>
        <p:spPr>
          <a:xfrm>
            <a:off x="9278633" y="3289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72" name="Line 72"/>
          <p:cNvCxnSpPr/>
          <p:nvPr/>
        </p:nvCxnSpPr>
        <p:spPr>
          <a:xfrm>
            <a:off x="8019745" y="2536508"/>
            <a:ext cx="3371850" cy="2070259"/>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68"/>
                                        </p:tgtEl>
                                        <p:attrNameLst>
                                          <p:attrName>style.visibility</p:attrName>
                                        </p:attrNameLst>
                                      </p:cBhvr>
                                      <p:to>
                                        <p:strVal val="visible"/>
                                      </p:to>
                                    </p:set>
                                    <p:animEffect transition="in" filter="fade">
                                      <p:cBhvr>
                                        <p:cTn id="37" dur="500"/>
                                        <p:tgtEl>
                                          <p:spTgt spid="68"/>
                                        </p:tgtEl>
                                      </p:cBhvr>
                                    </p:animEffect>
                                    <p:anim calcmode="lin" valueType="num">
                                      <p:cBhvr>
                                        <p:cTn id="38" dur="500" fill="hold"/>
                                        <p:tgtEl>
                                          <p:spTgt spid="68"/>
                                        </p:tgtEl>
                                        <p:attrNameLst>
                                          <p:attrName>ppt_w</p:attrName>
                                        </p:attrNameLst>
                                      </p:cBhvr>
                                      <p:tavLst>
                                        <p:tav tm="0">
                                          <p:val>
                                            <p:fltVal val="0"/>
                                          </p:val>
                                        </p:tav>
                                        <p:tav tm="100000">
                                          <p:val>
                                            <p:strVal val="#ppt_w"/>
                                          </p:val>
                                        </p:tav>
                                      </p:tavLst>
                                    </p:anim>
                                    <p:anim calcmode="lin" valueType="num">
                                      <p:cBhvr>
                                        <p:cTn id="39" dur="500" fill="hold"/>
                                        <p:tgtEl>
                                          <p:spTgt spid="68"/>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500"/>
                                        <p:tgtEl>
                                          <p:spTgt spid="69"/>
                                        </p:tgtEl>
                                      </p:cBhvr>
                                    </p:animEffect>
                                    <p:anim calcmode="lin" valueType="num">
                                      <p:cBhvr>
                                        <p:cTn id="43" dur="500" fill="hold"/>
                                        <p:tgtEl>
                                          <p:spTgt spid="69"/>
                                        </p:tgtEl>
                                        <p:attrNameLst>
                                          <p:attrName>ppt_w</p:attrName>
                                        </p:attrNameLst>
                                      </p:cBhvr>
                                      <p:tavLst>
                                        <p:tav tm="0">
                                          <p:val>
                                            <p:fltVal val="0"/>
                                          </p:val>
                                        </p:tav>
                                        <p:tav tm="100000">
                                          <p:val>
                                            <p:strVal val="#ppt_w"/>
                                          </p:val>
                                        </p:tav>
                                      </p:tavLst>
                                    </p:anim>
                                    <p:anim calcmode="lin" valueType="num">
                                      <p:cBhvr>
                                        <p:cTn id="44" dur="500" fill="hold"/>
                                        <p:tgtEl>
                                          <p:spTgt spid="69"/>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70"/>
                                        </p:tgtEl>
                                        <p:attrNameLst>
                                          <p:attrName>style.visibility</p:attrName>
                                        </p:attrNameLst>
                                      </p:cBhvr>
                                      <p:to>
                                        <p:strVal val="visible"/>
                                      </p:to>
                                    </p:set>
                                    <p:animEffect transition="in" filter="fade">
                                      <p:cBhvr>
                                        <p:cTn id="49" dur="500"/>
                                        <p:tgtEl>
                                          <p:spTgt spid="70"/>
                                        </p:tgtEl>
                                      </p:cBhvr>
                                    </p:animEffect>
                                    <p:anim calcmode="lin" valueType="num">
                                      <p:cBhvr>
                                        <p:cTn id="50" dur="500" fill="hold"/>
                                        <p:tgtEl>
                                          <p:spTgt spid="70"/>
                                        </p:tgtEl>
                                        <p:attrNameLst>
                                          <p:attrName>ppt_w</p:attrName>
                                        </p:attrNameLst>
                                      </p:cBhvr>
                                      <p:tavLst>
                                        <p:tav tm="0">
                                          <p:val>
                                            <p:fltVal val="0"/>
                                          </p:val>
                                        </p:tav>
                                        <p:tav tm="100000">
                                          <p:val>
                                            <p:strVal val="#ppt_w"/>
                                          </p:val>
                                        </p:tav>
                                      </p:tavLst>
                                    </p:anim>
                                    <p:anim calcmode="lin" valueType="num">
                                      <p:cBhvr>
                                        <p:cTn id="51"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53" presetClass="entr" presetSubtype="16" fill="hold" nodeType="clickEffect">
                                  <p:stCondLst>
                                    <p:cond delay="0"/>
                                  </p:stCondLst>
                                  <p:childTnLst>
                                    <p:set>
                                      <p:cBhvr>
                                        <p:cTn id="55" dur="1" fill="hold">
                                          <p:stCondLst>
                                            <p:cond delay="0"/>
                                          </p:stCondLst>
                                        </p:cTn>
                                        <p:tgtEl>
                                          <p:spTgt spid="71"/>
                                        </p:tgtEl>
                                        <p:attrNameLst>
                                          <p:attrName>style.visibility</p:attrName>
                                        </p:attrNameLst>
                                      </p:cBhvr>
                                      <p:to>
                                        <p:strVal val="visible"/>
                                      </p:to>
                                    </p:set>
                                    <p:animEffect transition="in" filter="fade">
                                      <p:cBhvr>
                                        <p:cTn id="56" dur="500"/>
                                        <p:tgtEl>
                                          <p:spTgt spid="71"/>
                                        </p:tgtEl>
                                      </p:cBhvr>
                                    </p:animEffect>
                                    <p:anim calcmode="lin" valueType="num">
                                      <p:cBhvr>
                                        <p:cTn id="57" dur="500" fill="hold"/>
                                        <p:tgtEl>
                                          <p:spTgt spid="71"/>
                                        </p:tgtEl>
                                        <p:attrNameLst>
                                          <p:attrName>ppt_w</p:attrName>
                                        </p:attrNameLst>
                                      </p:cBhvr>
                                      <p:tavLst>
                                        <p:tav tm="0">
                                          <p:val>
                                            <p:fltVal val="0"/>
                                          </p:val>
                                        </p:tav>
                                        <p:tav tm="100000">
                                          <p:val>
                                            <p:strVal val="#ppt_w"/>
                                          </p:val>
                                        </p:tav>
                                      </p:tavLst>
                                    </p:anim>
                                    <p:anim calcmode="lin" valueType="num">
                                      <p:cBhvr>
                                        <p:cTn id="58"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72"/>
                                        </p:tgtEl>
                                        <p:attrNameLst>
                                          <p:attrName>style.visibility</p:attrName>
                                        </p:attrNameLst>
                                      </p:cBhvr>
                                      <p:to>
                                        <p:strVal val="visible"/>
                                      </p:to>
                                    </p:set>
                                    <p:animEffect transition="in" filter="wipe(left)">
                                      <p:cBhvr>
                                        <p:cTn id="63" dur="7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6–7 · SE p. 228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Complete the table</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Standard form</a:t>
            </a:r>
            <a:endParaRPr lang="en-US" sz="1950" dirty="0"/>
          </a:p>
        </p:txBody>
      </p:sp>
      <p:sp>
        <p:nvSpPr>
          <p:cNvPr id="5" name="Shape 5"/>
          <p:cNvSpPr txBox="1"/>
          <p:nvPr/>
        </p:nvSpPr>
        <p:spPr>
          <a:xfrm>
            <a:off x="2908554"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-intercept</a:t>
            </a:r>
            <a:endParaRPr lang="en-US" sz="1950" dirty="0"/>
          </a:p>
        </p:txBody>
      </p:sp>
      <p:sp>
        <p:nvSpPr>
          <p:cNvPr id="6" name="Shape 6"/>
          <p:cNvSpPr txBox="1"/>
          <p:nvPr/>
        </p:nvSpPr>
        <p:spPr>
          <a:xfrm>
            <a:off x="4873752"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-intercept</a:t>
            </a:r>
            <a:endParaRPr lang="en-US" sz="1950" dirty="0"/>
          </a:p>
        </p:txBody>
      </p:sp>
      <p:sp>
        <p:nvSpPr>
          <p:cNvPr id="7" name="Shape 7"/>
          <p:cNvSpPr txBox="1"/>
          <p:nvPr/>
        </p:nvSpPr>
        <p:spPr>
          <a:xfrm>
            <a:off x="6838950" y="1618488"/>
            <a:ext cx="119253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Slope</a:t>
            </a:r>
            <a:endParaRPr lang="en-US" sz="1950" dirty="0"/>
          </a:p>
        </p:txBody>
      </p:sp>
      <p:sp>
        <p:nvSpPr>
          <p:cNvPr id="8" name="Shape 8"/>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endParaRPr lang="en-US" sz="1950" dirty="0"/>
          </a:p>
        </p:txBody>
      </p:sp>
      <p:sp>
        <p:nvSpPr>
          <p:cNvPr id="9" name="Shape 9"/>
          <p:cNvSpPr txBox="1"/>
          <p:nvPr/>
        </p:nvSpPr>
        <p:spPr>
          <a:xfrm>
            <a:off x="2908554"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2908554"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6</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11" name="Shape 11"/>
          <p:cNvSpPr txBox="1"/>
          <p:nvPr/>
        </p:nvSpPr>
        <p:spPr>
          <a:xfrm>
            <a:off x="4873752"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13" name="Shape 13"/>
          <p:cNvSpPr txBox="1"/>
          <p:nvPr/>
        </p:nvSpPr>
        <p:spPr>
          <a:xfrm>
            <a:off x="6838950" y="2061972"/>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4" name="Shape 14"/>
          <p:cNvSpPr txBox="1"/>
          <p:nvPr/>
        </p:nvSpPr>
        <p:spPr>
          <a:xfrm>
            <a:off x="6838950" y="2061972"/>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15" name="Shape 15"/>
          <p:cNvSpPr txBox="1"/>
          <p:nvPr/>
        </p:nvSpPr>
        <p:spPr>
          <a:xfrm>
            <a:off x="685800" y="2505456"/>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6" name="Shape 16"/>
          <p:cNvSpPr txBox="1"/>
          <p:nvPr/>
        </p:nvSpPr>
        <p:spPr>
          <a:xfrm>
            <a:off x="685800" y="2505456"/>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7</a:t>
            </a:r>
            <a:endParaRPr lang="en-US" sz="1950" dirty="0"/>
          </a:p>
        </p:txBody>
      </p:sp>
      <p:sp>
        <p:nvSpPr>
          <p:cNvPr id="17" name="Shape 17"/>
          <p:cNvSpPr txBox="1"/>
          <p:nvPr/>
        </p:nvSpPr>
        <p:spPr>
          <a:xfrm>
            <a:off x="2908554" y="2505456"/>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0)</a:t>
            </a:r>
            <a:endParaRPr lang="en-US" sz="1950" dirty="0"/>
          </a:p>
        </p:txBody>
      </p:sp>
      <p:sp>
        <p:nvSpPr>
          <p:cNvPr id="18" name="Shape 18"/>
          <p:cNvSpPr txBox="1"/>
          <p:nvPr/>
        </p:nvSpPr>
        <p:spPr>
          <a:xfrm>
            <a:off x="4873752" y="2505456"/>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9" name="Shape 19"/>
          <p:cNvSpPr txBox="1"/>
          <p:nvPr/>
        </p:nvSpPr>
        <p:spPr>
          <a:xfrm>
            <a:off x="4873752" y="2505456"/>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a:solidFill>
                  <a:srgbClr val="16171D"/>
                </a:solidFill>
                <a:latin typeface="Cambria"/>
                <a:cs typeface="Cambria"/>
              </a:rPr>
              <a:t xml:space="preserve">)</a:t>
            </a:r>
            <a:endParaRPr lang="en-US" sz="1950" dirty="0"/>
          </a:p>
        </p:txBody>
      </p:sp>
      <p:sp>
        <p:nvSpPr>
          <p:cNvPr id="20" name="Shape 20"/>
          <p:cNvSpPr txBox="1"/>
          <p:nvPr/>
        </p:nvSpPr>
        <p:spPr>
          <a:xfrm>
            <a:off x="6838950" y="2505456"/>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21" name="Shape 21"/>
          <p:cNvSpPr txBox="1"/>
          <p:nvPr/>
        </p:nvSpPr>
        <p:spPr>
          <a:xfrm>
            <a:off x="685800" y="2948940"/>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2" name="Shape 22"/>
          <p:cNvSpPr txBox="1"/>
          <p:nvPr/>
        </p:nvSpPr>
        <p:spPr>
          <a:xfrm>
            <a:off x="685800" y="2948940"/>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9</a:t>
            </a:r>
            <a:endParaRPr lang="en-US" sz="1950" dirty="0"/>
          </a:p>
        </p:txBody>
      </p:sp>
      <p:sp>
        <p:nvSpPr>
          <p:cNvPr id="23" name="Shape 23"/>
          <p:cNvSpPr txBox="1"/>
          <p:nvPr/>
        </p:nvSpPr>
        <p:spPr>
          <a:xfrm>
            <a:off x="2908554" y="2948940"/>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4" name="Shape 24"/>
          <p:cNvSpPr txBox="1"/>
          <p:nvPr/>
        </p:nvSpPr>
        <p:spPr>
          <a:xfrm>
            <a:off x="2908554" y="2948940"/>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9</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0)</a:t>
            </a:r>
            <a:endParaRPr lang="en-US" sz="1950" dirty="0"/>
          </a:p>
        </p:txBody>
      </p:sp>
      <p:sp>
        <p:nvSpPr>
          <p:cNvPr id="25" name="Shape 25"/>
          <p:cNvSpPr txBox="1"/>
          <p:nvPr/>
        </p:nvSpPr>
        <p:spPr>
          <a:xfrm>
            <a:off x="4873752" y="2948940"/>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26" name="Shape 26"/>
          <p:cNvSpPr txBox="1"/>
          <p:nvPr/>
        </p:nvSpPr>
        <p:spPr>
          <a:xfrm>
            <a:off x="6838950" y="2948940"/>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endParaRPr lang="en-US" sz="1950" dirty="0"/>
          </a:p>
        </p:txBody>
      </p:sp>
      <p:sp>
        <p:nvSpPr>
          <p:cNvPr id="27" name="Shape 27"/>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endParaRPr lang="en-US" sz="1950" dirty="0"/>
          </a:p>
        </p:txBody>
      </p:sp>
      <p:sp>
        <p:nvSpPr>
          <p:cNvPr id="28" name="Shape 28"/>
          <p:cNvSpPr txBox="1"/>
          <p:nvPr/>
        </p:nvSpPr>
        <p:spPr>
          <a:xfrm>
            <a:off x="2908554"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9" name="Shape 29"/>
          <p:cNvSpPr txBox="1"/>
          <p:nvPr/>
        </p:nvSpPr>
        <p:spPr>
          <a:xfrm>
            <a:off x="2908554"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30" name="Shape 30"/>
          <p:cNvSpPr txBox="1"/>
          <p:nvPr/>
        </p:nvSpPr>
        <p:spPr>
          <a:xfrm>
            <a:off x="4873752"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1" name="Shape 31"/>
          <p:cNvSpPr txBox="1"/>
          <p:nvPr/>
        </p:nvSpPr>
        <p:spPr>
          <a:xfrm>
            <a:off x="4873752"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endParaRPr lang="en-US" sz="1950" dirty="0"/>
          </a:p>
        </p:txBody>
      </p:sp>
      <p:sp>
        <p:nvSpPr>
          <p:cNvPr id="32" name="Shape 32"/>
          <p:cNvSpPr txBox="1"/>
          <p:nvPr/>
        </p:nvSpPr>
        <p:spPr>
          <a:xfrm>
            <a:off x="6838950" y="3392424"/>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3" name="Shape 33"/>
          <p:cNvSpPr txBox="1"/>
          <p:nvPr/>
        </p:nvSpPr>
        <p:spPr>
          <a:xfrm>
            <a:off x="6838950" y="3392424"/>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endParaRPr lang="en-US" sz="1950" dirty="0"/>
          </a:p>
        </p:txBody>
      </p:sp>
      <p:sp>
        <p:nvSpPr>
          <p:cNvPr id="34" name="Shape 34"/>
          <p:cNvSpPr txBox="1"/>
          <p:nvPr/>
        </p:nvSpPr>
        <p:spPr>
          <a:xfrm>
            <a:off x="685800" y="400735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7.</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 slope </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A</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B</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anim calcmode="lin" valueType="num">
                                      <p:cBhvr>
                                        <p:cTn id="40" dur="500" fill="hold"/>
                                        <p:tgtEl>
                                          <p:spTgt spid="22"/>
                                        </p:tgtEl>
                                        <p:attrNameLst>
                                          <p:attrName>ppt_x</p:attrName>
                                        </p:attrNameLst>
                                      </p:cBhvr>
                                      <p:tavLst>
                                        <p:tav tm="0">
                                          <p:val>
                                            <p:strVal val="#ppt_x"/>
                                          </p:val>
                                        </p:tav>
                                        <p:tav tm="100000">
                                          <p:val>
                                            <p:strVal val="#ppt_x"/>
                                          </p:val>
                                        </p:tav>
                                      </p:tavLst>
                                    </p:anim>
                                    <p:anim calcmode="lin" valueType="num">
                                      <p:cBhvr>
                                        <p:cTn id="41"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anim calcmode="lin" valueType="num">
                                      <p:cBhvr>
                                        <p:cTn id="47" dur="500" fill="hold"/>
                                        <p:tgtEl>
                                          <p:spTgt spid="24"/>
                                        </p:tgtEl>
                                        <p:attrNameLst>
                                          <p:attrName>ppt_x</p:attrName>
                                        </p:attrNameLst>
                                      </p:cBhvr>
                                      <p:tavLst>
                                        <p:tav tm="0">
                                          <p:val>
                                            <p:strVal val="#ppt_x"/>
                                          </p:val>
                                        </p:tav>
                                        <p:tav tm="100000">
                                          <p:val>
                                            <p:strVal val="#ppt_x"/>
                                          </p:val>
                                        </p:tav>
                                      </p:tavLst>
                                    </p:anim>
                                    <p:anim calcmode="lin" valueType="num">
                                      <p:cBhvr>
                                        <p:cTn id="48"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anim calcmode="lin" valueType="num">
                                      <p:cBhvr>
                                        <p:cTn id="54" dur="500" fill="hold"/>
                                        <p:tgtEl>
                                          <p:spTgt spid="29"/>
                                        </p:tgtEl>
                                        <p:attrNameLst>
                                          <p:attrName>ppt_x</p:attrName>
                                        </p:attrNameLst>
                                      </p:cBhvr>
                                      <p:tavLst>
                                        <p:tav tm="0">
                                          <p:val>
                                            <p:strVal val="#ppt_x"/>
                                          </p:val>
                                        </p:tav>
                                        <p:tav tm="100000">
                                          <p:val>
                                            <p:strVal val="#ppt_x"/>
                                          </p:val>
                                        </p:tav>
                                      </p:tavLst>
                                    </p:anim>
                                    <p:anim calcmode="lin" valueType="num">
                                      <p:cBhvr>
                                        <p:cTn id="55"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500"/>
                                        <p:tgtEl>
                                          <p:spTgt spid="31"/>
                                        </p:tgtEl>
                                      </p:cBhvr>
                                    </p:animEffect>
                                    <p:anim calcmode="lin" valueType="num">
                                      <p:cBhvr>
                                        <p:cTn id="61" dur="500" fill="hold"/>
                                        <p:tgtEl>
                                          <p:spTgt spid="31"/>
                                        </p:tgtEl>
                                        <p:attrNameLst>
                                          <p:attrName>ppt_x</p:attrName>
                                        </p:attrNameLst>
                                      </p:cBhvr>
                                      <p:tavLst>
                                        <p:tav tm="0">
                                          <p:val>
                                            <p:strVal val="#ppt_x"/>
                                          </p:val>
                                        </p:tav>
                                        <p:tav tm="100000">
                                          <p:val>
                                            <p:strVal val="#ppt_x"/>
                                          </p:val>
                                        </p:tav>
                                      </p:tavLst>
                                    </p:anim>
                                    <p:anim calcmode="lin" valueType="num">
                                      <p:cBhvr>
                                        <p:cTn id="62"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anim calcmode="lin" valueType="num">
                                      <p:cBhvr>
                                        <p:cTn id="68" dur="500" fill="hold"/>
                                        <p:tgtEl>
                                          <p:spTgt spid="33"/>
                                        </p:tgtEl>
                                        <p:attrNameLst>
                                          <p:attrName>ppt_x</p:attrName>
                                        </p:attrNameLst>
                                      </p:cBhvr>
                                      <p:tavLst>
                                        <p:tav tm="0">
                                          <p:val>
                                            <p:strVal val="#ppt_x"/>
                                          </p:val>
                                        </p:tav>
                                        <p:tav tm="100000">
                                          <p:val>
                                            <p:strVal val="#ppt_x"/>
                                          </p:val>
                                        </p:tav>
                                      </p:tavLst>
                                    </p:anim>
                                    <p:anim calcmode="lin" valueType="num">
                                      <p:cBhvr>
                                        <p:cTn id="69"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500"/>
                                        <p:tgtEl>
                                          <p:spTgt spid="34"/>
                                        </p:tgtEl>
                                      </p:cBhvr>
                                    </p:animEffect>
                                    <p:anim calcmode="lin" valueType="num">
                                      <p:cBhvr>
                                        <p:cTn id="75" dur="500" fill="hold"/>
                                        <p:tgtEl>
                                          <p:spTgt spid="34"/>
                                        </p:tgtEl>
                                        <p:attrNameLst>
                                          <p:attrName>ppt_x</p:attrName>
                                        </p:attrNameLst>
                                      </p:cBhvr>
                                      <p:tavLst>
                                        <p:tav tm="0">
                                          <p:val>
                                            <p:strVal val="#ppt_x"/>
                                          </p:val>
                                        </p:tav>
                                        <p:tav tm="100000">
                                          <p:val>
                                            <p:strVal val="#ppt_x"/>
                                          </p:val>
                                        </p:tav>
                                      </p:tavLst>
                                    </p:anim>
                                    <p:anim calcmode="lin" valueType="num">
                                      <p:cBhvr>
                                        <p:cTn id="76"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8 · SE p. 229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with its equation</a:t>
            </a:r>
            <a:endParaRPr lang="en-US" sz="3450" dirty="0"/>
          </a:p>
        </p:txBody>
      </p:sp>
      <p:sp>
        <p:nvSpPr>
          <p:cNvPr id="4" name="Shape 4"/>
          <p:cNvSpPr/>
          <p:nvPr/>
        </p:nvSpPr>
        <p:spPr>
          <a:xfrm>
            <a:off x="685800" y="1618488"/>
            <a:ext cx="36195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63133" y="1732788"/>
            <a:ext cx="0" cy="3638550"/>
          </a:xfrm>
          <a:prstGeom prst="line">
            <a:avLst/>
          </a:prstGeom>
          <a:ln w="9525" cap="flat">
            <a:solidFill>
              <a:srgbClr val="E6E8F2"/>
            </a:solidFill>
          </a:ln>
        </p:spPr>
      </p:cxnSp>
      <p:cxnSp>
        <p:nvCxnSpPr>
          <p:cNvPr id="7" name="Line 7"/>
          <p:cNvCxnSpPr/>
          <p:nvPr/>
        </p:nvCxnSpPr>
        <p:spPr>
          <a:xfrm>
            <a:off x="1716617" y="1732788"/>
            <a:ext cx="0" cy="3638550"/>
          </a:xfrm>
          <a:prstGeom prst="line">
            <a:avLst/>
          </a:prstGeom>
          <a:ln w="9525" cap="flat">
            <a:solidFill>
              <a:srgbClr val="E6E8F2"/>
            </a:solidFill>
          </a:ln>
        </p:spPr>
      </p:cxnSp>
      <p:cxnSp>
        <p:nvCxnSpPr>
          <p:cNvPr id="8" name="Line 8"/>
          <p:cNvCxnSpPr/>
          <p:nvPr/>
        </p:nvCxnSpPr>
        <p:spPr>
          <a:xfrm>
            <a:off x="2070100" y="1732788"/>
            <a:ext cx="0" cy="3638550"/>
          </a:xfrm>
          <a:prstGeom prst="line">
            <a:avLst/>
          </a:prstGeom>
          <a:ln w="9525" cap="flat">
            <a:solidFill>
              <a:srgbClr val="E6E8F2"/>
            </a:solidFill>
          </a:ln>
        </p:spPr>
      </p:cxnSp>
      <p:cxnSp>
        <p:nvCxnSpPr>
          <p:cNvPr id="9" name="Line 9"/>
          <p:cNvCxnSpPr/>
          <p:nvPr/>
        </p:nvCxnSpPr>
        <p:spPr>
          <a:xfrm>
            <a:off x="2423583" y="1732788"/>
            <a:ext cx="0" cy="3638550"/>
          </a:xfrm>
          <a:prstGeom prst="line">
            <a:avLst/>
          </a:prstGeom>
          <a:ln w="9525" cap="flat">
            <a:solidFill>
              <a:srgbClr val="E6E8F2"/>
            </a:solidFill>
          </a:ln>
        </p:spPr>
      </p:cxnSp>
      <p:cxnSp>
        <p:nvCxnSpPr>
          <p:cNvPr id="10" name="Line 10"/>
          <p:cNvCxnSpPr/>
          <p:nvPr/>
        </p:nvCxnSpPr>
        <p:spPr>
          <a:xfrm>
            <a:off x="2777067" y="1732788"/>
            <a:ext cx="0" cy="3638550"/>
          </a:xfrm>
          <a:prstGeom prst="line">
            <a:avLst/>
          </a:prstGeom>
          <a:ln w="9525" cap="flat">
            <a:solidFill>
              <a:srgbClr val="E6E8F2"/>
            </a:solidFill>
          </a:ln>
        </p:spPr>
      </p:cxnSp>
      <p:cxnSp>
        <p:nvCxnSpPr>
          <p:cNvPr id="11" name="Line 11"/>
          <p:cNvCxnSpPr/>
          <p:nvPr/>
        </p:nvCxnSpPr>
        <p:spPr>
          <a:xfrm>
            <a:off x="3130550" y="1732788"/>
            <a:ext cx="0" cy="3638550"/>
          </a:xfrm>
          <a:prstGeom prst="line">
            <a:avLst/>
          </a:prstGeom>
          <a:ln w="9525" cap="flat">
            <a:solidFill>
              <a:srgbClr val="E6E8F2"/>
            </a:solidFill>
          </a:ln>
        </p:spPr>
      </p:cxnSp>
      <p:cxnSp>
        <p:nvCxnSpPr>
          <p:cNvPr id="12" name="Line 12"/>
          <p:cNvCxnSpPr/>
          <p:nvPr/>
        </p:nvCxnSpPr>
        <p:spPr>
          <a:xfrm>
            <a:off x="3484033" y="1732788"/>
            <a:ext cx="0" cy="3638550"/>
          </a:xfrm>
          <a:prstGeom prst="line">
            <a:avLst/>
          </a:prstGeom>
          <a:ln w="9525" cap="flat">
            <a:solidFill>
              <a:srgbClr val="E6E8F2"/>
            </a:solidFill>
          </a:ln>
        </p:spPr>
      </p:cxnSp>
      <p:cxnSp>
        <p:nvCxnSpPr>
          <p:cNvPr id="13" name="Line 13"/>
          <p:cNvCxnSpPr/>
          <p:nvPr/>
        </p:nvCxnSpPr>
        <p:spPr>
          <a:xfrm>
            <a:off x="3837517" y="1732788"/>
            <a:ext cx="0" cy="3638550"/>
          </a:xfrm>
          <a:prstGeom prst="line">
            <a:avLst/>
          </a:prstGeom>
          <a:ln w="9525" cap="flat">
            <a:solidFill>
              <a:srgbClr val="E6E8F2"/>
            </a:solidFill>
          </a:ln>
        </p:spPr>
      </p:cxnSp>
      <p:cxnSp>
        <p:nvCxnSpPr>
          <p:cNvPr id="14" name="Line 14"/>
          <p:cNvCxnSpPr/>
          <p:nvPr/>
        </p:nvCxnSpPr>
        <p:spPr>
          <a:xfrm>
            <a:off x="4191000" y="1732788"/>
            <a:ext cx="0" cy="3638550"/>
          </a:xfrm>
          <a:prstGeom prst="line">
            <a:avLst/>
          </a:prstGeom>
          <a:ln w="9525" cap="flat">
            <a:solidFill>
              <a:srgbClr val="E6E8F2"/>
            </a:solidFill>
          </a:ln>
        </p:spPr>
      </p:cxnSp>
      <p:cxnSp>
        <p:nvCxnSpPr>
          <p:cNvPr id="15" name="Line 15"/>
          <p:cNvCxnSpPr/>
          <p:nvPr/>
        </p:nvCxnSpPr>
        <p:spPr>
          <a:xfrm>
            <a:off x="1009650" y="5371338"/>
            <a:ext cx="3181350" cy="0"/>
          </a:xfrm>
          <a:prstGeom prst="line">
            <a:avLst/>
          </a:prstGeom>
          <a:ln w="9525" cap="flat">
            <a:solidFill>
              <a:srgbClr val="E6E8F2"/>
            </a:solidFill>
          </a:ln>
        </p:spPr>
      </p:cxnSp>
      <p:cxnSp>
        <p:nvCxnSpPr>
          <p:cNvPr id="16" name="Line 16"/>
          <p:cNvCxnSpPr/>
          <p:nvPr/>
        </p:nvCxnSpPr>
        <p:spPr>
          <a:xfrm>
            <a:off x="1009650" y="5068126"/>
            <a:ext cx="3181350" cy="0"/>
          </a:xfrm>
          <a:prstGeom prst="line">
            <a:avLst/>
          </a:prstGeom>
          <a:ln w="9525" cap="flat">
            <a:solidFill>
              <a:srgbClr val="E6E8F2"/>
            </a:solidFill>
          </a:ln>
        </p:spPr>
      </p:cxnSp>
      <p:cxnSp>
        <p:nvCxnSpPr>
          <p:cNvPr id="17" name="Line 17"/>
          <p:cNvCxnSpPr/>
          <p:nvPr/>
        </p:nvCxnSpPr>
        <p:spPr>
          <a:xfrm>
            <a:off x="1009650" y="4764913"/>
            <a:ext cx="3181350" cy="0"/>
          </a:xfrm>
          <a:prstGeom prst="line">
            <a:avLst/>
          </a:prstGeom>
          <a:ln w="9525" cap="flat">
            <a:solidFill>
              <a:srgbClr val="E6E8F2"/>
            </a:solidFill>
          </a:ln>
        </p:spPr>
      </p:cxnSp>
      <p:cxnSp>
        <p:nvCxnSpPr>
          <p:cNvPr id="18" name="Line 18"/>
          <p:cNvCxnSpPr/>
          <p:nvPr/>
        </p:nvCxnSpPr>
        <p:spPr>
          <a:xfrm>
            <a:off x="1009650" y="4461700"/>
            <a:ext cx="3181350" cy="0"/>
          </a:xfrm>
          <a:prstGeom prst="line">
            <a:avLst/>
          </a:prstGeom>
          <a:ln w="9525" cap="flat">
            <a:solidFill>
              <a:srgbClr val="E6E8F2"/>
            </a:solidFill>
          </a:ln>
        </p:spPr>
      </p:cxnSp>
      <p:cxnSp>
        <p:nvCxnSpPr>
          <p:cNvPr id="19" name="Line 19"/>
          <p:cNvCxnSpPr/>
          <p:nvPr/>
        </p:nvCxnSpPr>
        <p:spPr>
          <a:xfrm>
            <a:off x="1009650" y="4158488"/>
            <a:ext cx="3181350" cy="0"/>
          </a:xfrm>
          <a:prstGeom prst="line">
            <a:avLst/>
          </a:prstGeom>
          <a:ln w="9525" cap="flat">
            <a:solidFill>
              <a:srgbClr val="E6E8F2"/>
            </a:solidFill>
          </a:ln>
        </p:spPr>
      </p:cxnSp>
      <p:cxnSp>
        <p:nvCxnSpPr>
          <p:cNvPr id="20" name="Line 20"/>
          <p:cNvCxnSpPr/>
          <p:nvPr/>
        </p:nvCxnSpPr>
        <p:spPr>
          <a:xfrm>
            <a:off x="1009650" y="3855275"/>
            <a:ext cx="3181350" cy="0"/>
          </a:xfrm>
          <a:prstGeom prst="line">
            <a:avLst/>
          </a:prstGeom>
          <a:ln w="9525" cap="flat">
            <a:solidFill>
              <a:srgbClr val="E6E8F2"/>
            </a:solidFill>
          </a:ln>
        </p:spPr>
      </p:cxnSp>
      <p:cxnSp>
        <p:nvCxnSpPr>
          <p:cNvPr id="21" name="Line 21"/>
          <p:cNvCxnSpPr/>
          <p:nvPr/>
        </p:nvCxnSpPr>
        <p:spPr>
          <a:xfrm>
            <a:off x="1009650" y="3552063"/>
            <a:ext cx="3181350" cy="0"/>
          </a:xfrm>
          <a:prstGeom prst="line">
            <a:avLst/>
          </a:prstGeom>
          <a:ln w="9525" cap="flat">
            <a:solidFill>
              <a:srgbClr val="E6E8F2"/>
            </a:solidFill>
          </a:ln>
        </p:spPr>
      </p:cxnSp>
      <p:cxnSp>
        <p:nvCxnSpPr>
          <p:cNvPr id="22" name="Line 22"/>
          <p:cNvCxnSpPr/>
          <p:nvPr/>
        </p:nvCxnSpPr>
        <p:spPr>
          <a:xfrm>
            <a:off x="1009650" y="3248850"/>
            <a:ext cx="3181350" cy="0"/>
          </a:xfrm>
          <a:prstGeom prst="line">
            <a:avLst/>
          </a:prstGeom>
          <a:ln w="9525" cap="flat">
            <a:solidFill>
              <a:srgbClr val="E6E8F2"/>
            </a:solidFill>
          </a:ln>
        </p:spPr>
      </p:cxnSp>
      <p:cxnSp>
        <p:nvCxnSpPr>
          <p:cNvPr id="23" name="Line 23"/>
          <p:cNvCxnSpPr/>
          <p:nvPr/>
        </p:nvCxnSpPr>
        <p:spPr>
          <a:xfrm>
            <a:off x="1009650" y="2945638"/>
            <a:ext cx="3181350" cy="0"/>
          </a:xfrm>
          <a:prstGeom prst="line">
            <a:avLst/>
          </a:prstGeom>
          <a:ln w="9525" cap="flat">
            <a:solidFill>
              <a:srgbClr val="E6E8F2"/>
            </a:solidFill>
          </a:ln>
        </p:spPr>
      </p:cxnSp>
      <p:cxnSp>
        <p:nvCxnSpPr>
          <p:cNvPr id="24" name="Line 24"/>
          <p:cNvCxnSpPr/>
          <p:nvPr/>
        </p:nvCxnSpPr>
        <p:spPr>
          <a:xfrm>
            <a:off x="1009650" y="2642426"/>
            <a:ext cx="3181350" cy="0"/>
          </a:xfrm>
          <a:prstGeom prst="line">
            <a:avLst/>
          </a:prstGeom>
          <a:ln w="9525" cap="flat">
            <a:solidFill>
              <a:srgbClr val="E6E8F2"/>
            </a:solidFill>
          </a:ln>
        </p:spPr>
      </p:cxnSp>
      <p:cxnSp>
        <p:nvCxnSpPr>
          <p:cNvPr id="25" name="Line 25"/>
          <p:cNvCxnSpPr/>
          <p:nvPr/>
        </p:nvCxnSpPr>
        <p:spPr>
          <a:xfrm>
            <a:off x="1009650" y="2339213"/>
            <a:ext cx="3181350" cy="0"/>
          </a:xfrm>
          <a:prstGeom prst="line">
            <a:avLst/>
          </a:prstGeom>
          <a:ln w="9525" cap="flat">
            <a:solidFill>
              <a:srgbClr val="E6E8F2"/>
            </a:solidFill>
          </a:ln>
        </p:spPr>
      </p:cxnSp>
      <p:cxnSp>
        <p:nvCxnSpPr>
          <p:cNvPr id="26" name="Line 26"/>
          <p:cNvCxnSpPr/>
          <p:nvPr/>
        </p:nvCxnSpPr>
        <p:spPr>
          <a:xfrm>
            <a:off x="1009650" y="2036000"/>
            <a:ext cx="3181350" cy="0"/>
          </a:xfrm>
          <a:prstGeom prst="line">
            <a:avLst/>
          </a:prstGeom>
          <a:ln w="9525" cap="flat">
            <a:solidFill>
              <a:srgbClr val="E6E8F2"/>
            </a:solidFill>
          </a:ln>
        </p:spPr>
      </p:cxnSp>
      <p:cxnSp>
        <p:nvCxnSpPr>
          <p:cNvPr id="27" name="Line 27"/>
          <p:cNvCxnSpPr/>
          <p:nvPr/>
        </p:nvCxnSpPr>
        <p:spPr>
          <a:xfrm>
            <a:off x="1009650" y="1732788"/>
            <a:ext cx="3181350" cy="0"/>
          </a:xfrm>
          <a:prstGeom prst="line">
            <a:avLst/>
          </a:prstGeom>
          <a:ln w="9525" cap="flat">
            <a:solidFill>
              <a:srgbClr val="E6E8F2"/>
            </a:solidFill>
          </a:ln>
        </p:spPr>
      </p:cxnSp>
      <p:cxnSp>
        <p:nvCxnSpPr>
          <p:cNvPr id="28" name="Line 28"/>
          <p:cNvCxnSpPr/>
          <p:nvPr/>
        </p:nvCxnSpPr>
        <p:spPr>
          <a:xfrm>
            <a:off x="1716617" y="1732788"/>
            <a:ext cx="0" cy="3638550"/>
          </a:xfrm>
          <a:prstGeom prst="line">
            <a:avLst/>
          </a:prstGeom>
          <a:ln w="19050" cap="flat">
            <a:solidFill>
              <a:srgbClr val="5F6272"/>
            </a:solidFill>
          </a:ln>
        </p:spPr>
      </p:cxnSp>
      <p:cxnSp>
        <p:nvCxnSpPr>
          <p:cNvPr id="29" name="Line 29"/>
          <p:cNvCxnSpPr/>
          <p:nvPr/>
        </p:nvCxnSpPr>
        <p:spPr>
          <a:xfrm>
            <a:off x="1009650" y="5068126"/>
            <a:ext cx="3181350" cy="0"/>
          </a:xfrm>
          <a:prstGeom prst="line">
            <a:avLst/>
          </a:prstGeom>
          <a:ln w="19050" cap="flat">
            <a:solidFill>
              <a:srgbClr val="5F6272"/>
            </a:solidFill>
          </a:ln>
        </p:spPr>
      </p:cxnSp>
      <p:sp>
        <p:nvSpPr>
          <p:cNvPr id="30" name="Shape 30"/>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0888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14422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17957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214926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250274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2856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32097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35631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39166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442722" y="4976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442722" y="43702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442722" y="37638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442722" y="31574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2550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5" name="Shape 45"/>
          <p:cNvSpPr txBox="1"/>
          <p:nvPr/>
        </p:nvSpPr>
        <p:spPr>
          <a:xfrm>
            <a:off x="442722" y="19445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46" name="Line 46"/>
          <p:cNvCxnSpPr/>
          <p:nvPr/>
        </p:nvCxnSpPr>
        <p:spPr>
          <a:xfrm flipV="1">
            <a:off x="1009650" y="1732788"/>
            <a:ext cx="2710039" cy="3486944"/>
          </a:xfrm>
          <a:prstGeom prst="line">
            <a:avLst/>
          </a:prstGeom>
          <a:ln w="38100" cap="rnd">
            <a:solidFill>
              <a:srgbClr val="4F8A3C"/>
            </a:solidFill>
          </a:ln>
        </p:spPr>
      </p:cxnSp>
      <p:sp>
        <p:nvSpPr>
          <p:cNvPr id="47" name="Shape 47"/>
          <p:cNvSpPr txBox="1"/>
          <p:nvPr/>
        </p:nvSpPr>
        <p:spPr>
          <a:xfrm>
            <a:off x="122794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1</a:t>
            </a:r>
            <a:endParaRPr lang="en-US" sz="1275" dirty="0"/>
          </a:p>
        </p:txBody>
      </p:sp>
      <p:cxnSp>
        <p:nvCxnSpPr>
          <p:cNvPr id="48" name="Line 48"/>
          <p:cNvCxnSpPr/>
          <p:nvPr/>
        </p:nvCxnSpPr>
        <p:spPr>
          <a:xfrm flipV="1">
            <a:off x="1009650" y="3248850"/>
            <a:ext cx="3181350" cy="1364456"/>
          </a:xfrm>
          <a:prstGeom prst="line">
            <a:avLst/>
          </a:prstGeom>
          <a:ln w="38100" cap="rnd">
            <a:solidFill>
              <a:srgbClr val="7A4FC4"/>
            </a:solidFill>
          </a:ln>
        </p:spPr>
      </p:cxnSp>
      <p:sp>
        <p:nvSpPr>
          <p:cNvPr id="49" name="Shape 49"/>
          <p:cNvSpPr txBox="1"/>
          <p:nvPr/>
        </p:nvSpPr>
        <p:spPr>
          <a:xfrm>
            <a:off x="1699260"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2</a:t>
            </a:r>
            <a:endParaRPr lang="en-US" sz="1275" dirty="0"/>
          </a:p>
        </p:txBody>
      </p:sp>
      <p:cxnSp>
        <p:nvCxnSpPr>
          <p:cNvPr id="50" name="Line 50"/>
          <p:cNvCxnSpPr/>
          <p:nvPr/>
        </p:nvCxnSpPr>
        <p:spPr>
          <a:xfrm flipV="1">
            <a:off x="1009650" y="4044783"/>
            <a:ext cx="3181350" cy="341114"/>
          </a:xfrm>
          <a:prstGeom prst="line">
            <a:avLst/>
          </a:prstGeom>
          <a:ln w="38100" cap="rnd">
            <a:solidFill>
              <a:srgbClr val="16171D"/>
            </a:solidFill>
          </a:ln>
        </p:spPr>
      </p:cxnSp>
      <p:sp>
        <p:nvSpPr>
          <p:cNvPr id="51" name="Shape 51"/>
          <p:cNvSpPr txBox="1"/>
          <p:nvPr/>
        </p:nvSpPr>
        <p:spPr>
          <a:xfrm>
            <a:off x="1699260" y="406383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3</a:t>
            </a:r>
            <a:endParaRPr lang="en-US" sz="1275" dirty="0"/>
          </a:p>
        </p:txBody>
      </p:sp>
      <p:sp>
        <p:nvSpPr>
          <p:cNvPr id="52" name="Shape 52"/>
          <p:cNvSpPr txBox="1"/>
          <p:nvPr/>
        </p:nvSpPr>
        <p:spPr>
          <a:xfrm>
            <a:off x="4686300" y="1618488"/>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−60</a:t>
            </a:r>
            <a:endParaRPr lang="en-US" sz="2325" dirty="0"/>
          </a:p>
        </p:txBody>
      </p:sp>
      <p:sp>
        <p:nvSpPr>
          <p:cNvPr id="53" name="Shape 53"/>
          <p:cNvSpPr txBox="1"/>
          <p:nvPr/>
        </p:nvSpPr>
        <p:spPr>
          <a:xfrm>
            <a:off x="4686300" y="2141982"/>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54" name="Shape 54"/>
          <p:cNvSpPr txBox="1"/>
          <p:nvPr/>
        </p:nvSpPr>
        <p:spPr>
          <a:xfrm>
            <a:off x="4686300" y="2665476"/>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9</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−45</a:t>
            </a:r>
            <a:endParaRPr lang="en-US" sz="2325" dirty="0"/>
          </a:p>
        </p:txBody>
      </p:sp>
      <p:sp>
        <p:nvSpPr>
          <p:cNvPr id="55" name="Shape 55"/>
          <p:cNvSpPr txBox="1"/>
          <p:nvPr/>
        </p:nvSpPr>
        <p:spPr>
          <a:xfrm>
            <a:off x="4686300" y="3188970"/>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5), so compare the slopes, </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6" name="Shape 56"/>
          <p:cNvSpPr txBox="1"/>
          <p:nvPr/>
        </p:nvSpPr>
        <p:spPr>
          <a:xfrm>
            <a:off x="4686300" y="3598164"/>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C9561F"/>
                </a:solidFill>
                <a:latin typeface="Cambria"/>
                <a:cs typeface="Cambria"/>
              </a:rPr>
              <a:t xml:space="preserve">1</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4</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3</a:t>
            </a:r>
            <a:r>
              <a:rPr lang="en-US" sz="1575" dirty="0">
                <a:solidFill>
                  <a:srgbClr val="16171D"/>
                </a:solidFill>
                <a:latin typeface="Segoe UI"/>
                <a:cs typeface="Segoe UI"/>
              </a:rPr>
              <a:t xml:space="preserve"> (least steep)</a:t>
            </a:r>
            <a:endParaRPr lang="en-US" sz="1575" dirty="0"/>
          </a:p>
        </p:txBody>
      </p:sp>
      <p:sp>
        <p:nvSpPr>
          <p:cNvPr id="57" name="Shape 57"/>
          <p:cNvSpPr txBox="1"/>
          <p:nvPr/>
        </p:nvSpPr>
        <p:spPr>
          <a:xfrm>
            <a:off x="4686300" y="400735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 </a:t>
            </a:r>
            <a:r>
              <a:rPr lang="en-US" sz="1575" dirty="0" b="1">
                <a:solidFill>
                  <a:srgbClr val="C9561F"/>
                </a:solidFill>
                <a:latin typeface="Cambria"/>
                <a:cs typeface="Cambria"/>
              </a:rPr>
              <a:t xml:space="preserve">3</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1</a:t>
            </a:r>
            <a:r>
              <a:rPr lang="en-US" sz="1575" dirty="0">
                <a:solidFill>
                  <a:srgbClr val="16171D"/>
                </a:solidFill>
                <a:latin typeface="Segoe UI"/>
                <a:cs typeface="Segoe UI"/>
              </a:rPr>
              <a:t xml:space="preserve"> (steepest)</a:t>
            </a:r>
            <a:endParaRPr lang="en-US" sz="1575" dirty="0"/>
          </a:p>
        </p:txBody>
      </p:sp>
      <p:sp>
        <p:nvSpPr>
          <p:cNvPr id="58" name="Shape 58"/>
          <p:cNvSpPr txBox="1"/>
          <p:nvPr/>
        </p:nvSpPr>
        <p:spPr>
          <a:xfrm>
            <a:off x="4686300" y="441655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 </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2</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fade">
                                      <p:cBhvr>
                                        <p:cTn id="4" dur="500"/>
                                        <p:tgtEl>
                                          <p:spTgt spid="55"/>
                                        </p:tgtEl>
                                      </p:cBhvr>
                                    </p:animEffect>
                                    <p:anim calcmode="lin" valueType="num">
                                      <p:cBhvr>
                                        <p:cTn id="5" dur="500" fill="hold"/>
                                        <p:tgtEl>
                                          <p:spTgt spid="55"/>
                                        </p:tgtEl>
                                        <p:attrNameLst>
                                          <p:attrName>ppt_x</p:attrName>
                                        </p:attrNameLst>
                                      </p:cBhvr>
                                      <p:tavLst>
                                        <p:tav tm="0">
                                          <p:val>
                                            <p:strVal val="#ppt_x"/>
                                          </p:val>
                                        </p:tav>
                                        <p:tav tm="100000">
                                          <p:val>
                                            <p:strVal val="#ppt_x"/>
                                          </p:val>
                                        </p:tav>
                                      </p:tavLst>
                                    </p:anim>
                                    <p:anim calcmode="lin" valueType="num">
                                      <p:cBhvr>
                                        <p:cTn id="6" dur="500" fill="hold"/>
                                        <p:tgtEl>
                                          <p:spTgt spid="5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fade">
                                      <p:cBhvr>
                                        <p:cTn id="11" dur="500"/>
                                        <p:tgtEl>
                                          <p:spTgt spid="56"/>
                                        </p:tgtEl>
                                      </p:cBhvr>
                                    </p:animEffect>
                                    <p:anim calcmode="lin" valueType="num">
                                      <p:cBhvr>
                                        <p:cTn id="12" dur="500" fill="hold"/>
                                        <p:tgtEl>
                                          <p:spTgt spid="56"/>
                                        </p:tgtEl>
                                        <p:attrNameLst>
                                          <p:attrName>ppt_x</p:attrName>
                                        </p:attrNameLst>
                                      </p:cBhvr>
                                      <p:tavLst>
                                        <p:tav tm="0">
                                          <p:val>
                                            <p:strVal val="#ppt_x"/>
                                          </p:val>
                                        </p:tav>
                                        <p:tav tm="100000">
                                          <p:val>
                                            <p:strVal val="#ppt_x"/>
                                          </p:val>
                                        </p:tav>
                                      </p:tavLst>
                                    </p:anim>
                                    <p:anim calcmode="lin" valueType="num">
                                      <p:cBhvr>
                                        <p:cTn id="13" dur="500" fill="hold"/>
                                        <p:tgtEl>
                                          <p:spTgt spid="5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fade">
                                      <p:cBhvr>
                                        <p:cTn id="18" dur="500"/>
                                        <p:tgtEl>
                                          <p:spTgt spid="57"/>
                                        </p:tgtEl>
                                      </p:cBhvr>
                                    </p:animEffect>
                                    <p:anim calcmode="lin" valueType="num">
                                      <p:cBhvr>
                                        <p:cTn id="19" dur="500" fill="hold"/>
                                        <p:tgtEl>
                                          <p:spTgt spid="57"/>
                                        </p:tgtEl>
                                        <p:attrNameLst>
                                          <p:attrName>ppt_x</p:attrName>
                                        </p:attrNameLst>
                                      </p:cBhvr>
                                      <p:tavLst>
                                        <p:tav tm="0">
                                          <p:val>
                                            <p:strVal val="#ppt_x"/>
                                          </p:val>
                                        </p:tav>
                                        <p:tav tm="100000">
                                          <p:val>
                                            <p:strVal val="#ppt_x"/>
                                          </p:val>
                                        </p:tav>
                                      </p:tavLst>
                                    </p:anim>
                                    <p:anim calcmode="lin" valueType="num">
                                      <p:cBhvr>
                                        <p:cTn id="20" dur="500" fill="hold"/>
                                        <p:tgtEl>
                                          <p:spTgt spid="5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500"/>
                                        <p:tgtEl>
                                          <p:spTgt spid="58"/>
                                        </p:tgtEl>
                                      </p:cBhvr>
                                    </p:animEffect>
                                    <p:anim calcmode="lin" valueType="num">
                                      <p:cBhvr>
                                        <p:cTn id="26" dur="500" fill="hold"/>
                                        <p:tgtEl>
                                          <p:spTgt spid="58"/>
                                        </p:tgtEl>
                                        <p:attrNameLst>
                                          <p:attrName>ppt_x</p:attrName>
                                        </p:attrNameLst>
                                      </p:cBhvr>
                                      <p:tavLst>
                                        <p:tav tm="0">
                                          <p:val>
                                            <p:strVal val="#ppt_x"/>
                                          </p:val>
                                        </p:tav>
                                        <p:tav tm="100000">
                                          <p:val>
                                            <p:strVal val="#ppt_x"/>
                                          </p:val>
                                        </p:tav>
                                      </p:tavLst>
                                    </p:anim>
                                    <p:anim calcmode="lin" valueType="num">
                                      <p:cBhvr>
                                        <p:cTn id="27" dur="500" fill="hold"/>
                                        <p:tgtEl>
                                          <p:spTgt spid="5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Worked Example · SE p. 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Standard form from two points: (−1, 3) and (−4, −3)</a:t>
            </a:r>
            <a:endParaRPr lang="en-US" sz="3450" dirty="0"/>
          </a:p>
        </p:txBody>
      </p:sp>
      <p:sp>
        <p:nvSpPr>
          <p:cNvPr id="4" name="Shape 4"/>
          <p:cNvSpPr txBox="1"/>
          <p:nvPr/>
        </p:nvSpPr>
        <p:spPr>
          <a:xfrm>
            <a:off x="685800" y="218236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find the slope.</a:t>
            </a:r>
            <a:endParaRPr lang="en-US" sz="1575" dirty="0"/>
          </a:p>
        </p:txBody>
      </p:sp>
      <p:sp>
        <p:nvSpPr>
          <p:cNvPr id="5" name="Shape 5"/>
          <p:cNvSpPr txBox="1"/>
          <p:nvPr/>
        </p:nvSpPr>
        <p:spPr>
          <a:xfrm>
            <a:off x="685800" y="2572512"/>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endParaRPr lang="en-US" sz="2325" dirty="0"/>
          </a:p>
        </p:txBody>
      </p:sp>
      <p:sp>
        <p:nvSpPr>
          <p:cNvPr id="6" name="Shape 6"/>
          <p:cNvSpPr txBox="1"/>
          <p:nvPr/>
        </p:nvSpPr>
        <p:spPr>
          <a:xfrm>
            <a:off x="685800" y="307695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pick a point and write point-slope form.</a:t>
            </a:r>
            <a:endParaRPr lang="en-US" sz="1575" dirty="0"/>
          </a:p>
        </p:txBody>
      </p:sp>
      <p:sp>
        <p:nvSpPr>
          <p:cNvPr id="7" name="Shape 7"/>
          <p:cNvSpPr txBox="1"/>
          <p:nvPr/>
        </p:nvSpPr>
        <p:spPr>
          <a:xfrm>
            <a:off x="685800" y="3467100"/>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685800" y="39715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rewrite in standard form.</a:t>
            </a:r>
            <a:endParaRPr lang="en-US" sz="1575" dirty="0"/>
          </a:p>
        </p:txBody>
      </p:sp>
      <p:sp>
        <p:nvSpPr>
          <p:cNvPr id="9" name="Shape 9"/>
          <p:cNvSpPr txBox="1"/>
          <p:nvPr/>
        </p:nvSpPr>
        <p:spPr>
          <a:xfrm>
            <a:off x="685800" y="4361688"/>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85800" y="48661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700"/>
                                        <p:tgtEl>
                                          <p:spTgt spid="9"/>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11 · SE p. 230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standard form from two points</a:t>
            </a:r>
            <a:endParaRPr lang="en-US" sz="3450" dirty="0"/>
          </a:p>
        </p:txBody>
      </p:sp>
      <p:sp>
        <p:nvSpPr>
          <p:cNvPr id="7" name="Shape 7"/>
          <p:cNvSpPr txBox="1"/>
          <p:nvPr/>
        </p:nvSpPr>
        <p:spPr>
          <a:xfrm>
            <a:off x="685800"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(0, −4) and (2, 2)</a:t>
            </a:r>
            <a:endParaRPr lang="en-US" sz="2100" dirty="0"/>
          </a:p>
        </p:txBody>
      </p:sp>
      <p:sp>
        <p:nvSpPr>
          <p:cNvPr id="5" name="Shape 5"/>
          <p:cNvSpPr txBox="1"/>
          <p:nvPr/>
        </p:nvSpPr>
        <p:spPr>
          <a:xfrm>
            <a:off x="895350"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6</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 =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6" name="Shape 6"/>
          <p:cNvSpPr txBox="1"/>
          <p:nvPr/>
        </p:nvSpPr>
        <p:spPr>
          <a:xfrm>
            <a:off x="895350"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endParaRPr lang="en-US" sz="2325" dirty="0"/>
          </a:p>
        </p:txBody>
      </p:sp>
      <p:sp>
        <p:nvSpPr>
          <p:cNvPr id="11" name="Shape 11"/>
          <p:cNvSpPr txBox="1"/>
          <p:nvPr/>
        </p:nvSpPr>
        <p:spPr>
          <a:xfrm>
            <a:off x="4349648"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(1, −5) and (−2, 7)</a:t>
            </a:r>
            <a:endParaRPr lang="en-US" sz="2100" dirty="0"/>
          </a:p>
        </p:txBody>
      </p:sp>
      <p:sp>
        <p:nvSpPr>
          <p:cNvPr id="9" name="Shape 9"/>
          <p:cNvSpPr txBox="1"/>
          <p:nvPr/>
        </p:nvSpPr>
        <p:spPr>
          <a:xfrm>
            <a:off x="4559198"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 =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endParaRPr lang="en-US" sz="1575" dirty="0"/>
          </a:p>
        </p:txBody>
      </p:sp>
      <p:sp>
        <p:nvSpPr>
          <p:cNvPr id="10" name="Shape 10"/>
          <p:cNvSpPr txBox="1"/>
          <p:nvPr/>
        </p:nvSpPr>
        <p:spPr>
          <a:xfrm>
            <a:off x="4559198"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16" name="Shape 16"/>
          <p:cNvSpPr txBox="1"/>
          <p:nvPr/>
        </p:nvSpPr>
        <p:spPr>
          <a:xfrm>
            <a:off x="8013497"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4708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(12, 10) and (16, 12)</a:t>
            </a:r>
            <a:endParaRPr lang="en-US" sz="2100" dirty="0"/>
          </a:p>
        </p:txBody>
      </p:sp>
      <p:sp>
        <p:nvSpPr>
          <p:cNvPr id="13" name="Shape 13"/>
          <p:cNvSpPr txBox="1"/>
          <p:nvPr/>
        </p:nvSpPr>
        <p:spPr>
          <a:xfrm>
            <a:off x="8223047" y="26372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14" name="Shape 14"/>
          <p:cNvSpPr txBox="1"/>
          <p:nvPr/>
        </p:nvSpPr>
        <p:spPr>
          <a:xfrm>
            <a:off x="8223047" y="302742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Multiply by 2 so every number is an integer: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endParaRPr lang="en-US" sz="1575" dirty="0"/>
          </a:p>
        </p:txBody>
      </p:sp>
      <p:sp>
        <p:nvSpPr>
          <p:cNvPr id="15" name="Shape 15"/>
          <p:cNvSpPr txBox="1"/>
          <p:nvPr/>
        </p:nvSpPr>
        <p:spPr>
          <a:xfrm>
            <a:off x="8223047" y="3657600"/>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7" name="Shape 17"/>
          <p:cNvSpPr txBox="1"/>
          <p:nvPr/>
        </p:nvSpPr>
        <p:spPr>
          <a:xfrm>
            <a:off x="685800" y="4969002"/>
            <a:ext cx="8626770"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a:t>
            </a:r>
            <a:r>
              <a:rPr lang="en-US" sz="1650" dirty="0" i="1">
                <a:solidFill>
                  <a:srgbClr val="16171D"/>
                </a:solidFill>
                <a:latin typeface="Segoe UI"/>
                <a:cs typeface="Segoe UI"/>
              </a:rPr>
              <a:t xml:space="preserve">A</a:t>
            </a:r>
            <a:r>
              <a:rPr lang="en-US" sz="1650" dirty="0">
                <a:solidFill>
                  <a:srgbClr val="16171D"/>
                </a:solidFill>
                <a:latin typeface="Segoe UI"/>
                <a:cs typeface="Segoe UI"/>
              </a:rPr>
              <a:t xml:space="preserve">, </a:t>
            </a:r>
            <a:r>
              <a:rPr lang="en-US" sz="1650" dirty="0" i="1">
                <a:solidFill>
                  <a:srgbClr val="16171D"/>
                </a:solidFill>
                <a:latin typeface="Segoe UI"/>
                <a:cs typeface="Segoe UI"/>
              </a:rPr>
              <a:t xml:space="preserve">B</a:t>
            </a:r>
            <a:r>
              <a:rPr lang="en-US" sz="1650" dirty="0">
                <a:solidFill>
                  <a:srgbClr val="16171D"/>
                </a:solidFill>
                <a:latin typeface="Segoe UI"/>
                <a:cs typeface="Segoe UI"/>
              </a:rPr>
              <a:t xml:space="preserve">, and </a:t>
            </a:r>
            <a:r>
              <a:rPr lang="en-US" sz="1650" dirty="0" i="1">
                <a:solidFill>
                  <a:srgbClr val="16171D"/>
                </a:solidFill>
                <a:latin typeface="Segoe UI"/>
                <a:cs typeface="Segoe UI"/>
              </a:rPr>
              <a:t xml:space="preserve">C</a:t>
            </a:r>
            <a:r>
              <a:rPr lang="en-US" sz="1650" dirty="0">
                <a:solidFill>
                  <a:srgbClr val="16171D"/>
                </a:solidFill>
                <a:latin typeface="Segoe UI"/>
                <a:cs typeface="Segoe UI"/>
              </a:rPr>
              <a:t xml:space="preserve"> must be </a:t>
            </a:r>
            <a:r>
              <a:rPr lang="en-US" sz="1650" dirty="0" b="1">
                <a:solidFill>
                  <a:srgbClr val="16171D"/>
                </a:solidFill>
                <a:latin typeface="Segoe UI"/>
                <a:cs typeface="Segoe UI"/>
              </a:rPr>
              <a:t xml:space="preserve">integers</a:t>
            </a:r>
            <a:r>
              <a:rPr lang="en-US" sz="1650" dirty="0">
                <a:solidFill>
                  <a:srgbClr val="16171D"/>
                </a:solidFill>
                <a:latin typeface="Segoe UI"/>
                <a:cs typeface="Segoe UI"/>
              </a:rPr>
              <a:t xml:space="preserve">. Clear any fractions first.</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point-slope form</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the point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Count the slope from there.</a:t>
            </a:r>
            <a:endParaRPr lang="en-US" sz="1575" dirty="0"/>
          </a:p>
        </p:txBody>
      </p:sp>
      <p:sp>
        <p:nvSpPr>
          <p:cNvPr id="6" name="Shape 6"/>
          <p:cNvSpPr txBox="1"/>
          <p:nvPr/>
        </p:nvSpPr>
        <p:spPr>
          <a:xfrm>
            <a:off x="895350"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 → (−6, −8)</a:t>
            </a:r>
            <a:endParaRPr lang="en-US" sz="2325" dirty="0"/>
          </a:p>
        </p:txBody>
      </p:sp>
      <p:sp>
        <p:nvSpPr>
          <p:cNvPr id="10" name="Shape 10"/>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standard form</a:t>
            </a:r>
            <a:endParaRPr lang="en-US" sz="2100" dirty="0"/>
          </a:p>
        </p:txBody>
      </p:sp>
      <p:sp>
        <p:nvSpPr>
          <p:cNvPr id="9" name="Shape 9"/>
          <p:cNvSpPr txBox="1"/>
          <p:nvPr/>
        </p:nvSpPr>
        <p:spPr>
          <a:xfrm>
            <a:off x="4559198" y="226009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Put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to find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a:t>
            </a:r>
            <a:br>
              <a:rPr lang="en-US" sz="1575" dirty="0">
                <a:solidFill>
                  <a:srgbClr val="16171D"/>
                </a:solidFill>
                <a:latin typeface="Segoe UI"/>
                <a:cs typeface="Segoe UI"/>
              </a:rPr>
            </a:br>
            <a:r>
              <a:rPr lang="en-US" sz="1575" dirty="0">
                <a:solidFill>
                  <a:srgbClr val="16171D"/>
                </a:solidFill>
                <a:latin typeface="Segoe UI"/>
                <a:cs typeface="Segoe UI"/>
              </a:rPr>
              <a:t xml:space="preserve">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to find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br>
              <a:rPr lang="en-US" sz="1575" dirty="0">
                <a:solidFill>
                  <a:srgbClr val="16171D"/>
                </a:solidFill>
                <a:latin typeface="Segoe UI"/>
                <a:cs typeface="Segoe UI"/>
              </a:rPr>
            </a:br>
            <a:r>
              <a:rPr lang="en-US" sz="1575" dirty="0">
                <a:solidFill>
                  <a:srgbClr val="16171D"/>
                </a:solidFill>
                <a:latin typeface="Segoe UI"/>
                <a:cs typeface="Segoe UI"/>
              </a:rPr>
              <a:t xml:space="preserve">Plot both and connect.</a:t>
            </a:r>
            <a:endParaRPr lang="en-US" sz="1575" dirty="0"/>
          </a:p>
        </p:txBody>
      </p:sp>
      <p:sp>
        <p:nvSpPr>
          <p:cNvPr id="13" name="Shape 13"/>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Shortcuts</a:t>
            </a:r>
            <a:endParaRPr lang="en-US" sz="2100" dirty="0"/>
          </a:p>
        </p:txBody>
      </p:sp>
      <p:sp>
        <p:nvSpPr>
          <p:cNvPr id="12" name="Shape 12"/>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0)</a:t>
            </a:r>
            <a:br>
              <a:rPr lang="en-US" sz="1575" dirty="0">
                <a:solidFill>
                  <a:srgbClr val="16171D"/>
                </a:solidFill>
                <a:latin typeface="Segoe UI"/>
                <a:cs typeface="Segoe UI"/>
              </a:rPr>
            </a:b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endParaRPr lang="en-US" sz="1575" dirty="0"/>
          </a:p>
        </p:txBody>
      </p:sp>
      <p:sp>
        <p:nvSpPr>
          <p:cNvPr id="14" name="Shape 14"/>
          <p:cNvSpPr txBox="1"/>
          <p:nvPr/>
        </p:nvSpPr>
        <p:spPr>
          <a:xfrm>
            <a:off x="685800" y="399669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-intercepts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5" name="Shape 5"/>
          <p:cNvSpPr txBox="1"/>
          <p:nvPr/>
        </p:nvSpPr>
        <p:spPr>
          <a:xfrm>
            <a:off x="685800" y="245821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 and (0, 4)</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228)</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in standard form. </a:t>
            </a:r>
            <a:r>
              <a:rPr lang="en-US" sz="1575" dirty="0">
                <a:solidFill>
                  <a:srgbClr val="5F6272"/>
                </a:solidFill>
                <a:latin typeface="Segoe UI"/>
                <a:cs typeface="Segoe UI"/>
              </a:rPr>
              <a:t xml:space="preserve">(SE p. 230)</a:t>
            </a:r>
            <a:endParaRPr lang="en-US" sz="1950" dirty="0"/>
          </a:p>
        </p:txBody>
      </p:sp>
      <p:sp>
        <p:nvSpPr>
          <p:cNvPr id="9" name="Shape 9"/>
          <p:cNvSpPr txBox="1"/>
          <p:nvPr/>
        </p:nvSpPr>
        <p:spPr>
          <a:xfrm>
            <a:off x="6362548" y="245821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Standard form through (0, 6) and (3, 0)? </a:t>
            </a:r>
            <a:r>
              <a:rPr lang="en-US" sz="1575" dirty="0">
                <a:solidFill>
                  <a:srgbClr val="5F6272"/>
                </a:solidFill>
                <a:latin typeface="Segoe UI"/>
                <a:cs typeface="Segoe UI"/>
              </a:rPr>
              <a:t xml:space="preserve">(SE p. 230)</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5.4: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 choose the best form</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6–10</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r>
              <a:rPr lang="en-US" sz="1575" dirty="0">
                <a:solidFill>
                  <a:srgbClr val="16171D"/>
                </a:solidFill>
                <a:latin typeface="Segoe UI"/>
                <a:cs typeface="Segoe UI"/>
              </a:rPr>
              <a:t xml:space="preserve">: horizontal</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7. 4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48</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vertical</a:t>
            </a:r>
            <a:endParaRPr lang="en-US" sz="1575" dirty="0"/>
          </a:p>
        </p:txBody>
      </p:sp>
      <p:sp>
        <p:nvSpPr>
          <p:cNvPr id="15" name="Shape 15"/>
          <p:cNvSpPr txBox="1"/>
          <p:nvPr/>
        </p:nvSpPr>
        <p:spPr>
          <a:xfrm>
            <a:off x="685800"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9.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4" name="Shape 14"/>
          <p:cNvSpPr txBox="1"/>
          <p:nvPr/>
        </p:nvSpPr>
        <p:spPr>
          <a:xfrm>
            <a:off x="895350"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(0, 7)</a:t>
            </a:r>
            <a:endParaRPr lang="en-US" sz="1575" dirty="0"/>
          </a:p>
        </p:txBody>
      </p:sp>
      <p:sp>
        <p:nvSpPr>
          <p:cNvPr id="18" name="Shape 18"/>
          <p:cNvSpPr txBox="1"/>
          <p:nvPr/>
        </p:nvSpPr>
        <p:spPr>
          <a:xfrm>
            <a:off x="4349648"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19" name="Shape 19"/>
          <p:cNvSpPr txBox="1"/>
          <p:nvPr/>
        </p:nvSpPr>
        <p:spPr>
          <a:xfrm>
            <a:off x="685800" y="44287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The slope can be read directly from slope-intercept and point-slope form. In standard form, calculate </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A</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 233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Nicky's savings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Nicky has </a:t>
            </a:r>
            <a:r>
              <a:rPr lang="en-US" sz="1575" dirty="0" b="1">
                <a:solidFill>
                  <a:srgbClr val="16171D"/>
                </a:solidFill>
                <a:latin typeface="Segoe UI"/>
                <a:cs typeface="Segoe UI"/>
              </a:rPr>
              <a:t xml:space="preserve">$20</a:t>
            </a:r>
            <a:r>
              <a:rPr lang="en-US" sz="1575" dirty="0">
                <a:solidFill>
                  <a:srgbClr val="16171D"/>
                </a:solidFill>
                <a:latin typeface="Segoe UI"/>
                <a:cs typeface="Segoe UI"/>
              </a:rPr>
              <a:t xml:space="preserve"> and plans to save an additional </a:t>
            </a:r>
            <a:r>
              <a:rPr lang="en-US" sz="1575" dirty="0" b="1">
                <a:solidFill>
                  <a:srgbClr val="16171D"/>
                </a:solidFill>
                <a:latin typeface="Segoe UI"/>
                <a:cs typeface="Segoe UI"/>
              </a:rPr>
              <a:t xml:space="preserve">$10 every two weeks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number of weeks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every 2 weeks is </a:t>
            </a:r>
            <a:r>
              <a:rPr lang="en-US" sz="1575" dirty="0" b="1">
                <a:solidFill>
                  <a:srgbClr val="C9561F"/>
                </a:solidFill>
                <a:latin typeface="Segoe UI"/>
                <a:cs typeface="Segoe UI"/>
              </a:rPr>
              <a:t xml:space="preserve">$5 per week</a:t>
            </a:r>
            <a:r>
              <a:rPr lang="en-US" sz="1575" dirty="0">
                <a:solidFill>
                  <a:srgbClr val="16171D"/>
                </a:solidFill>
                <a:latin typeface="Segoe UI"/>
                <a:cs typeface="Segoe UI"/>
              </a:rPr>
              <a:t xml:space="preserve">. He starts with </a:t>
            </a:r>
            <a:r>
              <a:rPr lang="en-US" sz="1575" dirty="0" b="1">
                <a:solidFill>
                  <a:srgbClr val="3050B8"/>
                </a:solidFill>
                <a:latin typeface="Segoe UI"/>
                <a:cs typeface="Segoe UI"/>
              </a:rPr>
              <a:t xml:space="preserve">$20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4486046"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endParaRPr lang="en-US" sz="2850" dirty="0"/>
          </a:p>
        </p:txBody>
      </p:sp>
      <p:sp>
        <p:nvSpPr>
          <p:cNvPr id="7" name="Shape 7"/>
          <p:cNvSpPr txBox="1"/>
          <p:nvPr/>
        </p:nvSpPr>
        <p:spPr>
          <a:xfrm>
            <a:off x="685800" y="3409188"/>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slope-intercept, because the rate and the starting amount are given directly.</a:t>
            </a:r>
            <a:endParaRPr lang="en-US" sz="1575" dirty="0"/>
          </a:p>
        </p:txBody>
      </p:sp>
      <p:sp>
        <p:nvSpPr>
          <p:cNvPr id="8" name="Shape 8"/>
          <p:cNvSpPr txBox="1"/>
          <p:nvPr/>
        </p:nvSpPr>
        <p:spPr>
          <a:xfrm>
            <a:off x="685800" y="40393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plot </a:t>
            </a:r>
            <a:r>
              <a:rPr lang="en-US" sz="1575" dirty="0" b="1">
                <a:solidFill>
                  <a:srgbClr val="3050B8"/>
                </a:solidFill>
                <a:latin typeface="Segoe UI"/>
                <a:cs typeface="Segoe UI"/>
              </a:rPr>
              <a:t xml:space="preserve">(0, 20)</a:t>
            </a:r>
            <a:r>
              <a:rPr lang="en-US" sz="1575" dirty="0">
                <a:solidFill>
                  <a:srgbClr val="16171D"/>
                </a:solidFill>
                <a:latin typeface="Segoe UI"/>
                <a:cs typeface="Segoe UI"/>
              </a:rPr>
              <a:t xml:space="preserve">, then use the slope, </a:t>
            </a:r>
            <a:r>
              <a:rPr lang="en-US" sz="1575" dirty="0" b="1">
                <a:solidFill>
                  <a:srgbClr val="C9561F"/>
                </a:solidFill>
                <a:latin typeface="Cambria"/>
                <a:cs typeface="Cambria"/>
              </a:rPr>
              <a:t xml:space="preserve">10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a:t>
            </a:r>
            <a:r>
              <a:rPr lang="en-US" sz="1575" dirty="0">
                <a:solidFill>
                  <a:srgbClr val="16171D"/>
                </a:solidFill>
                <a:latin typeface="Segoe UI"/>
                <a:cs typeface="Segoe UI"/>
              </a:rPr>
              <a:t xml:space="preserve">: up 10, right 2.</a:t>
            </a:r>
            <a:endParaRPr lang="en-US" sz="1575" dirty="0"/>
          </a:p>
        </p:txBody>
      </p:sp>
      <p:sp>
        <p:nvSpPr>
          <p:cNvPr id="9" name="Shape 9"/>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846515" y="2439162"/>
            <a:ext cx="0" cy="2876550"/>
          </a:xfrm>
          <a:prstGeom prst="line">
            <a:avLst/>
          </a:prstGeom>
          <a:ln w="9525" cap="flat">
            <a:solidFill>
              <a:srgbClr val="E6E8F2"/>
            </a:solidFill>
          </a:ln>
        </p:spPr>
      </p:cxnSp>
      <p:cxnSp>
        <p:nvCxnSpPr>
          <p:cNvPr id="13" name="Line 13"/>
          <p:cNvCxnSpPr/>
          <p:nvPr/>
        </p:nvCxnSpPr>
        <p:spPr>
          <a:xfrm>
            <a:off x="9164650" y="2439162"/>
            <a:ext cx="0" cy="2876550"/>
          </a:xfrm>
          <a:prstGeom prst="line">
            <a:avLst/>
          </a:prstGeom>
          <a:ln w="9525" cap="flat">
            <a:solidFill>
              <a:srgbClr val="E6E8F2"/>
            </a:solidFill>
          </a:ln>
        </p:spPr>
      </p:cxnSp>
      <p:cxnSp>
        <p:nvCxnSpPr>
          <p:cNvPr id="14" name="Line 14"/>
          <p:cNvCxnSpPr/>
          <p:nvPr/>
        </p:nvCxnSpPr>
        <p:spPr>
          <a:xfrm>
            <a:off x="9482785" y="2439162"/>
            <a:ext cx="0" cy="2876550"/>
          </a:xfrm>
          <a:prstGeom prst="line">
            <a:avLst/>
          </a:prstGeom>
          <a:ln w="9525" cap="flat">
            <a:solidFill>
              <a:srgbClr val="E6E8F2"/>
            </a:solidFill>
          </a:ln>
        </p:spPr>
      </p:cxnSp>
      <p:cxnSp>
        <p:nvCxnSpPr>
          <p:cNvPr id="15" name="Line 15"/>
          <p:cNvCxnSpPr/>
          <p:nvPr/>
        </p:nvCxnSpPr>
        <p:spPr>
          <a:xfrm>
            <a:off x="9800920" y="2439162"/>
            <a:ext cx="0" cy="2876550"/>
          </a:xfrm>
          <a:prstGeom prst="line">
            <a:avLst/>
          </a:prstGeom>
          <a:ln w="9525" cap="flat">
            <a:solidFill>
              <a:srgbClr val="E6E8F2"/>
            </a:solidFill>
          </a:ln>
        </p:spPr>
      </p:cxnSp>
      <p:cxnSp>
        <p:nvCxnSpPr>
          <p:cNvPr id="16" name="Line 16"/>
          <p:cNvCxnSpPr/>
          <p:nvPr/>
        </p:nvCxnSpPr>
        <p:spPr>
          <a:xfrm>
            <a:off x="10119055" y="2439162"/>
            <a:ext cx="0" cy="2876550"/>
          </a:xfrm>
          <a:prstGeom prst="line">
            <a:avLst/>
          </a:prstGeom>
          <a:ln w="9525" cap="flat">
            <a:solidFill>
              <a:srgbClr val="E6E8F2"/>
            </a:solidFill>
          </a:ln>
        </p:spPr>
      </p:cxnSp>
      <p:cxnSp>
        <p:nvCxnSpPr>
          <p:cNvPr id="17" name="Line 17"/>
          <p:cNvCxnSpPr/>
          <p:nvPr/>
        </p:nvCxnSpPr>
        <p:spPr>
          <a:xfrm>
            <a:off x="10437190" y="2439162"/>
            <a:ext cx="0" cy="2876550"/>
          </a:xfrm>
          <a:prstGeom prst="line">
            <a:avLst/>
          </a:prstGeom>
          <a:ln w="9525" cap="flat">
            <a:solidFill>
              <a:srgbClr val="E6E8F2"/>
            </a:solidFill>
          </a:ln>
        </p:spPr>
      </p:cxnSp>
      <p:cxnSp>
        <p:nvCxnSpPr>
          <p:cNvPr id="18" name="Line 18"/>
          <p:cNvCxnSpPr/>
          <p:nvPr/>
        </p:nvCxnSpPr>
        <p:spPr>
          <a:xfrm>
            <a:off x="10755325" y="2439162"/>
            <a:ext cx="0" cy="2876550"/>
          </a:xfrm>
          <a:prstGeom prst="line">
            <a:avLst/>
          </a:prstGeom>
          <a:ln w="9525" cap="flat">
            <a:solidFill>
              <a:srgbClr val="E6E8F2"/>
            </a:solidFill>
          </a:ln>
        </p:spPr>
      </p:cxnSp>
      <p:cxnSp>
        <p:nvCxnSpPr>
          <p:cNvPr id="19" name="Line 19"/>
          <p:cNvCxnSpPr/>
          <p:nvPr/>
        </p:nvCxnSpPr>
        <p:spPr>
          <a:xfrm>
            <a:off x="11073460" y="2439162"/>
            <a:ext cx="0" cy="2876550"/>
          </a:xfrm>
          <a:prstGeom prst="line">
            <a:avLst/>
          </a:prstGeom>
          <a:ln w="9525" cap="flat">
            <a:solidFill>
              <a:srgbClr val="E6E8F2"/>
            </a:solidFill>
          </a:ln>
        </p:spPr>
      </p:cxnSp>
      <p:cxnSp>
        <p:nvCxnSpPr>
          <p:cNvPr id="20" name="Line 20"/>
          <p:cNvCxnSpPr/>
          <p:nvPr/>
        </p:nvCxnSpPr>
        <p:spPr>
          <a:xfrm>
            <a:off x="11391595" y="2439162"/>
            <a:ext cx="0" cy="2876550"/>
          </a:xfrm>
          <a:prstGeom prst="line">
            <a:avLst/>
          </a:prstGeom>
          <a:ln w="9525" cap="flat">
            <a:solidFill>
              <a:srgbClr val="E6E8F2"/>
            </a:solidFill>
          </a:ln>
        </p:spPr>
      </p:cxnSp>
      <p:cxnSp>
        <p:nvCxnSpPr>
          <p:cNvPr id="21" name="Line 21"/>
          <p:cNvCxnSpPr/>
          <p:nvPr/>
        </p:nvCxnSpPr>
        <p:spPr>
          <a:xfrm>
            <a:off x="8210245" y="5315712"/>
            <a:ext cx="3181350" cy="0"/>
          </a:xfrm>
          <a:prstGeom prst="line">
            <a:avLst/>
          </a:prstGeom>
          <a:ln w="9525" cap="flat">
            <a:solidFill>
              <a:srgbClr val="E6E8F2"/>
            </a:solidFill>
          </a:ln>
        </p:spPr>
      </p:cxnSp>
      <p:cxnSp>
        <p:nvCxnSpPr>
          <p:cNvPr id="22" name="Line 22"/>
          <p:cNvCxnSpPr/>
          <p:nvPr/>
        </p:nvCxnSpPr>
        <p:spPr>
          <a:xfrm>
            <a:off x="8210245" y="4956143"/>
            <a:ext cx="3181350" cy="0"/>
          </a:xfrm>
          <a:prstGeom prst="line">
            <a:avLst/>
          </a:prstGeom>
          <a:ln w="9525" cap="flat">
            <a:solidFill>
              <a:srgbClr val="E6E8F2"/>
            </a:solidFill>
          </a:ln>
        </p:spPr>
      </p:cxnSp>
      <p:cxnSp>
        <p:nvCxnSpPr>
          <p:cNvPr id="23" name="Line 23"/>
          <p:cNvCxnSpPr/>
          <p:nvPr/>
        </p:nvCxnSpPr>
        <p:spPr>
          <a:xfrm>
            <a:off x="8210245" y="4596574"/>
            <a:ext cx="3181350" cy="0"/>
          </a:xfrm>
          <a:prstGeom prst="line">
            <a:avLst/>
          </a:prstGeom>
          <a:ln w="9525" cap="flat">
            <a:solidFill>
              <a:srgbClr val="E6E8F2"/>
            </a:solidFill>
          </a:ln>
        </p:spPr>
      </p:cxnSp>
      <p:cxnSp>
        <p:nvCxnSpPr>
          <p:cNvPr id="24" name="Line 24"/>
          <p:cNvCxnSpPr/>
          <p:nvPr/>
        </p:nvCxnSpPr>
        <p:spPr>
          <a:xfrm>
            <a:off x="8210245" y="4237006"/>
            <a:ext cx="3181350" cy="0"/>
          </a:xfrm>
          <a:prstGeom prst="line">
            <a:avLst/>
          </a:prstGeom>
          <a:ln w="9525" cap="flat">
            <a:solidFill>
              <a:srgbClr val="E6E8F2"/>
            </a:solidFill>
          </a:ln>
        </p:spPr>
      </p:cxnSp>
      <p:cxnSp>
        <p:nvCxnSpPr>
          <p:cNvPr id="25" name="Line 25"/>
          <p:cNvCxnSpPr/>
          <p:nvPr/>
        </p:nvCxnSpPr>
        <p:spPr>
          <a:xfrm>
            <a:off x="8210245" y="3877437"/>
            <a:ext cx="3181350" cy="0"/>
          </a:xfrm>
          <a:prstGeom prst="line">
            <a:avLst/>
          </a:prstGeom>
          <a:ln w="9525" cap="flat">
            <a:solidFill>
              <a:srgbClr val="E6E8F2"/>
            </a:solidFill>
          </a:ln>
        </p:spPr>
      </p:cxnSp>
      <p:cxnSp>
        <p:nvCxnSpPr>
          <p:cNvPr id="26" name="Line 26"/>
          <p:cNvCxnSpPr/>
          <p:nvPr/>
        </p:nvCxnSpPr>
        <p:spPr>
          <a:xfrm>
            <a:off x="8210245" y="3517868"/>
            <a:ext cx="3181350" cy="0"/>
          </a:xfrm>
          <a:prstGeom prst="line">
            <a:avLst/>
          </a:prstGeom>
          <a:ln w="9525" cap="flat">
            <a:solidFill>
              <a:srgbClr val="E6E8F2"/>
            </a:solidFill>
          </a:ln>
        </p:spPr>
      </p:cxnSp>
      <p:cxnSp>
        <p:nvCxnSpPr>
          <p:cNvPr id="27" name="Line 27"/>
          <p:cNvCxnSpPr/>
          <p:nvPr/>
        </p:nvCxnSpPr>
        <p:spPr>
          <a:xfrm>
            <a:off x="8210245" y="3158300"/>
            <a:ext cx="3181350" cy="0"/>
          </a:xfrm>
          <a:prstGeom prst="line">
            <a:avLst/>
          </a:prstGeom>
          <a:ln w="9525" cap="flat">
            <a:solidFill>
              <a:srgbClr val="E6E8F2"/>
            </a:solidFill>
          </a:ln>
        </p:spPr>
      </p:cxnSp>
      <p:cxnSp>
        <p:nvCxnSpPr>
          <p:cNvPr id="28" name="Line 28"/>
          <p:cNvCxnSpPr/>
          <p:nvPr/>
        </p:nvCxnSpPr>
        <p:spPr>
          <a:xfrm>
            <a:off x="8210245" y="2798731"/>
            <a:ext cx="3181350" cy="0"/>
          </a:xfrm>
          <a:prstGeom prst="line">
            <a:avLst/>
          </a:prstGeom>
          <a:ln w="9525" cap="flat">
            <a:solidFill>
              <a:srgbClr val="E6E8F2"/>
            </a:solidFill>
          </a:ln>
        </p:spPr>
      </p:cxnSp>
      <p:cxnSp>
        <p:nvCxnSpPr>
          <p:cNvPr id="29" name="Line 29"/>
          <p:cNvCxnSpPr/>
          <p:nvPr/>
        </p:nvCxnSpPr>
        <p:spPr>
          <a:xfrm>
            <a:off x="8210245" y="2439162"/>
            <a:ext cx="3181350" cy="0"/>
          </a:xfrm>
          <a:prstGeom prst="line">
            <a:avLst/>
          </a:prstGeom>
          <a:ln w="9525" cap="flat">
            <a:solidFill>
              <a:srgbClr val="E6E8F2"/>
            </a:solidFill>
          </a:ln>
        </p:spPr>
      </p:cxnSp>
      <p:cxnSp>
        <p:nvCxnSpPr>
          <p:cNvPr id="30" name="Line 30"/>
          <p:cNvCxnSpPr/>
          <p:nvPr/>
        </p:nvCxnSpPr>
        <p:spPr>
          <a:xfrm>
            <a:off x="8210245" y="2439162"/>
            <a:ext cx="0" cy="2876550"/>
          </a:xfrm>
          <a:prstGeom prst="line">
            <a:avLst/>
          </a:prstGeom>
          <a:ln w="19050" cap="flat">
            <a:solidFill>
              <a:srgbClr val="5F6272"/>
            </a:solidFill>
          </a:ln>
        </p:spPr>
      </p:cxnSp>
      <p:cxnSp>
        <p:nvCxnSpPr>
          <p:cNvPr id="31" name="Line 31"/>
          <p:cNvCxnSpPr/>
          <p:nvPr/>
        </p:nvCxnSpPr>
        <p:spPr>
          <a:xfrm>
            <a:off x="8210245" y="5315712"/>
            <a:ext cx="3181350" cy="0"/>
          </a:xfrm>
          <a:prstGeom prst="line">
            <a:avLst/>
          </a:prstGeom>
          <a:ln w="19050" cap="flat">
            <a:solidFill>
              <a:srgbClr val="5F6272"/>
            </a:solidFill>
          </a:ln>
        </p:spPr>
      </p:cxnSp>
      <p:sp>
        <p:nvSpPr>
          <p:cNvPr id="32" name="Shape 32"/>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1" name="Shape 41"/>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2" name="Shape 42"/>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6" name="Shape 46"/>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7" name="Shape 47"/>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48" name="Shape 48"/>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49" name="Shape 49"/>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0" name="Shape 50"/>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1" name="Shape 51"/>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p:nvPr/>
        </p:nvSpPr>
        <p:spPr>
          <a:xfrm>
            <a:off x="8157858" y="454418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8295970" y="434892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a:t>
            </a:r>
            <a:endParaRPr lang="en-US" sz="1125" dirty="0"/>
          </a:p>
        </p:txBody>
      </p:sp>
      <p:sp>
        <p:nvSpPr>
          <p:cNvPr id="54" name="Shape 54"/>
          <p:cNvSpPr/>
          <p:nvPr/>
        </p:nvSpPr>
        <p:spPr>
          <a:xfrm>
            <a:off x="8794128" y="41846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430398" y="38250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8210245" y="2798731"/>
            <a:ext cx="3181350" cy="1797844"/>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fade">
                                      <p:cBhvr>
                                        <p:cTn id="32" dur="500"/>
                                        <p:tgtEl>
                                          <p:spTgt spid="52"/>
                                        </p:tgtEl>
                                      </p:cBhvr>
                                    </p:animEffect>
                                    <p:anim calcmode="lin" valueType="num">
                                      <p:cBhvr>
                                        <p:cTn id="33" dur="500" fill="hold"/>
                                        <p:tgtEl>
                                          <p:spTgt spid="52"/>
                                        </p:tgtEl>
                                        <p:attrNameLst>
                                          <p:attrName>ppt_w</p:attrName>
                                        </p:attrNameLst>
                                      </p:cBhvr>
                                      <p:tavLst>
                                        <p:tav tm="0">
                                          <p:val>
                                            <p:fltVal val="0"/>
                                          </p:val>
                                        </p:tav>
                                        <p:tav tm="100000">
                                          <p:val>
                                            <p:strVal val="#ppt_w"/>
                                          </p:val>
                                        </p:tav>
                                      </p:tavLst>
                                    </p:anim>
                                    <p:anim calcmode="lin" valueType="num">
                                      <p:cBhvr>
                                        <p:cTn id="34" dur="500" fill="hold"/>
                                        <p:tgtEl>
                                          <p:spTgt spid="5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53"/>
                                        </p:tgtEl>
                                        <p:attrNameLst>
                                          <p:attrName>style.visibility</p:attrName>
                                        </p:attrNameLst>
                                      </p:cBhvr>
                                      <p:to>
                                        <p:strVal val="visible"/>
                                      </p:to>
                                    </p:set>
                                    <p:animEffect transition="in" filter="fade">
                                      <p:cBhvr>
                                        <p:cTn id="37" dur="500"/>
                                        <p:tgtEl>
                                          <p:spTgt spid="53"/>
                                        </p:tgtEl>
                                      </p:cBhvr>
                                    </p:animEffect>
                                    <p:anim calcmode="lin" valueType="num">
                                      <p:cBhvr>
                                        <p:cTn id="38" dur="500" fill="hold"/>
                                        <p:tgtEl>
                                          <p:spTgt spid="53"/>
                                        </p:tgtEl>
                                        <p:attrNameLst>
                                          <p:attrName>ppt_w</p:attrName>
                                        </p:attrNameLst>
                                      </p:cBhvr>
                                      <p:tavLst>
                                        <p:tav tm="0">
                                          <p:val>
                                            <p:fltVal val="0"/>
                                          </p:val>
                                        </p:tav>
                                        <p:tav tm="100000">
                                          <p:val>
                                            <p:strVal val="#ppt_w"/>
                                          </p:val>
                                        </p:tav>
                                      </p:tavLst>
                                    </p:anim>
                                    <p:anim calcmode="lin" valueType="num">
                                      <p:cBhvr>
                                        <p:cTn id="39"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anim calcmode="lin" valueType="num">
                                      <p:cBhvr>
                                        <p:cTn id="45" dur="500" fill="hold"/>
                                        <p:tgtEl>
                                          <p:spTgt spid="54"/>
                                        </p:tgtEl>
                                        <p:attrNameLst>
                                          <p:attrName>ppt_w</p:attrName>
                                        </p:attrNameLst>
                                      </p:cBhvr>
                                      <p:tavLst>
                                        <p:tav tm="0">
                                          <p:val>
                                            <p:fltVal val="0"/>
                                          </p:val>
                                        </p:tav>
                                        <p:tav tm="100000">
                                          <p:val>
                                            <p:strVal val="#ppt_w"/>
                                          </p:val>
                                        </p:tav>
                                      </p:tavLst>
                                    </p:anim>
                                    <p:anim calcmode="lin" valueType="num">
                                      <p:cBhvr>
                                        <p:cTn id="4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5"/>
                                        </p:tgtEl>
                                        <p:attrNameLst>
                                          <p:attrName>style.visibility</p:attrName>
                                        </p:attrNameLst>
                                      </p:cBhvr>
                                      <p:to>
                                        <p:strVal val="visible"/>
                                      </p:to>
                                    </p:set>
                                    <p:animEffect transition="in" filter="fade">
                                      <p:cBhvr>
                                        <p:cTn id="51" dur="500"/>
                                        <p:tgtEl>
                                          <p:spTgt spid="55"/>
                                        </p:tgtEl>
                                      </p:cBhvr>
                                    </p:animEffect>
                                    <p:anim calcmode="lin" valueType="num">
                                      <p:cBhvr>
                                        <p:cTn id="52" dur="500" fill="hold"/>
                                        <p:tgtEl>
                                          <p:spTgt spid="55"/>
                                        </p:tgtEl>
                                        <p:attrNameLst>
                                          <p:attrName>ppt_w</p:attrName>
                                        </p:attrNameLst>
                                      </p:cBhvr>
                                      <p:tavLst>
                                        <p:tav tm="0">
                                          <p:val>
                                            <p:fltVal val="0"/>
                                          </p:val>
                                        </p:tav>
                                        <p:tav tm="100000">
                                          <p:val>
                                            <p:strVal val="#ppt_w"/>
                                          </p:val>
                                        </p:tav>
                                      </p:tavLst>
                                    </p:anim>
                                    <p:anim calcmode="lin" valueType="num">
                                      <p:cBhvr>
                                        <p:cTn id="5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6"/>
                                        </p:tgtEl>
                                        <p:attrNameLst>
                                          <p:attrName>style.visibility</p:attrName>
                                        </p:attrNameLst>
                                      </p:cBhvr>
                                      <p:to>
                                        <p:strVal val="visible"/>
                                      </p:to>
                                    </p:set>
                                    <p:animEffect transition="in" filter="wipe(left)">
                                      <p:cBhvr>
                                        <p:cTn id="58"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you know a starting amount and a rate.</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you know a rate and one point that is not the start.</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two kinds of things add up to one total.</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 faster way.</a:t>
            </a:r>
            <a:r>
              <a:rPr lang="en-US" sz="1950" dirty="0">
                <a:solidFill>
                  <a:srgbClr val="16171D"/>
                </a:solidFill>
                <a:latin typeface="Segoe UI"/>
                <a:cs typeface="Segoe UI"/>
              </a:rPr>
              <a:t xml:space="preserve"> You don't need a table; the equation tells you where to start and how to move.</a:t>
            </a:r>
            <a:endParaRPr lang="en-US" sz="1950" dirty="0"/>
          </a:p>
        </p:txBody>
      </p:sp>
      <p:sp>
        <p:nvSpPr>
          <p:cNvPr id="5" name="Shape 5"/>
          <p:cNvSpPr txBox="1"/>
          <p:nvPr/>
        </p:nvSpPr>
        <p:spPr>
          <a:xfrm>
            <a:off x="685800" y="25153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Slope-intercept:</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0579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Point-slope:</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004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Standard form:</a:t>
            </a:r>
            <a:r>
              <a:rPr lang="en-US" sz="1950" dirty="0">
                <a:solidFill>
                  <a:srgbClr val="16171D"/>
                </a:solidFill>
                <a:latin typeface="Segoe UI"/>
                <a:cs typeface="Segoe UI"/>
              </a:rPr>
              <a:t xml:space="preserve"> find both intercepts,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A</a:t>
            </a:r>
            <a:r>
              <a:rPr lang="en-US" sz="1950" dirty="0" b="1">
                <a:solidFill>
                  <a:srgbClr val="3050B8"/>
                </a:solidFill>
                <a:latin typeface="Segoe UI"/>
                <a:cs typeface="Segoe UI"/>
              </a:rPr>
              <a:t xml:space="preserve">, 0)</a:t>
            </a:r>
            <a:r>
              <a:rPr lang="en-US" sz="1950" dirty="0">
                <a:solidFill>
                  <a:srgbClr val="16171D"/>
                </a:solidFill>
                <a:latin typeface="Segoe UI"/>
                <a:cs typeface="Segoe UI"/>
              </a:rPr>
              <a:t xml:space="preserve"> and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and connect them.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 you would plot to graph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3916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7" name="Shape 7"/>
          <p:cNvSpPr txBox="1"/>
          <p:nvPr/>
        </p:nvSpPr>
        <p:spPr>
          <a:xfrm>
            <a:off x="685800" y="353872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 and (0, 6)</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231)</a:t>
            </a:r>
            <a:endParaRPr lang="en-US" sz="1950" dirty="0"/>
          </a:p>
        </p:txBody>
      </p:sp>
      <p:sp>
        <p:nvSpPr>
          <p:cNvPr id="9" name="Shape 9"/>
          <p:cNvSpPr txBox="1"/>
          <p:nvPr/>
        </p:nvSpPr>
        <p:spPr>
          <a:xfrm>
            <a:off x="685800" y="463829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(0, 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6 · SE p. 237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slope between each pair of points</a:t>
            </a:r>
            <a:endParaRPr lang="en-US" sz="3450" dirty="0"/>
          </a:p>
        </p:txBody>
      </p:sp>
      <p:sp>
        <p:nvSpPr>
          <p:cNvPr id="4" name="Shape 4"/>
          <p:cNvSpPr txBox="1"/>
          <p:nvPr/>
        </p:nvSpPr>
        <p:spPr>
          <a:xfrm>
            <a:off x="685800"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(0, 10) and (3, 12)</a:t>
            </a:r>
            <a:endParaRPr lang="en-US" sz="2325" dirty="0"/>
          </a:p>
        </p:txBody>
      </p:sp>
      <p:sp>
        <p:nvSpPr>
          <p:cNvPr id="5" name="Shape 5"/>
          <p:cNvSpPr txBox="1"/>
          <p:nvPr/>
        </p:nvSpPr>
        <p:spPr>
          <a:xfrm>
            <a:off x="685800" y="261061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4470298"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 4.5) and (1, −4.5)</a:t>
            </a:r>
            <a:endParaRPr lang="en-US" sz="2325" dirty="0"/>
          </a:p>
        </p:txBody>
      </p:sp>
      <p:sp>
        <p:nvSpPr>
          <p:cNvPr id="7" name="Shape 7"/>
          <p:cNvSpPr txBox="1"/>
          <p:nvPr/>
        </p:nvSpPr>
        <p:spPr>
          <a:xfrm>
            <a:off x="4470298"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−4.5</a:t>
            </a:r>
            <a:endParaRPr lang="en-US" sz="2325" dirty="0"/>
          </a:p>
        </p:txBody>
      </p:sp>
      <p:sp>
        <p:nvSpPr>
          <p:cNvPr id="8" name="Shape 8"/>
          <p:cNvSpPr txBox="1"/>
          <p:nvPr/>
        </p:nvSpPr>
        <p:spPr>
          <a:xfrm>
            <a:off x="8254797"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(21, 0) and (0, 12)</a:t>
            </a:r>
            <a:endParaRPr lang="en-US" sz="2325" dirty="0"/>
          </a:p>
        </p:txBody>
      </p:sp>
      <p:sp>
        <p:nvSpPr>
          <p:cNvPr id="9" name="Shape 9"/>
          <p:cNvSpPr txBox="1"/>
          <p:nvPr/>
        </p:nvSpPr>
        <p:spPr>
          <a:xfrm>
            <a:off x="8254797"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5 Assignment (SE pp. 235–237); the quiz covers SE pp. 219–231.</a:t>
            </a:r>
            <a:endParaRPr lang="en-US" sz="1575" dirty="0"/>
          </a:p>
        </p:txBody>
      </p:sp>
    </p:spTree>
  </p:cSld>
  <p:clrMapOvr>
    <a:masterClrMapping/>
  </p:clrMapOvr>
  <p:transition spd="med">
    <p:fade/>
  </p:transition>
</p:sld>
</file>

<file path=ppt/theme/theme1.xml><?xml version="1.0" encoding="utf-8"?>
<a:theme xmlns:a="http://schemas.openxmlformats.org/drawingml/2006/main" name="Using Linear Equa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42</Slides>
  <Notes>42</Notes>
</Properties>
</file>

<file path=docProps/core.xml><?xml version="1.0" encoding="utf-8"?>
<cp:coreProperties xmlns:cp="http://schemas.openxmlformats.org/package/2006/metadata/core-properties" xmlns:dc="http://purl.org/dc/elements/1.1/">
  <dc:title>Using Linear Equations</dc:title>
  <dc:subject>Bluebonnet Algebra I</dc:subject>
</cp:coreProperties>
</file>