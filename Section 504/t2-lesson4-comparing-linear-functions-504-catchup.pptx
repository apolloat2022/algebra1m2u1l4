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The 150-day guide omits this lesson, but the End of Topic 2 Assessment covers it (questions 11–14). On the class calendar: Day 1 (Thu Oct 29) Getting Started, Activities 4.1 and 4.2, plus the rate of change and starting value of Activity 4.4 if time allows; Day 2 (Wed Nov 4, after the test, for students not retaking)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p has slope (4 − 1) ÷ 4 = ¾ = 0.75. y = x − 2 has slope 1, which is greater. (3x − 4y = 8 is y = ¾x − 2: equal, not greater.)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Range = the outputs, the gallons left: 200 at the start, down to 0 when t = 20.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passes through </a:t>
            </a:r>
            <a:r>
              <a:rPr lang="en-US" sz="1950" dirty="0">
                <a:solidFill>
                  <a:srgbClr val="16171D"/>
                </a:solidFill>
                <a:latin typeface="Cambria"/>
                <a:cs typeface="Cambria"/>
              </a:rPr>
              <a:t xml:space="preserve">(0, 1)</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(4, 4)</a:t>
            </a:r>
            <a:r>
              <a:rPr lang="en-US" sz="1950" dirty="0">
                <a:solidFill>
                  <a:srgbClr val="16171D"/>
                </a:solidFill>
                <a:latin typeface="Segoe UI"/>
                <a:cs typeface="Segoe UI"/>
              </a:rPr>
              <a:t xml:space="preserve">. Which function has a greater rate of change than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32358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odd one out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compare slopes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a table and a graph</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Representation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way to show a function: table, graph, equation or words.</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starting amount.</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8" name="Shape 18"/>
          <p:cNvSpPr txBox="1"/>
          <p:nvPr/>
        </p:nvSpPr>
        <p:spPr>
          <a:xfrm>
            <a:off x="685800"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Independent quantity</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input, on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months</a:t>
            </a:r>
            <a:endParaRPr lang="en-US" sz="2325" dirty="0"/>
          </a:p>
        </p:txBody>
      </p:sp>
      <p:sp>
        <p:nvSpPr>
          <p:cNvPr id="22" name="Shape 22"/>
          <p:cNvSpPr txBox="1"/>
          <p:nvPr/>
        </p:nvSpPr>
        <p:spPr>
          <a:xfrm>
            <a:off x="4349648"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Dependent quantity</a:t>
            </a:r>
            <a:endParaRPr lang="en-US" sz="2100" dirty="0"/>
          </a:p>
        </p:txBody>
      </p:sp>
      <p:sp>
        <p:nvSpPr>
          <p:cNvPr id="20" name="Shape 20"/>
          <p:cNvSpPr txBox="1"/>
          <p:nvPr/>
        </p:nvSpPr>
        <p:spPr>
          <a:xfrm>
            <a:off x="4559198"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on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21" name="Shape 21"/>
          <p:cNvSpPr txBox="1"/>
          <p:nvPr/>
        </p:nvSpPr>
        <p:spPr>
          <a:xfrm>
            <a:off x="4559198"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saved</a:t>
            </a:r>
            <a:endParaRPr lang="en-US" sz="2325" dirty="0"/>
          </a:p>
        </p:txBody>
      </p:sp>
      <p:sp>
        <p:nvSpPr>
          <p:cNvPr id="26" name="Shape 26"/>
          <p:cNvSpPr txBox="1"/>
          <p:nvPr/>
        </p:nvSpPr>
        <p:spPr>
          <a:xfrm>
            <a:off x="8013497"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much each grid line counts.</a:t>
            </a:r>
            <a:endParaRPr lang="en-US" sz="1575" dirty="0"/>
          </a:p>
        </p:txBody>
      </p:sp>
      <p:sp>
        <p:nvSpPr>
          <p:cNvPr id="25" name="Shape 25"/>
          <p:cNvSpPr txBox="1"/>
          <p:nvPr/>
        </p:nvSpPr>
        <p:spPr>
          <a:xfrm>
            <a:off x="8223047"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each tick = $20</a:t>
            </a:r>
            <a:endParaRPr lang="en-US" sz="2325" dirty="0"/>
          </a:p>
        </p:txBody>
      </p:sp>
      <p:sp>
        <p:nvSpPr>
          <p:cNvPr id="27" name="Slide Number 2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Find the slope</a:t>
            </a:r>
            <a:endParaRPr lang="en-US" sz="2100" dirty="0"/>
          </a:p>
        </p:txBody>
      </p:sp>
      <p:sp>
        <p:nvSpPr>
          <p:cNvPr id="5" name="Shape 5"/>
          <p:cNvSpPr txBox="1"/>
          <p:nvPr/>
        </p:nvSpPr>
        <p:spPr>
          <a:xfrm>
            <a:off x="895350"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Table or graph:</a:t>
            </a:r>
            <a:r>
              <a:rPr lang="en-US" sz="1575" dirty="0">
                <a:solidFill>
                  <a:srgbClr val="16171D"/>
                </a:solidFill>
                <a:latin typeface="Segoe UI"/>
                <a:cs typeface="Segoe UI"/>
              </a:rPr>
              <a:t xml:space="preserve"> pick two points,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Words:</a:t>
            </a:r>
            <a:r>
              <a:rPr lang="en-US" sz="1575" dirty="0">
                <a:solidFill>
                  <a:srgbClr val="16171D"/>
                </a:solidFill>
                <a:latin typeface="Segoe UI"/>
                <a:cs typeface="Segoe UI"/>
              </a:rPr>
              <a:t xml:space="preserve"> the "per" amount.</a:t>
            </a:r>
            <a:endParaRPr lang="en-US" sz="1575" dirty="0"/>
          </a:p>
        </p:txBody>
      </p:sp>
      <p:sp>
        <p:nvSpPr>
          <p:cNvPr id="9" name="Shape 9"/>
          <p:cNvSpPr txBox="1"/>
          <p:nvPr/>
        </p:nvSpPr>
        <p:spPr>
          <a:xfrm>
            <a:off x="4349648"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Compare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slope → parallel.</a:t>
            </a:r>
            <a:br>
              <a:rPr lang="en-US" sz="1575" dirty="0">
                <a:solidFill>
                  <a:srgbClr val="16171D"/>
                </a:solidFill>
                <a:latin typeface="Segoe UI"/>
                <a:cs typeface="Segoe UI"/>
              </a:rPr>
            </a:br>
            <a:r>
              <a:rPr lang="en-US" sz="1575" dirty="0">
                <a:solidFill>
                  <a:srgbClr val="16171D"/>
                </a:solidFill>
                <a:latin typeface="Segoe UI"/>
                <a:cs typeface="Segoe UI"/>
              </a:rPr>
              <a:t xml:space="preserve">Product −1 → perpendicular.</a:t>
            </a:r>
            <a:br>
              <a:rPr lang="en-US" sz="1575" dirty="0">
                <a:solidFill>
                  <a:srgbClr val="16171D"/>
                </a:solidFill>
                <a:latin typeface="Segoe UI"/>
                <a:cs typeface="Segoe UI"/>
              </a:rPr>
            </a:br>
            <a:r>
              <a:rPr lang="en-US" sz="1575" dirty="0">
                <a:solidFill>
                  <a:srgbClr val="16171D"/>
                </a:solidFill>
                <a:latin typeface="Segoe UI"/>
                <a:cs typeface="Segoe UI"/>
              </a:rPr>
              <a:t xml:space="preserve">Otherwise neither.</a:t>
            </a:r>
            <a:endParaRPr lang="en-US" sz="1575" dirty="0"/>
          </a:p>
        </p:txBody>
      </p:sp>
      <p:sp>
        <p:nvSpPr>
          <p:cNvPr id="12" name="Shape 12"/>
          <p:cNvSpPr txBox="1"/>
          <p:nvPr/>
        </p:nvSpPr>
        <p:spPr>
          <a:xfrm>
            <a:off x="8013497"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Greater slope</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Steeper line: it grows faster (pays more per ton).</a:t>
            </a:r>
            <a:endParaRPr lang="en-US" sz="1575" dirty="0"/>
          </a:p>
        </p:txBody>
      </p:sp>
      <p:sp>
        <p:nvSpPr>
          <p:cNvPr id="13" name="Shape 13"/>
          <p:cNvSpPr txBox="1"/>
          <p:nvPr/>
        </p:nvSpPr>
        <p:spPr>
          <a:xfrm>
            <a:off x="685800" y="38580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Topic 2 Review and the online practice test. Then the End of Topic 2 Assessment on Tuesday, November 3.</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124358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 200-gallon tank drains 10 gallons each minute: </a:t>
            </a:r>
            <a:r>
              <a:rPr lang="en-US" sz="1950" dirty="0" i="1">
                <a:solidFill>
                  <a:srgbClr val="16171D"/>
                </a:solidFill>
                <a:latin typeface="Cambria"/>
                <a:cs typeface="Cambria"/>
              </a:rPr>
              <a:t xml:space="preserve">w</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200 − 10</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What is the range of the function for this situation?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62076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 </a:t>
            </a:r>
            <a:r>
              <a:rPr lang="en-US" sz="2325" dirty="0" i="1">
                <a:solidFill>
                  <a:srgbClr val="16171D"/>
                </a:solidFill>
                <a:latin typeface="Cambria"/>
                <a:cs typeface="Cambria"/>
              </a:rPr>
              <a:t xml:space="preserve">w</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200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an equation and a table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4.4: words and a graph</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units = output units per input unit: degrees per degree, dollars per month.</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value: $0 or $25 at month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11" name="Shape 11"/>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a known point to find what each tick counts: $80 after 4 months → $20 per tick.</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