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day on the 150-day calendar (Thu Nov 5): Getting Started, Activities 1.1 and 1.2 (all starred). Activity 1.3 Tic-Tac-Bingo is not starred and is saved for the Nov 19 retake day. Talk the Talk is included as a short test-style area problem because it matches End of Topic Assessment question 11.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Start at $35 (b) and add $15 each week (m): y = 15x + 35. Like test Q1. 2. Distribute: 3x − 6 = 12, so 3x = 18 and x = 6. 4⅔ forgets to multiply the 2. 3. Substitute: 5(2) − 1 = 10 − 1 = 9. A true statement means 2 is a solution. 4. Distribute: 4x + 8 − x = 3x + 8.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chunked directions. Check off each part as the class finishes it.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preview the key terms before the lesson. Leave this slide up or print it as a reference card.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 minutes. Look for students who multiply or divide only the x-term instead of every term (TE common misconception). Algebra tiles help.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Explicit instruction. TE suggestion: make a poster of both property tables; Lessons 2 and 3 use them again.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1. Assistance for All: multiply Sofia's equation by 2 first to clear the fraction (4x = 10 − x).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properties (commutative, associative, distributive) are on SE p. 348. Check b: 0.6(−3) = −1.8 and 4(−2) + 6.2 = −1.8. Questions 2 and 3 are the TE's check point; for more practice assign Skills Practice Set 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 you think Chloe chose 4 as the divisor? Whose method do you prefer?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1–3. Common misconception: 8 = 8 does not mean x = 8; it means the value we substituted works.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4 and the TE's Seeing Structure questions. Stamp the learning: one solution, no solution, or infinite solutions. Skills Practice Set B.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On the test, 'No solution' is a real answer choice: simplify both sides before guessing.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starred; included because End of Topic question 11 is the same kind of problem. Skip if short on time.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TICKET/T1-Exit-Ticket-Thu-11-05.pdf (written like the End of Topic 1 test). Give about 8 minutes. Work: 1. 1 − 3p = 5 − 2p → −p = 4 → p = −4. 2. 2x − 3 = −1.5x + 4 → 3.5x = 7 → x = 2. 3. 4x + 3 = 4x + 4: same x-coefficient, different constants, so 3 = 4 is never true. 4. ½(6)(x + 5) = 4(x − 1) → 3x + 15 = 4x − 4 → x = 19.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support: a copy of the day's notes. Hand out a printed copy if the student's plan lists copies of notes.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2 answers: a none, b x = 7, c x = 2, d infinite, e none, f infinite.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Section 504/m3t1-lesson1-bellwork-day1-504.html" TargetMode="External"/><Relationship Id="rId4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3 · Topic 1 · Lesson 1 · Student Edition pp. 345–356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Solving Linear Equations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6613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one solution · no solution · infinite solutions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0680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Section 504 Version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6458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6522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Marcus has $35 and saves $15 per week. Which equation gives the amount he has saved,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after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weeks?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− 2) = 12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 solution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 = 9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61032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Yes, because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9 = 9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294665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Which expression is equivalent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72922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Today's Plan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Today's plan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Bell work (5 min)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Getting Started: build equations from x = 2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1.1: name the property for each step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Activity 1.2: one, none, or infinite solutions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☐ Exit ticket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762872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One part at a time. Ask for help or a break whenever you need it.</a:t>
            </a:r>
            <a:endParaRPr lang="en-US" sz="1650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 · SE p. 345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Write equivalent equations using properties of equality.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Use properties of equality to solve linear equations and justify a solution method.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511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Determine whether an equation has one solution, no solution, or infinite solutions.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9984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Solve linear equations with variables on both sides.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52196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New key terms: solution · no solution · infinite solutions</a:t>
            </a:r>
            <a:endParaRPr lang="en-US" sz="157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2446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Solution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value for the variable that makes the equation true.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= 2 in x + 3 = 5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2446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Properties of equality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 the same thing to both sides and the equation stays balanced.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3130296"/>
            <a:ext cx="307329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add, subtract, multiply, divide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2446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Distributive property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the number outside by every term inside.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3(x − 2) = 3x − 6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423672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40817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 solution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87832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No value works. The sides simplify to a false statement.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550849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 = 4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423672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440817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Infinite solutions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87832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Every value works. Both sides are the same.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550849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2x + 5 = 2x + 5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423672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440817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Coefficient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87832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number in front of a variable.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550849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the 4 in 4x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345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know that equations are one way to represent a linear function.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use equations to solve for unknown input values of a function?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Getting Started · Equation Creation · SE p. 346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Build harder equations from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solution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an equation is a value for the variable that makes the equation a true statement.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a. Add 3 to each side: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 = 5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5028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b. Multiply each side by 4: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+ 12 = 20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4043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c. Subtract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+ 12 = −2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+ 20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3057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d. Divide each side by 2: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+ 6 = 10 −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1618488"/>
            <a:ext cx="5219548" cy="27066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Partner check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6495898" y="2260092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 2 into your partner's last equation.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95898" y="2650236"/>
            <a:ext cx="48004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 + 6 = 10 − 2 → 8 = 8 ✓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495898" y="3618738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Same operation on </a:t>
            </a: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both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 sides, to </a:t>
            </a: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every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 term, keeps the solution.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1.1 · Using Properties to Justify Solutions · SE p. 347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Properties of equality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2351532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Property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3037332" y="1618488"/>
            <a:ext cx="505587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For all numbers a, b, and c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061972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addition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3037332" y="2061972"/>
            <a:ext cx="505587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2505456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subtraction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3037332" y="2505456"/>
            <a:ext cx="505587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2948940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multiplication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3037332" y="2948940"/>
            <a:ext cx="505587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3392424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division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3037332" y="3392424"/>
            <a:ext cx="505587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I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≠ 0,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.</a:t>
            </a: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07358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These rules keep both sides balanced while you isolate the variable.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1.1 · Question 1 · SE p. 347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Harper and Sofia both started from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34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1618488"/>
            <a:ext cx="5295748" cy="2616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Harper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+ 14 = 18 − 5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7645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−6 + 14 = 18 − 10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154680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8 = 8 ✓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76885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Properties: add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subtract 14 →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28567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Sofia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260092"/>
            <a:ext cx="48766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5 −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27645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Substitute: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 = 5 − 1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3154680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 = 4 ✓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3768852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Properties: add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→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5/2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multiply by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2/5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157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1.1 · Question 2 · SE p. 348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Solve, check, and name each property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0.6(2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+ 1) =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+ 6.2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1.2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+ 0.6 = 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+ 6.2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distributive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130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−2.8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+ 0.6 = 6.2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9032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−2.8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5.6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293364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= −2 (division)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− 6 = 2 + (2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+ 1)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1229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½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− 6 = 3 + 2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commutative, associative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5130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−9 = 3/2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2903220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= −6 (multiplication by ⅔)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1.1 · Question 3 · SE p. 349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Daniel and Chloe: same equation, different first step</a:t>
            </a:r>
            <a:endParaRPr lang="en-US" sz="34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144268"/>
            <a:ext cx="5295748" cy="2616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231571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Daniel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85872"/>
            <a:ext cx="48766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4(3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+ 2) = 8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29031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 = 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distributive first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68046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407060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2144268"/>
            <a:ext cx="5295748" cy="26167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31571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Chloe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785872"/>
            <a:ext cx="48766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4(3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+ 2) = 8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29031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4 first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368046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407060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93242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More than one correct path. Both finish with subtraction and division properties.</a:t>
            </a:r>
            <a:endParaRPr lang="en-US" sz="157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1.2 · Solutions to Linear Equations · SE pp. 349–350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Can you change the truth of a sentence?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5295748" cy="1888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2 = 2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5: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10 + 5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10 + 5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04038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Still always true.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10148" y="1618488"/>
            <a:ext cx="5295748" cy="18882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2 = 3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by 5: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5(2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5(3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040380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Still always false.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67817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 solution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no value makes the equation true.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Infinite solutions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every value makes it true.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Activity 1.2 · Question 4 + Seeing Structure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Simplify each side, then compare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233172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Equation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3017520" y="1618488"/>
            <a:ext cx="482803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Simplified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7845552" y="1618488"/>
            <a:ext cx="1737360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Solutions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039112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 = 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3017520" y="2039112"/>
            <a:ext cx="48280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same coefficient, same constant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845552" y="2039112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7845552" y="2039112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Cambria"/>
                <a:cs typeface="Cambria"/>
              </a:rPr>
              <a:t xml:space="preserve">infinite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459736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 = 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3017520" y="2459736"/>
            <a:ext cx="48280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same coefficient, different constant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845552" y="2459736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7845552" y="2459736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Cambria"/>
                <a:cs typeface="Cambria"/>
              </a:rPr>
              <a:t xml:space="preserve">none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2880360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 = 3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3017520" y="2880360"/>
            <a:ext cx="48280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different coefficients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845552" y="2880360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7845552" y="2880360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: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3300984"/>
            <a:ext cx="23317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3017520" y="3300984"/>
            <a:ext cx="482803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different coefficients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7845552" y="3300984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22" name="Shape 22"/>
          <p:cNvSpPr txBox="1"/>
          <p:nvPr/>
        </p:nvSpPr>
        <p:spPr>
          <a:xfrm>
            <a:off x="7845552" y="3300984"/>
            <a:ext cx="1737360" cy="42062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: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endParaRPr lang="en-US" sz="1800" dirty="0"/>
          </a:p>
        </p:txBody>
      </p:sp>
      <p:sp>
        <p:nvSpPr>
          <p:cNvPr id="23" name="Slide Number 2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Questions 2 and 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Which kind of solution?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6 − 4(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 = 3 − 2(2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6296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 = −4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53106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 solution (−2 ≠ 1)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One solution, no solution, or infinite?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¼(8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+ 12) = 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 − 1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36296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753106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Infinite solutions: the two sides are equivalent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Talk the Talk · One Step at a Time · SE p. 352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Equal areas (like test question 11)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Rectangle A: width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(5 + 2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in., length 6 in. Rectangle B: width 8 in., length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in. Same area. Find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6(5 + 2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8(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30 + 12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distributive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20086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3987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subtraction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788920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= 2.5 (division)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can you use equations to solve for unknown inputs?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20141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Use properties of equality to isolate the variable, and name the property for each step.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4396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Simplify each side first. Same coefficient and constant: infinite. Same coefficient, different constant: none. Otherwise: one solution.</a:t>
            </a:r>
            <a:endParaRPr lang="en-US" sz="19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Solve: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7 − 3(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 = 10 − (2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18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Solve: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0.5(4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− 6) = −1.5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65348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795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One, none, or infinite?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½(8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+ 6) = 2(2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+ 1) + 2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26814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 solution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84098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Triangle: base 6, height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Rectangle: 4 by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Equal areas. Find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5288280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19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2068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Distribute.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Combine like terms.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Get x-terms on one side.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4. Undo + and −, then × and ÷.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2068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Check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Put your answer back in. Both sides equal → correct.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2068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many solutions?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x-term, same number: infinite.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x-term, different number: none.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Different x-terms: one.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85800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Homework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1 Assignment · SE pp. 355–356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10820095" cy="11079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104009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Practice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104009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1a–e: solve and write the property for each step. 2a–f: one solution, no solution, or infinite?</a:t>
            </a:r>
            <a:endParaRPr lang="en-US" sz="157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olving Linear Equa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19</Slides>
  <Notes>19</Notes>
</Properties>
</file>

<file path=docProps/core.xml><?xml version="1.0" encoding="utf-8"?>
<cp:coreProperties xmlns:cp="http://schemas.openxmlformats.org/package/2006/metadata/core-properties" xmlns:dc="http://purl.org/dc/elements/1.1/">
  <dc:title>Solving Linear Equations</dc:title>
  <dc:subject>Bluebonnet Algebra I</dc:subject>
</cp:coreProperties>
</file>