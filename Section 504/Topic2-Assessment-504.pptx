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version: the same 14 items, wording and answer choices as the general test, so it is graded with the same key. Only access changes: one question per slide, larger font, key words in bold, a reference sheet and work space. Apply the student's plan: extended time, breaks, read-aloud, small-group or separate setting, preferential seating.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1792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2: Transforming and Comparing Linear Functions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38277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End of Topic Assessment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8910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Name ________________________ Date ________________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22142"/>
            <a:ext cx="10820095" cy="22623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3593592"/>
            <a:ext cx="104009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Directions: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Read each question carefully. You may use a calculator and the reference sheet. For multiple choice, choose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one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answer. For the other questions, show your work and include units.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4772406"/>
            <a:ext cx="104009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One question is on each slide. Take your time. Ask your teacher if you need a break or a question read aloud.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Reference Sheet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" name="Shape 3"/>
          <p:cNvSpPr txBox="1"/>
          <p:nvPr/>
        </p:nvSpPr>
        <p:spPr>
          <a:xfrm>
            <a:off x="895350" y="1342644"/>
            <a:ext cx="3098698" cy="173507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changes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·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&gt; 1 stretch, 0 &lt; |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| &lt; 1 compress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reflect across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-axis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&gt; 0 up,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down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4336948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4546498" y="1342644"/>
            <a:ext cx="30986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changes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− 3): right 3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+ 3): left 3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7988097" y="1171194"/>
            <a:ext cx="3517798" cy="20779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197647" y="1342644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y₂ − y₁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x₂ − x₁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3553968"/>
            <a:ext cx="30986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 lines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 lines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slopes are negative reciprocals: 2 and 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336948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4546498" y="3553968"/>
            <a:ext cx="30986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₁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₁)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7988097" y="3382518"/>
            <a:ext cx="3517798" cy="15979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8197647" y="3553968"/>
            <a:ext cx="30986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form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Solve for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find the slope.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5285232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slope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Initial value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4336948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4546498" y="5285232"/>
            <a:ext cx="30986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Domain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(inputs)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(outputs)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7988097" y="5113782"/>
            <a:ext cx="3517798" cy="1117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9" name="Shape 19"/>
          <p:cNvSpPr txBox="1"/>
          <p:nvPr/>
        </p:nvSpPr>
        <p:spPr>
          <a:xfrm>
            <a:off x="8197647" y="5285232"/>
            <a:ext cx="30986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Compare functions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Set the two expressions equal to find where they meet.</a:t>
            </a:r>
            <a:endParaRPr lang="en-US" sz="1575" dirty="0"/>
          </a:p>
        </p:txBody>
      </p:sp>
      <p:sp>
        <p:nvSpPr>
          <p:cNvPr id="21" name="Shape 2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transformed to make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− 4.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describes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transformation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up 4 units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left 4 units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translation down 4 units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vertical dilation by a factor of −4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is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reflection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across the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-axis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and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dilation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by a factor of 3?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−(1/3)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3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+ 5.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in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Then describe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two transformations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that produce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4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81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3223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6351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9478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2606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573338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3198813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51155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824287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4137025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4449762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762500" y="1117854"/>
            <a:ext cx="0" cy="3448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45659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42785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3991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370389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34165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312921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255454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22672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197986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16925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140519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2886075" y="1117854"/>
            <a:ext cx="0" cy="3448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41879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7353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13608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19862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261175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323723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3862705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88180" y="4584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4474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8997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3325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275043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442722" y="2175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442722" y="160108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cxnSp>
        <p:nvCxnSpPr>
          <p:cNvPr id="46" name="Line 46"/>
          <p:cNvCxnSpPr/>
          <p:nvPr/>
        </p:nvCxnSpPr>
        <p:spPr>
          <a:xfrm flipV="1">
            <a:off x="1009650" y="1117854"/>
            <a:ext cx="3752850" cy="3448050"/>
          </a:xfrm>
          <a:prstGeom prst="line">
            <a:avLst/>
          </a:prstGeom>
          <a:ln w="38100" cap="rnd">
            <a:solidFill>
              <a:srgbClr val="16171D"/>
            </a:solidFill>
            <a:prstDash val="dash"/>
          </a:ln>
        </p:spPr>
      </p:cxnSp>
      <p:sp>
        <p:nvSpPr>
          <p:cNvPr id="47" name="Shape 47"/>
          <p:cNvSpPr txBox="1"/>
          <p:nvPr/>
        </p:nvSpPr>
        <p:spPr>
          <a:xfrm>
            <a:off x="2270760" y="1136904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f(x)</a:t>
            </a:r>
            <a:endParaRPr lang="en-US" sz="1275" dirty="0"/>
          </a:p>
        </p:txBody>
      </p:sp>
      <p:cxnSp>
        <p:nvCxnSpPr>
          <p:cNvPr id="48" name="Line 48"/>
          <p:cNvCxnSpPr/>
          <p:nvPr/>
        </p:nvCxnSpPr>
        <p:spPr>
          <a:xfrm flipV="1">
            <a:off x="1947862" y="1979866"/>
            <a:ext cx="2814638" cy="2586038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9" name="Shape 49"/>
          <p:cNvSpPr txBox="1"/>
          <p:nvPr/>
        </p:nvSpPr>
        <p:spPr>
          <a:xfrm>
            <a:off x="2270760" y="1998916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g(x)</a:t>
            </a:r>
            <a:endParaRPr lang="en-US" sz="1275" dirty="0"/>
          </a:p>
        </p:txBody>
      </p:sp>
      <p:sp>
        <p:nvSpPr>
          <p:cNvPr id="50" name="Shape 50"/>
          <p:cNvSpPr/>
          <p:nvPr/>
        </p:nvSpPr>
        <p:spPr>
          <a:xfrm>
            <a:off x="2833688" y="365150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1" name="Shape 51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shows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(dashed) and a transformed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).</a:t>
            </a:r>
            <a:endParaRPr lang="en-US" sz="2250" dirty="0"/>
          </a:p>
        </p:txBody>
      </p:sp>
      <p:sp>
        <p:nvSpPr>
          <p:cNvPr id="52" name="Shape 52"/>
          <p:cNvSpPr txBox="1"/>
          <p:nvPr/>
        </p:nvSpPr>
        <p:spPr>
          <a:xfrm>
            <a:off x="6286348" y="1877568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represents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)?</a:t>
            </a:r>
            <a:endParaRPr lang="en-US" sz="2250" dirty="0"/>
          </a:p>
        </p:txBody>
      </p:sp>
      <p:sp>
        <p:nvSpPr>
          <p:cNvPr id="53" name="Shape 53"/>
          <p:cNvSpPr txBox="1"/>
          <p:nvPr/>
        </p:nvSpPr>
        <p:spPr>
          <a:xfrm>
            <a:off x="6286348" y="240868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+ 3</a:t>
            </a:r>
            <a:endParaRPr lang="en-US" sz="2250" dirty="0"/>
          </a:p>
        </p:txBody>
      </p:sp>
      <p:sp>
        <p:nvSpPr>
          <p:cNvPr id="54" name="Shape 54"/>
          <p:cNvSpPr txBox="1"/>
          <p:nvPr/>
        </p:nvSpPr>
        <p:spPr>
          <a:xfrm>
            <a:off x="6286348" y="293979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− 3</a:t>
            </a:r>
            <a:endParaRPr lang="en-US" sz="2250" dirty="0"/>
          </a:p>
        </p:txBody>
      </p:sp>
      <p:sp>
        <p:nvSpPr>
          <p:cNvPr id="55" name="Shape 55"/>
          <p:cNvSpPr txBox="1"/>
          <p:nvPr/>
        </p:nvSpPr>
        <p:spPr>
          <a:xfrm>
            <a:off x="6286348" y="347091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+ 3)</a:t>
            </a:r>
            <a:endParaRPr lang="en-US" sz="2250" dirty="0"/>
          </a:p>
        </p:txBody>
      </p:sp>
      <p:sp>
        <p:nvSpPr>
          <p:cNvPr id="56" name="Shape 56"/>
          <p:cNvSpPr txBox="1"/>
          <p:nvPr/>
        </p:nvSpPr>
        <p:spPr>
          <a:xfrm>
            <a:off x="6286348" y="4002024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−3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2250" dirty="0"/>
          </a:p>
        </p:txBody>
      </p:sp>
      <p:sp>
        <p:nvSpPr>
          <p:cNvPr id="57" name="Shape 5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5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Let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+ 6).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Describe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 translation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 Then name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 translation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that produces the same graph.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6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graph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translated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right 3 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represents the new graph?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+ 6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− 6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6591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g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7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line passes through the points (−2, 5) and (4, 1).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Determine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line. Then give the slope of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it and the slope of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it.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8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equation represents a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− 1 that passes through the point (8, 3)?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− 29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086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(1/4)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397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4709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−(1/4)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+ 5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9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Write the equation in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−3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+ 7 that passes through the point (2, −4).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statement describes the lines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6 and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(3/2)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− 4?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572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parallel.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883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perpendicular.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1945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neither parallel nor perpendicular.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5056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They are the same line.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21284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Gym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125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150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541520" y="1003554"/>
            <a:ext cx="69643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Gym A's total cost is shown in the table. Gym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35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541520" y="2220468"/>
            <a:ext cx="69643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gym has the 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 Which gym has the greater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initial value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 Explain what each means in terms of the problem situation.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541520" y="34373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Months</a:t>
            </a:r>
            <a:endParaRPr lang="en-US" sz="1800" dirty="0"/>
          </a:p>
        </p:txBody>
      </p:sp>
      <p:sp>
        <p:nvSpPr>
          <p:cNvPr id="4" name="Shape 4"/>
          <p:cNvSpPr txBox="1"/>
          <p:nvPr/>
        </p:nvSpPr>
        <p:spPr>
          <a:xfrm>
            <a:off x="1947672" y="1003554"/>
            <a:ext cx="221284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Gym A Cost ($)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24178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1947672" y="1424178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50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44802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1947672" y="1844802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75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265426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1947672" y="2265426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686050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1947672" y="2686050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125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106674"/>
            <a:ext cx="1261872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1947672" y="3106674"/>
            <a:ext cx="2212848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150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541520" y="1003554"/>
            <a:ext cx="69643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Gym A's total cost is shown in the table. Gym B's total cost is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35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+ 20, where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number of months.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4541520" y="2220468"/>
            <a:ext cx="696437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After how many months do the two gyms cost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same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total amount? What is that cost? Which gym costs less for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 months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4541520" y="34373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13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191000" cy="361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478756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2416969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886075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3355181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3824287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4293394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762500" y="1117854"/>
            <a:ext cx="0" cy="3257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1009650" y="437540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1009650" y="39100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1009650" y="344467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297931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251394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20485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15832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11178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947862" y="1117854"/>
            <a:ext cx="0" cy="3257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2979311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3" name="Shape 23"/>
          <p:cNvSpPr txBox="1"/>
          <p:nvPr/>
        </p:nvSpPr>
        <p:spPr>
          <a:xfrm>
            <a:off x="73533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24" name="Shape 24"/>
          <p:cNvSpPr txBox="1"/>
          <p:nvPr/>
        </p:nvSpPr>
        <p:spPr>
          <a:xfrm>
            <a:off x="1204436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25" name="Shape 25"/>
          <p:cNvSpPr txBox="1"/>
          <p:nvPr/>
        </p:nvSpPr>
        <p:spPr>
          <a:xfrm>
            <a:off x="1673542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6" name="Shape 26"/>
          <p:cNvSpPr txBox="1"/>
          <p:nvPr/>
        </p:nvSpPr>
        <p:spPr>
          <a:xfrm>
            <a:off x="2142649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27" name="Shape 27"/>
          <p:cNvSpPr txBox="1"/>
          <p:nvPr/>
        </p:nvSpPr>
        <p:spPr>
          <a:xfrm>
            <a:off x="2611755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28" name="Shape 28"/>
          <p:cNvSpPr txBox="1"/>
          <p:nvPr/>
        </p:nvSpPr>
        <p:spPr>
          <a:xfrm>
            <a:off x="3080861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3549967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4019074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4488180" y="43944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442722" y="42839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442722" y="381860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442722" y="335323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442722" y="2887871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442722" y="242250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42722" y="195714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442722" y="14917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40" name="Line 40"/>
          <p:cNvCxnSpPr/>
          <p:nvPr/>
        </p:nvCxnSpPr>
        <p:spPr>
          <a:xfrm flipV="1">
            <a:off x="1009650" y="1583218"/>
            <a:ext cx="3752850" cy="248194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41" name="Shape 41"/>
          <p:cNvSpPr/>
          <p:nvPr/>
        </p:nvSpPr>
        <p:spPr>
          <a:xfrm>
            <a:off x="1895475" y="3392288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2" name="Shape 42"/>
          <p:cNvSpPr/>
          <p:nvPr/>
        </p:nvSpPr>
        <p:spPr>
          <a:xfrm>
            <a:off x="3302794" y="2461559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3" name="Shape 43"/>
          <p:cNvSpPr txBox="1"/>
          <p:nvPr/>
        </p:nvSpPr>
        <p:spPr>
          <a:xfrm>
            <a:off x="685800" y="47564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Function </a:t>
            </a:r>
            <a:r>
              <a:rPr lang="en-US" sz="1575" dirty="0" i="1">
                <a:solidFill>
                  <a:srgbClr val="5F6272"/>
                </a:solidFill>
                <a:latin typeface="Segoe UI"/>
                <a:cs typeface="Segoe UI"/>
              </a:rPr>
              <a:t xml:space="preserve">p</a:t>
            </a:r>
            <a:endParaRPr lang="en-US" sz="1575" dirty="0"/>
          </a:p>
        </p:txBody>
      </p:sp>
      <p:sp>
        <p:nvSpPr>
          <p:cNvPr id="44" name="Shape 44"/>
          <p:cNvSpPr txBox="1"/>
          <p:nvPr/>
        </p:nvSpPr>
        <p:spPr>
          <a:xfrm>
            <a:off x="6286348" y="1003554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function has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greater 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than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p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shown in the graph?</a:t>
            </a:r>
            <a:endParaRPr lang="en-US" sz="2250" dirty="0"/>
          </a:p>
        </p:txBody>
      </p:sp>
      <p:sp>
        <p:nvSpPr>
          <p:cNvPr id="45" name="Shape 45"/>
          <p:cNvSpPr txBox="1"/>
          <p:nvPr/>
        </p:nvSpPr>
        <p:spPr>
          <a:xfrm>
            <a:off x="6286348" y="2220468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0.5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+ 4</a:t>
            </a:r>
            <a:endParaRPr lang="en-US" sz="2250" dirty="0"/>
          </a:p>
        </p:txBody>
      </p:sp>
      <p:sp>
        <p:nvSpPr>
          <p:cNvPr id="46" name="Shape 46"/>
          <p:cNvSpPr txBox="1"/>
          <p:nvPr/>
        </p:nvSpPr>
        <p:spPr>
          <a:xfrm>
            <a:off x="6286348" y="275158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2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− 3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6</a:t>
            </a:r>
            <a:endParaRPr lang="en-US" sz="2250" dirty="0"/>
          </a:p>
        </p:txBody>
      </p:sp>
      <p:sp>
        <p:nvSpPr>
          <p:cNvPr id="47" name="Shape 47"/>
          <p:cNvSpPr txBox="1"/>
          <p:nvPr/>
        </p:nvSpPr>
        <p:spPr>
          <a:xfrm>
            <a:off x="6286348" y="3282696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(3/4)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− 2</a:t>
            </a:r>
            <a:endParaRPr lang="en-US" sz="2250" dirty="0"/>
          </a:p>
        </p:txBody>
      </p:sp>
      <p:sp>
        <p:nvSpPr>
          <p:cNvPr id="48" name="Shape 48"/>
          <p:cNvSpPr txBox="1"/>
          <p:nvPr/>
        </p:nvSpPr>
        <p:spPr>
          <a:xfrm>
            <a:off x="6286348" y="3813810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 line through (0, 1) and (2, 2)</a:t>
            </a:r>
            <a:endParaRPr lang="en-US" sz="2250" dirty="0"/>
          </a:p>
        </p:txBody>
      </p:sp>
      <p:sp>
        <p:nvSpPr>
          <p:cNvPr id="49" name="Shape 4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14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A tank holds 300 gallons of water. It drains at a constant rate of 15 gallons per minute. The function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= 300 − 15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gives the gallons left after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minutes.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2204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function for this situation?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15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≤ 20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826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≤ 300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8138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≤ 20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34492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w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) ≥ 0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are done!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Go back and check each answer.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0230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answer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question?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334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include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explanations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where asked?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45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Raise your hand when you are finished.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Assessment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17</Slides>
  <Notes>17</Notes>
</Properties>
</file>

<file path=docProps/core.xml><?xml version="1.0" encoding="utf-8"?>
<cp:coreProperties xmlns:cp="http://schemas.openxmlformats.org/package/2006/metadata/core-properties" xmlns:dc="http://purl.org/dc/elements/1.1/">
  <dc:title>Topic 2 Assessment</dc:title>
  <dc:subject>Bluebonnet Algebra I</dc:subject>
</cp:coreProperties>
</file>