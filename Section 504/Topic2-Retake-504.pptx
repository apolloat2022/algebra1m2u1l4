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2 Retake, Wed Nov 4 (the day after the End of Topic 2 Assessment). Same 14 skills, order, item types and points as the test, with new numbers: Q1-4 Lesson 1, Q5-6 Lesson 2, Q7-10 Lesson 3, Q11-14 Lesson 4. Section 504 version: the same 14 items, wording and answer choices as the general test, so it is graded with the same key. Only access changes: one question per slide, larger font, key words in bold, a reference sheet and work space. Apply the student's plan: extended time, breaks, read-aloud, small-group or separate setting, preferential seating.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1792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2: Transforming and Comparing Linear Functions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38277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Retake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8910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________________________ Date ________________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22142"/>
            <a:ext cx="10820095" cy="22623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593592"/>
            <a:ext cx="104009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Directions: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Read each question carefully. You may use a calculator and the reference sheet. For multiple choice, choose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answer. For the other questions, show your work and include units.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4772406"/>
            <a:ext cx="104009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One question is on each slide. Take your time. Ask your teacher if you need a break or a question read aloud.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Reference Sheet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" name="Shape 3"/>
          <p:cNvSpPr txBox="1"/>
          <p:nvPr/>
        </p:nvSpPr>
        <p:spPr>
          <a:xfrm>
            <a:off x="895350" y="1342644"/>
            <a:ext cx="3098698" cy="173507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changes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·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&gt; 1 stretch, 0 &lt; 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&lt; 1 compress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reflect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&gt; 0 up,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down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4336948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4546498" y="1342644"/>
            <a:ext cx="30986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changes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− 3): right 3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+ 3): left 3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7988097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197647" y="1342644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y₂ − y₁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x₂ − x₁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553968"/>
            <a:ext cx="30986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lines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 lines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slopes are negative reciprocals: 2 and 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336948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546498" y="3553968"/>
            <a:ext cx="30986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₁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₁)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7988097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8197647" y="3553968"/>
            <a:ext cx="30986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Solve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find the slope.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5285232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4336948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4546498" y="5285232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Domain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(inputs)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(outputs)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7988097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8197647" y="5285232"/>
            <a:ext cx="30986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Compare functions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Set the two expressions equal to find where they meet.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22" name="Slide Number 2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transformed to make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describes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down 3 units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up 3 units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right 3 units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vertical dilation by a factor of 3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is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and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by a factor of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(1/2)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− 4.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describe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two transformations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that produce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4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3223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6351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9478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2606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573338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3198813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5115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8242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41370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4497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7625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45659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42785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3991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370389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4165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12921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255454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2672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19798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16925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140519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7353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13608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19862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261175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2372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38627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881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474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8997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325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275043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2175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442722" y="16010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6" name="Line 46"/>
          <p:cNvCxnSpPr/>
          <p:nvPr/>
        </p:nvCxnSpPr>
        <p:spPr>
          <a:xfrm flipV="1">
            <a:off x="1009650" y="1117854"/>
            <a:ext cx="3752850" cy="3448050"/>
          </a:xfrm>
          <a:prstGeom prst="line">
            <a:avLst/>
          </a:prstGeom>
          <a:ln w="38100" cap="rnd">
            <a:solidFill>
              <a:srgbClr val="16171D"/>
            </a:solidFill>
            <a:prstDash val="dash"/>
          </a:ln>
        </p:spPr>
      </p:cxnSp>
      <p:sp>
        <p:nvSpPr>
          <p:cNvPr id="47" name="Shape 47"/>
          <p:cNvSpPr txBox="1"/>
          <p:nvPr/>
        </p:nvSpPr>
        <p:spPr>
          <a:xfrm>
            <a:off x="2270760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48" name="Line 48"/>
          <p:cNvCxnSpPr/>
          <p:nvPr/>
        </p:nvCxnSpPr>
        <p:spPr>
          <a:xfrm flipV="1">
            <a:off x="1009650" y="1117854"/>
            <a:ext cx="3127375" cy="2873375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9" name="Shape 49"/>
          <p:cNvSpPr txBox="1"/>
          <p:nvPr/>
        </p:nvSpPr>
        <p:spPr>
          <a:xfrm>
            <a:off x="1645285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sp>
        <p:nvSpPr>
          <p:cNvPr id="50" name="Shape 50"/>
          <p:cNvSpPr/>
          <p:nvPr/>
        </p:nvSpPr>
        <p:spPr>
          <a:xfrm>
            <a:off x="2833688" y="221481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shows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(dashed) and a transformed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2250" dirty="0"/>
          </a:p>
        </p:txBody>
      </p:sp>
      <p:sp>
        <p:nvSpPr>
          <p:cNvPr id="52" name="Shape 52"/>
          <p:cNvSpPr txBox="1"/>
          <p:nvPr/>
        </p:nvSpPr>
        <p:spPr>
          <a:xfrm>
            <a:off x="6286348" y="18775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)?</a:t>
            </a:r>
            <a:endParaRPr lang="en-US" sz="2250" dirty="0"/>
          </a:p>
        </p:txBody>
      </p:sp>
      <p:sp>
        <p:nvSpPr>
          <p:cNvPr id="53" name="Shape 53"/>
          <p:cNvSpPr txBox="1"/>
          <p:nvPr/>
        </p:nvSpPr>
        <p:spPr>
          <a:xfrm>
            <a:off x="6286348" y="24086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− 2</a:t>
            </a:r>
            <a:endParaRPr lang="en-US" sz="2250" dirty="0"/>
          </a:p>
        </p:txBody>
      </p:sp>
      <p:sp>
        <p:nvSpPr>
          <p:cNvPr id="54" name="Shape 54"/>
          <p:cNvSpPr txBox="1"/>
          <p:nvPr/>
        </p:nvSpPr>
        <p:spPr>
          <a:xfrm>
            <a:off x="6286348" y="293979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2250" dirty="0"/>
          </a:p>
        </p:txBody>
      </p:sp>
      <p:sp>
        <p:nvSpPr>
          <p:cNvPr id="55" name="Shape 55"/>
          <p:cNvSpPr txBox="1"/>
          <p:nvPr/>
        </p:nvSpPr>
        <p:spPr>
          <a:xfrm>
            <a:off x="6286348" y="347091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+ 2</a:t>
            </a:r>
            <a:endParaRPr lang="en-US" sz="2250" dirty="0"/>
          </a:p>
        </p:txBody>
      </p:sp>
      <p:sp>
        <p:nvSpPr>
          <p:cNvPr id="56" name="Shape 56"/>
          <p:cNvSpPr txBox="1"/>
          <p:nvPr/>
        </p:nvSpPr>
        <p:spPr>
          <a:xfrm>
            <a:off x="6286348" y="4002024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− 2)</a:t>
            </a:r>
            <a:endParaRPr lang="en-US" sz="2250" dirty="0"/>
          </a:p>
        </p:txBody>
      </p:sp>
      <p:sp>
        <p:nvSpPr>
          <p:cNvPr id="57" name="Shape 5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58" name="Slide Number 5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5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− 5).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Describe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name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that produces the same graph.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6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 2 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represents the new graph?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− 6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7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the points (−4, −1) and (2, 3).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Determine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line. Then give the slope of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it and the slope of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it.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8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+ 5 that passes through the point (4, 1)?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− 7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− 1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9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 that passes through the point (−1, 2).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statement describes the lines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6 and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+ 5?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572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parallel.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883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perpendicular.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1945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neither parallel nor perpendicular.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5056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the same line.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Plan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660392" y="1003554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Plan A's total cost is shown in the table. Plan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660392" y="2220468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plan has the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Which plan has the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Explain what each means in terms of the problem situation.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660392" y="34373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Plan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660392" y="1003554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Plan A's total cost is shown in the table. Plan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660392" y="2220468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After how many months do the two plans cost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same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total amount? What is that cost? Which plan costs less for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 months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660392" y="34373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13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478756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2416969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886075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355181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824287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4293394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76250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009650" y="43754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344467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251394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20485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15832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73533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24" name="Shape 24"/>
          <p:cNvSpPr txBox="1"/>
          <p:nvPr/>
        </p:nvSpPr>
        <p:spPr>
          <a:xfrm>
            <a:off x="1204436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25" name="Shape 25"/>
          <p:cNvSpPr txBox="1"/>
          <p:nvPr/>
        </p:nvSpPr>
        <p:spPr>
          <a:xfrm>
            <a:off x="1673542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6" name="Shape 26"/>
          <p:cNvSpPr txBox="1"/>
          <p:nvPr/>
        </p:nvSpPr>
        <p:spPr>
          <a:xfrm>
            <a:off x="2142649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27" name="Shape 27"/>
          <p:cNvSpPr txBox="1"/>
          <p:nvPr/>
        </p:nvSpPr>
        <p:spPr>
          <a:xfrm>
            <a:off x="2611755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3080861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3549967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4019074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448818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442722" y="42839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442722" y="381860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442722" y="335323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442722" y="288787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42722" y="24225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19571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14917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0" name="Line 40"/>
          <p:cNvCxnSpPr/>
          <p:nvPr/>
        </p:nvCxnSpPr>
        <p:spPr>
          <a:xfrm flipV="1">
            <a:off x="1009650" y="1117854"/>
            <a:ext cx="3440112" cy="2559504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1" name="Shape 41"/>
          <p:cNvSpPr/>
          <p:nvPr/>
        </p:nvSpPr>
        <p:spPr>
          <a:xfrm>
            <a:off x="1895475" y="292692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2" name="Shape 42"/>
          <p:cNvSpPr/>
          <p:nvPr/>
        </p:nvSpPr>
        <p:spPr>
          <a:xfrm>
            <a:off x="3771900" y="153083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3" name="Shape 43"/>
          <p:cNvSpPr txBox="1"/>
          <p:nvPr/>
        </p:nvSpPr>
        <p:spPr>
          <a:xfrm>
            <a:off x="685800" y="47564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Function 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p</a:t>
            </a:r>
            <a:endParaRPr lang="en-US" sz="1575" dirty="0"/>
          </a:p>
        </p:txBody>
      </p:sp>
      <p:sp>
        <p:nvSpPr>
          <p:cNvPr id="44" name="Shape 44"/>
          <p:cNvSpPr txBox="1"/>
          <p:nvPr/>
        </p:nvSpPr>
        <p:spPr>
          <a:xfrm>
            <a:off x="6286348" y="1003554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has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greater 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than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p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shown in the graph?</a:t>
            </a:r>
            <a:endParaRPr lang="en-US" sz="2250" dirty="0"/>
          </a:p>
        </p:txBody>
      </p:sp>
      <p:sp>
        <p:nvSpPr>
          <p:cNvPr id="45" name="Shape 45"/>
          <p:cNvSpPr txBox="1"/>
          <p:nvPr/>
        </p:nvSpPr>
        <p:spPr>
          <a:xfrm>
            <a:off x="6286348" y="22204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0.6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46" name="Shape 46"/>
          <p:cNvSpPr txBox="1"/>
          <p:nvPr/>
        </p:nvSpPr>
        <p:spPr>
          <a:xfrm>
            <a:off x="6286348" y="27515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8</a:t>
            </a:r>
            <a:endParaRPr lang="en-US" sz="2250" dirty="0"/>
          </a:p>
        </p:txBody>
      </p:sp>
      <p:sp>
        <p:nvSpPr>
          <p:cNvPr id="47" name="Shape 47"/>
          <p:cNvSpPr txBox="1"/>
          <p:nvPr/>
        </p:nvSpPr>
        <p:spPr>
          <a:xfrm>
            <a:off x="6286348" y="3282696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 line through (0, 0) and (2, 1)</a:t>
            </a:r>
            <a:endParaRPr lang="en-US" sz="2250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415671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49" name="Shape 4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50" name="Slide Number 5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14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tank holds 240 gallons of water. It drains at a constant rate of 12 gallons per minute. The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240 − 12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gives the gallons left after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minutes.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2204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function for this situation?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15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20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826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≥ 0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8138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240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3449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20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are done!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Go back and check each answer.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0230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answer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question?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334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explanations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where asked?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45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Raise your hand when you are finished.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Section 504 Version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Retake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17</Slides>
  <Notes>17</Notes>
</Properties>
</file>

<file path=docProps/core.xml><?xml version="1.0" encoding="utf-8"?>
<cp:coreProperties xmlns:cp="http://schemas.openxmlformats.org/package/2006/metadata/core-properties" xmlns:dc="http://purl.org/dc/elements/1.1/">
  <dc:title>Topic 2 Retake</dc:title>
  <dc:subject>Bluebonnet Algebra I</dc:subject>
</cp:coreProperties>
</file>