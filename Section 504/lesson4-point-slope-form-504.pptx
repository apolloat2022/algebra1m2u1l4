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4-bellwork-day1-504.html" TargetMode="External"/><Relationship Id="rId4" Type="http://schemas.openxmlformats.org/officeDocument/2006/relationships/hyperlink" Target="https://algebra1m2u1l4.vercel.app/Section 504/lesson4-bellwork-day2-504.html" TargetMode="External"/><Relationship Id="rId5" Type="http://schemas.openxmlformats.org/officeDocument/2006/relationships/hyperlink" Target="https://algebra1m2u1l4.vercel.app/Section 504/lesson4-homework-504.html" TargetMode="External"/><Relationship Id="rId6" Type="http://schemas.openxmlformats.org/officeDocument/2006/relationships/hyperlink" Target="https://algebra1m2u1l4.vercel.app/Section 504/lesson4-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hyperlink" Target="https://algebra1m2u1l4.vercel.app/Section 504/lesson4-homework-504.html" TargetMode="External"/><Relationship Id="rId4" Type="http://schemas.openxmlformats.org/officeDocument/2006/relationships/hyperlink" Target="https://algebra1m2u1l4.vercel.app/Section 504/lesson4-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r>
              <a:rPr lang="en-US" sz="1800" dirty="0">
                <a:solidFill>
                  <a:srgbClr val="16171D"/>
                </a:solidFill>
                <a:latin typeface="Segoe UI"/>
                <a:cs typeface="Segoe UI"/>
              </a:rPr>
              <a:t xml:space="preserve"> · </a:t>
            </a: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5285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50292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Draining the Pool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point-slope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horizontal and vertical lines</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t>
            </a:r>
            <a:r>
              <a:rPr lang="en-US" sz="2100" dirty="0" b="1" i="1">
                <a:solidFill>
                  <a:srgbClr val="16171D"/>
                </a:solidFill>
                <a:latin typeface="Segoe UI"/>
                <a:cs typeface="Segoe UI"/>
              </a:rPr>
              <a:t xml:space="preserve">m</a:t>
            </a:r>
            <a:r>
              <a:rPr lang="en-US" sz="2100" dirty="0" b="1">
                <a:solidFill>
                  <a:srgbClr val="16171D"/>
                </a:solidFill>
                <a:latin typeface="Segoe UI"/>
                <a:cs typeface="Segoe UI"/>
              </a:rPr>
              <a:t xml:space="preserv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steep a line is: the 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divided by the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rise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run</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The point 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equation that uses the slope and </a:t>
            </a:r>
            <a:r>
              <a:rPr lang="en-US" sz="1575" dirty="0" b="1">
                <a:solidFill>
                  <a:srgbClr val="16171D"/>
                </a:solidFill>
                <a:latin typeface="Segoe UI"/>
                <a:cs typeface="Segoe UI"/>
              </a:rPr>
              <a:t xml:space="preserve">any</a:t>
            </a:r>
            <a:r>
              <a:rPr lang="en-US" sz="1575" dirty="0">
                <a:solidFill>
                  <a:srgbClr val="16171D"/>
                </a:solidFill>
                <a:latin typeface="Segoe UI"/>
                <a:cs typeface="Segoe UI"/>
              </a:rPr>
              <a:t xml:space="preserve"> point on the line.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line</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flat line. Slope is 0.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23" name="Shape 23"/>
          <p:cNvSpPr txBox="1"/>
          <p:nvPr/>
        </p:nvSpPr>
        <p:spPr>
          <a:xfrm>
            <a:off x="4349648"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line</a:t>
            </a:r>
            <a:endParaRPr lang="en-US" sz="2100" dirty="0"/>
          </a:p>
        </p:txBody>
      </p:sp>
      <p:sp>
        <p:nvSpPr>
          <p:cNvPr id="21" name="Shape 21"/>
          <p:cNvSpPr txBox="1"/>
          <p:nvPr/>
        </p:nvSpPr>
        <p:spPr>
          <a:xfrm>
            <a:off x="4559198"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straight up-and-down line. Slope is undefined. The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
        <p:nvSpPr>
          <p:cNvPr id="22" name="Shape 22"/>
          <p:cNvSpPr txBox="1"/>
          <p:nvPr/>
        </p:nvSpPr>
        <p:spPr>
          <a:xfrm>
            <a:off x="4559198" y="53941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27" name="Shape 27"/>
          <p:cNvSpPr txBox="1"/>
          <p:nvPr/>
        </p:nvSpPr>
        <p:spPr>
          <a:xfrm>
            <a:off x="8013497"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Constant function</a:t>
            </a:r>
            <a:endParaRPr lang="en-US" sz="2100" dirty="0"/>
          </a:p>
        </p:txBody>
      </p:sp>
      <p:sp>
        <p:nvSpPr>
          <p:cNvPr id="25" name="Shape 25"/>
          <p:cNvSpPr txBox="1"/>
          <p:nvPr/>
        </p:nvSpPr>
        <p:spPr>
          <a:xfrm>
            <a:off x="8223047"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the same number.</a:t>
            </a:r>
            <a:endParaRPr lang="en-US" sz="1575" dirty="0"/>
          </a:p>
        </p:txBody>
      </p:sp>
      <p:sp>
        <p:nvSpPr>
          <p:cNvPr id="26" name="Shape 26"/>
          <p:cNvSpPr txBox="1"/>
          <p:nvPr/>
        </p:nvSpPr>
        <p:spPr>
          <a:xfrm>
            <a:off x="8223047"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it when you know the slope and a point.</a:t>
            </a:r>
            <a:endParaRPr lang="en-US" sz="157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Change to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Distribute the slope.</a:t>
            </a:r>
            <a:br>
              <a:rPr lang="en-US" sz="1575" dirty="0">
                <a:solidFill>
                  <a:srgbClr val="16171D"/>
                </a:solidFill>
                <a:latin typeface="Segoe UI"/>
                <a:cs typeface="Segoe UI"/>
              </a:rPr>
            </a:br>
            <a:r>
              <a:rPr lang="en-US" sz="1575" dirty="0">
                <a:solidFill>
                  <a:srgbClr val="16171D"/>
                </a:solidFill>
                <a:latin typeface="Segoe UI"/>
                <a:cs typeface="Segoe UI"/>
              </a:rPr>
              <a:t xml:space="preserve">2. Add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to both sides (or subtract).</a:t>
            </a:r>
            <a:endParaRPr lang="en-US" sz="1575" dirty="0"/>
          </a:p>
        </p:txBody>
      </p:sp>
      <p:sp>
        <p:nvSpPr>
          <p:cNvPr id="10" name="Shape 10"/>
          <p:cNvSpPr txBox="1"/>
          <p:nvPr/>
        </p:nvSpPr>
        <p:spPr>
          <a:xfrm>
            <a:off x="4559198"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4" name="Shape 14"/>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vs. vertical</a:t>
            </a:r>
            <a:endParaRPr lang="en-US" sz="2100" dirty="0"/>
          </a:p>
        </p:txBody>
      </p:sp>
      <p:sp>
        <p:nvSpPr>
          <p:cNvPr id="13" name="Shape 13"/>
          <p:cNvSpPr txBox="1"/>
          <p:nvPr/>
        </p:nvSpPr>
        <p:spPr>
          <a:xfrm>
            <a:off x="8223047" y="258013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Horizontal: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 slope 0.</a:t>
            </a:r>
            <a:br>
              <a:rPr lang="en-US" sz="1575" dirty="0">
                <a:solidFill>
                  <a:srgbClr val="16171D"/>
                </a:solidFill>
                <a:latin typeface="Segoe UI"/>
                <a:cs typeface="Segoe UI"/>
              </a:rPr>
            </a:br>
            <a:r>
              <a:rPr lang="en-US" sz="1575" dirty="0" b="1">
                <a:solidFill>
                  <a:srgbClr val="16171D"/>
                </a:solidFill>
                <a:latin typeface="Segoe UI"/>
                <a:cs typeface="Segoe UI"/>
              </a:rPr>
              <a:t xml:space="preserve">Vertical: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 slope undefined.</a:t>
            </a:r>
            <a:br>
              <a:rPr lang="en-US" sz="1575" dirty="0">
                <a:solidFill>
                  <a:srgbClr val="16171D"/>
                </a:solidFill>
                <a:latin typeface="Segoe UI"/>
                <a:cs typeface="Segoe UI"/>
              </a:rPr>
            </a:br>
            <a:r>
              <a:rPr lang="en-US" sz="1575" dirty="0">
                <a:solidFill>
                  <a:srgbClr val="16171D"/>
                </a:solidFill>
                <a:latin typeface="Segoe UI"/>
                <a:cs typeface="Segoe UI"/>
              </a:rPr>
              <a:t xml:space="preserve">Memory trick: HOY VUX.</a:t>
            </a:r>
            <a:endParaRPr lang="en-US" sz="1575" dirty="0"/>
          </a:p>
        </p:txBody>
      </p:sp>
      <p:sp>
        <p:nvSpPr>
          <p:cNvPr id="15" name="Shape 15"/>
          <p:cNvSpPr txBox="1"/>
          <p:nvPr/>
        </p:nvSpPr>
        <p:spPr>
          <a:xfrm>
            <a:off x="685800" y="423672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match equations, graphs, tables and contexts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what each equation tells you</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slope-intercept form</a:t>
            </a:r>
            <a:endParaRPr lang="en-US" sz="2100" dirty="0"/>
          </a:p>
        </p:txBody>
      </p:sp>
      <p:sp>
        <p:nvSpPr>
          <p:cNvPr id="5" name="Shape 5"/>
          <p:cNvSpPr txBox="1"/>
          <p:nvPr/>
        </p:nvSpPr>
        <p:spPr>
          <a:xfrm>
            <a:off x="895350" y="258013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6" name="Shape 6"/>
          <p:cNvSpPr txBox="1"/>
          <p:nvPr/>
        </p:nvSpPr>
        <p:spPr>
          <a:xfrm>
            <a:off x="895350" y="308457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−4)</a:t>
            </a:r>
            <a:endParaRPr lang="en-US" sz="1575" dirty="0"/>
          </a:p>
        </p:txBody>
      </p:sp>
      <p:sp>
        <p:nvSpPr>
          <p:cNvPr id="11" name="Shape 11"/>
          <p:cNvSpPr txBox="1"/>
          <p:nvPr/>
        </p:nvSpPr>
        <p:spPr>
          <a:xfrm>
            <a:off x="4349648"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point-slope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4559198"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point (−1, 6). The signs </a:t>
            </a:r>
            <a:r>
              <a:rPr lang="en-US" sz="1575" dirty="0" b="1">
                <a:solidFill>
                  <a:srgbClr val="16171D"/>
                </a:solidFill>
                <a:latin typeface="Segoe UI"/>
                <a:cs typeface="Segoe UI"/>
              </a:rPr>
              <a:t xml:space="preserve">flip</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 a story</a:t>
            </a:r>
            <a:endParaRPr lang="en-US" sz="2100" dirty="0"/>
          </a:p>
        </p:txBody>
      </p:sp>
      <p:sp>
        <p:nvSpPr>
          <p:cNvPr id="13" name="Shape 13"/>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 the rate (per hour, per pound, per game).</a:t>
            </a:r>
            <a:br>
              <a:rPr lang="en-US" sz="1575" dirty="0">
                <a:solidFill>
                  <a:srgbClr val="16171D"/>
                </a:solidFill>
                <a:latin typeface="Segoe UI"/>
                <a:cs typeface="Segoe UI"/>
              </a:rPr>
            </a:b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 the starting amount.</a:t>
            </a:r>
            <a:endParaRPr lang="en-US" sz="1575" dirty="0"/>
          </a:p>
        </p:txBody>
      </p:sp>
      <p:sp>
        <p:nvSpPr>
          <p:cNvPr id="15" name="Shape 15"/>
          <p:cNvSpPr txBox="1"/>
          <p:nvPr/>
        </p:nvSpPr>
        <p:spPr>
          <a:xfrm>
            <a:off x="685800" y="37223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pp. 215–216).</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39</Slides>
  <Notes>39</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