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
  </p:notesMasterIdLst>
  <p:sldIdLst>
    <p:sldId id="256" r:id="rId11"/>
    <p:sldId id="257" r:id="rId12"/>
    <p:sldId id="258" r:id="rId13"/>
    <p:sldId id="259" r:id="rId14"/>
    <p:sldId id="260" r:id="rId15"/>
    <p:sldId id="261" r:id="rId16"/>
    <p:sldId id="262" r:id="rId17"/>
    <p:sldId id="263" r:id="rId18"/>
    <p:sldId id="264" r:id="rId19"/>
    <p:sldId id="265" r:id="rId20"/>
    <p:sldId id="266" r:id="rId21"/>
    <p:sldId id="267" r:id="rId22"/>
    <p:sldId id="268" r:id="rId23"/>
    <p:sldId id="269" r:id="rId24"/>
    <p:sldId id="270" r:id="rId25"/>
    <p:sldId id="271" r:id="rId26"/>
    <p:sldId id="272" r:id="rId27"/>
    <p:sldId id="273" r:id="rId28"/>
    <p:sldId id="274" r:id="rId29"/>
    <p:sldId id="275" r:id="rId30"/>
    <p:sldId id="276" r:id="rId31"/>
    <p:sldId id="277" r:id="rId32"/>
    <p:sldId id="278" r:id="rId33"/>
    <p:sldId id="279" r:id="rId34"/>
    <p:sldId id="280" r:id="rId35"/>
    <p:sldId id="281" r:id="rId36"/>
    <p:sldId id="282" r:id="rId37"/>
    <p:sldId id="283" r:id="rId38"/>
    <p:sldId id="284" r:id="rId39"/>
    <p:sldId id="285" r:id="rId40"/>
    <p:sldId id="286" r:id="rId41"/>
    <p:sldId id="287" r:id="rId42"/>
    <p:sldId id="288" r:id="rId43"/>
    <p:sldId id="289" r:id="rId44"/>
    <p:sldId id="290" r:id="rId45"/>
    <p:sldId id="291" r:id="rId46"/>
    <p:sldId id="292" r:id="rId47"/>
    <p:sldId id="293" r:id="rId48"/>
    <p:sldId id="294" r:id="rId49"/>
  </p:sldIdLst>
  <p:sldSz cx="12192000" cy="6858000"/>
  <p:notesSz cx="6858000" cy="9144000"/>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notesMaster" Target="notesMasters/notesMaster1.xml"/><Relationship Id="rId3" Type="http://schemas.openxmlformats.org/officeDocument/2006/relationships/theme" Target="theme/theme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ableStyles" Target="tableStyles.xml"/><Relationship Id="rId11" Type="http://schemas.openxmlformats.org/officeDocument/2006/relationships/slide" Target="slides/slide1.xml"/><Relationship Id="rId12" Type="http://schemas.openxmlformats.org/officeDocument/2006/relationships/slide" Target="slides/slide2.xml"/><Relationship Id="rId13" Type="http://schemas.openxmlformats.org/officeDocument/2006/relationships/slide" Target="slides/slide3.xml"/><Relationship Id="rId14" Type="http://schemas.openxmlformats.org/officeDocument/2006/relationships/slide" Target="slides/slide4.xml"/><Relationship Id="rId15" Type="http://schemas.openxmlformats.org/officeDocument/2006/relationships/slide" Target="slides/slide5.xml"/><Relationship Id="rId16" Type="http://schemas.openxmlformats.org/officeDocument/2006/relationships/slide" Target="slides/slide6.xml"/><Relationship Id="rId17" Type="http://schemas.openxmlformats.org/officeDocument/2006/relationships/slide" Target="slides/slide7.xml"/><Relationship Id="rId18" Type="http://schemas.openxmlformats.org/officeDocument/2006/relationships/slide" Target="slides/slide8.xml"/><Relationship Id="rId19" Type="http://schemas.openxmlformats.org/officeDocument/2006/relationships/slide" Target="slides/slide9.xml"/><Relationship Id="rId20" Type="http://schemas.openxmlformats.org/officeDocument/2006/relationships/slide" Target="slides/slide10.xml"/><Relationship Id="rId21" Type="http://schemas.openxmlformats.org/officeDocument/2006/relationships/slide" Target="slides/slide11.xml"/><Relationship Id="rId22" Type="http://schemas.openxmlformats.org/officeDocument/2006/relationships/slide" Target="slides/slide12.xml"/><Relationship Id="rId23" Type="http://schemas.openxmlformats.org/officeDocument/2006/relationships/slide" Target="slides/slide13.xml"/><Relationship Id="rId24" Type="http://schemas.openxmlformats.org/officeDocument/2006/relationships/slide" Target="slides/slide14.xml"/><Relationship Id="rId25" Type="http://schemas.openxmlformats.org/officeDocument/2006/relationships/slide" Target="slides/slide15.xml"/><Relationship Id="rId26" Type="http://schemas.openxmlformats.org/officeDocument/2006/relationships/slide" Target="slides/slide16.xml"/><Relationship Id="rId27" Type="http://schemas.openxmlformats.org/officeDocument/2006/relationships/slide" Target="slides/slide17.xml"/><Relationship Id="rId28" Type="http://schemas.openxmlformats.org/officeDocument/2006/relationships/slide" Target="slides/slide18.xml"/><Relationship Id="rId29" Type="http://schemas.openxmlformats.org/officeDocument/2006/relationships/slide" Target="slides/slide19.xml"/><Relationship Id="rId30" Type="http://schemas.openxmlformats.org/officeDocument/2006/relationships/slide" Target="slides/slide20.xml"/><Relationship Id="rId31" Type="http://schemas.openxmlformats.org/officeDocument/2006/relationships/slide" Target="slides/slide21.xml"/><Relationship Id="rId32" Type="http://schemas.openxmlformats.org/officeDocument/2006/relationships/slide" Target="slides/slide22.xml"/><Relationship Id="rId33" Type="http://schemas.openxmlformats.org/officeDocument/2006/relationships/slide" Target="slides/slide23.xml"/><Relationship Id="rId34" Type="http://schemas.openxmlformats.org/officeDocument/2006/relationships/slide" Target="slides/slide24.xml"/><Relationship Id="rId35" Type="http://schemas.openxmlformats.org/officeDocument/2006/relationships/slide" Target="slides/slide25.xml"/><Relationship Id="rId36" Type="http://schemas.openxmlformats.org/officeDocument/2006/relationships/slide" Target="slides/slide26.xml"/><Relationship Id="rId37" Type="http://schemas.openxmlformats.org/officeDocument/2006/relationships/slide" Target="slides/slide27.xml"/><Relationship Id="rId38" Type="http://schemas.openxmlformats.org/officeDocument/2006/relationships/slide" Target="slides/slide28.xml"/><Relationship Id="rId39" Type="http://schemas.openxmlformats.org/officeDocument/2006/relationships/slide" Target="slides/slide29.xml"/><Relationship Id="rId40" Type="http://schemas.openxmlformats.org/officeDocument/2006/relationships/slide" Target="slides/slide30.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 Id="rId45" Type="http://schemas.openxmlformats.org/officeDocument/2006/relationships/slide" Target="slides/slide35.xml"/><Relationship Id="rId46" Type="http://schemas.openxmlformats.org/officeDocument/2006/relationships/slide" Target="slides/slide36.xml"/><Relationship Id="rId47" Type="http://schemas.openxmlformats.org/officeDocument/2006/relationships/slide" Target="slides/slide37.xml"/><Relationship Id="rId48" Type="http://schemas.openxmlformats.org/officeDocument/2006/relationships/slide" Target="slides/slide38.xml"/><Relationship Id="rId49"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Notes</a:t>
            </a: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400" kern="1200">
        <a:solidFill>
          <a:schemeClr val="tx1"/>
        </a:solidFill>
        <a:latin typeface="+mn-lt"/>
        <a:ea typeface="+mn-ea"/>
        <a:cs typeface="+mn-cs"/>
      </a:defRPr>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Today's topic is another way to write the equation of a line. Point out the color code: orange always means slope, blue always means a point. The lesson runs two days, and each day opens with bell work while you take attendance (slide 2 for Day 1, slide 24 for Day 2). Day 1 covers Getting Started and Activities 4.1–4.2. Day 2 covers Activity 4.3 and Talk the Talk.</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These review the skills today's lesson builds on: the slope formula, slope-intercept form, and distributing a negative, which students will need when they rewrite point-slope form. Reveal the answers one at a time. Watch #4: −2 times +3 is −6. Answer key: 1. Slope through (1, 3) and (4, 9): m = (9 − 3)/(4 − 1) = 6/3 = 2. 2. Slope and y-intercept of y = −3x + 5: m = −3, y-intercept (0, 5). 3. Line with slope 4 and y-intercept (0, −2): y = 4x − 2. 4. Distribute −2(x + 3): −2x − 6.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each objective aloud as it appears. Ask: Which of these words do you already know? (slope formula, slope-intercept form). Tell students that 'derive' means we will build the new form ourselves from something we already know.</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preview the key terms before the lesson. Leave this slide up or print it as a reference card.</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 Essential Question at the top of their notes. Don't answer it yet; we return to it at the end of each day. Quick check: ask a student what m and b mean in y = mx + b.</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Getting Started, 10–15 minutes. Have pairs try Pool A before you reveal anything. Common error: writing +3 instead of −3. Ask: Is the water level going up or down? So is the slope positive or negative? Define the variables before writing the equation. The graph appears last (x = hours, y = feet of water): the line starts at 14 on the y-axis and drops 3 feet for every hour. Ask: When is the pool empty? (After 4⅔ hours.)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What's different from Pool A? (We don't know the starting level.) Stress that '10 feet after 3 hours' is the point (3, 10). Reveal the substitution one line at a time; have students do each step on whiteboards before you click. The graph appears last: the point we were given, (3, 10), is on the line, and following it back to the y-axis gives the starting level b = 16. The pool is empty after 8 hours.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know neither the slope nor the intercept, only two points. Ask students to recall the slope formula before you reveal it. Check the answer together: at x = 2, −3/2(2) + 18 = 15. It works. The graph appears last (x = hours, y = feet of water): point out that the line starts at 18 feet on the y-axis, which is b, and that the pool is empty after 12 hours.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slide to tie the three equations to one picture before Question 2. x is hours and y is feet of water. Ask: Each click draws one pool's line: A, then B, then C. Ask: Which pool started with the most water? Which drains fastest, and how can you tell from the graph? From the equation? Which pool is empty first? Connect each answer to b, the slope, and where the line crosses the x-axis.</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Students should notice the work gets longer for each pool. Read the thought bubble aloud and pause; it is the hook for the new form. Ask: Is there a shortcut when we know a point and a slope?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4.1, 20–25 minutes in total. This Worked Example is explicit instruction: go through each step as a class and have students restate it in their own words. Key idea: (x, y) stands for ANY point on the line, which is why it stays as variables.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copy the definition into their notes, using the colors. Stress that (x₁, y₁) can be any point, not only the y-intercept. In the example, ask a student to name m, x₁, and y₁ before you reveal the equation.</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meets Objective 1. Point-slope form is not a new formula to memorize; it is the slope formula with the denominator multiplied away. If students forget point-slope form, they can always rebuild it from the slope formula.</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Complete Question 1 as a class. Watch the distribution step: −1/2 times −2 is +1, a common sign error. Discussion: both forms describe the same line, so neither is more correct; each one makes different information easy to see.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Group students for Questions 2 and 3, then check in. The sign trap in #3 is the most common mistake in this lesson: x − (−4) becomes x + 4. As a check, have students read the point back out of their equation.</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4 is a context. Ask which quantity is the rate (the slope) and which numbers form a point. The basic shipping charge is unknown, and that's fine because point-slope form doesn't need it. (If a student asks, the charge is $3.)</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graph in the student book doesn't show where the line crosses the y-axis, which is exactly when point-slope form is most useful. Either point gives a correct equation. If time allows, have half the class use each point and compare by converting both to slope-intercept form. For extra practice, assign Skills Practice Set B.</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Let students calculate the slope themselves first; many will be surprised to get 0. Ask: What happens when you multiply anything by 0? This slide leads straight into Activity 4.2. For extra practice with tables and graphs, assign Skills Practice Set C.</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Poll the class before you reveal each row. Accept any reasonable reasoning. Summarize Activity 4.1: point-slope form is fastest when you know a point and a slope, or two points.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4.2, 10–15 minutes. Connect back to y = −6 from the previous slide. Ask: Why does a slope of 0 make sense? (There is no rise, so rise over run is 0.) Have students sketch each line on a quick coordinate grid.</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grid is empty at first; the next three clicks plot the table points one at a time (ask students to call out each point before you click), and the click after that draws the line. Before you reveal anything, ask students to predict the equation. Many will write y = −2; ask them which column repeats. Show the slope calculation: dividing by zero is undefined, which is not the same as 0. Stress the difference between 'zero slope' and 'undefined slope'.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17/2 is 8.5, so the line sits just to the right of x = 8. For 4c, have each student make a table and swap with a partner, who writes the equation.</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the paragraph from the student book (SE p. 207): "In a horizontal line there is no change in the y-values as the x-values change. Therefore, the slope is 0. A horizontal line has zero steepness. In a vertical line there is no change in the x-values as the y-values change. Therefore, the slope is undefined. A vertical line has an undefined steepness." Offer HOY VUX as a memory aid. Return to the Essential Question and have students answer it in their notes. End of Day 1.</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this, then go to the bell work while you take attendance. Afterward, reread the Essential Question. Ask two or three students to summarize Day 1: What is point-slope form? What do the equations of horizontal and vertical lines look like?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Have this up as students walk in; they work silently while you take attendance (about 5 minutes). It reviews Day 1. For #1, the signs flip: the point (3, −1) gives x − 3 and y + 1. For #3, distribute and add 5: y − 5 = 3x − 6, so y = 3x − 1. For #4, horizontal keeps the y-value (y = 8) and vertical keeps the x-value (x = −3): HOY VUX. Answer key: 1. Slope −4 through (3, −1): y + 1 = −4(x − 3). 2. Through (2, 5) and (4, 11): m = (11 − 5)/(4 − 2) = 3, so y − 5 = 3(x − 2). 3. #2 in slope-intercept form: y = 3x − 1. 4. Through (−3, 8): horizontal y = 8; vertical x = −3.</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chunked directions. Check off each part as the class finishes it.</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4.3, about 30 minutes. Students need scissors and the cutout pages at the end of the lesson. Have pairs match first, then reveal the answer key one letter at a time so they can check. Ask which clues they used. Note that C, y − x = 2, is in neither form; have students rewrite it as y = x + 2.</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click draws one line, then shows its equation: Graph A first, then Graph C. Ask: Which graph goes down from left to right? How can you tell from the equation? For Graph A, have students rewrite it in slope-intercept form: y = −5x + 320, so the y-intercept is (0, 320).</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What are the ways to find the rate of change from a table? (The slope formula, or the change in y over the change in x between rows.) For Table D the y-intercept isn't in the table, so students solve for it: 15 = −3/4(2) + b, so b = 16.5, which is 33/2.</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students to explain each term in a full sentence with units. Push on the meaning of x: it's the quantity we count or choose (minutes, toppings). Then summarize Activity 4.3.</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Talk the Talk, 10–15 minutes. Have students write their answers on whiteboards, then reveal them one at a time. Part c is in point-slope form, but its point happens to be the y-intercept. In part e, −(x − 4) means the slope is −1.</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students write their own context first, then share two or three. Check each one: does it pass through (2, 56), and is the rate positive? Omar's example is the sample answer from the teacher guide.</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504 support: a copy of the day's notes. Hand out a printed copy if the student's plan lists copies of notes.</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answer the Essential Question on the lesson opener page. Ask them to mention both forms and both special lines in their answer.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Give 3–4 minutes, collect the answers, and use them to decide who needs Skills Practice Sets A–C. For #3, both points have the same x-value, so the line is vertical.</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Prepares students for Lesson 5, which works with rewriting equations. Assign it as homework or use it as tomorrow's warm-up. If you go over it in class, the answers appear one at a time.</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for this deck; not from the textbook. Click a title to open it in a new tab. Assign the homework after Day 1 or Day 2; give the quiz after the Exit Ticket. Students can't open the links until you share them: share the claude.ai artifacts, or turn off Vercel protection for the site.</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lgGrid">
          <a:fgClr>
            <a:srgbClr val="E6E8F2"/>
          </a:fgClr>
          <a:bgClr>
            <a:srgbClr val="F7F7FB"/>
          </a:bgClr>
        </a:pattFill>
        <a:effectLst/>
      </p:bgPr>
    </p:bg>
    <p:spTree>
      <p:nvGrpSpPr>
        <p:cNvPr id="1" name=""/>
        <p:cNvGrpSpPr/>
        <p:nvPr/>
      </p:nvGrpSpPr>
      <p:grpSpPr>
        <a:xfrm>
          <a:off x="0" y="0"/>
          <a:ext cx="0" cy="0"/>
          <a:chOff x="0" y="0"/>
          <a:chExt cx="0" cy="0"/>
        </a:xfrm>
      </p:grpSpPr>
      <p:sp>
        <p:nvSpPr>
          <p:cNvPr id="101" name="Brand 101"/>
          <p:cNvSpPr/>
          <p:nvPr userDrawn="1"/>
        </p:nvSpPr>
        <p:spPr>
          <a:xfrm>
            <a:off x="9631375" y="128016"/>
            <a:ext cx="274320" cy="274320"/>
          </a:xfrm>
          <a:prstGeom prst="roundRect">
            <a:avLst>
              <a:gd name="adj" fmla="val 25000"/>
            </a:avLst>
          </a:prstGeom>
          <a:solidFill>
            <a:srgbClr val="3050B8"/>
          </a:solidFill>
          <a:ln>
            <a:noFill/>
          </a:ln>
        </p:spPr>
      </p:sp>
      <p:sp>
        <p:nvSpPr>
          <p:cNvPr id="102" name="Brand 102"/>
          <p:cNvSpPr/>
          <p:nvPr userDrawn="1"/>
        </p:nvSpPr>
        <p:spPr>
          <a:xfrm>
            <a:off x="9748818" y="172593"/>
            <a:ext cx="39434" cy="39434"/>
          </a:xfrm>
          <a:prstGeom prst="ellipse">
            <a:avLst/>
          </a:prstGeom>
          <a:solidFill>
            <a:srgbClr val="FFFFFF"/>
          </a:solidFill>
          <a:ln>
            <a:noFill/>
          </a:ln>
        </p:spPr>
      </p:sp>
      <p:sp>
        <p:nvSpPr>
          <p:cNvPr id="103" name="Brand 103"/>
          <p:cNvSpPr/>
          <p:nvPr userDrawn="1"/>
        </p:nvSpPr>
        <p:spPr>
          <a:xfrm>
            <a:off x="9719672" y="207740"/>
            <a:ext cx="42862" cy="42862"/>
          </a:xfrm>
          <a:prstGeom prst="ellipse">
            <a:avLst/>
          </a:prstGeom>
          <a:solidFill>
            <a:srgbClr val="FFFFFF">
              <a:alpha val="92000"/>
            </a:srgbClr>
          </a:solidFill>
          <a:ln>
            <a:noFill/>
          </a:ln>
        </p:spPr>
      </p:sp>
      <p:sp>
        <p:nvSpPr>
          <p:cNvPr id="104" name="Brand 104"/>
          <p:cNvSpPr/>
          <p:nvPr userDrawn="1"/>
        </p:nvSpPr>
        <p:spPr>
          <a:xfrm>
            <a:off x="9774536" y="207740"/>
            <a:ext cx="42862" cy="42862"/>
          </a:xfrm>
          <a:prstGeom prst="ellipse">
            <a:avLst/>
          </a:prstGeom>
          <a:solidFill>
            <a:srgbClr val="FFFFFF">
              <a:alpha val="92000"/>
            </a:srgbClr>
          </a:solidFill>
          <a:ln>
            <a:noFill/>
          </a:ln>
        </p:spPr>
      </p:sp>
      <p:sp>
        <p:nvSpPr>
          <p:cNvPr id="105" name="Brand 105"/>
          <p:cNvSpPr/>
          <p:nvPr userDrawn="1"/>
        </p:nvSpPr>
        <p:spPr>
          <a:xfrm>
            <a:off x="9746247" y="230886"/>
            <a:ext cx="44577" cy="44577"/>
          </a:xfrm>
          <a:prstGeom prst="ellipse">
            <a:avLst/>
          </a:prstGeom>
          <a:solidFill>
            <a:srgbClr val="FFFFFF"/>
          </a:solidFill>
          <a:ln>
            <a:noFill/>
          </a:ln>
        </p:spPr>
      </p:sp>
      <p:sp>
        <p:nvSpPr>
          <p:cNvPr id="106" name="Brand 106"/>
          <p:cNvSpPr/>
          <p:nvPr userDrawn="1"/>
        </p:nvSpPr>
        <p:spPr>
          <a:xfrm>
            <a:off x="9709385" y="255746"/>
            <a:ext cx="46292" cy="46292"/>
          </a:xfrm>
          <a:prstGeom prst="ellipse">
            <a:avLst/>
          </a:prstGeom>
          <a:solidFill>
            <a:srgbClr val="FFFFFF">
              <a:alpha val="82000"/>
            </a:srgbClr>
          </a:solidFill>
          <a:ln>
            <a:noFill/>
          </a:ln>
        </p:spPr>
      </p:sp>
      <p:sp>
        <p:nvSpPr>
          <p:cNvPr id="107" name="Brand 107"/>
          <p:cNvSpPr/>
          <p:nvPr userDrawn="1"/>
        </p:nvSpPr>
        <p:spPr>
          <a:xfrm>
            <a:off x="9781394" y="255746"/>
            <a:ext cx="46292" cy="46292"/>
          </a:xfrm>
          <a:prstGeom prst="ellipse">
            <a:avLst/>
          </a:prstGeom>
          <a:solidFill>
            <a:srgbClr val="FFFFFF">
              <a:alpha val="82000"/>
            </a:srgbClr>
          </a:solidFill>
          <a:ln>
            <a:noFill/>
          </a:ln>
        </p:spPr>
      </p:sp>
      <p:sp>
        <p:nvSpPr>
          <p:cNvPr id="108" name="Brand 108"/>
          <p:cNvSpPr/>
          <p:nvPr userDrawn="1"/>
        </p:nvSpPr>
        <p:spPr>
          <a:xfrm>
            <a:off x="9761677" y="303752"/>
            <a:ext cx="13716" cy="55721"/>
          </a:xfrm>
          <a:prstGeom prst="roundRect">
            <a:avLst>
              <a:gd name="adj" fmla="val 50000"/>
            </a:avLst>
          </a:prstGeom>
          <a:solidFill>
            <a:srgbClr val="9FD18B"/>
          </a:solidFill>
          <a:ln>
            <a:noFill/>
          </a:ln>
        </p:spPr>
      </p:sp>
      <p:sp>
        <p:nvSpPr>
          <p:cNvPr id="109" name="Shape 109"/>
          <p:cNvSpPr txBox="1"/>
          <p:nvPr/>
        </p:nvSpPr>
        <p:spPr>
          <a:xfrm>
            <a:off x="9960559" y="109728"/>
            <a:ext cx="1737360" cy="310896"/>
          </a:xfrm>
          <a:prstGeom prst="rect">
            <a:avLst/>
          </a:prstGeom>
          <a:noFill/>
          <a:ln>
            <a:noFill/>
          </a:ln>
        </p:spPr>
        <p:txBody>
          <a:bodyPr wrap="square" lIns="18288" tIns="0" rIns="18288" bIns="0" anchor="ctr">
            <a:noAutofit/>
          </a:bodyPr>
          <a:lstStyle/>
          <a:p>
            <a:pPr algn="l">
              <a:lnSpc>
                <a:spcPct val="100000"/>
              </a:lnSpc>
            </a:pPr>
            <a:r>
              <a:rPr lang="en-US" sz="1125" dirty="0">
                <a:solidFill>
                  <a:srgbClr val="16171D"/>
                </a:solidFill>
                <a:latin typeface="Segoe UI"/>
                <a:cs typeface="Segoe UI"/>
              </a:rPr>
              <a:t xml:space="preserve">Bluebonnet </a:t>
            </a:r>
            <a:r>
              <a:rPr lang="en-US" sz="1125" dirty="0" b="1">
                <a:solidFill>
                  <a:srgbClr val="3050B8"/>
                </a:solidFill>
                <a:latin typeface="Segoe UI"/>
                <a:cs typeface="Segoe UI"/>
              </a:rPr>
              <a:t xml:space="preserve">Algebra I</a:t>
            </a:r>
            <a:endParaRPr lang="en-US" sz="1125" dirty="0"/>
          </a:p>
        </p:txBody>
      </p:sp>
    </p:spTree>
  </p:cSld>
  <p:clrMap bg1="lt1" tx1="dk1" bg2="lt2" tx2="dk2" accent1="accent1" accent2="accent2" accent3="accent3" accent4="accent4" accent5="accent5" accent6="accent6" hlink="hlink" folHlink="folHlink"/>
  <p:sldLayoutIdLst>
    <p:sldLayoutId id="2147483649" r:id="rId1"/>
  </p:sldLayoutId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algebra1m2u1l4.vercel.app/Section 504/lesson4-bellwork-day1-504.html" TargetMode="External"/><Relationship Id="rId4" Type="http://schemas.openxmlformats.org/officeDocument/2006/relationships/hyperlink" Target="https://algebra1m2u1l4.vercel.app/Section 504/lesson4-bellwork-day2-504.html" TargetMode="External"/><Relationship Id="rId5" Type="http://schemas.openxmlformats.org/officeDocument/2006/relationships/hyperlink" Target="https://algebra1m2u1l4.vercel.app/Section 504/lesson4-homework-504.html" TargetMode="External"/><Relationship Id="rId6" Type="http://schemas.openxmlformats.org/officeDocument/2006/relationships/hyperlink" Target="https://algebra1m2u1l4.vercel.app/Section 504/lesson4-quiz-504.html" TargetMode="External"/><Relationship Id="rId7" Type="http://schemas.openxmlformats.org/officeDocument/2006/relationships/hyperlink" Target="https://creativecommons.org/licenses/by-nc/4.0/"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hyperlink" Target="https://algebra1m2u1l4.vercel.app/Section 504/lesson4-homework-504.html" TargetMode="External"/><Relationship Id="rId4" Type="http://schemas.openxmlformats.org/officeDocument/2006/relationships/hyperlink" Target="https://algebra1m2u1l4.vercel.app/Section 504/lesson4-quiz-504.html" TargetMode="Externa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Bluebonnet Algebra I · Module 2 · Topic 1 · Lesson 4 · Student Edition pp. 201–216</a:t>
            </a:r>
            <a:endParaRPr lang="en-US" sz="1200" dirty="0"/>
          </a:p>
        </p:txBody>
      </p:sp>
      <p:sp>
        <p:nvSpPr>
          <p:cNvPr id="3" name="Shape 3"/>
          <p:cNvSpPr txBox="1"/>
          <p:nvPr/>
        </p:nvSpPr>
        <p:spPr>
          <a:xfrm>
            <a:off x="685800" y="961644"/>
            <a:ext cx="10820095" cy="1792224"/>
          </a:xfrm>
          <a:prstGeom prst="rect">
            <a:avLst/>
          </a:prstGeom>
          <a:noFill/>
          <a:ln>
            <a:noFill/>
          </a:ln>
        </p:spPr>
        <p:txBody>
          <a:bodyPr wrap="square" lIns="36576" tIns="27432" rIns="36576" bIns="27432" anchor="t">
            <a:noAutofit/>
          </a:bodyPr>
          <a:lstStyle/>
          <a:p>
            <a:pPr algn="l">
              <a:lnSpc>
                <a:spcPct val="100000"/>
              </a:lnSpc>
            </a:pPr>
            <a:r>
              <a:rPr lang="en-US" sz="5700" dirty="0" b="1">
                <a:solidFill>
                  <a:srgbClr val="16171D"/>
                </a:solidFill>
                <a:latin typeface="Segoe UI"/>
                <a:cs typeface="Segoe UI"/>
              </a:rPr>
              <a:t xml:space="preserve">Point-Slope Form</a:t>
            </a:r>
            <a:br>
              <a:rPr lang="en-US" sz="5700" dirty="0" b="1">
                <a:solidFill>
                  <a:srgbClr val="16171D"/>
                </a:solidFill>
                <a:latin typeface="Segoe UI"/>
                <a:cs typeface="Segoe UI"/>
              </a:rPr>
            </a:br>
            <a:r>
              <a:rPr lang="en-US" sz="5700" dirty="0" b="1">
                <a:solidFill>
                  <a:srgbClr val="16171D"/>
                </a:solidFill>
                <a:latin typeface="Segoe UI"/>
                <a:cs typeface="Segoe UI"/>
              </a:rPr>
              <a:t xml:space="preserve">of a Line</a:t>
            </a:r>
            <a:endParaRPr lang="en-US" sz="5700" dirty="0"/>
          </a:p>
        </p:txBody>
      </p:sp>
      <p:sp>
        <p:nvSpPr>
          <p:cNvPr id="4" name="Shape 4"/>
          <p:cNvSpPr txBox="1"/>
          <p:nvPr/>
        </p:nvSpPr>
        <p:spPr>
          <a:xfrm>
            <a:off x="685800" y="3001518"/>
            <a:ext cx="1082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3970782"/>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b="1">
                <a:solidFill>
                  <a:srgbClr val="16171D"/>
                </a:solidFill>
                <a:latin typeface="Segoe UI"/>
                <a:cs typeface="Segoe UI"/>
              </a:rPr>
              <a:t xml:space="preserve">Section 504 Version</a:t>
            </a:r>
            <a:endParaRPr lang="en-US" sz="1800" dirty="0"/>
          </a:p>
        </p:txBody>
      </p:sp>
      <p:sp>
        <p:nvSpPr>
          <p:cNvPr id="6" name="Shape 6"/>
          <p:cNvSpPr txBox="1"/>
          <p:nvPr/>
        </p:nvSpPr>
        <p:spPr>
          <a:xfrm>
            <a:off x="685800" y="4528566"/>
            <a:ext cx="10820095" cy="329184"/>
          </a:xfrm>
          <a:prstGeom prst="rect">
            <a:avLst/>
          </a:prstGeom>
          <a:noFill/>
          <a:ln>
            <a:noFill/>
          </a:ln>
        </p:spPr>
        <p:txBody>
          <a:bodyPr wrap="square" lIns="36576" tIns="27432" rIns="36576" bIns="27432" anchor="t">
            <a:noAutofit/>
          </a:bodyPr>
          <a:lstStyle/>
          <a:p>
            <a:pPr algn="l">
              <a:lnSpc>
                <a:spcPct val="100000"/>
              </a:lnSpc>
            </a:pPr>
            <a:r>
              <a:rPr lang="en-US" sz="1800" dirty="0">
                <a:solidFill>
                  <a:srgbClr val="16171D"/>
                </a:solidFill>
                <a:latin typeface="Segoe UI"/>
                <a:cs typeface="Segoe UI"/>
              </a:rPr>
              <a:t xml:space="preserve">Bell work: </a:t>
            </a:r>
            <a:r>
              <a:rPr lang="en-US" sz="1800" dirty="0" b="1">
                <a:solidFill>
                  <a:srgbClr val="3050B8"/>
                </a:solidFill>
                <a:latin typeface="Segoe UI"/>
                <a:cs typeface="Segoe UI"/>
                <a:hlinkClick r:id="rId3"/>
              </a:rPr>
              <a:t xml:space="preserve">Day 1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4"/>
              </a:rPr>
              <a:t xml:space="preserve">Day 2 →</a:t>
            </a:r>
            <a:r>
              <a:rPr lang="en-US" sz="1800" dirty="0">
                <a:solidFill>
                  <a:srgbClr val="16171D"/>
                </a:solidFill>
                <a:latin typeface="Segoe UI"/>
                <a:cs typeface="Segoe UI"/>
              </a:rPr>
              <a:t xml:space="preserve"> | Practice: </a:t>
            </a:r>
            <a:r>
              <a:rPr lang="en-US" sz="1800" dirty="0" b="1">
                <a:solidFill>
                  <a:srgbClr val="3050B8"/>
                </a:solidFill>
                <a:latin typeface="Segoe UI"/>
                <a:cs typeface="Segoe UI"/>
                <a:hlinkClick r:id="rId5"/>
              </a:rPr>
              <a:t xml:space="preserve">Homework →</a:t>
            </a:r>
            <a:r>
              <a:rPr lang="en-US" sz="1800" dirty="0">
                <a:solidFill>
                  <a:srgbClr val="16171D"/>
                </a:solidFill>
                <a:latin typeface="Segoe UI"/>
                <a:cs typeface="Segoe UI"/>
              </a:rPr>
              <a:t xml:space="preserve"> · </a:t>
            </a:r>
            <a:r>
              <a:rPr lang="en-US" sz="1800" dirty="0" b="1">
                <a:solidFill>
                  <a:srgbClr val="3050B8"/>
                </a:solidFill>
                <a:latin typeface="Segoe UI"/>
                <a:cs typeface="Segoe UI"/>
                <a:hlinkClick r:id="rId6"/>
              </a:rPr>
              <a:t xml:space="preserve">Quiz →</a:t>
            </a:r>
            <a:endParaRPr lang="en-US" sz="1800" dirty="0"/>
          </a:p>
        </p:txBody>
      </p:sp>
      <p:sp>
        <p:nvSpPr>
          <p:cNvPr id="7" name="Shape 7"/>
          <p:cNvSpPr txBox="1"/>
          <p:nvPr/>
        </p:nvSpPr>
        <p:spPr>
          <a:xfrm>
            <a:off x="685800" y="502920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Click, or press → / Space, to reveal each step. ← goes back. F = full screen.</a:t>
            </a:r>
            <a:endParaRPr lang="en-US" sz="1575" dirty="0"/>
          </a:p>
        </p:txBody>
      </p:sp>
      <p:sp>
        <p:nvSpPr>
          <p:cNvPr id="8" name="Shape 8"/>
          <p:cNvSpPr txBox="1"/>
          <p:nvPr/>
        </p:nvSpPr>
        <p:spPr>
          <a:xfrm>
            <a:off x="685800" y="5500116"/>
            <a:ext cx="10820095" cy="1083564"/>
          </a:xfrm>
          <a:prstGeom prst="rect">
            <a:avLst/>
          </a:prstGeom>
          <a:noFill/>
          <a:ln>
            <a:noFill/>
          </a:ln>
        </p:spPr>
        <p:txBody>
          <a:bodyPr wrap="square" lIns="36576" tIns="27432" rIns="36576" bIns="27432" anchor="t">
            <a:noAutofit/>
          </a:bodyPr>
          <a:lstStyle/>
          <a:p>
            <a:pPr algn="l">
              <a:lnSpc>
                <a:spcPct val="100000"/>
              </a:lnSpc>
            </a:pPr>
            <a:r>
              <a:rPr lang="en-US" sz="1125" dirty="0" b="1">
                <a:solidFill>
                  <a:srgbClr val="5F6272"/>
                </a:solidFill>
                <a:latin typeface="Segoe UI"/>
                <a:cs typeface="Segoe UI"/>
              </a:rPr>
              <a:t xml:space="preserve">Bluebonnet Algebra I</a:t>
            </a:r>
            <a:r>
              <a:rPr lang="en-US" sz="1125" dirty="0">
                <a:solidFill>
                  <a:srgbClr val="5F6272"/>
                </a:solidFill>
                <a:latin typeface="Segoe UI"/>
                <a:cs typeface="Segoe UI"/>
              </a:rPr>
              <a:t xml:space="preserve"> · a companion to Bluebonnet Learning Secondary Mathematics, Algebra I, Edition 1</a:t>
            </a:r>
            <a:br>
              <a:rPr lang="en-US" sz="1125" dirty="0">
                <a:solidFill>
                  <a:srgbClr val="5F6272"/>
                </a:solidFill>
                <a:latin typeface="Segoe UI"/>
                <a:cs typeface="Segoe UI"/>
              </a:rPr>
            </a:br>
            <a:r>
              <a:rPr lang="en-US" sz="1125" dirty="0">
                <a:solidFill>
                  <a:srgbClr val="5F6272"/>
                </a:solidFill>
                <a:latin typeface="Segoe UI"/>
                <a:cs typeface="Segoe UI"/>
              </a:rPr>
              <a:t xml:space="preserve">This work is based on original works of the Texas Education Agency and Carnegie Learning, Inc. This work is made available under a Creative Commons Attribution-Non-Commercial-4.0 International License. This does not in any way imply endorsement by those authors of this work.</a:t>
            </a:r>
            <a:br>
              <a:rPr lang="en-US" sz="1125" dirty="0">
                <a:solidFill>
                  <a:srgbClr val="5F6272"/>
                </a:solidFill>
                <a:latin typeface="Segoe UI"/>
                <a:cs typeface="Segoe UI"/>
              </a:rPr>
            </a:br>
            <a:r>
              <a:rPr lang="en-US" sz="1125" dirty="0">
                <a:solidFill>
                  <a:srgbClr val="5F6272"/>
                </a:solidFill>
                <a:latin typeface="Segoe UI"/>
                <a:cs typeface="Segoe UI"/>
              </a:rPr>
              <a:t xml:space="preserve">©2024–2025 Texas Education Agency, portions ©2021 Carnegie Learning, Inc.</a:t>
            </a:r>
            <a:br>
              <a:rPr lang="en-US" sz="1125" dirty="0">
                <a:solidFill>
                  <a:srgbClr val="5F6272"/>
                </a:solidFill>
                <a:latin typeface="Segoe UI"/>
                <a:cs typeface="Segoe UI"/>
              </a:rPr>
            </a:br>
            <a:r>
              <a:rPr lang="en-US" sz="1125" dirty="0">
                <a:solidFill>
                  <a:srgbClr val="5F6272"/>
                </a:solidFill>
                <a:latin typeface="Segoe UI"/>
                <a:cs typeface="Segoe UI"/>
              </a:rPr>
              <a:t xml:space="preserve">Licensed </a:t>
            </a:r>
            <a:r>
              <a:rPr lang="en-US" sz="1125" dirty="0">
                <a:solidFill>
                  <a:srgbClr val="3050B8"/>
                </a:solidFill>
                <a:latin typeface="Segoe UI"/>
                <a:cs typeface="Segoe UI"/>
                <a:hlinkClick r:id="rId7"/>
              </a:rPr>
              <a:t xml:space="preserve">CC BY-NC 4.0</a:t>
            </a:r>
            <a:r>
              <a:rPr lang="en-US" sz="1125" dirty="0">
                <a:solidFill>
                  <a:srgbClr val="5F6272"/>
                </a:solidFill>
                <a:latin typeface="Segoe UI"/>
                <a:cs typeface="Segoe UI"/>
              </a:rPr>
              <a:t xml:space="preserve">.</a:t>
            </a:r>
            <a:br>
              <a:rPr lang="en-US" sz="1125" dirty="0">
                <a:solidFill>
                  <a:srgbClr val="5F6272"/>
                </a:solidFill>
                <a:latin typeface="Segoe UI"/>
                <a:cs typeface="Segoe UI"/>
              </a:rPr>
            </a:br>
            <a:r>
              <a:rPr lang="en-US" sz="1125" dirty="0" b="1">
                <a:solidFill>
                  <a:srgbClr val="5F6272"/>
                </a:solidFill>
                <a:latin typeface="Segoe UI"/>
                <a:cs typeface="Segoe UI"/>
              </a:rPr>
              <a:t xml:space="preserve">This is a private site for Algebra I teachers and is not publicly available.</a:t>
            </a:r>
            <a:endParaRPr lang="en-US" sz="1125"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a:t>
            </a:fld>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Bell Work · Review</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Slope through (1, 3) and (4, 9)?</a:t>
            </a:r>
            <a:endParaRPr lang="en-US" sz="1950" dirty="0"/>
          </a:p>
        </p:txBody>
      </p:sp>
      <p:sp>
        <p:nvSpPr>
          <p:cNvPr id="5" name="Shape 5"/>
          <p:cNvSpPr txBox="1"/>
          <p:nvPr/>
        </p:nvSpPr>
        <p:spPr>
          <a:xfrm>
            <a:off x="685800" y="2161032"/>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9 − 3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330098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Slope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of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 −3</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+ 5?</a:t>
            </a:r>
            <a:endParaRPr lang="en-US" sz="1950" dirty="0"/>
          </a:p>
        </p:txBody>
      </p:sp>
      <p:sp>
        <p:nvSpPr>
          <p:cNvPr id="7" name="Shape 7"/>
          <p:cNvSpPr txBox="1"/>
          <p:nvPr/>
        </p:nvSpPr>
        <p:spPr>
          <a:xfrm>
            <a:off x="685800" y="3786378"/>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(0, 5)</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Line with slope 4 and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(0, −2)?</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243834"/>
            <a:ext cx="514334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Distribute: −2(</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+ 3)</a:t>
            </a:r>
            <a:endParaRPr lang="en-US" sz="1950" dirty="0"/>
          </a:p>
        </p:txBody>
      </p:sp>
      <p:sp>
        <p:nvSpPr>
          <p:cNvPr id="11" name="Shape 11"/>
          <p:cNvSpPr txBox="1"/>
          <p:nvPr/>
        </p:nvSpPr>
        <p:spPr>
          <a:xfrm>
            <a:off x="6362548" y="3729228"/>
            <a:ext cx="3073847"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Getting Started: Draining the Pool</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4.1: point-slope form</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4.2: horizontal and vertical lines</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a:t>
            </a:fld>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SE p. 201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 you will…</a:t>
            </a:r>
            <a:endParaRPr lang="en-US" sz="3450" dirty="0"/>
          </a:p>
        </p:txBody>
      </p:sp>
      <p:sp>
        <p:nvSpPr>
          <p:cNvPr id="4" name="Shape 4"/>
          <p:cNvSpPr txBox="1"/>
          <p:nvPr/>
        </p:nvSpPr>
        <p:spPr>
          <a:xfrm>
            <a:off x="685800" y="18089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1. Use the </a:t>
            </a:r>
            <a:r>
              <a:rPr lang="en-US" sz="2250" dirty="0" b="1">
                <a:solidFill>
                  <a:srgbClr val="16171D"/>
                </a:solidFill>
                <a:latin typeface="Segoe UI"/>
                <a:cs typeface="Segoe UI"/>
              </a:rPr>
              <a:t xml:space="preserve">slope formula</a:t>
            </a:r>
            <a:r>
              <a:rPr lang="en-US" sz="2250" dirty="0">
                <a:solidFill>
                  <a:srgbClr val="16171D"/>
                </a:solidFill>
                <a:latin typeface="Segoe UI"/>
                <a:cs typeface="Segoe UI"/>
              </a:rPr>
              <a:t xml:space="preserve"> to derive the point-slope form of a linear equation.</a:t>
            </a:r>
            <a:endParaRPr lang="en-US" sz="2250" dirty="0"/>
          </a:p>
        </p:txBody>
      </p:sp>
      <p:sp>
        <p:nvSpPr>
          <p:cNvPr id="5" name="Shape 5"/>
          <p:cNvSpPr txBox="1"/>
          <p:nvPr/>
        </p:nvSpPr>
        <p:spPr>
          <a:xfrm>
            <a:off x="685800" y="279730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2. Write an equation in </a:t>
            </a:r>
            <a:r>
              <a:rPr lang="en-US" sz="2250" dirty="0" b="1">
                <a:solidFill>
                  <a:srgbClr val="16171D"/>
                </a:solidFill>
                <a:latin typeface="Segoe UI"/>
                <a:cs typeface="Segoe UI"/>
              </a:rPr>
              <a:t xml:space="preserve">point-slope form</a:t>
            </a:r>
            <a:r>
              <a:rPr lang="en-US" sz="2250" dirty="0">
                <a:solidFill>
                  <a:srgbClr val="16171D"/>
                </a:solidFill>
                <a:latin typeface="Segoe UI"/>
                <a:cs typeface="Segoe UI"/>
              </a:rPr>
              <a:t xml:space="preserve"> to model a linear relationship between two quantities.</a:t>
            </a:r>
            <a:endParaRPr lang="en-US" sz="2250" dirty="0"/>
          </a:p>
        </p:txBody>
      </p:sp>
      <p:sp>
        <p:nvSpPr>
          <p:cNvPr id="6" name="Shape 6"/>
          <p:cNvSpPr txBox="1"/>
          <p:nvPr/>
        </p:nvSpPr>
        <p:spPr>
          <a:xfrm>
            <a:off x="685800" y="3785616"/>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3. Write equations for </a:t>
            </a:r>
            <a:r>
              <a:rPr lang="en-US" sz="2250" dirty="0" b="1">
                <a:solidFill>
                  <a:srgbClr val="16171D"/>
                </a:solidFill>
                <a:latin typeface="Segoe UI"/>
                <a:cs typeface="Segoe UI"/>
              </a:rPr>
              <a:t xml:space="preserve">vertical</a:t>
            </a:r>
            <a:r>
              <a:rPr lang="en-US" sz="2250" dirty="0">
                <a:solidFill>
                  <a:srgbClr val="16171D"/>
                </a:solidFill>
                <a:latin typeface="Segoe UI"/>
                <a:cs typeface="Segoe UI"/>
              </a:rPr>
              <a:t xml:space="preserve"> and </a:t>
            </a:r>
            <a:r>
              <a:rPr lang="en-US" sz="2250" dirty="0" b="1">
                <a:solidFill>
                  <a:srgbClr val="16171D"/>
                </a:solidFill>
                <a:latin typeface="Segoe UI"/>
                <a:cs typeface="Segoe UI"/>
              </a:rPr>
              <a:t xml:space="preserve">horizontal</a:t>
            </a:r>
            <a:r>
              <a:rPr lang="en-US" sz="2250" dirty="0">
                <a:solidFill>
                  <a:srgbClr val="16171D"/>
                </a:solidFill>
                <a:latin typeface="Segoe UI"/>
                <a:cs typeface="Segoe UI"/>
              </a:rPr>
              <a:t xml:space="preserve"> lines.</a:t>
            </a:r>
            <a:endParaRPr lang="en-US" sz="2250" dirty="0"/>
          </a:p>
        </p:txBody>
      </p:sp>
      <p:sp>
        <p:nvSpPr>
          <p:cNvPr id="7" name="Slide Number 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 · Key Vocabulary</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Key vocabulary</a:t>
            </a:r>
            <a:endParaRPr lang="en-US" sz="3450" dirty="0"/>
          </a:p>
        </p:txBody>
      </p:sp>
      <p:sp>
        <p:nvSpPr>
          <p:cNvPr id="7" name="Shape 7"/>
          <p:cNvSpPr txBox="1"/>
          <p:nvPr/>
        </p:nvSpPr>
        <p:spPr>
          <a:xfrm>
            <a:off x="685800"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 (</a:t>
            </a:r>
            <a:r>
              <a:rPr lang="en-US" sz="2100" dirty="0" b="1" i="1">
                <a:solidFill>
                  <a:srgbClr val="16171D"/>
                </a:solidFill>
                <a:latin typeface="Segoe UI"/>
                <a:cs typeface="Segoe UI"/>
              </a:rPr>
              <a:t xml:space="preserve">m</a:t>
            </a:r>
            <a:r>
              <a:rPr lang="en-US" sz="2100" dirty="0" b="1">
                <a:solidFill>
                  <a:srgbClr val="16171D"/>
                </a:solidFill>
                <a:latin typeface="Segoe UI"/>
                <a:cs typeface="Segoe UI"/>
              </a:rPr>
              <a:t xml:space="preserve">)</a:t>
            </a:r>
            <a:endParaRPr lang="en-US" sz="2100" dirty="0"/>
          </a:p>
        </p:txBody>
      </p:sp>
      <p:sp>
        <p:nvSpPr>
          <p:cNvPr id="5" name="Shape 5"/>
          <p:cNvSpPr txBox="1"/>
          <p:nvPr/>
        </p:nvSpPr>
        <p:spPr>
          <a:xfrm>
            <a:off x="895350"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How steep a line is: the change in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divided by the change in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a:t>
            </a:r>
            <a:endParaRPr lang="en-US" sz="1575" dirty="0"/>
          </a:p>
        </p:txBody>
      </p:sp>
      <p:sp>
        <p:nvSpPr>
          <p:cNvPr id="6" name="Shape 6"/>
          <p:cNvSpPr txBox="1"/>
          <p:nvPr/>
        </p:nvSpPr>
        <p:spPr>
          <a:xfrm>
            <a:off x="895350" y="313029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rise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run</a:t>
            </a:r>
            <a:endParaRPr lang="en-US" sz="2325" dirty="0"/>
          </a:p>
        </p:txBody>
      </p:sp>
      <p:sp>
        <p:nvSpPr>
          <p:cNvPr id="11" name="Shape 11"/>
          <p:cNvSpPr txBox="1"/>
          <p:nvPr/>
        </p:nvSpPr>
        <p:spPr>
          <a:xfrm>
            <a:off x="4349648"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-intercept</a:t>
            </a:r>
            <a:endParaRPr lang="en-US" sz="2100" dirty="0"/>
          </a:p>
        </p:txBody>
      </p:sp>
      <p:sp>
        <p:nvSpPr>
          <p:cNvPr id="9" name="Shape 9"/>
          <p:cNvSpPr txBox="1"/>
          <p:nvPr/>
        </p:nvSpPr>
        <p:spPr>
          <a:xfrm>
            <a:off x="4559198"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Where the line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 The point is (0,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a:t>
            </a:r>
            <a:endParaRPr lang="en-US" sz="1575" dirty="0"/>
          </a:p>
        </p:txBody>
      </p:sp>
      <p:sp>
        <p:nvSpPr>
          <p:cNvPr id="10" name="Shape 10"/>
          <p:cNvSpPr txBox="1"/>
          <p:nvPr/>
        </p:nvSpPr>
        <p:spPr>
          <a:xfrm>
            <a:off x="4559198"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+ 5</a:t>
            </a:r>
            <a:r>
              <a:rPr lang="en-US" sz="2325" dirty="0">
                <a:solidFill>
                  <a:srgbClr val="16171D"/>
                </a:solidFill>
                <a:latin typeface="Cambria"/>
                <a:cs typeface="Cambria"/>
              </a:rPr>
              <a:t xml:space="preserve"> → (0, 5)</a:t>
            </a:r>
            <a:endParaRPr lang="en-US" sz="2325" dirty="0"/>
          </a:p>
        </p:txBody>
      </p:sp>
      <p:sp>
        <p:nvSpPr>
          <p:cNvPr id="15" name="Shape 15"/>
          <p:cNvSpPr txBox="1"/>
          <p:nvPr/>
        </p:nvSpPr>
        <p:spPr>
          <a:xfrm>
            <a:off x="8013497" y="1618488"/>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13" name="Shape 13"/>
          <p:cNvSpPr txBox="1"/>
          <p:nvPr/>
        </p:nvSpPr>
        <p:spPr>
          <a:xfrm>
            <a:off x="8223047" y="226009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An equation that uses the slope and </a:t>
            </a:r>
            <a:r>
              <a:rPr lang="en-US" sz="1575" dirty="0" b="1">
                <a:solidFill>
                  <a:srgbClr val="16171D"/>
                </a:solidFill>
                <a:latin typeface="Segoe UI"/>
                <a:cs typeface="Segoe UI"/>
              </a:rPr>
              <a:t xml:space="preserve">any</a:t>
            </a:r>
            <a:r>
              <a:rPr lang="en-US" sz="1575" dirty="0">
                <a:solidFill>
                  <a:srgbClr val="16171D"/>
                </a:solidFill>
                <a:latin typeface="Segoe UI"/>
                <a:cs typeface="Segoe UI"/>
              </a:rPr>
              <a:t xml:space="preserve"> point on the line.</a:t>
            </a:r>
            <a:endParaRPr lang="en-US" sz="1575" dirty="0"/>
          </a:p>
        </p:txBody>
      </p:sp>
      <p:sp>
        <p:nvSpPr>
          <p:cNvPr id="14" name="Shape 14"/>
          <p:cNvSpPr txBox="1"/>
          <p:nvPr/>
        </p:nvSpPr>
        <p:spPr>
          <a:xfrm>
            <a:off x="8223047" y="289026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19" name="Shape 19"/>
          <p:cNvSpPr txBox="1"/>
          <p:nvPr/>
        </p:nvSpPr>
        <p:spPr>
          <a:xfrm>
            <a:off x="685800"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895350"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line</a:t>
            </a:r>
            <a:endParaRPr lang="en-US" sz="2100" dirty="0"/>
          </a:p>
        </p:txBody>
      </p:sp>
      <p:sp>
        <p:nvSpPr>
          <p:cNvPr id="17" name="Shape 17"/>
          <p:cNvSpPr txBox="1"/>
          <p:nvPr/>
        </p:nvSpPr>
        <p:spPr>
          <a:xfrm>
            <a:off x="895350"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flat line. Slope is 0. The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endParaRPr lang="en-US" sz="1575" dirty="0"/>
          </a:p>
        </p:txBody>
      </p:sp>
      <p:sp>
        <p:nvSpPr>
          <p:cNvPr id="18" name="Shape 18"/>
          <p:cNvSpPr txBox="1"/>
          <p:nvPr/>
        </p:nvSpPr>
        <p:spPr>
          <a:xfrm>
            <a:off x="895350"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23" name="Shape 23"/>
          <p:cNvSpPr txBox="1"/>
          <p:nvPr/>
        </p:nvSpPr>
        <p:spPr>
          <a:xfrm>
            <a:off x="4349648"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0" name="Shape 20"/>
          <p:cNvSpPr txBox="1"/>
          <p:nvPr/>
        </p:nvSpPr>
        <p:spPr>
          <a:xfrm>
            <a:off x="4559198"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Vertical line</a:t>
            </a:r>
            <a:endParaRPr lang="en-US" sz="2100" dirty="0"/>
          </a:p>
        </p:txBody>
      </p:sp>
      <p:sp>
        <p:nvSpPr>
          <p:cNvPr id="21" name="Shape 21"/>
          <p:cNvSpPr txBox="1"/>
          <p:nvPr/>
        </p:nvSpPr>
        <p:spPr>
          <a:xfrm>
            <a:off x="4559198" y="4523994"/>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 straight up-and-down line. Slope is undefined. The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2" name="Shape 22"/>
          <p:cNvSpPr txBox="1"/>
          <p:nvPr/>
        </p:nvSpPr>
        <p:spPr>
          <a:xfrm>
            <a:off x="4559198" y="539419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27" name="Shape 27"/>
          <p:cNvSpPr txBox="1"/>
          <p:nvPr/>
        </p:nvSpPr>
        <p:spPr>
          <a:xfrm>
            <a:off x="8013497" y="3882390"/>
            <a:ext cx="3492398" cy="209245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24" name="Shape 24"/>
          <p:cNvSpPr txBox="1"/>
          <p:nvPr/>
        </p:nvSpPr>
        <p:spPr>
          <a:xfrm>
            <a:off x="8223047" y="4053840"/>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Constant function</a:t>
            </a:r>
            <a:endParaRPr lang="en-US" sz="2100" dirty="0"/>
          </a:p>
        </p:txBody>
      </p:sp>
      <p:sp>
        <p:nvSpPr>
          <p:cNvPr id="25" name="Shape 25"/>
          <p:cNvSpPr txBox="1"/>
          <p:nvPr/>
        </p:nvSpPr>
        <p:spPr>
          <a:xfrm>
            <a:off x="8223047" y="4523994"/>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output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the same number.</a:t>
            </a:r>
            <a:endParaRPr lang="en-US" sz="1575" dirty="0"/>
          </a:p>
        </p:txBody>
      </p:sp>
      <p:sp>
        <p:nvSpPr>
          <p:cNvPr id="26" name="Shape 26"/>
          <p:cNvSpPr txBox="1"/>
          <p:nvPr/>
        </p:nvSpPr>
        <p:spPr>
          <a:xfrm>
            <a:off x="8223047" y="515416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28" name="Slide Number 2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5</a:t>
            </a:fld>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SE p. 201</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 already know slope-intercept form, </a:t>
            </a:r>
            <a:r>
              <a:rPr lang="en-US" sz="3450" dirty="0" b="1" i="1">
                <a:solidFill>
                  <a:srgbClr val="16171D"/>
                </a:solidFill>
                <a:latin typeface="Cambria"/>
                <a:cs typeface="Cambria"/>
              </a:rPr>
              <a:t xml:space="preserve">y</a:t>
            </a:r>
            <a:r>
              <a:rPr lang="en-US" sz="3450" dirty="0" b="1">
                <a:solidFill>
                  <a:srgbClr val="16171D"/>
                </a:solidFill>
                <a:latin typeface="Cambria"/>
                <a:cs typeface="Cambria"/>
              </a:rPr>
              <a:t xml:space="preserve"> = </a:t>
            </a:r>
            <a:r>
              <a:rPr lang="en-US" sz="3450" dirty="0" b="1" i="1">
                <a:solidFill>
                  <a:srgbClr val="C9561F"/>
                </a:solidFill>
                <a:latin typeface="Cambria"/>
                <a:cs typeface="Cambria"/>
              </a:rPr>
              <a:t xml:space="preserve">m</a:t>
            </a:r>
            <a:r>
              <a:rPr lang="en-US" sz="3450" dirty="0" b="1" i="1">
                <a:solidFill>
                  <a:srgbClr val="16171D"/>
                </a:solidFill>
                <a:latin typeface="Cambria"/>
                <a:cs typeface="Cambria"/>
              </a:rPr>
              <a:t xml:space="preserve">x</a:t>
            </a:r>
            <a:r>
              <a:rPr lang="en-US" sz="3450" dirty="0" b="1">
                <a:solidFill>
                  <a:srgbClr val="16171D"/>
                </a:solidFill>
                <a:latin typeface="Cambria"/>
                <a:cs typeface="Cambria"/>
              </a:rPr>
              <a:t xml:space="preserve"> + </a:t>
            </a:r>
            <a:r>
              <a:rPr lang="en-US" sz="3450" dirty="0" b="1" i="1">
                <a:solidFill>
                  <a:srgbClr val="16171D"/>
                </a:solidFill>
                <a:latin typeface="Cambria"/>
                <a:cs typeface="Cambria"/>
              </a:rPr>
              <a:t xml:space="preserve">b</a:t>
            </a:r>
            <a:r>
              <a:rPr lang="en-US" sz="3450" dirty="0" b="1">
                <a:solidFill>
                  <a:srgbClr val="16171D"/>
                </a:solidFill>
                <a:latin typeface="Segoe UI"/>
                <a:cs typeface="Segoe UI"/>
              </a:rPr>
              <a:t xml:space="preserve">.</a:t>
            </a:r>
            <a:endParaRPr lang="en-US" sz="3450" dirty="0"/>
          </a:p>
        </p:txBody>
      </p:sp>
      <p:sp>
        <p:nvSpPr>
          <p:cNvPr id="4" name="Shape 4"/>
          <p:cNvSpPr txBox="1"/>
          <p:nvPr/>
        </p:nvSpPr>
        <p:spPr>
          <a:xfrm>
            <a:off x="685800" y="2525268"/>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Are there </a:t>
            </a:r>
            <a:r>
              <a:rPr lang="en-US" sz="2700" dirty="0" b="1">
                <a:solidFill>
                  <a:srgbClr val="16171D"/>
                </a:solidFill>
                <a:latin typeface="Segoe UI"/>
                <a:cs typeface="Segoe UI"/>
              </a:rPr>
              <a:t xml:space="preserve">other forms</a:t>
            </a:r>
            <a:r>
              <a:rPr lang="en-US" sz="2700" dirty="0">
                <a:solidFill>
                  <a:srgbClr val="16171D"/>
                </a:solidFill>
                <a:latin typeface="Segoe UI"/>
                <a:cs typeface="Segoe UI"/>
              </a:rPr>
              <a:t xml:space="preserve"> of a linear equation that you can use?</a:t>
            </a:r>
            <a:endParaRPr lang="en-US" sz="2700" dirty="0"/>
          </a:p>
        </p:txBody>
      </p:sp>
      <p:sp>
        <p:nvSpPr>
          <p:cNvPr id="5" name="Shape 5"/>
          <p:cNvSpPr txBox="1"/>
          <p:nvPr/>
        </p:nvSpPr>
        <p:spPr>
          <a:xfrm>
            <a:off x="685800" y="3277362"/>
            <a:ext cx="10820095" cy="466344"/>
          </a:xfrm>
          <a:prstGeom prst="rect">
            <a:avLst/>
          </a:prstGeom>
          <a:noFill/>
          <a:ln>
            <a:noFill/>
          </a:ln>
        </p:spPr>
        <p:txBody>
          <a:bodyPr wrap="square" lIns="36576" tIns="27432" rIns="36576" bIns="27432" anchor="t">
            <a:noAutofit/>
          </a:bodyPr>
          <a:lstStyle/>
          <a:p>
            <a:pPr algn="l">
              <a:lnSpc>
                <a:spcPct val="100000"/>
              </a:lnSpc>
            </a:pPr>
            <a:r>
              <a:rPr lang="en-US" sz="2700" dirty="0">
                <a:solidFill>
                  <a:srgbClr val="16171D"/>
                </a:solidFill>
                <a:latin typeface="Segoe UI"/>
                <a:cs typeface="Segoe UI"/>
              </a:rPr>
              <a:t xml:space="preserve">How do you write equations for </a:t>
            </a:r>
            <a:r>
              <a:rPr lang="en-US" sz="2700" dirty="0" b="1">
                <a:solidFill>
                  <a:srgbClr val="16171D"/>
                </a:solidFill>
                <a:latin typeface="Segoe UI"/>
                <a:cs typeface="Segoe UI"/>
              </a:rPr>
              <a:t xml:space="preserve">horizontal</a:t>
            </a:r>
            <a:r>
              <a:rPr lang="en-US" sz="2700" dirty="0">
                <a:solidFill>
                  <a:srgbClr val="16171D"/>
                </a:solidFill>
                <a:latin typeface="Segoe UI"/>
                <a:cs typeface="Segoe UI"/>
              </a:rPr>
              <a:t xml:space="preserve"> and </a:t>
            </a:r>
            <a:r>
              <a:rPr lang="en-US" sz="2700" dirty="0" b="1">
                <a:solidFill>
                  <a:srgbClr val="16171D"/>
                </a:solidFill>
                <a:latin typeface="Segoe UI"/>
                <a:cs typeface="Segoe UI"/>
              </a:rPr>
              <a:t xml:space="preserve">vertical</a:t>
            </a:r>
            <a:r>
              <a:rPr lang="en-US" sz="2700" dirty="0">
                <a:solidFill>
                  <a:srgbClr val="16171D"/>
                </a:solidFill>
                <a:latin typeface="Segoe UI"/>
                <a:cs typeface="Segoe UI"/>
              </a:rPr>
              <a:t xml:space="preserve"> lines?</a:t>
            </a:r>
            <a:endParaRPr lang="en-US" sz="2700" dirty="0"/>
          </a:p>
        </p:txBody>
      </p:sp>
      <p:sp>
        <p:nvSpPr>
          <p:cNvPr id="6" name="Slide Number 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A</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Miguel and Nia drain the community pools. Write each equation in slope-intercept form,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mx</a:t>
            </a:r>
            <a:r>
              <a:rPr lang="en-US" sz="1575" dirty="0">
                <a:solidFill>
                  <a:srgbClr val="5F6272"/>
                </a:solidFill>
                <a:latin typeface="Cambria"/>
                <a:cs typeface="Cambria"/>
              </a:rPr>
              <a:t xml:space="preserve"> + </a:t>
            </a:r>
            <a:r>
              <a:rPr lang="en-US" sz="1575" dirty="0" i="1">
                <a:solidFill>
                  <a:srgbClr val="5F6272"/>
                </a:solidFill>
                <a:latin typeface="Cambria"/>
                <a:cs typeface="Cambria"/>
              </a:rPr>
              <a:t xml:space="preserve">b</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A is at a water level of </a:t>
            </a:r>
            <a:r>
              <a:rPr lang="en-US" sz="2250" dirty="0" b="1">
                <a:solidFill>
                  <a:srgbClr val="16171D"/>
                </a:solidFill>
                <a:latin typeface="Segoe UI"/>
                <a:cs typeface="Segoe UI"/>
              </a:rPr>
              <a:t xml:space="preserve">14 feet</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3 feet per hour</a:t>
            </a:r>
            <a:r>
              <a:rPr lang="en-US" sz="2250" dirty="0">
                <a:solidFill>
                  <a:srgbClr val="16171D"/>
                </a:solidFill>
                <a:latin typeface="Segoe UI"/>
                <a:cs typeface="Segoe UI"/>
              </a:rPr>
              <a:t xml:space="preserve">.</a:t>
            </a:r>
            <a:endParaRPr lang="en-US" sz="2250" dirty="0"/>
          </a:p>
        </p:txBody>
      </p:sp>
      <p:sp>
        <p:nvSpPr>
          <p:cNvPr id="6" name="Shape 6"/>
          <p:cNvSpPr txBox="1"/>
          <p:nvPr/>
        </p:nvSpPr>
        <p:spPr>
          <a:xfrm>
            <a:off x="685800" y="2996946"/>
            <a:ext cx="76196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Let </a:t>
            </a:r>
            <a:r>
              <a:rPr lang="en-US" sz="1575" dirty="0" i="1">
                <a:solidFill>
                  <a:srgbClr val="5F6272"/>
                </a:solidFill>
                <a:latin typeface="Cambria"/>
                <a:cs typeface="Cambria"/>
              </a:rPr>
              <a:t xml:space="preserve">x</a:t>
            </a:r>
            <a:r>
              <a:rPr lang="en-US" sz="1575" dirty="0">
                <a:solidFill>
                  <a:srgbClr val="5F6272"/>
                </a:solidFill>
                <a:latin typeface="Segoe UI"/>
                <a:cs typeface="Segoe UI"/>
              </a:rPr>
              <a:t xml:space="preserve"> = hours of draining and </a:t>
            </a:r>
            <a:r>
              <a:rPr lang="en-US" sz="1575" dirty="0" i="1">
                <a:solidFill>
                  <a:srgbClr val="5F6272"/>
                </a:solidFill>
                <a:latin typeface="Cambria"/>
                <a:cs typeface="Cambria"/>
              </a:rPr>
              <a:t xml:space="preserve">y</a:t>
            </a:r>
            <a:r>
              <a:rPr lang="en-US" sz="1575" dirty="0">
                <a:solidFill>
                  <a:srgbClr val="5F6272"/>
                </a:solidFill>
                <a:latin typeface="Segoe UI"/>
                <a:cs typeface="Segoe UI"/>
              </a:rPr>
              <a:t xml:space="preserve"> = water level in feet.</a:t>
            </a:r>
            <a:endParaRPr lang="en-US" sz="1575" dirty="0"/>
          </a:p>
        </p:txBody>
      </p:sp>
      <p:sp>
        <p:nvSpPr>
          <p:cNvPr id="7" name="Shape 7"/>
          <p:cNvSpPr txBox="1"/>
          <p:nvPr/>
        </p:nvSpPr>
        <p:spPr>
          <a:xfrm>
            <a:off x="685800" y="3463290"/>
            <a:ext cx="76196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 starts at 14 feet, so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 is </a:t>
            </a:r>
            <a:r>
              <a:rPr lang="en-US" sz="2325" dirty="0" i="1">
                <a:solidFill>
                  <a:srgbClr val="16171D"/>
                </a:solidFill>
                <a:latin typeface="Cambria"/>
                <a:cs typeface="Cambria"/>
              </a:rPr>
              <a:t xml:space="preserve">b</a:t>
            </a:r>
            <a:r>
              <a:rPr lang="en-US" sz="2325" dirty="0">
                <a:solidFill>
                  <a:srgbClr val="16171D"/>
                </a:solidFill>
                <a:latin typeface="Cambria"/>
                <a:cs typeface="Cambria"/>
              </a:rPr>
              <a:t xml:space="preserve"> = 14</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986784"/>
            <a:ext cx="76196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level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3 feet each hour, so the slope is negative: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−3</a:t>
            </a:r>
            <a:r>
              <a:rPr lang="en-US" sz="1950" dirty="0">
                <a:solidFill>
                  <a:srgbClr val="16171D"/>
                </a:solidFill>
                <a:latin typeface="Segoe UI"/>
                <a:cs typeface="Segoe UI"/>
              </a:rPr>
              <a:t xml:space="preserve">.</a:t>
            </a:r>
            <a:endParaRPr lang="en-US" sz="1950" dirty="0"/>
          </a:p>
        </p:txBody>
      </p:sp>
      <p:sp>
        <p:nvSpPr>
          <p:cNvPr id="9" name="Shape 9"/>
          <p:cNvSpPr txBox="1"/>
          <p:nvPr/>
        </p:nvSpPr>
        <p:spPr>
          <a:xfrm>
            <a:off x="685800" y="4807458"/>
            <a:ext cx="4689318"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+ 14</a:t>
            </a:r>
            <a:endParaRPr lang="en-US" sz="2850" dirty="0"/>
          </a:p>
        </p:txBody>
      </p:sp>
      <p:sp>
        <p:nvSpPr>
          <p:cNvPr id="10" name="Shape 10"/>
          <p:cNvSpPr/>
          <p:nvPr/>
        </p:nvSpPr>
        <p:spPr>
          <a:xfrm>
            <a:off x="8648395" y="2996946"/>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972245" y="3111246"/>
            <a:ext cx="0" cy="2781300"/>
          </a:xfrm>
          <a:prstGeom prst="line">
            <a:avLst/>
          </a:prstGeom>
          <a:ln w="9525" cap="flat">
            <a:solidFill>
              <a:srgbClr val="E6E8F2"/>
            </a:solidFill>
          </a:ln>
        </p:spPr>
      </p:cxnSp>
      <p:cxnSp>
        <p:nvCxnSpPr>
          <p:cNvPr id="12" name="Line 12"/>
          <p:cNvCxnSpPr/>
          <p:nvPr/>
        </p:nvCxnSpPr>
        <p:spPr>
          <a:xfrm>
            <a:off x="9173858" y="3111246"/>
            <a:ext cx="0" cy="2781300"/>
          </a:xfrm>
          <a:prstGeom prst="line">
            <a:avLst/>
          </a:prstGeom>
          <a:ln w="9525" cap="flat">
            <a:solidFill>
              <a:srgbClr val="E6E8F2"/>
            </a:solidFill>
          </a:ln>
        </p:spPr>
      </p:cxnSp>
      <p:cxnSp>
        <p:nvCxnSpPr>
          <p:cNvPr id="13" name="Line 13"/>
          <p:cNvCxnSpPr/>
          <p:nvPr/>
        </p:nvCxnSpPr>
        <p:spPr>
          <a:xfrm>
            <a:off x="9375470" y="3111246"/>
            <a:ext cx="0" cy="2781300"/>
          </a:xfrm>
          <a:prstGeom prst="line">
            <a:avLst/>
          </a:prstGeom>
          <a:ln w="9525" cap="flat">
            <a:solidFill>
              <a:srgbClr val="E6E8F2"/>
            </a:solidFill>
          </a:ln>
        </p:spPr>
      </p:cxnSp>
      <p:cxnSp>
        <p:nvCxnSpPr>
          <p:cNvPr id="14" name="Line 14"/>
          <p:cNvCxnSpPr/>
          <p:nvPr/>
        </p:nvCxnSpPr>
        <p:spPr>
          <a:xfrm>
            <a:off x="9577083" y="3111246"/>
            <a:ext cx="0" cy="2781300"/>
          </a:xfrm>
          <a:prstGeom prst="line">
            <a:avLst/>
          </a:prstGeom>
          <a:ln w="9525" cap="flat">
            <a:solidFill>
              <a:srgbClr val="E6E8F2"/>
            </a:solidFill>
          </a:ln>
        </p:spPr>
      </p:cxnSp>
      <p:cxnSp>
        <p:nvCxnSpPr>
          <p:cNvPr id="15" name="Line 15"/>
          <p:cNvCxnSpPr/>
          <p:nvPr/>
        </p:nvCxnSpPr>
        <p:spPr>
          <a:xfrm>
            <a:off x="9778695" y="3111246"/>
            <a:ext cx="0" cy="2781300"/>
          </a:xfrm>
          <a:prstGeom prst="line">
            <a:avLst/>
          </a:prstGeom>
          <a:ln w="9525" cap="flat">
            <a:solidFill>
              <a:srgbClr val="E6E8F2"/>
            </a:solidFill>
          </a:ln>
        </p:spPr>
      </p:cxnSp>
      <p:cxnSp>
        <p:nvCxnSpPr>
          <p:cNvPr id="16" name="Line 16"/>
          <p:cNvCxnSpPr/>
          <p:nvPr/>
        </p:nvCxnSpPr>
        <p:spPr>
          <a:xfrm>
            <a:off x="9980308" y="3111246"/>
            <a:ext cx="0" cy="2781300"/>
          </a:xfrm>
          <a:prstGeom prst="line">
            <a:avLst/>
          </a:prstGeom>
          <a:ln w="9525" cap="flat">
            <a:solidFill>
              <a:srgbClr val="E6E8F2"/>
            </a:solidFill>
          </a:ln>
        </p:spPr>
      </p:cxnSp>
      <p:cxnSp>
        <p:nvCxnSpPr>
          <p:cNvPr id="17" name="Line 17"/>
          <p:cNvCxnSpPr/>
          <p:nvPr/>
        </p:nvCxnSpPr>
        <p:spPr>
          <a:xfrm>
            <a:off x="10181920" y="3111246"/>
            <a:ext cx="0" cy="2781300"/>
          </a:xfrm>
          <a:prstGeom prst="line">
            <a:avLst/>
          </a:prstGeom>
          <a:ln w="9525" cap="flat">
            <a:solidFill>
              <a:srgbClr val="E6E8F2"/>
            </a:solidFill>
          </a:ln>
        </p:spPr>
      </p:cxnSp>
      <p:cxnSp>
        <p:nvCxnSpPr>
          <p:cNvPr id="18" name="Line 18"/>
          <p:cNvCxnSpPr/>
          <p:nvPr/>
        </p:nvCxnSpPr>
        <p:spPr>
          <a:xfrm>
            <a:off x="10383533" y="3111246"/>
            <a:ext cx="0" cy="2781300"/>
          </a:xfrm>
          <a:prstGeom prst="line">
            <a:avLst/>
          </a:prstGeom>
          <a:ln w="9525" cap="flat">
            <a:solidFill>
              <a:srgbClr val="E6E8F2"/>
            </a:solidFill>
          </a:ln>
        </p:spPr>
      </p:cxnSp>
      <p:cxnSp>
        <p:nvCxnSpPr>
          <p:cNvPr id="19" name="Line 19"/>
          <p:cNvCxnSpPr/>
          <p:nvPr/>
        </p:nvCxnSpPr>
        <p:spPr>
          <a:xfrm>
            <a:off x="10585145" y="3111246"/>
            <a:ext cx="0" cy="2781300"/>
          </a:xfrm>
          <a:prstGeom prst="line">
            <a:avLst/>
          </a:prstGeom>
          <a:ln w="9525" cap="flat">
            <a:solidFill>
              <a:srgbClr val="E6E8F2"/>
            </a:solidFill>
          </a:ln>
        </p:spPr>
      </p:cxnSp>
      <p:cxnSp>
        <p:nvCxnSpPr>
          <p:cNvPr id="20" name="Line 20"/>
          <p:cNvCxnSpPr/>
          <p:nvPr/>
        </p:nvCxnSpPr>
        <p:spPr>
          <a:xfrm>
            <a:off x="10786758" y="3111246"/>
            <a:ext cx="0" cy="2781300"/>
          </a:xfrm>
          <a:prstGeom prst="line">
            <a:avLst/>
          </a:prstGeom>
          <a:ln w="9525" cap="flat">
            <a:solidFill>
              <a:srgbClr val="E6E8F2"/>
            </a:solidFill>
          </a:ln>
        </p:spPr>
      </p:cxnSp>
      <p:cxnSp>
        <p:nvCxnSpPr>
          <p:cNvPr id="21" name="Line 21"/>
          <p:cNvCxnSpPr/>
          <p:nvPr/>
        </p:nvCxnSpPr>
        <p:spPr>
          <a:xfrm>
            <a:off x="10988370" y="3111246"/>
            <a:ext cx="0" cy="2781300"/>
          </a:xfrm>
          <a:prstGeom prst="line">
            <a:avLst/>
          </a:prstGeom>
          <a:ln w="9525" cap="flat">
            <a:solidFill>
              <a:srgbClr val="E6E8F2"/>
            </a:solidFill>
          </a:ln>
        </p:spPr>
      </p:cxnSp>
      <p:cxnSp>
        <p:nvCxnSpPr>
          <p:cNvPr id="22" name="Line 22"/>
          <p:cNvCxnSpPr/>
          <p:nvPr/>
        </p:nvCxnSpPr>
        <p:spPr>
          <a:xfrm>
            <a:off x="11189983" y="3111246"/>
            <a:ext cx="0" cy="2781300"/>
          </a:xfrm>
          <a:prstGeom prst="line">
            <a:avLst/>
          </a:prstGeom>
          <a:ln w="9525" cap="flat">
            <a:solidFill>
              <a:srgbClr val="E6E8F2"/>
            </a:solidFill>
          </a:ln>
        </p:spPr>
      </p:cxnSp>
      <p:cxnSp>
        <p:nvCxnSpPr>
          <p:cNvPr id="23" name="Line 23"/>
          <p:cNvCxnSpPr/>
          <p:nvPr/>
        </p:nvCxnSpPr>
        <p:spPr>
          <a:xfrm>
            <a:off x="11391595" y="3111246"/>
            <a:ext cx="0" cy="2781300"/>
          </a:xfrm>
          <a:prstGeom prst="line">
            <a:avLst/>
          </a:prstGeom>
          <a:ln w="9525" cap="flat">
            <a:solidFill>
              <a:srgbClr val="E6E8F2"/>
            </a:solidFill>
          </a:ln>
        </p:spPr>
      </p:cxnSp>
      <p:cxnSp>
        <p:nvCxnSpPr>
          <p:cNvPr id="24" name="Line 24"/>
          <p:cNvCxnSpPr/>
          <p:nvPr/>
        </p:nvCxnSpPr>
        <p:spPr>
          <a:xfrm>
            <a:off x="8972245" y="5892546"/>
            <a:ext cx="2419350" cy="0"/>
          </a:xfrm>
          <a:prstGeom prst="line">
            <a:avLst/>
          </a:prstGeom>
          <a:ln w="9525" cap="flat">
            <a:solidFill>
              <a:srgbClr val="E6E8F2"/>
            </a:solidFill>
          </a:ln>
        </p:spPr>
      </p:cxnSp>
      <p:cxnSp>
        <p:nvCxnSpPr>
          <p:cNvPr id="25" name="Line 25"/>
          <p:cNvCxnSpPr/>
          <p:nvPr/>
        </p:nvCxnSpPr>
        <p:spPr>
          <a:xfrm>
            <a:off x="8972245" y="5614416"/>
            <a:ext cx="2419350" cy="0"/>
          </a:xfrm>
          <a:prstGeom prst="line">
            <a:avLst/>
          </a:prstGeom>
          <a:ln w="9525" cap="flat">
            <a:solidFill>
              <a:srgbClr val="E6E8F2"/>
            </a:solidFill>
          </a:ln>
        </p:spPr>
      </p:cxnSp>
      <p:cxnSp>
        <p:nvCxnSpPr>
          <p:cNvPr id="26" name="Line 26"/>
          <p:cNvCxnSpPr/>
          <p:nvPr/>
        </p:nvCxnSpPr>
        <p:spPr>
          <a:xfrm>
            <a:off x="8972245" y="5336286"/>
            <a:ext cx="2419350" cy="0"/>
          </a:xfrm>
          <a:prstGeom prst="line">
            <a:avLst/>
          </a:prstGeom>
          <a:ln w="9525" cap="flat">
            <a:solidFill>
              <a:srgbClr val="E6E8F2"/>
            </a:solidFill>
          </a:ln>
        </p:spPr>
      </p:cxnSp>
      <p:cxnSp>
        <p:nvCxnSpPr>
          <p:cNvPr id="27" name="Line 27"/>
          <p:cNvCxnSpPr/>
          <p:nvPr/>
        </p:nvCxnSpPr>
        <p:spPr>
          <a:xfrm>
            <a:off x="8972245" y="5058156"/>
            <a:ext cx="2419350" cy="0"/>
          </a:xfrm>
          <a:prstGeom prst="line">
            <a:avLst/>
          </a:prstGeom>
          <a:ln w="9525" cap="flat">
            <a:solidFill>
              <a:srgbClr val="E6E8F2"/>
            </a:solidFill>
          </a:ln>
        </p:spPr>
      </p:cxnSp>
      <p:cxnSp>
        <p:nvCxnSpPr>
          <p:cNvPr id="28" name="Line 28"/>
          <p:cNvCxnSpPr/>
          <p:nvPr/>
        </p:nvCxnSpPr>
        <p:spPr>
          <a:xfrm>
            <a:off x="8972245" y="4780026"/>
            <a:ext cx="2419350" cy="0"/>
          </a:xfrm>
          <a:prstGeom prst="line">
            <a:avLst/>
          </a:prstGeom>
          <a:ln w="9525" cap="flat">
            <a:solidFill>
              <a:srgbClr val="E6E8F2"/>
            </a:solidFill>
          </a:ln>
        </p:spPr>
      </p:cxnSp>
      <p:cxnSp>
        <p:nvCxnSpPr>
          <p:cNvPr id="29" name="Line 29"/>
          <p:cNvCxnSpPr/>
          <p:nvPr/>
        </p:nvCxnSpPr>
        <p:spPr>
          <a:xfrm>
            <a:off x="8972245" y="4501896"/>
            <a:ext cx="2419350" cy="0"/>
          </a:xfrm>
          <a:prstGeom prst="line">
            <a:avLst/>
          </a:prstGeom>
          <a:ln w="9525" cap="flat">
            <a:solidFill>
              <a:srgbClr val="E6E8F2"/>
            </a:solidFill>
          </a:ln>
        </p:spPr>
      </p:cxnSp>
      <p:cxnSp>
        <p:nvCxnSpPr>
          <p:cNvPr id="30" name="Line 30"/>
          <p:cNvCxnSpPr/>
          <p:nvPr/>
        </p:nvCxnSpPr>
        <p:spPr>
          <a:xfrm>
            <a:off x="8972245" y="4223766"/>
            <a:ext cx="2419350" cy="0"/>
          </a:xfrm>
          <a:prstGeom prst="line">
            <a:avLst/>
          </a:prstGeom>
          <a:ln w="9525" cap="flat">
            <a:solidFill>
              <a:srgbClr val="E6E8F2"/>
            </a:solidFill>
          </a:ln>
        </p:spPr>
      </p:cxnSp>
      <p:cxnSp>
        <p:nvCxnSpPr>
          <p:cNvPr id="31" name="Line 31"/>
          <p:cNvCxnSpPr/>
          <p:nvPr/>
        </p:nvCxnSpPr>
        <p:spPr>
          <a:xfrm>
            <a:off x="8972245" y="3945636"/>
            <a:ext cx="2419350" cy="0"/>
          </a:xfrm>
          <a:prstGeom prst="line">
            <a:avLst/>
          </a:prstGeom>
          <a:ln w="9525" cap="flat">
            <a:solidFill>
              <a:srgbClr val="E6E8F2"/>
            </a:solidFill>
          </a:ln>
        </p:spPr>
      </p:cxnSp>
      <p:cxnSp>
        <p:nvCxnSpPr>
          <p:cNvPr id="32" name="Line 32"/>
          <p:cNvCxnSpPr/>
          <p:nvPr/>
        </p:nvCxnSpPr>
        <p:spPr>
          <a:xfrm>
            <a:off x="8972245" y="3667506"/>
            <a:ext cx="2419350" cy="0"/>
          </a:xfrm>
          <a:prstGeom prst="line">
            <a:avLst/>
          </a:prstGeom>
          <a:ln w="9525" cap="flat">
            <a:solidFill>
              <a:srgbClr val="E6E8F2"/>
            </a:solidFill>
          </a:ln>
        </p:spPr>
      </p:cxnSp>
      <p:cxnSp>
        <p:nvCxnSpPr>
          <p:cNvPr id="33" name="Line 33"/>
          <p:cNvCxnSpPr/>
          <p:nvPr/>
        </p:nvCxnSpPr>
        <p:spPr>
          <a:xfrm>
            <a:off x="8972245" y="3389376"/>
            <a:ext cx="2419350" cy="0"/>
          </a:xfrm>
          <a:prstGeom prst="line">
            <a:avLst/>
          </a:prstGeom>
          <a:ln w="9525" cap="flat">
            <a:solidFill>
              <a:srgbClr val="E6E8F2"/>
            </a:solidFill>
          </a:ln>
        </p:spPr>
      </p:cxnSp>
      <p:cxnSp>
        <p:nvCxnSpPr>
          <p:cNvPr id="34" name="Line 34"/>
          <p:cNvCxnSpPr/>
          <p:nvPr/>
        </p:nvCxnSpPr>
        <p:spPr>
          <a:xfrm>
            <a:off x="8972245" y="3111246"/>
            <a:ext cx="2419350" cy="0"/>
          </a:xfrm>
          <a:prstGeom prst="line">
            <a:avLst/>
          </a:prstGeom>
          <a:ln w="9525" cap="flat">
            <a:solidFill>
              <a:srgbClr val="E6E8F2"/>
            </a:solidFill>
          </a:ln>
        </p:spPr>
      </p:cxnSp>
      <p:cxnSp>
        <p:nvCxnSpPr>
          <p:cNvPr id="35" name="Line 35"/>
          <p:cNvCxnSpPr/>
          <p:nvPr/>
        </p:nvCxnSpPr>
        <p:spPr>
          <a:xfrm>
            <a:off x="8972245" y="3111246"/>
            <a:ext cx="0" cy="2781300"/>
          </a:xfrm>
          <a:prstGeom prst="line">
            <a:avLst/>
          </a:prstGeom>
          <a:ln w="19050" cap="flat">
            <a:solidFill>
              <a:srgbClr val="5F6272"/>
            </a:solidFill>
          </a:ln>
        </p:spPr>
      </p:cxnSp>
      <p:cxnSp>
        <p:nvCxnSpPr>
          <p:cNvPr id="36" name="Line 36"/>
          <p:cNvCxnSpPr/>
          <p:nvPr/>
        </p:nvCxnSpPr>
        <p:spPr>
          <a:xfrm>
            <a:off x="8972245" y="5892546"/>
            <a:ext cx="2419350" cy="0"/>
          </a:xfrm>
          <a:prstGeom prst="line">
            <a:avLst/>
          </a:prstGeom>
          <a:ln w="19050" cap="flat">
            <a:solidFill>
              <a:srgbClr val="5F6272"/>
            </a:solidFill>
          </a:ln>
        </p:spPr>
      </p:cxnSp>
      <p:sp>
        <p:nvSpPr>
          <p:cNvPr id="37" name="Shape 37"/>
          <p:cNvSpPr txBox="1"/>
          <p:nvPr/>
        </p:nvSpPr>
        <p:spPr>
          <a:xfrm>
            <a:off x="86979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1011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9" name="Shape 39"/>
          <p:cNvSpPr txBox="1"/>
          <p:nvPr/>
        </p:nvSpPr>
        <p:spPr>
          <a:xfrm>
            <a:off x="95043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0" name="Shape 40"/>
          <p:cNvSpPr txBox="1"/>
          <p:nvPr/>
        </p:nvSpPr>
        <p:spPr>
          <a:xfrm>
            <a:off x="990760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1" name="Shape 41"/>
          <p:cNvSpPr txBox="1"/>
          <p:nvPr/>
        </p:nvSpPr>
        <p:spPr>
          <a:xfrm>
            <a:off x="1031082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2" name="Shape 42"/>
          <p:cNvSpPr txBox="1"/>
          <p:nvPr/>
        </p:nvSpPr>
        <p:spPr>
          <a:xfrm>
            <a:off x="10714050"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3" name="Shape 43"/>
          <p:cNvSpPr txBox="1"/>
          <p:nvPr/>
        </p:nvSpPr>
        <p:spPr>
          <a:xfrm>
            <a:off x="11117275" y="5911596"/>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8405317" y="58011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8405317" y="524484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8405317" y="468858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7" name="Shape 47"/>
          <p:cNvSpPr txBox="1"/>
          <p:nvPr/>
        </p:nvSpPr>
        <p:spPr>
          <a:xfrm>
            <a:off x="8405317" y="413232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48" name="Shape 48"/>
          <p:cNvSpPr txBox="1"/>
          <p:nvPr/>
        </p:nvSpPr>
        <p:spPr>
          <a:xfrm>
            <a:off x="8405317" y="357606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49" name="Shape 49"/>
          <p:cNvSpPr txBox="1"/>
          <p:nvPr/>
        </p:nvSpPr>
        <p:spPr>
          <a:xfrm>
            <a:off x="8405317" y="301980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0" name="Line 50"/>
          <p:cNvCxnSpPr/>
          <p:nvPr/>
        </p:nvCxnSpPr>
        <p:spPr>
          <a:xfrm>
            <a:off x="8972245" y="3945636"/>
            <a:ext cx="940858" cy="1946910"/>
          </a:xfrm>
          <a:prstGeom prst="line">
            <a:avLst/>
          </a:prstGeom>
          <a:ln w="38100" cap="rnd">
            <a:solidFill>
              <a:srgbClr val="16171D"/>
            </a:solidFill>
          </a:ln>
        </p:spPr>
      </p:cxnSp>
      <p:sp>
        <p:nvSpPr>
          <p:cNvPr id="51" name="Shape 51"/>
          <p:cNvSpPr/>
          <p:nvPr/>
        </p:nvSpPr>
        <p:spPr>
          <a:xfrm>
            <a:off x="8919858" y="3893248"/>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057970" y="3697986"/>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(0, 14)</a:t>
            </a:r>
            <a:endParaRPr lang="en-US" sz="1125" dirty="0"/>
          </a:p>
        </p:txBody>
      </p: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244" fill="hold">
                      <p:stCondLst>
                        <p:cond delay="indefinite"/>
                      </p:stCondLst>
                      <p:childTnLst>
                        <p:par>
                          <p:cTn id="24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ppt_x</p:attrName>
                                        </p:attrNameLst>
                                      </p:cBhvr>
                                      <p:tavLst>
                                        <p:tav tm="0">
                                          <p:val>
                                            <p:strVal val="#ppt_x"/>
                                          </p:val>
                                        </p:tav>
                                        <p:tav tm="100000">
                                          <p:val>
                                            <p:strVal val="#ppt_x"/>
                                          </p:val>
                                        </p:tav>
                                      </p:tavLst>
                                    </p:anim>
                                    <p:anim calcmode="lin" valueType="num">
                                      <p:cBhvr>
                                        <p:cTn id="32" dur="500" fill="hold"/>
                                        <p:tgtEl>
                                          <p:spTgt spid="10"/>
                                        </p:tgtEl>
                                        <p:attrNameLst>
                                          <p:attrName>ppt_y</p:attrName>
                                        </p:attrNameLst>
                                      </p:cBhvr>
                                      <p:tavLst>
                                        <p:tav tm="0">
                                          <p:val>
                                            <p:strVal val="#ppt_y+.1"/>
                                          </p:val>
                                        </p:tav>
                                        <p:tav tm="100000">
                                          <p:val>
                                            <p:strVal val="#ppt_y"/>
                                          </p:val>
                                        </p:tav>
                                      </p:tavLst>
                                    </p:anim>
                                  </p:childTnLst>
                                </p:cTn>
                              </p:par>
                              <p:par>
                                <p:cTn id="38" presetID="42" presetClass="entr" presetSubtype="0" fill="hold" nodeType="withEffect">
                                  <p:stCondLst>
                                    <p:cond delay="0"/>
                                  </p:stCondLst>
                                  <p:childTnLst>
                                    <p:set>
                                      <p:cBhvr>
                                        <p:cTn id="34" dur="1" fill="hold">
                                          <p:stCondLst>
                                            <p:cond delay="0"/>
                                          </p:stCondLst>
                                        </p:cTn>
                                        <p:tgtEl>
                                          <p:spTgt spid="11"/>
                                        </p:tgtEl>
                                        <p:attrNameLst>
                                          <p:attrName>style.visibility</p:attrName>
                                        </p:attrNameLst>
                                      </p:cBhvr>
                                      <p:to>
                                        <p:strVal val="visible"/>
                                      </p:to>
                                    </p:set>
                                    <p:animEffect transition="in" filter="fade">
                                      <p:cBhvr>
                                        <p:cTn id="35" dur="500"/>
                                        <p:tgtEl>
                                          <p:spTgt spid="11"/>
                                        </p:tgtEl>
                                      </p:cBhvr>
                                    </p:animEffect>
                                    <p:anim calcmode="lin" valueType="num">
                                      <p:cBhvr>
                                        <p:cTn id="36" dur="500" fill="hold"/>
                                        <p:tgtEl>
                                          <p:spTgt spid="11"/>
                                        </p:tgtEl>
                                        <p:attrNameLst>
                                          <p:attrName>ppt_x</p:attrName>
                                        </p:attrNameLst>
                                      </p:cBhvr>
                                      <p:tavLst>
                                        <p:tav tm="0">
                                          <p:val>
                                            <p:strVal val="#ppt_x"/>
                                          </p:val>
                                        </p:tav>
                                        <p:tav tm="100000">
                                          <p:val>
                                            <p:strVal val="#ppt_x"/>
                                          </p:val>
                                        </p:tav>
                                      </p:tavLst>
                                    </p:anim>
                                    <p:anim calcmode="lin" valueType="num">
                                      <p:cBhvr>
                                        <p:cTn id="37" dur="500" fill="hold"/>
                                        <p:tgtEl>
                                          <p:spTgt spid="11"/>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anim calcmode="lin" valueType="num">
                                      <p:cBhvr>
                                        <p:cTn id="41" dur="500" fill="hold"/>
                                        <p:tgtEl>
                                          <p:spTgt spid="12"/>
                                        </p:tgtEl>
                                        <p:attrNameLst>
                                          <p:attrName>ppt_x</p:attrName>
                                        </p:attrNameLst>
                                      </p:cBhvr>
                                      <p:tavLst>
                                        <p:tav tm="0">
                                          <p:val>
                                            <p:strVal val="#ppt_x"/>
                                          </p:val>
                                        </p:tav>
                                        <p:tav tm="100000">
                                          <p:val>
                                            <p:strVal val="#ppt_x"/>
                                          </p:val>
                                        </p:tav>
                                      </p:tavLst>
                                    </p:anim>
                                    <p:anim calcmode="lin" valueType="num">
                                      <p:cBhvr>
                                        <p:cTn id="42" dur="500" fill="hold"/>
                                        <p:tgtEl>
                                          <p:spTgt spid="12"/>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3"/>
                                        </p:tgtEl>
                                        <p:attrNameLst>
                                          <p:attrName>style.visibility</p:attrName>
                                        </p:attrNameLst>
                                      </p:cBhvr>
                                      <p:to>
                                        <p:strVal val="visible"/>
                                      </p:to>
                                    </p:set>
                                    <p:animEffect transition="in" filter="fade">
                                      <p:cBhvr>
                                        <p:cTn id="45" dur="500"/>
                                        <p:tgtEl>
                                          <p:spTgt spid="13"/>
                                        </p:tgtEl>
                                      </p:cBhvr>
                                    </p:animEffect>
                                    <p:anim calcmode="lin" valueType="num">
                                      <p:cBhvr>
                                        <p:cTn id="46" dur="500" fill="hold"/>
                                        <p:tgtEl>
                                          <p:spTgt spid="13"/>
                                        </p:tgtEl>
                                        <p:attrNameLst>
                                          <p:attrName>ppt_x</p:attrName>
                                        </p:attrNameLst>
                                      </p:cBhvr>
                                      <p:tavLst>
                                        <p:tav tm="0">
                                          <p:val>
                                            <p:strVal val="#ppt_x"/>
                                          </p:val>
                                        </p:tav>
                                        <p:tav tm="100000">
                                          <p:val>
                                            <p:strVal val="#ppt_x"/>
                                          </p:val>
                                        </p:tav>
                                      </p:tavLst>
                                    </p:anim>
                                    <p:anim calcmode="lin" valueType="num">
                                      <p:cBhvr>
                                        <p:cTn id="47" dur="500" fill="hold"/>
                                        <p:tgtEl>
                                          <p:spTgt spid="13"/>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4"/>
                                        </p:tgtEl>
                                        <p:attrNameLst>
                                          <p:attrName>style.visibility</p:attrName>
                                        </p:attrNameLst>
                                      </p:cBhvr>
                                      <p:to>
                                        <p:strVal val="visible"/>
                                      </p:to>
                                    </p:set>
                                    <p:animEffect transition="in" filter="fade">
                                      <p:cBhvr>
                                        <p:cTn id="50" dur="500"/>
                                        <p:tgtEl>
                                          <p:spTgt spid="14"/>
                                        </p:tgtEl>
                                      </p:cBhvr>
                                    </p:animEffect>
                                    <p:anim calcmode="lin" valueType="num">
                                      <p:cBhvr>
                                        <p:cTn id="51" dur="500" fill="hold"/>
                                        <p:tgtEl>
                                          <p:spTgt spid="14"/>
                                        </p:tgtEl>
                                        <p:attrNameLst>
                                          <p:attrName>ppt_x</p:attrName>
                                        </p:attrNameLst>
                                      </p:cBhvr>
                                      <p:tavLst>
                                        <p:tav tm="0">
                                          <p:val>
                                            <p:strVal val="#ppt_x"/>
                                          </p:val>
                                        </p:tav>
                                        <p:tav tm="100000">
                                          <p:val>
                                            <p:strVal val="#ppt_x"/>
                                          </p:val>
                                        </p:tav>
                                      </p:tavLst>
                                    </p:anim>
                                    <p:anim calcmode="lin" valueType="num">
                                      <p:cBhvr>
                                        <p:cTn id="52" dur="500" fill="hold"/>
                                        <p:tgtEl>
                                          <p:spTgt spid="14"/>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5"/>
                                        </p:tgtEl>
                                        <p:attrNameLst>
                                          <p:attrName>style.visibility</p:attrName>
                                        </p:attrNameLst>
                                      </p:cBhvr>
                                      <p:to>
                                        <p:strVal val="visible"/>
                                      </p:to>
                                    </p:set>
                                    <p:animEffect transition="in" filter="fade">
                                      <p:cBhvr>
                                        <p:cTn id="55" dur="500"/>
                                        <p:tgtEl>
                                          <p:spTgt spid="15"/>
                                        </p:tgtEl>
                                      </p:cBhvr>
                                    </p:animEffect>
                                    <p:anim calcmode="lin" valueType="num">
                                      <p:cBhvr>
                                        <p:cTn id="56" dur="500" fill="hold"/>
                                        <p:tgtEl>
                                          <p:spTgt spid="15"/>
                                        </p:tgtEl>
                                        <p:attrNameLst>
                                          <p:attrName>ppt_x</p:attrName>
                                        </p:attrNameLst>
                                      </p:cBhvr>
                                      <p:tavLst>
                                        <p:tav tm="0">
                                          <p:val>
                                            <p:strVal val="#ppt_x"/>
                                          </p:val>
                                        </p:tav>
                                        <p:tav tm="100000">
                                          <p:val>
                                            <p:strVal val="#ppt_x"/>
                                          </p:val>
                                        </p:tav>
                                      </p:tavLst>
                                    </p:anim>
                                    <p:anim calcmode="lin" valueType="num">
                                      <p:cBhvr>
                                        <p:cTn id="57" dur="500" fill="hold"/>
                                        <p:tgtEl>
                                          <p:spTgt spid="15"/>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6"/>
                                        </p:tgtEl>
                                        <p:attrNameLst>
                                          <p:attrName>style.visibility</p:attrName>
                                        </p:attrNameLst>
                                      </p:cBhvr>
                                      <p:to>
                                        <p:strVal val="visible"/>
                                      </p:to>
                                    </p:set>
                                    <p:animEffect transition="in" filter="fade">
                                      <p:cBhvr>
                                        <p:cTn id="60" dur="500"/>
                                        <p:tgtEl>
                                          <p:spTgt spid="16"/>
                                        </p:tgtEl>
                                      </p:cBhvr>
                                    </p:animEffect>
                                    <p:anim calcmode="lin" valueType="num">
                                      <p:cBhvr>
                                        <p:cTn id="61" dur="500" fill="hold"/>
                                        <p:tgtEl>
                                          <p:spTgt spid="16"/>
                                        </p:tgtEl>
                                        <p:attrNameLst>
                                          <p:attrName>ppt_x</p:attrName>
                                        </p:attrNameLst>
                                      </p:cBhvr>
                                      <p:tavLst>
                                        <p:tav tm="0">
                                          <p:val>
                                            <p:strVal val="#ppt_x"/>
                                          </p:val>
                                        </p:tav>
                                        <p:tav tm="100000">
                                          <p:val>
                                            <p:strVal val="#ppt_x"/>
                                          </p:val>
                                        </p:tav>
                                      </p:tavLst>
                                    </p:anim>
                                    <p:anim calcmode="lin" valueType="num">
                                      <p:cBhvr>
                                        <p:cTn id="62" dur="500" fill="hold"/>
                                        <p:tgtEl>
                                          <p:spTgt spid="16"/>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7"/>
                                        </p:tgtEl>
                                        <p:attrNameLst>
                                          <p:attrName>style.visibility</p:attrName>
                                        </p:attrNameLst>
                                      </p:cBhvr>
                                      <p:to>
                                        <p:strVal val="visible"/>
                                      </p:to>
                                    </p:set>
                                    <p:animEffect transition="in" filter="fade">
                                      <p:cBhvr>
                                        <p:cTn id="65" dur="500"/>
                                        <p:tgtEl>
                                          <p:spTgt spid="17"/>
                                        </p:tgtEl>
                                      </p:cBhvr>
                                    </p:animEffect>
                                    <p:anim calcmode="lin" valueType="num">
                                      <p:cBhvr>
                                        <p:cTn id="66" dur="500" fill="hold"/>
                                        <p:tgtEl>
                                          <p:spTgt spid="17"/>
                                        </p:tgtEl>
                                        <p:attrNameLst>
                                          <p:attrName>ppt_x</p:attrName>
                                        </p:attrNameLst>
                                      </p:cBhvr>
                                      <p:tavLst>
                                        <p:tav tm="0">
                                          <p:val>
                                            <p:strVal val="#ppt_x"/>
                                          </p:val>
                                        </p:tav>
                                        <p:tav tm="100000">
                                          <p:val>
                                            <p:strVal val="#ppt_x"/>
                                          </p:val>
                                        </p:tav>
                                      </p:tavLst>
                                    </p:anim>
                                    <p:anim calcmode="lin" valueType="num">
                                      <p:cBhvr>
                                        <p:cTn id="67" dur="500" fill="hold"/>
                                        <p:tgtEl>
                                          <p:spTgt spid="17"/>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8"/>
                                        </p:tgtEl>
                                        <p:attrNameLst>
                                          <p:attrName>style.visibility</p:attrName>
                                        </p:attrNameLst>
                                      </p:cBhvr>
                                      <p:to>
                                        <p:strVal val="visible"/>
                                      </p:to>
                                    </p:set>
                                    <p:animEffect transition="in" filter="fade">
                                      <p:cBhvr>
                                        <p:cTn id="70" dur="500"/>
                                        <p:tgtEl>
                                          <p:spTgt spid="18"/>
                                        </p:tgtEl>
                                      </p:cBhvr>
                                    </p:animEffect>
                                    <p:anim calcmode="lin" valueType="num">
                                      <p:cBhvr>
                                        <p:cTn id="71" dur="500" fill="hold"/>
                                        <p:tgtEl>
                                          <p:spTgt spid="18"/>
                                        </p:tgtEl>
                                        <p:attrNameLst>
                                          <p:attrName>ppt_x</p:attrName>
                                        </p:attrNameLst>
                                      </p:cBhvr>
                                      <p:tavLst>
                                        <p:tav tm="0">
                                          <p:val>
                                            <p:strVal val="#ppt_x"/>
                                          </p:val>
                                        </p:tav>
                                        <p:tav tm="100000">
                                          <p:val>
                                            <p:strVal val="#ppt_x"/>
                                          </p:val>
                                        </p:tav>
                                      </p:tavLst>
                                    </p:anim>
                                    <p:anim calcmode="lin" valueType="num">
                                      <p:cBhvr>
                                        <p:cTn id="72" dur="500" fill="hold"/>
                                        <p:tgtEl>
                                          <p:spTgt spid="18"/>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9"/>
                                        </p:tgtEl>
                                        <p:attrNameLst>
                                          <p:attrName>style.visibility</p:attrName>
                                        </p:attrNameLst>
                                      </p:cBhvr>
                                      <p:to>
                                        <p:strVal val="visible"/>
                                      </p:to>
                                    </p:set>
                                    <p:animEffect transition="in" filter="fade">
                                      <p:cBhvr>
                                        <p:cTn id="75" dur="500"/>
                                        <p:tgtEl>
                                          <p:spTgt spid="19"/>
                                        </p:tgtEl>
                                      </p:cBhvr>
                                    </p:animEffect>
                                    <p:anim calcmode="lin" valueType="num">
                                      <p:cBhvr>
                                        <p:cTn id="76" dur="500" fill="hold"/>
                                        <p:tgtEl>
                                          <p:spTgt spid="19"/>
                                        </p:tgtEl>
                                        <p:attrNameLst>
                                          <p:attrName>ppt_x</p:attrName>
                                        </p:attrNameLst>
                                      </p:cBhvr>
                                      <p:tavLst>
                                        <p:tav tm="0">
                                          <p:val>
                                            <p:strVal val="#ppt_x"/>
                                          </p:val>
                                        </p:tav>
                                        <p:tav tm="100000">
                                          <p:val>
                                            <p:strVal val="#ppt_x"/>
                                          </p:val>
                                        </p:tav>
                                      </p:tavLst>
                                    </p:anim>
                                    <p:anim calcmode="lin" valueType="num">
                                      <p:cBhvr>
                                        <p:cTn id="77" dur="500" fill="hold"/>
                                        <p:tgtEl>
                                          <p:spTgt spid="19"/>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0"/>
                                        </p:tgtEl>
                                        <p:attrNameLst>
                                          <p:attrName>style.visibility</p:attrName>
                                        </p:attrNameLst>
                                      </p:cBhvr>
                                      <p:to>
                                        <p:strVal val="visible"/>
                                      </p:to>
                                    </p:set>
                                    <p:animEffect transition="in" filter="fade">
                                      <p:cBhvr>
                                        <p:cTn id="80" dur="500"/>
                                        <p:tgtEl>
                                          <p:spTgt spid="20"/>
                                        </p:tgtEl>
                                      </p:cBhvr>
                                    </p:animEffect>
                                    <p:anim calcmode="lin" valueType="num">
                                      <p:cBhvr>
                                        <p:cTn id="81" dur="500" fill="hold"/>
                                        <p:tgtEl>
                                          <p:spTgt spid="20"/>
                                        </p:tgtEl>
                                        <p:attrNameLst>
                                          <p:attrName>ppt_x</p:attrName>
                                        </p:attrNameLst>
                                      </p:cBhvr>
                                      <p:tavLst>
                                        <p:tav tm="0">
                                          <p:val>
                                            <p:strVal val="#ppt_x"/>
                                          </p:val>
                                        </p:tav>
                                        <p:tav tm="100000">
                                          <p:val>
                                            <p:strVal val="#ppt_x"/>
                                          </p:val>
                                        </p:tav>
                                      </p:tavLst>
                                    </p:anim>
                                    <p:anim calcmode="lin" valueType="num">
                                      <p:cBhvr>
                                        <p:cTn id="82" dur="500" fill="hold"/>
                                        <p:tgtEl>
                                          <p:spTgt spid="20"/>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1"/>
                                        </p:tgtEl>
                                        <p:attrNameLst>
                                          <p:attrName>style.visibility</p:attrName>
                                        </p:attrNameLst>
                                      </p:cBhvr>
                                      <p:to>
                                        <p:strVal val="visible"/>
                                      </p:to>
                                    </p:set>
                                    <p:animEffect transition="in" filter="fade">
                                      <p:cBhvr>
                                        <p:cTn id="85" dur="500"/>
                                        <p:tgtEl>
                                          <p:spTgt spid="21"/>
                                        </p:tgtEl>
                                      </p:cBhvr>
                                    </p:animEffect>
                                    <p:anim calcmode="lin" valueType="num">
                                      <p:cBhvr>
                                        <p:cTn id="86" dur="500" fill="hold"/>
                                        <p:tgtEl>
                                          <p:spTgt spid="21"/>
                                        </p:tgtEl>
                                        <p:attrNameLst>
                                          <p:attrName>ppt_x</p:attrName>
                                        </p:attrNameLst>
                                      </p:cBhvr>
                                      <p:tavLst>
                                        <p:tav tm="0">
                                          <p:val>
                                            <p:strVal val="#ppt_x"/>
                                          </p:val>
                                        </p:tav>
                                        <p:tav tm="100000">
                                          <p:val>
                                            <p:strVal val="#ppt_x"/>
                                          </p:val>
                                        </p:tav>
                                      </p:tavLst>
                                    </p:anim>
                                    <p:anim calcmode="lin" valueType="num">
                                      <p:cBhvr>
                                        <p:cTn id="87" dur="500" fill="hold"/>
                                        <p:tgtEl>
                                          <p:spTgt spid="21"/>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2"/>
                                        </p:tgtEl>
                                        <p:attrNameLst>
                                          <p:attrName>style.visibility</p:attrName>
                                        </p:attrNameLst>
                                      </p:cBhvr>
                                      <p:to>
                                        <p:strVal val="visible"/>
                                      </p:to>
                                    </p:set>
                                    <p:animEffect transition="in" filter="fade">
                                      <p:cBhvr>
                                        <p:cTn id="90" dur="500"/>
                                        <p:tgtEl>
                                          <p:spTgt spid="22"/>
                                        </p:tgtEl>
                                      </p:cBhvr>
                                    </p:animEffect>
                                    <p:anim calcmode="lin" valueType="num">
                                      <p:cBhvr>
                                        <p:cTn id="91" dur="500" fill="hold"/>
                                        <p:tgtEl>
                                          <p:spTgt spid="22"/>
                                        </p:tgtEl>
                                        <p:attrNameLst>
                                          <p:attrName>ppt_x</p:attrName>
                                        </p:attrNameLst>
                                      </p:cBhvr>
                                      <p:tavLst>
                                        <p:tav tm="0">
                                          <p:val>
                                            <p:strVal val="#ppt_x"/>
                                          </p:val>
                                        </p:tav>
                                        <p:tav tm="100000">
                                          <p:val>
                                            <p:strVal val="#ppt_x"/>
                                          </p:val>
                                        </p:tav>
                                      </p:tavLst>
                                    </p:anim>
                                    <p:anim calcmode="lin" valueType="num">
                                      <p:cBhvr>
                                        <p:cTn id="92" dur="500" fill="hold"/>
                                        <p:tgtEl>
                                          <p:spTgt spid="22"/>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3"/>
                                        </p:tgtEl>
                                        <p:attrNameLst>
                                          <p:attrName>style.visibility</p:attrName>
                                        </p:attrNameLst>
                                      </p:cBhvr>
                                      <p:to>
                                        <p:strVal val="visible"/>
                                      </p:to>
                                    </p:set>
                                    <p:animEffect transition="in" filter="fade">
                                      <p:cBhvr>
                                        <p:cTn id="95" dur="500"/>
                                        <p:tgtEl>
                                          <p:spTgt spid="23"/>
                                        </p:tgtEl>
                                      </p:cBhvr>
                                    </p:animEffect>
                                    <p:anim calcmode="lin" valueType="num">
                                      <p:cBhvr>
                                        <p:cTn id="96" dur="500" fill="hold"/>
                                        <p:tgtEl>
                                          <p:spTgt spid="23"/>
                                        </p:tgtEl>
                                        <p:attrNameLst>
                                          <p:attrName>ppt_x</p:attrName>
                                        </p:attrNameLst>
                                      </p:cBhvr>
                                      <p:tavLst>
                                        <p:tav tm="0">
                                          <p:val>
                                            <p:strVal val="#ppt_x"/>
                                          </p:val>
                                        </p:tav>
                                        <p:tav tm="100000">
                                          <p:val>
                                            <p:strVal val="#ppt_x"/>
                                          </p:val>
                                        </p:tav>
                                      </p:tavLst>
                                    </p:anim>
                                    <p:anim calcmode="lin" valueType="num">
                                      <p:cBhvr>
                                        <p:cTn id="97" dur="500" fill="hold"/>
                                        <p:tgtEl>
                                          <p:spTgt spid="23"/>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4"/>
                                        </p:tgtEl>
                                        <p:attrNameLst>
                                          <p:attrName>style.visibility</p:attrName>
                                        </p:attrNameLst>
                                      </p:cBhvr>
                                      <p:to>
                                        <p:strVal val="visible"/>
                                      </p:to>
                                    </p:set>
                                    <p:animEffect transition="in" filter="fade">
                                      <p:cBhvr>
                                        <p:cTn id="100" dur="500"/>
                                        <p:tgtEl>
                                          <p:spTgt spid="24"/>
                                        </p:tgtEl>
                                      </p:cBhvr>
                                    </p:animEffect>
                                    <p:anim calcmode="lin" valueType="num">
                                      <p:cBhvr>
                                        <p:cTn id="101" dur="500" fill="hold"/>
                                        <p:tgtEl>
                                          <p:spTgt spid="24"/>
                                        </p:tgtEl>
                                        <p:attrNameLst>
                                          <p:attrName>ppt_x</p:attrName>
                                        </p:attrNameLst>
                                      </p:cBhvr>
                                      <p:tavLst>
                                        <p:tav tm="0">
                                          <p:val>
                                            <p:strVal val="#ppt_x"/>
                                          </p:val>
                                        </p:tav>
                                        <p:tav tm="100000">
                                          <p:val>
                                            <p:strVal val="#ppt_x"/>
                                          </p:val>
                                        </p:tav>
                                      </p:tavLst>
                                    </p:anim>
                                    <p:anim calcmode="lin" valueType="num">
                                      <p:cBhvr>
                                        <p:cTn id="102" dur="500" fill="hold"/>
                                        <p:tgtEl>
                                          <p:spTgt spid="24"/>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5"/>
                                        </p:tgtEl>
                                        <p:attrNameLst>
                                          <p:attrName>style.visibility</p:attrName>
                                        </p:attrNameLst>
                                      </p:cBhvr>
                                      <p:to>
                                        <p:strVal val="visible"/>
                                      </p:to>
                                    </p:set>
                                    <p:animEffect transition="in" filter="fade">
                                      <p:cBhvr>
                                        <p:cTn id="105" dur="500"/>
                                        <p:tgtEl>
                                          <p:spTgt spid="25"/>
                                        </p:tgtEl>
                                      </p:cBhvr>
                                    </p:animEffect>
                                    <p:anim calcmode="lin" valueType="num">
                                      <p:cBhvr>
                                        <p:cTn id="106" dur="500" fill="hold"/>
                                        <p:tgtEl>
                                          <p:spTgt spid="25"/>
                                        </p:tgtEl>
                                        <p:attrNameLst>
                                          <p:attrName>ppt_x</p:attrName>
                                        </p:attrNameLst>
                                      </p:cBhvr>
                                      <p:tavLst>
                                        <p:tav tm="0">
                                          <p:val>
                                            <p:strVal val="#ppt_x"/>
                                          </p:val>
                                        </p:tav>
                                        <p:tav tm="100000">
                                          <p:val>
                                            <p:strVal val="#ppt_x"/>
                                          </p:val>
                                        </p:tav>
                                      </p:tavLst>
                                    </p:anim>
                                    <p:anim calcmode="lin" valueType="num">
                                      <p:cBhvr>
                                        <p:cTn id="107" dur="500" fill="hold"/>
                                        <p:tgtEl>
                                          <p:spTgt spid="25"/>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6"/>
                                        </p:tgtEl>
                                        <p:attrNameLst>
                                          <p:attrName>style.visibility</p:attrName>
                                        </p:attrNameLst>
                                      </p:cBhvr>
                                      <p:to>
                                        <p:strVal val="visible"/>
                                      </p:to>
                                    </p:set>
                                    <p:animEffect transition="in" filter="fade">
                                      <p:cBhvr>
                                        <p:cTn id="110" dur="500"/>
                                        <p:tgtEl>
                                          <p:spTgt spid="26"/>
                                        </p:tgtEl>
                                      </p:cBhvr>
                                    </p:animEffect>
                                    <p:anim calcmode="lin" valueType="num">
                                      <p:cBhvr>
                                        <p:cTn id="111" dur="500" fill="hold"/>
                                        <p:tgtEl>
                                          <p:spTgt spid="26"/>
                                        </p:tgtEl>
                                        <p:attrNameLst>
                                          <p:attrName>ppt_x</p:attrName>
                                        </p:attrNameLst>
                                      </p:cBhvr>
                                      <p:tavLst>
                                        <p:tav tm="0">
                                          <p:val>
                                            <p:strVal val="#ppt_x"/>
                                          </p:val>
                                        </p:tav>
                                        <p:tav tm="100000">
                                          <p:val>
                                            <p:strVal val="#ppt_x"/>
                                          </p:val>
                                        </p:tav>
                                      </p:tavLst>
                                    </p:anim>
                                    <p:anim calcmode="lin" valueType="num">
                                      <p:cBhvr>
                                        <p:cTn id="112" dur="500" fill="hold"/>
                                        <p:tgtEl>
                                          <p:spTgt spid="26"/>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7"/>
                                        </p:tgtEl>
                                        <p:attrNameLst>
                                          <p:attrName>style.visibility</p:attrName>
                                        </p:attrNameLst>
                                      </p:cBhvr>
                                      <p:to>
                                        <p:strVal val="visible"/>
                                      </p:to>
                                    </p:set>
                                    <p:animEffect transition="in" filter="fade">
                                      <p:cBhvr>
                                        <p:cTn id="115" dur="500"/>
                                        <p:tgtEl>
                                          <p:spTgt spid="27"/>
                                        </p:tgtEl>
                                      </p:cBhvr>
                                    </p:animEffect>
                                    <p:anim calcmode="lin" valueType="num">
                                      <p:cBhvr>
                                        <p:cTn id="116" dur="500" fill="hold"/>
                                        <p:tgtEl>
                                          <p:spTgt spid="27"/>
                                        </p:tgtEl>
                                        <p:attrNameLst>
                                          <p:attrName>ppt_x</p:attrName>
                                        </p:attrNameLst>
                                      </p:cBhvr>
                                      <p:tavLst>
                                        <p:tav tm="0">
                                          <p:val>
                                            <p:strVal val="#ppt_x"/>
                                          </p:val>
                                        </p:tav>
                                        <p:tav tm="100000">
                                          <p:val>
                                            <p:strVal val="#ppt_x"/>
                                          </p:val>
                                        </p:tav>
                                      </p:tavLst>
                                    </p:anim>
                                    <p:anim calcmode="lin" valueType="num">
                                      <p:cBhvr>
                                        <p:cTn id="117" dur="500" fill="hold"/>
                                        <p:tgtEl>
                                          <p:spTgt spid="27"/>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8"/>
                                        </p:tgtEl>
                                        <p:attrNameLst>
                                          <p:attrName>style.visibility</p:attrName>
                                        </p:attrNameLst>
                                      </p:cBhvr>
                                      <p:to>
                                        <p:strVal val="visible"/>
                                      </p:to>
                                    </p:set>
                                    <p:animEffect transition="in" filter="fade">
                                      <p:cBhvr>
                                        <p:cTn id="120" dur="500"/>
                                        <p:tgtEl>
                                          <p:spTgt spid="28"/>
                                        </p:tgtEl>
                                      </p:cBhvr>
                                    </p:animEffect>
                                    <p:anim calcmode="lin" valueType="num">
                                      <p:cBhvr>
                                        <p:cTn id="121" dur="500" fill="hold"/>
                                        <p:tgtEl>
                                          <p:spTgt spid="28"/>
                                        </p:tgtEl>
                                        <p:attrNameLst>
                                          <p:attrName>ppt_x</p:attrName>
                                        </p:attrNameLst>
                                      </p:cBhvr>
                                      <p:tavLst>
                                        <p:tav tm="0">
                                          <p:val>
                                            <p:strVal val="#ppt_x"/>
                                          </p:val>
                                        </p:tav>
                                        <p:tav tm="100000">
                                          <p:val>
                                            <p:strVal val="#ppt_x"/>
                                          </p:val>
                                        </p:tav>
                                      </p:tavLst>
                                    </p:anim>
                                    <p:anim calcmode="lin" valueType="num">
                                      <p:cBhvr>
                                        <p:cTn id="122" dur="500" fill="hold"/>
                                        <p:tgtEl>
                                          <p:spTgt spid="28"/>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9"/>
                                        </p:tgtEl>
                                        <p:attrNameLst>
                                          <p:attrName>style.visibility</p:attrName>
                                        </p:attrNameLst>
                                      </p:cBhvr>
                                      <p:to>
                                        <p:strVal val="visible"/>
                                      </p:to>
                                    </p:set>
                                    <p:animEffect transition="in" filter="fade">
                                      <p:cBhvr>
                                        <p:cTn id="125" dur="500"/>
                                        <p:tgtEl>
                                          <p:spTgt spid="29"/>
                                        </p:tgtEl>
                                      </p:cBhvr>
                                    </p:animEffect>
                                    <p:anim calcmode="lin" valueType="num">
                                      <p:cBhvr>
                                        <p:cTn id="126" dur="500" fill="hold"/>
                                        <p:tgtEl>
                                          <p:spTgt spid="29"/>
                                        </p:tgtEl>
                                        <p:attrNameLst>
                                          <p:attrName>ppt_x</p:attrName>
                                        </p:attrNameLst>
                                      </p:cBhvr>
                                      <p:tavLst>
                                        <p:tav tm="0">
                                          <p:val>
                                            <p:strVal val="#ppt_x"/>
                                          </p:val>
                                        </p:tav>
                                        <p:tav tm="100000">
                                          <p:val>
                                            <p:strVal val="#ppt_x"/>
                                          </p:val>
                                        </p:tav>
                                      </p:tavLst>
                                    </p:anim>
                                    <p:anim calcmode="lin" valueType="num">
                                      <p:cBhvr>
                                        <p:cTn id="127" dur="500" fill="hold"/>
                                        <p:tgtEl>
                                          <p:spTgt spid="29"/>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30"/>
                                        </p:tgtEl>
                                        <p:attrNameLst>
                                          <p:attrName>style.visibility</p:attrName>
                                        </p:attrNameLst>
                                      </p:cBhvr>
                                      <p:to>
                                        <p:strVal val="visible"/>
                                      </p:to>
                                    </p:set>
                                    <p:animEffect transition="in" filter="fade">
                                      <p:cBhvr>
                                        <p:cTn id="130" dur="500"/>
                                        <p:tgtEl>
                                          <p:spTgt spid="30"/>
                                        </p:tgtEl>
                                      </p:cBhvr>
                                    </p:animEffect>
                                    <p:anim calcmode="lin" valueType="num">
                                      <p:cBhvr>
                                        <p:cTn id="131" dur="500" fill="hold"/>
                                        <p:tgtEl>
                                          <p:spTgt spid="30"/>
                                        </p:tgtEl>
                                        <p:attrNameLst>
                                          <p:attrName>ppt_x</p:attrName>
                                        </p:attrNameLst>
                                      </p:cBhvr>
                                      <p:tavLst>
                                        <p:tav tm="0">
                                          <p:val>
                                            <p:strVal val="#ppt_x"/>
                                          </p:val>
                                        </p:tav>
                                        <p:tav tm="100000">
                                          <p:val>
                                            <p:strVal val="#ppt_x"/>
                                          </p:val>
                                        </p:tav>
                                      </p:tavLst>
                                    </p:anim>
                                    <p:anim calcmode="lin" valueType="num">
                                      <p:cBhvr>
                                        <p:cTn id="132" dur="500" fill="hold"/>
                                        <p:tgtEl>
                                          <p:spTgt spid="30"/>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31"/>
                                        </p:tgtEl>
                                        <p:attrNameLst>
                                          <p:attrName>style.visibility</p:attrName>
                                        </p:attrNameLst>
                                      </p:cBhvr>
                                      <p:to>
                                        <p:strVal val="visible"/>
                                      </p:to>
                                    </p:set>
                                    <p:animEffect transition="in" filter="fade">
                                      <p:cBhvr>
                                        <p:cTn id="135" dur="500"/>
                                        <p:tgtEl>
                                          <p:spTgt spid="31"/>
                                        </p:tgtEl>
                                      </p:cBhvr>
                                    </p:animEffect>
                                    <p:anim calcmode="lin" valueType="num">
                                      <p:cBhvr>
                                        <p:cTn id="136" dur="500" fill="hold"/>
                                        <p:tgtEl>
                                          <p:spTgt spid="31"/>
                                        </p:tgtEl>
                                        <p:attrNameLst>
                                          <p:attrName>ppt_x</p:attrName>
                                        </p:attrNameLst>
                                      </p:cBhvr>
                                      <p:tavLst>
                                        <p:tav tm="0">
                                          <p:val>
                                            <p:strVal val="#ppt_x"/>
                                          </p:val>
                                        </p:tav>
                                        <p:tav tm="100000">
                                          <p:val>
                                            <p:strVal val="#ppt_x"/>
                                          </p:val>
                                        </p:tav>
                                      </p:tavLst>
                                    </p:anim>
                                    <p:anim calcmode="lin" valueType="num">
                                      <p:cBhvr>
                                        <p:cTn id="137" dur="500" fill="hold"/>
                                        <p:tgtEl>
                                          <p:spTgt spid="31"/>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2"/>
                                        </p:tgtEl>
                                        <p:attrNameLst>
                                          <p:attrName>style.visibility</p:attrName>
                                        </p:attrNameLst>
                                      </p:cBhvr>
                                      <p:to>
                                        <p:strVal val="visible"/>
                                      </p:to>
                                    </p:set>
                                    <p:animEffect transition="in" filter="fade">
                                      <p:cBhvr>
                                        <p:cTn id="140" dur="500"/>
                                        <p:tgtEl>
                                          <p:spTgt spid="32"/>
                                        </p:tgtEl>
                                      </p:cBhvr>
                                    </p:animEffect>
                                    <p:anim calcmode="lin" valueType="num">
                                      <p:cBhvr>
                                        <p:cTn id="141" dur="500" fill="hold"/>
                                        <p:tgtEl>
                                          <p:spTgt spid="32"/>
                                        </p:tgtEl>
                                        <p:attrNameLst>
                                          <p:attrName>ppt_x</p:attrName>
                                        </p:attrNameLst>
                                      </p:cBhvr>
                                      <p:tavLst>
                                        <p:tav tm="0">
                                          <p:val>
                                            <p:strVal val="#ppt_x"/>
                                          </p:val>
                                        </p:tav>
                                        <p:tav tm="100000">
                                          <p:val>
                                            <p:strVal val="#ppt_x"/>
                                          </p:val>
                                        </p:tav>
                                      </p:tavLst>
                                    </p:anim>
                                    <p:anim calcmode="lin" valueType="num">
                                      <p:cBhvr>
                                        <p:cTn id="142" dur="500" fill="hold"/>
                                        <p:tgtEl>
                                          <p:spTgt spid="32"/>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3"/>
                                        </p:tgtEl>
                                        <p:attrNameLst>
                                          <p:attrName>style.visibility</p:attrName>
                                        </p:attrNameLst>
                                      </p:cBhvr>
                                      <p:to>
                                        <p:strVal val="visible"/>
                                      </p:to>
                                    </p:set>
                                    <p:animEffect transition="in" filter="fade">
                                      <p:cBhvr>
                                        <p:cTn id="145" dur="500"/>
                                        <p:tgtEl>
                                          <p:spTgt spid="33"/>
                                        </p:tgtEl>
                                      </p:cBhvr>
                                    </p:animEffect>
                                    <p:anim calcmode="lin" valueType="num">
                                      <p:cBhvr>
                                        <p:cTn id="146" dur="500" fill="hold"/>
                                        <p:tgtEl>
                                          <p:spTgt spid="33"/>
                                        </p:tgtEl>
                                        <p:attrNameLst>
                                          <p:attrName>ppt_x</p:attrName>
                                        </p:attrNameLst>
                                      </p:cBhvr>
                                      <p:tavLst>
                                        <p:tav tm="0">
                                          <p:val>
                                            <p:strVal val="#ppt_x"/>
                                          </p:val>
                                        </p:tav>
                                        <p:tav tm="100000">
                                          <p:val>
                                            <p:strVal val="#ppt_x"/>
                                          </p:val>
                                        </p:tav>
                                      </p:tavLst>
                                    </p:anim>
                                    <p:anim calcmode="lin" valueType="num">
                                      <p:cBhvr>
                                        <p:cTn id="147" dur="500" fill="hold"/>
                                        <p:tgtEl>
                                          <p:spTgt spid="33"/>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4"/>
                                        </p:tgtEl>
                                        <p:attrNameLst>
                                          <p:attrName>style.visibility</p:attrName>
                                        </p:attrNameLst>
                                      </p:cBhvr>
                                      <p:to>
                                        <p:strVal val="visible"/>
                                      </p:to>
                                    </p:set>
                                    <p:animEffect transition="in" filter="fade">
                                      <p:cBhvr>
                                        <p:cTn id="150" dur="500"/>
                                        <p:tgtEl>
                                          <p:spTgt spid="34"/>
                                        </p:tgtEl>
                                      </p:cBhvr>
                                    </p:animEffect>
                                    <p:anim calcmode="lin" valueType="num">
                                      <p:cBhvr>
                                        <p:cTn id="151" dur="500" fill="hold"/>
                                        <p:tgtEl>
                                          <p:spTgt spid="34"/>
                                        </p:tgtEl>
                                        <p:attrNameLst>
                                          <p:attrName>ppt_x</p:attrName>
                                        </p:attrNameLst>
                                      </p:cBhvr>
                                      <p:tavLst>
                                        <p:tav tm="0">
                                          <p:val>
                                            <p:strVal val="#ppt_x"/>
                                          </p:val>
                                        </p:tav>
                                        <p:tav tm="100000">
                                          <p:val>
                                            <p:strVal val="#ppt_x"/>
                                          </p:val>
                                        </p:tav>
                                      </p:tavLst>
                                    </p:anim>
                                    <p:anim calcmode="lin" valueType="num">
                                      <p:cBhvr>
                                        <p:cTn id="152" dur="500" fill="hold"/>
                                        <p:tgtEl>
                                          <p:spTgt spid="34"/>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5"/>
                                        </p:tgtEl>
                                        <p:attrNameLst>
                                          <p:attrName>style.visibility</p:attrName>
                                        </p:attrNameLst>
                                      </p:cBhvr>
                                      <p:to>
                                        <p:strVal val="visible"/>
                                      </p:to>
                                    </p:set>
                                    <p:animEffect transition="in" filter="fade">
                                      <p:cBhvr>
                                        <p:cTn id="155" dur="500"/>
                                        <p:tgtEl>
                                          <p:spTgt spid="35"/>
                                        </p:tgtEl>
                                      </p:cBhvr>
                                    </p:animEffect>
                                    <p:anim calcmode="lin" valueType="num">
                                      <p:cBhvr>
                                        <p:cTn id="156" dur="500" fill="hold"/>
                                        <p:tgtEl>
                                          <p:spTgt spid="35"/>
                                        </p:tgtEl>
                                        <p:attrNameLst>
                                          <p:attrName>ppt_x</p:attrName>
                                        </p:attrNameLst>
                                      </p:cBhvr>
                                      <p:tavLst>
                                        <p:tav tm="0">
                                          <p:val>
                                            <p:strVal val="#ppt_x"/>
                                          </p:val>
                                        </p:tav>
                                        <p:tav tm="100000">
                                          <p:val>
                                            <p:strVal val="#ppt_x"/>
                                          </p:val>
                                        </p:tav>
                                      </p:tavLst>
                                    </p:anim>
                                    <p:anim calcmode="lin" valueType="num">
                                      <p:cBhvr>
                                        <p:cTn id="157" dur="500" fill="hold"/>
                                        <p:tgtEl>
                                          <p:spTgt spid="35"/>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6"/>
                                        </p:tgtEl>
                                        <p:attrNameLst>
                                          <p:attrName>style.visibility</p:attrName>
                                        </p:attrNameLst>
                                      </p:cBhvr>
                                      <p:to>
                                        <p:strVal val="visible"/>
                                      </p:to>
                                    </p:set>
                                    <p:animEffect transition="in" filter="fade">
                                      <p:cBhvr>
                                        <p:cTn id="160" dur="500"/>
                                        <p:tgtEl>
                                          <p:spTgt spid="36"/>
                                        </p:tgtEl>
                                      </p:cBhvr>
                                    </p:animEffect>
                                    <p:anim calcmode="lin" valueType="num">
                                      <p:cBhvr>
                                        <p:cTn id="161" dur="500" fill="hold"/>
                                        <p:tgtEl>
                                          <p:spTgt spid="36"/>
                                        </p:tgtEl>
                                        <p:attrNameLst>
                                          <p:attrName>ppt_x</p:attrName>
                                        </p:attrNameLst>
                                      </p:cBhvr>
                                      <p:tavLst>
                                        <p:tav tm="0">
                                          <p:val>
                                            <p:strVal val="#ppt_x"/>
                                          </p:val>
                                        </p:tav>
                                        <p:tav tm="100000">
                                          <p:val>
                                            <p:strVal val="#ppt_x"/>
                                          </p:val>
                                        </p:tav>
                                      </p:tavLst>
                                    </p:anim>
                                    <p:anim calcmode="lin" valueType="num">
                                      <p:cBhvr>
                                        <p:cTn id="162" dur="500" fill="hold"/>
                                        <p:tgtEl>
                                          <p:spTgt spid="36"/>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7"/>
                                        </p:tgtEl>
                                        <p:attrNameLst>
                                          <p:attrName>style.visibility</p:attrName>
                                        </p:attrNameLst>
                                      </p:cBhvr>
                                      <p:to>
                                        <p:strVal val="visible"/>
                                      </p:to>
                                    </p:set>
                                    <p:animEffect transition="in" filter="fade">
                                      <p:cBhvr>
                                        <p:cTn id="165" dur="500"/>
                                        <p:tgtEl>
                                          <p:spTgt spid="37"/>
                                        </p:tgtEl>
                                      </p:cBhvr>
                                    </p:animEffect>
                                    <p:anim calcmode="lin" valueType="num">
                                      <p:cBhvr>
                                        <p:cTn id="166" dur="500" fill="hold"/>
                                        <p:tgtEl>
                                          <p:spTgt spid="37"/>
                                        </p:tgtEl>
                                        <p:attrNameLst>
                                          <p:attrName>ppt_x</p:attrName>
                                        </p:attrNameLst>
                                      </p:cBhvr>
                                      <p:tavLst>
                                        <p:tav tm="0">
                                          <p:val>
                                            <p:strVal val="#ppt_x"/>
                                          </p:val>
                                        </p:tav>
                                        <p:tav tm="100000">
                                          <p:val>
                                            <p:strVal val="#ppt_x"/>
                                          </p:val>
                                        </p:tav>
                                      </p:tavLst>
                                    </p:anim>
                                    <p:anim calcmode="lin" valueType="num">
                                      <p:cBhvr>
                                        <p:cTn id="167" dur="500" fill="hold"/>
                                        <p:tgtEl>
                                          <p:spTgt spid="37"/>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8"/>
                                        </p:tgtEl>
                                        <p:attrNameLst>
                                          <p:attrName>style.visibility</p:attrName>
                                        </p:attrNameLst>
                                      </p:cBhvr>
                                      <p:to>
                                        <p:strVal val="visible"/>
                                      </p:to>
                                    </p:set>
                                    <p:animEffect transition="in" filter="fade">
                                      <p:cBhvr>
                                        <p:cTn id="170" dur="500"/>
                                        <p:tgtEl>
                                          <p:spTgt spid="38"/>
                                        </p:tgtEl>
                                      </p:cBhvr>
                                    </p:animEffect>
                                    <p:anim calcmode="lin" valueType="num">
                                      <p:cBhvr>
                                        <p:cTn id="171" dur="500" fill="hold"/>
                                        <p:tgtEl>
                                          <p:spTgt spid="38"/>
                                        </p:tgtEl>
                                        <p:attrNameLst>
                                          <p:attrName>ppt_x</p:attrName>
                                        </p:attrNameLst>
                                      </p:cBhvr>
                                      <p:tavLst>
                                        <p:tav tm="0">
                                          <p:val>
                                            <p:strVal val="#ppt_x"/>
                                          </p:val>
                                        </p:tav>
                                        <p:tav tm="100000">
                                          <p:val>
                                            <p:strVal val="#ppt_x"/>
                                          </p:val>
                                        </p:tav>
                                      </p:tavLst>
                                    </p:anim>
                                    <p:anim calcmode="lin" valueType="num">
                                      <p:cBhvr>
                                        <p:cTn id="172" dur="500" fill="hold"/>
                                        <p:tgtEl>
                                          <p:spTgt spid="38"/>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9"/>
                                        </p:tgtEl>
                                        <p:attrNameLst>
                                          <p:attrName>style.visibility</p:attrName>
                                        </p:attrNameLst>
                                      </p:cBhvr>
                                      <p:to>
                                        <p:strVal val="visible"/>
                                      </p:to>
                                    </p:set>
                                    <p:animEffect transition="in" filter="fade">
                                      <p:cBhvr>
                                        <p:cTn id="175" dur="500"/>
                                        <p:tgtEl>
                                          <p:spTgt spid="39"/>
                                        </p:tgtEl>
                                      </p:cBhvr>
                                    </p:animEffect>
                                    <p:anim calcmode="lin" valueType="num">
                                      <p:cBhvr>
                                        <p:cTn id="176" dur="500" fill="hold"/>
                                        <p:tgtEl>
                                          <p:spTgt spid="39"/>
                                        </p:tgtEl>
                                        <p:attrNameLst>
                                          <p:attrName>ppt_x</p:attrName>
                                        </p:attrNameLst>
                                      </p:cBhvr>
                                      <p:tavLst>
                                        <p:tav tm="0">
                                          <p:val>
                                            <p:strVal val="#ppt_x"/>
                                          </p:val>
                                        </p:tav>
                                        <p:tav tm="100000">
                                          <p:val>
                                            <p:strVal val="#ppt_x"/>
                                          </p:val>
                                        </p:tav>
                                      </p:tavLst>
                                    </p:anim>
                                    <p:anim calcmode="lin" valueType="num">
                                      <p:cBhvr>
                                        <p:cTn id="177" dur="500" fill="hold"/>
                                        <p:tgtEl>
                                          <p:spTgt spid="39"/>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40"/>
                                        </p:tgtEl>
                                        <p:attrNameLst>
                                          <p:attrName>style.visibility</p:attrName>
                                        </p:attrNameLst>
                                      </p:cBhvr>
                                      <p:to>
                                        <p:strVal val="visible"/>
                                      </p:to>
                                    </p:set>
                                    <p:animEffect transition="in" filter="fade">
                                      <p:cBhvr>
                                        <p:cTn id="180" dur="500"/>
                                        <p:tgtEl>
                                          <p:spTgt spid="40"/>
                                        </p:tgtEl>
                                      </p:cBhvr>
                                    </p:animEffect>
                                    <p:anim calcmode="lin" valueType="num">
                                      <p:cBhvr>
                                        <p:cTn id="181" dur="500" fill="hold"/>
                                        <p:tgtEl>
                                          <p:spTgt spid="40"/>
                                        </p:tgtEl>
                                        <p:attrNameLst>
                                          <p:attrName>ppt_x</p:attrName>
                                        </p:attrNameLst>
                                      </p:cBhvr>
                                      <p:tavLst>
                                        <p:tav tm="0">
                                          <p:val>
                                            <p:strVal val="#ppt_x"/>
                                          </p:val>
                                        </p:tav>
                                        <p:tav tm="100000">
                                          <p:val>
                                            <p:strVal val="#ppt_x"/>
                                          </p:val>
                                        </p:tav>
                                      </p:tavLst>
                                    </p:anim>
                                    <p:anim calcmode="lin" valueType="num">
                                      <p:cBhvr>
                                        <p:cTn id="182" dur="500" fill="hold"/>
                                        <p:tgtEl>
                                          <p:spTgt spid="40"/>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41"/>
                                        </p:tgtEl>
                                        <p:attrNameLst>
                                          <p:attrName>style.visibility</p:attrName>
                                        </p:attrNameLst>
                                      </p:cBhvr>
                                      <p:to>
                                        <p:strVal val="visible"/>
                                      </p:to>
                                    </p:set>
                                    <p:animEffect transition="in" filter="fade">
                                      <p:cBhvr>
                                        <p:cTn id="185" dur="500"/>
                                        <p:tgtEl>
                                          <p:spTgt spid="41"/>
                                        </p:tgtEl>
                                      </p:cBhvr>
                                    </p:animEffect>
                                    <p:anim calcmode="lin" valueType="num">
                                      <p:cBhvr>
                                        <p:cTn id="186" dur="500" fill="hold"/>
                                        <p:tgtEl>
                                          <p:spTgt spid="41"/>
                                        </p:tgtEl>
                                        <p:attrNameLst>
                                          <p:attrName>ppt_x</p:attrName>
                                        </p:attrNameLst>
                                      </p:cBhvr>
                                      <p:tavLst>
                                        <p:tav tm="0">
                                          <p:val>
                                            <p:strVal val="#ppt_x"/>
                                          </p:val>
                                        </p:tav>
                                        <p:tav tm="100000">
                                          <p:val>
                                            <p:strVal val="#ppt_x"/>
                                          </p:val>
                                        </p:tav>
                                      </p:tavLst>
                                    </p:anim>
                                    <p:anim calcmode="lin" valueType="num">
                                      <p:cBhvr>
                                        <p:cTn id="187" dur="500" fill="hold"/>
                                        <p:tgtEl>
                                          <p:spTgt spid="41"/>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2"/>
                                        </p:tgtEl>
                                        <p:attrNameLst>
                                          <p:attrName>style.visibility</p:attrName>
                                        </p:attrNameLst>
                                      </p:cBhvr>
                                      <p:to>
                                        <p:strVal val="visible"/>
                                      </p:to>
                                    </p:set>
                                    <p:animEffect transition="in" filter="fade">
                                      <p:cBhvr>
                                        <p:cTn id="190" dur="500"/>
                                        <p:tgtEl>
                                          <p:spTgt spid="42"/>
                                        </p:tgtEl>
                                      </p:cBhvr>
                                    </p:animEffect>
                                    <p:anim calcmode="lin" valueType="num">
                                      <p:cBhvr>
                                        <p:cTn id="191" dur="500" fill="hold"/>
                                        <p:tgtEl>
                                          <p:spTgt spid="42"/>
                                        </p:tgtEl>
                                        <p:attrNameLst>
                                          <p:attrName>ppt_x</p:attrName>
                                        </p:attrNameLst>
                                      </p:cBhvr>
                                      <p:tavLst>
                                        <p:tav tm="0">
                                          <p:val>
                                            <p:strVal val="#ppt_x"/>
                                          </p:val>
                                        </p:tav>
                                        <p:tav tm="100000">
                                          <p:val>
                                            <p:strVal val="#ppt_x"/>
                                          </p:val>
                                        </p:tav>
                                      </p:tavLst>
                                    </p:anim>
                                    <p:anim calcmode="lin" valueType="num">
                                      <p:cBhvr>
                                        <p:cTn id="192" dur="500" fill="hold"/>
                                        <p:tgtEl>
                                          <p:spTgt spid="42"/>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3"/>
                                        </p:tgtEl>
                                        <p:attrNameLst>
                                          <p:attrName>style.visibility</p:attrName>
                                        </p:attrNameLst>
                                      </p:cBhvr>
                                      <p:to>
                                        <p:strVal val="visible"/>
                                      </p:to>
                                    </p:set>
                                    <p:animEffect transition="in" filter="fade">
                                      <p:cBhvr>
                                        <p:cTn id="195" dur="500"/>
                                        <p:tgtEl>
                                          <p:spTgt spid="43"/>
                                        </p:tgtEl>
                                      </p:cBhvr>
                                    </p:animEffect>
                                    <p:anim calcmode="lin" valueType="num">
                                      <p:cBhvr>
                                        <p:cTn id="196" dur="500" fill="hold"/>
                                        <p:tgtEl>
                                          <p:spTgt spid="43"/>
                                        </p:tgtEl>
                                        <p:attrNameLst>
                                          <p:attrName>ppt_x</p:attrName>
                                        </p:attrNameLst>
                                      </p:cBhvr>
                                      <p:tavLst>
                                        <p:tav tm="0">
                                          <p:val>
                                            <p:strVal val="#ppt_x"/>
                                          </p:val>
                                        </p:tav>
                                        <p:tav tm="100000">
                                          <p:val>
                                            <p:strVal val="#ppt_x"/>
                                          </p:val>
                                        </p:tav>
                                      </p:tavLst>
                                    </p:anim>
                                    <p:anim calcmode="lin" valueType="num">
                                      <p:cBhvr>
                                        <p:cTn id="197" dur="500" fill="hold"/>
                                        <p:tgtEl>
                                          <p:spTgt spid="43"/>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4"/>
                                        </p:tgtEl>
                                        <p:attrNameLst>
                                          <p:attrName>style.visibility</p:attrName>
                                        </p:attrNameLst>
                                      </p:cBhvr>
                                      <p:to>
                                        <p:strVal val="visible"/>
                                      </p:to>
                                    </p:set>
                                    <p:animEffect transition="in" filter="fade">
                                      <p:cBhvr>
                                        <p:cTn id="200" dur="500"/>
                                        <p:tgtEl>
                                          <p:spTgt spid="44"/>
                                        </p:tgtEl>
                                      </p:cBhvr>
                                    </p:animEffect>
                                    <p:anim calcmode="lin" valueType="num">
                                      <p:cBhvr>
                                        <p:cTn id="201" dur="500" fill="hold"/>
                                        <p:tgtEl>
                                          <p:spTgt spid="44"/>
                                        </p:tgtEl>
                                        <p:attrNameLst>
                                          <p:attrName>ppt_x</p:attrName>
                                        </p:attrNameLst>
                                      </p:cBhvr>
                                      <p:tavLst>
                                        <p:tav tm="0">
                                          <p:val>
                                            <p:strVal val="#ppt_x"/>
                                          </p:val>
                                        </p:tav>
                                        <p:tav tm="100000">
                                          <p:val>
                                            <p:strVal val="#ppt_x"/>
                                          </p:val>
                                        </p:tav>
                                      </p:tavLst>
                                    </p:anim>
                                    <p:anim calcmode="lin" valueType="num">
                                      <p:cBhvr>
                                        <p:cTn id="202" dur="500" fill="hold"/>
                                        <p:tgtEl>
                                          <p:spTgt spid="44"/>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5"/>
                                        </p:tgtEl>
                                        <p:attrNameLst>
                                          <p:attrName>style.visibility</p:attrName>
                                        </p:attrNameLst>
                                      </p:cBhvr>
                                      <p:to>
                                        <p:strVal val="visible"/>
                                      </p:to>
                                    </p:set>
                                    <p:animEffect transition="in" filter="fade">
                                      <p:cBhvr>
                                        <p:cTn id="205" dur="500"/>
                                        <p:tgtEl>
                                          <p:spTgt spid="45"/>
                                        </p:tgtEl>
                                      </p:cBhvr>
                                    </p:animEffect>
                                    <p:anim calcmode="lin" valueType="num">
                                      <p:cBhvr>
                                        <p:cTn id="206" dur="500" fill="hold"/>
                                        <p:tgtEl>
                                          <p:spTgt spid="45"/>
                                        </p:tgtEl>
                                        <p:attrNameLst>
                                          <p:attrName>ppt_x</p:attrName>
                                        </p:attrNameLst>
                                      </p:cBhvr>
                                      <p:tavLst>
                                        <p:tav tm="0">
                                          <p:val>
                                            <p:strVal val="#ppt_x"/>
                                          </p:val>
                                        </p:tav>
                                        <p:tav tm="100000">
                                          <p:val>
                                            <p:strVal val="#ppt_x"/>
                                          </p:val>
                                        </p:tav>
                                      </p:tavLst>
                                    </p:anim>
                                    <p:anim calcmode="lin" valueType="num">
                                      <p:cBhvr>
                                        <p:cTn id="207" dur="500" fill="hold"/>
                                        <p:tgtEl>
                                          <p:spTgt spid="45"/>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6"/>
                                        </p:tgtEl>
                                        <p:attrNameLst>
                                          <p:attrName>style.visibility</p:attrName>
                                        </p:attrNameLst>
                                      </p:cBhvr>
                                      <p:to>
                                        <p:strVal val="visible"/>
                                      </p:to>
                                    </p:set>
                                    <p:animEffect transition="in" filter="fade">
                                      <p:cBhvr>
                                        <p:cTn id="210" dur="500"/>
                                        <p:tgtEl>
                                          <p:spTgt spid="46"/>
                                        </p:tgtEl>
                                      </p:cBhvr>
                                    </p:animEffect>
                                    <p:anim calcmode="lin" valueType="num">
                                      <p:cBhvr>
                                        <p:cTn id="211" dur="500" fill="hold"/>
                                        <p:tgtEl>
                                          <p:spTgt spid="46"/>
                                        </p:tgtEl>
                                        <p:attrNameLst>
                                          <p:attrName>ppt_x</p:attrName>
                                        </p:attrNameLst>
                                      </p:cBhvr>
                                      <p:tavLst>
                                        <p:tav tm="0">
                                          <p:val>
                                            <p:strVal val="#ppt_x"/>
                                          </p:val>
                                        </p:tav>
                                        <p:tav tm="100000">
                                          <p:val>
                                            <p:strVal val="#ppt_x"/>
                                          </p:val>
                                        </p:tav>
                                      </p:tavLst>
                                    </p:anim>
                                    <p:anim calcmode="lin" valueType="num">
                                      <p:cBhvr>
                                        <p:cTn id="212" dur="500" fill="hold"/>
                                        <p:tgtEl>
                                          <p:spTgt spid="46"/>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7"/>
                                        </p:tgtEl>
                                        <p:attrNameLst>
                                          <p:attrName>style.visibility</p:attrName>
                                        </p:attrNameLst>
                                      </p:cBhvr>
                                      <p:to>
                                        <p:strVal val="visible"/>
                                      </p:to>
                                    </p:set>
                                    <p:animEffect transition="in" filter="fade">
                                      <p:cBhvr>
                                        <p:cTn id="215" dur="500"/>
                                        <p:tgtEl>
                                          <p:spTgt spid="47"/>
                                        </p:tgtEl>
                                      </p:cBhvr>
                                    </p:animEffect>
                                    <p:anim calcmode="lin" valueType="num">
                                      <p:cBhvr>
                                        <p:cTn id="216" dur="500" fill="hold"/>
                                        <p:tgtEl>
                                          <p:spTgt spid="47"/>
                                        </p:tgtEl>
                                        <p:attrNameLst>
                                          <p:attrName>ppt_x</p:attrName>
                                        </p:attrNameLst>
                                      </p:cBhvr>
                                      <p:tavLst>
                                        <p:tav tm="0">
                                          <p:val>
                                            <p:strVal val="#ppt_x"/>
                                          </p:val>
                                        </p:tav>
                                        <p:tav tm="100000">
                                          <p:val>
                                            <p:strVal val="#ppt_x"/>
                                          </p:val>
                                        </p:tav>
                                      </p:tavLst>
                                    </p:anim>
                                    <p:anim calcmode="lin" valueType="num">
                                      <p:cBhvr>
                                        <p:cTn id="217" dur="500" fill="hold"/>
                                        <p:tgtEl>
                                          <p:spTgt spid="47"/>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8"/>
                                        </p:tgtEl>
                                        <p:attrNameLst>
                                          <p:attrName>style.visibility</p:attrName>
                                        </p:attrNameLst>
                                      </p:cBhvr>
                                      <p:to>
                                        <p:strVal val="visible"/>
                                      </p:to>
                                    </p:set>
                                    <p:animEffect transition="in" filter="fade">
                                      <p:cBhvr>
                                        <p:cTn id="220" dur="500"/>
                                        <p:tgtEl>
                                          <p:spTgt spid="48"/>
                                        </p:tgtEl>
                                      </p:cBhvr>
                                    </p:animEffect>
                                    <p:anim calcmode="lin" valueType="num">
                                      <p:cBhvr>
                                        <p:cTn id="221" dur="500" fill="hold"/>
                                        <p:tgtEl>
                                          <p:spTgt spid="48"/>
                                        </p:tgtEl>
                                        <p:attrNameLst>
                                          <p:attrName>ppt_x</p:attrName>
                                        </p:attrNameLst>
                                      </p:cBhvr>
                                      <p:tavLst>
                                        <p:tav tm="0">
                                          <p:val>
                                            <p:strVal val="#ppt_x"/>
                                          </p:val>
                                        </p:tav>
                                        <p:tav tm="100000">
                                          <p:val>
                                            <p:strVal val="#ppt_x"/>
                                          </p:val>
                                        </p:tav>
                                      </p:tavLst>
                                    </p:anim>
                                    <p:anim calcmode="lin" valueType="num">
                                      <p:cBhvr>
                                        <p:cTn id="222" dur="500" fill="hold"/>
                                        <p:tgtEl>
                                          <p:spTgt spid="48"/>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9"/>
                                        </p:tgtEl>
                                        <p:attrNameLst>
                                          <p:attrName>style.visibility</p:attrName>
                                        </p:attrNameLst>
                                      </p:cBhvr>
                                      <p:to>
                                        <p:strVal val="visible"/>
                                      </p:to>
                                    </p:set>
                                    <p:animEffect transition="in" filter="fade">
                                      <p:cBhvr>
                                        <p:cTn id="225" dur="500"/>
                                        <p:tgtEl>
                                          <p:spTgt spid="49"/>
                                        </p:tgtEl>
                                      </p:cBhvr>
                                    </p:animEffect>
                                    <p:anim calcmode="lin" valueType="num">
                                      <p:cBhvr>
                                        <p:cTn id="226" dur="500" fill="hold"/>
                                        <p:tgtEl>
                                          <p:spTgt spid="49"/>
                                        </p:tgtEl>
                                        <p:attrNameLst>
                                          <p:attrName>ppt_x</p:attrName>
                                        </p:attrNameLst>
                                      </p:cBhvr>
                                      <p:tavLst>
                                        <p:tav tm="0">
                                          <p:val>
                                            <p:strVal val="#ppt_x"/>
                                          </p:val>
                                        </p:tav>
                                        <p:tav tm="100000">
                                          <p:val>
                                            <p:strVal val="#ppt_x"/>
                                          </p:val>
                                        </p:tav>
                                      </p:tavLst>
                                    </p:anim>
                                    <p:anim calcmode="lin" valueType="num">
                                      <p:cBhvr>
                                        <p:cTn id="227" dur="500" fill="hold"/>
                                        <p:tgtEl>
                                          <p:spTgt spid="49"/>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50"/>
                                        </p:tgtEl>
                                        <p:attrNameLst>
                                          <p:attrName>style.visibility</p:attrName>
                                        </p:attrNameLst>
                                      </p:cBhvr>
                                      <p:to>
                                        <p:strVal val="visible"/>
                                      </p:to>
                                    </p:set>
                                    <p:animEffect transition="in" filter="fade">
                                      <p:cBhvr>
                                        <p:cTn id="230" dur="500"/>
                                        <p:tgtEl>
                                          <p:spTgt spid="50"/>
                                        </p:tgtEl>
                                      </p:cBhvr>
                                    </p:animEffect>
                                    <p:anim calcmode="lin" valueType="num">
                                      <p:cBhvr>
                                        <p:cTn id="231" dur="500" fill="hold"/>
                                        <p:tgtEl>
                                          <p:spTgt spid="50"/>
                                        </p:tgtEl>
                                        <p:attrNameLst>
                                          <p:attrName>ppt_x</p:attrName>
                                        </p:attrNameLst>
                                      </p:cBhvr>
                                      <p:tavLst>
                                        <p:tav tm="0">
                                          <p:val>
                                            <p:strVal val="#ppt_x"/>
                                          </p:val>
                                        </p:tav>
                                        <p:tav tm="100000">
                                          <p:val>
                                            <p:strVal val="#ppt_x"/>
                                          </p:val>
                                        </p:tav>
                                      </p:tavLst>
                                    </p:anim>
                                    <p:anim calcmode="lin" valueType="num">
                                      <p:cBhvr>
                                        <p:cTn id="232" dur="500" fill="hold"/>
                                        <p:tgtEl>
                                          <p:spTgt spid="50"/>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51"/>
                                        </p:tgtEl>
                                        <p:attrNameLst>
                                          <p:attrName>style.visibility</p:attrName>
                                        </p:attrNameLst>
                                      </p:cBhvr>
                                      <p:to>
                                        <p:strVal val="visible"/>
                                      </p:to>
                                    </p:set>
                                    <p:animEffect transition="in" filter="fade">
                                      <p:cBhvr>
                                        <p:cTn id="235" dur="500"/>
                                        <p:tgtEl>
                                          <p:spTgt spid="51"/>
                                        </p:tgtEl>
                                      </p:cBhvr>
                                    </p:animEffect>
                                    <p:anim calcmode="lin" valueType="num">
                                      <p:cBhvr>
                                        <p:cTn id="236" dur="500" fill="hold"/>
                                        <p:tgtEl>
                                          <p:spTgt spid="51"/>
                                        </p:tgtEl>
                                        <p:attrNameLst>
                                          <p:attrName>ppt_x</p:attrName>
                                        </p:attrNameLst>
                                      </p:cBhvr>
                                      <p:tavLst>
                                        <p:tav tm="0">
                                          <p:val>
                                            <p:strVal val="#ppt_x"/>
                                          </p:val>
                                        </p:tav>
                                        <p:tav tm="100000">
                                          <p:val>
                                            <p:strVal val="#ppt_x"/>
                                          </p:val>
                                        </p:tav>
                                      </p:tavLst>
                                    </p:anim>
                                    <p:anim calcmode="lin" valueType="num">
                                      <p:cBhvr>
                                        <p:cTn id="237" dur="500" fill="hold"/>
                                        <p:tgtEl>
                                          <p:spTgt spid="51"/>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2"/>
                                        </p:tgtEl>
                                        <p:attrNameLst>
                                          <p:attrName>style.visibility</p:attrName>
                                        </p:attrNameLst>
                                      </p:cBhvr>
                                      <p:to>
                                        <p:strVal val="visible"/>
                                      </p:to>
                                    </p:set>
                                    <p:animEffect transition="in" filter="fade">
                                      <p:cBhvr>
                                        <p:cTn id="240" dur="500"/>
                                        <p:tgtEl>
                                          <p:spTgt spid="52"/>
                                        </p:tgtEl>
                                      </p:cBhvr>
                                    </p:animEffect>
                                    <p:anim calcmode="lin" valueType="num">
                                      <p:cBhvr>
                                        <p:cTn id="241" dur="500" fill="hold"/>
                                        <p:tgtEl>
                                          <p:spTgt spid="52"/>
                                        </p:tgtEl>
                                        <p:attrNameLst>
                                          <p:attrName>ppt_x</p:attrName>
                                        </p:attrNameLst>
                                      </p:cBhvr>
                                      <p:tavLst>
                                        <p:tav tm="0">
                                          <p:val>
                                            <p:strVal val="#ppt_x"/>
                                          </p:val>
                                        </p:tav>
                                        <p:tav tm="100000">
                                          <p:val>
                                            <p:strVal val="#ppt_x"/>
                                          </p:val>
                                        </p:tav>
                                      </p:tavLst>
                                    </p:anim>
                                    <p:anim calcmode="lin" valueType="num">
                                      <p:cBhvr>
                                        <p:cTn id="24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B</a:t>
            </a:r>
            <a:endParaRPr lang="en-US" sz="3450" dirty="0"/>
          </a:p>
        </p:txBody>
      </p:sp>
      <p:sp>
        <p:nvSpPr>
          <p:cNvPr id="4" name="Shape 4"/>
          <p:cNvSpPr txBox="1"/>
          <p:nvPr/>
        </p:nvSpPr>
        <p:spPr>
          <a:xfrm>
            <a:off x="685800" y="1618488"/>
            <a:ext cx="10820095" cy="7406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B is at a water level of </a:t>
            </a:r>
            <a:r>
              <a:rPr lang="en-US" sz="2250" dirty="0" b="1">
                <a:solidFill>
                  <a:srgbClr val="16171D"/>
                </a:solidFill>
                <a:latin typeface="Segoe UI"/>
                <a:cs typeface="Segoe UI"/>
              </a:rPr>
              <a:t xml:space="preserve">10 feet after draining for 3 hours</a:t>
            </a:r>
            <a:r>
              <a:rPr lang="en-US" sz="2250" dirty="0">
                <a:solidFill>
                  <a:srgbClr val="16171D"/>
                </a:solidFill>
                <a:latin typeface="Segoe UI"/>
                <a:cs typeface="Segoe UI"/>
              </a:rPr>
              <a:t xml:space="preserve"> and drains at a rate of </a:t>
            </a:r>
            <a:r>
              <a:rPr lang="en-US" sz="2250" dirty="0" b="1">
                <a:solidFill>
                  <a:srgbClr val="16171D"/>
                </a:solidFill>
                <a:latin typeface="Segoe UI"/>
                <a:cs typeface="Segoe UI"/>
              </a:rPr>
              <a:t xml:space="preserve">2 feet per hour</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5306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a point: </a:t>
            </a:r>
            <a:r>
              <a:rPr lang="en-US" sz="2325" dirty="0" b="1">
                <a:solidFill>
                  <a:srgbClr val="3050B8"/>
                </a:solidFill>
                <a:latin typeface="Cambria"/>
                <a:cs typeface="Cambria"/>
              </a:rPr>
              <a:t xml:space="preserve">(3, 10)</a:t>
            </a:r>
            <a:endParaRPr lang="en-US" sz="1950" dirty="0"/>
          </a:p>
        </p:txBody>
      </p:sp>
      <p:sp>
        <p:nvSpPr>
          <p:cNvPr id="6" name="Shape 6"/>
          <p:cNvSpPr txBox="1"/>
          <p:nvPr/>
        </p:nvSpPr>
        <p:spPr>
          <a:xfrm>
            <a:off x="685800" y="301599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know the slope: </a:t>
            </a:r>
            <a:r>
              <a:rPr lang="en-US" sz="2325" dirty="0" b="1" i="1">
                <a:solidFill>
                  <a:srgbClr val="C9561F"/>
                </a:solidFill>
                <a:latin typeface="Cambria"/>
                <a:cs typeface="Cambria"/>
              </a:rPr>
              <a:t xml:space="preserve">m</a:t>
            </a:r>
            <a:r>
              <a:rPr lang="en-US" sz="2325" dirty="0" b="1">
                <a:solidFill>
                  <a:srgbClr val="C9561F"/>
                </a:solidFill>
                <a:latin typeface="Cambria"/>
                <a:cs typeface="Cambria"/>
              </a:rPr>
              <a:t xml:space="preserve"> = −2</a:t>
            </a:r>
            <a:endParaRPr lang="en-US" sz="1950" dirty="0"/>
          </a:p>
        </p:txBody>
      </p:sp>
      <p:sp>
        <p:nvSpPr>
          <p:cNvPr id="7" name="Shape 7"/>
          <p:cNvSpPr txBox="1"/>
          <p:nvPr/>
        </p:nvSpPr>
        <p:spPr>
          <a:xfrm>
            <a:off x="685800" y="3501390"/>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We </a:t>
            </a:r>
            <a:r>
              <a:rPr lang="en-US" sz="1950" dirty="0" b="1">
                <a:solidFill>
                  <a:srgbClr val="16171D"/>
                </a:solidFill>
                <a:latin typeface="Segoe UI"/>
                <a:cs typeface="Segoe UI"/>
              </a:rPr>
              <a:t xml:space="preserve">don't</a:t>
            </a:r>
            <a:r>
              <a:rPr lang="en-US" sz="1950" dirty="0">
                <a:solidFill>
                  <a:srgbClr val="16171D"/>
                </a:solidFill>
                <a:latin typeface="Segoe UI"/>
                <a:cs typeface="Segoe UI"/>
              </a:rPr>
              <a:t xml:space="preserve"> know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Substitute into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mx</a:t>
            </a:r>
            <a:r>
              <a:rPr lang="en-US" sz="1950" dirty="0">
                <a:solidFill>
                  <a:srgbClr val="16171D"/>
                </a:solidFill>
                <a:latin typeface="Cambria"/>
                <a:cs typeface="Cambria"/>
              </a:rPr>
              <a:t xml:space="preserve"> +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4667098" y="2530602"/>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a:solidFill>
                  <a:srgbClr val="16171D"/>
                </a:solidFill>
                <a:latin typeface="Cambria"/>
                <a:cs typeface="Cambria"/>
              </a:rPr>
              <a:t xml:space="preserve">(</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b</a:t>
            </a:r>
            <a:endParaRPr lang="en-US" sz="2850" dirty="0"/>
          </a:p>
        </p:txBody>
      </p:sp>
      <p:sp>
        <p:nvSpPr>
          <p:cNvPr id="9" name="Shape 9"/>
          <p:cNvSpPr txBox="1"/>
          <p:nvPr/>
        </p:nvSpPr>
        <p:spPr>
          <a:xfrm>
            <a:off x="4667098" y="315315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10 = −6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77571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16</a:t>
            </a:r>
            <a:endParaRPr lang="en-US" sz="2850" dirty="0"/>
          </a:p>
        </p:txBody>
      </p:sp>
      <p:sp>
        <p:nvSpPr>
          <p:cNvPr id="11" name="Shape 11"/>
          <p:cNvSpPr txBox="1"/>
          <p:nvPr/>
        </p:nvSpPr>
        <p:spPr>
          <a:xfrm>
            <a:off x="4667098" y="4398264"/>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+ 16</a:t>
            </a:r>
            <a:endParaRPr lang="en-US" sz="2850" dirty="0"/>
          </a:p>
        </p:txBody>
      </p:sp>
      <p:sp>
        <p:nvSpPr>
          <p:cNvPr id="12" name="Shape 12"/>
          <p:cNvSpPr/>
          <p:nvPr/>
        </p:nvSpPr>
        <p:spPr>
          <a:xfrm>
            <a:off x="8648395" y="25306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3" name="Line 13"/>
          <p:cNvCxnSpPr/>
          <p:nvPr/>
        </p:nvCxnSpPr>
        <p:spPr>
          <a:xfrm>
            <a:off x="8972245" y="2644902"/>
            <a:ext cx="0" cy="2781300"/>
          </a:xfrm>
          <a:prstGeom prst="line">
            <a:avLst/>
          </a:prstGeom>
          <a:ln w="9525" cap="flat">
            <a:solidFill>
              <a:srgbClr val="E6E8F2"/>
            </a:solidFill>
          </a:ln>
        </p:spPr>
      </p:cxnSp>
      <p:cxnSp>
        <p:nvCxnSpPr>
          <p:cNvPr id="14" name="Line 14"/>
          <p:cNvCxnSpPr/>
          <p:nvPr/>
        </p:nvCxnSpPr>
        <p:spPr>
          <a:xfrm>
            <a:off x="9173858" y="2644902"/>
            <a:ext cx="0" cy="2781300"/>
          </a:xfrm>
          <a:prstGeom prst="line">
            <a:avLst/>
          </a:prstGeom>
          <a:ln w="9525" cap="flat">
            <a:solidFill>
              <a:srgbClr val="E6E8F2"/>
            </a:solidFill>
          </a:ln>
        </p:spPr>
      </p:cxnSp>
      <p:cxnSp>
        <p:nvCxnSpPr>
          <p:cNvPr id="15" name="Line 15"/>
          <p:cNvCxnSpPr/>
          <p:nvPr/>
        </p:nvCxnSpPr>
        <p:spPr>
          <a:xfrm>
            <a:off x="9375470" y="2644902"/>
            <a:ext cx="0" cy="2781300"/>
          </a:xfrm>
          <a:prstGeom prst="line">
            <a:avLst/>
          </a:prstGeom>
          <a:ln w="9525" cap="flat">
            <a:solidFill>
              <a:srgbClr val="E6E8F2"/>
            </a:solidFill>
          </a:ln>
        </p:spPr>
      </p:cxnSp>
      <p:cxnSp>
        <p:nvCxnSpPr>
          <p:cNvPr id="16" name="Line 16"/>
          <p:cNvCxnSpPr/>
          <p:nvPr/>
        </p:nvCxnSpPr>
        <p:spPr>
          <a:xfrm>
            <a:off x="9577083" y="2644902"/>
            <a:ext cx="0" cy="2781300"/>
          </a:xfrm>
          <a:prstGeom prst="line">
            <a:avLst/>
          </a:prstGeom>
          <a:ln w="9525" cap="flat">
            <a:solidFill>
              <a:srgbClr val="E6E8F2"/>
            </a:solidFill>
          </a:ln>
        </p:spPr>
      </p:cxnSp>
      <p:cxnSp>
        <p:nvCxnSpPr>
          <p:cNvPr id="17" name="Line 17"/>
          <p:cNvCxnSpPr/>
          <p:nvPr/>
        </p:nvCxnSpPr>
        <p:spPr>
          <a:xfrm>
            <a:off x="9778695" y="2644902"/>
            <a:ext cx="0" cy="2781300"/>
          </a:xfrm>
          <a:prstGeom prst="line">
            <a:avLst/>
          </a:prstGeom>
          <a:ln w="9525" cap="flat">
            <a:solidFill>
              <a:srgbClr val="E6E8F2"/>
            </a:solidFill>
          </a:ln>
        </p:spPr>
      </p:cxnSp>
      <p:cxnSp>
        <p:nvCxnSpPr>
          <p:cNvPr id="18" name="Line 18"/>
          <p:cNvCxnSpPr/>
          <p:nvPr/>
        </p:nvCxnSpPr>
        <p:spPr>
          <a:xfrm>
            <a:off x="9980308" y="2644902"/>
            <a:ext cx="0" cy="2781300"/>
          </a:xfrm>
          <a:prstGeom prst="line">
            <a:avLst/>
          </a:prstGeom>
          <a:ln w="9525" cap="flat">
            <a:solidFill>
              <a:srgbClr val="E6E8F2"/>
            </a:solidFill>
          </a:ln>
        </p:spPr>
      </p:cxnSp>
      <p:cxnSp>
        <p:nvCxnSpPr>
          <p:cNvPr id="19" name="Line 19"/>
          <p:cNvCxnSpPr/>
          <p:nvPr/>
        </p:nvCxnSpPr>
        <p:spPr>
          <a:xfrm>
            <a:off x="10181920" y="2644902"/>
            <a:ext cx="0" cy="2781300"/>
          </a:xfrm>
          <a:prstGeom prst="line">
            <a:avLst/>
          </a:prstGeom>
          <a:ln w="9525" cap="flat">
            <a:solidFill>
              <a:srgbClr val="E6E8F2"/>
            </a:solidFill>
          </a:ln>
        </p:spPr>
      </p:cxnSp>
      <p:cxnSp>
        <p:nvCxnSpPr>
          <p:cNvPr id="20" name="Line 20"/>
          <p:cNvCxnSpPr/>
          <p:nvPr/>
        </p:nvCxnSpPr>
        <p:spPr>
          <a:xfrm>
            <a:off x="10383533" y="2644902"/>
            <a:ext cx="0" cy="2781300"/>
          </a:xfrm>
          <a:prstGeom prst="line">
            <a:avLst/>
          </a:prstGeom>
          <a:ln w="9525" cap="flat">
            <a:solidFill>
              <a:srgbClr val="E6E8F2"/>
            </a:solidFill>
          </a:ln>
        </p:spPr>
      </p:cxnSp>
      <p:cxnSp>
        <p:nvCxnSpPr>
          <p:cNvPr id="21" name="Line 21"/>
          <p:cNvCxnSpPr/>
          <p:nvPr/>
        </p:nvCxnSpPr>
        <p:spPr>
          <a:xfrm>
            <a:off x="10585145" y="2644902"/>
            <a:ext cx="0" cy="2781300"/>
          </a:xfrm>
          <a:prstGeom prst="line">
            <a:avLst/>
          </a:prstGeom>
          <a:ln w="9525" cap="flat">
            <a:solidFill>
              <a:srgbClr val="E6E8F2"/>
            </a:solidFill>
          </a:ln>
        </p:spPr>
      </p:cxnSp>
      <p:cxnSp>
        <p:nvCxnSpPr>
          <p:cNvPr id="22" name="Line 22"/>
          <p:cNvCxnSpPr/>
          <p:nvPr/>
        </p:nvCxnSpPr>
        <p:spPr>
          <a:xfrm>
            <a:off x="10786758" y="2644902"/>
            <a:ext cx="0" cy="2781300"/>
          </a:xfrm>
          <a:prstGeom prst="line">
            <a:avLst/>
          </a:prstGeom>
          <a:ln w="9525" cap="flat">
            <a:solidFill>
              <a:srgbClr val="E6E8F2"/>
            </a:solidFill>
          </a:ln>
        </p:spPr>
      </p:cxnSp>
      <p:cxnSp>
        <p:nvCxnSpPr>
          <p:cNvPr id="23" name="Line 23"/>
          <p:cNvCxnSpPr/>
          <p:nvPr/>
        </p:nvCxnSpPr>
        <p:spPr>
          <a:xfrm>
            <a:off x="10988370" y="2644902"/>
            <a:ext cx="0" cy="2781300"/>
          </a:xfrm>
          <a:prstGeom prst="line">
            <a:avLst/>
          </a:prstGeom>
          <a:ln w="9525" cap="flat">
            <a:solidFill>
              <a:srgbClr val="E6E8F2"/>
            </a:solidFill>
          </a:ln>
        </p:spPr>
      </p:cxnSp>
      <p:cxnSp>
        <p:nvCxnSpPr>
          <p:cNvPr id="24" name="Line 24"/>
          <p:cNvCxnSpPr/>
          <p:nvPr/>
        </p:nvCxnSpPr>
        <p:spPr>
          <a:xfrm>
            <a:off x="11189983" y="2644902"/>
            <a:ext cx="0" cy="2781300"/>
          </a:xfrm>
          <a:prstGeom prst="line">
            <a:avLst/>
          </a:prstGeom>
          <a:ln w="9525" cap="flat">
            <a:solidFill>
              <a:srgbClr val="E6E8F2"/>
            </a:solidFill>
          </a:ln>
        </p:spPr>
      </p:cxnSp>
      <p:cxnSp>
        <p:nvCxnSpPr>
          <p:cNvPr id="25" name="Line 25"/>
          <p:cNvCxnSpPr/>
          <p:nvPr/>
        </p:nvCxnSpPr>
        <p:spPr>
          <a:xfrm>
            <a:off x="11391595" y="2644902"/>
            <a:ext cx="0" cy="2781300"/>
          </a:xfrm>
          <a:prstGeom prst="line">
            <a:avLst/>
          </a:prstGeom>
          <a:ln w="9525" cap="flat">
            <a:solidFill>
              <a:srgbClr val="E6E8F2"/>
            </a:solidFill>
          </a:ln>
        </p:spPr>
      </p:cxnSp>
      <p:cxnSp>
        <p:nvCxnSpPr>
          <p:cNvPr id="26" name="Line 26"/>
          <p:cNvCxnSpPr/>
          <p:nvPr/>
        </p:nvCxnSpPr>
        <p:spPr>
          <a:xfrm>
            <a:off x="8972245" y="5426202"/>
            <a:ext cx="2419350" cy="0"/>
          </a:xfrm>
          <a:prstGeom prst="line">
            <a:avLst/>
          </a:prstGeom>
          <a:ln w="9525" cap="flat">
            <a:solidFill>
              <a:srgbClr val="E6E8F2"/>
            </a:solidFill>
          </a:ln>
        </p:spPr>
      </p:cxnSp>
      <p:cxnSp>
        <p:nvCxnSpPr>
          <p:cNvPr id="27" name="Line 27"/>
          <p:cNvCxnSpPr/>
          <p:nvPr/>
        </p:nvCxnSpPr>
        <p:spPr>
          <a:xfrm>
            <a:off x="8972245" y="5148072"/>
            <a:ext cx="2419350" cy="0"/>
          </a:xfrm>
          <a:prstGeom prst="line">
            <a:avLst/>
          </a:prstGeom>
          <a:ln w="9525" cap="flat">
            <a:solidFill>
              <a:srgbClr val="E6E8F2"/>
            </a:solidFill>
          </a:ln>
        </p:spPr>
      </p:cxnSp>
      <p:cxnSp>
        <p:nvCxnSpPr>
          <p:cNvPr id="28" name="Line 28"/>
          <p:cNvCxnSpPr/>
          <p:nvPr/>
        </p:nvCxnSpPr>
        <p:spPr>
          <a:xfrm>
            <a:off x="8972245" y="4869942"/>
            <a:ext cx="2419350" cy="0"/>
          </a:xfrm>
          <a:prstGeom prst="line">
            <a:avLst/>
          </a:prstGeom>
          <a:ln w="9525" cap="flat">
            <a:solidFill>
              <a:srgbClr val="E6E8F2"/>
            </a:solidFill>
          </a:ln>
        </p:spPr>
      </p:cxnSp>
      <p:cxnSp>
        <p:nvCxnSpPr>
          <p:cNvPr id="29" name="Line 29"/>
          <p:cNvCxnSpPr/>
          <p:nvPr/>
        </p:nvCxnSpPr>
        <p:spPr>
          <a:xfrm>
            <a:off x="8972245" y="4591812"/>
            <a:ext cx="2419350" cy="0"/>
          </a:xfrm>
          <a:prstGeom prst="line">
            <a:avLst/>
          </a:prstGeom>
          <a:ln w="9525" cap="flat">
            <a:solidFill>
              <a:srgbClr val="E6E8F2"/>
            </a:solidFill>
          </a:ln>
        </p:spPr>
      </p:cxnSp>
      <p:cxnSp>
        <p:nvCxnSpPr>
          <p:cNvPr id="30" name="Line 30"/>
          <p:cNvCxnSpPr/>
          <p:nvPr/>
        </p:nvCxnSpPr>
        <p:spPr>
          <a:xfrm>
            <a:off x="8972245" y="4313682"/>
            <a:ext cx="2419350" cy="0"/>
          </a:xfrm>
          <a:prstGeom prst="line">
            <a:avLst/>
          </a:prstGeom>
          <a:ln w="9525" cap="flat">
            <a:solidFill>
              <a:srgbClr val="E6E8F2"/>
            </a:solidFill>
          </a:ln>
        </p:spPr>
      </p:cxnSp>
      <p:cxnSp>
        <p:nvCxnSpPr>
          <p:cNvPr id="31" name="Line 31"/>
          <p:cNvCxnSpPr/>
          <p:nvPr/>
        </p:nvCxnSpPr>
        <p:spPr>
          <a:xfrm>
            <a:off x="8972245" y="4035552"/>
            <a:ext cx="2419350" cy="0"/>
          </a:xfrm>
          <a:prstGeom prst="line">
            <a:avLst/>
          </a:prstGeom>
          <a:ln w="9525" cap="flat">
            <a:solidFill>
              <a:srgbClr val="E6E8F2"/>
            </a:solidFill>
          </a:ln>
        </p:spPr>
      </p:cxnSp>
      <p:cxnSp>
        <p:nvCxnSpPr>
          <p:cNvPr id="32" name="Line 32"/>
          <p:cNvCxnSpPr/>
          <p:nvPr/>
        </p:nvCxnSpPr>
        <p:spPr>
          <a:xfrm>
            <a:off x="8972245" y="3757422"/>
            <a:ext cx="2419350" cy="0"/>
          </a:xfrm>
          <a:prstGeom prst="line">
            <a:avLst/>
          </a:prstGeom>
          <a:ln w="9525" cap="flat">
            <a:solidFill>
              <a:srgbClr val="E6E8F2"/>
            </a:solidFill>
          </a:ln>
        </p:spPr>
      </p:cxnSp>
      <p:cxnSp>
        <p:nvCxnSpPr>
          <p:cNvPr id="33" name="Line 33"/>
          <p:cNvCxnSpPr/>
          <p:nvPr/>
        </p:nvCxnSpPr>
        <p:spPr>
          <a:xfrm>
            <a:off x="8972245" y="3479292"/>
            <a:ext cx="2419350" cy="0"/>
          </a:xfrm>
          <a:prstGeom prst="line">
            <a:avLst/>
          </a:prstGeom>
          <a:ln w="9525" cap="flat">
            <a:solidFill>
              <a:srgbClr val="E6E8F2"/>
            </a:solidFill>
          </a:ln>
        </p:spPr>
      </p:cxnSp>
      <p:cxnSp>
        <p:nvCxnSpPr>
          <p:cNvPr id="34" name="Line 34"/>
          <p:cNvCxnSpPr/>
          <p:nvPr/>
        </p:nvCxnSpPr>
        <p:spPr>
          <a:xfrm>
            <a:off x="8972245" y="3201162"/>
            <a:ext cx="2419350" cy="0"/>
          </a:xfrm>
          <a:prstGeom prst="line">
            <a:avLst/>
          </a:prstGeom>
          <a:ln w="9525" cap="flat">
            <a:solidFill>
              <a:srgbClr val="E6E8F2"/>
            </a:solidFill>
          </a:ln>
        </p:spPr>
      </p:cxnSp>
      <p:cxnSp>
        <p:nvCxnSpPr>
          <p:cNvPr id="35" name="Line 35"/>
          <p:cNvCxnSpPr/>
          <p:nvPr/>
        </p:nvCxnSpPr>
        <p:spPr>
          <a:xfrm>
            <a:off x="8972245" y="2923032"/>
            <a:ext cx="2419350" cy="0"/>
          </a:xfrm>
          <a:prstGeom prst="line">
            <a:avLst/>
          </a:prstGeom>
          <a:ln w="9525" cap="flat">
            <a:solidFill>
              <a:srgbClr val="E6E8F2"/>
            </a:solidFill>
          </a:ln>
        </p:spPr>
      </p:cxnSp>
      <p:cxnSp>
        <p:nvCxnSpPr>
          <p:cNvPr id="36" name="Line 36"/>
          <p:cNvCxnSpPr/>
          <p:nvPr/>
        </p:nvCxnSpPr>
        <p:spPr>
          <a:xfrm>
            <a:off x="8972245" y="2644902"/>
            <a:ext cx="2419350" cy="0"/>
          </a:xfrm>
          <a:prstGeom prst="line">
            <a:avLst/>
          </a:prstGeom>
          <a:ln w="9525" cap="flat">
            <a:solidFill>
              <a:srgbClr val="E6E8F2"/>
            </a:solidFill>
          </a:ln>
        </p:spPr>
      </p:cxnSp>
      <p:cxnSp>
        <p:nvCxnSpPr>
          <p:cNvPr id="37" name="Line 37"/>
          <p:cNvCxnSpPr/>
          <p:nvPr/>
        </p:nvCxnSpPr>
        <p:spPr>
          <a:xfrm>
            <a:off x="8972245" y="2644902"/>
            <a:ext cx="0" cy="2781300"/>
          </a:xfrm>
          <a:prstGeom prst="line">
            <a:avLst/>
          </a:prstGeom>
          <a:ln w="19050" cap="flat">
            <a:solidFill>
              <a:srgbClr val="5F6272"/>
            </a:solidFill>
          </a:ln>
        </p:spPr>
      </p:cxnSp>
      <p:cxnSp>
        <p:nvCxnSpPr>
          <p:cNvPr id="38" name="Line 38"/>
          <p:cNvCxnSpPr/>
          <p:nvPr/>
        </p:nvCxnSpPr>
        <p:spPr>
          <a:xfrm>
            <a:off x="8972245" y="5426202"/>
            <a:ext cx="2419350" cy="0"/>
          </a:xfrm>
          <a:prstGeom prst="line">
            <a:avLst/>
          </a:prstGeom>
          <a:ln w="19050" cap="flat">
            <a:solidFill>
              <a:srgbClr val="5F6272"/>
            </a:solidFill>
          </a:ln>
        </p:spPr>
      </p:cxnSp>
      <p:sp>
        <p:nvSpPr>
          <p:cNvPr id="39" name="Shape 39"/>
          <p:cNvSpPr txBox="1"/>
          <p:nvPr/>
        </p:nvSpPr>
        <p:spPr>
          <a:xfrm>
            <a:off x="86979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0" name="Shape 40"/>
          <p:cNvSpPr txBox="1"/>
          <p:nvPr/>
        </p:nvSpPr>
        <p:spPr>
          <a:xfrm>
            <a:off x="91011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1" name="Shape 41"/>
          <p:cNvSpPr txBox="1"/>
          <p:nvPr/>
        </p:nvSpPr>
        <p:spPr>
          <a:xfrm>
            <a:off x="95043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990760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3" name="Shape 43"/>
          <p:cNvSpPr txBox="1"/>
          <p:nvPr/>
        </p:nvSpPr>
        <p:spPr>
          <a:xfrm>
            <a:off x="1031082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4" name="Shape 44"/>
          <p:cNvSpPr txBox="1"/>
          <p:nvPr/>
        </p:nvSpPr>
        <p:spPr>
          <a:xfrm>
            <a:off x="10714050"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5" name="Shape 45"/>
          <p:cNvSpPr txBox="1"/>
          <p:nvPr/>
        </p:nvSpPr>
        <p:spPr>
          <a:xfrm>
            <a:off x="11117275" y="54452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6" name="Shape 46"/>
          <p:cNvSpPr txBox="1"/>
          <p:nvPr/>
        </p:nvSpPr>
        <p:spPr>
          <a:xfrm>
            <a:off x="8405317" y="53347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7" name="Shape 47"/>
          <p:cNvSpPr txBox="1"/>
          <p:nvPr/>
        </p:nvSpPr>
        <p:spPr>
          <a:xfrm>
            <a:off x="8405317" y="4778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8" name="Shape 48"/>
          <p:cNvSpPr txBox="1"/>
          <p:nvPr/>
        </p:nvSpPr>
        <p:spPr>
          <a:xfrm>
            <a:off x="8405317" y="42222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8405317" y="36659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0" name="Shape 50"/>
          <p:cNvSpPr txBox="1"/>
          <p:nvPr/>
        </p:nvSpPr>
        <p:spPr>
          <a:xfrm>
            <a:off x="8405317" y="31097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5534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2" name="Line 52"/>
          <p:cNvCxnSpPr/>
          <p:nvPr/>
        </p:nvCxnSpPr>
        <p:spPr>
          <a:xfrm>
            <a:off x="8972245" y="3201162"/>
            <a:ext cx="1612900" cy="2225040"/>
          </a:xfrm>
          <a:prstGeom prst="line">
            <a:avLst/>
          </a:prstGeom>
          <a:ln w="38100" cap="rnd">
            <a:solidFill>
              <a:srgbClr val="16171D"/>
            </a:solidFill>
          </a:ln>
        </p:spPr>
      </p:cxnSp>
      <p:sp>
        <p:nvSpPr>
          <p:cNvPr id="53" name="Shape 53"/>
          <p:cNvSpPr/>
          <p:nvPr/>
        </p:nvSpPr>
        <p:spPr>
          <a:xfrm>
            <a:off x="8919858" y="314877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txBox="1"/>
          <p:nvPr/>
        </p:nvSpPr>
        <p:spPr>
          <a:xfrm>
            <a:off x="9057970" y="295351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(0, 16)</a:t>
            </a:r>
            <a:endParaRPr lang="en-US" sz="1125" dirty="0"/>
          </a:p>
        </p:txBody>
      </p:sp>
      <p:sp>
        <p:nvSpPr>
          <p:cNvPr id="55" name="Shape 55"/>
          <p:cNvSpPr/>
          <p:nvPr/>
        </p:nvSpPr>
        <p:spPr>
          <a:xfrm>
            <a:off x="9524695" y="398316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6" name="Shape 56"/>
          <p:cNvSpPr txBox="1"/>
          <p:nvPr/>
        </p:nvSpPr>
        <p:spPr>
          <a:xfrm>
            <a:off x="9662808" y="378790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(3, 10)</a:t>
            </a:r>
            <a:endParaRPr lang="en-US" sz="1125" dirty="0"/>
          </a:p>
        </p:txBody>
      </p:sp>
      <p:sp>
        <p:nvSpPr>
          <p:cNvPr id="57" name="Slide Number 5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wipe(left)">
                                      <p:cBhvr>
                                        <p:cTn id="25" dur="700"/>
                                        <p:tgtEl>
                                          <p:spTgt spid="8"/>
                                        </p:tgtEl>
                                      </p:cBhvr>
                                    </p:animEffect>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4" fill="hold">
                      <p:stCondLst>
                        <p:cond delay="indefinite"/>
                      </p:stCondLst>
                      <p:childTnLst>
                        <p:par>
                          <p:cTn id="45" fill="hold">
                            <p:stCondLst>
                              <p:cond delay="0"/>
                            </p:stCondLst>
                            <p:childTnLst>
                              <p:par>
                                <p:cTn id="43" presetID="53" presetClass="entr" presetSubtype="16"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fade">
                                      <p:cBhvr>
                                        <p:cTn id="40" dur="500"/>
                                        <p:tgtEl>
                                          <p:spTgt spid="11"/>
                                        </p:tgtEl>
                                      </p:cBhvr>
                                    </p:animEffect>
                                    <p:anim calcmode="lin" valueType="num">
                                      <p:cBhvr>
                                        <p:cTn id="41" dur="500" fill="hold"/>
                                        <p:tgtEl>
                                          <p:spTgt spid="11"/>
                                        </p:tgtEl>
                                        <p:attrNameLst>
                                          <p:attrName>ppt_w</p:attrName>
                                        </p:attrNameLst>
                                      </p:cBhvr>
                                      <p:tavLst>
                                        <p:tav tm="0">
                                          <p:val>
                                            <p:fltVal val="0"/>
                                          </p:val>
                                        </p:tav>
                                        <p:tav tm="100000">
                                          <p:val>
                                            <p:strVal val="#ppt_w"/>
                                          </p:val>
                                        </p:tav>
                                      </p:tavLst>
                                    </p:anim>
                                    <p:anim calcmode="lin" valueType="num">
                                      <p:cBhvr>
                                        <p:cTn id="42" dur="500" fill="hold"/>
                                        <p:tgtEl>
                                          <p:spTgt spid="11"/>
                                        </p:tgtEl>
                                        <p:attrNameLst>
                                          <p:attrName>ppt_h</p:attrName>
                                        </p:attrNameLst>
                                      </p:cBhvr>
                                      <p:tavLst>
                                        <p:tav tm="0">
                                          <p:val>
                                            <p:fltVal val="0"/>
                                          </p:val>
                                        </p:tav>
                                        <p:tav tm="100000">
                                          <p:val>
                                            <p:strVal val="#ppt_h"/>
                                          </p:val>
                                        </p:tav>
                                      </p:tavLst>
                                    </p:anim>
                                  </p:childTnLst>
                                </p:cTn>
                              </p:par>
                            </p:childTnLst>
                          </p:cTn>
                        </p:par>
                      </p:childTnLst>
                    </p:cTn>
                  </p:par>
                  <p:par>
                    <p:cTn id="271" fill="hold">
                      <p:stCondLst>
                        <p:cond delay="indefinite"/>
                      </p:stCondLst>
                      <p:childTnLst>
                        <p:par>
                          <p:cTn id="272" fill="hold">
                            <p:stCondLst>
                              <p:cond delay="0"/>
                            </p:stCondLst>
                            <p:childTnLst>
                              <p:par>
                                <p:cTn id="50" presetID="42" presetClass="entr" presetSubtype="0" fill="hold" nodeType="clickEffect">
                                  <p:stCondLst>
                                    <p:cond delay="0"/>
                                  </p:stCondLst>
                                  <p:childTnLst>
                                    <p:set>
                                      <p:cBhvr>
                                        <p:cTn id="46" dur="1" fill="hold">
                                          <p:stCondLst>
                                            <p:cond delay="0"/>
                                          </p:stCondLst>
                                        </p:cTn>
                                        <p:tgtEl>
                                          <p:spTgt spid="12"/>
                                        </p:tgtEl>
                                        <p:attrNameLst>
                                          <p:attrName>style.visibility</p:attrName>
                                        </p:attrNameLst>
                                      </p:cBhvr>
                                      <p:to>
                                        <p:strVal val="visible"/>
                                      </p:to>
                                    </p:set>
                                    <p:animEffect transition="in" filter="fade">
                                      <p:cBhvr>
                                        <p:cTn id="47" dur="500"/>
                                        <p:tgtEl>
                                          <p:spTgt spid="12"/>
                                        </p:tgtEl>
                                      </p:cBhvr>
                                    </p:animEffect>
                                    <p:anim calcmode="lin" valueType="num">
                                      <p:cBhvr>
                                        <p:cTn id="48" dur="500" fill="hold"/>
                                        <p:tgtEl>
                                          <p:spTgt spid="12"/>
                                        </p:tgtEl>
                                        <p:attrNameLst>
                                          <p:attrName>ppt_x</p:attrName>
                                        </p:attrNameLst>
                                      </p:cBhvr>
                                      <p:tavLst>
                                        <p:tav tm="0">
                                          <p:val>
                                            <p:strVal val="#ppt_x"/>
                                          </p:val>
                                        </p:tav>
                                        <p:tav tm="100000">
                                          <p:val>
                                            <p:strVal val="#ppt_x"/>
                                          </p:val>
                                        </p:tav>
                                      </p:tavLst>
                                    </p:anim>
                                    <p:anim calcmode="lin" valueType="num">
                                      <p:cBhvr>
                                        <p:cTn id="49" dur="500" fill="hold"/>
                                        <p:tgtEl>
                                          <p:spTgt spid="12"/>
                                        </p:tgtEl>
                                        <p:attrNameLst>
                                          <p:attrName>ppt_y</p:attrName>
                                        </p:attrNameLst>
                                      </p:cBhvr>
                                      <p:tavLst>
                                        <p:tav tm="0">
                                          <p:val>
                                            <p:strVal val="#ppt_y+.1"/>
                                          </p:val>
                                        </p:tav>
                                        <p:tav tm="100000">
                                          <p:val>
                                            <p:strVal val="#ppt_y"/>
                                          </p:val>
                                        </p:tav>
                                      </p:tavLst>
                                    </p:anim>
                                  </p:childTnLst>
                                </p:cTn>
                              </p:par>
                              <p:par>
                                <p:cTn id="55" presetID="42" presetClass="entr" presetSubtype="0" fill="hold" nodeType="with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Pool C</a:t>
            </a:r>
            <a:endParaRPr lang="en-US" sz="3450" dirty="0"/>
          </a:p>
        </p:txBody>
      </p:sp>
      <p:sp>
        <p:nvSpPr>
          <p:cNvPr id="4" name="Shape 4"/>
          <p:cNvSpPr txBox="1"/>
          <p:nvPr/>
        </p:nvSpPr>
        <p:spPr>
          <a:xfrm>
            <a:off x="685800" y="1618488"/>
            <a:ext cx="10820095" cy="397764"/>
          </a:xfrm>
          <a:prstGeom prst="rect">
            <a:avLst/>
          </a:prstGeom>
          <a:noFill/>
          <a:ln>
            <a:noFill/>
          </a:ln>
        </p:spPr>
        <p:txBody>
          <a:bodyPr wrap="square" lIns="36576" tIns="27432" rIns="36576" bIns="27432" anchor="t">
            <a:noAutofit/>
          </a:bodyPr>
          <a:lstStyle/>
          <a:p>
            <a:pPr algn="l">
              <a:lnSpc>
                <a:spcPct val="100000"/>
              </a:lnSpc>
            </a:pPr>
            <a:r>
              <a:rPr lang="en-US" sz="2250" dirty="0">
                <a:solidFill>
                  <a:srgbClr val="16171D"/>
                </a:solidFill>
                <a:latin typeface="Segoe UI"/>
                <a:cs typeface="Segoe UI"/>
              </a:rPr>
              <a:t xml:space="preserve">Pool C is at </a:t>
            </a:r>
            <a:r>
              <a:rPr lang="en-US" sz="2250" dirty="0" b="1">
                <a:solidFill>
                  <a:srgbClr val="16171D"/>
                </a:solidFill>
                <a:latin typeface="Segoe UI"/>
                <a:cs typeface="Segoe UI"/>
              </a:rPr>
              <a:t xml:space="preserve">15 feet after 2 hours</a:t>
            </a:r>
            <a:r>
              <a:rPr lang="en-US" sz="2250" dirty="0">
                <a:solidFill>
                  <a:srgbClr val="16171D"/>
                </a:solidFill>
                <a:latin typeface="Segoe UI"/>
                <a:cs typeface="Segoe UI"/>
              </a:rPr>
              <a:t xml:space="preserve"> and at </a:t>
            </a:r>
            <a:r>
              <a:rPr lang="en-US" sz="2250" dirty="0" b="1">
                <a:solidFill>
                  <a:srgbClr val="16171D"/>
                </a:solidFill>
                <a:latin typeface="Segoe UI"/>
                <a:cs typeface="Segoe UI"/>
              </a:rPr>
              <a:t xml:space="preserve">12 feet after 4 hours</a:t>
            </a:r>
            <a:r>
              <a:rPr lang="en-US" sz="2250" dirty="0">
                <a:solidFill>
                  <a:srgbClr val="16171D"/>
                </a:solidFill>
                <a:latin typeface="Segoe UI"/>
                <a:cs typeface="Segoe UI"/>
              </a:rPr>
              <a:t xml:space="preserve">.</a:t>
            </a:r>
            <a:endParaRPr lang="en-US" sz="2250" dirty="0"/>
          </a:p>
        </p:txBody>
      </p:sp>
      <p:sp>
        <p:nvSpPr>
          <p:cNvPr id="5" name="Shape 5"/>
          <p:cNvSpPr txBox="1"/>
          <p:nvPr/>
        </p:nvSpPr>
        <p:spPr>
          <a:xfrm>
            <a:off x="685800" y="2187702"/>
            <a:ext cx="367649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Two points: </a:t>
            </a:r>
            <a:r>
              <a:rPr lang="en-US" sz="2325" dirty="0" b="1">
                <a:solidFill>
                  <a:srgbClr val="3050B8"/>
                </a:solidFill>
                <a:latin typeface="Cambria"/>
                <a:cs typeface="Cambria"/>
              </a:rPr>
              <a:t xml:space="preserve">(2, 15)</a:t>
            </a:r>
            <a:r>
              <a:rPr lang="en-US" sz="1950" dirty="0">
                <a:solidFill>
                  <a:srgbClr val="16171D"/>
                </a:solidFill>
                <a:latin typeface="Segoe UI"/>
                <a:cs typeface="Segoe UI"/>
              </a:rPr>
              <a:t xml:space="preserve"> and </a:t>
            </a:r>
            <a:r>
              <a:rPr lang="en-US" sz="2325" dirty="0" b="1">
                <a:solidFill>
                  <a:srgbClr val="3050B8"/>
                </a:solidFill>
                <a:latin typeface="Cambria"/>
                <a:cs typeface="Cambria"/>
              </a:rPr>
              <a:t xml:space="preserve">(4, 12)</a:t>
            </a:r>
            <a:endParaRPr lang="en-US" sz="1950" dirty="0"/>
          </a:p>
        </p:txBody>
      </p:sp>
      <p:sp>
        <p:nvSpPr>
          <p:cNvPr id="6" name="Shape 6"/>
          <p:cNvSpPr txBox="1"/>
          <p:nvPr/>
        </p:nvSpPr>
        <p:spPr>
          <a:xfrm>
            <a:off x="685800" y="2970276"/>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find the slope.</a:t>
            </a:r>
            <a:endParaRPr lang="en-US" sz="1950" dirty="0"/>
          </a:p>
        </p:txBody>
      </p:sp>
      <p:sp>
        <p:nvSpPr>
          <p:cNvPr id="7" name="Shape 7"/>
          <p:cNvSpPr txBox="1"/>
          <p:nvPr/>
        </p:nvSpPr>
        <p:spPr>
          <a:xfrm>
            <a:off x="685800" y="3455670"/>
            <a:ext cx="367649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12 − 15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endParaRPr lang="en-US" sz="2850" dirty="0"/>
          </a:p>
        </p:txBody>
      </p:sp>
      <p:sp>
        <p:nvSpPr>
          <p:cNvPr id="8" name="Shape 8"/>
          <p:cNvSpPr txBox="1"/>
          <p:nvPr/>
        </p:nvSpPr>
        <p:spPr>
          <a:xfrm>
            <a:off x="4667098" y="2187702"/>
            <a:ext cx="3676498"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find </a:t>
            </a:r>
            <a:r>
              <a:rPr lang="en-US" sz="1950" dirty="0" i="1">
                <a:solidFill>
                  <a:srgbClr val="16171D"/>
                </a:solidFill>
                <a:latin typeface="Cambria"/>
                <a:cs typeface="Cambria"/>
              </a:rPr>
              <a:t xml:space="preserve">b</a:t>
            </a:r>
            <a:r>
              <a:rPr lang="en-US" sz="1950" dirty="0">
                <a:solidFill>
                  <a:srgbClr val="16171D"/>
                </a:solidFill>
                <a:latin typeface="Segoe UI"/>
                <a:cs typeface="Segoe UI"/>
              </a:rPr>
              <a:t xml:space="preserve"> using (2, 15).</a:t>
            </a:r>
            <a:endParaRPr lang="en-US" sz="1950" dirty="0"/>
          </a:p>
        </p:txBody>
      </p:sp>
      <p:sp>
        <p:nvSpPr>
          <p:cNvPr id="9" name="Shape 9"/>
          <p:cNvSpPr txBox="1"/>
          <p:nvPr/>
        </p:nvSpPr>
        <p:spPr>
          <a:xfrm>
            <a:off x="4667098" y="2673096"/>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a:t>
            </a:r>
            <a:r>
              <a:rPr lang="en-US" sz="2850" dirty="0">
                <a:solidFill>
                  <a:srgbClr val="16171D"/>
                </a:solidFill>
                <a:latin typeface="Cambria"/>
                <a:cs typeface="Cambria"/>
              </a:rPr>
              <a:t xml:space="preserve">3</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(2) + </a:t>
            </a:r>
            <a:r>
              <a:rPr lang="en-US" sz="2850" dirty="0" i="1">
                <a:solidFill>
                  <a:srgbClr val="16171D"/>
                </a:solidFill>
                <a:latin typeface="Cambria"/>
                <a:cs typeface="Cambria"/>
              </a:rPr>
              <a:t xml:space="preserve">b</a:t>
            </a:r>
            <a:endParaRPr lang="en-US" sz="2850" dirty="0"/>
          </a:p>
        </p:txBody>
      </p:sp>
      <p:sp>
        <p:nvSpPr>
          <p:cNvPr id="10" name="Shape 10"/>
          <p:cNvSpPr txBox="1"/>
          <p:nvPr/>
        </p:nvSpPr>
        <p:spPr>
          <a:xfrm>
            <a:off x="4667098" y="3295650"/>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a:solidFill>
                  <a:srgbClr val="16171D"/>
                </a:solidFill>
                <a:latin typeface="Cambria"/>
                <a:cs typeface="Cambria"/>
              </a:rPr>
              <a:t xml:space="preserve">15 = −3 + </a:t>
            </a:r>
            <a:r>
              <a:rPr lang="en-US" sz="2850" dirty="0" i="1">
                <a:solidFill>
                  <a:srgbClr val="16171D"/>
                </a:solidFill>
                <a:latin typeface="Cambria"/>
                <a:cs typeface="Cambria"/>
              </a:rPr>
              <a:t xml:space="preserve">b</a:t>
            </a:r>
            <a:endParaRPr lang="en-US" sz="2850" dirty="0"/>
          </a:p>
        </p:txBody>
      </p:sp>
      <p:sp>
        <p:nvSpPr>
          <p:cNvPr id="11" name="Shape 11"/>
          <p:cNvSpPr txBox="1"/>
          <p:nvPr/>
        </p:nvSpPr>
        <p:spPr>
          <a:xfrm>
            <a:off x="4667098" y="3918204"/>
            <a:ext cx="36764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b</a:t>
            </a:r>
            <a:r>
              <a:rPr lang="en-US" sz="2850" dirty="0">
                <a:solidFill>
                  <a:srgbClr val="16171D"/>
                </a:solidFill>
                <a:latin typeface="Cambria"/>
                <a:cs typeface="Cambria"/>
              </a:rPr>
              <a:t xml:space="preserve"> = 18</a:t>
            </a:r>
            <a:endParaRPr lang="en-US" sz="2850" dirty="0"/>
          </a:p>
        </p:txBody>
      </p:sp>
      <p:sp>
        <p:nvSpPr>
          <p:cNvPr id="12" name="Shape 12"/>
          <p:cNvSpPr txBox="1"/>
          <p:nvPr/>
        </p:nvSpPr>
        <p:spPr>
          <a:xfrm>
            <a:off x="4667098" y="4540758"/>
            <a:ext cx="367649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+ 18</a:t>
            </a:r>
            <a:endParaRPr lang="en-US" sz="2850" dirty="0"/>
          </a:p>
        </p:txBody>
      </p:sp>
      <p:sp>
        <p:nvSpPr>
          <p:cNvPr id="13" name="Shape 13"/>
          <p:cNvSpPr/>
          <p:nvPr/>
        </p:nvSpPr>
        <p:spPr>
          <a:xfrm>
            <a:off x="8648395" y="2187702"/>
            <a:ext cx="2857500" cy="31432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4" name="Line 14"/>
          <p:cNvCxnSpPr/>
          <p:nvPr/>
        </p:nvCxnSpPr>
        <p:spPr>
          <a:xfrm>
            <a:off x="8972245" y="2302002"/>
            <a:ext cx="0" cy="2781300"/>
          </a:xfrm>
          <a:prstGeom prst="line">
            <a:avLst/>
          </a:prstGeom>
          <a:ln w="9525" cap="flat">
            <a:solidFill>
              <a:srgbClr val="E6E8F2"/>
            </a:solidFill>
          </a:ln>
        </p:spPr>
      </p:cxnSp>
      <p:cxnSp>
        <p:nvCxnSpPr>
          <p:cNvPr id="15" name="Line 15"/>
          <p:cNvCxnSpPr/>
          <p:nvPr/>
        </p:nvCxnSpPr>
        <p:spPr>
          <a:xfrm>
            <a:off x="9173858" y="2302002"/>
            <a:ext cx="0" cy="2781300"/>
          </a:xfrm>
          <a:prstGeom prst="line">
            <a:avLst/>
          </a:prstGeom>
          <a:ln w="9525" cap="flat">
            <a:solidFill>
              <a:srgbClr val="E6E8F2"/>
            </a:solidFill>
          </a:ln>
        </p:spPr>
      </p:cxnSp>
      <p:cxnSp>
        <p:nvCxnSpPr>
          <p:cNvPr id="16" name="Line 16"/>
          <p:cNvCxnSpPr/>
          <p:nvPr/>
        </p:nvCxnSpPr>
        <p:spPr>
          <a:xfrm>
            <a:off x="9375470" y="2302002"/>
            <a:ext cx="0" cy="2781300"/>
          </a:xfrm>
          <a:prstGeom prst="line">
            <a:avLst/>
          </a:prstGeom>
          <a:ln w="9525" cap="flat">
            <a:solidFill>
              <a:srgbClr val="E6E8F2"/>
            </a:solidFill>
          </a:ln>
        </p:spPr>
      </p:cxnSp>
      <p:cxnSp>
        <p:nvCxnSpPr>
          <p:cNvPr id="17" name="Line 17"/>
          <p:cNvCxnSpPr/>
          <p:nvPr/>
        </p:nvCxnSpPr>
        <p:spPr>
          <a:xfrm>
            <a:off x="9577083" y="2302002"/>
            <a:ext cx="0" cy="2781300"/>
          </a:xfrm>
          <a:prstGeom prst="line">
            <a:avLst/>
          </a:prstGeom>
          <a:ln w="9525" cap="flat">
            <a:solidFill>
              <a:srgbClr val="E6E8F2"/>
            </a:solidFill>
          </a:ln>
        </p:spPr>
      </p:cxnSp>
      <p:cxnSp>
        <p:nvCxnSpPr>
          <p:cNvPr id="18" name="Line 18"/>
          <p:cNvCxnSpPr/>
          <p:nvPr/>
        </p:nvCxnSpPr>
        <p:spPr>
          <a:xfrm>
            <a:off x="9778695" y="2302002"/>
            <a:ext cx="0" cy="2781300"/>
          </a:xfrm>
          <a:prstGeom prst="line">
            <a:avLst/>
          </a:prstGeom>
          <a:ln w="9525" cap="flat">
            <a:solidFill>
              <a:srgbClr val="E6E8F2"/>
            </a:solidFill>
          </a:ln>
        </p:spPr>
      </p:cxnSp>
      <p:cxnSp>
        <p:nvCxnSpPr>
          <p:cNvPr id="19" name="Line 19"/>
          <p:cNvCxnSpPr/>
          <p:nvPr/>
        </p:nvCxnSpPr>
        <p:spPr>
          <a:xfrm>
            <a:off x="9980308" y="2302002"/>
            <a:ext cx="0" cy="2781300"/>
          </a:xfrm>
          <a:prstGeom prst="line">
            <a:avLst/>
          </a:prstGeom>
          <a:ln w="9525" cap="flat">
            <a:solidFill>
              <a:srgbClr val="E6E8F2"/>
            </a:solidFill>
          </a:ln>
        </p:spPr>
      </p:cxnSp>
      <p:cxnSp>
        <p:nvCxnSpPr>
          <p:cNvPr id="20" name="Line 20"/>
          <p:cNvCxnSpPr/>
          <p:nvPr/>
        </p:nvCxnSpPr>
        <p:spPr>
          <a:xfrm>
            <a:off x="10181920" y="2302002"/>
            <a:ext cx="0" cy="2781300"/>
          </a:xfrm>
          <a:prstGeom prst="line">
            <a:avLst/>
          </a:prstGeom>
          <a:ln w="9525" cap="flat">
            <a:solidFill>
              <a:srgbClr val="E6E8F2"/>
            </a:solidFill>
          </a:ln>
        </p:spPr>
      </p:cxnSp>
      <p:cxnSp>
        <p:nvCxnSpPr>
          <p:cNvPr id="21" name="Line 21"/>
          <p:cNvCxnSpPr/>
          <p:nvPr/>
        </p:nvCxnSpPr>
        <p:spPr>
          <a:xfrm>
            <a:off x="10383533" y="2302002"/>
            <a:ext cx="0" cy="2781300"/>
          </a:xfrm>
          <a:prstGeom prst="line">
            <a:avLst/>
          </a:prstGeom>
          <a:ln w="9525" cap="flat">
            <a:solidFill>
              <a:srgbClr val="E6E8F2"/>
            </a:solidFill>
          </a:ln>
        </p:spPr>
      </p:cxnSp>
      <p:cxnSp>
        <p:nvCxnSpPr>
          <p:cNvPr id="22" name="Line 22"/>
          <p:cNvCxnSpPr/>
          <p:nvPr/>
        </p:nvCxnSpPr>
        <p:spPr>
          <a:xfrm>
            <a:off x="10585145" y="2302002"/>
            <a:ext cx="0" cy="2781300"/>
          </a:xfrm>
          <a:prstGeom prst="line">
            <a:avLst/>
          </a:prstGeom>
          <a:ln w="9525" cap="flat">
            <a:solidFill>
              <a:srgbClr val="E6E8F2"/>
            </a:solidFill>
          </a:ln>
        </p:spPr>
      </p:cxnSp>
      <p:cxnSp>
        <p:nvCxnSpPr>
          <p:cNvPr id="23" name="Line 23"/>
          <p:cNvCxnSpPr/>
          <p:nvPr/>
        </p:nvCxnSpPr>
        <p:spPr>
          <a:xfrm>
            <a:off x="10786758" y="2302002"/>
            <a:ext cx="0" cy="2781300"/>
          </a:xfrm>
          <a:prstGeom prst="line">
            <a:avLst/>
          </a:prstGeom>
          <a:ln w="9525" cap="flat">
            <a:solidFill>
              <a:srgbClr val="E6E8F2"/>
            </a:solidFill>
          </a:ln>
        </p:spPr>
      </p:cxnSp>
      <p:cxnSp>
        <p:nvCxnSpPr>
          <p:cNvPr id="24" name="Line 24"/>
          <p:cNvCxnSpPr/>
          <p:nvPr/>
        </p:nvCxnSpPr>
        <p:spPr>
          <a:xfrm>
            <a:off x="10988370" y="2302002"/>
            <a:ext cx="0" cy="2781300"/>
          </a:xfrm>
          <a:prstGeom prst="line">
            <a:avLst/>
          </a:prstGeom>
          <a:ln w="9525" cap="flat">
            <a:solidFill>
              <a:srgbClr val="E6E8F2"/>
            </a:solidFill>
          </a:ln>
        </p:spPr>
      </p:cxnSp>
      <p:cxnSp>
        <p:nvCxnSpPr>
          <p:cNvPr id="25" name="Line 25"/>
          <p:cNvCxnSpPr/>
          <p:nvPr/>
        </p:nvCxnSpPr>
        <p:spPr>
          <a:xfrm>
            <a:off x="11189983" y="2302002"/>
            <a:ext cx="0" cy="2781300"/>
          </a:xfrm>
          <a:prstGeom prst="line">
            <a:avLst/>
          </a:prstGeom>
          <a:ln w="9525" cap="flat">
            <a:solidFill>
              <a:srgbClr val="E6E8F2"/>
            </a:solidFill>
          </a:ln>
        </p:spPr>
      </p:cxnSp>
      <p:cxnSp>
        <p:nvCxnSpPr>
          <p:cNvPr id="26" name="Line 26"/>
          <p:cNvCxnSpPr/>
          <p:nvPr/>
        </p:nvCxnSpPr>
        <p:spPr>
          <a:xfrm>
            <a:off x="11391595" y="2302002"/>
            <a:ext cx="0" cy="2781300"/>
          </a:xfrm>
          <a:prstGeom prst="line">
            <a:avLst/>
          </a:prstGeom>
          <a:ln w="9525" cap="flat">
            <a:solidFill>
              <a:srgbClr val="E6E8F2"/>
            </a:solidFill>
          </a:ln>
        </p:spPr>
      </p:cxnSp>
      <p:cxnSp>
        <p:nvCxnSpPr>
          <p:cNvPr id="27" name="Line 27"/>
          <p:cNvCxnSpPr/>
          <p:nvPr/>
        </p:nvCxnSpPr>
        <p:spPr>
          <a:xfrm>
            <a:off x="8972245" y="5083302"/>
            <a:ext cx="2419350" cy="0"/>
          </a:xfrm>
          <a:prstGeom prst="line">
            <a:avLst/>
          </a:prstGeom>
          <a:ln w="9525" cap="flat">
            <a:solidFill>
              <a:srgbClr val="E6E8F2"/>
            </a:solidFill>
          </a:ln>
        </p:spPr>
      </p:cxnSp>
      <p:cxnSp>
        <p:nvCxnSpPr>
          <p:cNvPr id="28" name="Line 28"/>
          <p:cNvCxnSpPr/>
          <p:nvPr/>
        </p:nvCxnSpPr>
        <p:spPr>
          <a:xfrm>
            <a:off x="8972245" y="4805172"/>
            <a:ext cx="2419350" cy="0"/>
          </a:xfrm>
          <a:prstGeom prst="line">
            <a:avLst/>
          </a:prstGeom>
          <a:ln w="9525" cap="flat">
            <a:solidFill>
              <a:srgbClr val="E6E8F2"/>
            </a:solidFill>
          </a:ln>
        </p:spPr>
      </p:cxnSp>
      <p:cxnSp>
        <p:nvCxnSpPr>
          <p:cNvPr id="29" name="Line 29"/>
          <p:cNvCxnSpPr/>
          <p:nvPr/>
        </p:nvCxnSpPr>
        <p:spPr>
          <a:xfrm>
            <a:off x="8972245" y="4527042"/>
            <a:ext cx="2419350" cy="0"/>
          </a:xfrm>
          <a:prstGeom prst="line">
            <a:avLst/>
          </a:prstGeom>
          <a:ln w="9525" cap="flat">
            <a:solidFill>
              <a:srgbClr val="E6E8F2"/>
            </a:solidFill>
          </a:ln>
        </p:spPr>
      </p:cxnSp>
      <p:cxnSp>
        <p:nvCxnSpPr>
          <p:cNvPr id="30" name="Line 30"/>
          <p:cNvCxnSpPr/>
          <p:nvPr/>
        </p:nvCxnSpPr>
        <p:spPr>
          <a:xfrm>
            <a:off x="8972245" y="4248912"/>
            <a:ext cx="2419350" cy="0"/>
          </a:xfrm>
          <a:prstGeom prst="line">
            <a:avLst/>
          </a:prstGeom>
          <a:ln w="9525" cap="flat">
            <a:solidFill>
              <a:srgbClr val="E6E8F2"/>
            </a:solidFill>
          </a:ln>
        </p:spPr>
      </p:cxnSp>
      <p:cxnSp>
        <p:nvCxnSpPr>
          <p:cNvPr id="31" name="Line 31"/>
          <p:cNvCxnSpPr/>
          <p:nvPr/>
        </p:nvCxnSpPr>
        <p:spPr>
          <a:xfrm>
            <a:off x="8972245" y="3970782"/>
            <a:ext cx="2419350" cy="0"/>
          </a:xfrm>
          <a:prstGeom prst="line">
            <a:avLst/>
          </a:prstGeom>
          <a:ln w="9525" cap="flat">
            <a:solidFill>
              <a:srgbClr val="E6E8F2"/>
            </a:solidFill>
          </a:ln>
        </p:spPr>
      </p:cxnSp>
      <p:cxnSp>
        <p:nvCxnSpPr>
          <p:cNvPr id="32" name="Line 32"/>
          <p:cNvCxnSpPr/>
          <p:nvPr/>
        </p:nvCxnSpPr>
        <p:spPr>
          <a:xfrm>
            <a:off x="8972245" y="3692652"/>
            <a:ext cx="2419350" cy="0"/>
          </a:xfrm>
          <a:prstGeom prst="line">
            <a:avLst/>
          </a:prstGeom>
          <a:ln w="9525" cap="flat">
            <a:solidFill>
              <a:srgbClr val="E6E8F2"/>
            </a:solidFill>
          </a:ln>
        </p:spPr>
      </p:cxnSp>
      <p:cxnSp>
        <p:nvCxnSpPr>
          <p:cNvPr id="33" name="Line 33"/>
          <p:cNvCxnSpPr/>
          <p:nvPr/>
        </p:nvCxnSpPr>
        <p:spPr>
          <a:xfrm>
            <a:off x="8972245" y="3414522"/>
            <a:ext cx="2419350" cy="0"/>
          </a:xfrm>
          <a:prstGeom prst="line">
            <a:avLst/>
          </a:prstGeom>
          <a:ln w="9525" cap="flat">
            <a:solidFill>
              <a:srgbClr val="E6E8F2"/>
            </a:solidFill>
          </a:ln>
        </p:spPr>
      </p:cxnSp>
      <p:cxnSp>
        <p:nvCxnSpPr>
          <p:cNvPr id="34" name="Line 34"/>
          <p:cNvCxnSpPr/>
          <p:nvPr/>
        </p:nvCxnSpPr>
        <p:spPr>
          <a:xfrm>
            <a:off x="8972245" y="3136392"/>
            <a:ext cx="2419350" cy="0"/>
          </a:xfrm>
          <a:prstGeom prst="line">
            <a:avLst/>
          </a:prstGeom>
          <a:ln w="9525" cap="flat">
            <a:solidFill>
              <a:srgbClr val="E6E8F2"/>
            </a:solidFill>
          </a:ln>
        </p:spPr>
      </p:cxnSp>
      <p:cxnSp>
        <p:nvCxnSpPr>
          <p:cNvPr id="35" name="Line 35"/>
          <p:cNvCxnSpPr/>
          <p:nvPr/>
        </p:nvCxnSpPr>
        <p:spPr>
          <a:xfrm>
            <a:off x="8972245" y="2858262"/>
            <a:ext cx="2419350" cy="0"/>
          </a:xfrm>
          <a:prstGeom prst="line">
            <a:avLst/>
          </a:prstGeom>
          <a:ln w="9525" cap="flat">
            <a:solidFill>
              <a:srgbClr val="E6E8F2"/>
            </a:solidFill>
          </a:ln>
        </p:spPr>
      </p:cxnSp>
      <p:cxnSp>
        <p:nvCxnSpPr>
          <p:cNvPr id="36" name="Line 36"/>
          <p:cNvCxnSpPr/>
          <p:nvPr/>
        </p:nvCxnSpPr>
        <p:spPr>
          <a:xfrm>
            <a:off x="8972245" y="2580132"/>
            <a:ext cx="2419350" cy="0"/>
          </a:xfrm>
          <a:prstGeom prst="line">
            <a:avLst/>
          </a:prstGeom>
          <a:ln w="9525" cap="flat">
            <a:solidFill>
              <a:srgbClr val="E6E8F2"/>
            </a:solidFill>
          </a:ln>
        </p:spPr>
      </p:cxnSp>
      <p:cxnSp>
        <p:nvCxnSpPr>
          <p:cNvPr id="37" name="Line 37"/>
          <p:cNvCxnSpPr/>
          <p:nvPr/>
        </p:nvCxnSpPr>
        <p:spPr>
          <a:xfrm>
            <a:off x="8972245" y="2302002"/>
            <a:ext cx="2419350" cy="0"/>
          </a:xfrm>
          <a:prstGeom prst="line">
            <a:avLst/>
          </a:prstGeom>
          <a:ln w="9525" cap="flat">
            <a:solidFill>
              <a:srgbClr val="E6E8F2"/>
            </a:solidFill>
          </a:ln>
        </p:spPr>
      </p:cxnSp>
      <p:cxnSp>
        <p:nvCxnSpPr>
          <p:cNvPr id="38" name="Line 38"/>
          <p:cNvCxnSpPr/>
          <p:nvPr/>
        </p:nvCxnSpPr>
        <p:spPr>
          <a:xfrm>
            <a:off x="8972245" y="2302002"/>
            <a:ext cx="0" cy="2781300"/>
          </a:xfrm>
          <a:prstGeom prst="line">
            <a:avLst/>
          </a:prstGeom>
          <a:ln w="19050" cap="flat">
            <a:solidFill>
              <a:srgbClr val="5F6272"/>
            </a:solidFill>
          </a:ln>
        </p:spPr>
      </p:cxnSp>
      <p:cxnSp>
        <p:nvCxnSpPr>
          <p:cNvPr id="39" name="Line 39"/>
          <p:cNvCxnSpPr/>
          <p:nvPr/>
        </p:nvCxnSpPr>
        <p:spPr>
          <a:xfrm>
            <a:off x="8972245" y="5083302"/>
            <a:ext cx="2419350" cy="0"/>
          </a:xfrm>
          <a:prstGeom prst="line">
            <a:avLst/>
          </a:prstGeom>
          <a:ln w="19050" cap="flat">
            <a:solidFill>
              <a:srgbClr val="5F6272"/>
            </a:solidFill>
          </a:ln>
        </p:spPr>
      </p:cxnSp>
      <p:sp>
        <p:nvSpPr>
          <p:cNvPr id="40" name="Shape 40"/>
          <p:cNvSpPr txBox="1"/>
          <p:nvPr/>
        </p:nvSpPr>
        <p:spPr>
          <a:xfrm>
            <a:off x="86979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1" name="Shape 41"/>
          <p:cNvSpPr txBox="1"/>
          <p:nvPr/>
        </p:nvSpPr>
        <p:spPr>
          <a:xfrm>
            <a:off x="91011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2" name="Shape 42"/>
          <p:cNvSpPr txBox="1"/>
          <p:nvPr/>
        </p:nvSpPr>
        <p:spPr>
          <a:xfrm>
            <a:off x="95043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990760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4" name="Shape 44"/>
          <p:cNvSpPr txBox="1"/>
          <p:nvPr/>
        </p:nvSpPr>
        <p:spPr>
          <a:xfrm>
            <a:off x="1031082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5" name="Shape 45"/>
          <p:cNvSpPr txBox="1"/>
          <p:nvPr/>
        </p:nvSpPr>
        <p:spPr>
          <a:xfrm>
            <a:off x="10714050"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6" name="Shape 46"/>
          <p:cNvSpPr txBox="1"/>
          <p:nvPr/>
        </p:nvSpPr>
        <p:spPr>
          <a:xfrm>
            <a:off x="11117275" y="510235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7" name="Shape 47"/>
          <p:cNvSpPr txBox="1"/>
          <p:nvPr/>
        </p:nvSpPr>
        <p:spPr>
          <a:xfrm>
            <a:off x="8405317" y="49918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8405317" y="44356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9" name="Shape 49"/>
          <p:cNvSpPr txBox="1"/>
          <p:nvPr/>
        </p:nvSpPr>
        <p:spPr>
          <a:xfrm>
            <a:off x="8405317" y="387934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32308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8405317" y="276682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2" name="Shape 52"/>
          <p:cNvSpPr txBox="1"/>
          <p:nvPr/>
        </p:nvSpPr>
        <p:spPr>
          <a:xfrm>
            <a:off x="8405317" y="22105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3" name="Line 53"/>
          <p:cNvCxnSpPr/>
          <p:nvPr/>
        </p:nvCxnSpPr>
        <p:spPr>
          <a:xfrm>
            <a:off x="8972245" y="2580132"/>
            <a:ext cx="2419350" cy="2503170"/>
          </a:xfrm>
          <a:prstGeom prst="line">
            <a:avLst/>
          </a:prstGeom>
          <a:ln w="38100" cap="rnd">
            <a:solidFill>
              <a:srgbClr val="16171D"/>
            </a:solidFill>
          </a:ln>
        </p:spPr>
      </p:cxnSp>
      <p:sp>
        <p:nvSpPr>
          <p:cNvPr id="54" name="Shape 54"/>
          <p:cNvSpPr/>
          <p:nvPr/>
        </p:nvSpPr>
        <p:spPr>
          <a:xfrm>
            <a:off x="8919858" y="252774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txBox="1"/>
          <p:nvPr/>
        </p:nvSpPr>
        <p:spPr>
          <a:xfrm>
            <a:off x="9057970" y="233248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(0, 18)</a:t>
            </a:r>
            <a:endParaRPr lang="en-US" sz="1125" dirty="0"/>
          </a:p>
        </p:txBody>
      </p:sp>
      <p:sp>
        <p:nvSpPr>
          <p:cNvPr id="56" name="Shape 56"/>
          <p:cNvSpPr/>
          <p:nvPr/>
        </p:nvSpPr>
        <p:spPr>
          <a:xfrm>
            <a:off x="9323083" y="29449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txBox="1"/>
          <p:nvPr/>
        </p:nvSpPr>
        <p:spPr>
          <a:xfrm>
            <a:off x="9461195" y="2749677"/>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(2, 15)</a:t>
            </a:r>
            <a:endParaRPr lang="en-US" sz="1125" dirty="0"/>
          </a:p>
        </p:txBody>
      </p:sp>
      <p:sp>
        <p:nvSpPr>
          <p:cNvPr id="58" name="Shape 58"/>
          <p:cNvSpPr/>
          <p:nvPr/>
        </p:nvSpPr>
        <p:spPr>
          <a:xfrm>
            <a:off x="9726308" y="3362135"/>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9" name="Shape 59"/>
          <p:cNvSpPr txBox="1"/>
          <p:nvPr/>
        </p:nvSpPr>
        <p:spPr>
          <a:xfrm>
            <a:off x="9864420" y="3166872"/>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(4, 12)</a:t>
            </a:r>
            <a:endParaRPr lang="en-US" sz="1125" dirty="0"/>
          </a:p>
        </p:txBody>
      </p:sp>
      <p:sp>
        <p:nvSpPr>
          <p:cNvPr id="60" name="Slide Number 6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22" presetClass="entr" presetSubtype="8"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wipe(left)">
                                      <p:cBhvr>
                                        <p:cTn id="18" dur="700"/>
                                        <p:tgtEl>
                                          <p:spTgt spid="7"/>
                                        </p:tgtEl>
                                      </p:cBhvr>
                                    </p:animEffect>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ppt_x</p:attrName>
                                        </p:attrNameLst>
                                      </p:cBhvr>
                                      <p:tavLst>
                                        <p:tav tm="0">
                                          <p:val>
                                            <p:strVal val="#ppt_x"/>
                                          </p:val>
                                        </p:tav>
                                        <p:tav tm="100000">
                                          <p:val>
                                            <p:strVal val="#ppt_x"/>
                                          </p:val>
                                        </p:tav>
                                      </p:tavLst>
                                    </p:anim>
                                    <p:anim calcmode="lin" valueType="num">
                                      <p:cBhvr>
                                        <p:cTn id="2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700"/>
                                        <p:tgtEl>
                                          <p:spTgt spid="9"/>
                                        </p:tgtEl>
                                      </p:cBhvr>
                                    </p:animEffect>
                                  </p:childTnLst>
                                </p:cTn>
                              </p:par>
                            </p:childTnLst>
                          </p:cTn>
                        </p:par>
                      </p:childTnLst>
                    </p:cTn>
                  </p:par>
                  <p:par>
                    <p:cTn id="37" fill="hold">
                      <p:stCondLst>
                        <p:cond delay="indefinite"/>
                      </p:stCondLst>
                      <p:childTnLst>
                        <p:par>
                          <p:cTn id="38" fill="hold">
                            <p:stCondLst>
                              <p:cond delay="0"/>
                            </p:stCondLst>
                            <p:childTnLst>
                              <p:par>
                                <p:cTn id="36" presetID="22" presetClass="entr" presetSubtype="8" fill="hold" nodeType="clickEffect">
                                  <p:stCondLst>
                                    <p:cond delay="0"/>
                                  </p:stCondLst>
                                  <p:childTnLst>
                                    <p:set>
                                      <p:cBhvr>
                                        <p:cTn id="34" dur="1" fill="hold">
                                          <p:stCondLst>
                                            <p:cond delay="0"/>
                                          </p:stCondLst>
                                        </p:cTn>
                                        <p:tgtEl>
                                          <p:spTgt spid="10"/>
                                        </p:tgtEl>
                                        <p:attrNameLst>
                                          <p:attrName>style.visibility</p:attrName>
                                        </p:attrNameLst>
                                      </p:cBhvr>
                                      <p:to>
                                        <p:strVal val="visible"/>
                                      </p:to>
                                    </p:set>
                                    <p:animEffect transition="in" filter="wipe(left)">
                                      <p:cBhvr>
                                        <p:cTn id="35" dur="7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1" presetID="22" presetClass="entr" presetSubtype="8" fill="hold" nodeType="clickEffect">
                                  <p:stCondLst>
                                    <p:cond delay="0"/>
                                  </p:stCondLst>
                                  <p:childTnLst>
                                    <p:set>
                                      <p:cBhvr>
                                        <p:cTn id="39" dur="1" fill="hold">
                                          <p:stCondLst>
                                            <p:cond delay="0"/>
                                          </p:stCondLst>
                                        </p:cTn>
                                        <p:tgtEl>
                                          <p:spTgt spid="11"/>
                                        </p:tgtEl>
                                        <p:attrNameLst>
                                          <p:attrName>style.visibility</p:attrName>
                                        </p:attrNameLst>
                                      </p:cBhvr>
                                      <p:to>
                                        <p:strVal val="visible"/>
                                      </p:to>
                                    </p:set>
                                    <p:animEffect transition="in" filter="wipe(left)">
                                      <p:cBhvr>
                                        <p:cTn id="40" dur="700"/>
                                        <p:tgtEl>
                                          <p:spTgt spid="11"/>
                                        </p:tgtEl>
                                      </p:cBhvr>
                                    </p:animEffect>
                                  </p:childTnLst>
                                </p:cTn>
                              </p:par>
                            </p:childTnLst>
                          </p:cTn>
                        </p:par>
                      </p:childTnLst>
                    </p:cTn>
                  </p:par>
                  <p:par>
                    <p:cTn id="49" fill="hold">
                      <p:stCondLst>
                        <p:cond delay="indefinite"/>
                      </p:stCondLst>
                      <p:childTnLst>
                        <p:par>
                          <p:cTn id="50" fill="hold">
                            <p:stCondLst>
                              <p:cond delay="0"/>
                            </p:stCondLst>
                            <p:childTnLst>
                              <p:par>
                                <p:cTn id="48" presetID="53" presetClass="entr" presetSubtype="16" fill="hold" nodeType="clickEffect">
                                  <p:stCondLst>
                                    <p:cond delay="0"/>
                                  </p:stCondLst>
                                  <p:childTnLst>
                                    <p:set>
                                      <p:cBhvr>
                                        <p:cTn id="44" dur="1" fill="hold">
                                          <p:stCondLst>
                                            <p:cond delay="0"/>
                                          </p:stCondLst>
                                        </p:cTn>
                                        <p:tgtEl>
                                          <p:spTgt spid="12"/>
                                        </p:tgtEl>
                                        <p:attrNameLst>
                                          <p:attrName>style.visibility</p:attrName>
                                        </p:attrNameLst>
                                      </p:cBhvr>
                                      <p:to>
                                        <p:strVal val="visible"/>
                                      </p:to>
                                    </p:set>
                                    <p:animEffect transition="in" filter="fade">
                                      <p:cBhvr>
                                        <p:cTn id="45" dur="500"/>
                                        <p:tgtEl>
                                          <p:spTgt spid="12"/>
                                        </p:tgtEl>
                                      </p:cBhvr>
                                    </p:animEffect>
                                    <p:anim calcmode="lin" valueType="num">
                                      <p:cBhvr>
                                        <p:cTn id="46" dur="500" fill="hold"/>
                                        <p:tgtEl>
                                          <p:spTgt spid="12"/>
                                        </p:tgtEl>
                                        <p:attrNameLst>
                                          <p:attrName>ppt_w</p:attrName>
                                        </p:attrNameLst>
                                      </p:cBhvr>
                                      <p:tavLst>
                                        <p:tav tm="0">
                                          <p:val>
                                            <p:fltVal val="0"/>
                                          </p:val>
                                        </p:tav>
                                        <p:tav tm="100000">
                                          <p:val>
                                            <p:strVal val="#ppt_w"/>
                                          </p:val>
                                        </p:tav>
                                      </p:tavLst>
                                    </p:anim>
                                    <p:anim calcmode="lin" valueType="num">
                                      <p:cBhvr>
                                        <p:cTn id="47" dur="500" fill="hold"/>
                                        <p:tgtEl>
                                          <p:spTgt spid="12"/>
                                        </p:tgtEl>
                                        <p:attrNameLst>
                                          <p:attrName>ppt_h</p:attrName>
                                        </p:attrNameLst>
                                      </p:cBhvr>
                                      <p:tavLst>
                                        <p:tav tm="0">
                                          <p:val>
                                            <p:fltVal val="0"/>
                                          </p:val>
                                        </p:tav>
                                        <p:tav tm="100000">
                                          <p:val>
                                            <p:strVal val="#ppt_h"/>
                                          </p:val>
                                        </p:tav>
                                      </p:tavLst>
                                    </p:anim>
                                  </p:childTnLst>
                                </p:cTn>
                              </p:par>
                            </p:childTnLst>
                          </p:cTn>
                        </p:par>
                      </p:childTnLst>
                    </p:cTn>
                  </p:par>
                  <p:par>
                    <p:cTn id="286" fill="hold">
                      <p:stCondLst>
                        <p:cond delay="indefinite"/>
                      </p:stCondLst>
                      <p:childTnLst>
                        <p:par>
                          <p:cTn id="28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3"/>
                                        </p:tgtEl>
                                        <p:attrNameLst>
                                          <p:attrName>style.visibility</p:attrName>
                                        </p:attrNameLst>
                                      </p:cBhvr>
                                      <p:to>
                                        <p:strVal val="visible"/>
                                      </p:to>
                                    </p:set>
                                    <p:animEffect transition="in" filter="fade">
                                      <p:cBhvr>
                                        <p:cTn id="52" dur="500"/>
                                        <p:tgtEl>
                                          <p:spTgt spid="13"/>
                                        </p:tgtEl>
                                      </p:cBhvr>
                                    </p:animEffect>
                                    <p:anim calcmode="lin" valueType="num">
                                      <p:cBhvr>
                                        <p:cTn id="53" dur="500" fill="hold"/>
                                        <p:tgtEl>
                                          <p:spTgt spid="13"/>
                                        </p:tgtEl>
                                        <p:attrNameLst>
                                          <p:attrName>ppt_x</p:attrName>
                                        </p:attrNameLst>
                                      </p:cBhvr>
                                      <p:tavLst>
                                        <p:tav tm="0">
                                          <p:val>
                                            <p:strVal val="#ppt_x"/>
                                          </p:val>
                                        </p:tav>
                                        <p:tav tm="100000">
                                          <p:val>
                                            <p:strVal val="#ppt_x"/>
                                          </p:val>
                                        </p:tav>
                                      </p:tavLst>
                                    </p:anim>
                                    <p:anim calcmode="lin" valueType="num">
                                      <p:cBhvr>
                                        <p:cTn id="54" dur="500" fill="hold"/>
                                        <p:tgtEl>
                                          <p:spTgt spid="13"/>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4"/>
                                        </p:tgtEl>
                                        <p:attrNameLst>
                                          <p:attrName>style.visibility</p:attrName>
                                        </p:attrNameLst>
                                      </p:cBhvr>
                                      <p:to>
                                        <p:strVal val="visible"/>
                                      </p:to>
                                    </p:set>
                                    <p:animEffect transition="in" filter="fade">
                                      <p:cBhvr>
                                        <p:cTn id="57" dur="500"/>
                                        <p:tgtEl>
                                          <p:spTgt spid="14"/>
                                        </p:tgtEl>
                                      </p:cBhvr>
                                    </p:animEffect>
                                    <p:anim calcmode="lin" valueType="num">
                                      <p:cBhvr>
                                        <p:cTn id="58" dur="500" fill="hold"/>
                                        <p:tgtEl>
                                          <p:spTgt spid="14"/>
                                        </p:tgtEl>
                                        <p:attrNameLst>
                                          <p:attrName>ppt_x</p:attrName>
                                        </p:attrNameLst>
                                      </p:cBhvr>
                                      <p:tavLst>
                                        <p:tav tm="0">
                                          <p:val>
                                            <p:strVal val="#ppt_x"/>
                                          </p:val>
                                        </p:tav>
                                        <p:tav tm="100000">
                                          <p:val>
                                            <p:strVal val="#ppt_x"/>
                                          </p:val>
                                        </p:tav>
                                      </p:tavLst>
                                    </p:anim>
                                    <p:anim calcmode="lin" valueType="num">
                                      <p:cBhvr>
                                        <p:cTn id="59" dur="500" fill="hold"/>
                                        <p:tgtEl>
                                          <p:spTgt spid="14"/>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5"/>
                                        </p:tgtEl>
                                        <p:attrNameLst>
                                          <p:attrName>style.visibility</p:attrName>
                                        </p:attrNameLst>
                                      </p:cBhvr>
                                      <p:to>
                                        <p:strVal val="visible"/>
                                      </p:to>
                                    </p:set>
                                    <p:animEffect transition="in" filter="fade">
                                      <p:cBhvr>
                                        <p:cTn id="62" dur="500"/>
                                        <p:tgtEl>
                                          <p:spTgt spid="15"/>
                                        </p:tgtEl>
                                      </p:cBhvr>
                                    </p:animEffect>
                                    <p:anim calcmode="lin" valueType="num">
                                      <p:cBhvr>
                                        <p:cTn id="63" dur="500" fill="hold"/>
                                        <p:tgtEl>
                                          <p:spTgt spid="15"/>
                                        </p:tgtEl>
                                        <p:attrNameLst>
                                          <p:attrName>ppt_x</p:attrName>
                                        </p:attrNameLst>
                                      </p:cBhvr>
                                      <p:tavLst>
                                        <p:tav tm="0">
                                          <p:val>
                                            <p:strVal val="#ppt_x"/>
                                          </p:val>
                                        </p:tav>
                                        <p:tav tm="100000">
                                          <p:val>
                                            <p:strVal val="#ppt_x"/>
                                          </p:val>
                                        </p:tav>
                                      </p:tavLst>
                                    </p:anim>
                                    <p:anim calcmode="lin" valueType="num">
                                      <p:cBhvr>
                                        <p:cTn id="64" dur="500" fill="hold"/>
                                        <p:tgtEl>
                                          <p:spTgt spid="15"/>
                                        </p:tgtEl>
                                        <p:attrNameLst>
                                          <p:attrName>ppt_y</p:attrName>
                                        </p:attrNameLst>
                                      </p:cBhvr>
                                      <p:tavLst>
                                        <p:tav tm="0">
                                          <p:val>
                                            <p:strVal val="#ppt_y+.1"/>
                                          </p:val>
                                        </p:tav>
                                        <p:tav tm="100000">
                                          <p:val>
                                            <p:strVal val="#ppt_y"/>
                                          </p:val>
                                        </p:tav>
                                      </p:tavLst>
                                    </p:anim>
                                  </p:childTnLst>
                                </p:cTn>
                              </p:par>
                              <p:par>
                                <p:cTn id="70" presetID="42" presetClass="entr" presetSubtype="0" fill="hold" nodeType="withEffect">
                                  <p:stCondLst>
                                    <p:cond delay="0"/>
                                  </p:stCondLst>
                                  <p:childTnLst>
                                    <p:set>
                                      <p:cBhvr>
                                        <p:cTn id="66" dur="1" fill="hold">
                                          <p:stCondLst>
                                            <p:cond delay="0"/>
                                          </p:stCondLst>
                                        </p:cTn>
                                        <p:tgtEl>
                                          <p:spTgt spid="16"/>
                                        </p:tgtEl>
                                        <p:attrNameLst>
                                          <p:attrName>style.visibility</p:attrName>
                                        </p:attrNameLst>
                                      </p:cBhvr>
                                      <p:to>
                                        <p:strVal val="visible"/>
                                      </p:to>
                                    </p:set>
                                    <p:animEffect transition="in" filter="fade">
                                      <p:cBhvr>
                                        <p:cTn id="67" dur="500"/>
                                        <p:tgtEl>
                                          <p:spTgt spid="16"/>
                                        </p:tgtEl>
                                      </p:cBhvr>
                                    </p:animEffect>
                                    <p:anim calcmode="lin" valueType="num">
                                      <p:cBhvr>
                                        <p:cTn id="68" dur="500" fill="hold"/>
                                        <p:tgtEl>
                                          <p:spTgt spid="16"/>
                                        </p:tgtEl>
                                        <p:attrNameLst>
                                          <p:attrName>ppt_x</p:attrName>
                                        </p:attrNameLst>
                                      </p:cBhvr>
                                      <p:tavLst>
                                        <p:tav tm="0">
                                          <p:val>
                                            <p:strVal val="#ppt_x"/>
                                          </p:val>
                                        </p:tav>
                                        <p:tav tm="100000">
                                          <p:val>
                                            <p:strVal val="#ppt_x"/>
                                          </p:val>
                                        </p:tav>
                                      </p:tavLst>
                                    </p:anim>
                                    <p:anim calcmode="lin" valueType="num">
                                      <p:cBhvr>
                                        <p:cTn id="69" dur="500" fill="hold"/>
                                        <p:tgtEl>
                                          <p:spTgt spid="16"/>
                                        </p:tgtEl>
                                        <p:attrNameLst>
                                          <p:attrName>ppt_y</p:attrName>
                                        </p:attrNameLst>
                                      </p:cBhvr>
                                      <p:tavLst>
                                        <p:tav tm="0">
                                          <p:val>
                                            <p:strVal val="#ppt_y+.1"/>
                                          </p:val>
                                        </p:tav>
                                        <p:tav tm="100000">
                                          <p:val>
                                            <p:strVal val="#ppt_y"/>
                                          </p:val>
                                        </p:tav>
                                      </p:tavLst>
                                    </p:anim>
                                  </p:childTnLst>
                                </p:cTn>
                              </p:par>
                              <p:par>
                                <p:cTn id="75" presetID="42" presetClass="entr" presetSubtype="0" fill="hold" nodeType="withEffect">
                                  <p:stCondLst>
                                    <p:cond delay="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500"/>
                                        <p:tgtEl>
                                          <p:spTgt spid="17"/>
                                        </p:tgtEl>
                                      </p:cBhvr>
                                    </p:animEffect>
                                    <p:anim calcmode="lin" valueType="num">
                                      <p:cBhvr>
                                        <p:cTn id="73" dur="500" fill="hold"/>
                                        <p:tgtEl>
                                          <p:spTgt spid="17"/>
                                        </p:tgtEl>
                                        <p:attrNameLst>
                                          <p:attrName>ppt_x</p:attrName>
                                        </p:attrNameLst>
                                      </p:cBhvr>
                                      <p:tavLst>
                                        <p:tav tm="0">
                                          <p:val>
                                            <p:strVal val="#ppt_x"/>
                                          </p:val>
                                        </p:tav>
                                        <p:tav tm="100000">
                                          <p:val>
                                            <p:strVal val="#ppt_x"/>
                                          </p:val>
                                        </p:tav>
                                      </p:tavLst>
                                    </p:anim>
                                    <p:anim calcmode="lin" valueType="num">
                                      <p:cBhvr>
                                        <p:cTn id="74" dur="500" fill="hold"/>
                                        <p:tgtEl>
                                          <p:spTgt spid="17"/>
                                        </p:tgtEl>
                                        <p:attrNameLst>
                                          <p:attrName>ppt_y</p:attrName>
                                        </p:attrNameLst>
                                      </p:cBhvr>
                                      <p:tavLst>
                                        <p:tav tm="0">
                                          <p:val>
                                            <p:strVal val="#ppt_y+.1"/>
                                          </p:val>
                                        </p:tav>
                                        <p:tav tm="100000">
                                          <p:val>
                                            <p:strVal val="#ppt_y"/>
                                          </p:val>
                                        </p:tav>
                                      </p:tavLst>
                                    </p:anim>
                                  </p:childTnLst>
                                </p:cTn>
                              </p:par>
                              <p:par>
                                <p:cTn id="80" presetID="42" presetClass="entr" presetSubtype="0" fill="hold" nodeType="withEffect">
                                  <p:stCondLst>
                                    <p:cond delay="0"/>
                                  </p:stCondLst>
                                  <p:childTnLst>
                                    <p:set>
                                      <p:cBhvr>
                                        <p:cTn id="76" dur="1" fill="hold">
                                          <p:stCondLst>
                                            <p:cond delay="0"/>
                                          </p:stCondLst>
                                        </p:cTn>
                                        <p:tgtEl>
                                          <p:spTgt spid="18"/>
                                        </p:tgtEl>
                                        <p:attrNameLst>
                                          <p:attrName>style.visibility</p:attrName>
                                        </p:attrNameLst>
                                      </p:cBhvr>
                                      <p:to>
                                        <p:strVal val="visible"/>
                                      </p:to>
                                    </p:set>
                                    <p:animEffect transition="in" filter="fade">
                                      <p:cBhvr>
                                        <p:cTn id="77" dur="500"/>
                                        <p:tgtEl>
                                          <p:spTgt spid="18"/>
                                        </p:tgtEl>
                                      </p:cBhvr>
                                    </p:animEffect>
                                    <p:anim calcmode="lin" valueType="num">
                                      <p:cBhvr>
                                        <p:cTn id="78" dur="500" fill="hold"/>
                                        <p:tgtEl>
                                          <p:spTgt spid="18"/>
                                        </p:tgtEl>
                                        <p:attrNameLst>
                                          <p:attrName>ppt_x</p:attrName>
                                        </p:attrNameLst>
                                      </p:cBhvr>
                                      <p:tavLst>
                                        <p:tav tm="0">
                                          <p:val>
                                            <p:strVal val="#ppt_x"/>
                                          </p:val>
                                        </p:tav>
                                        <p:tav tm="100000">
                                          <p:val>
                                            <p:strVal val="#ppt_x"/>
                                          </p:val>
                                        </p:tav>
                                      </p:tavLst>
                                    </p:anim>
                                    <p:anim calcmode="lin" valueType="num">
                                      <p:cBhvr>
                                        <p:cTn id="79" dur="500" fill="hold"/>
                                        <p:tgtEl>
                                          <p:spTgt spid="18"/>
                                        </p:tgtEl>
                                        <p:attrNameLst>
                                          <p:attrName>ppt_y</p:attrName>
                                        </p:attrNameLst>
                                      </p:cBhvr>
                                      <p:tavLst>
                                        <p:tav tm="0">
                                          <p:val>
                                            <p:strVal val="#ppt_y+.1"/>
                                          </p:val>
                                        </p:tav>
                                        <p:tav tm="100000">
                                          <p:val>
                                            <p:strVal val="#ppt_y"/>
                                          </p:val>
                                        </p:tav>
                                      </p:tavLst>
                                    </p:anim>
                                  </p:childTnLst>
                                </p:cTn>
                              </p:par>
                              <p:par>
                                <p:cTn id="85" presetID="42" presetClass="entr" presetSubtype="0" fill="hold" nodeType="withEffect">
                                  <p:stCondLst>
                                    <p:cond delay="0"/>
                                  </p:stCondLst>
                                  <p:childTnLst>
                                    <p:set>
                                      <p:cBhvr>
                                        <p:cTn id="81" dur="1" fill="hold">
                                          <p:stCondLst>
                                            <p:cond delay="0"/>
                                          </p:stCondLst>
                                        </p:cTn>
                                        <p:tgtEl>
                                          <p:spTgt spid="19"/>
                                        </p:tgtEl>
                                        <p:attrNameLst>
                                          <p:attrName>style.visibility</p:attrName>
                                        </p:attrNameLst>
                                      </p:cBhvr>
                                      <p:to>
                                        <p:strVal val="visible"/>
                                      </p:to>
                                    </p:set>
                                    <p:animEffect transition="in" filter="fade">
                                      <p:cBhvr>
                                        <p:cTn id="82" dur="500"/>
                                        <p:tgtEl>
                                          <p:spTgt spid="19"/>
                                        </p:tgtEl>
                                      </p:cBhvr>
                                    </p:animEffect>
                                    <p:anim calcmode="lin" valueType="num">
                                      <p:cBhvr>
                                        <p:cTn id="83" dur="500" fill="hold"/>
                                        <p:tgtEl>
                                          <p:spTgt spid="19"/>
                                        </p:tgtEl>
                                        <p:attrNameLst>
                                          <p:attrName>ppt_x</p:attrName>
                                        </p:attrNameLst>
                                      </p:cBhvr>
                                      <p:tavLst>
                                        <p:tav tm="0">
                                          <p:val>
                                            <p:strVal val="#ppt_x"/>
                                          </p:val>
                                        </p:tav>
                                        <p:tav tm="100000">
                                          <p:val>
                                            <p:strVal val="#ppt_x"/>
                                          </p:val>
                                        </p:tav>
                                      </p:tavLst>
                                    </p:anim>
                                    <p:anim calcmode="lin" valueType="num">
                                      <p:cBhvr>
                                        <p:cTn id="84" dur="500" fill="hold"/>
                                        <p:tgtEl>
                                          <p:spTgt spid="19"/>
                                        </p:tgtEl>
                                        <p:attrNameLst>
                                          <p:attrName>ppt_y</p:attrName>
                                        </p:attrNameLst>
                                      </p:cBhvr>
                                      <p:tavLst>
                                        <p:tav tm="0">
                                          <p:val>
                                            <p:strVal val="#ppt_y+.1"/>
                                          </p:val>
                                        </p:tav>
                                        <p:tav tm="100000">
                                          <p:val>
                                            <p:strVal val="#ppt_y"/>
                                          </p:val>
                                        </p:tav>
                                      </p:tavLst>
                                    </p:anim>
                                  </p:childTnLst>
                                </p:cTn>
                              </p:par>
                              <p:par>
                                <p:cTn id="90" presetID="42" presetClass="entr" presetSubtype="0" fill="hold" nodeType="withEffect">
                                  <p:stCondLst>
                                    <p:cond delay="0"/>
                                  </p:stCondLst>
                                  <p:childTnLst>
                                    <p:set>
                                      <p:cBhvr>
                                        <p:cTn id="86" dur="1" fill="hold">
                                          <p:stCondLst>
                                            <p:cond delay="0"/>
                                          </p:stCondLst>
                                        </p:cTn>
                                        <p:tgtEl>
                                          <p:spTgt spid="20"/>
                                        </p:tgtEl>
                                        <p:attrNameLst>
                                          <p:attrName>style.visibility</p:attrName>
                                        </p:attrNameLst>
                                      </p:cBhvr>
                                      <p:to>
                                        <p:strVal val="visible"/>
                                      </p:to>
                                    </p:set>
                                    <p:animEffect transition="in" filter="fade">
                                      <p:cBhvr>
                                        <p:cTn id="87" dur="500"/>
                                        <p:tgtEl>
                                          <p:spTgt spid="20"/>
                                        </p:tgtEl>
                                      </p:cBhvr>
                                    </p:animEffect>
                                    <p:anim calcmode="lin" valueType="num">
                                      <p:cBhvr>
                                        <p:cTn id="88" dur="500" fill="hold"/>
                                        <p:tgtEl>
                                          <p:spTgt spid="20"/>
                                        </p:tgtEl>
                                        <p:attrNameLst>
                                          <p:attrName>ppt_x</p:attrName>
                                        </p:attrNameLst>
                                      </p:cBhvr>
                                      <p:tavLst>
                                        <p:tav tm="0">
                                          <p:val>
                                            <p:strVal val="#ppt_x"/>
                                          </p:val>
                                        </p:tav>
                                        <p:tav tm="100000">
                                          <p:val>
                                            <p:strVal val="#ppt_x"/>
                                          </p:val>
                                        </p:tav>
                                      </p:tavLst>
                                    </p:anim>
                                    <p:anim calcmode="lin" valueType="num">
                                      <p:cBhvr>
                                        <p:cTn id="89" dur="500" fill="hold"/>
                                        <p:tgtEl>
                                          <p:spTgt spid="20"/>
                                        </p:tgtEl>
                                        <p:attrNameLst>
                                          <p:attrName>ppt_y</p:attrName>
                                        </p:attrNameLst>
                                      </p:cBhvr>
                                      <p:tavLst>
                                        <p:tav tm="0">
                                          <p:val>
                                            <p:strVal val="#ppt_y+.1"/>
                                          </p:val>
                                        </p:tav>
                                        <p:tav tm="100000">
                                          <p:val>
                                            <p:strVal val="#ppt_y"/>
                                          </p:val>
                                        </p:tav>
                                      </p:tavLst>
                                    </p:anim>
                                  </p:childTnLst>
                                </p:cTn>
                              </p:par>
                              <p:par>
                                <p:cTn id="95" presetID="42" presetClass="entr" presetSubtype="0" fill="hold" nodeType="withEffect">
                                  <p:stCondLst>
                                    <p:cond delay="0"/>
                                  </p:stCondLst>
                                  <p:childTnLst>
                                    <p:set>
                                      <p:cBhvr>
                                        <p:cTn id="91" dur="1" fill="hold">
                                          <p:stCondLst>
                                            <p:cond delay="0"/>
                                          </p:stCondLst>
                                        </p:cTn>
                                        <p:tgtEl>
                                          <p:spTgt spid="21"/>
                                        </p:tgtEl>
                                        <p:attrNameLst>
                                          <p:attrName>style.visibility</p:attrName>
                                        </p:attrNameLst>
                                      </p:cBhvr>
                                      <p:to>
                                        <p:strVal val="visible"/>
                                      </p:to>
                                    </p:set>
                                    <p:animEffect transition="in" filter="fade">
                                      <p:cBhvr>
                                        <p:cTn id="92" dur="500"/>
                                        <p:tgtEl>
                                          <p:spTgt spid="21"/>
                                        </p:tgtEl>
                                      </p:cBhvr>
                                    </p:animEffect>
                                    <p:anim calcmode="lin" valueType="num">
                                      <p:cBhvr>
                                        <p:cTn id="93" dur="500" fill="hold"/>
                                        <p:tgtEl>
                                          <p:spTgt spid="21"/>
                                        </p:tgtEl>
                                        <p:attrNameLst>
                                          <p:attrName>ppt_x</p:attrName>
                                        </p:attrNameLst>
                                      </p:cBhvr>
                                      <p:tavLst>
                                        <p:tav tm="0">
                                          <p:val>
                                            <p:strVal val="#ppt_x"/>
                                          </p:val>
                                        </p:tav>
                                        <p:tav tm="100000">
                                          <p:val>
                                            <p:strVal val="#ppt_x"/>
                                          </p:val>
                                        </p:tav>
                                      </p:tavLst>
                                    </p:anim>
                                    <p:anim calcmode="lin" valueType="num">
                                      <p:cBhvr>
                                        <p:cTn id="94" dur="500" fill="hold"/>
                                        <p:tgtEl>
                                          <p:spTgt spid="21"/>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2"/>
                                        </p:tgtEl>
                                        <p:attrNameLst>
                                          <p:attrName>style.visibility</p:attrName>
                                        </p:attrNameLst>
                                      </p:cBhvr>
                                      <p:to>
                                        <p:strVal val="visible"/>
                                      </p:to>
                                    </p:set>
                                    <p:animEffect transition="in" filter="fade">
                                      <p:cBhvr>
                                        <p:cTn id="97" dur="500"/>
                                        <p:tgtEl>
                                          <p:spTgt spid="22"/>
                                        </p:tgtEl>
                                      </p:cBhvr>
                                    </p:animEffect>
                                    <p:anim calcmode="lin" valueType="num">
                                      <p:cBhvr>
                                        <p:cTn id="98" dur="500" fill="hold"/>
                                        <p:tgtEl>
                                          <p:spTgt spid="22"/>
                                        </p:tgtEl>
                                        <p:attrNameLst>
                                          <p:attrName>ppt_x</p:attrName>
                                        </p:attrNameLst>
                                      </p:cBhvr>
                                      <p:tavLst>
                                        <p:tav tm="0">
                                          <p:val>
                                            <p:strVal val="#ppt_x"/>
                                          </p:val>
                                        </p:tav>
                                        <p:tav tm="100000">
                                          <p:val>
                                            <p:strVal val="#ppt_x"/>
                                          </p:val>
                                        </p:tav>
                                      </p:tavLst>
                                    </p:anim>
                                    <p:anim calcmode="lin" valueType="num">
                                      <p:cBhvr>
                                        <p:cTn id="99" dur="500" fill="hold"/>
                                        <p:tgtEl>
                                          <p:spTgt spid="22"/>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3"/>
                                        </p:tgtEl>
                                        <p:attrNameLst>
                                          <p:attrName>style.visibility</p:attrName>
                                        </p:attrNameLst>
                                      </p:cBhvr>
                                      <p:to>
                                        <p:strVal val="visible"/>
                                      </p:to>
                                    </p:set>
                                    <p:animEffect transition="in" filter="fade">
                                      <p:cBhvr>
                                        <p:cTn id="102" dur="500"/>
                                        <p:tgtEl>
                                          <p:spTgt spid="23"/>
                                        </p:tgtEl>
                                      </p:cBhvr>
                                    </p:animEffect>
                                    <p:anim calcmode="lin" valueType="num">
                                      <p:cBhvr>
                                        <p:cTn id="103" dur="500" fill="hold"/>
                                        <p:tgtEl>
                                          <p:spTgt spid="23"/>
                                        </p:tgtEl>
                                        <p:attrNameLst>
                                          <p:attrName>ppt_x</p:attrName>
                                        </p:attrNameLst>
                                      </p:cBhvr>
                                      <p:tavLst>
                                        <p:tav tm="0">
                                          <p:val>
                                            <p:strVal val="#ppt_x"/>
                                          </p:val>
                                        </p:tav>
                                        <p:tav tm="100000">
                                          <p:val>
                                            <p:strVal val="#ppt_x"/>
                                          </p:val>
                                        </p:tav>
                                      </p:tavLst>
                                    </p:anim>
                                    <p:anim calcmode="lin" valueType="num">
                                      <p:cBhvr>
                                        <p:cTn id="104" dur="500" fill="hold"/>
                                        <p:tgtEl>
                                          <p:spTgt spid="23"/>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4"/>
                                        </p:tgtEl>
                                        <p:attrNameLst>
                                          <p:attrName>style.visibility</p:attrName>
                                        </p:attrNameLst>
                                      </p:cBhvr>
                                      <p:to>
                                        <p:strVal val="visible"/>
                                      </p:to>
                                    </p:set>
                                    <p:animEffect transition="in" filter="fade">
                                      <p:cBhvr>
                                        <p:cTn id="107" dur="500"/>
                                        <p:tgtEl>
                                          <p:spTgt spid="24"/>
                                        </p:tgtEl>
                                      </p:cBhvr>
                                    </p:animEffect>
                                    <p:anim calcmode="lin" valueType="num">
                                      <p:cBhvr>
                                        <p:cTn id="108" dur="500" fill="hold"/>
                                        <p:tgtEl>
                                          <p:spTgt spid="24"/>
                                        </p:tgtEl>
                                        <p:attrNameLst>
                                          <p:attrName>ppt_x</p:attrName>
                                        </p:attrNameLst>
                                      </p:cBhvr>
                                      <p:tavLst>
                                        <p:tav tm="0">
                                          <p:val>
                                            <p:strVal val="#ppt_x"/>
                                          </p:val>
                                        </p:tav>
                                        <p:tav tm="100000">
                                          <p:val>
                                            <p:strVal val="#ppt_x"/>
                                          </p:val>
                                        </p:tav>
                                      </p:tavLst>
                                    </p:anim>
                                    <p:anim calcmode="lin" valueType="num">
                                      <p:cBhvr>
                                        <p:cTn id="109" dur="500" fill="hold"/>
                                        <p:tgtEl>
                                          <p:spTgt spid="24"/>
                                        </p:tgtEl>
                                        <p:attrNameLst>
                                          <p:attrName>ppt_y</p:attrName>
                                        </p:attrNameLst>
                                      </p:cBhvr>
                                      <p:tavLst>
                                        <p:tav tm="0">
                                          <p:val>
                                            <p:strVal val="#ppt_y+.1"/>
                                          </p:val>
                                        </p:tav>
                                        <p:tav tm="100000">
                                          <p:val>
                                            <p:strVal val="#ppt_y"/>
                                          </p:val>
                                        </p:tav>
                                      </p:tavLst>
                                    </p:anim>
                                  </p:childTnLst>
                                </p:cTn>
                              </p:par>
                              <p:par>
                                <p:cTn id="115" presetID="42" presetClass="entr" presetSubtype="0" fill="hold" nodeType="withEffect">
                                  <p:stCondLst>
                                    <p:cond delay="0"/>
                                  </p:stCondLst>
                                  <p:childTnLst>
                                    <p:set>
                                      <p:cBhvr>
                                        <p:cTn id="111" dur="1" fill="hold">
                                          <p:stCondLst>
                                            <p:cond delay="0"/>
                                          </p:stCondLst>
                                        </p:cTn>
                                        <p:tgtEl>
                                          <p:spTgt spid="25"/>
                                        </p:tgtEl>
                                        <p:attrNameLst>
                                          <p:attrName>style.visibility</p:attrName>
                                        </p:attrNameLst>
                                      </p:cBhvr>
                                      <p:to>
                                        <p:strVal val="visible"/>
                                      </p:to>
                                    </p:set>
                                    <p:animEffect transition="in" filter="fade">
                                      <p:cBhvr>
                                        <p:cTn id="112" dur="500"/>
                                        <p:tgtEl>
                                          <p:spTgt spid="25"/>
                                        </p:tgtEl>
                                      </p:cBhvr>
                                    </p:animEffect>
                                    <p:anim calcmode="lin" valueType="num">
                                      <p:cBhvr>
                                        <p:cTn id="113" dur="500" fill="hold"/>
                                        <p:tgtEl>
                                          <p:spTgt spid="25"/>
                                        </p:tgtEl>
                                        <p:attrNameLst>
                                          <p:attrName>ppt_x</p:attrName>
                                        </p:attrNameLst>
                                      </p:cBhvr>
                                      <p:tavLst>
                                        <p:tav tm="0">
                                          <p:val>
                                            <p:strVal val="#ppt_x"/>
                                          </p:val>
                                        </p:tav>
                                        <p:tav tm="100000">
                                          <p:val>
                                            <p:strVal val="#ppt_x"/>
                                          </p:val>
                                        </p:tav>
                                      </p:tavLst>
                                    </p:anim>
                                    <p:anim calcmode="lin" valueType="num">
                                      <p:cBhvr>
                                        <p:cTn id="114" dur="500" fill="hold"/>
                                        <p:tgtEl>
                                          <p:spTgt spid="25"/>
                                        </p:tgtEl>
                                        <p:attrNameLst>
                                          <p:attrName>ppt_y</p:attrName>
                                        </p:attrNameLst>
                                      </p:cBhvr>
                                      <p:tavLst>
                                        <p:tav tm="0">
                                          <p:val>
                                            <p:strVal val="#ppt_y+.1"/>
                                          </p:val>
                                        </p:tav>
                                        <p:tav tm="100000">
                                          <p:val>
                                            <p:strVal val="#ppt_y"/>
                                          </p:val>
                                        </p:tav>
                                      </p:tavLst>
                                    </p:anim>
                                  </p:childTnLst>
                                </p:cTn>
                              </p:par>
                              <p:par>
                                <p:cTn id="120" presetID="42" presetClass="entr" presetSubtype="0" fill="hold" nodeType="withEffect">
                                  <p:stCondLst>
                                    <p:cond delay="0"/>
                                  </p:stCondLst>
                                  <p:childTnLst>
                                    <p:set>
                                      <p:cBhvr>
                                        <p:cTn id="116" dur="1" fill="hold">
                                          <p:stCondLst>
                                            <p:cond delay="0"/>
                                          </p:stCondLst>
                                        </p:cTn>
                                        <p:tgtEl>
                                          <p:spTgt spid="26"/>
                                        </p:tgtEl>
                                        <p:attrNameLst>
                                          <p:attrName>style.visibility</p:attrName>
                                        </p:attrNameLst>
                                      </p:cBhvr>
                                      <p:to>
                                        <p:strVal val="visible"/>
                                      </p:to>
                                    </p:set>
                                    <p:animEffect transition="in" filter="fade">
                                      <p:cBhvr>
                                        <p:cTn id="117" dur="500"/>
                                        <p:tgtEl>
                                          <p:spTgt spid="26"/>
                                        </p:tgtEl>
                                      </p:cBhvr>
                                    </p:animEffect>
                                    <p:anim calcmode="lin" valueType="num">
                                      <p:cBhvr>
                                        <p:cTn id="118" dur="500" fill="hold"/>
                                        <p:tgtEl>
                                          <p:spTgt spid="26"/>
                                        </p:tgtEl>
                                        <p:attrNameLst>
                                          <p:attrName>ppt_x</p:attrName>
                                        </p:attrNameLst>
                                      </p:cBhvr>
                                      <p:tavLst>
                                        <p:tav tm="0">
                                          <p:val>
                                            <p:strVal val="#ppt_x"/>
                                          </p:val>
                                        </p:tav>
                                        <p:tav tm="100000">
                                          <p:val>
                                            <p:strVal val="#ppt_x"/>
                                          </p:val>
                                        </p:tav>
                                      </p:tavLst>
                                    </p:anim>
                                    <p:anim calcmode="lin" valueType="num">
                                      <p:cBhvr>
                                        <p:cTn id="119" dur="500" fill="hold"/>
                                        <p:tgtEl>
                                          <p:spTgt spid="26"/>
                                        </p:tgtEl>
                                        <p:attrNameLst>
                                          <p:attrName>ppt_y</p:attrName>
                                        </p:attrNameLst>
                                      </p:cBhvr>
                                      <p:tavLst>
                                        <p:tav tm="0">
                                          <p:val>
                                            <p:strVal val="#ppt_y+.1"/>
                                          </p:val>
                                        </p:tav>
                                        <p:tav tm="100000">
                                          <p:val>
                                            <p:strVal val="#ppt_y"/>
                                          </p:val>
                                        </p:tav>
                                      </p:tavLst>
                                    </p:anim>
                                  </p:childTnLst>
                                </p:cTn>
                              </p:par>
                              <p:par>
                                <p:cTn id="125" presetID="42" presetClass="entr" presetSubtype="0" fill="hold" nodeType="withEffect">
                                  <p:stCondLst>
                                    <p:cond delay="0"/>
                                  </p:stCondLst>
                                  <p:childTnLst>
                                    <p:set>
                                      <p:cBhvr>
                                        <p:cTn id="121" dur="1" fill="hold">
                                          <p:stCondLst>
                                            <p:cond delay="0"/>
                                          </p:stCondLst>
                                        </p:cTn>
                                        <p:tgtEl>
                                          <p:spTgt spid="27"/>
                                        </p:tgtEl>
                                        <p:attrNameLst>
                                          <p:attrName>style.visibility</p:attrName>
                                        </p:attrNameLst>
                                      </p:cBhvr>
                                      <p:to>
                                        <p:strVal val="visible"/>
                                      </p:to>
                                    </p:set>
                                    <p:animEffect transition="in" filter="fade">
                                      <p:cBhvr>
                                        <p:cTn id="122" dur="500"/>
                                        <p:tgtEl>
                                          <p:spTgt spid="27"/>
                                        </p:tgtEl>
                                      </p:cBhvr>
                                    </p:animEffect>
                                    <p:anim calcmode="lin" valueType="num">
                                      <p:cBhvr>
                                        <p:cTn id="123" dur="500" fill="hold"/>
                                        <p:tgtEl>
                                          <p:spTgt spid="27"/>
                                        </p:tgtEl>
                                        <p:attrNameLst>
                                          <p:attrName>ppt_x</p:attrName>
                                        </p:attrNameLst>
                                      </p:cBhvr>
                                      <p:tavLst>
                                        <p:tav tm="0">
                                          <p:val>
                                            <p:strVal val="#ppt_x"/>
                                          </p:val>
                                        </p:tav>
                                        <p:tav tm="100000">
                                          <p:val>
                                            <p:strVal val="#ppt_x"/>
                                          </p:val>
                                        </p:tav>
                                      </p:tavLst>
                                    </p:anim>
                                    <p:anim calcmode="lin" valueType="num">
                                      <p:cBhvr>
                                        <p:cTn id="124" dur="500" fill="hold"/>
                                        <p:tgtEl>
                                          <p:spTgt spid="27"/>
                                        </p:tgtEl>
                                        <p:attrNameLst>
                                          <p:attrName>ppt_y</p:attrName>
                                        </p:attrNameLst>
                                      </p:cBhvr>
                                      <p:tavLst>
                                        <p:tav tm="0">
                                          <p:val>
                                            <p:strVal val="#ppt_y+.1"/>
                                          </p:val>
                                        </p:tav>
                                        <p:tav tm="100000">
                                          <p:val>
                                            <p:strVal val="#ppt_y"/>
                                          </p:val>
                                        </p:tav>
                                      </p:tavLst>
                                    </p:anim>
                                  </p:childTnLst>
                                </p:cTn>
                              </p:par>
                              <p:par>
                                <p:cTn id="130" presetID="42" presetClass="entr" presetSubtype="0" fill="hold" nodeType="withEffect">
                                  <p:stCondLst>
                                    <p:cond delay="0"/>
                                  </p:stCondLst>
                                  <p:childTnLst>
                                    <p:set>
                                      <p:cBhvr>
                                        <p:cTn id="126" dur="1" fill="hold">
                                          <p:stCondLst>
                                            <p:cond delay="0"/>
                                          </p:stCondLst>
                                        </p:cTn>
                                        <p:tgtEl>
                                          <p:spTgt spid="28"/>
                                        </p:tgtEl>
                                        <p:attrNameLst>
                                          <p:attrName>style.visibility</p:attrName>
                                        </p:attrNameLst>
                                      </p:cBhvr>
                                      <p:to>
                                        <p:strVal val="visible"/>
                                      </p:to>
                                    </p:set>
                                    <p:animEffect transition="in" filter="fade">
                                      <p:cBhvr>
                                        <p:cTn id="127" dur="500"/>
                                        <p:tgtEl>
                                          <p:spTgt spid="28"/>
                                        </p:tgtEl>
                                      </p:cBhvr>
                                    </p:animEffect>
                                    <p:anim calcmode="lin" valueType="num">
                                      <p:cBhvr>
                                        <p:cTn id="128" dur="500" fill="hold"/>
                                        <p:tgtEl>
                                          <p:spTgt spid="28"/>
                                        </p:tgtEl>
                                        <p:attrNameLst>
                                          <p:attrName>ppt_x</p:attrName>
                                        </p:attrNameLst>
                                      </p:cBhvr>
                                      <p:tavLst>
                                        <p:tav tm="0">
                                          <p:val>
                                            <p:strVal val="#ppt_x"/>
                                          </p:val>
                                        </p:tav>
                                        <p:tav tm="100000">
                                          <p:val>
                                            <p:strVal val="#ppt_x"/>
                                          </p:val>
                                        </p:tav>
                                      </p:tavLst>
                                    </p:anim>
                                    <p:anim calcmode="lin" valueType="num">
                                      <p:cBhvr>
                                        <p:cTn id="129" dur="500" fill="hold"/>
                                        <p:tgtEl>
                                          <p:spTgt spid="28"/>
                                        </p:tgtEl>
                                        <p:attrNameLst>
                                          <p:attrName>ppt_y</p:attrName>
                                        </p:attrNameLst>
                                      </p:cBhvr>
                                      <p:tavLst>
                                        <p:tav tm="0">
                                          <p:val>
                                            <p:strVal val="#ppt_y+.1"/>
                                          </p:val>
                                        </p:tav>
                                        <p:tav tm="100000">
                                          <p:val>
                                            <p:strVal val="#ppt_y"/>
                                          </p:val>
                                        </p:tav>
                                      </p:tavLst>
                                    </p:anim>
                                  </p:childTnLst>
                                </p:cTn>
                              </p:par>
                              <p:par>
                                <p:cTn id="135" presetID="42" presetClass="entr" presetSubtype="0" fill="hold" nodeType="withEffect">
                                  <p:stCondLst>
                                    <p:cond delay="0"/>
                                  </p:stCondLst>
                                  <p:childTnLst>
                                    <p:set>
                                      <p:cBhvr>
                                        <p:cTn id="131" dur="1" fill="hold">
                                          <p:stCondLst>
                                            <p:cond delay="0"/>
                                          </p:stCondLst>
                                        </p:cTn>
                                        <p:tgtEl>
                                          <p:spTgt spid="29"/>
                                        </p:tgtEl>
                                        <p:attrNameLst>
                                          <p:attrName>style.visibility</p:attrName>
                                        </p:attrNameLst>
                                      </p:cBhvr>
                                      <p:to>
                                        <p:strVal val="visible"/>
                                      </p:to>
                                    </p:set>
                                    <p:animEffect transition="in" filter="fade">
                                      <p:cBhvr>
                                        <p:cTn id="132" dur="500"/>
                                        <p:tgtEl>
                                          <p:spTgt spid="29"/>
                                        </p:tgtEl>
                                      </p:cBhvr>
                                    </p:animEffect>
                                    <p:anim calcmode="lin" valueType="num">
                                      <p:cBhvr>
                                        <p:cTn id="133" dur="500" fill="hold"/>
                                        <p:tgtEl>
                                          <p:spTgt spid="29"/>
                                        </p:tgtEl>
                                        <p:attrNameLst>
                                          <p:attrName>ppt_x</p:attrName>
                                        </p:attrNameLst>
                                      </p:cBhvr>
                                      <p:tavLst>
                                        <p:tav tm="0">
                                          <p:val>
                                            <p:strVal val="#ppt_x"/>
                                          </p:val>
                                        </p:tav>
                                        <p:tav tm="100000">
                                          <p:val>
                                            <p:strVal val="#ppt_x"/>
                                          </p:val>
                                        </p:tav>
                                      </p:tavLst>
                                    </p:anim>
                                    <p:anim calcmode="lin" valueType="num">
                                      <p:cBhvr>
                                        <p:cTn id="134" dur="500" fill="hold"/>
                                        <p:tgtEl>
                                          <p:spTgt spid="29"/>
                                        </p:tgtEl>
                                        <p:attrNameLst>
                                          <p:attrName>ppt_y</p:attrName>
                                        </p:attrNameLst>
                                      </p:cBhvr>
                                      <p:tavLst>
                                        <p:tav tm="0">
                                          <p:val>
                                            <p:strVal val="#ppt_y+.1"/>
                                          </p:val>
                                        </p:tav>
                                        <p:tav tm="100000">
                                          <p:val>
                                            <p:strVal val="#ppt_y"/>
                                          </p:val>
                                        </p:tav>
                                      </p:tavLst>
                                    </p:anim>
                                  </p:childTnLst>
                                </p:cTn>
                              </p:par>
                              <p:par>
                                <p:cTn id="140" presetID="42" presetClass="entr" presetSubtype="0" fill="hold" nodeType="withEffect">
                                  <p:stCondLst>
                                    <p:cond delay="0"/>
                                  </p:stCondLst>
                                  <p:childTnLst>
                                    <p:set>
                                      <p:cBhvr>
                                        <p:cTn id="136" dur="1" fill="hold">
                                          <p:stCondLst>
                                            <p:cond delay="0"/>
                                          </p:stCondLst>
                                        </p:cTn>
                                        <p:tgtEl>
                                          <p:spTgt spid="30"/>
                                        </p:tgtEl>
                                        <p:attrNameLst>
                                          <p:attrName>style.visibility</p:attrName>
                                        </p:attrNameLst>
                                      </p:cBhvr>
                                      <p:to>
                                        <p:strVal val="visible"/>
                                      </p:to>
                                    </p:set>
                                    <p:animEffect transition="in" filter="fade">
                                      <p:cBhvr>
                                        <p:cTn id="137" dur="500"/>
                                        <p:tgtEl>
                                          <p:spTgt spid="30"/>
                                        </p:tgtEl>
                                      </p:cBhvr>
                                    </p:animEffect>
                                    <p:anim calcmode="lin" valueType="num">
                                      <p:cBhvr>
                                        <p:cTn id="138" dur="500" fill="hold"/>
                                        <p:tgtEl>
                                          <p:spTgt spid="30"/>
                                        </p:tgtEl>
                                        <p:attrNameLst>
                                          <p:attrName>ppt_x</p:attrName>
                                        </p:attrNameLst>
                                      </p:cBhvr>
                                      <p:tavLst>
                                        <p:tav tm="0">
                                          <p:val>
                                            <p:strVal val="#ppt_x"/>
                                          </p:val>
                                        </p:tav>
                                        <p:tav tm="100000">
                                          <p:val>
                                            <p:strVal val="#ppt_x"/>
                                          </p:val>
                                        </p:tav>
                                      </p:tavLst>
                                    </p:anim>
                                    <p:anim calcmode="lin" valueType="num">
                                      <p:cBhvr>
                                        <p:cTn id="139" dur="500" fill="hold"/>
                                        <p:tgtEl>
                                          <p:spTgt spid="30"/>
                                        </p:tgtEl>
                                        <p:attrNameLst>
                                          <p:attrName>ppt_y</p:attrName>
                                        </p:attrNameLst>
                                      </p:cBhvr>
                                      <p:tavLst>
                                        <p:tav tm="0">
                                          <p:val>
                                            <p:strVal val="#ppt_y+.1"/>
                                          </p:val>
                                        </p:tav>
                                        <p:tav tm="100000">
                                          <p:val>
                                            <p:strVal val="#ppt_y"/>
                                          </p:val>
                                        </p:tav>
                                      </p:tavLst>
                                    </p:anim>
                                  </p:childTnLst>
                                </p:cTn>
                              </p:par>
                              <p:par>
                                <p:cTn id="145" presetID="42" presetClass="entr" presetSubtype="0" fill="hold" nodeType="withEffect">
                                  <p:stCondLst>
                                    <p:cond delay="0"/>
                                  </p:stCondLst>
                                  <p:childTnLst>
                                    <p:set>
                                      <p:cBhvr>
                                        <p:cTn id="141" dur="1" fill="hold">
                                          <p:stCondLst>
                                            <p:cond delay="0"/>
                                          </p:stCondLst>
                                        </p:cTn>
                                        <p:tgtEl>
                                          <p:spTgt spid="31"/>
                                        </p:tgtEl>
                                        <p:attrNameLst>
                                          <p:attrName>style.visibility</p:attrName>
                                        </p:attrNameLst>
                                      </p:cBhvr>
                                      <p:to>
                                        <p:strVal val="visible"/>
                                      </p:to>
                                    </p:set>
                                    <p:animEffect transition="in" filter="fade">
                                      <p:cBhvr>
                                        <p:cTn id="142" dur="500"/>
                                        <p:tgtEl>
                                          <p:spTgt spid="31"/>
                                        </p:tgtEl>
                                      </p:cBhvr>
                                    </p:animEffect>
                                    <p:anim calcmode="lin" valueType="num">
                                      <p:cBhvr>
                                        <p:cTn id="143" dur="500" fill="hold"/>
                                        <p:tgtEl>
                                          <p:spTgt spid="31"/>
                                        </p:tgtEl>
                                        <p:attrNameLst>
                                          <p:attrName>ppt_x</p:attrName>
                                        </p:attrNameLst>
                                      </p:cBhvr>
                                      <p:tavLst>
                                        <p:tav tm="0">
                                          <p:val>
                                            <p:strVal val="#ppt_x"/>
                                          </p:val>
                                        </p:tav>
                                        <p:tav tm="100000">
                                          <p:val>
                                            <p:strVal val="#ppt_x"/>
                                          </p:val>
                                        </p:tav>
                                      </p:tavLst>
                                    </p:anim>
                                    <p:anim calcmode="lin" valueType="num">
                                      <p:cBhvr>
                                        <p:cTn id="144" dur="500" fill="hold"/>
                                        <p:tgtEl>
                                          <p:spTgt spid="31"/>
                                        </p:tgtEl>
                                        <p:attrNameLst>
                                          <p:attrName>ppt_y</p:attrName>
                                        </p:attrNameLst>
                                      </p:cBhvr>
                                      <p:tavLst>
                                        <p:tav tm="0">
                                          <p:val>
                                            <p:strVal val="#ppt_y+.1"/>
                                          </p:val>
                                        </p:tav>
                                        <p:tav tm="100000">
                                          <p:val>
                                            <p:strVal val="#ppt_y"/>
                                          </p:val>
                                        </p:tav>
                                      </p:tavLst>
                                    </p:anim>
                                  </p:childTnLst>
                                </p:cTn>
                              </p:par>
                              <p:par>
                                <p:cTn id="150" presetID="42" presetClass="entr" presetSubtype="0" fill="hold" nodeType="withEffect">
                                  <p:stCondLst>
                                    <p:cond delay="0"/>
                                  </p:stCondLst>
                                  <p:childTnLst>
                                    <p:set>
                                      <p:cBhvr>
                                        <p:cTn id="146" dur="1" fill="hold">
                                          <p:stCondLst>
                                            <p:cond delay="0"/>
                                          </p:stCondLst>
                                        </p:cTn>
                                        <p:tgtEl>
                                          <p:spTgt spid="32"/>
                                        </p:tgtEl>
                                        <p:attrNameLst>
                                          <p:attrName>style.visibility</p:attrName>
                                        </p:attrNameLst>
                                      </p:cBhvr>
                                      <p:to>
                                        <p:strVal val="visible"/>
                                      </p:to>
                                    </p:set>
                                    <p:animEffect transition="in" filter="fade">
                                      <p:cBhvr>
                                        <p:cTn id="147" dur="500"/>
                                        <p:tgtEl>
                                          <p:spTgt spid="32"/>
                                        </p:tgtEl>
                                      </p:cBhvr>
                                    </p:animEffect>
                                    <p:anim calcmode="lin" valueType="num">
                                      <p:cBhvr>
                                        <p:cTn id="148" dur="500" fill="hold"/>
                                        <p:tgtEl>
                                          <p:spTgt spid="32"/>
                                        </p:tgtEl>
                                        <p:attrNameLst>
                                          <p:attrName>ppt_x</p:attrName>
                                        </p:attrNameLst>
                                      </p:cBhvr>
                                      <p:tavLst>
                                        <p:tav tm="0">
                                          <p:val>
                                            <p:strVal val="#ppt_x"/>
                                          </p:val>
                                        </p:tav>
                                        <p:tav tm="100000">
                                          <p:val>
                                            <p:strVal val="#ppt_x"/>
                                          </p:val>
                                        </p:tav>
                                      </p:tavLst>
                                    </p:anim>
                                    <p:anim calcmode="lin" valueType="num">
                                      <p:cBhvr>
                                        <p:cTn id="149" dur="500" fill="hold"/>
                                        <p:tgtEl>
                                          <p:spTgt spid="32"/>
                                        </p:tgtEl>
                                        <p:attrNameLst>
                                          <p:attrName>ppt_y</p:attrName>
                                        </p:attrNameLst>
                                      </p:cBhvr>
                                      <p:tavLst>
                                        <p:tav tm="0">
                                          <p:val>
                                            <p:strVal val="#ppt_y+.1"/>
                                          </p:val>
                                        </p:tav>
                                        <p:tav tm="100000">
                                          <p:val>
                                            <p:strVal val="#ppt_y"/>
                                          </p:val>
                                        </p:tav>
                                      </p:tavLst>
                                    </p:anim>
                                  </p:childTnLst>
                                </p:cTn>
                              </p:par>
                              <p:par>
                                <p:cTn id="155" presetID="42" presetClass="entr" presetSubtype="0" fill="hold" nodeType="withEffect">
                                  <p:stCondLst>
                                    <p:cond delay="0"/>
                                  </p:stCondLst>
                                  <p:childTnLst>
                                    <p:set>
                                      <p:cBhvr>
                                        <p:cTn id="151" dur="1" fill="hold">
                                          <p:stCondLst>
                                            <p:cond delay="0"/>
                                          </p:stCondLst>
                                        </p:cTn>
                                        <p:tgtEl>
                                          <p:spTgt spid="33"/>
                                        </p:tgtEl>
                                        <p:attrNameLst>
                                          <p:attrName>style.visibility</p:attrName>
                                        </p:attrNameLst>
                                      </p:cBhvr>
                                      <p:to>
                                        <p:strVal val="visible"/>
                                      </p:to>
                                    </p:set>
                                    <p:animEffect transition="in" filter="fade">
                                      <p:cBhvr>
                                        <p:cTn id="152" dur="500"/>
                                        <p:tgtEl>
                                          <p:spTgt spid="33"/>
                                        </p:tgtEl>
                                      </p:cBhvr>
                                    </p:animEffect>
                                    <p:anim calcmode="lin" valueType="num">
                                      <p:cBhvr>
                                        <p:cTn id="153" dur="500" fill="hold"/>
                                        <p:tgtEl>
                                          <p:spTgt spid="33"/>
                                        </p:tgtEl>
                                        <p:attrNameLst>
                                          <p:attrName>ppt_x</p:attrName>
                                        </p:attrNameLst>
                                      </p:cBhvr>
                                      <p:tavLst>
                                        <p:tav tm="0">
                                          <p:val>
                                            <p:strVal val="#ppt_x"/>
                                          </p:val>
                                        </p:tav>
                                        <p:tav tm="100000">
                                          <p:val>
                                            <p:strVal val="#ppt_x"/>
                                          </p:val>
                                        </p:tav>
                                      </p:tavLst>
                                    </p:anim>
                                    <p:anim calcmode="lin" valueType="num">
                                      <p:cBhvr>
                                        <p:cTn id="154" dur="500" fill="hold"/>
                                        <p:tgtEl>
                                          <p:spTgt spid="33"/>
                                        </p:tgtEl>
                                        <p:attrNameLst>
                                          <p:attrName>ppt_y</p:attrName>
                                        </p:attrNameLst>
                                      </p:cBhvr>
                                      <p:tavLst>
                                        <p:tav tm="0">
                                          <p:val>
                                            <p:strVal val="#ppt_y+.1"/>
                                          </p:val>
                                        </p:tav>
                                        <p:tav tm="100000">
                                          <p:val>
                                            <p:strVal val="#ppt_y"/>
                                          </p:val>
                                        </p:tav>
                                      </p:tavLst>
                                    </p:anim>
                                  </p:childTnLst>
                                </p:cTn>
                              </p:par>
                              <p:par>
                                <p:cTn id="160" presetID="42" presetClass="entr" presetSubtype="0" fill="hold" nodeType="withEffect">
                                  <p:stCondLst>
                                    <p:cond delay="0"/>
                                  </p:stCondLst>
                                  <p:childTnLst>
                                    <p:set>
                                      <p:cBhvr>
                                        <p:cTn id="156" dur="1" fill="hold">
                                          <p:stCondLst>
                                            <p:cond delay="0"/>
                                          </p:stCondLst>
                                        </p:cTn>
                                        <p:tgtEl>
                                          <p:spTgt spid="34"/>
                                        </p:tgtEl>
                                        <p:attrNameLst>
                                          <p:attrName>style.visibility</p:attrName>
                                        </p:attrNameLst>
                                      </p:cBhvr>
                                      <p:to>
                                        <p:strVal val="visible"/>
                                      </p:to>
                                    </p:set>
                                    <p:animEffect transition="in" filter="fade">
                                      <p:cBhvr>
                                        <p:cTn id="157" dur="500"/>
                                        <p:tgtEl>
                                          <p:spTgt spid="34"/>
                                        </p:tgtEl>
                                      </p:cBhvr>
                                    </p:animEffect>
                                    <p:anim calcmode="lin" valueType="num">
                                      <p:cBhvr>
                                        <p:cTn id="158" dur="500" fill="hold"/>
                                        <p:tgtEl>
                                          <p:spTgt spid="34"/>
                                        </p:tgtEl>
                                        <p:attrNameLst>
                                          <p:attrName>ppt_x</p:attrName>
                                        </p:attrNameLst>
                                      </p:cBhvr>
                                      <p:tavLst>
                                        <p:tav tm="0">
                                          <p:val>
                                            <p:strVal val="#ppt_x"/>
                                          </p:val>
                                        </p:tav>
                                        <p:tav tm="100000">
                                          <p:val>
                                            <p:strVal val="#ppt_x"/>
                                          </p:val>
                                        </p:tav>
                                      </p:tavLst>
                                    </p:anim>
                                    <p:anim calcmode="lin" valueType="num">
                                      <p:cBhvr>
                                        <p:cTn id="159" dur="500" fill="hold"/>
                                        <p:tgtEl>
                                          <p:spTgt spid="34"/>
                                        </p:tgtEl>
                                        <p:attrNameLst>
                                          <p:attrName>ppt_y</p:attrName>
                                        </p:attrNameLst>
                                      </p:cBhvr>
                                      <p:tavLst>
                                        <p:tav tm="0">
                                          <p:val>
                                            <p:strVal val="#ppt_y+.1"/>
                                          </p:val>
                                        </p:tav>
                                        <p:tav tm="100000">
                                          <p:val>
                                            <p:strVal val="#ppt_y"/>
                                          </p:val>
                                        </p:tav>
                                      </p:tavLst>
                                    </p:anim>
                                  </p:childTnLst>
                                </p:cTn>
                              </p:par>
                              <p:par>
                                <p:cTn id="165" presetID="42" presetClass="entr" presetSubtype="0" fill="hold" nodeType="withEffect">
                                  <p:stCondLst>
                                    <p:cond delay="0"/>
                                  </p:stCondLst>
                                  <p:childTnLst>
                                    <p:set>
                                      <p:cBhvr>
                                        <p:cTn id="161" dur="1" fill="hold">
                                          <p:stCondLst>
                                            <p:cond delay="0"/>
                                          </p:stCondLst>
                                        </p:cTn>
                                        <p:tgtEl>
                                          <p:spTgt spid="35"/>
                                        </p:tgtEl>
                                        <p:attrNameLst>
                                          <p:attrName>style.visibility</p:attrName>
                                        </p:attrNameLst>
                                      </p:cBhvr>
                                      <p:to>
                                        <p:strVal val="visible"/>
                                      </p:to>
                                    </p:set>
                                    <p:animEffect transition="in" filter="fade">
                                      <p:cBhvr>
                                        <p:cTn id="162" dur="500"/>
                                        <p:tgtEl>
                                          <p:spTgt spid="35"/>
                                        </p:tgtEl>
                                      </p:cBhvr>
                                    </p:animEffect>
                                    <p:anim calcmode="lin" valueType="num">
                                      <p:cBhvr>
                                        <p:cTn id="163" dur="500" fill="hold"/>
                                        <p:tgtEl>
                                          <p:spTgt spid="35"/>
                                        </p:tgtEl>
                                        <p:attrNameLst>
                                          <p:attrName>ppt_x</p:attrName>
                                        </p:attrNameLst>
                                      </p:cBhvr>
                                      <p:tavLst>
                                        <p:tav tm="0">
                                          <p:val>
                                            <p:strVal val="#ppt_x"/>
                                          </p:val>
                                        </p:tav>
                                        <p:tav tm="100000">
                                          <p:val>
                                            <p:strVal val="#ppt_x"/>
                                          </p:val>
                                        </p:tav>
                                      </p:tavLst>
                                    </p:anim>
                                    <p:anim calcmode="lin" valueType="num">
                                      <p:cBhvr>
                                        <p:cTn id="164" dur="500" fill="hold"/>
                                        <p:tgtEl>
                                          <p:spTgt spid="35"/>
                                        </p:tgtEl>
                                        <p:attrNameLst>
                                          <p:attrName>ppt_y</p:attrName>
                                        </p:attrNameLst>
                                      </p:cBhvr>
                                      <p:tavLst>
                                        <p:tav tm="0">
                                          <p:val>
                                            <p:strVal val="#ppt_y+.1"/>
                                          </p:val>
                                        </p:tav>
                                        <p:tav tm="100000">
                                          <p:val>
                                            <p:strVal val="#ppt_y"/>
                                          </p:val>
                                        </p:tav>
                                      </p:tavLst>
                                    </p:anim>
                                  </p:childTnLst>
                                </p:cTn>
                              </p:par>
                              <p:par>
                                <p:cTn id="170" presetID="42" presetClass="entr" presetSubtype="0" fill="hold" nodeType="withEffect">
                                  <p:stCondLst>
                                    <p:cond delay="0"/>
                                  </p:stCondLst>
                                  <p:childTnLst>
                                    <p:set>
                                      <p:cBhvr>
                                        <p:cTn id="166" dur="1" fill="hold">
                                          <p:stCondLst>
                                            <p:cond delay="0"/>
                                          </p:stCondLst>
                                        </p:cTn>
                                        <p:tgtEl>
                                          <p:spTgt spid="36"/>
                                        </p:tgtEl>
                                        <p:attrNameLst>
                                          <p:attrName>style.visibility</p:attrName>
                                        </p:attrNameLst>
                                      </p:cBhvr>
                                      <p:to>
                                        <p:strVal val="visible"/>
                                      </p:to>
                                    </p:set>
                                    <p:animEffect transition="in" filter="fade">
                                      <p:cBhvr>
                                        <p:cTn id="167" dur="500"/>
                                        <p:tgtEl>
                                          <p:spTgt spid="36"/>
                                        </p:tgtEl>
                                      </p:cBhvr>
                                    </p:animEffect>
                                    <p:anim calcmode="lin" valueType="num">
                                      <p:cBhvr>
                                        <p:cTn id="168" dur="500" fill="hold"/>
                                        <p:tgtEl>
                                          <p:spTgt spid="36"/>
                                        </p:tgtEl>
                                        <p:attrNameLst>
                                          <p:attrName>ppt_x</p:attrName>
                                        </p:attrNameLst>
                                      </p:cBhvr>
                                      <p:tavLst>
                                        <p:tav tm="0">
                                          <p:val>
                                            <p:strVal val="#ppt_x"/>
                                          </p:val>
                                        </p:tav>
                                        <p:tav tm="100000">
                                          <p:val>
                                            <p:strVal val="#ppt_x"/>
                                          </p:val>
                                        </p:tav>
                                      </p:tavLst>
                                    </p:anim>
                                    <p:anim calcmode="lin" valueType="num">
                                      <p:cBhvr>
                                        <p:cTn id="169" dur="500" fill="hold"/>
                                        <p:tgtEl>
                                          <p:spTgt spid="36"/>
                                        </p:tgtEl>
                                        <p:attrNameLst>
                                          <p:attrName>ppt_y</p:attrName>
                                        </p:attrNameLst>
                                      </p:cBhvr>
                                      <p:tavLst>
                                        <p:tav tm="0">
                                          <p:val>
                                            <p:strVal val="#ppt_y+.1"/>
                                          </p:val>
                                        </p:tav>
                                        <p:tav tm="100000">
                                          <p:val>
                                            <p:strVal val="#ppt_y"/>
                                          </p:val>
                                        </p:tav>
                                      </p:tavLst>
                                    </p:anim>
                                  </p:childTnLst>
                                </p:cTn>
                              </p:par>
                              <p:par>
                                <p:cTn id="175" presetID="42" presetClass="entr" presetSubtype="0" fill="hold" nodeType="withEffect">
                                  <p:stCondLst>
                                    <p:cond delay="0"/>
                                  </p:stCondLst>
                                  <p:childTnLst>
                                    <p:set>
                                      <p:cBhvr>
                                        <p:cTn id="171" dur="1" fill="hold">
                                          <p:stCondLst>
                                            <p:cond delay="0"/>
                                          </p:stCondLst>
                                        </p:cTn>
                                        <p:tgtEl>
                                          <p:spTgt spid="37"/>
                                        </p:tgtEl>
                                        <p:attrNameLst>
                                          <p:attrName>style.visibility</p:attrName>
                                        </p:attrNameLst>
                                      </p:cBhvr>
                                      <p:to>
                                        <p:strVal val="visible"/>
                                      </p:to>
                                    </p:set>
                                    <p:animEffect transition="in" filter="fade">
                                      <p:cBhvr>
                                        <p:cTn id="172" dur="500"/>
                                        <p:tgtEl>
                                          <p:spTgt spid="37"/>
                                        </p:tgtEl>
                                      </p:cBhvr>
                                    </p:animEffect>
                                    <p:anim calcmode="lin" valueType="num">
                                      <p:cBhvr>
                                        <p:cTn id="173" dur="500" fill="hold"/>
                                        <p:tgtEl>
                                          <p:spTgt spid="37"/>
                                        </p:tgtEl>
                                        <p:attrNameLst>
                                          <p:attrName>ppt_x</p:attrName>
                                        </p:attrNameLst>
                                      </p:cBhvr>
                                      <p:tavLst>
                                        <p:tav tm="0">
                                          <p:val>
                                            <p:strVal val="#ppt_x"/>
                                          </p:val>
                                        </p:tav>
                                        <p:tav tm="100000">
                                          <p:val>
                                            <p:strVal val="#ppt_x"/>
                                          </p:val>
                                        </p:tav>
                                      </p:tavLst>
                                    </p:anim>
                                    <p:anim calcmode="lin" valueType="num">
                                      <p:cBhvr>
                                        <p:cTn id="174" dur="500" fill="hold"/>
                                        <p:tgtEl>
                                          <p:spTgt spid="37"/>
                                        </p:tgtEl>
                                        <p:attrNameLst>
                                          <p:attrName>ppt_y</p:attrName>
                                        </p:attrNameLst>
                                      </p:cBhvr>
                                      <p:tavLst>
                                        <p:tav tm="0">
                                          <p:val>
                                            <p:strVal val="#ppt_y+.1"/>
                                          </p:val>
                                        </p:tav>
                                        <p:tav tm="100000">
                                          <p:val>
                                            <p:strVal val="#ppt_y"/>
                                          </p:val>
                                        </p:tav>
                                      </p:tavLst>
                                    </p:anim>
                                  </p:childTnLst>
                                </p:cTn>
                              </p:par>
                              <p:par>
                                <p:cTn id="180" presetID="42" presetClass="entr" presetSubtype="0" fill="hold" nodeType="withEffect">
                                  <p:stCondLst>
                                    <p:cond delay="0"/>
                                  </p:stCondLst>
                                  <p:childTnLst>
                                    <p:set>
                                      <p:cBhvr>
                                        <p:cTn id="176" dur="1" fill="hold">
                                          <p:stCondLst>
                                            <p:cond delay="0"/>
                                          </p:stCondLst>
                                        </p:cTn>
                                        <p:tgtEl>
                                          <p:spTgt spid="38"/>
                                        </p:tgtEl>
                                        <p:attrNameLst>
                                          <p:attrName>style.visibility</p:attrName>
                                        </p:attrNameLst>
                                      </p:cBhvr>
                                      <p:to>
                                        <p:strVal val="visible"/>
                                      </p:to>
                                    </p:set>
                                    <p:animEffect transition="in" filter="fade">
                                      <p:cBhvr>
                                        <p:cTn id="177" dur="500"/>
                                        <p:tgtEl>
                                          <p:spTgt spid="38"/>
                                        </p:tgtEl>
                                      </p:cBhvr>
                                    </p:animEffect>
                                    <p:anim calcmode="lin" valueType="num">
                                      <p:cBhvr>
                                        <p:cTn id="178" dur="500" fill="hold"/>
                                        <p:tgtEl>
                                          <p:spTgt spid="38"/>
                                        </p:tgtEl>
                                        <p:attrNameLst>
                                          <p:attrName>ppt_x</p:attrName>
                                        </p:attrNameLst>
                                      </p:cBhvr>
                                      <p:tavLst>
                                        <p:tav tm="0">
                                          <p:val>
                                            <p:strVal val="#ppt_x"/>
                                          </p:val>
                                        </p:tav>
                                        <p:tav tm="100000">
                                          <p:val>
                                            <p:strVal val="#ppt_x"/>
                                          </p:val>
                                        </p:tav>
                                      </p:tavLst>
                                    </p:anim>
                                    <p:anim calcmode="lin" valueType="num">
                                      <p:cBhvr>
                                        <p:cTn id="179" dur="500" fill="hold"/>
                                        <p:tgtEl>
                                          <p:spTgt spid="38"/>
                                        </p:tgtEl>
                                        <p:attrNameLst>
                                          <p:attrName>ppt_y</p:attrName>
                                        </p:attrNameLst>
                                      </p:cBhvr>
                                      <p:tavLst>
                                        <p:tav tm="0">
                                          <p:val>
                                            <p:strVal val="#ppt_y+.1"/>
                                          </p:val>
                                        </p:tav>
                                        <p:tav tm="100000">
                                          <p:val>
                                            <p:strVal val="#ppt_y"/>
                                          </p:val>
                                        </p:tav>
                                      </p:tavLst>
                                    </p:anim>
                                  </p:childTnLst>
                                </p:cTn>
                              </p:par>
                              <p:par>
                                <p:cTn id="185" presetID="42" presetClass="entr" presetSubtype="0" fill="hold" nodeType="withEffect">
                                  <p:stCondLst>
                                    <p:cond delay="0"/>
                                  </p:stCondLst>
                                  <p:childTnLst>
                                    <p:set>
                                      <p:cBhvr>
                                        <p:cTn id="181" dur="1" fill="hold">
                                          <p:stCondLst>
                                            <p:cond delay="0"/>
                                          </p:stCondLst>
                                        </p:cTn>
                                        <p:tgtEl>
                                          <p:spTgt spid="39"/>
                                        </p:tgtEl>
                                        <p:attrNameLst>
                                          <p:attrName>style.visibility</p:attrName>
                                        </p:attrNameLst>
                                      </p:cBhvr>
                                      <p:to>
                                        <p:strVal val="visible"/>
                                      </p:to>
                                    </p:set>
                                    <p:animEffect transition="in" filter="fade">
                                      <p:cBhvr>
                                        <p:cTn id="182" dur="500"/>
                                        <p:tgtEl>
                                          <p:spTgt spid="39"/>
                                        </p:tgtEl>
                                      </p:cBhvr>
                                    </p:animEffect>
                                    <p:anim calcmode="lin" valueType="num">
                                      <p:cBhvr>
                                        <p:cTn id="183" dur="500" fill="hold"/>
                                        <p:tgtEl>
                                          <p:spTgt spid="39"/>
                                        </p:tgtEl>
                                        <p:attrNameLst>
                                          <p:attrName>ppt_x</p:attrName>
                                        </p:attrNameLst>
                                      </p:cBhvr>
                                      <p:tavLst>
                                        <p:tav tm="0">
                                          <p:val>
                                            <p:strVal val="#ppt_x"/>
                                          </p:val>
                                        </p:tav>
                                        <p:tav tm="100000">
                                          <p:val>
                                            <p:strVal val="#ppt_x"/>
                                          </p:val>
                                        </p:tav>
                                      </p:tavLst>
                                    </p:anim>
                                    <p:anim calcmode="lin" valueType="num">
                                      <p:cBhvr>
                                        <p:cTn id="184" dur="500" fill="hold"/>
                                        <p:tgtEl>
                                          <p:spTgt spid="39"/>
                                        </p:tgtEl>
                                        <p:attrNameLst>
                                          <p:attrName>ppt_y</p:attrName>
                                        </p:attrNameLst>
                                      </p:cBhvr>
                                      <p:tavLst>
                                        <p:tav tm="0">
                                          <p:val>
                                            <p:strVal val="#ppt_y+.1"/>
                                          </p:val>
                                        </p:tav>
                                        <p:tav tm="100000">
                                          <p:val>
                                            <p:strVal val="#ppt_y"/>
                                          </p:val>
                                        </p:tav>
                                      </p:tavLst>
                                    </p:anim>
                                  </p:childTnLst>
                                </p:cTn>
                              </p:par>
                              <p:par>
                                <p:cTn id="190" presetID="42" presetClass="entr" presetSubtype="0" fill="hold" nodeType="withEffect">
                                  <p:stCondLst>
                                    <p:cond delay="0"/>
                                  </p:stCondLst>
                                  <p:childTnLst>
                                    <p:set>
                                      <p:cBhvr>
                                        <p:cTn id="186" dur="1" fill="hold">
                                          <p:stCondLst>
                                            <p:cond delay="0"/>
                                          </p:stCondLst>
                                        </p:cTn>
                                        <p:tgtEl>
                                          <p:spTgt spid="40"/>
                                        </p:tgtEl>
                                        <p:attrNameLst>
                                          <p:attrName>style.visibility</p:attrName>
                                        </p:attrNameLst>
                                      </p:cBhvr>
                                      <p:to>
                                        <p:strVal val="visible"/>
                                      </p:to>
                                    </p:set>
                                    <p:animEffect transition="in" filter="fade">
                                      <p:cBhvr>
                                        <p:cTn id="187" dur="500"/>
                                        <p:tgtEl>
                                          <p:spTgt spid="40"/>
                                        </p:tgtEl>
                                      </p:cBhvr>
                                    </p:animEffect>
                                    <p:anim calcmode="lin" valueType="num">
                                      <p:cBhvr>
                                        <p:cTn id="188" dur="500" fill="hold"/>
                                        <p:tgtEl>
                                          <p:spTgt spid="40"/>
                                        </p:tgtEl>
                                        <p:attrNameLst>
                                          <p:attrName>ppt_x</p:attrName>
                                        </p:attrNameLst>
                                      </p:cBhvr>
                                      <p:tavLst>
                                        <p:tav tm="0">
                                          <p:val>
                                            <p:strVal val="#ppt_x"/>
                                          </p:val>
                                        </p:tav>
                                        <p:tav tm="100000">
                                          <p:val>
                                            <p:strVal val="#ppt_x"/>
                                          </p:val>
                                        </p:tav>
                                      </p:tavLst>
                                    </p:anim>
                                    <p:anim calcmode="lin" valueType="num">
                                      <p:cBhvr>
                                        <p:cTn id="189" dur="500" fill="hold"/>
                                        <p:tgtEl>
                                          <p:spTgt spid="40"/>
                                        </p:tgtEl>
                                        <p:attrNameLst>
                                          <p:attrName>ppt_y</p:attrName>
                                        </p:attrNameLst>
                                      </p:cBhvr>
                                      <p:tavLst>
                                        <p:tav tm="0">
                                          <p:val>
                                            <p:strVal val="#ppt_y+.1"/>
                                          </p:val>
                                        </p:tav>
                                        <p:tav tm="100000">
                                          <p:val>
                                            <p:strVal val="#ppt_y"/>
                                          </p:val>
                                        </p:tav>
                                      </p:tavLst>
                                    </p:anim>
                                  </p:childTnLst>
                                </p:cTn>
                              </p:par>
                              <p:par>
                                <p:cTn id="195" presetID="42" presetClass="entr" presetSubtype="0" fill="hold" nodeType="withEffect">
                                  <p:stCondLst>
                                    <p:cond delay="0"/>
                                  </p:stCondLst>
                                  <p:childTnLst>
                                    <p:set>
                                      <p:cBhvr>
                                        <p:cTn id="191" dur="1" fill="hold">
                                          <p:stCondLst>
                                            <p:cond delay="0"/>
                                          </p:stCondLst>
                                        </p:cTn>
                                        <p:tgtEl>
                                          <p:spTgt spid="41"/>
                                        </p:tgtEl>
                                        <p:attrNameLst>
                                          <p:attrName>style.visibility</p:attrName>
                                        </p:attrNameLst>
                                      </p:cBhvr>
                                      <p:to>
                                        <p:strVal val="visible"/>
                                      </p:to>
                                    </p:set>
                                    <p:animEffect transition="in" filter="fade">
                                      <p:cBhvr>
                                        <p:cTn id="192" dur="500"/>
                                        <p:tgtEl>
                                          <p:spTgt spid="41"/>
                                        </p:tgtEl>
                                      </p:cBhvr>
                                    </p:animEffect>
                                    <p:anim calcmode="lin" valueType="num">
                                      <p:cBhvr>
                                        <p:cTn id="193" dur="500" fill="hold"/>
                                        <p:tgtEl>
                                          <p:spTgt spid="41"/>
                                        </p:tgtEl>
                                        <p:attrNameLst>
                                          <p:attrName>ppt_x</p:attrName>
                                        </p:attrNameLst>
                                      </p:cBhvr>
                                      <p:tavLst>
                                        <p:tav tm="0">
                                          <p:val>
                                            <p:strVal val="#ppt_x"/>
                                          </p:val>
                                        </p:tav>
                                        <p:tav tm="100000">
                                          <p:val>
                                            <p:strVal val="#ppt_x"/>
                                          </p:val>
                                        </p:tav>
                                      </p:tavLst>
                                    </p:anim>
                                    <p:anim calcmode="lin" valueType="num">
                                      <p:cBhvr>
                                        <p:cTn id="194" dur="500" fill="hold"/>
                                        <p:tgtEl>
                                          <p:spTgt spid="41"/>
                                        </p:tgtEl>
                                        <p:attrNameLst>
                                          <p:attrName>ppt_y</p:attrName>
                                        </p:attrNameLst>
                                      </p:cBhvr>
                                      <p:tavLst>
                                        <p:tav tm="0">
                                          <p:val>
                                            <p:strVal val="#ppt_y+.1"/>
                                          </p:val>
                                        </p:tav>
                                        <p:tav tm="100000">
                                          <p:val>
                                            <p:strVal val="#ppt_y"/>
                                          </p:val>
                                        </p:tav>
                                      </p:tavLst>
                                    </p:anim>
                                  </p:childTnLst>
                                </p:cTn>
                              </p:par>
                              <p:par>
                                <p:cTn id="200" presetID="42" presetClass="entr" presetSubtype="0" fill="hold" nodeType="withEffect">
                                  <p:stCondLst>
                                    <p:cond delay="0"/>
                                  </p:stCondLst>
                                  <p:childTnLst>
                                    <p:set>
                                      <p:cBhvr>
                                        <p:cTn id="196" dur="1" fill="hold">
                                          <p:stCondLst>
                                            <p:cond delay="0"/>
                                          </p:stCondLst>
                                        </p:cTn>
                                        <p:tgtEl>
                                          <p:spTgt spid="42"/>
                                        </p:tgtEl>
                                        <p:attrNameLst>
                                          <p:attrName>style.visibility</p:attrName>
                                        </p:attrNameLst>
                                      </p:cBhvr>
                                      <p:to>
                                        <p:strVal val="visible"/>
                                      </p:to>
                                    </p:set>
                                    <p:animEffect transition="in" filter="fade">
                                      <p:cBhvr>
                                        <p:cTn id="197" dur="500"/>
                                        <p:tgtEl>
                                          <p:spTgt spid="42"/>
                                        </p:tgtEl>
                                      </p:cBhvr>
                                    </p:animEffect>
                                    <p:anim calcmode="lin" valueType="num">
                                      <p:cBhvr>
                                        <p:cTn id="198" dur="500" fill="hold"/>
                                        <p:tgtEl>
                                          <p:spTgt spid="42"/>
                                        </p:tgtEl>
                                        <p:attrNameLst>
                                          <p:attrName>ppt_x</p:attrName>
                                        </p:attrNameLst>
                                      </p:cBhvr>
                                      <p:tavLst>
                                        <p:tav tm="0">
                                          <p:val>
                                            <p:strVal val="#ppt_x"/>
                                          </p:val>
                                        </p:tav>
                                        <p:tav tm="100000">
                                          <p:val>
                                            <p:strVal val="#ppt_x"/>
                                          </p:val>
                                        </p:tav>
                                      </p:tavLst>
                                    </p:anim>
                                    <p:anim calcmode="lin" valueType="num">
                                      <p:cBhvr>
                                        <p:cTn id="199" dur="500" fill="hold"/>
                                        <p:tgtEl>
                                          <p:spTgt spid="42"/>
                                        </p:tgtEl>
                                        <p:attrNameLst>
                                          <p:attrName>ppt_y</p:attrName>
                                        </p:attrNameLst>
                                      </p:cBhvr>
                                      <p:tavLst>
                                        <p:tav tm="0">
                                          <p:val>
                                            <p:strVal val="#ppt_y+.1"/>
                                          </p:val>
                                        </p:tav>
                                        <p:tav tm="100000">
                                          <p:val>
                                            <p:strVal val="#ppt_y"/>
                                          </p:val>
                                        </p:tav>
                                      </p:tavLst>
                                    </p:anim>
                                  </p:childTnLst>
                                </p:cTn>
                              </p:par>
                              <p:par>
                                <p:cTn id="205" presetID="42" presetClass="entr" presetSubtype="0" fill="hold" nodeType="withEffect">
                                  <p:stCondLst>
                                    <p:cond delay="0"/>
                                  </p:stCondLst>
                                  <p:childTnLst>
                                    <p:set>
                                      <p:cBhvr>
                                        <p:cTn id="201" dur="1" fill="hold">
                                          <p:stCondLst>
                                            <p:cond delay="0"/>
                                          </p:stCondLst>
                                        </p:cTn>
                                        <p:tgtEl>
                                          <p:spTgt spid="43"/>
                                        </p:tgtEl>
                                        <p:attrNameLst>
                                          <p:attrName>style.visibility</p:attrName>
                                        </p:attrNameLst>
                                      </p:cBhvr>
                                      <p:to>
                                        <p:strVal val="visible"/>
                                      </p:to>
                                    </p:set>
                                    <p:animEffect transition="in" filter="fade">
                                      <p:cBhvr>
                                        <p:cTn id="202" dur="500"/>
                                        <p:tgtEl>
                                          <p:spTgt spid="43"/>
                                        </p:tgtEl>
                                      </p:cBhvr>
                                    </p:animEffect>
                                    <p:anim calcmode="lin" valueType="num">
                                      <p:cBhvr>
                                        <p:cTn id="203" dur="500" fill="hold"/>
                                        <p:tgtEl>
                                          <p:spTgt spid="43"/>
                                        </p:tgtEl>
                                        <p:attrNameLst>
                                          <p:attrName>ppt_x</p:attrName>
                                        </p:attrNameLst>
                                      </p:cBhvr>
                                      <p:tavLst>
                                        <p:tav tm="0">
                                          <p:val>
                                            <p:strVal val="#ppt_x"/>
                                          </p:val>
                                        </p:tav>
                                        <p:tav tm="100000">
                                          <p:val>
                                            <p:strVal val="#ppt_x"/>
                                          </p:val>
                                        </p:tav>
                                      </p:tavLst>
                                    </p:anim>
                                    <p:anim calcmode="lin" valueType="num">
                                      <p:cBhvr>
                                        <p:cTn id="204" dur="500" fill="hold"/>
                                        <p:tgtEl>
                                          <p:spTgt spid="43"/>
                                        </p:tgtEl>
                                        <p:attrNameLst>
                                          <p:attrName>ppt_y</p:attrName>
                                        </p:attrNameLst>
                                      </p:cBhvr>
                                      <p:tavLst>
                                        <p:tav tm="0">
                                          <p:val>
                                            <p:strVal val="#ppt_y+.1"/>
                                          </p:val>
                                        </p:tav>
                                        <p:tav tm="100000">
                                          <p:val>
                                            <p:strVal val="#ppt_y"/>
                                          </p:val>
                                        </p:tav>
                                      </p:tavLst>
                                    </p:anim>
                                  </p:childTnLst>
                                </p:cTn>
                              </p:par>
                              <p:par>
                                <p:cTn id="210" presetID="42" presetClass="entr" presetSubtype="0" fill="hold" nodeType="withEffect">
                                  <p:stCondLst>
                                    <p:cond delay="0"/>
                                  </p:stCondLst>
                                  <p:childTnLst>
                                    <p:set>
                                      <p:cBhvr>
                                        <p:cTn id="206" dur="1" fill="hold">
                                          <p:stCondLst>
                                            <p:cond delay="0"/>
                                          </p:stCondLst>
                                        </p:cTn>
                                        <p:tgtEl>
                                          <p:spTgt spid="44"/>
                                        </p:tgtEl>
                                        <p:attrNameLst>
                                          <p:attrName>style.visibility</p:attrName>
                                        </p:attrNameLst>
                                      </p:cBhvr>
                                      <p:to>
                                        <p:strVal val="visible"/>
                                      </p:to>
                                    </p:set>
                                    <p:animEffect transition="in" filter="fade">
                                      <p:cBhvr>
                                        <p:cTn id="207" dur="500"/>
                                        <p:tgtEl>
                                          <p:spTgt spid="44"/>
                                        </p:tgtEl>
                                      </p:cBhvr>
                                    </p:animEffect>
                                    <p:anim calcmode="lin" valueType="num">
                                      <p:cBhvr>
                                        <p:cTn id="208" dur="500" fill="hold"/>
                                        <p:tgtEl>
                                          <p:spTgt spid="44"/>
                                        </p:tgtEl>
                                        <p:attrNameLst>
                                          <p:attrName>ppt_x</p:attrName>
                                        </p:attrNameLst>
                                      </p:cBhvr>
                                      <p:tavLst>
                                        <p:tav tm="0">
                                          <p:val>
                                            <p:strVal val="#ppt_x"/>
                                          </p:val>
                                        </p:tav>
                                        <p:tav tm="100000">
                                          <p:val>
                                            <p:strVal val="#ppt_x"/>
                                          </p:val>
                                        </p:tav>
                                      </p:tavLst>
                                    </p:anim>
                                    <p:anim calcmode="lin" valueType="num">
                                      <p:cBhvr>
                                        <p:cTn id="209" dur="500" fill="hold"/>
                                        <p:tgtEl>
                                          <p:spTgt spid="44"/>
                                        </p:tgtEl>
                                        <p:attrNameLst>
                                          <p:attrName>ppt_y</p:attrName>
                                        </p:attrNameLst>
                                      </p:cBhvr>
                                      <p:tavLst>
                                        <p:tav tm="0">
                                          <p:val>
                                            <p:strVal val="#ppt_y+.1"/>
                                          </p:val>
                                        </p:tav>
                                        <p:tav tm="100000">
                                          <p:val>
                                            <p:strVal val="#ppt_y"/>
                                          </p:val>
                                        </p:tav>
                                      </p:tavLst>
                                    </p:anim>
                                  </p:childTnLst>
                                </p:cTn>
                              </p:par>
                              <p:par>
                                <p:cTn id="215" presetID="42" presetClass="entr" presetSubtype="0" fill="hold" nodeType="withEffect">
                                  <p:stCondLst>
                                    <p:cond delay="0"/>
                                  </p:stCondLst>
                                  <p:childTnLst>
                                    <p:set>
                                      <p:cBhvr>
                                        <p:cTn id="211" dur="1" fill="hold">
                                          <p:stCondLst>
                                            <p:cond delay="0"/>
                                          </p:stCondLst>
                                        </p:cTn>
                                        <p:tgtEl>
                                          <p:spTgt spid="45"/>
                                        </p:tgtEl>
                                        <p:attrNameLst>
                                          <p:attrName>style.visibility</p:attrName>
                                        </p:attrNameLst>
                                      </p:cBhvr>
                                      <p:to>
                                        <p:strVal val="visible"/>
                                      </p:to>
                                    </p:set>
                                    <p:animEffect transition="in" filter="fade">
                                      <p:cBhvr>
                                        <p:cTn id="212" dur="500"/>
                                        <p:tgtEl>
                                          <p:spTgt spid="45"/>
                                        </p:tgtEl>
                                      </p:cBhvr>
                                    </p:animEffect>
                                    <p:anim calcmode="lin" valueType="num">
                                      <p:cBhvr>
                                        <p:cTn id="213" dur="500" fill="hold"/>
                                        <p:tgtEl>
                                          <p:spTgt spid="45"/>
                                        </p:tgtEl>
                                        <p:attrNameLst>
                                          <p:attrName>ppt_x</p:attrName>
                                        </p:attrNameLst>
                                      </p:cBhvr>
                                      <p:tavLst>
                                        <p:tav tm="0">
                                          <p:val>
                                            <p:strVal val="#ppt_x"/>
                                          </p:val>
                                        </p:tav>
                                        <p:tav tm="100000">
                                          <p:val>
                                            <p:strVal val="#ppt_x"/>
                                          </p:val>
                                        </p:tav>
                                      </p:tavLst>
                                    </p:anim>
                                    <p:anim calcmode="lin" valueType="num">
                                      <p:cBhvr>
                                        <p:cTn id="214" dur="500" fill="hold"/>
                                        <p:tgtEl>
                                          <p:spTgt spid="45"/>
                                        </p:tgtEl>
                                        <p:attrNameLst>
                                          <p:attrName>ppt_y</p:attrName>
                                        </p:attrNameLst>
                                      </p:cBhvr>
                                      <p:tavLst>
                                        <p:tav tm="0">
                                          <p:val>
                                            <p:strVal val="#ppt_y+.1"/>
                                          </p:val>
                                        </p:tav>
                                        <p:tav tm="100000">
                                          <p:val>
                                            <p:strVal val="#ppt_y"/>
                                          </p:val>
                                        </p:tav>
                                      </p:tavLst>
                                    </p:anim>
                                  </p:childTnLst>
                                </p:cTn>
                              </p:par>
                              <p:par>
                                <p:cTn id="220" presetID="42" presetClass="entr" presetSubtype="0" fill="hold" nodeType="withEffect">
                                  <p:stCondLst>
                                    <p:cond delay="0"/>
                                  </p:stCondLst>
                                  <p:childTnLst>
                                    <p:set>
                                      <p:cBhvr>
                                        <p:cTn id="216" dur="1" fill="hold">
                                          <p:stCondLst>
                                            <p:cond delay="0"/>
                                          </p:stCondLst>
                                        </p:cTn>
                                        <p:tgtEl>
                                          <p:spTgt spid="46"/>
                                        </p:tgtEl>
                                        <p:attrNameLst>
                                          <p:attrName>style.visibility</p:attrName>
                                        </p:attrNameLst>
                                      </p:cBhvr>
                                      <p:to>
                                        <p:strVal val="visible"/>
                                      </p:to>
                                    </p:set>
                                    <p:animEffect transition="in" filter="fade">
                                      <p:cBhvr>
                                        <p:cTn id="217" dur="500"/>
                                        <p:tgtEl>
                                          <p:spTgt spid="46"/>
                                        </p:tgtEl>
                                      </p:cBhvr>
                                    </p:animEffect>
                                    <p:anim calcmode="lin" valueType="num">
                                      <p:cBhvr>
                                        <p:cTn id="218" dur="500" fill="hold"/>
                                        <p:tgtEl>
                                          <p:spTgt spid="46"/>
                                        </p:tgtEl>
                                        <p:attrNameLst>
                                          <p:attrName>ppt_x</p:attrName>
                                        </p:attrNameLst>
                                      </p:cBhvr>
                                      <p:tavLst>
                                        <p:tav tm="0">
                                          <p:val>
                                            <p:strVal val="#ppt_x"/>
                                          </p:val>
                                        </p:tav>
                                        <p:tav tm="100000">
                                          <p:val>
                                            <p:strVal val="#ppt_x"/>
                                          </p:val>
                                        </p:tav>
                                      </p:tavLst>
                                    </p:anim>
                                    <p:anim calcmode="lin" valueType="num">
                                      <p:cBhvr>
                                        <p:cTn id="219" dur="500" fill="hold"/>
                                        <p:tgtEl>
                                          <p:spTgt spid="46"/>
                                        </p:tgtEl>
                                        <p:attrNameLst>
                                          <p:attrName>ppt_y</p:attrName>
                                        </p:attrNameLst>
                                      </p:cBhvr>
                                      <p:tavLst>
                                        <p:tav tm="0">
                                          <p:val>
                                            <p:strVal val="#ppt_y+.1"/>
                                          </p:val>
                                        </p:tav>
                                        <p:tav tm="100000">
                                          <p:val>
                                            <p:strVal val="#ppt_y"/>
                                          </p:val>
                                        </p:tav>
                                      </p:tavLst>
                                    </p:anim>
                                  </p:childTnLst>
                                </p:cTn>
                              </p:par>
                              <p:par>
                                <p:cTn id="225" presetID="42" presetClass="entr" presetSubtype="0" fill="hold" nodeType="withEffect">
                                  <p:stCondLst>
                                    <p:cond delay="0"/>
                                  </p:stCondLst>
                                  <p:childTnLst>
                                    <p:set>
                                      <p:cBhvr>
                                        <p:cTn id="221" dur="1" fill="hold">
                                          <p:stCondLst>
                                            <p:cond delay="0"/>
                                          </p:stCondLst>
                                        </p:cTn>
                                        <p:tgtEl>
                                          <p:spTgt spid="47"/>
                                        </p:tgtEl>
                                        <p:attrNameLst>
                                          <p:attrName>style.visibility</p:attrName>
                                        </p:attrNameLst>
                                      </p:cBhvr>
                                      <p:to>
                                        <p:strVal val="visible"/>
                                      </p:to>
                                    </p:set>
                                    <p:animEffect transition="in" filter="fade">
                                      <p:cBhvr>
                                        <p:cTn id="222" dur="500"/>
                                        <p:tgtEl>
                                          <p:spTgt spid="47"/>
                                        </p:tgtEl>
                                      </p:cBhvr>
                                    </p:animEffect>
                                    <p:anim calcmode="lin" valueType="num">
                                      <p:cBhvr>
                                        <p:cTn id="223" dur="500" fill="hold"/>
                                        <p:tgtEl>
                                          <p:spTgt spid="47"/>
                                        </p:tgtEl>
                                        <p:attrNameLst>
                                          <p:attrName>ppt_x</p:attrName>
                                        </p:attrNameLst>
                                      </p:cBhvr>
                                      <p:tavLst>
                                        <p:tav tm="0">
                                          <p:val>
                                            <p:strVal val="#ppt_x"/>
                                          </p:val>
                                        </p:tav>
                                        <p:tav tm="100000">
                                          <p:val>
                                            <p:strVal val="#ppt_x"/>
                                          </p:val>
                                        </p:tav>
                                      </p:tavLst>
                                    </p:anim>
                                    <p:anim calcmode="lin" valueType="num">
                                      <p:cBhvr>
                                        <p:cTn id="224" dur="500" fill="hold"/>
                                        <p:tgtEl>
                                          <p:spTgt spid="47"/>
                                        </p:tgtEl>
                                        <p:attrNameLst>
                                          <p:attrName>ppt_y</p:attrName>
                                        </p:attrNameLst>
                                      </p:cBhvr>
                                      <p:tavLst>
                                        <p:tav tm="0">
                                          <p:val>
                                            <p:strVal val="#ppt_y+.1"/>
                                          </p:val>
                                        </p:tav>
                                        <p:tav tm="100000">
                                          <p:val>
                                            <p:strVal val="#ppt_y"/>
                                          </p:val>
                                        </p:tav>
                                      </p:tavLst>
                                    </p:anim>
                                  </p:childTnLst>
                                </p:cTn>
                              </p:par>
                              <p:par>
                                <p:cTn id="230" presetID="42" presetClass="entr" presetSubtype="0" fill="hold" nodeType="withEffect">
                                  <p:stCondLst>
                                    <p:cond delay="0"/>
                                  </p:stCondLst>
                                  <p:childTnLst>
                                    <p:set>
                                      <p:cBhvr>
                                        <p:cTn id="226" dur="1" fill="hold">
                                          <p:stCondLst>
                                            <p:cond delay="0"/>
                                          </p:stCondLst>
                                        </p:cTn>
                                        <p:tgtEl>
                                          <p:spTgt spid="48"/>
                                        </p:tgtEl>
                                        <p:attrNameLst>
                                          <p:attrName>style.visibility</p:attrName>
                                        </p:attrNameLst>
                                      </p:cBhvr>
                                      <p:to>
                                        <p:strVal val="visible"/>
                                      </p:to>
                                    </p:set>
                                    <p:animEffect transition="in" filter="fade">
                                      <p:cBhvr>
                                        <p:cTn id="227" dur="500"/>
                                        <p:tgtEl>
                                          <p:spTgt spid="48"/>
                                        </p:tgtEl>
                                      </p:cBhvr>
                                    </p:animEffect>
                                    <p:anim calcmode="lin" valueType="num">
                                      <p:cBhvr>
                                        <p:cTn id="228" dur="500" fill="hold"/>
                                        <p:tgtEl>
                                          <p:spTgt spid="48"/>
                                        </p:tgtEl>
                                        <p:attrNameLst>
                                          <p:attrName>ppt_x</p:attrName>
                                        </p:attrNameLst>
                                      </p:cBhvr>
                                      <p:tavLst>
                                        <p:tav tm="0">
                                          <p:val>
                                            <p:strVal val="#ppt_x"/>
                                          </p:val>
                                        </p:tav>
                                        <p:tav tm="100000">
                                          <p:val>
                                            <p:strVal val="#ppt_x"/>
                                          </p:val>
                                        </p:tav>
                                      </p:tavLst>
                                    </p:anim>
                                    <p:anim calcmode="lin" valueType="num">
                                      <p:cBhvr>
                                        <p:cTn id="229" dur="500" fill="hold"/>
                                        <p:tgtEl>
                                          <p:spTgt spid="48"/>
                                        </p:tgtEl>
                                        <p:attrNameLst>
                                          <p:attrName>ppt_y</p:attrName>
                                        </p:attrNameLst>
                                      </p:cBhvr>
                                      <p:tavLst>
                                        <p:tav tm="0">
                                          <p:val>
                                            <p:strVal val="#ppt_y+.1"/>
                                          </p:val>
                                        </p:tav>
                                        <p:tav tm="100000">
                                          <p:val>
                                            <p:strVal val="#ppt_y"/>
                                          </p:val>
                                        </p:tav>
                                      </p:tavLst>
                                    </p:anim>
                                  </p:childTnLst>
                                </p:cTn>
                              </p:par>
                              <p:par>
                                <p:cTn id="235" presetID="42" presetClass="entr" presetSubtype="0" fill="hold" nodeType="withEffect">
                                  <p:stCondLst>
                                    <p:cond delay="0"/>
                                  </p:stCondLst>
                                  <p:childTnLst>
                                    <p:set>
                                      <p:cBhvr>
                                        <p:cTn id="231" dur="1" fill="hold">
                                          <p:stCondLst>
                                            <p:cond delay="0"/>
                                          </p:stCondLst>
                                        </p:cTn>
                                        <p:tgtEl>
                                          <p:spTgt spid="49"/>
                                        </p:tgtEl>
                                        <p:attrNameLst>
                                          <p:attrName>style.visibility</p:attrName>
                                        </p:attrNameLst>
                                      </p:cBhvr>
                                      <p:to>
                                        <p:strVal val="visible"/>
                                      </p:to>
                                    </p:set>
                                    <p:animEffect transition="in" filter="fade">
                                      <p:cBhvr>
                                        <p:cTn id="232" dur="500"/>
                                        <p:tgtEl>
                                          <p:spTgt spid="49"/>
                                        </p:tgtEl>
                                      </p:cBhvr>
                                    </p:animEffect>
                                    <p:anim calcmode="lin" valueType="num">
                                      <p:cBhvr>
                                        <p:cTn id="233" dur="500" fill="hold"/>
                                        <p:tgtEl>
                                          <p:spTgt spid="49"/>
                                        </p:tgtEl>
                                        <p:attrNameLst>
                                          <p:attrName>ppt_x</p:attrName>
                                        </p:attrNameLst>
                                      </p:cBhvr>
                                      <p:tavLst>
                                        <p:tav tm="0">
                                          <p:val>
                                            <p:strVal val="#ppt_x"/>
                                          </p:val>
                                        </p:tav>
                                        <p:tav tm="100000">
                                          <p:val>
                                            <p:strVal val="#ppt_x"/>
                                          </p:val>
                                        </p:tav>
                                      </p:tavLst>
                                    </p:anim>
                                    <p:anim calcmode="lin" valueType="num">
                                      <p:cBhvr>
                                        <p:cTn id="234" dur="500" fill="hold"/>
                                        <p:tgtEl>
                                          <p:spTgt spid="49"/>
                                        </p:tgtEl>
                                        <p:attrNameLst>
                                          <p:attrName>ppt_y</p:attrName>
                                        </p:attrNameLst>
                                      </p:cBhvr>
                                      <p:tavLst>
                                        <p:tav tm="0">
                                          <p:val>
                                            <p:strVal val="#ppt_y+.1"/>
                                          </p:val>
                                        </p:tav>
                                        <p:tav tm="100000">
                                          <p:val>
                                            <p:strVal val="#ppt_y"/>
                                          </p:val>
                                        </p:tav>
                                      </p:tavLst>
                                    </p:anim>
                                  </p:childTnLst>
                                </p:cTn>
                              </p:par>
                              <p:par>
                                <p:cTn id="240" presetID="42" presetClass="entr" presetSubtype="0" fill="hold" nodeType="withEffect">
                                  <p:stCondLst>
                                    <p:cond delay="0"/>
                                  </p:stCondLst>
                                  <p:childTnLst>
                                    <p:set>
                                      <p:cBhvr>
                                        <p:cTn id="236" dur="1" fill="hold">
                                          <p:stCondLst>
                                            <p:cond delay="0"/>
                                          </p:stCondLst>
                                        </p:cTn>
                                        <p:tgtEl>
                                          <p:spTgt spid="50"/>
                                        </p:tgtEl>
                                        <p:attrNameLst>
                                          <p:attrName>style.visibility</p:attrName>
                                        </p:attrNameLst>
                                      </p:cBhvr>
                                      <p:to>
                                        <p:strVal val="visible"/>
                                      </p:to>
                                    </p:set>
                                    <p:animEffect transition="in" filter="fade">
                                      <p:cBhvr>
                                        <p:cTn id="237" dur="500"/>
                                        <p:tgtEl>
                                          <p:spTgt spid="50"/>
                                        </p:tgtEl>
                                      </p:cBhvr>
                                    </p:animEffect>
                                    <p:anim calcmode="lin" valueType="num">
                                      <p:cBhvr>
                                        <p:cTn id="238" dur="500" fill="hold"/>
                                        <p:tgtEl>
                                          <p:spTgt spid="50"/>
                                        </p:tgtEl>
                                        <p:attrNameLst>
                                          <p:attrName>ppt_x</p:attrName>
                                        </p:attrNameLst>
                                      </p:cBhvr>
                                      <p:tavLst>
                                        <p:tav tm="0">
                                          <p:val>
                                            <p:strVal val="#ppt_x"/>
                                          </p:val>
                                        </p:tav>
                                        <p:tav tm="100000">
                                          <p:val>
                                            <p:strVal val="#ppt_x"/>
                                          </p:val>
                                        </p:tav>
                                      </p:tavLst>
                                    </p:anim>
                                    <p:anim calcmode="lin" valueType="num">
                                      <p:cBhvr>
                                        <p:cTn id="239" dur="500" fill="hold"/>
                                        <p:tgtEl>
                                          <p:spTgt spid="50"/>
                                        </p:tgtEl>
                                        <p:attrNameLst>
                                          <p:attrName>ppt_y</p:attrName>
                                        </p:attrNameLst>
                                      </p:cBhvr>
                                      <p:tavLst>
                                        <p:tav tm="0">
                                          <p:val>
                                            <p:strVal val="#ppt_y+.1"/>
                                          </p:val>
                                        </p:tav>
                                        <p:tav tm="100000">
                                          <p:val>
                                            <p:strVal val="#ppt_y"/>
                                          </p:val>
                                        </p:tav>
                                      </p:tavLst>
                                    </p:anim>
                                  </p:childTnLst>
                                </p:cTn>
                              </p:par>
                              <p:par>
                                <p:cTn id="245" presetID="42" presetClass="entr" presetSubtype="0" fill="hold" nodeType="withEffect">
                                  <p:stCondLst>
                                    <p:cond delay="0"/>
                                  </p:stCondLst>
                                  <p:childTnLst>
                                    <p:set>
                                      <p:cBhvr>
                                        <p:cTn id="241" dur="1" fill="hold">
                                          <p:stCondLst>
                                            <p:cond delay="0"/>
                                          </p:stCondLst>
                                        </p:cTn>
                                        <p:tgtEl>
                                          <p:spTgt spid="51"/>
                                        </p:tgtEl>
                                        <p:attrNameLst>
                                          <p:attrName>style.visibility</p:attrName>
                                        </p:attrNameLst>
                                      </p:cBhvr>
                                      <p:to>
                                        <p:strVal val="visible"/>
                                      </p:to>
                                    </p:set>
                                    <p:animEffect transition="in" filter="fade">
                                      <p:cBhvr>
                                        <p:cTn id="242" dur="500"/>
                                        <p:tgtEl>
                                          <p:spTgt spid="51"/>
                                        </p:tgtEl>
                                      </p:cBhvr>
                                    </p:animEffect>
                                    <p:anim calcmode="lin" valueType="num">
                                      <p:cBhvr>
                                        <p:cTn id="243" dur="500" fill="hold"/>
                                        <p:tgtEl>
                                          <p:spTgt spid="51"/>
                                        </p:tgtEl>
                                        <p:attrNameLst>
                                          <p:attrName>ppt_x</p:attrName>
                                        </p:attrNameLst>
                                      </p:cBhvr>
                                      <p:tavLst>
                                        <p:tav tm="0">
                                          <p:val>
                                            <p:strVal val="#ppt_x"/>
                                          </p:val>
                                        </p:tav>
                                        <p:tav tm="100000">
                                          <p:val>
                                            <p:strVal val="#ppt_x"/>
                                          </p:val>
                                        </p:tav>
                                      </p:tavLst>
                                    </p:anim>
                                    <p:anim calcmode="lin" valueType="num">
                                      <p:cBhvr>
                                        <p:cTn id="244" dur="500" fill="hold"/>
                                        <p:tgtEl>
                                          <p:spTgt spid="51"/>
                                        </p:tgtEl>
                                        <p:attrNameLst>
                                          <p:attrName>ppt_y</p:attrName>
                                        </p:attrNameLst>
                                      </p:cBhvr>
                                      <p:tavLst>
                                        <p:tav tm="0">
                                          <p:val>
                                            <p:strVal val="#ppt_y+.1"/>
                                          </p:val>
                                        </p:tav>
                                        <p:tav tm="100000">
                                          <p:val>
                                            <p:strVal val="#ppt_y"/>
                                          </p:val>
                                        </p:tav>
                                      </p:tavLst>
                                    </p:anim>
                                  </p:childTnLst>
                                </p:cTn>
                              </p:par>
                              <p:par>
                                <p:cTn id="250" presetID="42" presetClass="entr" presetSubtype="0" fill="hold" nodeType="withEffect">
                                  <p:stCondLst>
                                    <p:cond delay="0"/>
                                  </p:stCondLst>
                                  <p:childTnLst>
                                    <p:set>
                                      <p:cBhvr>
                                        <p:cTn id="246" dur="1" fill="hold">
                                          <p:stCondLst>
                                            <p:cond delay="0"/>
                                          </p:stCondLst>
                                        </p:cTn>
                                        <p:tgtEl>
                                          <p:spTgt spid="52"/>
                                        </p:tgtEl>
                                        <p:attrNameLst>
                                          <p:attrName>style.visibility</p:attrName>
                                        </p:attrNameLst>
                                      </p:cBhvr>
                                      <p:to>
                                        <p:strVal val="visible"/>
                                      </p:to>
                                    </p:set>
                                    <p:animEffect transition="in" filter="fade">
                                      <p:cBhvr>
                                        <p:cTn id="247" dur="500"/>
                                        <p:tgtEl>
                                          <p:spTgt spid="52"/>
                                        </p:tgtEl>
                                      </p:cBhvr>
                                    </p:animEffect>
                                    <p:anim calcmode="lin" valueType="num">
                                      <p:cBhvr>
                                        <p:cTn id="248" dur="500" fill="hold"/>
                                        <p:tgtEl>
                                          <p:spTgt spid="52"/>
                                        </p:tgtEl>
                                        <p:attrNameLst>
                                          <p:attrName>ppt_x</p:attrName>
                                        </p:attrNameLst>
                                      </p:cBhvr>
                                      <p:tavLst>
                                        <p:tav tm="0">
                                          <p:val>
                                            <p:strVal val="#ppt_x"/>
                                          </p:val>
                                        </p:tav>
                                        <p:tav tm="100000">
                                          <p:val>
                                            <p:strVal val="#ppt_x"/>
                                          </p:val>
                                        </p:tav>
                                      </p:tavLst>
                                    </p:anim>
                                    <p:anim calcmode="lin" valueType="num">
                                      <p:cBhvr>
                                        <p:cTn id="249" dur="500" fill="hold"/>
                                        <p:tgtEl>
                                          <p:spTgt spid="52"/>
                                        </p:tgtEl>
                                        <p:attrNameLst>
                                          <p:attrName>ppt_y</p:attrName>
                                        </p:attrNameLst>
                                      </p:cBhvr>
                                      <p:tavLst>
                                        <p:tav tm="0">
                                          <p:val>
                                            <p:strVal val="#ppt_y+.1"/>
                                          </p:val>
                                        </p:tav>
                                        <p:tav tm="100000">
                                          <p:val>
                                            <p:strVal val="#ppt_y"/>
                                          </p:val>
                                        </p:tav>
                                      </p:tavLst>
                                    </p:anim>
                                  </p:childTnLst>
                                </p:cTn>
                              </p:par>
                              <p:par>
                                <p:cTn id="255" presetID="42" presetClass="entr" presetSubtype="0" fill="hold" nodeType="withEffect">
                                  <p:stCondLst>
                                    <p:cond delay="0"/>
                                  </p:stCondLst>
                                  <p:childTnLst>
                                    <p:set>
                                      <p:cBhvr>
                                        <p:cTn id="251" dur="1" fill="hold">
                                          <p:stCondLst>
                                            <p:cond delay="0"/>
                                          </p:stCondLst>
                                        </p:cTn>
                                        <p:tgtEl>
                                          <p:spTgt spid="53"/>
                                        </p:tgtEl>
                                        <p:attrNameLst>
                                          <p:attrName>style.visibility</p:attrName>
                                        </p:attrNameLst>
                                      </p:cBhvr>
                                      <p:to>
                                        <p:strVal val="visible"/>
                                      </p:to>
                                    </p:set>
                                    <p:animEffect transition="in" filter="fade">
                                      <p:cBhvr>
                                        <p:cTn id="252" dur="500"/>
                                        <p:tgtEl>
                                          <p:spTgt spid="53"/>
                                        </p:tgtEl>
                                      </p:cBhvr>
                                    </p:animEffect>
                                    <p:anim calcmode="lin" valueType="num">
                                      <p:cBhvr>
                                        <p:cTn id="253" dur="500" fill="hold"/>
                                        <p:tgtEl>
                                          <p:spTgt spid="53"/>
                                        </p:tgtEl>
                                        <p:attrNameLst>
                                          <p:attrName>ppt_x</p:attrName>
                                        </p:attrNameLst>
                                      </p:cBhvr>
                                      <p:tavLst>
                                        <p:tav tm="0">
                                          <p:val>
                                            <p:strVal val="#ppt_x"/>
                                          </p:val>
                                        </p:tav>
                                        <p:tav tm="100000">
                                          <p:val>
                                            <p:strVal val="#ppt_x"/>
                                          </p:val>
                                        </p:tav>
                                      </p:tavLst>
                                    </p:anim>
                                    <p:anim calcmode="lin" valueType="num">
                                      <p:cBhvr>
                                        <p:cTn id="254" dur="500" fill="hold"/>
                                        <p:tgtEl>
                                          <p:spTgt spid="53"/>
                                        </p:tgtEl>
                                        <p:attrNameLst>
                                          <p:attrName>ppt_y</p:attrName>
                                        </p:attrNameLst>
                                      </p:cBhvr>
                                      <p:tavLst>
                                        <p:tav tm="0">
                                          <p:val>
                                            <p:strVal val="#ppt_y+.1"/>
                                          </p:val>
                                        </p:tav>
                                        <p:tav tm="100000">
                                          <p:val>
                                            <p:strVal val="#ppt_y"/>
                                          </p:val>
                                        </p:tav>
                                      </p:tavLst>
                                    </p:anim>
                                  </p:childTnLst>
                                </p:cTn>
                              </p:par>
                              <p:par>
                                <p:cTn id="260" presetID="42" presetClass="entr" presetSubtype="0" fill="hold" nodeType="withEffect">
                                  <p:stCondLst>
                                    <p:cond delay="0"/>
                                  </p:stCondLst>
                                  <p:childTnLst>
                                    <p:set>
                                      <p:cBhvr>
                                        <p:cTn id="256" dur="1" fill="hold">
                                          <p:stCondLst>
                                            <p:cond delay="0"/>
                                          </p:stCondLst>
                                        </p:cTn>
                                        <p:tgtEl>
                                          <p:spTgt spid="54"/>
                                        </p:tgtEl>
                                        <p:attrNameLst>
                                          <p:attrName>style.visibility</p:attrName>
                                        </p:attrNameLst>
                                      </p:cBhvr>
                                      <p:to>
                                        <p:strVal val="visible"/>
                                      </p:to>
                                    </p:set>
                                    <p:animEffect transition="in" filter="fade">
                                      <p:cBhvr>
                                        <p:cTn id="257" dur="500"/>
                                        <p:tgtEl>
                                          <p:spTgt spid="54"/>
                                        </p:tgtEl>
                                      </p:cBhvr>
                                    </p:animEffect>
                                    <p:anim calcmode="lin" valueType="num">
                                      <p:cBhvr>
                                        <p:cTn id="258" dur="500" fill="hold"/>
                                        <p:tgtEl>
                                          <p:spTgt spid="54"/>
                                        </p:tgtEl>
                                        <p:attrNameLst>
                                          <p:attrName>ppt_x</p:attrName>
                                        </p:attrNameLst>
                                      </p:cBhvr>
                                      <p:tavLst>
                                        <p:tav tm="0">
                                          <p:val>
                                            <p:strVal val="#ppt_x"/>
                                          </p:val>
                                        </p:tav>
                                        <p:tav tm="100000">
                                          <p:val>
                                            <p:strVal val="#ppt_x"/>
                                          </p:val>
                                        </p:tav>
                                      </p:tavLst>
                                    </p:anim>
                                    <p:anim calcmode="lin" valueType="num">
                                      <p:cBhvr>
                                        <p:cTn id="259" dur="500" fill="hold"/>
                                        <p:tgtEl>
                                          <p:spTgt spid="54"/>
                                        </p:tgtEl>
                                        <p:attrNameLst>
                                          <p:attrName>ppt_y</p:attrName>
                                        </p:attrNameLst>
                                      </p:cBhvr>
                                      <p:tavLst>
                                        <p:tav tm="0">
                                          <p:val>
                                            <p:strVal val="#ppt_y+.1"/>
                                          </p:val>
                                        </p:tav>
                                        <p:tav tm="100000">
                                          <p:val>
                                            <p:strVal val="#ppt_y"/>
                                          </p:val>
                                        </p:tav>
                                      </p:tavLst>
                                    </p:anim>
                                  </p:childTnLst>
                                </p:cTn>
                              </p:par>
                              <p:par>
                                <p:cTn id="265" presetID="42" presetClass="entr" presetSubtype="0" fill="hold" nodeType="withEffect">
                                  <p:stCondLst>
                                    <p:cond delay="0"/>
                                  </p:stCondLst>
                                  <p:childTnLst>
                                    <p:set>
                                      <p:cBhvr>
                                        <p:cTn id="261" dur="1" fill="hold">
                                          <p:stCondLst>
                                            <p:cond delay="0"/>
                                          </p:stCondLst>
                                        </p:cTn>
                                        <p:tgtEl>
                                          <p:spTgt spid="55"/>
                                        </p:tgtEl>
                                        <p:attrNameLst>
                                          <p:attrName>style.visibility</p:attrName>
                                        </p:attrNameLst>
                                      </p:cBhvr>
                                      <p:to>
                                        <p:strVal val="visible"/>
                                      </p:to>
                                    </p:set>
                                    <p:animEffect transition="in" filter="fade">
                                      <p:cBhvr>
                                        <p:cTn id="262" dur="500"/>
                                        <p:tgtEl>
                                          <p:spTgt spid="55"/>
                                        </p:tgtEl>
                                      </p:cBhvr>
                                    </p:animEffect>
                                    <p:anim calcmode="lin" valueType="num">
                                      <p:cBhvr>
                                        <p:cTn id="263" dur="500" fill="hold"/>
                                        <p:tgtEl>
                                          <p:spTgt spid="55"/>
                                        </p:tgtEl>
                                        <p:attrNameLst>
                                          <p:attrName>ppt_x</p:attrName>
                                        </p:attrNameLst>
                                      </p:cBhvr>
                                      <p:tavLst>
                                        <p:tav tm="0">
                                          <p:val>
                                            <p:strVal val="#ppt_x"/>
                                          </p:val>
                                        </p:tav>
                                        <p:tav tm="100000">
                                          <p:val>
                                            <p:strVal val="#ppt_x"/>
                                          </p:val>
                                        </p:tav>
                                      </p:tavLst>
                                    </p:anim>
                                    <p:anim calcmode="lin" valueType="num">
                                      <p:cBhvr>
                                        <p:cTn id="264" dur="500" fill="hold"/>
                                        <p:tgtEl>
                                          <p:spTgt spid="55"/>
                                        </p:tgtEl>
                                        <p:attrNameLst>
                                          <p:attrName>ppt_y</p:attrName>
                                        </p:attrNameLst>
                                      </p:cBhvr>
                                      <p:tavLst>
                                        <p:tav tm="0">
                                          <p:val>
                                            <p:strVal val="#ppt_y+.1"/>
                                          </p:val>
                                        </p:tav>
                                        <p:tav tm="100000">
                                          <p:val>
                                            <p:strVal val="#ppt_y"/>
                                          </p:val>
                                        </p:tav>
                                      </p:tavLst>
                                    </p:anim>
                                  </p:childTnLst>
                                </p:cTn>
                              </p:par>
                              <p:par>
                                <p:cTn id="270" presetID="42" presetClass="entr" presetSubtype="0" fill="hold" nodeType="withEffect">
                                  <p:stCondLst>
                                    <p:cond delay="0"/>
                                  </p:stCondLst>
                                  <p:childTnLst>
                                    <p:set>
                                      <p:cBhvr>
                                        <p:cTn id="266" dur="1" fill="hold">
                                          <p:stCondLst>
                                            <p:cond delay="0"/>
                                          </p:stCondLst>
                                        </p:cTn>
                                        <p:tgtEl>
                                          <p:spTgt spid="56"/>
                                        </p:tgtEl>
                                        <p:attrNameLst>
                                          <p:attrName>style.visibility</p:attrName>
                                        </p:attrNameLst>
                                      </p:cBhvr>
                                      <p:to>
                                        <p:strVal val="visible"/>
                                      </p:to>
                                    </p:set>
                                    <p:animEffect transition="in" filter="fade">
                                      <p:cBhvr>
                                        <p:cTn id="267" dur="500"/>
                                        <p:tgtEl>
                                          <p:spTgt spid="56"/>
                                        </p:tgtEl>
                                      </p:cBhvr>
                                    </p:animEffect>
                                    <p:anim calcmode="lin" valueType="num">
                                      <p:cBhvr>
                                        <p:cTn id="268" dur="500" fill="hold"/>
                                        <p:tgtEl>
                                          <p:spTgt spid="56"/>
                                        </p:tgtEl>
                                        <p:attrNameLst>
                                          <p:attrName>ppt_x</p:attrName>
                                        </p:attrNameLst>
                                      </p:cBhvr>
                                      <p:tavLst>
                                        <p:tav tm="0">
                                          <p:val>
                                            <p:strVal val="#ppt_x"/>
                                          </p:val>
                                        </p:tav>
                                        <p:tav tm="100000">
                                          <p:val>
                                            <p:strVal val="#ppt_x"/>
                                          </p:val>
                                        </p:tav>
                                      </p:tavLst>
                                    </p:anim>
                                    <p:anim calcmode="lin" valueType="num">
                                      <p:cBhvr>
                                        <p:cTn id="269" dur="500" fill="hold"/>
                                        <p:tgtEl>
                                          <p:spTgt spid="56"/>
                                        </p:tgtEl>
                                        <p:attrNameLst>
                                          <p:attrName>ppt_y</p:attrName>
                                        </p:attrNameLst>
                                      </p:cBhvr>
                                      <p:tavLst>
                                        <p:tav tm="0">
                                          <p:val>
                                            <p:strVal val="#ppt_y+.1"/>
                                          </p:val>
                                        </p:tav>
                                        <p:tav tm="100000">
                                          <p:val>
                                            <p:strVal val="#ppt_y"/>
                                          </p:val>
                                        </p:tav>
                                      </p:tavLst>
                                    </p:anim>
                                  </p:childTnLst>
                                </p:cTn>
                              </p:par>
                              <p:par>
                                <p:cTn id="275" presetID="42" presetClass="entr" presetSubtype="0" fill="hold" nodeType="withEffect">
                                  <p:stCondLst>
                                    <p:cond delay="0"/>
                                  </p:stCondLst>
                                  <p:childTnLst>
                                    <p:set>
                                      <p:cBhvr>
                                        <p:cTn id="271" dur="1" fill="hold">
                                          <p:stCondLst>
                                            <p:cond delay="0"/>
                                          </p:stCondLst>
                                        </p:cTn>
                                        <p:tgtEl>
                                          <p:spTgt spid="57"/>
                                        </p:tgtEl>
                                        <p:attrNameLst>
                                          <p:attrName>style.visibility</p:attrName>
                                        </p:attrNameLst>
                                      </p:cBhvr>
                                      <p:to>
                                        <p:strVal val="visible"/>
                                      </p:to>
                                    </p:set>
                                    <p:animEffect transition="in" filter="fade">
                                      <p:cBhvr>
                                        <p:cTn id="272" dur="500"/>
                                        <p:tgtEl>
                                          <p:spTgt spid="57"/>
                                        </p:tgtEl>
                                      </p:cBhvr>
                                    </p:animEffect>
                                    <p:anim calcmode="lin" valueType="num">
                                      <p:cBhvr>
                                        <p:cTn id="273" dur="500" fill="hold"/>
                                        <p:tgtEl>
                                          <p:spTgt spid="57"/>
                                        </p:tgtEl>
                                        <p:attrNameLst>
                                          <p:attrName>ppt_x</p:attrName>
                                        </p:attrNameLst>
                                      </p:cBhvr>
                                      <p:tavLst>
                                        <p:tav tm="0">
                                          <p:val>
                                            <p:strVal val="#ppt_x"/>
                                          </p:val>
                                        </p:tav>
                                        <p:tav tm="100000">
                                          <p:val>
                                            <p:strVal val="#ppt_x"/>
                                          </p:val>
                                        </p:tav>
                                      </p:tavLst>
                                    </p:anim>
                                    <p:anim calcmode="lin" valueType="num">
                                      <p:cBhvr>
                                        <p:cTn id="274" dur="500" fill="hold"/>
                                        <p:tgtEl>
                                          <p:spTgt spid="57"/>
                                        </p:tgtEl>
                                        <p:attrNameLst>
                                          <p:attrName>ppt_y</p:attrName>
                                        </p:attrNameLst>
                                      </p:cBhvr>
                                      <p:tavLst>
                                        <p:tav tm="0">
                                          <p:val>
                                            <p:strVal val="#ppt_y+.1"/>
                                          </p:val>
                                        </p:tav>
                                        <p:tav tm="100000">
                                          <p:val>
                                            <p:strVal val="#ppt_y"/>
                                          </p:val>
                                        </p:tav>
                                      </p:tavLst>
                                    </p:anim>
                                  </p:childTnLst>
                                </p:cTn>
                              </p:par>
                              <p:par>
                                <p:cTn id="280" presetID="42" presetClass="entr" presetSubtype="0" fill="hold" nodeType="withEffect">
                                  <p:stCondLst>
                                    <p:cond delay="0"/>
                                  </p:stCondLst>
                                  <p:childTnLst>
                                    <p:set>
                                      <p:cBhvr>
                                        <p:cTn id="276" dur="1" fill="hold">
                                          <p:stCondLst>
                                            <p:cond delay="0"/>
                                          </p:stCondLst>
                                        </p:cTn>
                                        <p:tgtEl>
                                          <p:spTgt spid="58"/>
                                        </p:tgtEl>
                                        <p:attrNameLst>
                                          <p:attrName>style.visibility</p:attrName>
                                        </p:attrNameLst>
                                      </p:cBhvr>
                                      <p:to>
                                        <p:strVal val="visible"/>
                                      </p:to>
                                    </p:set>
                                    <p:animEffect transition="in" filter="fade">
                                      <p:cBhvr>
                                        <p:cTn id="277" dur="500"/>
                                        <p:tgtEl>
                                          <p:spTgt spid="58"/>
                                        </p:tgtEl>
                                      </p:cBhvr>
                                    </p:animEffect>
                                    <p:anim calcmode="lin" valueType="num">
                                      <p:cBhvr>
                                        <p:cTn id="278" dur="500" fill="hold"/>
                                        <p:tgtEl>
                                          <p:spTgt spid="58"/>
                                        </p:tgtEl>
                                        <p:attrNameLst>
                                          <p:attrName>ppt_x</p:attrName>
                                        </p:attrNameLst>
                                      </p:cBhvr>
                                      <p:tavLst>
                                        <p:tav tm="0">
                                          <p:val>
                                            <p:strVal val="#ppt_x"/>
                                          </p:val>
                                        </p:tav>
                                        <p:tav tm="100000">
                                          <p:val>
                                            <p:strVal val="#ppt_x"/>
                                          </p:val>
                                        </p:tav>
                                      </p:tavLst>
                                    </p:anim>
                                    <p:anim calcmode="lin" valueType="num">
                                      <p:cBhvr>
                                        <p:cTn id="279" dur="500" fill="hold"/>
                                        <p:tgtEl>
                                          <p:spTgt spid="58"/>
                                        </p:tgtEl>
                                        <p:attrNameLst>
                                          <p:attrName>ppt_y</p:attrName>
                                        </p:attrNameLst>
                                      </p:cBhvr>
                                      <p:tavLst>
                                        <p:tav tm="0">
                                          <p:val>
                                            <p:strVal val="#ppt_y+.1"/>
                                          </p:val>
                                        </p:tav>
                                        <p:tav tm="100000">
                                          <p:val>
                                            <p:strVal val="#ppt_y"/>
                                          </p:val>
                                        </p:tav>
                                      </p:tavLst>
                                    </p:anim>
                                  </p:childTnLst>
                                </p:cTn>
                              </p:par>
                              <p:par>
                                <p:cTn id="285" presetID="42" presetClass="entr" presetSubtype="0" fill="hold" nodeType="withEffect">
                                  <p:stCondLst>
                                    <p:cond delay="0"/>
                                  </p:stCondLst>
                                  <p:childTnLst>
                                    <p:set>
                                      <p:cBhvr>
                                        <p:cTn id="281" dur="1" fill="hold">
                                          <p:stCondLst>
                                            <p:cond delay="0"/>
                                          </p:stCondLst>
                                        </p:cTn>
                                        <p:tgtEl>
                                          <p:spTgt spid="59"/>
                                        </p:tgtEl>
                                        <p:attrNameLst>
                                          <p:attrName>style.visibility</p:attrName>
                                        </p:attrNameLst>
                                      </p:cBhvr>
                                      <p:to>
                                        <p:strVal val="visible"/>
                                      </p:to>
                                    </p:set>
                                    <p:animEffect transition="in" filter="fade">
                                      <p:cBhvr>
                                        <p:cTn id="282" dur="500"/>
                                        <p:tgtEl>
                                          <p:spTgt spid="59"/>
                                        </p:tgtEl>
                                      </p:cBhvr>
                                    </p:animEffect>
                                    <p:anim calcmode="lin" valueType="num">
                                      <p:cBhvr>
                                        <p:cTn id="283" dur="500" fill="hold"/>
                                        <p:tgtEl>
                                          <p:spTgt spid="59"/>
                                        </p:tgtEl>
                                        <p:attrNameLst>
                                          <p:attrName>ppt_x</p:attrName>
                                        </p:attrNameLst>
                                      </p:cBhvr>
                                      <p:tavLst>
                                        <p:tav tm="0">
                                          <p:val>
                                            <p:strVal val="#ppt_x"/>
                                          </p:val>
                                        </p:tav>
                                        <p:tav tm="100000">
                                          <p:val>
                                            <p:strVal val="#ppt_x"/>
                                          </p:val>
                                        </p:tav>
                                      </p:tavLst>
                                    </p:anim>
                                    <p:anim calcmode="lin" valueType="num">
                                      <p:cBhvr>
                                        <p:cTn id="284" dur="500" fill="hold"/>
                                        <p:tgtEl>
                                          <p:spTgt spid="5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All three pools on one graph</a:t>
            </a:r>
            <a:endParaRPr lang="en-US" sz="3450" dirty="0"/>
          </a:p>
        </p:txBody>
      </p:sp>
      <p:sp>
        <p:nvSpPr>
          <p:cNvPr id="4" name="Shape 4"/>
          <p:cNvSpPr/>
          <p:nvPr/>
        </p:nvSpPr>
        <p:spPr>
          <a:xfrm>
            <a:off x="685800" y="1618488"/>
            <a:ext cx="4953000" cy="40005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5" name="Line 5"/>
          <p:cNvCxnSpPr/>
          <p:nvPr/>
        </p:nvCxnSpPr>
        <p:spPr>
          <a:xfrm>
            <a:off x="1009650" y="1732788"/>
            <a:ext cx="0" cy="3638550"/>
          </a:xfrm>
          <a:prstGeom prst="line">
            <a:avLst/>
          </a:prstGeom>
          <a:ln w="9525" cap="flat">
            <a:solidFill>
              <a:srgbClr val="E6E8F2"/>
            </a:solidFill>
          </a:ln>
        </p:spPr>
      </p:cxnSp>
      <p:cxnSp>
        <p:nvCxnSpPr>
          <p:cNvPr id="6" name="Line 6"/>
          <p:cNvCxnSpPr/>
          <p:nvPr/>
        </p:nvCxnSpPr>
        <p:spPr>
          <a:xfrm>
            <a:off x="1385888" y="1732788"/>
            <a:ext cx="0" cy="3638550"/>
          </a:xfrm>
          <a:prstGeom prst="line">
            <a:avLst/>
          </a:prstGeom>
          <a:ln w="9525" cap="flat">
            <a:solidFill>
              <a:srgbClr val="E6E8F2"/>
            </a:solidFill>
          </a:ln>
        </p:spPr>
      </p:cxnSp>
      <p:cxnSp>
        <p:nvCxnSpPr>
          <p:cNvPr id="7" name="Line 7"/>
          <p:cNvCxnSpPr/>
          <p:nvPr/>
        </p:nvCxnSpPr>
        <p:spPr>
          <a:xfrm>
            <a:off x="1762125" y="1732788"/>
            <a:ext cx="0" cy="3638550"/>
          </a:xfrm>
          <a:prstGeom prst="line">
            <a:avLst/>
          </a:prstGeom>
          <a:ln w="9525" cap="flat">
            <a:solidFill>
              <a:srgbClr val="E6E8F2"/>
            </a:solidFill>
          </a:ln>
        </p:spPr>
      </p:cxnSp>
      <p:cxnSp>
        <p:nvCxnSpPr>
          <p:cNvPr id="8" name="Line 8"/>
          <p:cNvCxnSpPr/>
          <p:nvPr/>
        </p:nvCxnSpPr>
        <p:spPr>
          <a:xfrm>
            <a:off x="2138362" y="1732788"/>
            <a:ext cx="0" cy="3638550"/>
          </a:xfrm>
          <a:prstGeom prst="line">
            <a:avLst/>
          </a:prstGeom>
          <a:ln w="9525" cap="flat">
            <a:solidFill>
              <a:srgbClr val="E6E8F2"/>
            </a:solidFill>
          </a:ln>
        </p:spPr>
      </p:cxnSp>
      <p:cxnSp>
        <p:nvCxnSpPr>
          <p:cNvPr id="9" name="Line 9"/>
          <p:cNvCxnSpPr/>
          <p:nvPr/>
        </p:nvCxnSpPr>
        <p:spPr>
          <a:xfrm>
            <a:off x="2514600" y="1732788"/>
            <a:ext cx="0" cy="3638550"/>
          </a:xfrm>
          <a:prstGeom prst="line">
            <a:avLst/>
          </a:prstGeom>
          <a:ln w="9525" cap="flat">
            <a:solidFill>
              <a:srgbClr val="E6E8F2"/>
            </a:solidFill>
          </a:ln>
        </p:spPr>
      </p:cxnSp>
      <p:cxnSp>
        <p:nvCxnSpPr>
          <p:cNvPr id="10" name="Line 10"/>
          <p:cNvCxnSpPr/>
          <p:nvPr/>
        </p:nvCxnSpPr>
        <p:spPr>
          <a:xfrm>
            <a:off x="2890837" y="1732788"/>
            <a:ext cx="0" cy="3638550"/>
          </a:xfrm>
          <a:prstGeom prst="line">
            <a:avLst/>
          </a:prstGeom>
          <a:ln w="9525" cap="flat">
            <a:solidFill>
              <a:srgbClr val="E6E8F2"/>
            </a:solidFill>
          </a:ln>
        </p:spPr>
      </p:cxnSp>
      <p:cxnSp>
        <p:nvCxnSpPr>
          <p:cNvPr id="11" name="Line 11"/>
          <p:cNvCxnSpPr/>
          <p:nvPr/>
        </p:nvCxnSpPr>
        <p:spPr>
          <a:xfrm>
            <a:off x="3267075" y="1732788"/>
            <a:ext cx="0" cy="3638550"/>
          </a:xfrm>
          <a:prstGeom prst="line">
            <a:avLst/>
          </a:prstGeom>
          <a:ln w="9525" cap="flat">
            <a:solidFill>
              <a:srgbClr val="E6E8F2"/>
            </a:solidFill>
          </a:ln>
        </p:spPr>
      </p:cxnSp>
      <p:cxnSp>
        <p:nvCxnSpPr>
          <p:cNvPr id="12" name="Line 12"/>
          <p:cNvCxnSpPr/>
          <p:nvPr/>
        </p:nvCxnSpPr>
        <p:spPr>
          <a:xfrm>
            <a:off x="3643312" y="1732788"/>
            <a:ext cx="0" cy="3638550"/>
          </a:xfrm>
          <a:prstGeom prst="line">
            <a:avLst/>
          </a:prstGeom>
          <a:ln w="9525" cap="flat">
            <a:solidFill>
              <a:srgbClr val="E6E8F2"/>
            </a:solidFill>
          </a:ln>
        </p:spPr>
      </p:cxnSp>
      <p:cxnSp>
        <p:nvCxnSpPr>
          <p:cNvPr id="13" name="Line 13"/>
          <p:cNvCxnSpPr/>
          <p:nvPr/>
        </p:nvCxnSpPr>
        <p:spPr>
          <a:xfrm>
            <a:off x="4019550" y="1732788"/>
            <a:ext cx="0" cy="3638550"/>
          </a:xfrm>
          <a:prstGeom prst="line">
            <a:avLst/>
          </a:prstGeom>
          <a:ln w="9525" cap="flat">
            <a:solidFill>
              <a:srgbClr val="E6E8F2"/>
            </a:solidFill>
          </a:ln>
        </p:spPr>
      </p:cxnSp>
      <p:cxnSp>
        <p:nvCxnSpPr>
          <p:cNvPr id="14" name="Line 14"/>
          <p:cNvCxnSpPr/>
          <p:nvPr/>
        </p:nvCxnSpPr>
        <p:spPr>
          <a:xfrm>
            <a:off x="4395787" y="1732788"/>
            <a:ext cx="0" cy="3638550"/>
          </a:xfrm>
          <a:prstGeom prst="line">
            <a:avLst/>
          </a:prstGeom>
          <a:ln w="9525" cap="flat">
            <a:solidFill>
              <a:srgbClr val="E6E8F2"/>
            </a:solidFill>
          </a:ln>
        </p:spPr>
      </p:cxnSp>
      <p:cxnSp>
        <p:nvCxnSpPr>
          <p:cNvPr id="15" name="Line 15"/>
          <p:cNvCxnSpPr/>
          <p:nvPr/>
        </p:nvCxnSpPr>
        <p:spPr>
          <a:xfrm>
            <a:off x="4772025" y="1732788"/>
            <a:ext cx="0" cy="3638550"/>
          </a:xfrm>
          <a:prstGeom prst="line">
            <a:avLst/>
          </a:prstGeom>
          <a:ln w="9525" cap="flat">
            <a:solidFill>
              <a:srgbClr val="E6E8F2"/>
            </a:solidFill>
          </a:ln>
        </p:spPr>
      </p:cxnSp>
      <p:cxnSp>
        <p:nvCxnSpPr>
          <p:cNvPr id="16" name="Line 16"/>
          <p:cNvCxnSpPr/>
          <p:nvPr/>
        </p:nvCxnSpPr>
        <p:spPr>
          <a:xfrm>
            <a:off x="5148262" y="1732788"/>
            <a:ext cx="0" cy="3638550"/>
          </a:xfrm>
          <a:prstGeom prst="line">
            <a:avLst/>
          </a:prstGeom>
          <a:ln w="9525" cap="flat">
            <a:solidFill>
              <a:srgbClr val="E6E8F2"/>
            </a:solidFill>
          </a:ln>
        </p:spPr>
      </p:cxnSp>
      <p:cxnSp>
        <p:nvCxnSpPr>
          <p:cNvPr id="17" name="Line 17"/>
          <p:cNvCxnSpPr/>
          <p:nvPr/>
        </p:nvCxnSpPr>
        <p:spPr>
          <a:xfrm>
            <a:off x="5524500" y="1732788"/>
            <a:ext cx="0" cy="3638550"/>
          </a:xfrm>
          <a:prstGeom prst="line">
            <a:avLst/>
          </a:prstGeom>
          <a:ln w="9525" cap="flat">
            <a:solidFill>
              <a:srgbClr val="E6E8F2"/>
            </a:solidFill>
          </a:ln>
        </p:spPr>
      </p:cxnSp>
      <p:cxnSp>
        <p:nvCxnSpPr>
          <p:cNvPr id="18" name="Line 18"/>
          <p:cNvCxnSpPr/>
          <p:nvPr/>
        </p:nvCxnSpPr>
        <p:spPr>
          <a:xfrm>
            <a:off x="1009650" y="5371338"/>
            <a:ext cx="4514850" cy="0"/>
          </a:xfrm>
          <a:prstGeom prst="line">
            <a:avLst/>
          </a:prstGeom>
          <a:ln w="9525" cap="flat">
            <a:solidFill>
              <a:srgbClr val="E6E8F2"/>
            </a:solidFill>
          </a:ln>
        </p:spPr>
      </p:cxnSp>
      <p:cxnSp>
        <p:nvCxnSpPr>
          <p:cNvPr id="19" name="Line 19"/>
          <p:cNvCxnSpPr/>
          <p:nvPr/>
        </p:nvCxnSpPr>
        <p:spPr>
          <a:xfrm>
            <a:off x="1009650" y="5007483"/>
            <a:ext cx="4514850" cy="0"/>
          </a:xfrm>
          <a:prstGeom prst="line">
            <a:avLst/>
          </a:prstGeom>
          <a:ln w="9525" cap="flat">
            <a:solidFill>
              <a:srgbClr val="E6E8F2"/>
            </a:solidFill>
          </a:ln>
        </p:spPr>
      </p:cxnSp>
      <p:cxnSp>
        <p:nvCxnSpPr>
          <p:cNvPr id="20" name="Line 20"/>
          <p:cNvCxnSpPr/>
          <p:nvPr/>
        </p:nvCxnSpPr>
        <p:spPr>
          <a:xfrm>
            <a:off x="1009650" y="4643628"/>
            <a:ext cx="4514850" cy="0"/>
          </a:xfrm>
          <a:prstGeom prst="line">
            <a:avLst/>
          </a:prstGeom>
          <a:ln w="9525" cap="flat">
            <a:solidFill>
              <a:srgbClr val="E6E8F2"/>
            </a:solidFill>
          </a:ln>
        </p:spPr>
      </p:cxnSp>
      <p:cxnSp>
        <p:nvCxnSpPr>
          <p:cNvPr id="21" name="Line 21"/>
          <p:cNvCxnSpPr/>
          <p:nvPr/>
        </p:nvCxnSpPr>
        <p:spPr>
          <a:xfrm>
            <a:off x="1009650" y="4279773"/>
            <a:ext cx="4514850" cy="0"/>
          </a:xfrm>
          <a:prstGeom prst="line">
            <a:avLst/>
          </a:prstGeom>
          <a:ln w="9525" cap="flat">
            <a:solidFill>
              <a:srgbClr val="E6E8F2"/>
            </a:solidFill>
          </a:ln>
        </p:spPr>
      </p:cxnSp>
      <p:cxnSp>
        <p:nvCxnSpPr>
          <p:cNvPr id="22" name="Line 22"/>
          <p:cNvCxnSpPr/>
          <p:nvPr/>
        </p:nvCxnSpPr>
        <p:spPr>
          <a:xfrm>
            <a:off x="1009650" y="3915918"/>
            <a:ext cx="4514850" cy="0"/>
          </a:xfrm>
          <a:prstGeom prst="line">
            <a:avLst/>
          </a:prstGeom>
          <a:ln w="9525" cap="flat">
            <a:solidFill>
              <a:srgbClr val="E6E8F2"/>
            </a:solidFill>
          </a:ln>
        </p:spPr>
      </p:cxnSp>
      <p:cxnSp>
        <p:nvCxnSpPr>
          <p:cNvPr id="23" name="Line 23"/>
          <p:cNvCxnSpPr/>
          <p:nvPr/>
        </p:nvCxnSpPr>
        <p:spPr>
          <a:xfrm>
            <a:off x="1009650" y="3552063"/>
            <a:ext cx="4514850" cy="0"/>
          </a:xfrm>
          <a:prstGeom prst="line">
            <a:avLst/>
          </a:prstGeom>
          <a:ln w="9525" cap="flat">
            <a:solidFill>
              <a:srgbClr val="E6E8F2"/>
            </a:solidFill>
          </a:ln>
        </p:spPr>
      </p:cxnSp>
      <p:cxnSp>
        <p:nvCxnSpPr>
          <p:cNvPr id="24" name="Line 24"/>
          <p:cNvCxnSpPr/>
          <p:nvPr/>
        </p:nvCxnSpPr>
        <p:spPr>
          <a:xfrm>
            <a:off x="1009650" y="3188208"/>
            <a:ext cx="4514850" cy="0"/>
          </a:xfrm>
          <a:prstGeom prst="line">
            <a:avLst/>
          </a:prstGeom>
          <a:ln w="9525" cap="flat">
            <a:solidFill>
              <a:srgbClr val="E6E8F2"/>
            </a:solidFill>
          </a:ln>
        </p:spPr>
      </p:cxnSp>
      <p:cxnSp>
        <p:nvCxnSpPr>
          <p:cNvPr id="25" name="Line 25"/>
          <p:cNvCxnSpPr/>
          <p:nvPr/>
        </p:nvCxnSpPr>
        <p:spPr>
          <a:xfrm>
            <a:off x="1009650" y="2824353"/>
            <a:ext cx="4514850" cy="0"/>
          </a:xfrm>
          <a:prstGeom prst="line">
            <a:avLst/>
          </a:prstGeom>
          <a:ln w="9525" cap="flat">
            <a:solidFill>
              <a:srgbClr val="E6E8F2"/>
            </a:solidFill>
          </a:ln>
        </p:spPr>
      </p:cxnSp>
      <p:cxnSp>
        <p:nvCxnSpPr>
          <p:cNvPr id="26" name="Line 26"/>
          <p:cNvCxnSpPr/>
          <p:nvPr/>
        </p:nvCxnSpPr>
        <p:spPr>
          <a:xfrm>
            <a:off x="1009650" y="2460498"/>
            <a:ext cx="4514850" cy="0"/>
          </a:xfrm>
          <a:prstGeom prst="line">
            <a:avLst/>
          </a:prstGeom>
          <a:ln w="9525" cap="flat">
            <a:solidFill>
              <a:srgbClr val="E6E8F2"/>
            </a:solidFill>
          </a:ln>
        </p:spPr>
      </p:cxnSp>
      <p:cxnSp>
        <p:nvCxnSpPr>
          <p:cNvPr id="27" name="Line 27"/>
          <p:cNvCxnSpPr/>
          <p:nvPr/>
        </p:nvCxnSpPr>
        <p:spPr>
          <a:xfrm>
            <a:off x="1009650" y="2096643"/>
            <a:ext cx="4514850" cy="0"/>
          </a:xfrm>
          <a:prstGeom prst="line">
            <a:avLst/>
          </a:prstGeom>
          <a:ln w="9525" cap="flat">
            <a:solidFill>
              <a:srgbClr val="E6E8F2"/>
            </a:solidFill>
          </a:ln>
        </p:spPr>
      </p:cxnSp>
      <p:cxnSp>
        <p:nvCxnSpPr>
          <p:cNvPr id="28" name="Line 28"/>
          <p:cNvCxnSpPr/>
          <p:nvPr/>
        </p:nvCxnSpPr>
        <p:spPr>
          <a:xfrm>
            <a:off x="1009650" y="1732788"/>
            <a:ext cx="4514850" cy="0"/>
          </a:xfrm>
          <a:prstGeom prst="line">
            <a:avLst/>
          </a:prstGeom>
          <a:ln w="9525" cap="flat">
            <a:solidFill>
              <a:srgbClr val="E6E8F2"/>
            </a:solidFill>
          </a:ln>
        </p:spPr>
      </p:cxnSp>
      <p:cxnSp>
        <p:nvCxnSpPr>
          <p:cNvPr id="29" name="Line 29"/>
          <p:cNvCxnSpPr/>
          <p:nvPr/>
        </p:nvCxnSpPr>
        <p:spPr>
          <a:xfrm>
            <a:off x="1009650" y="1732788"/>
            <a:ext cx="0" cy="3638550"/>
          </a:xfrm>
          <a:prstGeom prst="line">
            <a:avLst/>
          </a:prstGeom>
          <a:ln w="19050" cap="flat">
            <a:solidFill>
              <a:srgbClr val="5F6272"/>
            </a:solidFill>
          </a:ln>
        </p:spPr>
      </p:cxnSp>
      <p:cxnSp>
        <p:nvCxnSpPr>
          <p:cNvPr id="30" name="Line 30"/>
          <p:cNvCxnSpPr/>
          <p:nvPr/>
        </p:nvCxnSpPr>
        <p:spPr>
          <a:xfrm>
            <a:off x="1009650" y="5371338"/>
            <a:ext cx="4514850" cy="0"/>
          </a:xfrm>
          <a:prstGeom prst="line">
            <a:avLst/>
          </a:prstGeom>
          <a:ln w="19050" cap="flat">
            <a:solidFill>
              <a:srgbClr val="5F6272"/>
            </a:solidFill>
          </a:ln>
        </p:spPr>
      </p:cxnSp>
      <p:sp>
        <p:nvSpPr>
          <p:cNvPr id="31" name="Shape 31"/>
          <p:cNvSpPr txBox="1"/>
          <p:nvPr/>
        </p:nvSpPr>
        <p:spPr>
          <a:xfrm>
            <a:off x="7353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2" name="Shape 32"/>
          <p:cNvSpPr txBox="1"/>
          <p:nvPr/>
        </p:nvSpPr>
        <p:spPr>
          <a:xfrm>
            <a:off x="111156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3" name="Shape 33"/>
          <p:cNvSpPr txBox="1"/>
          <p:nvPr/>
        </p:nvSpPr>
        <p:spPr>
          <a:xfrm>
            <a:off x="14878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4" name="Shape 34"/>
          <p:cNvSpPr txBox="1"/>
          <p:nvPr/>
        </p:nvSpPr>
        <p:spPr>
          <a:xfrm>
            <a:off x="18640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35" name="Shape 35"/>
          <p:cNvSpPr txBox="1"/>
          <p:nvPr/>
        </p:nvSpPr>
        <p:spPr>
          <a:xfrm>
            <a:off x="22402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36" name="Shape 36"/>
          <p:cNvSpPr txBox="1"/>
          <p:nvPr/>
        </p:nvSpPr>
        <p:spPr>
          <a:xfrm>
            <a:off x="2616518"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37" name="Shape 37"/>
          <p:cNvSpPr txBox="1"/>
          <p:nvPr/>
        </p:nvSpPr>
        <p:spPr>
          <a:xfrm>
            <a:off x="299275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38" name="Shape 38"/>
          <p:cNvSpPr txBox="1"/>
          <p:nvPr/>
        </p:nvSpPr>
        <p:spPr>
          <a:xfrm>
            <a:off x="336899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7</a:t>
            </a:r>
            <a:endParaRPr lang="en-US" sz="975" dirty="0"/>
          </a:p>
        </p:txBody>
      </p:sp>
      <p:sp>
        <p:nvSpPr>
          <p:cNvPr id="39" name="Shape 39"/>
          <p:cNvSpPr txBox="1"/>
          <p:nvPr/>
        </p:nvSpPr>
        <p:spPr>
          <a:xfrm>
            <a:off x="374523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8</a:t>
            </a:r>
            <a:endParaRPr lang="en-US" sz="975" dirty="0"/>
          </a:p>
        </p:txBody>
      </p:sp>
      <p:sp>
        <p:nvSpPr>
          <p:cNvPr id="40" name="Shape 40"/>
          <p:cNvSpPr txBox="1"/>
          <p:nvPr/>
        </p:nvSpPr>
        <p:spPr>
          <a:xfrm>
            <a:off x="4121467"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9</a:t>
            </a:r>
            <a:endParaRPr lang="en-US" sz="975" dirty="0"/>
          </a:p>
        </p:txBody>
      </p:sp>
      <p:sp>
        <p:nvSpPr>
          <p:cNvPr id="41" name="Shape 41"/>
          <p:cNvSpPr txBox="1"/>
          <p:nvPr/>
        </p:nvSpPr>
        <p:spPr>
          <a:xfrm>
            <a:off x="4497705"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10</a:t>
            </a:r>
            <a:endParaRPr lang="en-US" sz="975" dirty="0"/>
          </a:p>
        </p:txBody>
      </p:sp>
      <p:sp>
        <p:nvSpPr>
          <p:cNvPr id="42" name="Shape 42"/>
          <p:cNvSpPr txBox="1"/>
          <p:nvPr/>
        </p:nvSpPr>
        <p:spPr>
          <a:xfrm>
            <a:off x="4873942"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11</a:t>
            </a:r>
            <a:endParaRPr lang="en-US" sz="975" dirty="0"/>
          </a:p>
        </p:txBody>
      </p:sp>
      <p:sp>
        <p:nvSpPr>
          <p:cNvPr id="43" name="Shape 43"/>
          <p:cNvSpPr txBox="1"/>
          <p:nvPr/>
        </p:nvSpPr>
        <p:spPr>
          <a:xfrm>
            <a:off x="5250180" y="53903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44" name="Shape 44"/>
          <p:cNvSpPr txBox="1"/>
          <p:nvPr/>
        </p:nvSpPr>
        <p:spPr>
          <a:xfrm>
            <a:off x="442722" y="52798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442722" y="491604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442722" y="4552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442722" y="418833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442722" y="38244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442722" y="346062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sp>
        <p:nvSpPr>
          <p:cNvPr id="50" name="Shape 50"/>
          <p:cNvSpPr txBox="1"/>
          <p:nvPr/>
        </p:nvSpPr>
        <p:spPr>
          <a:xfrm>
            <a:off x="442722" y="3096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a:t>
            </a:r>
            <a:endParaRPr lang="en-US" sz="975" dirty="0"/>
          </a:p>
        </p:txBody>
      </p:sp>
      <p:sp>
        <p:nvSpPr>
          <p:cNvPr id="51" name="Shape 51"/>
          <p:cNvSpPr txBox="1"/>
          <p:nvPr/>
        </p:nvSpPr>
        <p:spPr>
          <a:xfrm>
            <a:off x="442722" y="273291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14</a:t>
            </a:r>
            <a:endParaRPr lang="en-US" sz="975" dirty="0"/>
          </a:p>
        </p:txBody>
      </p:sp>
      <p:sp>
        <p:nvSpPr>
          <p:cNvPr id="52" name="Shape 52"/>
          <p:cNvSpPr txBox="1"/>
          <p:nvPr/>
        </p:nvSpPr>
        <p:spPr>
          <a:xfrm>
            <a:off x="442722" y="23690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3" name="Shape 53"/>
          <p:cNvSpPr txBox="1"/>
          <p:nvPr/>
        </p:nvSpPr>
        <p:spPr>
          <a:xfrm>
            <a:off x="442722" y="200520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18</a:t>
            </a:r>
            <a:endParaRPr lang="en-US" sz="975" dirty="0"/>
          </a:p>
        </p:txBody>
      </p:sp>
      <p:sp>
        <p:nvSpPr>
          <p:cNvPr id="54" name="Shape 54"/>
          <p:cNvSpPr txBox="1"/>
          <p:nvPr/>
        </p:nvSpPr>
        <p:spPr>
          <a:xfrm>
            <a:off x="442722"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20</a:t>
            </a:r>
            <a:endParaRPr lang="en-US" sz="975" dirty="0"/>
          </a:p>
        </p:txBody>
      </p:sp>
      <p:cxnSp>
        <p:nvCxnSpPr>
          <p:cNvPr id="55" name="Line 55"/>
          <p:cNvCxnSpPr/>
          <p:nvPr/>
        </p:nvCxnSpPr>
        <p:spPr>
          <a:xfrm>
            <a:off x="1009650" y="2824353"/>
            <a:ext cx="1755775" cy="2546985"/>
          </a:xfrm>
          <a:prstGeom prst="line">
            <a:avLst/>
          </a:prstGeom>
          <a:ln w="38100" cap="rnd">
            <a:solidFill>
              <a:srgbClr val="4F8A3C"/>
            </a:solidFill>
          </a:ln>
        </p:spPr>
      </p:cxnSp>
      <p:cxnSp>
        <p:nvCxnSpPr>
          <p:cNvPr id="56" name="Line 56"/>
          <p:cNvCxnSpPr/>
          <p:nvPr/>
        </p:nvCxnSpPr>
        <p:spPr>
          <a:xfrm>
            <a:off x="1009650" y="2460498"/>
            <a:ext cx="3009900" cy="2910840"/>
          </a:xfrm>
          <a:prstGeom prst="line">
            <a:avLst/>
          </a:prstGeom>
          <a:ln w="38100" cap="rnd">
            <a:solidFill>
              <a:srgbClr val="7A4FC4"/>
            </a:solidFill>
            <a:prstDash val="dash"/>
          </a:ln>
        </p:spPr>
      </p:cxnSp>
      <p:cxnSp>
        <p:nvCxnSpPr>
          <p:cNvPr id="57" name="Line 57"/>
          <p:cNvCxnSpPr/>
          <p:nvPr/>
        </p:nvCxnSpPr>
        <p:spPr>
          <a:xfrm>
            <a:off x="1009650" y="2096643"/>
            <a:ext cx="4514850" cy="3274695"/>
          </a:xfrm>
          <a:prstGeom prst="line">
            <a:avLst/>
          </a:prstGeom>
          <a:ln w="38100" cap="rnd">
            <a:solidFill>
              <a:srgbClr val="16171D"/>
            </a:solidFill>
          </a:ln>
        </p:spPr>
      </p:cxnSp>
      <p:sp>
        <p:nvSpPr>
          <p:cNvPr id="58" name="Shape 58"/>
          <p:cNvSpPr txBox="1"/>
          <p:nvPr/>
        </p:nvSpPr>
        <p:spPr>
          <a:xfrm>
            <a:off x="5981700" y="1618488"/>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4F8A3C"/>
                </a:solidFill>
                <a:latin typeface="Segoe UI"/>
                <a:cs typeface="Segoe UI"/>
              </a:rPr>
              <a:t xml:space="preserve">━━ Pool A</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−3</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+ 14</a:t>
            </a:r>
            <a:endParaRPr lang="en-US" sz="1950" dirty="0"/>
          </a:p>
        </p:txBody>
      </p:sp>
      <p:sp>
        <p:nvSpPr>
          <p:cNvPr id="59" name="Shape 59"/>
          <p:cNvSpPr txBox="1"/>
          <p:nvPr/>
        </p:nvSpPr>
        <p:spPr>
          <a:xfrm>
            <a:off x="5981700" y="2122932"/>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7A4FC4"/>
                </a:solidFill>
                <a:latin typeface="Segoe UI"/>
                <a:cs typeface="Segoe UI"/>
              </a:rPr>
              <a:t xml:space="preserve">- - - Pool B</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+ 16</a:t>
            </a:r>
            <a:endParaRPr lang="en-US" sz="1950" dirty="0"/>
          </a:p>
        </p:txBody>
      </p:sp>
      <p:sp>
        <p:nvSpPr>
          <p:cNvPr id="60" name="Shape 60"/>
          <p:cNvSpPr txBox="1"/>
          <p:nvPr/>
        </p:nvSpPr>
        <p:spPr>
          <a:xfrm>
            <a:off x="5981700" y="2627376"/>
            <a:ext cx="55241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 Pool C</a:t>
            </a:r>
            <a:r>
              <a:rPr lang="en-US" sz="1950" dirty="0">
                <a:solidFill>
                  <a:srgbClr val="16171D"/>
                </a:solidFill>
                <a:latin typeface="Segoe UI"/>
                <a:cs typeface="Segoe UI"/>
              </a:rPr>
              <a:t xml:space="preserv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a:t>
            </a:r>
            <a:r>
              <a:rPr lang="en-US" sz="1950" dirty="0">
                <a:solidFill>
                  <a:srgbClr val="16171D"/>
                </a:solidFill>
                <a:latin typeface="Cambria"/>
                <a:cs typeface="Cambria"/>
              </a:rPr>
              <a:t xml:space="preserve">3</a:t>
            </a:r>
            <a:r>
              <a:rPr lang="en-US" sz="1950" dirty="0">
                <a:solidFill>
                  <a:srgbClr val="16171D"/>
                </a:solidFill>
                <a:latin typeface="Cambria"/>
                <a:cs typeface="Cambria"/>
              </a:rPr>
              <a:t xml:space="preserve">/</a:t>
            </a:r>
            <a:r>
              <a:rPr lang="en-US" sz="1950" dirty="0">
                <a:solidFill>
                  <a:srgbClr val="16171D"/>
                </a:solidFill>
                <a:latin typeface="Cambria"/>
                <a:cs typeface="Cambria"/>
              </a:rPr>
              <a:t xml:space="preserve">2</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+ 18</a:t>
            </a:r>
            <a:endParaRPr lang="en-US" sz="1950" dirty="0"/>
          </a:p>
        </p:txBody>
      </p:sp>
      <p:sp>
        <p:nvSpPr>
          <p:cNvPr id="61" name="Shape 61"/>
          <p:cNvSpPr txBox="1"/>
          <p:nvPr/>
        </p:nvSpPr>
        <p:spPr>
          <a:xfrm>
            <a:off x="5981700" y="3227070"/>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starts</a:t>
            </a:r>
            <a:r>
              <a:rPr lang="en-US" sz="1575" dirty="0">
                <a:solidFill>
                  <a:srgbClr val="16171D"/>
                </a:solidFill>
                <a:latin typeface="Segoe UI"/>
                <a:cs typeface="Segoe UI"/>
              </a:rPr>
              <a:t xml:space="preserve"> is </a:t>
            </a:r>
            <a:r>
              <a:rPr lang="en-US" sz="1575" dirty="0" i="1">
                <a:solidFill>
                  <a:srgbClr val="16171D"/>
                </a:solidFill>
                <a:latin typeface="Segoe UI"/>
                <a:cs typeface="Segoe UI"/>
              </a:rPr>
              <a:t xml:space="preserve">b</a:t>
            </a:r>
            <a:r>
              <a:rPr lang="en-US" sz="1575" dirty="0">
                <a:solidFill>
                  <a:srgbClr val="16171D"/>
                </a:solidFill>
                <a:latin typeface="Segoe UI"/>
                <a:cs typeface="Segoe UI"/>
              </a:rPr>
              <a:t xml:space="preserve">, the starting water level. Pool C starts highest (18 ft); Pool A starts lowest (14 ft).</a:t>
            </a:r>
            <a:endParaRPr lang="en-US" sz="1575" dirty="0"/>
          </a:p>
        </p:txBody>
      </p:sp>
      <p:sp>
        <p:nvSpPr>
          <p:cNvPr id="62" name="Shape 62"/>
          <p:cNvSpPr txBox="1"/>
          <p:nvPr/>
        </p:nvSpPr>
        <p:spPr>
          <a:xfrm>
            <a:off x="5981700" y="4154424"/>
            <a:ext cx="55241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 steepest line</a:t>
            </a:r>
            <a:r>
              <a:rPr lang="en-US" sz="1575" dirty="0">
                <a:solidFill>
                  <a:srgbClr val="16171D"/>
                </a:solidFill>
                <a:latin typeface="Segoe UI"/>
                <a:cs typeface="Segoe UI"/>
              </a:rPr>
              <a:t xml:space="preserve"> has the slope farthest from 0. Pool A drains fastest, 3 feet per hour.</a:t>
            </a:r>
            <a:endParaRPr lang="en-US" sz="1575" dirty="0"/>
          </a:p>
        </p:txBody>
      </p:sp>
      <p:sp>
        <p:nvSpPr>
          <p:cNvPr id="63" name="Shape 63"/>
          <p:cNvSpPr txBox="1"/>
          <p:nvPr/>
        </p:nvSpPr>
        <p:spPr>
          <a:xfrm>
            <a:off x="5981700" y="4841748"/>
            <a:ext cx="5524195" cy="77495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Where each line hits 0</a:t>
            </a:r>
            <a:r>
              <a:rPr lang="en-US" sz="1575" dirty="0">
                <a:solidFill>
                  <a:srgbClr val="16171D"/>
                </a:solidFill>
                <a:latin typeface="Segoe UI"/>
                <a:cs typeface="Segoe UI"/>
              </a:rPr>
              <a:t xml:space="preserve"> is when the pool is empty. Pool A empties first (after 4⅔ hours); Pool C empties last (after 12 hours).</a:t>
            </a:r>
            <a:endParaRPr lang="en-US" sz="1575" dirty="0"/>
          </a:p>
        </p:txBody>
      </p:sp>
      <p:sp>
        <p:nvSpPr>
          <p:cNvPr id="64" name="Slide Number 64"/>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5"/>
                                        </p:tgtEl>
                                        <p:attrNameLst>
                                          <p:attrName>style.visibility</p:attrName>
                                        </p:attrNameLst>
                                      </p:cBhvr>
                                      <p:to>
                                        <p:strVal val="visible"/>
                                      </p:to>
                                    </p:set>
                                    <p:animEffect transition="in" filter="wipe(left)">
                                      <p:cBhvr>
                                        <p:cTn id="4" dur="700"/>
                                        <p:tgtEl>
                                          <p:spTgt spid="55"/>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56"/>
                                        </p:tgtEl>
                                        <p:attrNameLst>
                                          <p:attrName>style.visibility</p:attrName>
                                        </p:attrNameLst>
                                      </p:cBhvr>
                                      <p:to>
                                        <p:strVal val="visible"/>
                                      </p:to>
                                    </p:set>
                                    <p:animEffect transition="in" filter="wipe(left)">
                                      <p:cBhvr>
                                        <p:cTn id="9" dur="700"/>
                                        <p:tgtEl>
                                          <p:spTgt spid="56"/>
                                        </p:tgtEl>
                                      </p:cBhvr>
                                    </p:animEffect>
                                  </p:childTnLst>
                                </p:cTn>
                              </p:par>
                            </p:childTnLst>
                          </p:cTn>
                        </p:par>
                      </p:childTnLst>
                    </p:cTn>
                  </p:par>
                  <p:par>
                    <p:cTn id="16" fill="hold">
                      <p:stCondLst>
                        <p:cond delay="indefinite"/>
                      </p:stCondLst>
                      <p:childTnLst>
                        <p:par>
                          <p:cTn id="17" fill="hold">
                            <p:stCondLst>
                              <p:cond delay="0"/>
                            </p:stCondLst>
                            <p:childTnLst>
                              <p:par>
                                <p:cTn id="15" presetID="22" presetClass="entr" presetSubtype="8" fill="hold" nodeType="click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wipe(left)">
                                      <p:cBhvr>
                                        <p:cTn id="14" dur="700"/>
                                        <p:tgtEl>
                                          <p:spTgt spid="57"/>
                                        </p:tgtEl>
                                      </p:cBhvr>
                                    </p:animEffect>
                                  </p:childTnLst>
                                </p:cTn>
                              </p:par>
                            </p:childTnLst>
                          </p:cTn>
                        </p:par>
                      </p:childTnLst>
                    </p:cTn>
                  </p:par>
                  <p:par>
                    <p:cTn id="23" fill="hold">
                      <p:stCondLst>
                        <p:cond delay="indefinite"/>
                      </p:stCondLst>
                      <p:childTnLst>
                        <p:par>
                          <p:cTn id="24" fill="hold">
                            <p:stCondLst>
                              <p:cond delay="0"/>
                            </p:stCondLst>
                            <p:childTnLst>
                              <p:par>
                                <p:cTn id="22" presetID="42" presetClass="entr" presetSubtype="0" fill="hold" nodeType="clickEffect">
                                  <p:stCondLst>
                                    <p:cond delay="0"/>
                                  </p:stCondLst>
                                  <p:childTnLst>
                                    <p:set>
                                      <p:cBhvr>
                                        <p:cTn id="18" dur="1" fill="hold">
                                          <p:stCondLst>
                                            <p:cond delay="0"/>
                                          </p:stCondLst>
                                        </p:cTn>
                                        <p:tgtEl>
                                          <p:spTgt spid="61"/>
                                        </p:tgtEl>
                                        <p:attrNameLst>
                                          <p:attrName>style.visibility</p:attrName>
                                        </p:attrNameLst>
                                      </p:cBhvr>
                                      <p:to>
                                        <p:strVal val="visible"/>
                                      </p:to>
                                    </p:set>
                                    <p:animEffect transition="in" filter="fade">
                                      <p:cBhvr>
                                        <p:cTn id="19" dur="500"/>
                                        <p:tgtEl>
                                          <p:spTgt spid="61"/>
                                        </p:tgtEl>
                                      </p:cBhvr>
                                    </p:animEffect>
                                    <p:anim calcmode="lin" valueType="num">
                                      <p:cBhvr>
                                        <p:cTn id="20" dur="500" fill="hold"/>
                                        <p:tgtEl>
                                          <p:spTgt spid="61"/>
                                        </p:tgtEl>
                                        <p:attrNameLst>
                                          <p:attrName>ppt_x</p:attrName>
                                        </p:attrNameLst>
                                      </p:cBhvr>
                                      <p:tavLst>
                                        <p:tav tm="0">
                                          <p:val>
                                            <p:strVal val="#ppt_x"/>
                                          </p:val>
                                        </p:tav>
                                        <p:tav tm="100000">
                                          <p:val>
                                            <p:strVal val="#ppt_x"/>
                                          </p:val>
                                        </p:tav>
                                      </p:tavLst>
                                    </p:anim>
                                    <p:anim calcmode="lin" valueType="num">
                                      <p:cBhvr>
                                        <p:cTn id="21" dur="500" fill="hold"/>
                                        <p:tgtEl>
                                          <p:spTgt spid="61"/>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62"/>
                                        </p:tgtEl>
                                        <p:attrNameLst>
                                          <p:attrName>style.visibility</p:attrName>
                                        </p:attrNameLst>
                                      </p:cBhvr>
                                      <p:to>
                                        <p:strVal val="visible"/>
                                      </p:to>
                                    </p:set>
                                    <p:animEffect transition="in" filter="fade">
                                      <p:cBhvr>
                                        <p:cTn id="26" dur="500"/>
                                        <p:tgtEl>
                                          <p:spTgt spid="62"/>
                                        </p:tgtEl>
                                      </p:cBhvr>
                                    </p:animEffect>
                                    <p:anim calcmode="lin" valueType="num">
                                      <p:cBhvr>
                                        <p:cTn id="27" dur="500" fill="hold"/>
                                        <p:tgtEl>
                                          <p:spTgt spid="62"/>
                                        </p:tgtEl>
                                        <p:attrNameLst>
                                          <p:attrName>ppt_x</p:attrName>
                                        </p:attrNameLst>
                                      </p:cBhvr>
                                      <p:tavLst>
                                        <p:tav tm="0">
                                          <p:val>
                                            <p:strVal val="#ppt_x"/>
                                          </p:val>
                                        </p:tav>
                                        <p:tav tm="100000">
                                          <p:val>
                                            <p:strVal val="#ppt_x"/>
                                          </p:val>
                                        </p:tav>
                                      </p:tavLst>
                                    </p:anim>
                                    <p:anim calcmode="lin" valueType="num">
                                      <p:cBhvr>
                                        <p:cTn id="28" dur="500" fill="hold"/>
                                        <p:tgtEl>
                                          <p:spTgt spid="62"/>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36" presetID="42" presetClass="entr" presetSubtype="0" fill="hold" nodeType="clickEffect">
                                  <p:stCondLst>
                                    <p:cond delay="0"/>
                                  </p:stCondLst>
                                  <p:childTnLst>
                                    <p:set>
                                      <p:cBhvr>
                                        <p:cTn id="32" dur="1" fill="hold">
                                          <p:stCondLst>
                                            <p:cond delay="0"/>
                                          </p:stCondLst>
                                        </p:cTn>
                                        <p:tgtEl>
                                          <p:spTgt spid="63"/>
                                        </p:tgtEl>
                                        <p:attrNameLst>
                                          <p:attrName>style.visibility</p:attrName>
                                        </p:attrNameLst>
                                      </p:cBhvr>
                                      <p:to>
                                        <p:strVal val="visible"/>
                                      </p:to>
                                    </p:set>
                                    <p:animEffect transition="in" filter="fade">
                                      <p:cBhvr>
                                        <p:cTn id="33" dur="500"/>
                                        <p:tgtEl>
                                          <p:spTgt spid="63"/>
                                        </p:tgtEl>
                                      </p:cBhvr>
                                    </p:animEffect>
                                    <p:anim calcmode="lin" valueType="num">
                                      <p:cBhvr>
                                        <p:cTn id="34" dur="500" fill="hold"/>
                                        <p:tgtEl>
                                          <p:spTgt spid="63"/>
                                        </p:tgtEl>
                                        <p:attrNameLst>
                                          <p:attrName>ppt_x</p:attrName>
                                        </p:attrNameLst>
                                      </p:cBhvr>
                                      <p:tavLst>
                                        <p:tav tm="0">
                                          <p:val>
                                            <p:strVal val="#ppt_x"/>
                                          </p:val>
                                        </p:tav>
                                        <p:tav tm="100000">
                                          <p:val>
                                            <p:strVal val="#ppt_x"/>
                                          </p:val>
                                        </p:tav>
                                      </p:tavLst>
                                    </p:anim>
                                    <p:anim calcmode="lin" valueType="num">
                                      <p:cBhvr>
                                        <p:cTn id="35" dur="500" fill="hold"/>
                                        <p:tgtEl>
                                          <p:spTgt spid="63"/>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Getting Started · Draining the Pool · SE p. 202</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How were the three processes different?</a:t>
            </a:r>
            <a:endParaRPr lang="en-US" sz="3450" dirty="0"/>
          </a:p>
        </p:txBody>
      </p:sp>
      <p:sp>
        <p:nvSpPr>
          <p:cNvPr id="7" name="Shape 7"/>
          <p:cNvSpPr txBox="1"/>
          <p:nvPr/>
        </p:nvSpPr>
        <p:spPr>
          <a:xfrm>
            <a:off x="685800"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A</a:t>
            </a:r>
            <a:endParaRPr lang="en-US" sz="2100" dirty="0"/>
          </a:p>
        </p:txBody>
      </p:sp>
      <p:sp>
        <p:nvSpPr>
          <p:cNvPr id="5" name="Shape 5"/>
          <p:cNvSpPr txBox="1"/>
          <p:nvPr/>
        </p:nvSpPr>
        <p:spPr>
          <a:xfrm>
            <a:off x="895350" y="2355342"/>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16171D"/>
                </a:solidFill>
                <a:latin typeface="Segoe UI"/>
                <a:cs typeface="Segoe UI"/>
              </a:rPr>
              <a:t xml:space="preserve">and</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were given.</a:t>
            </a:r>
            <a:endParaRPr lang="en-US" sz="1575" dirty="0"/>
          </a:p>
        </p:txBody>
      </p:sp>
      <p:sp>
        <p:nvSpPr>
          <p:cNvPr id="6" name="Shape 6"/>
          <p:cNvSpPr txBox="1"/>
          <p:nvPr/>
        </p:nvSpPr>
        <p:spPr>
          <a:xfrm>
            <a:off x="895350" y="298551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Just write the equation.</a:t>
            </a:r>
            <a:endParaRPr lang="en-US" sz="1575" dirty="0"/>
          </a:p>
        </p:txBody>
      </p:sp>
      <p:sp>
        <p:nvSpPr>
          <p:cNvPr id="11" name="Shape 11"/>
          <p:cNvSpPr txBox="1"/>
          <p:nvPr/>
        </p:nvSpPr>
        <p:spPr>
          <a:xfrm>
            <a:off x="4349648"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B</a:t>
            </a:r>
            <a:endParaRPr lang="en-US" sz="2100" dirty="0"/>
          </a:p>
        </p:txBody>
      </p:sp>
      <p:sp>
        <p:nvSpPr>
          <p:cNvPr id="9" name="Shape 9"/>
          <p:cNvSpPr txBox="1"/>
          <p:nvPr/>
        </p:nvSpPr>
        <p:spPr>
          <a:xfrm>
            <a:off x="4559198"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was given.</a:t>
            </a:r>
            <a:endParaRPr lang="en-US" sz="1575" dirty="0"/>
          </a:p>
        </p:txBody>
      </p:sp>
      <p:sp>
        <p:nvSpPr>
          <p:cNvPr id="10" name="Shape 10"/>
          <p:cNvSpPr txBox="1"/>
          <p:nvPr/>
        </p:nvSpPr>
        <p:spPr>
          <a:xfrm>
            <a:off x="4559198"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5" name="Shape 15"/>
          <p:cNvSpPr txBox="1"/>
          <p:nvPr/>
        </p:nvSpPr>
        <p:spPr>
          <a:xfrm>
            <a:off x="8013497" y="1713738"/>
            <a:ext cx="3492398" cy="173812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88518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Pool C</a:t>
            </a:r>
            <a:endParaRPr lang="en-US" sz="2100" dirty="0"/>
          </a:p>
        </p:txBody>
      </p:sp>
      <p:sp>
        <p:nvSpPr>
          <p:cNvPr id="13" name="Shape 13"/>
          <p:cNvSpPr txBox="1"/>
          <p:nvPr/>
        </p:nvSpPr>
        <p:spPr>
          <a:xfrm>
            <a:off x="8223047" y="235534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Only two points were given.</a:t>
            </a:r>
            <a:endParaRPr lang="en-US" sz="1575" dirty="0"/>
          </a:p>
        </p:txBody>
      </p:sp>
      <p:sp>
        <p:nvSpPr>
          <p:cNvPr id="14" name="Shape 14"/>
          <p:cNvSpPr txBox="1"/>
          <p:nvPr/>
        </p:nvSpPr>
        <p:spPr>
          <a:xfrm>
            <a:off x="8223047" y="274548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Had to calculate </a:t>
            </a:r>
            <a:r>
              <a:rPr lang="en-US" sz="1575" dirty="0" i="1">
                <a:solidFill>
                  <a:srgbClr val="5F6272"/>
                </a:solidFill>
                <a:latin typeface="Segoe UI"/>
                <a:cs typeface="Segoe UI"/>
              </a:rPr>
              <a:t xml:space="preserve">m</a:t>
            </a:r>
            <a:r>
              <a:rPr lang="en-US" sz="1575" dirty="0">
                <a:solidFill>
                  <a:srgbClr val="5F6272"/>
                </a:solidFill>
                <a:latin typeface="Segoe UI"/>
                <a:cs typeface="Segoe UI"/>
              </a:rPr>
              <a:t xml:space="preserve"> </a:t>
            </a:r>
            <a:r>
              <a:rPr lang="en-US" sz="1575" dirty="0" b="1">
                <a:solidFill>
                  <a:srgbClr val="5F6272"/>
                </a:solidFill>
                <a:latin typeface="Segoe UI"/>
                <a:cs typeface="Segoe UI"/>
              </a:rPr>
              <a:t xml:space="preserve">and</a:t>
            </a:r>
            <a:r>
              <a:rPr lang="en-US" sz="1575" dirty="0">
                <a:solidFill>
                  <a:srgbClr val="5F6272"/>
                </a:solidFill>
                <a:latin typeface="Segoe UI"/>
                <a:cs typeface="Segoe UI"/>
              </a:rPr>
              <a:t xml:space="preserve"> </a:t>
            </a:r>
            <a:r>
              <a:rPr lang="en-US" sz="1575" dirty="0" i="1">
                <a:solidFill>
                  <a:srgbClr val="5F6272"/>
                </a:solidFill>
                <a:latin typeface="Segoe UI"/>
                <a:cs typeface="Segoe UI"/>
              </a:rPr>
              <a:t xml:space="preserve">b</a:t>
            </a:r>
            <a:r>
              <a:rPr lang="en-US" sz="1575" dirty="0">
                <a:solidFill>
                  <a:srgbClr val="5F6272"/>
                </a:solidFill>
                <a:latin typeface="Segoe UI"/>
                <a:cs typeface="Segoe UI"/>
              </a:rPr>
              <a:t xml:space="preserve">.</a:t>
            </a:r>
            <a:endParaRPr lang="en-US" sz="1575" dirty="0"/>
          </a:p>
        </p:txBody>
      </p:sp>
      <p:sp>
        <p:nvSpPr>
          <p:cNvPr id="16" name="Shape 16"/>
          <p:cNvSpPr txBox="1"/>
          <p:nvPr/>
        </p:nvSpPr>
        <p:spPr>
          <a:xfrm>
            <a:off x="685800" y="3851910"/>
            <a:ext cx="7239000" cy="79095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875" dirty="0">
                <a:solidFill>
                  <a:srgbClr val="16171D"/>
                </a:solidFill>
                <a:latin typeface="Segoe UI"/>
                <a:cs typeface="Segoe UI"/>
              </a:rPr>
              <a:t xml:space="preserve">I wonder whether there is a way to make writing the equation of a line more efficient.</a:t>
            </a:r>
            <a:endParaRPr lang="en-US" sz="1875" dirty="0"/>
          </a:p>
        </p:txBody>
      </p:sp>
      <p:sp>
        <p:nvSpPr>
          <p:cNvPr id="17" name="Shape 17"/>
          <p:cNvSpPr txBox="1"/>
          <p:nvPr/>
        </p:nvSpPr>
        <p:spPr>
          <a:xfrm>
            <a:off x="685800" y="4814316"/>
            <a:ext cx="10820095" cy="42062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There is. You don't always need the </a:t>
            </a:r>
            <a:r>
              <a:rPr lang="en-US" sz="2400" dirty="0" i="1">
                <a:solidFill>
                  <a:srgbClr val="16171D"/>
                </a:solidFill>
                <a:latin typeface="Segoe UI"/>
                <a:cs typeface="Segoe UI"/>
              </a:rPr>
              <a:t xml:space="preserve">y</a:t>
            </a:r>
            <a:r>
              <a:rPr lang="en-US" sz="2400" dirty="0">
                <a:solidFill>
                  <a:srgbClr val="16171D"/>
                </a:solidFill>
                <a:latin typeface="Segoe UI"/>
                <a:cs typeface="Segoe UI"/>
              </a:rPr>
              <a:t xml:space="preserve">-intercept. Meet </a:t>
            </a:r>
            <a:r>
              <a:rPr lang="en-US" sz="2400" dirty="0" b="1">
                <a:solidFill>
                  <a:srgbClr val="16171D"/>
                </a:solidFill>
                <a:latin typeface="Segoe UI"/>
                <a:cs typeface="Segoe UI"/>
              </a:rPr>
              <a:t xml:space="preserve">point-slope form</a:t>
            </a:r>
            <a:r>
              <a:rPr lang="en-US" sz="2400" dirty="0">
                <a:solidFill>
                  <a:srgbClr val="16171D"/>
                </a:solidFill>
                <a:latin typeface="Segoe UI"/>
                <a:cs typeface="Segoe UI"/>
              </a:rPr>
              <a:t xml:space="preserve">.</a:t>
            </a:r>
            <a:endParaRPr lang="en-US" sz="2400" dirty="0"/>
          </a:p>
        </p:txBody>
      </p:sp>
      <p:sp>
        <p:nvSpPr>
          <p:cNvPr id="18" name="Slide Number 1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4"/>
                                        </p:tgtEl>
                                        <p:attrNameLst>
                                          <p:attrName>style.visibility</p:attrName>
                                        </p:attrNameLst>
                                      </p:cBhvr>
                                      <p:to>
                                        <p:strVal val="visible"/>
                                      </p:to>
                                    </p:set>
                                    <p:animEffect transition="in" filter="fade">
                                      <p:cBhvr>
                                        <p:cTn id="9" dur="500"/>
                                        <p:tgtEl>
                                          <p:spTgt spid="4"/>
                                        </p:tgtEl>
                                      </p:cBhvr>
                                    </p:animEffect>
                                    <p:anim calcmode="lin" valueType="num">
                                      <p:cBhvr>
                                        <p:cTn id="10" dur="500" fill="hold"/>
                                        <p:tgtEl>
                                          <p:spTgt spid="4"/>
                                        </p:tgtEl>
                                        <p:attrNameLst>
                                          <p:attrName>ppt_x</p:attrName>
                                        </p:attrNameLst>
                                      </p:cBhvr>
                                      <p:tavLst>
                                        <p:tav tm="0">
                                          <p:val>
                                            <p:strVal val="#ppt_x"/>
                                          </p:val>
                                        </p:tav>
                                        <p:tav tm="100000">
                                          <p:val>
                                            <p:strVal val="#ppt_x"/>
                                          </p:val>
                                        </p:tav>
                                      </p:tavLst>
                                    </p:anim>
                                    <p:anim calcmode="lin" valueType="num">
                                      <p:cBhvr>
                                        <p:cTn id="11" dur="500" fill="hold"/>
                                        <p:tgtEl>
                                          <p:spTgt spid="4"/>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5"/>
                                        </p:tgtEl>
                                        <p:attrNameLst>
                                          <p:attrName>style.visibility</p:attrName>
                                        </p:attrNameLst>
                                      </p:cBhvr>
                                      <p:to>
                                        <p:strVal val="visible"/>
                                      </p:to>
                                    </p:set>
                                    <p:animEffect transition="in" filter="fade">
                                      <p:cBhvr>
                                        <p:cTn id="14" dur="500"/>
                                        <p:tgtEl>
                                          <p:spTgt spid="5"/>
                                        </p:tgtEl>
                                      </p:cBhvr>
                                    </p:animEffect>
                                    <p:anim calcmode="lin" valueType="num">
                                      <p:cBhvr>
                                        <p:cTn id="15" dur="500" fill="hold"/>
                                        <p:tgtEl>
                                          <p:spTgt spid="5"/>
                                        </p:tgtEl>
                                        <p:attrNameLst>
                                          <p:attrName>ppt_x</p:attrName>
                                        </p:attrNameLst>
                                      </p:cBhvr>
                                      <p:tavLst>
                                        <p:tav tm="0">
                                          <p:val>
                                            <p:strVal val="#ppt_x"/>
                                          </p:val>
                                        </p:tav>
                                        <p:tav tm="100000">
                                          <p:val>
                                            <p:strVal val="#ppt_x"/>
                                          </p:val>
                                        </p:tav>
                                      </p:tavLst>
                                    </p:anim>
                                    <p:anim calcmode="lin" valueType="num">
                                      <p:cBhvr>
                                        <p:cTn id="16" dur="500" fill="hold"/>
                                        <p:tgtEl>
                                          <p:spTgt spid="5"/>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6"/>
                                        </p:tgtEl>
                                        <p:attrNameLst>
                                          <p:attrName>style.visibility</p:attrName>
                                        </p:attrNameLst>
                                      </p:cBhvr>
                                      <p:to>
                                        <p:strVal val="visible"/>
                                      </p:to>
                                    </p:set>
                                    <p:animEffect transition="in" filter="fade">
                                      <p:cBhvr>
                                        <p:cTn id="19" dur="500"/>
                                        <p:tgtEl>
                                          <p:spTgt spid="6"/>
                                        </p:tgtEl>
                                      </p:cBhvr>
                                    </p:animEffect>
                                    <p:anim calcmode="lin" valueType="num">
                                      <p:cBhvr>
                                        <p:cTn id="20" dur="500" fill="hold"/>
                                        <p:tgtEl>
                                          <p:spTgt spid="6"/>
                                        </p:tgtEl>
                                        <p:attrNameLst>
                                          <p:attrName>ppt_x</p:attrName>
                                        </p:attrNameLst>
                                      </p:cBhvr>
                                      <p:tavLst>
                                        <p:tav tm="0">
                                          <p:val>
                                            <p:strVal val="#ppt_x"/>
                                          </p:val>
                                        </p:tav>
                                        <p:tav tm="100000">
                                          <p:val>
                                            <p:strVal val="#ppt_x"/>
                                          </p:val>
                                        </p:tav>
                                      </p:tavLst>
                                    </p:anim>
                                    <p:anim calcmode="lin" valueType="num">
                                      <p:cBhvr>
                                        <p:cTn id="2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8"/>
                                        </p:tgtEl>
                                        <p:attrNameLst>
                                          <p:attrName>style.visibility</p:attrName>
                                        </p:attrNameLst>
                                      </p:cBhvr>
                                      <p:to>
                                        <p:strVal val="visible"/>
                                      </p:to>
                                    </p:set>
                                    <p:animEffect transition="in" filter="fade">
                                      <p:cBhvr>
                                        <p:cTn id="31" dur="500"/>
                                        <p:tgtEl>
                                          <p:spTgt spid="8"/>
                                        </p:tgtEl>
                                      </p:cBhvr>
                                    </p:animEffect>
                                    <p:anim calcmode="lin" valueType="num">
                                      <p:cBhvr>
                                        <p:cTn id="32" dur="500" fill="hold"/>
                                        <p:tgtEl>
                                          <p:spTgt spid="8"/>
                                        </p:tgtEl>
                                        <p:attrNameLst>
                                          <p:attrName>ppt_x</p:attrName>
                                        </p:attrNameLst>
                                      </p:cBhvr>
                                      <p:tavLst>
                                        <p:tav tm="0">
                                          <p:val>
                                            <p:strVal val="#ppt_x"/>
                                          </p:val>
                                        </p:tav>
                                        <p:tav tm="100000">
                                          <p:val>
                                            <p:strVal val="#ppt_x"/>
                                          </p:val>
                                        </p:tav>
                                      </p:tavLst>
                                    </p:anim>
                                    <p:anim calcmode="lin" valueType="num">
                                      <p:cBhvr>
                                        <p:cTn id="33" dur="500" fill="hold"/>
                                        <p:tgtEl>
                                          <p:spTgt spid="8"/>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9"/>
                                        </p:tgtEl>
                                        <p:attrNameLst>
                                          <p:attrName>style.visibility</p:attrName>
                                        </p:attrNameLst>
                                      </p:cBhvr>
                                      <p:to>
                                        <p:strVal val="visible"/>
                                      </p:to>
                                    </p:set>
                                    <p:animEffect transition="in" filter="fade">
                                      <p:cBhvr>
                                        <p:cTn id="36" dur="500"/>
                                        <p:tgtEl>
                                          <p:spTgt spid="9"/>
                                        </p:tgtEl>
                                      </p:cBhvr>
                                    </p:animEffect>
                                    <p:anim calcmode="lin" valueType="num">
                                      <p:cBhvr>
                                        <p:cTn id="37" dur="500" fill="hold"/>
                                        <p:tgtEl>
                                          <p:spTgt spid="9"/>
                                        </p:tgtEl>
                                        <p:attrNameLst>
                                          <p:attrName>ppt_x</p:attrName>
                                        </p:attrNameLst>
                                      </p:cBhvr>
                                      <p:tavLst>
                                        <p:tav tm="0">
                                          <p:val>
                                            <p:strVal val="#ppt_x"/>
                                          </p:val>
                                        </p:tav>
                                        <p:tav tm="100000">
                                          <p:val>
                                            <p:strVal val="#ppt_x"/>
                                          </p:val>
                                        </p:tav>
                                      </p:tavLst>
                                    </p:anim>
                                    <p:anim calcmode="lin" valueType="num">
                                      <p:cBhvr>
                                        <p:cTn id="38" dur="500" fill="hold"/>
                                        <p:tgtEl>
                                          <p:spTgt spid="9"/>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500"/>
                                        <p:tgtEl>
                                          <p:spTgt spid="10"/>
                                        </p:tgtEl>
                                      </p:cBhvr>
                                    </p:animEffect>
                                    <p:anim calcmode="lin" valueType="num">
                                      <p:cBhvr>
                                        <p:cTn id="42" dur="500" fill="hold"/>
                                        <p:tgtEl>
                                          <p:spTgt spid="10"/>
                                        </p:tgtEl>
                                        <p:attrNameLst>
                                          <p:attrName>ppt_x</p:attrName>
                                        </p:attrNameLst>
                                      </p:cBhvr>
                                      <p:tavLst>
                                        <p:tav tm="0">
                                          <p:val>
                                            <p:strVal val="#ppt_x"/>
                                          </p:val>
                                        </p:tav>
                                        <p:tav tm="100000">
                                          <p:val>
                                            <p:strVal val="#ppt_x"/>
                                          </p:val>
                                        </p:tav>
                                      </p:tavLst>
                                    </p:anim>
                                    <p:anim calcmode="lin" valueType="num">
                                      <p:cBhvr>
                                        <p:cTn id="43"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2"/>
                                        </p:tgtEl>
                                        <p:attrNameLst>
                                          <p:attrName>style.visibility</p:attrName>
                                        </p:attrNameLst>
                                      </p:cBhvr>
                                      <p:to>
                                        <p:strVal val="visible"/>
                                      </p:to>
                                    </p:set>
                                    <p:animEffect transition="in" filter="fade">
                                      <p:cBhvr>
                                        <p:cTn id="53" dur="500"/>
                                        <p:tgtEl>
                                          <p:spTgt spid="12"/>
                                        </p:tgtEl>
                                      </p:cBhvr>
                                    </p:animEffect>
                                    <p:anim calcmode="lin" valueType="num">
                                      <p:cBhvr>
                                        <p:cTn id="54" dur="500" fill="hold"/>
                                        <p:tgtEl>
                                          <p:spTgt spid="12"/>
                                        </p:tgtEl>
                                        <p:attrNameLst>
                                          <p:attrName>ppt_x</p:attrName>
                                        </p:attrNameLst>
                                      </p:cBhvr>
                                      <p:tavLst>
                                        <p:tav tm="0">
                                          <p:val>
                                            <p:strVal val="#ppt_x"/>
                                          </p:val>
                                        </p:tav>
                                        <p:tav tm="100000">
                                          <p:val>
                                            <p:strVal val="#ppt_x"/>
                                          </p:val>
                                        </p:tav>
                                      </p:tavLst>
                                    </p:anim>
                                    <p:anim calcmode="lin" valueType="num">
                                      <p:cBhvr>
                                        <p:cTn id="55" dur="500" fill="hold"/>
                                        <p:tgtEl>
                                          <p:spTgt spid="12"/>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3"/>
                                        </p:tgtEl>
                                        <p:attrNameLst>
                                          <p:attrName>style.visibility</p:attrName>
                                        </p:attrNameLst>
                                      </p:cBhvr>
                                      <p:to>
                                        <p:strVal val="visible"/>
                                      </p:to>
                                    </p:set>
                                    <p:animEffect transition="in" filter="fade">
                                      <p:cBhvr>
                                        <p:cTn id="58" dur="500"/>
                                        <p:tgtEl>
                                          <p:spTgt spid="13"/>
                                        </p:tgtEl>
                                      </p:cBhvr>
                                    </p:animEffect>
                                    <p:anim calcmode="lin" valueType="num">
                                      <p:cBhvr>
                                        <p:cTn id="59" dur="500" fill="hold"/>
                                        <p:tgtEl>
                                          <p:spTgt spid="13"/>
                                        </p:tgtEl>
                                        <p:attrNameLst>
                                          <p:attrName>ppt_x</p:attrName>
                                        </p:attrNameLst>
                                      </p:cBhvr>
                                      <p:tavLst>
                                        <p:tav tm="0">
                                          <p:val>
                                            <p:strVal val="#ppt_x"/>
                                          </p:val>
                                        </p:tav>
                                        <p:tav tm="100000">
                                          <p:val>
                                            <p:strVal val="#ppt_x"/>
                                          </p:val>
                                        </p:tav>
                                      </p:tavLst>
                                    </p:anim>
                                    <p:anim calcmode="lin" valueType="num">
                                      <p:cBhvr>
                                        <p:cTn id="60" dur="500" fill="hold"/>
                                        <p:tgtEl>
                                          <p:spTgt spid="13"/>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500"/>
                                        <p:tgtEl>
                                          <p:spTgt spid="14"/>
                                        </p:tgtEl>
                                      </p:cBhvr>
                                    </p:animEffect>
                                    <p:anim calcmode="lin" valueType="num">
                                      <p:cBhvr>
                                        <p:cTn id="64" dur="500" fill="hold"/>
                                        <p:tgtEl>
                                          <p:spTgt spid="14"/>
                                        </p:tgtEl>
                                        <p:attrNameLst>
                                          <p:attrName>ppt_x</p:attrName>
                                        </p:attrNameLst>
                                      </p:cBhvr>
                                      <p:tavLst>
                                        <p:tav tm="0">
                                          <p:val>
                                            <p:strVal val="#ppt_x"/>
                                          </p:val>
                                        </p:tav>
                                        <p:tav tm="100000">
                                          <p:val>
                                            <p:strVal val="#ppt_x"/>
                                          </p:val>
                                        </p:tav>
                                      </p:tavLst>
                                    </p:anim>
                                    <p:anim calcmode="lin" valueType="num">
                                      <p:cBhvr>
                                        <p:cTn id="65"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4" fill="hold">
                      <p:stCondLst>
                        <p:cond delay="indefinite"/>
                      </p:stCondLst>
                      <p:childTnLst>
                        <p:par>
                          <p:cTn id="75"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81" fill="hold">
                      <p:stCondLst>
                        <p:cond delay="indefinite"/>
                      </p:stCondLst>
                      <p:childTnLst>
                        <p:par>
                          <p:cTn id="82" fill="hold">
                            <p:stCondLst>
                              <p:cond delay="0"/>
                            </p:stCondLst>
                            <p:childTnLst>
                              <p:par>
                                <p:cTn id="80" presetID="42" presetClass="entr" presetSubtype="0" fill="hold" nodeType="clickEffect">
                                  <p:stCondLst>
                                    <p:cond delay="0"/>
                                  </p:stCondLst>
                                  <p:childTnLst>
                                    <p:set>
                                      <p:cBhvr>
                                        <p:cTn id="76" dur="1" fill="hold">
                                          <p:stCondLst>
                                            <p:cond delay="0"/>
                                          </p:stCondLst>
                                        </p:cTn>
                                        <p:tgtEl>
                                          <p:spTgt spid="17"/>
                                        </p:tgtEl>
                                        <p:attrNameLst>
                                          <p:attrName>style.visibility</p:attrName>
                                        </p:attrNameLst>
                                      </p:cBhvr>
                                      <p:to>
                                        <p:strVal val="visible"/>
                                      </p:to>
                                    </p:set>
                                    <p:animEffect transition="in" filter="fade">
                                      <p:cBhvr>
                                        <p:cTn id="77" dur="500"/>
                                        <p:tgtEl>
                                          <p:spTgt spid="17"/>
                                        </p:tgtEl>
                                      </p:cBhvr>
                                    </p:animEffect>
                                    <p:anim calcmode="lin" valueType="num">
                                      <p:cBhvr>
                                        <p:cTn id="78" dur="500" fill="hold"/>
                                        <p:tgtEl>
                                          <p:spTgt spid="17"/>
                                        </p:tgtEl>
                                        <p:attrNameLst>
                                          <p:attrName>ppt_x</p:attrName>
                                        </p:attrNameLst>
                                      </p:cBhvr>
                                      <p:tavLst>
                                        <p:tav tm="0">
                                          <p:val>
                                            <p:strVal val="#ppt_x"/>
                                          </p:val>
                                        </p:tav>
                                        <p:tav tm="100000">
                                          <p:val>
                                            <p:strVal val="#ppt_x"/>
                                          </p:val>
                                        </p:tav>
                                      </p:tavLst>
                                    </p:anim>
                                    <p:anim calcmode="lin" valueType="num">
                                      <p:cBhvr>
                                        <p:cTn id="7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Worked Example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Write an equation from a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4</a:t>
            </a:r>
            <a:endParaRPr lang="en-US" sz="2250" dirty="0"/>
          </a:p>
        </p:txBody>
      </p:sp>
      <p:sp>
        <p:nvSpPr>
          <p:cNvPr id="12" name="Shape 12"/>
          <p:cNvSpPr txBox="1"/>
          <p:nvPr/>
        </p:nvSpPr>
        <p:spPr>
          <a:xfrm>
            <a:off x="3505200" y="161848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First,</a:t>
            </a:r>
            <a:r>
              <a:rPr lang="en-US" sz="1575" dirty="0">
                <a:solidFill>
                  <a:srgbClr val="16171D"/>
                </a:solidFill>
                <a:latin typeface="Segoe UI"/>
                <a:cs typeface="Segoe UI"/>
              </a:rPr>
              <a:t xml:space="preserve"> calculate the slope.</a:t>
            </a:r>
            <a:endParaRPr lang="en-US" sz="1575" dirty="0"/>
          </a:p>
        </p:txBody>
      </p:sp>
      <p:sp>
        <p:nvSpPr>
          <p:cNvPr id="13" name="Shape 13"/>
          <p:cNvSpPr txBox="1"/>
          <p:nvPr/>
        </p:nvSpPr>
        <p:spPr>
          <a:xfrm>
            <a:off x="3505200" y="1970532"/>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y</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2</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1976" dirty="0" baseline="-2500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endParaRPr lang="en-US" sz="2325" dirty="0"/>
          </a:p>
        </p:txBody>
      </p:sp>
      <p:sp>
        <p:nvSpPr>
          <p:cNvPr id="14" name="Shape 14"/>
          <p:cNvSpPr txBox="1"/>
          <p:nvPr/>
        </p:nvSpPr>
        <p:spPr>
          <a:xfrm>
            <a:off x="3505200" y="2436876"/>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Next,</a:t>
            </a:r>
            <a:r>
              <a:rPr lang="en-US" sz="1575" dirty="0">
                <a:solidFill>
                  <a:srgbClr val="16171D"/>
                </a:solidFill>
                <a:latin typeface="Segoe UI"/>
                <a:cs typeface="Segoe UI"/>
              </a:rPr>
              <a:t xml:space="preserve"> choose any point from the table: </a:t>
            </a:r>
            <a:r>
              <a:rPr lang="en-US" sz="2325" dirty="0" b="1">
                <a:solidFill>
                  <a:srgbClr val="3050B8"/>
                </a:solidFill>
                <a:latin typeface="Cambria"/>
                <a:cs typeface="Cambria"/>
              </a:rPr>
              <a:t xml:space="preserve">(2, 6)</a:t>
            </a:r>
            <a:endParaRPr lang="en-US" sz="1575" dirty="0"/>
          </a:p>
        </p:txBody>
      </p:sp>
      <p:sp>
        <p:nvSpPr>
          <p:cNvPr id="15" name="Shape 15"/>
          <p:cNvSpPr txBox="1"/>
          <p:nvPr/>
        </p:nvSpPr>
        <p:spPr>
          <a:xfrm>
            <a:off x="3505200" y="2788920"/>
            <a:ext cx="80006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Then,</a:t>
            </a:r>
            <a:r>
              <a:rPr lang="en-US" sz="1575" dirty="0">
                <a:solidFill>
                  <a:srgbClr val="16171D"/>
                </a:solidFill>
                <a:latin typeface="Segoe UI"/>
                <a:cs typeface="Segoe UI"/>
              </a:rPr>
              <a:t xml:space="preserve"> substitute the slope, (2, 6), and an unknown point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into the slope formula.</a:t>
            </a:r>
            <a:endParaRPr lang="en-US" sz="1575" dirty="0"/>
          </a:p>
        </p:txBody>
      </p:sp>
      <p:sp>
        <p:nvSpPr>
          <p:cNvPr id="16" name="Shape 16"/>
          <p:cNvSpPr txBox="1"/>
          <p:nvPr/>
        </p:nvSpPr>
        <p:spPr>
          <a:xfrm>
            <a:off x="3505200" y="3380994"/>
            <a:ext cx="8000695"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7" name="Shape 17"/>
          <p:cNvSpPr txBox="1"/>
          <p:nvPr/>
        </p:nvSpPr>
        <p:spPr>
          <a:xfrm>
            <a:off x="3505200" y="3847338"/>
            <a:ext cx="8000695"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Finally,</a:t>
            </a:r>
            <a:r>
              <a:rPr lang="en-US" sz="1575" dirty="0">
                <a:solidFill>
                  <a:srgbClr val="16171D"/>
                </a:solidFill>
                <a:latin typeface="Segoe UI"/>
                <a:cs typeface="Segoe UI"/>
              </a:rPr>
              <a:t xml:space="preserve"> multiply both sides by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− 2) so no variable is in a denominator.</a:t>
            </a:r>
            <a:endParaRPr lang="en-US" sz="1575" dirty="0"/>
          </a:p>
        </p:txBody>
      </p:sp>
      <p:sp>
        <p:nvSpPr>
          <p:cNvPr id="18" name="Shape 18"/>
          <p:cNvSpPr txBox="1"/>
          <p:nvPr/>
        </p:nvSpPr>
        <p:spPr>
          <a:xfrm>
            <a:off x="3505200" y="4199382"/>
            <a:ext cx="506376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2</a:t>
            </a:r>
            <a:r>
              <a:rPr lang="en-US" sz="2325" dirty="0">
                <a:solidFill>
                  <a:srgbClr val="16171D"/>
                </a:solidFill>
                <a:latin typeface="Cambria"/>
                <a:cs typeface="Cambria"/>
              </a:rPr>
              <a:t xml:space="preserve">)</a:t>
            </a:r>
            <a:endParaRPr lang="en-US" sz="2325" dirty="0"/>
          </a:p>
        </p:txBody>
      </p:sp>
      <p:sp>
        <p:nvSpPr>
          <p:cNvPr id="19" name="Slide Number 1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wipe(left)">
                                      <p:cBhvr>
                                        <p:cTn id="11" dur="700"/>
                                        <p:tgtEl>
                                          <p:spTgt spid="13"/>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fade">
                                      <p:cBhvr>
                                        <p:cTn id="16" dur="500"/>
                                        <p:tgtEl>
                                          <p:spTgt spid="14"/>
                                        </p:tgtEl>
                                      </p:cBhvr>
                                    </p:animEffect>
                                    <p:anim calcmode="lin" valueType="num">
                                      <p:cBhvr>
                                        <p:cTn id="17" dur="500" fill="hold"/>
                                        <p:tgtEl>
                                          <p:spTgt spid="14"/>
                                        </p:tgtEl>
                                        <p:attrNameLst>
                                          <p:attrName>ppt_x</p:attrName>
                                        </p:attrNameLst>
                                      </p:cBhvr>
                                      <p:tavLst>
                                        <p:tav tm="0">
                                          <p:val>
                                            <p:strVal val="#ppt_x"/>
                                          </p:val>
                                        </p:tav>
                                        <p:tav tm="100000">
                                          <p:val>
                                            <p:strVal val="#ppt_x"/>
                                          </p:val>
                                        </p:tav>
                                      </p:tavLst>
                                    </p:anim>
                                    <p:anim calcmode="lin" valueType="num">
                                      <p:cBhvr>
                                        <p:cTn id="18"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15"/>
                                        </p:tgtEl>
                                        <p:attrNameLst>
                                          <p:attrName>style.visibility</p:attrName>
                                        </p:attrNameLst>
                                      </p:cBhvr>
                                      <p:to>
                                        <p:strVal val="visible"/>
                                      </p:to>
                                    </p:set>
                                    <p:animEffect transition="in" filter="fade">
                                      <p:cBhvr>
                                        <p:cTn id="23" dur="500"/>
                                        <p:tgtEl>
                                          <p:spTgt spid="15"/>
                                        </p:tgtEl>
                                      </p:cBhvr>
                                    </p:animEffect>
                                    <p:anim calcmode="lin" valueType="num">
                                      <p:cBhvr>
                                        <p:cTn id="24" dur="500" fill="hold"/>
                                        <p:tgtEl>
                                          <p:spTgt spid="15"/>
                                        </p:tgtEl>
                                        <p:attrNameLst>
                                          <p:attrName>ppt_x</p:attrName>
                                        </p:attrNameLst>
                                      </p:cBhvr>
                                      <p:tavLst>
                                        <p:tav tm="0">
                                          <p:val>
                                            <p:strVal val="#ppt_x"/>
                                          </p:val>
                                        </p:tav>
                                        <p:tav tm="100000">
                                          <p:val>
                                            <p:strVal val="#ppt_x"/>
                                          </p:val>
                                        </p:tav>
                                      </p:tavLst>
                                    </p:anim>
                                    <p:anim calcmode="lin" valueType="num">
                                      <p:cBhvr>
                                        <p:cTn id="25"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22" presetClass="entr" presetSubtype="8"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wipe(left)">
                                      <p:cBhvr>
                                        <p:cTn id="30" dur="700"/>
                                        <p:tgtEl>
                                          <p:spTgt spid="16"/>
                                        </p:tgtEl>
                                      </p:cBhvr>
                                    </p:animEffect>
                                  </p:childTnLst>
                                </p:cTn>
                              </p:par>
                            </p:childTnLst>
                          </p:cTn>
                        </p:par>
                      </p:childTnLst>
                    </p:cTn>
                  </p:par>
                  <p:par>
                    <p:cTn id="39" fill="hold">
                      <p:stCondLst>
                        <p:cond delay="indefinite"/>
                      </p:stCondLst>
                      <p:childTnLst>
                        <p:par>
                          <p:cTn id="4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7"/>
                                        </p:tgtEl>
                                        <p:attrNameLst>
                                          <p:attrName>style.visibility</p:attrName>
                                        </p:attrNameLst>
                                      </p:cBhvr>
                                      <p:to>
                                        <p:strVal val="visible"/>
                                      </p:to>
                                    </p:set>
                                    <p:animEffect transition="in" filter="fade">
                                      <p:cBhvr>
                                        <p:cTn id="35" dur="500"/>
                                        <p:tgtEl>
                                          <p:spTgt spid="17"/>
                                        </p:tgtEl>
                                      </p:cBhvr>
                                    </p:animEffect>
                                    <p:anim calcmode="lin" valueType="num">
                                      <p:cBhvr>
                                        <p:cTn id="36" dur="500" fill="hold"/>
                                        <p:tgtEl>
                                          <p:spTgt spid="17"/>
                                        </p:tgtEl>
                                        <p:attrNameLst>
                                          <p:attrName>ppt_x</p:attrName>
                                        </p:attrNameLst>
                                      </p:cBhvr>
                                      <p:tavLst>
                                        <p:tav tm="0">
                                          <p:val>
                                            <p:strVal val="#ppt_x"/>
                                          </p:val>
                                        </p:tav>
                                        <p:tav tm="100000">
                                          <p:val>
                                            <p:strVal val="#ppt_x"/>
                                          </p:val>
                                        </p:tav>
                                      </p:tavLst>
                                    </p:anim>
                                    <p:anim calcmode="lin" valueType="num">
                                      <p:cBhvr>
                                        <p:cTn id="3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6" fill="hold">
                      <p:stCondLst>
                        <p:cond delay="indefinite"/>
                      </p:stCondLst>
                      <p:childTnLst>
                        <p:par>
                          <p:cTn id="47" fill="hold">
                            <p:stCondLst>
                              <p:cond delay="0"/>
                            </p:stCondLst>
                            <p:childTnLst>
                              <p:par>
                                <p:cTn id="45" presetID="53" presetClass="entr" presetSubtype="16" fill="hold" nodeType="clickEffect">
                                  <p:stCondLst>
                                    <p:cond delay="0"/>
                                  </p:stCondLst>
                                  <p:childTnLst>
                                    <p:set>
                                      <p:cBhvr>
                                        <p:cTn id="41" dur="1" fill="hold">
                                          <p:stCondLst>
                                            <p:cond delay="0"/>
                                          </p:stCondLst>
                                        </p:cTn>
                                        <p:tgtEl>
                                          <p:spTgt spid="18"/>
                                        </p:tgtEl>
                                        <p:attrNameLst>
                                          <p:attrName>style.visibility</p:attrName>
                                        </p:attrNameLst>
                                      </p:cBhvr>
                                      <p:to>
                                        <p:strVal val="visible"/>
                                      </p:to>
                                    </p:set>
                                    <p:animEffect transition="in" filter="fade">
                                      <p:cBhvr>
                                        <p:cTn id="42" dur="500"/>
                                        <p:tgtEl>
                                          <p:spTgt spid="18"/>
                                        </p:tgtEl>
                                      </p:cBhvr>
                                    </p:animEffect>
                                    <p:anim calcmode="lin" valueType="num">
                                      <p:cBhvr>
                                        <p:cTn id="43" dur="500" fill="hold"/>
                                        <p:tgtEl>
                                          <p:spTgt spid="18"/>
                                        </p:tgtEl>
                                        <p:attrNameLst>
                                          <p:attrName>ppt_w</p:attrName>
                                        </p:attrNameLst>
                                      </p:cBhvr>
                                      <p:tavLst>
                                        <p:tav tm="0">
                                          <p:val>
                                            <p:fltVal val="0"/>
                                          </p:val>
                                        </p:tav>
                                        <p:tav tm="100000">
                                          <p:val>
                                            <p:strVal val="#ppt_w"/>
                                          </p:val>
                                        </p:tav>
                                      </p:tavLst>
                                    </p:anim>
                                    <p:anim calcmode="lin" valueType="num">
                                      <p:cBhvr>
                                        <p:cTn id="44" dur="500" fill="hold"/>
                                        <p:tgtEl>
                                          <p:spTgt spid="18"/>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Key Term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Point-slope form</a:t>
            </a:r>
            <a:endParaRPr lang="en-US" sz="3450" dirty="0"/>
          </a:p>
        </p:txBody>
      </p:sp>
      <p:sp>
        <p:nvSpPr>
          <p:cNvPr id="4" name="Shape 4"/>
          <p:cNvSpPr txBox="1"/>
          <p:nvPr/>
        </p:nvSpPr>
        <p:spPr>
          <a:xfrm>
            <a:off x="685800" y="1675638"/>
            <a:ext cx="7010095" cy="740664"/>
          </a:xfrm>
          <a:prstGeom prst="rect">
            <a:avLst/>
          </a:prstGeom>
          <a:noFill/>
          <a:ln>
            <a:noFill/>
          </a:ln>
        </p:spPr>
        <p:txBody>
          <a:bodyPr wrap="square" lIns="36576" tIns="27432" rIns="36576" bIns="27432" anchor="t">
            <a:noAutofit/>
          </a:bodyPr>
          <a:lstStyle/>
          <a:p>
            <a:pPr algn="l">
              <a:lnSpc>
                <a:spcPct val="100000"/>
              </a:lnSpc>
            </a:pPr>
            <a:r>
              <a:rPr lang="en-US" sz="4500" dirty="0" i="1">
                <a:solidFill>
                  <a:srgbClr val="16171D"/>
                </a:solidFill>
                <a:latin typeface="Cambria"/>
                <a:cs typeface="Cambria"/>
              </a:rPr>
              <a:t xml:space="preserve">y</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y</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 = </a:t>
            </a:r>
            <a:r>
              <a:rPr lang="en-US" sz="4500" dirty="0" b="1" i="1">
                <a:solidFill>
                  <a:srgbClr val="C9561F"/>
                </a:solidFill>
                <a:latin typeface="Cambria"/>
                <a:cs typeface="Cambria"/>
              </a:rPr>
              <a:t xml:space="preserve">m</a:t>
            </a:r>
            <a:r>
              <a:rPr lang="en-US" sz="4500" dirty="0">
                <a:solidFill>
                  <a:srgbClr val="16171D"/>
                </a:solidFill>
                <a:latin typeface="Cambria"/>
                <a:cs typeface="Cambria"/>
              </a:rPr>
              <a:t xml:space="preserve">(</a:t>
            </a:r>
            <a:r>
              <a:rPr lang="en-US" sz="4500" dirty="0" i="1">
                <a:solidFill>
                  <a:srgbClr val="16171D"/>
                </a:solidFill>
                <a:latin typeface="Cambria"/>
                <a:cs typeface="Cambria"/>
              </a:rPr>
              <a:t xml:space="preserve">x</a:t>
            </a:r>
            <a:r>
              <a:rPr lang="en-US" sz="4500" dirty="0">
                <a:solidFill>
                  <a:srgbClr val="16171D"/>
                </a:solidFill>
                <a:latin typeface="Cambria"/>
                <a:cs typeface="Cambria"/>
              </a:rPr>
              <a:t xml:space="preserve"> − </a:t>
            </a:r>
            <a:r>
              <a:rPr lang="en-US" sz="4500" dirty="0" b="1" i="1">
                <a:solidFill>
                  <a:srgbClr val="3050B8"/>
                </a:solidFill>
                <a:latin typeface="Cambria"/>
                <a:cs typeface="Cambria"/>
              </a:rPr>
              <a:t xml:space="preserve">x</a:t>
            </a:r>
            <a:r>
              <a:rPr lang="en-US" sz="3825" dirty="0" b="1" baseline="-25000">
                <a:solidFill>
                  <a:srgbClr val="3050B8"/>
                </a:solidFill>
                <a:latin typeface="Cambria"/>
                <a:cs typeface="Cambria"/>
              </a:rPr>
              <a:t xml:space="preserve">1</a:t>
            </a:r>
            <a:r>
              <a:rPr lang="en-US" sz="4500" dirty="0">
                <a:solidFill>
                  <a:srgbClr val="16171D"/>
                </a:solidFill>
                <a:latin typeface="Cambria"/>
                <a:cs typeface="Cambria"/>
              </a:rPr>
              <a:t xml:space="preserve">)</a:t>
            </a:r>
            <a:endParaRPr lang="en-US" sz="4500" dirty="0"/>
          </a:p>
        </p:txBody>
      </p:sp>
      <p:sp>
        <p:nvSpPr>
          <p:cNvPr id="5" name="Shape 5"/>
          <p:cNvSpPr txBox="1"/>
          <p:nvPr/>
        </p:nvSpPr>
        <p:spPr>
          <a:xfrm>
            <a:off x="685800" y="2587752"/>
            <a:ext cx="7010095" cy="35204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1950" dirty="0">
                <a:solidFill>
                  <a:srgbClr val="16171D"/>
                </a:solidFill>
                <a:latin typeface="Segoe UI"/>
                <a:cs typeface="Segoe UI"/>
              </a:rPr>
              <a:t xml:space="preserve"> is the </a:t>
            </a:r>
            <a:r>
              <a:rPr lang="en-US" sz="1950" dirty="0" b="1">
                <a:solidFill>
                  <a:srgbClr val="16171D"/>
                </a:solidFill>
                <a:latin typeface="Segoe UI"/>
                <a:cs typeface="Segoe UI"/>
              </a:rPr>
              <a:t xml:space="preserve">slope</a:t>
            </a:r>
            <a:r>
              <a:rPr lang="en-US" sz="1950" dirty="0">
                <a:solidFill>
                  <a:srgbClr val="16171D"/>
                </a:solidFill>
                <a:latin typeface="Segoe UI"/>
                <a:cs typeface="Segoe UI"/>
              </a:rPr>
              <a:t xml:space="preserve"> of the line.</a:t>
            </a:r>
            <a:endParaRPr lang="en-US" sz="1950" dirty="0"/>
          </a:p>
        </p:txBody>
      </p:sp>
      <p:sp>
        <p:nvSpPr>
          <p:cNvPr id="6" name="Shape 6"/>
          <p:cNvSpPr txBox="1"/>
          <p:nvPr/>
        </p:nvSpPr>
        <p:spPr>
          <a:xfrm>
            <a:off x="685800" y="3111246"/>
            <a:ext cx="7010095" cy="6492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3050B8"/>
                </a:solidFill>
                <a:latin typeface="Cambria"/>
                <a:cs typeface="Cambria"/>
              </a:rPr>
              <a:t xml:space="preserve">(</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b="1">
                <a:solidFill>
                  <a:srgbClr val="3050B8"/>
                </a:solidFill>
                <a:latin typeface="Cambria"/>
                <a:cs typeface="Cambria"/>
              </a:rPr>
              <a:t xml:space="preserve">)</a:t>
            </a:r>
            <a:r>
              <a:rPr lang="en-US" sz="1950" dirty="0">
                <a:solidFill>
                  <a:srgbClr val="16171D"/>
                </a:solidFill>
                <a:latin typeface="Segoe UI"/>
                <a:cs typeface="Segoe UI"/>
              </a:rPr>
              <a:t xml:space="preserve"> is </a:t>
            </a:r>
            <a:r>
              <a:rPr lang="en-US" sz="1950" dirty="0" b="1">
                <a:solidFill>
                  <a:srgbClr val="16171D"/>
                </a:solidFill>
                <a:latin typeface="Segoe UI"/>
                <a:cs typeface="Segoe UI"/>
              </a:rPr>
              <a:t xml:space="preserve">any point</a:t>
            </a:r>
            <a:r>
              <a:rPr lang="en-US" sz="1950" dirty="0">
                <a:solidFill>
                  <a:srgbClr val="16171D"/>
                </a:solidFill>
                <a:latin typeface="Segoe UI"/>
                <a:cs typeface="Segoe UI"/>
              </a:rPr>
              <a:t xml:space="preserve"> on the line. It does not have to be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9" name="Shape 9"/>
          <p:cNvSpPr txBox="1"/>
          <p:nvPr/>
        </p:nvSpPr>
        <p:spPr>
          <a:xfrm>
            <a:off x="685800" y="4027170"/>
            <a:ext cx="7010095" cy="127939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895350" y="4198620"/>
            <a:ext cx="65909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Example:</a:t>
            </a:r>
            <a:r>
              <a:rPr lang="en-US" sz="1950" dirty="0">
                <a:solidFill>
                  <a:srgbClr val="16171D"/>
                </a:solidFill>
                <a:latin typeface="Segoe UI"/>
                <a:cs typeface="Segoe UI"/>
              </a:rPr>
              <a:t xml:space="preserve"> slope </a:t>
            </a:r>
            <a:r>
              <a:rPr lang="en-US" sz="1950" dirty="0" b="1">
                <a:solidFill>
                  <a:srgbClr val="C9561F"/>
                </a:solidFill>
                <a:latin typeface="Cambria"/>
                <a:cs typeface="Cambria"/>
              </a:rPr>
              <a:t xml:space="preserve">3</a:t>
            </a:r>
            <a:r>
              <a:rPr lang="en-US" sz="1950" dirty="0">
                <a:solidFill>
                  <a:srgbClr val="16171D"/>
                </a:solidFill>
                <a:latin typeface="Segoe UI"/>
                <a:cs typeface="Segoe UI"/>
              </a:rPr>
              <a:t xml:space="preserve"> and point </a:t>
            </a:r>
            <a:r>
              <a:rPr lang="en-US" sz="1950" dirty="0" b="1">
                <a:solidFill>
                  <a:srgbClr val="3050B8"/>
                </a:solidFill>
                <a:latin typeface="Cambria"/>
                <a:cs typeface="Cambria"/>
              </a:rPr>
              <a:t xml:space="preserve">(1, 4)</a:t>
            </a:r>
            <a:endParaRPr lang="en-US" sz="1950" dirty="0"/>
          </a:p>
        </p:txBody>
      </p:sp>
      <p:sp>
        <p:nvSpPr>
          <p:cNvPr id="8" name="Shape 8"/>
          <p:cNvSpPr txBox="1"/>
          <p:nvPr/>
        </p:nvSpPr>
        <p:spPr>
          <a:xfrm>
            <a:off x="895350" y="4645914"/>
            <a:ext cx="65909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hape 10"/>
          <p:cNvSpPr/>
          <p:nvPr/>
        </p:nvSpPr>
        <p:spPr>
          <a:xfrm>
            <a:off x="8076895" y="1618488"/>
            <a:ext cx="3429000" cy="3810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400745" y="1732788"/>
            <a:ext cx="0" cy="3448050"/>
          </a:xfrm>
          <a:prstGeom prst="line">
            <a:avLst/>
          </a:prstGeom>
          <a:ln w="9525" cap="flat">
            <a:solidFill>
              <a:srgbClr val="E6E8F2"/>
            </a:solidFill>
          </a:ln>
        </p:spPr>
      </p:cxnSp>
      <p:cxnSp>
        <p:nvCxnSpPr>
          <p:cNvPr id="12" name="Line 12"/>
          <p:cNvCxnSpPr/>
          <p:nvPr/>
        </p:nvCxnSpPr>
        <p:spPr>
          <a:xfrm>
            <a:off x="8899220" y="1732788"/>
            <a:ext cx="0" cy="3448050"/>
          </a:xfrm>
          <a:prstGeom prst="line">
            <a:avLst/>
          </a:prstGeom>
          <a:ln w="9525" cap="flat">
            <a:solidFill>
              <a:srgbClr val="E6E8F2"/>
            </a:solidFill>
          </a:ln>
        </p:spPr>
      </p:cxnSp>
      <p:cxnSp>
        <p:nvCxnSpPr>
          <p:cNvPr id="13" name="Line 13"/>
          <p:cNvCxnSpPr/>
          <p:nvPr/>
        </p:nvCxnSpPr>
        <p:spPr>
          <a:xfrm>
            <a:off x="9397695" y="1732788"/>
            <a:ext cx="0" cy="3448050"/>
          </a:xfrm>
          <a:prstGeom prst="line">
            <a:avLst/>
          </a:prstGeom>
          <a:ln w="9525" cap="flat">
            <a:solidFill>
              <a:srgbClr val="E6E8F2"/>
            </a:solidFill>
          </a:ln>
        </p:spPr>
      </p:cxnSp>
      <p:cxnSp>
        <p:nvCxnSpPr>
          <p:cNvPr id="14" name="Line 14"/>
          <p:cNvCxnSpPr/>
          <p:nvPr/>
        </p:nvCxnSpPr>
        <p:spPr>
          <a:xfrm>
            <a:off x="9896170" y="1732788"/>
            <a:ext cx="0" cy="3448050"/>
          </a:xfrm>
          <a:prstGeom prst="line">
            <a:avLst/>
          </a:prstGeom>
          <a:ln w="9525" cap="flat">
            <a:solidFill>
              <a:srgbClr val="E6E8F2"/>
            </a:solidFill>
          </a:ln>
        </p:spPr>
      </p:cxnSp>
      <p:cxnSp>
        <p:nvCxnSpPr>
          <p:cNvPr id="15" name="Line 15"/>
          <p:cNvCxnSpPr/>
          <p:nvPr/>
        </p:nvCxnSpPr>
        <p:spPr>
          <a:xfrm>
            <a:off x="10394645" y="1732788"/>
            <a:ext cx="0" cy="3448050"/>
          </a:xfrm>
          <a:prstGeom prst="line">
            <a:avLst/>
          </a:prstGeom>
          <a:ln w="9525" cap="flat">
            <a:solidFill>
              <a:srgbClr val="E6E8F2"/>
            </a:solidFill>
          </a:ln>
        </p:spPr>
      </p:cxnSp>
      <p:cxnSp>
        <p:nvCxnSpPr>
          <p:cNvPr id="16" name="Line 16"/>
          <p:cNvCxnSpPr/>
          <p:nvPr/>
        </p:nvCxnSpPr>
        <p:spPr>
          <a:xfrm>
            <a:off x="10893120" y="1732788"/>
            <a:ext cx="0" cy="3448050"/>
          </a:xfrm>
          <a:prstGeom prst="line">
            <a:avLst/>
          </a:prstGeom>
          <a:ln w="9525" cap="flat">
            <a:solidFill>
              <a:srgbClr val="E6E8F2"/>
            </a:solidFill>
          </a:ln>
        </p:spPr>
      </p:cxnSp>
      <p:cxnSp>
        <p:nvCxnSpPr>
          <p:cNvPr id="17" name="Line 17"/>
          <p:cNvCxnSpPr/>
          <p:nvPr/>
        </p:nvCxnSpPr>
        <p:spPr>
          <a:xfrm>
            <a:off x="11391595" y="1732788"/>
            <a:ext cx="0" cy="3448050"/>
          </a:xfrm>
          <a:prstGeom prst="line">
            <a:avLst/>
          </a:prstGeom>
          <a:ln w="9525" cap="flat">
            <a:solidFill>
              <a:srgbClr val="E6E8F2"/>
            </a:solidFill>
          </a:ln>
        </p:spPr>
      </p:cxnSp>
      <p:cxnSp>
        <p:nvCxnSpPr>
          <p:cNvPr id="18" name="Line 18"/>
          <p:cNvCxnSpPr/>
          <p:nvPr/>
        </p:nvCxnSpPr>
        <p:spPr>
          <a:xfrm>
            <a:off x="8400745" y="5180838"/>
            <a:ext cx="2990850" cy="0"/>
          </a:xfrm>
          <a:prstGeom prst="line">
            <a:avLst/>
          </a:prstGeom>
          <a:ln w="9525" cap="flat">
            <a:solidFill>
              <a:srgbClr val="E6E8F2"/>
            </a:solidFill>
          </a:ln>
        </p:spPr>
      </p:cxnSp>
      <p:cxnSp>
        <p:nvCxnSpPr>
          <p:cNvPr id="19" name="Line 19"/>
          <p:cNvCxnSpPr/>
          <p:nvPr/>
        </p:nvCxnSpPr>
        <p:spPr>
          <a:xfrm>
            <a:off x="8400745" y="4934549"/>
            <a:ext cx="2990850" cy="0"/>
          </a:xfrm>
          <a:prstGeom prst="line">
            <a:avLst/>
          </a:prstGeom>
          <a:ln w="9525" cap="flat">
            <a:solidFill>
              <a:srgbClr val="E6E8F2"/>
            </a:solidFill>
          </a:ln>
        </p:spPr>
      </p:cxnSp>
      <p:cxnSp>
        <p:nvCxnSpPr>
          <p:cNvPr id="20" name="Line 20"/>
          <p:cNvCxnSpPr/>
          <p:nvPr/>
        </p:nvCxnSpPr>
        <p:spPr>
          <a:xfrm>
            <a:off x="8400745" y="4688259"/>
            <a:ext cx="2990850" cy="0"/>
          </a:xfrm>
          <a:prstGeom prst="line">
            <a:avLst/>
          </a:prstGeom>
          <a:ln w="9525" cap="flat">
            <a:solidFill>
              <a:srgbClr val="E6E8F2"/>
            </a:solidFill>
          </a:ln>
        </p:spPr>
      </p:cxnSp>
      <p:cxnSp>
        <p:nvCxnSpPr>
          <p:cNvPr id="21" name="Line 21"/>
          <p:cNvCxnSpPr/>
          <p:nvPr/>
        </p:nvCxnSpPr>
        <p:spPr>
          <a:xfrm>
            <a:off x="8400745" y="4441970"/>
            <a:ext cx="2990850" cy="0"/>
          </a:xfrm>
          <a:prstGeom prst="line">
            <a:avLst/>
          </a:prstGeom>
          <a:ln w="9525" cap="flat">
            <a:solidFill>
              <a:srgbClr val="E6E8F2"/>
            </a:solidFill>
          </a:ln>
        </p:spPr>
      </p:cxnSp>
      <p:cxnSp>
        <p:nvCxnSpPr>
          <p:cNvPr id="22" name="Line 22"/>
          <p:cNvCxnSpPr/>
          <p:nvPr/>
        </p:nvCxnSpPr>
        <p:spPr>
          <a:xfrm>
            <a:off x="8400745" y="4195681"/>
            <a:ext cx="2990850" cy="0"/>
          </a:xfrm>
          <a:prstGeom prst="line">
            <a:avLst/>
          </a:prstGeom>
          <a:ln w="9525" cap="flat">
            <a:solidFill>
              <a:srgbClr val="E6E8F2"/>
            </a:solidFill>
          </a:ln>
        </p:spPr>
      </p:cxnSp>
      <p:cxnSp>
        <p:nvCxnSpPr>
          <p:cNvPr id="23" name="Line 23"/>
          <p:cNvCxnSpPr/>
          <p:nvPr/>
        </p:nvCxnSpPr>
        <p:spPr>
          <a:xfrm>
            <a:off x="8400745" y="3949392"/>
            <a:ext cx="2990850" cy="0"/>
          </a:xfrm>
          <a:prstGeom prst="line">
            <a:avLst/>
          </a:prstGeom>
          <a:ln w="9525" cap="flat">
            <a:solidFill>
              <a:srgbClr val="E6E8F2"/>
            </a:solidFill>
          </a:ln>
        </p:spPr>
      </p:cxnSp>
      <p:cxnSp>
        <p:nvCxnSpPr>
          <p:cNvPr id="24" name="Line 24"/>
          <p:cNvCxnSpPr/>
          <p:nvPr/>
        </p:nvCxnSpPr>
        <p:spPr>
          <a:xfrm>
            <a:off x="8400745" y="3703102"/>
            <a:ext cx="2990850" cy="0"/>
          </a:xfrm>
          <a:prstGeom prst="line">
            <a:avLst/>
          </a:prstGeom>
          <a:ln w="9525" cap="flat">
            <a:solidFill>
              <a:srgbClr val="E6E8F2"/>
            </a:solidFill>
          </a:ln>
        </p:spPr>
      </p:cxnSp>
      <p:cxnSp>
        <p:nvCxnSpPr>
          <p:cNvPr id="25" name="Line 25"/>
          <p:cNvCxnSpPr/>
          <p:nvPr/>
        </p:nvCxnSpPr>
        <p:spPr>
          <a:xfrm>
            <a:off x="8400745" y="3456813"/>
            <a:ext cx="2990850" cy="0"/>
          </a:xfrm>
          <a:prstGeom prst="line">
            <a:avLst/>
          </a:prstGeom>
          <a:ln w="9525" cap="flat">
            <a:solidFill>
              <a:srgbClr val="E6E8F2"/>
            </a:solidFill>
          </a:ln>
        </p:spPr>
      </p:cxnSp>
      <p:cxnSp>
        <p:nvCxnSpPr>
          <p:cNvPr id="26" name="Line 26"/>
          <p:cNvCxnSpPr/>
          <p:nvPr/>
        </p:nvCxnSpPr>
        <p:spPr>
          <a:xfrm>
            <a:off x="8400745" y="3210524"/>
            <a:ext cx="2990850" cy="0"/>
          </a:xfrm>
          <a:prstGeom prst="line">
            <a:avLst/>
          </a:prstGeom>
          <a:ln w="9525" cap="flat">
            <a:solidFill>
              <a:srgbClr val="E6E8F2"/>
            </a:solidFill>
          </a:ln>
        </p:spPr>
      </p:cxnSp>
      <p:cxnSp>
        <p:nvCxnSpPr>
          <p:cNvPr id="27" name="Line 27"/>
          <p:cNvCxnSpPr/>
          <p:nvPr/>
        </p:nvCxnSpPr>
        <p:spPr>
          <a:xfrm>
            <a:off x="8400745" y="2964234"/>
            <a:ext cx="2990850" cy="0"/>
          </a:xfrm>
          <a:prstGeom prst="line">
            <a:avLst/>
          </a:prstGeom>
          <a:ln w="9525" cap="flat">
            <a:solidFill>
              <a:srgbClr val="E6E8F2"/>
            </a:solidFill>
          </a:ln>
        </p:spPr>
      </p:cxnSp>
      <p:cxnSp>
        <p:nvCxnSpPr>
          <p:cNvPr id="28" name="Line 28"/>
          <p:cNvCxnSpPr/>
          <p:nvPr/>
        </p:nvCxnSpPr>
        <p:spPr>
          <a:xfrm>
            <a:off x="8400745" y="2717945"/>
            <a:ext cx="2990850" cy="0"/>
          </a:xfrm>
          <a:prstGeom prst="line">
            <a:avLst/>
          </a:prstGeom>
          <a:ln w="9525" cap="flat">
            <a:solidFill>
              <a:srgbClr val="E6E8F2"/>
            </a:solidFill>
          </a:ln>
        </p:spPr>
      </p:cxnSp>
      <p:cxnSp>
        <p:nvCxnSpPr>
          <p:cNvPr id="29" name="Line 29"/>
          <p:cNvCxnSpPr/>
          <p:nvPr/>
        </p:nvCxnSpPr>
        <p:spPr>
          <a:xfrm>
            <a:off x="8400745" y="2471656"/>
            <a:ext cx="2990850" cy="0"/>
          </a:xfrm>
          <a:prstGeom prst="line">
            <a:avLst/>
          </a:prstGeom>
          <a:ln w="9525" cap="flat">
            <a:solidFill>
              <a:srgbClr val="E6E8F2"/>
            </a:solidFill>
          </a:ln>
        </p:spPr>
      </p:cxnSp>
      <p:cxnSp>
        <p:nvCxnSpPr>
          <p:cNvPr id="30" name="Line 30"/>
          <p:cNvCxnSpPr/>
          <p:nvPr/>
        </p:nvCxnSpPr>
        <p:spPr>
          <a:xfrm>
            <a:off x="8400745" y="2225367"/>
            <a:ext cx="2990850" cy="0"/>
          </a:xfrm>
          <a:prstGeom prst="line">
            <a:avLst/>
          </a:prstGeom>
          <a:ln w="9525" cap="flat">
            <a:solidFill>
              <a:srgbClr val="E6E8F2"/>
            </a:solidFill>
          </a:ln>
        </p:spPr>
      </p:cxnSp>
      <p:cxnSp>
        <p:nvCxnSpPr>
          <p:cNvPr id="31" name="Line 31"/>
          <p:cNvCxnSpPr/>
          <p:nvPr/>
        </p:nvCxnSpPr>
        <p:spPr>
          <a:xfrm>
            <a:off x="8400745" y="1979077"/>
            <a:ext cx="2990850" cy="0"/>
          </a:xfrm>
          <a:prstGeom prst="line">
            <a:avLst/>
          </a:prstGeom>
          <a:ln w="9525" cap="flat">
            <a:solidFill>
              <a:srgbClr val="E6E8F2"/>
            </a:solidFill>
          </a:ln>
        </p:spPr>
      </p:cxnSp>
      <p:cxnSp>
        <p:nvCxnSpPr>
          <p:cNvPr id="32" name="Line 32"/>
          <p:cNvCxnSpPr/>
          <p:nvPr/>
        </p:nvCxnSpPr>
        <p:spPr>
          <a:xfrm>
            <a:off x="8400745" y="1732788"/>
            <a:ext cx="2990850" cy="0"/>
          </a:xfrm>
          <a:prstGeom prst="line">
            <a:avLst/>
          </a:prstGeom>
          <a:ln w="9525" cap="flat">
            <a:solidFill>
              <a:srgbClr val="E6E8F2"/>
            </a:solidFill>
          </a:ln>
        </p:spPr>
      </p:cxnSp>
      <p:cxnSp>
        <p:nvCxnSpPr>
          <p:cNvPr id="33" name="Line 33"/>
          <p:cNvCxnSpPr/>
          <p:nvPr/>
        </p:nvCxnSpPr>
        <p:spPr>
          <a:xfrm>
            <a:off x="9397695" y="1732788"/>
            <a:ext cx="0" cy="3448050"/>
          </a:xfrm>
          <a:prstGeom prst="line">
            <a:avLst/>
          </a:prstGeom>
          <a:ln w="19050" cap="flat">
            <a:solidFill>
              <a:srgbClr val="5F6272"/>
            </a:solidFill>
          </a:ln>
        </p:spPr>
      </p:cxnSp>
      <p:cxnSp>
        <p:nvCxnSpPr>
          <p:cNvPr id="34" name="Line 34"/>
          <p:cNvCxnSpPr/>
          <p:nvPr/>
        </p:nvCxnSpPr>
        <p:spPr>
          <a:xfrm>
            <a:off x="8400745" y="4195681"/>
            <a:ext cx="2990850" cy="0"/>
          </a:xfrm>
          <a:prstGeom prst="line">
            <a:avLst/>
          </a:prstGeom>
          <a:ln w="19050" cap="flat">
            <a:solidFill>
              <a:srgbClr val="5F6272"/>
            </a:solidFill>
          </a:ln>
        </p:spPr>
      </p:cxnSp>
      <p:sp>
        <p:nvSpPr>
          <p:cNvPr id="35" name="Shape 35"/>
          <p:cNvSpPr txBox="1"/>
          <p:nvPr/>
        </p:nvSpPr>
        <p:spPr>
          <a:xfrm>
            <a:off x="81264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36" name="Shape 36"/>
          <p:cNvSpPr txBox="1"/>
          <p:nvPr/>
        </p:nvSpPr>
        <p:spPr>
          <a:xfrm>
            <a:off x="86249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7" name="Shape 37"/>
          <p:cNvSpPr txBox="1"/>
          <p:nvPr/>
        </p:nvSpPr>
        <p:spPr>
          <a:xfrm>
            <a:off x="91233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8" name="Shape 38"/>
          <p:cNvSpPr txBox="1"/>
          <p:nvPr/>
        </p:nvSpPr>
        <p:spPr>
          <a:xfrm>
            <a:off x="962185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39" name="Shape 39"/>
          <p:cNvSpPr txBox="1"/>
          <p:nvPr/>
        </p:nvSpPr>
        <p:spPr>
          <a:xfrm>
            <a:off x="1012032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0" name="Shape 40"/>
          <p:cNvSpPr txBox="1"/>
          <p:nvPr/>
        </p:nvSpPr>
        <p:spPr>
          <a:xfrm>
            <a:off x="10618800"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1" name="Shape 41"/>
          <p:cNvSpPr txBox="1"/>
          <p:nvPr/>
        </p:nvSpPr>
        <p:spPr>
          <a:xfrm>
            <a:off x="11117275" y="5199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2" name="Shape 42"/>
          <p:cNvSpPr txBox="1"/>
          <p:nvPr/>
        </p:nvSpPr>
        <p:spPr>
          <a:xfrm>
            <a:off x="7833817" y="5089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3" name="Shape 43"/>
          <p:cNvSpPr txBox="1"/>
          <p:nvPr/>
        </p:nvSpPr>
        <p:spPr>
          <a:xfrm>
            <a:off x="7833817" y="459681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4" name="Shape 44"/>
          <p:cNvSpPr txBox="1"/>
          <p:nvPr/>
        </p:nvSpPr>
        <p:spPr>
          <a:xfrm>
            <a:off x="7833817" y="4104241"/>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7833817" y="361166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46" name="Shape 46"/>
          <p:cNvSpPr txBox="1"/>
          <p:nvPr/>
        </p:nvSpPr>
        <p:spPr>
          <a:xfrm>
            <a:off x="7833817" y="3119084"/>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47" name="Shape 47"/>
          <p:cNvSpPr txBox="1"/>
          <p:nvPr/>
        </p:nvSpPr>
        <p:spPr>
          <a:xfrm>
            <a:off x="7833817" y="262650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48" name="Shape 48"/>
          <p:cNvSpPr txBox="1"/>
          <p:nvPr/>
        </p:nvSpPr>
        <p:spPr>
          <a:xfrm>
            <a:off x="7833817" y="2133927"/>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49" name="Shape 49"/>
          <p:cNvSpPr txBox="1"/>
          <p:nvPr/>
        </p:nvSpPr>
        <p:spPr>
          <a:xfrm>
            <a:off x="78338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10</a:t>
            </a:r>
            <a:endParaRPr lang="en-US" sz="975" dirty="0"/>
          </a:p>
        </p:txBody>
      </p:sp>
      <p:cxnSp>
        <p:nvCxnSpPr>
          <p:cNvPr id="50" name="Line 50"/>
          <p:cNvCxnSpPr/>
          <p:nvPr/>
        </p:nvCxnSpPr>
        <p:spPr>
          <a:xfrm flipV="1">
            <a:off x="8566904" y="1732788"/>
            <a:ext cx="2326217" cy="3448050"/>
          </a:xfrm>
          <a:prstGeom prst="line">
            <a:avLst/>
          </a:prstGeom>
          <a:ln w="38100" cap="rnd">
            <a:solidFill>
              <a:srgbClr val="16171D"/>
            </a:solidFill>
          </a:ln>
        </p:spPr>
      </p:cxnSp>
      <p:sp>
        <p:nvSpPr>
          <p:cNvPr id="51" name="Shape 51"/>
          <p:cNvSpPr/>
          <p:nvPr/>
        </p:nvSpPr>
        <p:spPr>
          <a:xfrm>
            <a:off x="9843783" y="31581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2" name="Shape 52"/>
          <p:cNvSpPr txBox="1"/>
          <p:nvPr/>
        </p:nvSpPr>
        <p:spPr>
          <a:xfrm>
            <a:off x="9981895" y="2962874"/>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(1, 4)</a:t>
            </a:r>
            <a:endParaRPr lang="en-US" sz="1125" dirty="0"/>
          </a:p>
        </p:txBody>
      </p:sp>
      <p:sp>
        <p:nvSpPr>
          <p:cNvPr id="53" name="Slide Number 5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wipe(left)">
                                      <p:cBhvr>
                                        <p:cTn id="4" dur="700"/>
                                        <p:tgtEl>
                                          <p:spTgt spid="4"/>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5"/>
                                        </p:tgtEl>
                                        <p:attrNameLst>
                                          <p:attrName>style.visibility</p:attrName>
                                        </p:attrNameLst>
                                      </p:cBhvr>
                                      <p:to>
                                        <p:strVal val="visible"/>
                                      </p:to>
                                    </p:set>
                                    <p:animEffect transition="in" filter="fade">
                                      <p:cBhvr>
                                        <p:cTn id="9" dur="500"/>
                                        <p:tgtEl>
                                          <p:spTgt spid="5"/>
                                        </p:tgtEl>
                                      </p:cBhvr>
                                    </p:animEffect>
                                    <p:anim calcmode="lin" valueType="num">
                                      <p:cBhvr>
                                        <p:cTn id="10" dur="500" fill="hold"/>
                                        <p:tgtEl>
                                          <p:spTgt spid="5"/>
                                        </p:tgtEl>
                                        <p:attrNameLst>
                                          <p:attrName>ppt_x</p:attrName>
                                        </p:attrNameLst>
                                      </p:cBhvr>
                                      <p:tavLst>
                                        <p:tav tm="0">
                                          <p:val>
                                            <p:strVal val="#ppt_x"/>
                                          </p:val>
                                        </p:tav>
                                        <p:tav tm="100000">
                                          <p:val>
                                            <p:strVal val="#ppt_x"/>
                                          </p:val>
                                        </p:tav>
                                      </p:tavLst>
                                    </p:anim>
                                    <p:anim calcmode="lin" valueType="num">
                                      <p:cBhvr>
                                        <p:cTn id="11"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37" fill="hold">
                      <p:stCondLst>
                        <p:cond delay="indefinite"/>
                      </p:stCondLst>
                      <p:childTnLst>
                        <p:par>
                          <p:cTn id="3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9"/>
                                        </p:tgtEl>
                                        <p:attrNameLst>
                                          <p:attrName>style.visibility</p:attrName>
                                        </p:attrNameLst>
                                      </p:cBhvr>
                                      <p:to>
                                        <p:strVal val="visible"/>
                                      </p:to>
                                    </p:set>
                                    <p:animEffect transition="in" filter="fade">
                                      <p:cBhvr>
                                        <p:cTn id="23" dur="500"/>
                                        <p:tgtEl>
                                          <p:spTgt spid="9"/>
                                        </p:tgtEl>
                                      </p:cBhvr>
                                    </p:animEffect>
                                    <p:anim calcmode="lin" valueType="num">
                                      <p:cBhvr>
                                        <p:cTn id="24" dur="500" fill="hold"/>
                                        <p:tgtEl>
                                          <p:spTgt spid="9"/>
                                        </p:tgtEl>
                                        <p:attrNameLst>
                                          <p:attrName>ppt_x</p:attrName>
                                        </p:attrNameLst>
                                      </p:cBhvr>
                                      <p:tavLst>
                                        <p:tav tm="0">
                                          <p:val>
                                            <p:strVal val="#ppt_x"/>
                                          </p:val>
                                        </p:tav>
                                        <p:tav tm="100000">
                                          <p:val>
                                            <p:strVal val="#ppt_x"/>
                                          </p:val>
                                        </p:tav>
                                      </p:tavLst>
                                    </p:anim>
                                    <p:anim calcmode="lin" valueType="num">
                                      <p:cBhvr>
                                        <p:cTn id="25" dur="500" fill="hold"/>
                                        <p:tgtEl>
                                          <p:spTgt spid="9"/>
                                        </p:tgtEl>
                                        <p:attrNameLst>
                                          <p:attrName>ppt_y</p:attrName>
                                        </p:attrNameLst>
                                      </p:cBhvr>
                                      <p:tavLst>
                                        <p:tav tm="0">
                                          <p:val>
                                            <p:strVal val="#ppt_y+.1"/>
                                          </p:val>
                                        </p:tav>
                                        <p:tav tm="100000">
                                          <p:val>
                                            <p:strVal val="#ppt_y"/>
                                          </p:val>
                                        </p:tav>
                                      </p:tavLst>
                                    </p:anim>
                                  </p:childTnLst>
                                </p:cTn>
                              </p:par>
                              <p:par>
                                <p:cTn id="31" presetID="42" presetClass="entr" presetSubtype="0" fill="hold"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anim calcmode="lin" valueType="num">
                                      <p:cBhvr>
                                        <p:cTn id="29" dur="500" fill="hold"/>
                                        <p:tgtEl>
                                          <p:spTgt spid="7"/>
                                        </p:tgtEl>
                                        <p:attrNameLst>
                                          <p:attrName>ppt_x</p:attrName>
                                        </p:attrNameLst>
                                      </p:cBhvr>
                                      <p:tavLst>
                                        <p:tav tm="0">
                                          <p:val>
                                            <p:strVal val="#ppt_x"/>
                                          </p:val>
                                        </p:tav>
                                        <p:tav tm="100000">
                                          <p:val>
                                            <p:strVal val="#ppt_x"/>
                                          </p:val>
                                        </p:tav>
                                      </p:tavLst>
                                    </p:anim>
                                    <p:anim calcmode="lin" valueType="num">
                                      <p:cBhvr>
                                        <p:cTn id="30" dur="500" fill="hold"/>
                                        <p:tgtEl>
                                          <p:spTgt spid="7"/>
                                        </p:tgtEl>
                                        <p:attrNameLst>
                                          <p:attrName>ppt_y</p:attrName>
                                        </p:attrNameLst>
                                      </p:cBhvr>
                                      <p:tavLst>
                                        <p:tav tm="0">
                                          <p:val>
                                            <p:strVal val="#ppt_y+.1"/>
                                          </p:val>
                                        </p:tav>
                                        <p:tav tm="100000">
                                          <p:val>
                                            <p:strVal val="#ppt_y"/>
                                          </p:val>
                                        </p:tav>
                                      </p:tavLst>
                                    </p:anim>
                                  </p:childTnLst>
                                </p:cTn>
                              </p:par>
                              <p:par>
                                <p:cTn id="36" presetID="42" presetClass="entr" presetSubtype="0" fill="hold" nodeType="withEffect">
                                  <p:stCondLst>
                                    <p:cond delay="0"/>
                                  </p:stCondLst>
                                  <p:childTnLst>
                                    <p:set>
                                      <p:cBhvr>
                                        <p:cTn id="32" dur="1" fill="hold">
                                          <p:stCondLst>
                                            <p:cond delay="0"/>
                                          </p:stCondLst>
                                        </p:cTn>
                                        <p:tgtEl>
                                          <p:spTgt spid="8"/>
                                        </p:tgtEl>
                                        <p:attrNameLst>
                                          <p:attrName>style.visibility</p:attrName>
                                        </p:attrNameLst>
                                      </p:cBhvr>
                                      <p:to>
                                        <p:strVal val="visible"/>
                                      </p:to>
                                    </p:set>
                                    <p:animEffect transition="in" filter="fade">
                                      <p:cBhvr>
                                        <p:cTn id="33" dur="500"/>
                                        <p:tgtEl>
                                          <p:spTgt spid="8"/>
                                        </p:tgtEl>
                                      </p:cBhvr>
                                    </p:animEffect>
                                    <p:anim calcmode="lin" valueType="num">
                                      <p:cBhvr>
                                        <p:cTn id="34" dur="500" fill="hold"/>
                                        <p:tgtEl>
                                          <p:spTgt spid="8"/>
                                        </p:tgtEl>
                                        <p:attrNameLst>
                                          <p:attrName>ppt_x</p:attrName>
                                        </p:attrNameLst>
                                      </p:cBhvr>
                                      <p:tavLst>
                                        <p:tav tm="0">
                                          <p:val>
                                            <p:strVal val="#ppt_x"/>
                                          </p:val>
                                        </p:tav>
                                        <p:tav tm="100000">
                                          <p:val>
                                            <p:strVal val="#ppt_x"/>
                                          </p:val>
                                        </p:tav>
                                      </p:tavLst>
                                    </p:anim>
                                    <p:anim calcmode="lin" valueType="num">
                                      <p:cBhvr>
                                        <p:cTn id="35"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54" fill="hold">
                      <p:stCondLst>
                        <p:cond delay="indefinite"/>
                      </p:stCondLst>
                      <p:childTnLst>
                        <p:par>
                          <p:cTn id="25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par>
                                <p:cTn id="53" presetID="42" presetClass="entr" presetSubtype="0" fill="hold" nodeType="withEffect">
                                  <p:stCondLst>
                                    <p:cond delay="0"/>
                                  </p:stCondLst>
                                  <p:childTnLst>
                                    <p:set>
                                      <p:cBhvr>
                                        <p:cTn id="49" dur="1" fill="hold">
                                          <p:stCondLst>
                                            <p:cond delay="0"/>
                                          </p:stCondLst>
                                        </p:cTn>
                                        <p:tgtEl>
                                          <p:spTgt spid="12"/>
                                        </p:tgtEl>
                                        <p:attrNameLst>
                                          <p:attrName>style.visibility</p:attrName>
                                        </p:attrNameLst>
                                      </p:cBhvr>
                                      <p:to>
                                        <p:strVal val="visible"/>
                                      </p:to>
                                    </p:set>
                                    <p:animEffect transition="in" filter="fade">
                                      <p:cBhvr>
                                        <p:cTn id="50" dur="500"/>
                                        <p:tgtEl>
                                          <p:spTgt spid="12"/>
                                        </p:tgtEl>
                                      </p:cBhvr>
                                    </p:animEffect>
                                    <p:anim calcmode="lin" valueType="num">
                                      <p:cBhvr>
                                        <p:cTn id="51" dur="500" fill="hold"/>
                                        <p:tgtEl>
                                          <p:spTgt spid="12"/>
                                        </p:tgtEl>
                                        <p:attrNameLst>
                                          <p:attrName>ppt_x</p:attrName>
                                        </p:attrNameLst>
                                      </p:cBhvr>
                                      <p:tavLst>
                                        <p:tav tm="0">
                                          <p:val>
                                            <p:strVal val="#ppt_x"/>
                                          </p:val>
                                        </p:tav>
                                        <p:tav tm="100000">
                                          <p:val>
                                            <p:strVal val="#ppt_x"/>
                                          </p:val>
                                        </p:tav>
                                      </p:tavLst>
                                    </p:anim>
                                    <p:anim calcmode="lin" valueType="num">
                                      <p:cBhvr>
                                        <p:cTn id="52" dur="500" fill="hold"/>
                                        <p:tgtEl>
                                          <p:spTgt spid="12"/>
                                        </p:tgtEl>
                                        <p:attrNameLst>
                                          <p:attrName>ppt_y</p:attrName>
                                        </p:attrNameLst>
                                      </p:cBhvr>
                                      <p:tavLst>
                                        <p:tav tm="0">
                                          <p:val>
                                            <p:strVal val="#ppt_y+.1"/>
                                          </p:val>
                                        </p:tav>
                                        <p:tav tm="100000">
                                          <p:val>
                                            <p:strVal val="#ppt_y"/>
                                          </p:val>
                                        </p:tav>
                                      </p:tavLst>
                                    </p:anim>
                                  </p:childTnLst>
                                </p:cTn>
                              </p:par>
                              <p:par>
                                <p:cTn id="58" presetID="42" presetClass="entr" presetSubtype="0" fill="hold" nodeType="withEffect">
                                  <p:stCondLst>
                                    <p:cond delay="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500"/>
                                        <p:tgtEl>
                                          <p:spTgt spid="13"/>
                                        </p:tgtEl>
                                      </p:cBhvr>
                                    </p:animEffect>
                                    <p:anim calcmode="lin" valueType="num">
                                      <p:cBhvr>
                                        <p:cTn id="56" dur="500" fill="hold"/>
                                        <p:tgtEl>
                                          <p:spTgt spid="13"/>
                                        </p:tgtEl>
                                        <p:attrNameLst>
                                          <p:attrName>ppt_x</p:attrName>
                                        </p:attrNameLst>
                                      </p:cBhvr>
                                      <p:tavLst>
                                        <p:tav tm="0">
                                          <p:val>
                                            <p:strVal val="#ppt_x"/>
                                          </p:val>
                                        </p:tav>
                                        <p:tav tm="100000">
                                          <p:val>
                                            <p:strVal val="#ppt_x"/>
                                          </p:val>
                                        </p:tav>
                                      </p:tavLst>
                                    </p:anim>
                                    <p:anim calcmode="lin" valueType="num">
                                      <p:cBhvr>
                                        <p:cTn id="57" dur="500" fill="hold"/>
                                        <p:tgtEl>
                                          <p:spTgt spid="13"/>
                                        </p:tgtEl>
                                        <p:attrNameLst>
                                          <p:attrName>ppt_y</p:attrName>
                                        </p:attrNameLst>
                                      </p:cBhvr>
                                      <p:tavLst>
                                        <p:tav tm="0">
                                          <p:val>
                                            <p:strVal val="#ppt_y+.1"/>
                                          </p:val>
                                        </p:tav>
                                        <p:tav tm="100000">
                                          <p:val>
                                            <p:strVal val="#ppt_y"/>
                                          </p:val>
                                        </p:tav>
                                      </p:tavLst>
                                    </p:anim>
                                  </p:childTnLst>
                                </p:cTn>
                              </p:par>
                              <p:par>
                                <p:cTn id="63" presetID="42" presetClass="entr" presetSubtype="0" fill="hold" nodeType="withEffect">
                                  <p:stCondLst>
                                    <p:cond delay="0"/>
                                  </p:stCondLst>
                                  <p:childTnLst>
                                    <p:set>
                                      <p:cBhvr>
                                        <p:cTn id="59" dur="1" fill="hold">
                                          <p:stCondLst>
                                            <p:cond delay="0"/>
                                          </p:stCondLst>
                                        </p:cTn>
                                        <p:tgtEl>
                                          <p:spTgt spid="14"/>
                                        </p:tgtEl>
                                        <p:attrNameLst>
                                          <p:attrName>style.visibility</p:attrName>
                                        </p:attrNameLst>
                                      </p:cBhvr>
                                      <p:to>
                                        <p:strVal val="visible"/>
                                      </p:to>
                                    </p:set>
                                    <p:animEffect transition="in" filter="fade">
                                      <p:cBhvr>
                                        <p:cTn id="60" dur="500"/>
                                        <p:tgtEl>
                                          <p:spTgt spid="14"/>
                                        </p:tgtEl>
                                      </p:cBhvr>
                                    </p:animEffect>
                                    <p:anim calcmode="lin" valueType="num">
                                      <p:cBhvr>
                                        <p:cTn id="61" dur="500" fill="hold"/>
                                        <p:tgtEl>
                                          <p:spTgt spid="14"/>
                                        </p:tgtEl>
                                        <p:attrNameLst>
                                          <p:attrName>ppt_x</p:attrName>
                                        </p:attrNameLst>
                                      </p:cBhvr>
                                      <p:tavLst>
                                        <p:tav tm="0">
                                          <p:val>
                                            <p:strVal val="#ppt_x"/>
                                          </p:val>
                                        </p:tav>
                                        <p:tav tm="100000">
                                          <p:val>
                                            <p:strVal val="#ppt_x"/>
                                          </p:val>
                                        </p:tav>
                                      </p:tavLst>
                                    </p:anim>
                                    <p:anim calcmode="lin" valueType="num">
                                      <p:cBhvr>
                                        <p:cTn id="62" dur="500" fill="hold"/>
                                        <p:tgtEl>
                                          <p:spTgt spid="14"/>
                                        </p:tgtEl>
                                        <p:attrNameLst>
                                          <p:attrName>ppt_y</p:attrName>
                                        </p:attrNameLst>
                                      </p:cBhvr>
                                      <p:tavLst>
                                        <p:tav tm="0">
                                          <p:val>
                                            <p:strVal val="#ppt_y+.1"/>
                                          </p:val>
                                        </p:tav>
                                        <p:tav tm="100000">
                                          <p:val>
                                            <p:strVal val="#ppt_y"/>
                                          </p:val>
                                        </p:tav>
                                      </p:tavLst>
                                    </p:anim>
                                  </p:childTnLst>
                                </p:cTn>
                              </p:par>
                              <p:par>
                                <p:cTn id="68" presetID="42" presetClass="entr" presetSubtype="0" fill="hold" nodeType="withEffect">
                                  <p:stCondLst>
                                    <p:cond delay="0"/>
                                  </p:stCondLst>
                                  <p:childTnLst>
                                    <p:set>
                                      <p:cBhvr>
                                        <p:cTn id="64" dur="1" fill="hold">
                                          <p:stCondLst>
                                            <p:cond delay="0"/>
                                          </p:stCondLst>
                                        </p:cTn>
                                        <p:tgtEl>
                                          <p:spTgt spid="15"/>
                                        </p:tgtEl>
                                        <p:attrNameLst>
                                          <p:attrName>style.visibility</p:attrName>
                                        </p:attrNameLst>
                                      </p:cBhvr>
                                      <p:to>
                                        <p:strVal val="visible"/>
                                      </p:to>
                                    </p:set>
                                    <p:animEffect transition="in" filter="fade">
                                      <p:cBhvr>
                                        <p:cTn id="65" dur="500"/>
                                        <p:tgtEl>
                                          <p:spTgt spid="15"/>
                                        </p:tgtEl>
                                      </p:cBhvr>
                                    </p:animEffect>
                                    <p:anim calcmode="lin" valueType="num">
                                      <p:cBhvr>
                                        <p:cTn id="66" dur="500" fill="hold"/>
                                        <p:tgtEl>
                                          <p:spTgt spid="15"/>
                                        </p:tgtEl>
                                        <p:attrNameLst>
                                          <p:attrName>ppt_x</p:attrName>
                                        </p:attrNameLst>
                                      </p:cBhvr>
                                      <p:tavLst>
                                        <p:tav tm="0">
                                          <p:val>
                                            <p:strVal val="#ppt_x"/>
                                          </p:val>
                                        </p:tav>
                                        <p:tav tm="100000">
                                          <p:val>
                                            <p:strVal val="#ppt_x"/>
                                          </p:val>
                                        </p:tav>
                                      </p:tavLst>
                                    </p:anim>
                                    <p:anim calcmode="lin" valueType="num">
                                      <p:cBhvr>
                                        <p:cTn id="67" dur="500" fill="hold"/>
                                        <p:tgtEl>
                                          <p:spTgt spid="15"/>
                                        </p:tgtEl>
                                        <p:attrNameLst>
                                          <p:attrName>ppt_y</p:attrName>
                                        </p:attrNameLst>
                                      </p:cBhvr>
                                      <p:tavLst>
                                        <p:tav tm="0">
                                          <p:val>
                                            <p:strVal val="#ppt_y+.1"/>
                                          </p:val>
                                        </p:tav>
                                        <p:tav tm="100000">
                                          <p:val>
                                            <p:strVal val="#ppt_y"/>
                                          </p:val>
                                        </p:tav>
                                      </p:tavLst>
                                    </p:anim>
                                  </p:childTnLst>
                                </p:cTn>
                              </p:par>
                              <p:par>
                                <p:cTn id="73" presetID="42" presetClass="entr" presetSubtype="0" fill="hold" nodeType="withEffect">
                                  <p:stCondLst>
                                    <p:cond delay="0"/>
                                  </p:stCondLst>
                                  <p:childTnLst>
                                    <p:set>
                                      <p:cBhvr>
                                        <p:cTn id="69" dur="1" fill="hold">
                                          <p:stCondLst>
                                            <p:cond delay="0"/>
                                          </p:stCondLst>
                                        </p:cTn>
                                        <p:tgtEl>
                                          <p:spTgt spid="16"/>
                                        </p:tgtEl>
                                        <p:attrNameLst>
                                          <p:attrName>style.visibility</p:attrName>
                                        </p:attrNameLst>
                                      </p:cBhvr>
                                      <p:to>
                                        <p:strVal val="visible"/>
                                      </p:to>
                                    </p:set>
                                    <p:animEffect transition="in" filter="fade">
                                      <p:cBhvr>
                                        <p:cTn id="70" dur="500"/>
                                        <p:tgtEl>
                                          <p:spTgt spid="16"/>
                                        </p:tgtEl>
                                      </p:cBhvr>
                                    </p:animEffect>
                                    <p:anim calcmode="lin" valueType="num">
                                      <p:cBhvr>
                                        <p:cTn id="71" dur="500" fill="hold"/>
                                        <p:tgtEl>
                                          <p:spTgt spid="16"/>
                                        </p:tgtEl>
                                        <p:attrNameLst>
                                          <p:attrName>ppt_x</p:attrName>
                                        </p:attrNameLst>
                                      </p:cBhvr>
                                      <p:tavLst>
                                        <p:tav tm="0">
                                          <p:val>
                                            <p:strVal val="#ppt_x"/>
                                          </p:val>
                                        </p:tav>
                                        <p:tav tm="100000">
                                          <p:val>
                                            <p:strVal val="#ppt_x"/>
                                          </p:val>
                                        </p:tav>
                                      </p:tavLst>
                                    </p:anim>
                                    <p:anim calcmode="lin" valueType="num">
                                      <p:cBhvr>
                                        <p:cTn id="72" dur="500" fill="hold"/>
                                        <p:tgtEl>
                                          <p:spTgt spid="16"/>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17"/>
                                        </p:tgtEl>
                                        <p:attrNameLst>
                                          <p:attrName>style.visibility</p:attrName>
                                        </p:attrNameLst>
                                      </p:cBhvr>
                                      <p:to>
                                        <p:strVal val="visible"/>
                                      </p:to>
                                    </p:set>
                                    <p:animEffect transition="in" filter="fade">
                                      <p:cBhvr>
                                        <p:cTn id="75" dur="500"/>
                                        <p:tgtEl>
                                          <p:spTgt spid="17"/>
                                        </p:tgtEl>
                                      </p:cBhvr>
                                    </p:animEffect>
                                    <p:anim calcmode="lin" valueType="num">
                                      <p:cBhvr>
                                        <p:cTn id="76" dur="500" fill="hold"/>
                                        <p:tgtEl>
                                          <p:spTgt spid="17"/>
                                        </p:tgtEl>
                                        <p:attrNameLst>
                                          <p:attrName>ppt_x</p:attrName>
                                        </p:attrNameLst>
                                      </p:cBhvr>
                                      <p:tavLst>
                                        <p:tav tm="0">
                                          <p:val>
                                            <p:strVal val="#ppt_x"/>
                                          </p:val>
                                        </p:tav>
                                        <p:tav tm="100000">
                                          <p:val>
                                            <p:strVal val="#ppt_x"/>
                                          </p:val>
                                        </p:tav>
                                      </p:tavLst>
                                    </p:anim>
                                    <p:anim calcmode="lin" valueType="num">
                                      <p:cBhvr>
                                        <p:cTn id="77" dur="500" fill="hold"/>
                                        <p:tgtEl>
                                          <p:spTgt spid="17"/>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anim calcmode="lin" valueType="num">
                                      <p:cBhvr>
                                        <p:cTn id="81" dur="500" fill="hold"/>
                                        <p:tgtEl>
                                          <p:spTgt spid="18"/>
                                        </p:tgtEl>
                                        <p:attrNameLst>
                                          <p:attrName>ppt_x</p:attrName>
                                        </p:attrNameLst>
                                      </p:cBhvr>
                                      <p:tavLst>
                                        <p:tav tm="0">
                                          <p:val>
                                            <p:strVal val="#ppt_x"/>
                                          </p:val>
                                        </p:tav>
                                        <p:tav tm="100000">
                                          <p:val>
                                            <p:strVal val="#ppt_x"/>
                                          </p:val>
                                        </p:tav>
                                      </p:tavLst>
                                    </p:anim>
                                    <p:anim calcmode="lin" valueType="num">
                                      <p:cBhvr>
                                        <p:cTn id="82" dur="500" fill="hold"/>
                                        <p:tgtEl>
                                          <p:spTgt spid="18"/>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19"/>
                                        </p:tgtEl>
                                        <p:attrNameLst>
                                          <p:attrName>style.visibility</p:attrName>
                                        </p:attrNameLst>
                                      </p:cBhvr>
                                      <p:to>
                                        <p:strVal val="visible"/>
                                      </p:to>
                                    </p:set>
                                    <p:animEffect transition="in" filter="fade">
                                      <p:cBhvr>
                                        <p:cTn id="85" dur="500"/>
                                        <p:tgtEl>
                                          <p:spTgt spid="19"/>
                                        </p:tgtEl>
                                      </p:cBhvr>
                                    </p:animEffect>
                                    <p:anim calcmode="lin" valueType="num">
                                      <p:cBhvr>
                                        <p:cTn id="86" dur="500" fill="hold"/>
                                        <p:tgtEl>
                                          <p:spTgt spid="19"/>
                                        </p:tgtEl>
                                        <p:attrNameLst>
                                          <p:attrName>ppt_x</p:attrName>
                                        </p:attrNameLst>
                                      </p:cBhvr>
                                      <p:tavLst>
                                        <p:tav tm="0">
                                          <p:val>
                                            <p:strVal val="#ppt_x"/>
                                          </p:val>
                                        </p:tav>
                                        <p:tav tm="100000">
                                          <p:val>
                                            <p:strVal val="#ppt_x"/>
                                          </p:val>
                                        </p:tav>
                                      </p:tavLst>
                                    </p:anim>
                                    <p:anim calcmode="lin" valueType="num">
                                      <p:cBhvr>
                                        <p:cTn id="87" dur="500" fill="hold"/>
                                        <p:tgtEl>
                                          <p:spTgt spid="19"/>
                                        </p:tgtEl>
                                        <p:attrNameLst>
                                          <p:attrName>ppt_y</p:attrName>
                                        </p:attrNameLst>
                                      </p:cBhvr>
                                      <p:tavLst>
                                        <p:tav tm="0">
                                          <p:val>
                                            <p:strVal val="#ppt_y+.1"/>
                                          </p:val>
                                        </p:tav>
                                        <p:tav tm="100000">
                                          <p:val>
                                            <p:strVal val="#ppt_y"/>
                                          </p:val>
                                        </p:tav>
                                      </p:tavLst>
                                    </p:anim>
                                  </p:childTnLst>
                                </p:cTn>
                              </p:par>
                              <p:par>
                                <p:cTn id="93" presetID="42" presetClass="entr" presetSubtype="0" fill="hold" nodeType="withEffect">
                                  <p:stCondLst>
                                    <p:cond delay="0"/>
                                  </p:stCondLst>
                                  <p:childTnLst>
                                    <p:set>
                                      <p:cBhvr>
                                        <p:cTn id="89" dur="1" fill="hold">
                                          <p:stCondLst>
                                            <p:cond delay="0"/>
                                          </p:stCondLst>
                                        </p:cTn>
                                        <p:tgtEl>
                                          <p:spTgt spid="20"/>
                                        </p:tgtEl>
                                        <p:attrNameLst>
                                          <p:attrName>style.visibility</p:attrName>
                                        </p:attrNameLst>
                                      </p:cBhvr>
                                      <p:to>
                                        <p:strVal val="visible"/>
                                      </p:to>
                                    </p:set>
                                    <p:animEffect transition="in" filter="fade">
                                      <p:cBhvr>
                                        <p:cTn id="90" dur="500"/>
                                        <p:tgtEl>
                                          <p:spTgt spid="20"/>
                                        </p:tgtEl>
                                      </p:cBhvr>
                                    </p:animEffect>
                                    <p:anim calcmode="lin" valueType="num">
                                      <p:cBhvr>
                                        <p:cTn id="91" dur="500" fill="hold"/>
                                        <p:tgtEl>
                                          <p:spTgt spid="20"/>
                                        </p:tgtEl>
                                        <p:attrNameLst>
                                          <p:attrName>ppt_x</p:attrName>
                                        </p:attrNameLst>
                                      </p:cBhvr>
                                      <p:tavLst>
                                        <p:tav tm="0">
                                          <p:val>
                                            <p:strVal val="#ppt_x"/>
                                          </p:val>
                                        </p:tav>
                                        <p:tav tm="100000">
                                          <p:val>
                                            <p:strVal val="#ppt_x"/>
                                          </p:val>
                                        </p:tav>
                                      </p:tavLst>
                                    </p:anim>
                                    <p:anim calcmode="lin" valueType="num">
                                      <p:cBhvr>
                                        <p:cTn id="92" dur="500" fill="hold"/>
                                        <p:tgtEl>
                                          <p:spTgt spid="20"/>
                                        </p:tgtEl>
                                        <p:attrNameLst>
                                          <p:attrName>ppt_y</p:attrName>
                                        </p:attrNameLst>
                                      </p:cBhvr>
                                      <p:tavLst>
                                        <p:tav tm="0">
                                          <p:val>
                                            <p:strVal val="#ppt_y+.1"/>
                                          </p:val>
                                        </p:tav>
                                        <p:tav tm="100000">
                                          <p:val>
                                            <p:strVal val="#ppt_y"/>
                                          </p:val>
                                        </p:tav>
                                      </p:tavLst>
                                    </p:anim>
                                  </p:childTnLst>
                                </p:cTn>
                              </p:par>
                              <p:par>
                                <p:cTn id="98" presetID="42" presetClass="entr" presetSubtype="0" fill="hold" nodeType="withEffect">
                                  <p:stCondLst>
                                    <p:cond delay="0"/>
                                  </p:stCondLst>
                                  <p:childTnLst>
                                    <p:set>
                                      <p:cBhvr>
                                        <p:cTn id="94" dur="1" fill="hold">
                                          <p:stCondLst>
                                            <p:cond delay="0"/>
                                          </p:stCondLst>
                                        </p:cTn>
                                        <p:tgtEl>
                                          <p:spTgt spid="21"/>
                                        </p:tgtEl>
                                        <p:attrNameLst>
                                          <p:attrName>style.visibility</p:attrName>
                                        </p:attrNameLst>
                                      </p:cBhvr>
                                      <p:to>
                                        <p:strVal val="visible"/>
                                      </p:to>
                                    </p:set>
                                    <p:animEffect transition="in" filter="fade">
                                      <p:cBhvr>
                                        <p:cTn id="95" dur="500"/>
                                        <p:tgtEl>
                                          <p:spTgt spid="21"/>
                                        </p:tgtEl>
                                      </p:cBhvr>
                                    </p:animEffect>
                                    <p:anim calcmode="lin" valueType="num">
                                      <p:cBhvr>
                                        <p:cTn id="96" dur="500" fill="hold"/>
                                        <p:tgtEl>
                                          <p:spTgt spid="21"/>
                                        </p:tgtEl>
                                        <p:attrNameLst>
                                          <p:attrName>ppt_x</p:attrName>
                                        </p:attrNameLst>
                                      </p:cBhvr>
                                      <p:tavLst>
                                        <p:tav tm="0">
                                          <p:val>
                                            <p:strVal val="#ppt_x"/>
                                          </p:val>
                                        </p:tav>
                                        <p:tav tm="100000">
                                          <p:val>
                                            <p:strVal val="#ppt_x"/>
                                          </p:val>
                                        </p:tav>
                                      </p:tavLst>
                                    </p:anim>
                                    <p:anim calcmode="lin" valueType="num">
                                      <p:cBhvr>
                                        <p:cTn id="97" dur="500" fill="hold"/>
                                        <p:tgtEl>
                                          <p:spTgt spid="21"/>
                                        </p:tgtEl>
                                        <p:attrNameLst>
                                          <p:attrName>ppt_y</p:attrName>
                                        </p:attrNameLst>
                                      </p:cBhvr>
                                      <p:tavLst>
                                        <p:tav tm="0">
                                          <p:val>
                                            <p:strVal val="#ppt_y+.1"/>
                                          </p:val>
                                        </p:tav>
                                        <p:tav tm="100000">
                                          <p:val>
                                            <p:strVal val="#ppt_y"/>
                                          </p:val>
                                        </p:tav>
                                      </p:tavLst>
                                    </p:anim>
                                  </p:childTnLst>
                                </p:cTn>
                              </p:par>
                              <p:par>
                                <p:cTn id="103" presetID="42" presetClass="entr" presetSubtype="0" fill="hold" nodeType="withEffect">
                                  <p:stCondLst>
                                    <p:cond delay="0"/>
                                  </p:stCondLst>
                                  <p:childTnLst>
                                    <p:set>
                                      <p:cBhvr>
                                        <p:cTn id="99" dur="1" fill="hold">
                                          <p:stCondLst>
                                            <p:cond delay="0"/>
                                          </p:stCondLst>
                                        </p:cTn>
                                        <p:tgtEl>
                                          <p:spTgt spid="22"/>
                                        </p:tgtEl>
                                        <p:attrNameLst>
                                          <p:attrName>style.visibility</p:attrName>
                                        </p:attrNameLst>
                                      </p:cBhvr>
                                      <p:to>
                                        <p:strVal val="visible"/>
                                      </p:to>
                                    </p:set>
                                    <p:animEffect transition="in" filter="fade">
                                      <p:cBhvr>
                                        <p:cTn id="100" dur="500"/>
                                        <p:tgtEl>
                                          <p:spTgt spid="22"/>
                                        </p:tgtEl>
                                      </p:cBhvr>
                                    </p:animEffect>
                                    <p:anim calcmode="lin" valueType="num">
                                      <p:cBhvr>
                                        <p:cTn id="101" dur="500" fill="hold"/>
                                        <p:tgtEl>
                                          <p:spTgt spid="22"/>
                                        </p:tgtEl>
                                        <p:attrNameLst>
                                          <p:attrName>ppt_x</p:attrName>
                                        </p:attrNameLst>
                                      </p:cBhvr>
                                      <p:tavLst>
                                        <p:tav tm="0">
                                          <p:val>
                                            <p:strVal val="#ppt_x"/>
                                          </p:val>
                                        </p:tav>
                                        <p:tav tm="100000">
                                          <p:val>
                                            <p:strVal val="#ppt_x"/>
                                          </p:val>
                                        </p:tav>
                                      </p:tavLst>
                                    </p:anim>
                                    <p:anim calcmode="lin" valueType="num">
                                      <p:cBhvr>
                                        <p:cTn id="102" dur="500" fill="hold"/>
                                        <p:tgtEl>
                                          <p:spTgt spid="22"/>
                                        </p:tgtEl>
                                        <p:attrNameLst>
                                          <p:attrName>ppt_y</p:attrName>
                                        </p:attrNameLst>
                                      </p:cBhvr>
                                      <p:tavLst>
                                        <p:tav tm="0">
                                          <p:val>
                                            <p:strVal val="#ppt_y+.1"/>
                                          </p:val>
                                        </p:tav>
                                        <p:tav tm="100000">
                                          <p:val>
                                            <p:strVal val="#ppt_y"/>
                                          </p:val>
                                        </p:tav>
                                      </p:tavLst>
                                    </p:anim>
                                  </p:childTnLst>
                                </p:cTn>
                              </p:par>
                              <p:par>
                                <p:cTn id="108" presetID="42" presetClass="entr" presetSubtype="0" fill="hold" nodeType="withEffect">
                                  <p:stCondLst>
                                    <p:cond delay="0"/>
                                  </p:stCondLst>
                                  <p:childTnLst>
                                    <p:set>
                                      <p:cBhvr>
                                        <p:cTn id="104" dur="1" fill="hold">
                                          <p:stCondLst>
                                            <p:cond delay="0"/>
                                          </p:stCondLst>
                                        </p:cTn>
                                        <p:tgtEl>
                                          <p:spTgt spid="23"/>
                                        </p:tgtEl>
                                        <p:attrNameLst>
                                          <p:attrName>style.visibility</p:attrName>
                                        </p:attrNameLst>
                                      </p:cBhvr>
                                      <p:to>
                                        <p:strVal val="visible"/>
                                      </p:to>
                                    </p:set>
                                    <p:animEffect transition="in" filter="fade">
                                      <p:cBhvr>
                                        <p:cTn id="105" dur="500"/>
                                        <p:tgtEl>
                                          <p:spTgt spid="23"/>
                                        </p:tgtEl>
                                      </p:cBhvr>
                                    </p:animEffect>
                                    <p:anim calcmode="lin" valueType="num">
                                      <p:cBhvr>
                                        <p:cTn id="106" dur="500" fill="hold"/>
                                        <p:tgtEl>
                                          <p:spTgt spid="23"/>
                                        </p:tgtEl>
                                        <p:attrNameLst>
                                          <p:attrName>ppt_x</p:attrName>
                                        </p:attrNameLst>
                                      </p:cBhvr>
                                      <p:tavLst>
                                        <p:tav tm="0">
                                          <p:val>
                                            <p:strVal val="#ppt_x"/>
                                          </p:val>
                                        </p:tav>
                                        <p:tav tm="100000">
                                          <p:val>
                                            <p:strVal val="#ppt_x"/>
                                          </p:val>
                                        </p:tav>
                                      </p:tavLst>
                                    </p:anim>
                                    <p:anim calcmode="lin" valueType="num">
                                      <p:cBhvr>
                                        <p:cTn id="107" dur="500" fill="hold"/>
                                        <p:tgtEl>
                                          <p:spTgt spid="23"/>
                                        </p:tgtEl>
                                        <p:attrNameLst>
                                          <p:attrName>ppt_y</p:attrName>
                                        </p:attrNameLst>
                                      </p:cBhvr>
                                      <p:tavLst>
                                        <p:tav tm="0">
                                          <p:val>
                                            <p:strVal val="#ppt_y+.1"/>
                                          </p:val>
                                        </p:tav>
                                        <p:tav tm="100000">
                                          <p:val>
                                            <p:strVal val="#ppt_y"/>
                                          </p:val>
                                        </p:tav>
                                      </p:tavLst>
                                    </p:anim>
                                  </p:childTnLst>
                                </p:cTn>
                              </p:par>
                              <p:par>
                                <p:cTn id="113" presetID="42" presetClass="entr" presetSubtype="0" fill="hold" nodeType="with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anim calcmode="lin" valueType="num">
                                      <p:cBhvr>
                                        <p:cTn id="111" dur="500" fill="hold"/>
                                        <p:tgtEl>
                                          <p:spTgt spid="24"/>
                                        </p:tgtEl>
                                        <p:attrNameLst>
                                          <p:attrName>ppt_x</p:attrName>
                                        </p:attrNameLst>
                                      </p:cBhvr>
                                      <p:tavLst>
                                        <p:tav tm="0">
                                          <p:val>
                                            <p:strVal val="#ppt_x"/>
                                          </p:val>
                                        </p:tav>
                                        <p:tav tm="100000">
                                          <p:val>
                                            <p:strVal val="#ppt_x"/>
                                          </p:val>
                                        </p:tav>
                                      </p:tavLst>
                                    </p:anim>
                                    <p:anim calcmode="lin" valueType="num">
                                      <p:cBhvr>
                                        <p:cTn id="112" dur="500" fill="hold"/>
                                        <p:tgtEl>
                                          <p:spTgt spid="24"/>
                                        </p:tgtEl>
                                        <p:attrNameLst>
                                          <p:attrName>ppt_y</p:attrName>
                                        </p:attrNameLst>
                                      </p:cBhvr>
                                      <p:tavLst>
                                        <p:tav tm="0">
                                          <p:val>
                                            <p:strVal val="#ppt_y+.1"/>
                                          </p:val>
                                        </p:tav>
                                        <p:tav tm="100000">
                                          <p:val>
                                            <p:strVal val="#ppt_y"/>
                                          </p:val>
                                        </p:tav>
                                      </p:tavLst>
                                    </p:anim>
                                  </p:childTnLst>
                                </p:cTn>
                              </p:par>
                              <p:par>
                                <p:cTn id="118" presetID="42" presetClass="entr" presetSubtype="0" fill="hold" nodeType="withEffect">
                                  <p:stCondLst>
                                    <p:cond delay="0"/>
                                  </p:stCondLst>
                                  <p:childTnLst>
                                    <p:set>
                                      <p:cBhvr>
                                        <p:cTn id="114" dur="1" fill="hold">
                                          <p:stCondLst>
                                            <p:cond delay="0"/>
                                          </p:stCondLst>
                                        </p:cTn>
                                        <p:tgtEl>
                                          <p:spTgt spid="25"/>
                                        </p:tgtEl>
                                        <p:attrNameLst>
                                          <p:attrName>style.visibility</p:attrName>
                                        </p:attrNameLst>
                                      </p:cBhvr>
                                      <p:to>
                                        <p:strVal val="visible"/>
                                      </p:to>
                                    </p:set>
                                    <p:animEffect transition="in" filter="fade">
                                      <p:cBhvr>
                                        <p:cTn id="115" dur="500"/>
                                        <p:tgtEl>
                                          <p:spTgt spid="25"/>
                                        </p:tgtEl>
                                      </p:cBhvr>
                                    </p:animEffect>
                                    <p:anim calcmode="lin" valueType="num">
                                      <p:cBhvr>
                                        <p:cTn id="116" dur="500" fill="hold"/>
                                        <p:tgtEl>
                                          <p:spTgt spid="25"/>
                                        </p:tgtEl>
                                        <p:attrNameLst>
                                          <p:attrName>ppt_x</p:attrName>
                                        </p:attrNameLst>
                                      </p:cBhvr>
                                      <p:tavLst>
                                        <p:tav tm="0">
                                          <p:val>
                                            <p:strVal val="#ppt_x"/>
                                          </p:val>
                                        </p:tav>
                                        <p:tav tm="100000">
                                          <p:val>
                                            <p:strVal val="#ppt_x"/>
                                          </p:val>
                                        </p:tav>
                                      </p:tavLst>
                                    </p:anim>
                                    <p:anim calcmode="lin" valueType="num">
                                      <p:cBhvr>
                                        <p:cTn id="117" dur="500" fill="hold"/>
                                        <p:tgtEl>
                                          <p:spTgt spid="25"/>
                                        </p:tgtEl>
                                        <p:attrNameLst>
                                          <p:attrName>ppt_y</p:attrName>
                                        </p:attrNameLst>
                                      </p:cBhvr>
                                      <p:tavLst>
                                        <p:tav tm="0">
                                          <p:val>
                                            <p:strVal val="#ppt_y+.1"/>
                                          </p:val>
                                        </p:tav>
                                        <p:tav tm="100000">
                                          <p:val>
                                            <p:strVal val="#ppt_y"/>
                                          </p:val>
                                        </p:tav>
                                      </p:tavLst>
                                    </p:anim>
                                  </p:childTnLst>
                                </p:cTn>
                              </p:par>
                              <p:par>
                                <p:cTn id="123" presetID="42" presetClass="entr" presetSubtype="0" fill="hold" nodeType="withEffect">
                                  <p:stCondLst>
                                    <p:cond delay="0"/>
                                  </p:stCondLst>
                                  <p:childTnLst>
                                    <p:set>
                                      <p:cBhvr>
                                        <p:cTn id="119" dur="1" fill="hold">
                                          <p:stCondLst>
                                            <p:cond delay="0"/>
                                          </p:stCondLst>
                                        </p:cTn>
                                        <p:tgtEl>
                                          <p:spTgt spid="26"/>
                                        </p:tgtEl>
                                        <p:attrNameLst>
                                          <p:attrName>style.visibility</p:attrName>
                                        </p:attrNameLst>
                                      </p:cBhvr>
                                      <p:to>
                                        <p:strVal val="visible"/>
                                      </p:to>
                                    </p:set>
                                    <p:animEffect transition="in" filter="fade">
                                      <p:cBhvr>
                                        <p:cTn id="120" dur="500"/>
                                        <p:tgtEl>
                                          <p:spTgt spid="26"/>
                                        </p:tgtEl>
                                      </p:cBhvr>
                                    </p:animEffect>
                                    <p:anim calcmode="lin" valueType="num">
                                      <p:cBhvr>
                                        <p:cTn id="121" dur="500" fill="hold"/>
                                        <p:tgtEl>
                                          <p:spTgt spid="26"/>
                                        </p:tgtEl>
                                        <p:attrNameLst>
                                          <p:attrName>ppt_x</p:attrName>
                                        </p:attrNameLst>
                                      </p:cBhvr>
                                      <p:tavLst>
                                        <p:tav tm="0">
                                          <p:val>
                                            <p:strVal val="#ppt_x"/>
                                          </p:val>
                                        </p:tav>
                                        <p:tav tm="100000">
                                          <p:val>
                                            <p:strVal val="#ppt_x"/>
                                          </p:val>
                                        </p:tav>
                                      </p:tavLst>
                                    </p:anim>
                                    <p:anim calcmode="lin" valueType="num">
                                      <p:cBhvr>
                                        <p:cTn id="122" dur="500" fill="hold"/>
                                        <p:tgtEl>
                                          <p:spTgt spid="26"/>
                                        </p:tgtEl>
                                        <p:attrNameLst>
                                          <p:attrName>ppt_y</p:attrName>
                                        </p:attrNameLst>
                                      </p:cBhvr>
                                      <p:tavLst>
                                        <p:tav tm="0">
                                          <p:val>
                                            <p:strVal val="#ppt_y+.1"/>
                                          </p:val>
                                        </p:tav>
                                        <p:tav tm="100000">
                                          <p:val>
                                            <p:strVal val="#ppt_y"/>
                                          </p:val>
                                        </p:tav>
                                      </p:tavLst>
                                    </p:anim>
                                  </p:childTnLst>
                                </p:cTn>
                              </p:par>
                              <p:par>
                                <p:cTn id="128" presetID="42" presetClass="entr" presetSubtype="0" fill="hold" nodeType="withEffect">
                                  <p:stCondLst>
                                    <p:cond delay="0"/>
                                  </p:stCondLst>
                                  <p:childTnLst>
                                    <p:set>
                                      <p:cBhvr>
                                        <p:cTn id="124" dur="1" fill="hold">
                                          <p:stCondLst>
                                            <p:cond delay="0"/>
                                          </p:stCondLst>
                                        </p:cTn>
                                        <p:tgtEl>
                                          <p:spTgt spid="27"/>
                                        </p:tgtEl>
                                        <p:attrNameLst>
                                          <p:attrName>style.visibility</p:attrName>
                                        </p:attrNameLst>
                                      </p:cBhvr>
                                      <p:to>
                                        <p:strVal val="visible"/>
                                      </p:to>
                                    </p:set>
                                    <p:animEffect transition="in" filter="fade">
                                      <p:cBhvr>
                                        <p:cTn id="125" dur="500"/>
                                        <p:tgtEl>
                                          <p:spTgt spid="27"/>
                                        </p:tgtEl>
                                      </p:cBhvr>
                                    </p:animEffect>
                                    <p:anim calcmode="lin" valueType="num">
                                      <p:cBhvr>
                                        <p:cTn id="126" dur="500" fill="hold"/>
                                        <p:tgtEl>
                                          <p:spTgt spid="27"/>
                                        </p:tgtEl>
                                        <p:attrNameLst>
                                          <p:attrName>ppt_x</p:attrName>
                                        </p:attrNameLst>
                                      </p:cBhvr>
                                      <p:tavLst>
                                        <p:tav tm="0">
                                          <p:val>
                                            <p:strVal val="#ppt_x"/>
                                          </p:val>
                                        </p:tav>
                                        <p:tav tm="100000">
                                          <p:val>
                                            <p:strVal val="#ppt_x"/>
                                          </p:val>
                                        </p:tav>
                                      </p:tavLst>
                                    </p:anim>
                                    <p:anim calcmode="lin" valueType="num">
                                      <p:cBhvr>
                                        <p:cTn id="127" dur="500" fill="hold"/>
                                        <p:tgtEl>
                                          <p:spTgt spid="27"/>
                                        </p:tgtEl>
                                        <p:attrNameLst>
                                          <p:attrName>ppt_y</p:attrName>
                                        </p:attrNameLst>
                                      </p:cBhvr>
                                      <p:tavLst>
                                        <p:tav tm="0">
                                          <p:val>
                                            <p:strVal val="#ppt_y+.1"/>
                                          </p:val>
                                        </p:tav>
                                        <p:tav tm="100000">
                                          <p:val>
                                            <p:strVal val="#ppt_y"/>
                                          </p:val>
                                        </p:tav>
                                      </p:tavLst>
                                    </p:anim>
                                  </p:childTnLst>
                                </p:cTn>
                              </p:par>
                              <p:par>
                                <p:cTn id="133" presetID="42" presetClass="entr" presetSubtype="0" fill="hold" nodeType="withEffect">
                                  <p:stCondLst>
                                    <p:cond delay="0"/>
                                  </p:stCondLst>
                                  <p:childTnLst>
                                    <p:set>
                                      <p:cBhvr>
                                        <p:cTn id="129" dur="1" fill="hold">
                                          <p:stCondLst>
                                            <p:cond delay="0"/>
                                          </p:stCondLst>
                                        </p:cTn>
                                        <p:tgtEl>
                                          <p:spTgt spid="28"/>
                                        </p:tgtEl>
                                        <p:attrNameLst>
                                          <p:attrName>style.visibility</p:attrName>
                                        </p:attrNameLst>
                                      </p:cBhvr>
                                      <p:to>
                                        <p:strVal val="visible"/>
                                      </p:to>
                                    </p:set>
                                    <p:animEffect transition="in" filter="fade">
                                      <p:cBhvr>
                                        <p:cTn id="130" dur="500"/>
                                        <p:tgtEl>
                                          <p:spTgt spid="28"/>
                                        </p:tgtEl>
                                      </p:cBhvr>
                                    </p:animEffect>
                                    <p:anim calcmode="lin" valueType="num">
                                      <p:cBhvr>
                                        <p:cTn id="131" dur="500" fill="hold"/>
                                        <p:tgtEl>
                                          <p:spTgt spid="28"/>
                                        </p:tgtEl>
                                        <p:attrNameLst>
                                          <p:attrName>ppt_x</p:attrName>
                                        </p:attrNameLst>
                                      </p:cBhvr>
                                      <p:tavLst>
                                        <p:tav tm="0">
                                          <p:val>
                                            <p:strVal val="#ppt_x"/>
                                          </p:val>
                                        </p:tav>
                                        <p:tav tm="100000">
                                          <p:val>
                                            <p:strVal val="#ppt_x"/>
                                          </p:val>
                                        </p:tav>
                                      </p:tavLst>
                                    </p:anim>
                                    <p:anim calcmode="lin" valueType="num">
                                      <p:cBhvr>
                                        <p:cTn id="132" dur="500" fill="hold"/>
                                        <p:tgtEl>
                                          <p:spTgt spid="28"/>
                                        </p:tgtEl>
                                        <p:attrNameLst>
                                          <p:attrName>ppt_y</p:attrName>
                                        </p:attrNameLst>
                                      </p:cBhvr>
                                      <p:tavLst>
                                        <p:tav tm="0">
                                          <p:val>
                                            <p:strVal val="#ppt_y+.1"/>
                                          </p:val>
                                        </p:tav>
                                        <p:tav tm="100000">
                                          <p:val>
                                            <p:strVal val="#ppt_y"/>
                                          </p:val>
                                        </p:tav>
                                      </p:tavLst>
                                    </p:anim>
                                  </p:childTnLst>
                                </p:cTn>
                              </p:par>
                              <p:par>
                                <p:cTn id="138" presetID="42" presetClass="entr" presetSubtype="0" fill="hold" nodeType="withEffect">
                                  <p:stCondLst>
                                    <p:cond delay="0"/>
                                  </p:stCondLst>
                                  <p:childTnLst>
                                    <p:set>
                                      <p:cBhvr>
                                        <p:cTn id="134" dur="1" fill="hold">
                                          <p:stCondLst>
                                            <p:cond delay="0"/>
                                          </p:stCondLst>
                                        </p:cTn>
                                        <p:tgtEl>
                                          <p:spTgt spid="29"/>
                                        </p:tgtEl>
                                        <p:attrNameLst>
                                          <p:attrName>style.visibility</p:attrName>
                                        </p:attrNameLst>
                                      </p:cBhvr>
                                      <p:to>
                                        <p:strVal val="visible"/>
                                      </p:to>
                                    </p:set>
                                    <p:animEffect transition="in" filter="fade">
                                      <p:cBhvr>
                                        <p:cTn id="135" dur="500"/>
                                        <p:tgtEl>
                                          <p:spTgt spid="29"/>
                                        </p:tgtEl>
                                      </p:cBhvr>
                                    </p:animEffect>
                                    <p:anim calcmode="lin" valueType="num">
                                      <p:cBhvr>
                                        <p:cTn id="136" dur="500" fill="hold"/>
                                        <p:tgtEl>
                                          <p:spTgt spid="29"/>
                                        </p:tgtEl>
                                        <p:attrNameLst>
                                          <p:attrName>ppt_x</p:attrName>
                                        </p:attrNameLst>
                                      </p:cBhvr>
                                      <p:tavLst>
                                        <p:tav tm="0">
                                          <p:val>
                                            <p:strVal val="#ppt_x"/>
                                          </p:val>
                                        </p:tav>
                                        <p:tav tm="100000">
                                          <p:val>
                                            <p:strVal val="#ppt_x"/>
                                          </p:val>
                                        </p:tav>
                                      </p:tavLst>
                                    </p:anim>
                                    <p:anim calcmode="lin" valueType="num">
                                      <p:cBhvr>
                                        <p:cTn id="137" dur="500" fill="hold"/>
                                        <p:tgtEl>
                                          <p:spTgt spid="29"/>
                                        </p:tgtEl>
                                        <p:attrNameLst>
                                          <p:attrName>ppt_y</p:attrName>
                                        </p:attrNameLst>
                                      </p:cBhvr>
                                      <p:tavLst>
                                        <p:tav tm="0">
                                          <p:val>
                                            <p:strVal val="#ppt_y+.1"/>
                                          </p:val>
                                        </p:tav>
                                        <p:tav tm="100000">
                                          <p:val>
                                            <p:strVal val="#ppt_y"/>
                                          </p:val>
                                        </p:tav>
                                      </p:tavLst>
                                    </p:anim>
                                  </p:childTnLst>
                                </p:cTn>
                              </p:par>
                              <p:par>
                                <p:cTn id="143" presetID="42" presetClass="entr" presetSubtype="0" fill="hold" nodeType="withEffect">
                                  <p:stCondLst>
                                    <p:cond delay="0"/>
                                  </p:stCondLst>
                                  <p:childTnLst>
                                    <p:set>
                                      <p:cBhvr>
                                        <p:cTn id="139" dur="1" fill="hold">
                                          <p:stCondLst>
                                            <p:cond delay="0"/>
                                          </p:stCondLst>
                                        </p:cTn>
                                        <p:tgtEl>
                                          <p:spTgt spid="30"/>
                                        </p:tgtEl>
                                        <p:attrNameLst>
                                          <p:attrName>style.visibility</p:attrName>
                                        </p:attrNameLst>
                                      </p:cBhvr>
                                      <p:to>
                                        <p:strVal val="visible"/>
                                      </p:to>
                                    </p:set>
                                    <p:animEffect transition="in" filter="fade">
                                      <p:cBhvr>
                                        <p:cTn id="140" dur="500"/>
                                        <p:tgtEl>
                                          <p:spTgt spid="30"/>
                                        </p:tgtEl>
                                      </p:cBhvr>
                                    </p:animEffect>
                                    <p:anim calcmode="lin" valueType="num">
                                      <p:cBhvr>
                                        <p:cTn id="141" dur="500" fill="hold"/>
                                        <p:tgtEl>
                                          <p:spTgt spid="30"/>
                                        </p:tgtEl>
                                        <p:attrNameLst>
                                          <p:attrName>ppt_x</p:attrName>
                                        </p:attrNameLst>
                                      </p:cBhvr>
                                      <p:tavLst>
                                        <p:tav tm="0">
                                          <p:val>
                                            <p:strVal val="#ppt_x"/>
                                          </p:val>
                                        </p:tav>
                                        <p:tav tm="100000">
                                          <p:val>
                                            <p:strVal val="#ppt_x"/>
                                          </p:val>
                                        </p:tav>
                                      </p:tavLst>
                                    </p:anim>
                                    <p:anim calcmode="lin" valueType="num">
                                      <p:cBhvr>
                                        <p:cTn id="142" dur="500" fill="hold"/>
                                        <p:tgtEl>
                                          <p:spTgt spid="30"/>
                                        </p:tgtEl>
                                        <p:attrNameLst>
                                          <p:attrName>ppt_y</p:attrName>
                                        </p:attrNameLst>
                                      </p:cBhvr>
                                      <p:tavLst>
                                        <p:tav tm="0">
                                          <p:val>
                                            <p:strVal val="#ppt_y+.1"/>
                                          </p:val>
                                        </p:tav>
                                        <p:tav tm="100000">
                                          <p:val>
                                            <p:strVal val="#ppt_y"/>
                                          </p:val>
                                        </p:tav>
                                      </p:tavLst>
                                    </p:anim>
                                  </p:childTnLst>
                                </p:cTn>
                              </p:par>
                              <p:par>
                                <p:cTn id="148" presetID="42" presetClass="entr" presetSubtype="0" fill="hold" nodeType="withEffect">
                                  <p:stCondLst>
                                    <p:cond delay="0"/>
                                  </p:stCondLst>
                                  <p:childTnLst>
                                    <p:set>
                                      <p:cBhvr>
                                        <p:cTn id="144" dur="1" fill="hold">
                                          <p:stCondLst>
                                            <p:cond delay="0"/>
                                          </p:stCondLst>
                                        </p:cTn>
                                        <p:tgtEl>
                                          <p:spTgt spid="31"/>
                                        </p:tgtEl>
                                        <p:attrNameLst>
                                          <p:attrName>style.visibility</p:attrName>
                                        </p:attrNameLst>
                                      </p:cBhvr>
                                      <p:to>
                                        <p:strVal val="visible"/>
                                      </p:to>
                                    </p:set>
                                    <p:animEffect transition="in" filter="fade">
                                      <p:cBhvr>
                                        <p:cTn id="145" dur="500"/>
                                        <p:tgtEl>
                                          <p:spTgt spid="31"/>
                                        </p:tgtEl>
                                      </p:cBhvr>
                                    </p:animEffect>
                                    <p:anim calcmode="lin" valueType="num">
                                      <p:cBhvr>
                                        <p:cTn id="146" dur="500" fill="hold"/>
                                        <p:tgtEl>
                                          <p:spTgt spid="31"/>
                                        </p:tgtEl>
                                        <p:attrNameLst>
                                          <p:attrName>ppt_x</p:attrName>
                                        </p:attrNameLst>
                                      </p:cBhvr>
                                      <p:tavLst>
                                        <p:tav tm="0">
                                          <p:val>
                                            <p:strVal val="#ppt_x"/>
                                          </p:val>
                                        </p:tav>
                                        <p:tav tm="100000">
                                          <p:val>
                                            <p:strVal val="#ppt_x"/>
                                          </p:val>
                                        </p:tav>
                                      </p:tavLst>
                                    </p:anim>
                                    <p:anim calcmode="lin" valueType="num">
                                      <p:cBhvr>
                                        <p:cTn id="147" dur="500" fill="hold"/>
                                        <p:tgtEl>
                                          <p:spTgt spid="31"/>
                                        </p:tgtEl>
                                        <p:attrNameLst>
                                          <p:attrName>ppt_y</p:attrName>
                                        </p:attrNameLst>
                                      </p:cBhvr>
                                      <p:tavLst>
                                        <p:tav tm="0">
                                          <p:val>
                                            <p:strVal val="#ppt_y+.1"/>
                                          </p:val>
                                        </p:tav>
                                        <p:tav tm="100000">
                                          <p:val>
                                            <p:strVal val="#ppt_y"/>
                                          </p:val>
                                        </p:tav>
                                      </p:tavLst>
                                    </p:anim>
                                  </p:childTnLst>
                                </p:cTn>
                              </p:par>
                              <p:par>
                                <p:cTn id="153" presetID="42" presetClass="entr" presetSubtype="0" fill="hold" nodeType="withEffect">
                                  <p:stCondLst>
                                    <p:cond delay="0"/>
                                  </p:stCondLst>
                                  <p:childTnLst>
                                    <p:set>
                                      <p:cBhvr>
                                        <p:cTn id="149" dur="1" fill="hold">
                                          <p:stCondLst>
                                            <p:cond delay="0"/>
                                          </p:stCondLst>
                                        </p:cTn>
                                        <p:tgtEl>
                                          <p:spTgt spid="32"/>
                                        </p:tgtEl>
                                        <p:attrNameLst>
                                          <p:attrName>style.visibility</p:attrName>
                                        </p:attrNameLst>
                                      </p:cBhvr>
                                      <p:to>
                                        <p:strVal val="visible"/>
                                      </p:to>
                                    </p:set>
                                    <p:animEffect transition="in" filter="fade">
                                      <p:cBhvr>
                                        <p:cTn id="150" dur="500"/>
                                        <p:tgtEl>
                                          <p:spTgt spid="32"/>
                                        </p:tgtEl>
                                      </p:cBhvr>
                                    </p:animEffect>
                                    <p:anim calcmode="lin" valueType="num">
                                      <p:cBhvr>
                                        <p:cTn id="151" dur="500" fill="hold"/>
                                        <p:tgtEl>
                                          <p:spTgt spid="32"/>
                                        </p:tgtEl>
                                        <p:attrNameLst>
                                          <p:attrName>ppt_x</p:attrName>
                                        </p:attrNameLst>
                                      </p:cBhvr>
                                      <p:tavLst>
                                        <p:tav tm="0">
                                          <p:val>
                                            <p:strVal val="#ppt_x"/>
                                          </p:val>
                                        </p:tav>
                                        <p:tav tm="100000">
                                          <p:val>
                                            <p:strVal val="#ppt_x"/>
                                          </p:val>
                                        </p:tav>
                                      </p:tavLst>
                                    </p:anim>
                                    <p:anim calcmode="lin" valueType="num">
                                      <p:cBhvr>
                                        <p:cTn id="152" dur="500" fill="hold"/>
                                        <p:tgtEl>
                                          <p:spTgt spid="32"/>
                                        </p:tgtEl>
                                        <p:attrNameLst>
                                          <p:attrName>ppt_y</p:attrName>
                                        </p:attrNameLst>
                                      </p:cBhvr>
                                      <p:tavLst>
                                        <p:tav tm="0">
                                          <p:val>
                                            <p:strVal val="#ppt_y+.1"/>
                                          </p:val>
                                        </p:tav>
                                        <p:tav tm="100000">
                                          <p:val>
                                            <p:strVal val="#ppt_y"/>
                                          </p:val>
                                        </p:tav>
                                      </p:tavLst>
                                    </p:anim>
                                  </p:childTnLst>
                                </p:cTn>
                              </p:par>
                              <p:par>
                                <p:cTn id="158" presetID="42" presetClass="entr" presetSubtype="0" fill="hold" nodeType="withEffect">
                                  <p:stCondLst>
                                    <p:cond delay="0"/>
                                  </p:stCondLst>
                                  <p:childTnLst>
                                    <p:set>
                                      <p:cBhvr>
                                        <p:cTn id="154" dur="1" fill="hold">
                                          <p:stCondLst>
                                            <p:cond delay="0"/>
                                          </p:stCondLst>
                                        </p:cTn>
                                        <p:tgtEl>
                                          <p:spTgt spid="33"/>
                                        </p:tgtEl>
                                        <p:attrNameLst>
                                          <p:attrName>style.visibility</p:attrName>
                                        </p:attrNameLst>
                                      </p:cBhvr>
                                      <p:to>
                                        <p:strVal val="visible"/>
                                      </p:to>
                                    </p:set>
                                    <p:animEffect transition="in" filter="fade">
                                      <p:cBhvr>
                                        <p:cTn id="155" dur="500"/>
                                        <p:tgtEl>
                                          <p:spTgt spid="33"/>
                                        </p:tgtEl>
                                      </p:cBhvr>
                                    </p:animEffect>
                                    <p:anim calcmode="lin" valueType="num">
                                      <p:cBhvr>
                                        <p:cTn id="156" dur="500" fill="hold"/>
                                        <p:tgtEl>
                                          <p:spTgt spid="33"/>
                                        </p:tgtEl>
                                        <p:attrNameLst>
                                          <p:attrName>ppt_x</p:attrName>
                                        </p:attrNameLst>
                                      </p:cBhvr>
                                      <p:tavLst>
                                        <p:tav tm="0">
                                          <p:val>
                                            <p:strVal val="#ppt_x"/>
                                          </p:val>
                                        </p:tav>
                                        <p:tav tm="100000">
                                          <p:val>
                                            <p:strVal val="#ppt_x"/>
                                          </p:val>
                                        </p:tav>
                                      </p:tavLst>
                                    </p:anim>
                                    <p:anim calcmode="lin" valueType="num">
                                      <p:cBhvr>
                                        <p:cTn id="157" dur="500" fill="hold"/>
                                        <p:tgtEl>
                                          <p:spTgt spid="33"/>
                                        </p:tgtEl>
                                        <p:attrNameLst>
                                          <p:attrName>ppt_y</p:attrName>
                                        </p:attrNameLst>
                                      </p:cBhvr>
                                      <p:tavLst>
                                        <p:tav tm="0">
                                          <p:val>
                                            <p:strVal val="#ppt_y+.1"/>
                                          </p:val>
                                        </p:tav>
                                        <p:tav tm="100000">
                                          <p:val>
                                            <p:strVal val="#ppt_y"/>
                                          </p:val>
                                        </p:tav>
                                      </p:tavLst>
                                    </p:anim>
                                  </p:childTnLst>
                                </p:cTn>
                              </p:par>
                              <p:par>
                                <p:cTn id="163" presetID="42" presetClass="entr" presetSubtype="0" fill="hold" nodeType="withEffect">
                                  <p:stCondLst>
                                    <p:cond delay="0"/>
                                  </p:stCondLst>
                                  <p:childTnLst>
                                    <p:set>
                                      <p:cBhvr>
                                        <p:cTn id="159" dur="1" fill="hold">
                                          <p:stCondLst>
                                            <p:cond delay="0"/>
                                          </p:stCondLst>
                                        </p:cTn>
                                        <p:tgtEl>
                                          <p:spTgt spid="34"/>
                                        </p:tgtEl>
                                        <p:attrNameLst>
                                          <p:attrName>style.visibility</p:attrName>
                                        </p:attrNameLst>
                                      </p:cBhvr>
                                      <p:to>
                                        <p:strVal val="visible"/>
                                      </p:to>
                                    </p:set>
                                    <p:animEffect transition="in" filter="fade">
                                      <p:cBhvr>
                                        <p:cTn id="160" dur="500"/>
                                        <p:tgtEl>
                                          <p:spTgt spid="34"/>
                                        </p:tgtEl>
                                      </p:cBhvr>
                                    </p:animEffect>
                                    <p:anim calcmode="lin" valueType="num">
                                      <p:cBhvr>
                                        <p:cTn id="161" dur="500" fill="hold"/>
                                        <p:tgtEl>
                                          <p:spTgt spid="34"/>
                                        </p:tgtEl>
                                        <p:attrNameLst>
                                          <p:attrName>ppt_x</p:attrName>
                                        </p:attrNameLst>
                                      </p:cBhvr>
                                      <p:tavLst>
                                        <p:tav tm="0">
                                          <p:val>
                                            <p:strVal val="#ppt_x"/>
                                          </p:val>
                                        </p:tav>
                                        <p:tav tm="100000">
                                          <p:val>
                                            <p:strVal val="#ppt_x"/>
                                          </p:val>
                                        </p:tav>
                                      </p:tavLst>
                                    </p:anim>
                                    <p:anim calcmode="lin" valueType="num">
                                      <p:cBhvr>
                                        <p:cTn id="162" dur="500" fill="hold"/>
                                        <p:tgtEl>
                                          <p:spTgt spid="34"/>
                                        </p:tgtEl>
                                        <p:attrNameLst>
                                          <p:attrName>ppt_y</p:attrName>
                                        </p:attrNameLst>
                                      </p:cBhvr>
                                      <p:tavLst>
                                        <p:tav tm="0">
                                          <p:val>
                                            <p:strVal val="#ppt_y+.1"/>
                                          </p:val>
                                        </p:tav>
                                        <p:tav tm="100000">
                                          <p:val>
                                            <p:strVal val="#ppt_y"/>
                                          </p:val>
                                        </p:tav>
                                      </p:tavLst>
                                    </p:anim>
                                  </p:childTnLst>
                                </p:cTn>
                              </p:par>
                              <p:par>
                                <p:cTn id="168" presetID="42" presetClass="entr" presetSubtype="0" fill="hold" nodeType="withEffect">
                                  <p:stCondLst>
                                    <p:cond delay="0"/>
                                  </p:stCondLst>
                                  <p:childTnLst>
                                    <p:set>
                                      <p:cBhvr>
                                        <p:cTn id="164" dur="1" fill="hold">
                                          <p:stCondLst>
                                            <p:cond delay="0"/>
                                          </p:stCondLst>
                                        </p:cTn>
                                        <p:tgtEl>
                                          <p:spTgt spid="35"/>
                                        </p:tgtEl>
                                        <p:attrNameLst>
                                          <p:attrName>style.visibility</p:attrName>
                                        </p:attrNameLst>
                                      </p:cBhvr>
                                      <p:to>
                                        <p:strVal val="visible"/>
                                      </p:to>
                                    </p:set>
                                    <p:animEffect transition="in" filter="fade">
                                      <p:cBhvr>
                                        <p:cTn id="165" dur="500"/>
                                        <p:tgtEl>
                                          <p:spTgt spid="35"/>
                                        </p:tgtEl>
                                      </p:cBhvr>
                                    </p:animEffect>
                                    <p:anim calcmode="lin" valueType="num">
                                      <p:cBhvr>
                                        <p:cTn id="166" dur="500" fill="hold"/>
                                        <p:tgtEl>
                                          <p:spTgt spid="35"/>
                                        </p:tgtEl>
                                        <p:attrNameLst>
                                          <p:attrName>ppt_x</p:attrName>
                                        </p:attrNameLst>
                                      </p:cBhvr>
                                      <p:tavLst>
                                        <p:tav tm="0">
                                          <p:val>
                                            <p:strVal val="#ppt_x"/>
                                          </p:val>
                                        </p:tav>
                                        <p:tav tm="100000">
                                          <p:val>
                                            <p:strVal val="#ppt_x"/>
                                          </p:val>
                                        </p:tav>
                                      </p:tavLst>
                                    </p:anim>
                                    <p:anim calcmode="lin" valueType="num">
                                      <p:cBhvr>
                                        <p:cTn id="167" dur="500" fill="hold"/>
                                        <p:tgtEl>
                                          <p:spTgt spid="35"/>
                                        </p:tgtEl>
                                        <p:attrNameLst>
                                          <p:attrName>ppt_y</p:attrName>
                                        </p:attrNameLst>
                                      </p:cBhvr>
                                      <p:tavLst>
                                        <p:tav tm="0">
                                          <p:val>
                                            <p:strVal val="#ppt_y+.1"/>
                                          </p:val>
                                        </p:tav>
                                        <p:tav tm="100000">
                                          <p:val>
                                            <p:strVal val="#ppt_y"/>
                                          </p:val>
                                        </p:tav>
                                      </p:tavLst>
                                    </p:anim>
                                  </p:childTnLst>
                                </p:cTn>
                              </p:par>
                              <p:par>
                                <p:cTn id="173" presetID="42" presetClass="entr" presetSubtype="0" fill="hold" nodeType="withEffect">
                                  <p:stCondLst>
                                    <p:cond delay="0"/>
                                  </p:stCondLst>
                                  <p:childTnLst>
                                    <p:set>
                                      <p:cBhvr>
                                        <p:cTn id="169" dur="1" fill="hold">
                                          <p:stCondLst>
                                            <p:cond delay="0"/>
                                          </p:stCondLst>
                                        </p:cTn>
                                        <p:tgtEl>
                                          <p:spTgt spid="36"/>
                                        </p:tgtEl>
                                        <p:attrNameLst>
                                          <p:attrName>style.visibility</p:attrName>
                                        </p:attrNameLst>
                                      </p:cBhvr>
                                      <p:to>
                                        <p:strVal val="visible"/>
                                      </p:to>
                                    </p:set>
                                    <p:animEffect transition="in" filter="fade">
                                      <p:cBhvr>
                                        <p:cTn id="170" dur="500"/>
                                        <p:tgtEl>
                                          <p:spTgt spid="36"/>
                                        </p:tgtEl>
                                      </p:cBhvr>
                                    </p:animEffect>
                                    <p:anim calcmode="lin" valueType="num">
                                      <p:cBhvr>
                                        <p:cTn id="171" dur="500" fill="hold"/>
                                        <p:tgtEl>
                                          <p:spTgt spid="36"/>
                                        </p:tgtEl>
                                        <p:attrNameLst>
                                          <p:attrName>ppt_x</p:attrName>
                                        </p:attrNameLst>
                                      </p:cBhvr>
                                      <p:tavLst>
                                        <p:tav tm="0">
                                          <p:val>
                                            <p:strVal val="#ppt_x"/>
                                          </p:val>
                                        </p:tav>
                                        <p:tav tm="100000">
                                          <p:val>
                                            <p:strVal val="#ppt_x"/>
                                          </p:val>
                                        </p:tav>
                                      </p:tavLst>
                                    </p:anim>
                                    <p:anim calcmode="lin" valueType="num">
                                      <p:cBhvr>
                                        <p:cTn id="172" dur="500" fill="hold"/>
                                        <p:tgtEl>
                                          <p:spTgt spid="36"/>
                                        </p:tgtEl>
                                        <p:attrNameLst>
                                          <p:attrName>ppt_y</p:attrName>
                                        </p:attrNameLst>
                                      </p:cBhvr>
                                      <p:tavLst>
                                        <p:tav tm="0">
                                          <p:val>
                                            <p:strVal val="#ppt_y+.1"/>
                                          </p:val>
                                        </p:tav>
                                        <p:tav tm="100000">
                                          <p:val>
                                            <p:strVal val="#ppt_y"/>
                                          </p:val>
                                        </p:tav>
                                      </p:tavLst>
                                    </p:anim>
                                  </p:childTnLst>
                                </p:cTn>
                              </p:par>
                              <p:par>
                                <p:cTn id="178" presetID="42" presetClass="entr" presetSubtype="0" fill="hold" nodeType="withEffect">
                                  <p:stCondLst>
                                    <p:cond delay="0"/>
                                  </p:stCondLst>
                                  <p:childTnLst>
                                    <p:set>
                                      <p:cBhvr>
                                        <p:cTn id="174" dur="1" fill="hold">
                                          <p:stCondLst>
                                            <p:cond delay="0"/>
                                          </p:stCondLst>
                                        </p:cTn>
                                        <p:tgtEl>
                                          <p:spTgt spid="37"/>
                                        </p:tgtEl>
                                        <p:attrNameLst>
                                          <p:attrName>style.visibility</p:attrName>
                                        </p:attrNameLst>
                                      </p:cBhvr>
                                      <p:to>
                                        <p:strVal val="visible"/>
                                      </p:to>
                                    </p:set>
                                    <p:animEffect transition="in" filter="fade">
                                      <p:cBhvr>
                                        <p:cTn id="175" dur="500"/>
                                        <p:tgtEl>
                                          <p:spTgt spid="37"/>
                                        </p:tgtEl>
                                      </p:cBhvr>
                                    </p:animEffect>
                                    <p:anim calcmode="lin" valueType="num">
                                      <p:cBhvr>
                                        <p:cTn id="176" dur="500" fill="hold"/>
                                        <p:tgtEl>
                                          <p:spTgt spid="37"/>
                                        </p:tgtEl>
                                        <p:attrNameLst>
                                          <p:attrName>ppt_x</p:attrName>
                                        </p:attrNameLst>
                                      </p:cBhvr>
                                      <p:tavLst>
                                        <p:tav tm="0">
                                          <p:val>
                                            <p:strVal val="#ppt_x"/>
                                          </p:val>
                                        </p:tav>
                                        <p:tav tm="100000">
                                          <p:val>
                                            <p:strVal val="#ppt_x"/>
                                          </p:val>
                                        </p:tav>
                                      </p:tavLst>
                                    </p:anim>
                                    <p:anim calcmode="lin" valueType="num">
                                      <p:cBhvr>
                                        <p:cTn id="177" dur="500" fill="hold"/>
                                        <p:tgtEl>
                                          <p:spTgt spid="37"/>
                                        </p:tgtEl>
                                        <p:attrNameLst>
                                          <p:attrName>ppt_y</p:attrName>
                                        </p:attrNameLst>
                                      </p:cBhvr>
                                      <p:tavLst>
                                        <p:tav tm="0">
                                          <p:val>
                                            <p:strVal val="#ppt_y+.1"/>
                                          </p:val>
                                        </p:tav>
                                        <p:tav tm="100000">
                                          <p:val>
                                            <p:strVal val="#ppt_y"/>
                                          </p:val>
                                        </p:tav>
                                      </p:tavLst>
                                    </p:anim>
                                  </p:childTnLst>
                                </p:cTn>
                              </p:par>
                              <p:par>
                                <p:cTn id="183" presetID="42" presetClass="entr" presetSubtype="0" fill="hold" nodeType="withEffect">
                                  <p:stCondLst>
                                    <p:cond delay="0"/>
                                  </p:stCondLst>
                                  <p:childTnLst>
                                    <p:set>
                                      <p:cBhvr>
                                        <p:cTn id="179" dur="1" fill="hold">
                                          <p:stCondLst>
                                            <p:cond delay="0"/>
                                          </p:stCondLst>
                                        </p:cTn>
                                        <p:tgtEl>
                                          <p:spTgt spid="38"/>
                                        </p:tgtEl>
                                        <p:attrNameLst>
                                          <p:attrName>style.visibility</p:attrName>
                                        </p:attrNameLst>
                                      </p:cBhvr>
                                      <p:to>
                                        <p:strVal val="visible"/>
                                      </p:to>
                                    </p:set>
                                    <p:animEffect transition="in" filter="fade">
                                      <p:cBhvr>
                                        <p:cTn id="180" dur="500"/>
                                        <p:tgtEl>
                                          <p:spTgt spid="38"/>
                                        </p:tgtEl>
                                      </p:cBhvr>
                                    </p:animEffect>
                                    <p:anim calcmode="lin" valueType="num">
                                      <p:cBhvr>
                                        <p:cTn id="181" dur="500" fill="hold"/>
                                        <p:tgtEl>
                                          <p:spTgt spid="38"/>
                                        </p:tgtEl>
                                        <p:attrNameLst>
                                          <p:attrName>ppt_x</p:attrName>
                                        </p:attrNameLst>
                                      </p:cBhvr>
                                      <p:tavLst>
                                        <p:tav tm="0">
                                          <p:val>
                                            <p:strVal val="#ppt_x"/>
                                          </p:val>
                                        </p:tav>
                                        <p:tav tm="100000">
                                          <p:val>
                                            <p:strVal val="#ppt_x"/>
                                          </p:val>
                                        </p:tav>
                                      </p:tavLst>
                                    </p:anim>
                                    <p:anim calcmode="lin" valueType="num">
                                      <p:cBhvr>
                                        <p:cTn id="182" dur="500" fill="hold"/>
                                        <p:tgtEl>
                                          <p:spTgt spid="38"/>
                                        </p:tgtEl>
                                        <p:attrNameLst>
                                          <p:attrName>ppt_y</p:attrName>
                                        </p:attrNameLst>
                                      </p:cBhvr>
                                      <p:tavLst>
                                        <p:tav tm="0">
                                          <p:val>
                                            <p:strVal val="#ppt_y+.1"/>
                                          </p:val>
                                        </p:tav>
                                        <p:tav tm="100000">
                                          <p:val>
                                            <p:strVal val="#ppt_y"/>
                                          </p:val>
                                        </p:tav>
                                      </p:tavLst>
                                    </p:anim>
                                  </p:childTnLst>
                                </p:cTn>
                              </p:par>
                              <p:par>
                                <p:cTn id="188" presetID="42" presetClass="entr" presetSubtype="0" fill="hold" nodeType="withEffect">
                                  <p:stCondLst>
                                    <p:cond delay="0"/>
                                  </p:stCondLst>
                                  <p:childTnLst>
                                    <p:set>
                                      <p:cBhvr>
                                        <p:cTn id="184" dur="1" fill="hold">
                                          <p:stCondLst>
                                            <p:cond delay="0"/>
                                          </p:stCondLst>
                                        </p:cTn>
                                        <p:tgtEl>
                                          <p:spTgt spid="39"/>
                                        </p:tgtEl>
                                        <p:attrNameLst>
                                          <p:attrName>style.visibility</p:attrName>
                                        </p:attrNameLst>
                                      </p:cBhvr>
                                      <p:to>
                                        <p:strVal val="visible"/>
                                      </p:to>
                                    </p:set>
                                    <p:animEffect transition="in" filter="fade">
                                      <p:cBhvr>
                                        <p:cTn id="185" dur="500"/>
                                        <p:tgtEl>
                                          <p:spTgt spid="39"/>
                                        </p:tgtEl>
                                      </p:cBhvr>
                                    </p:animEffect>
                                    <p:anim calcmode="lin" valueType="num">
                                      <p:cBhvr>
                                        <p:cTn id="186" dur="500" fill="hold"/>
                                        <p:tgtEl>
                                          <p:spTgt spid="39"/>
                                        </p:tgtEl>
                                        <p:attrNameLst>
                                          <p:attrName>ppt_x</p:attrName>
                                        </p:attrNameLst>
                                      </p:cBhvr>
                                      <p:tavLst>
                                        <p:tav tm="0">
                                          <p:val>
                                            <p:strVal val="#ppt_x"/>
                                          </p:val>
                                        </p:tav>
                                        <p:tav tm="100000">
                                          <p:val>
                                            <p:strVal val="#ppt_x"/>
                                          </p:val>
                                        </p:tav>
                                      </p:tavLst>
                                    </p:anim>
                                    <p:anim calcmode="lin" valueType="num">
                                      <p:cBhvr>
                                        <p:cTn id="187" dur="500" fill="hold"/>
                                        <p:tgtEl>
                                          <p:spTgt spid="39"/>
                                        </p:tgtEl>
                                        <p:attrNameLst>
                                          <p:attrName>ppt_y</p:attrName>
                                        </p:attrNameLst>
                                      </p:cBhvr>
                                      <p:tavLst>
                                        <p:tav tm="0">
                                          <p:val>
                                            <p:strVal val="#ppt_y+.1"/>
                                          </p:val>
                                        </p:tav>
                                        <p:tav tm="100000">
                                          <p:val>
                                            <p:strVal val="#ppt_y"/>
                                          </p:val>
                                        </p:tav>
                                      </p:tavLst>
                                    </p:anim>
                                  </p:childTnLst>
                                </p:cTn>
                              </p:par>
                              <p:par>
                                <p:cTn id="193" presetID="42" presetClass="entr" presetSubtype="0" fill="hold" nodeType="withEffect">
                                  <p:stCondLst>
                                    <p:cond delay="0"/>
                                  </p:stCondLst>
                                  <p:childTnLst>
                                    <p:set>
                                      <p:cBhvr>
                                        <p:cTn id="189" dur="1" fill="hold">
                                          <p:stCondLst>
                                            <p:cond delay="0"/>
                                          </p:stCondLst>
                                        </p:cTn>
                                        <p:tgtEl>
                                          <p:spTgt spid="40"/>
                                        </p:tgtEl>
                                        <p:attrNameLst>
                                          <p:attrName>style.visibility</p:attrName>
                                        </p:attrNameLst>
                                      </p:cBhvr>
                                      <p:to>
                                        <p:strVal val="visible"/>
                                      </p:to>
                                    </p:set>
                                    <p:animEffect transition="in" filter="fade">
                                      <p:cBhvr>
                                        <p:cTn id="190" dur="500"/>
                                        <p:tgtEl>
                                          <p:spTgt spid="40"/>
                                        </p:tgtEl>
                                      </p:cBhvr>
                                    </p:animEffect>
                                    <p:anim calcmode="lin" valueType="num">
                                      <p:cBhvr>
                                        <p:cTn id="191" dur="500" fill="hold"/>
                                        <p:tgtEl>
                                          <p:spTgt spid="40"/>
                                        </p:tgtEl>
                                        <p:attrNameLst>
                                          <p:attrName>ppt_x</p:attrName>
                                        </p:attrNameLst>
                                      </p:cBhvr>
                                      <p:tavLst>
                                        <p:tav tm="0">
                                          <p:val>
                                            <p:strVal val="#ppt_x"/>
                                          </p:val>
                                        </p:tav>
                                        <p:tav tm="100000">
                                          <p:val>
                                            <p:strVal val="#ppt_x"/>
                                          </p:val>
                                        </p:tav>
                                      </p:tavLst>
                                    </p:anim>
                                    <p:anim calcmode="lin" valueType="num">
                                      <p:cBhvr>
                                        <p:cTn id="192" dur="500" fill="hold"/>
                                        <p:tgtEl>
                                          <p:spTgt spid="40"/>
                                        </p:tgtEl>
                                        <p:attrNameLst>
                                          <p:attrName>ppt_y</p:attrName>
                                        </p:attrNameLst>
                                      </p:cBhvr>
                                      <p:tavLst>
                                        <p:tav tm="0">
                                          <p:val>
                                            <p:strVal val="#ppt_y+.1"/>
                                          </p:val>
                                        </p:tav>
                                        <p:tav tm="100000">
                                          <p:val>
                                            <p:strVal val="#ppt_y"/>
                                          </p:val>
                                        </p:tav>
                                      </p:tavLst>
                                    </p:anim>
                                  </p:childTnLst>
                                </p:cTn>
                              </p:par>
                              <p:par>
                                <p:cTn id="198" presetID="42" presetClass="entr" presetSubtype="0" fill="hold" nodeType="withEffect">
                                  <p:stCondLst>
                                    <p:cond delay="0"/>
                                  </p:stCondLst>
                                  <p:childTnLst>
                                    <p:set>
                                      <p:cBhvr>
                                        <p:cTn id="194" dur="1" fill="hold">
                                          <p:stCondLst>
                                            <p:cond delay="0"/>
                                          </p:stCondLst>
                                        </p:cTn>
                                        <p:tgtEl>
                                          <p:spTgt spid="41"/>
                                        </p:tgtEl>
                                        <p:attrNameLst>
                                          <p:attrName>style.visibility</p:attrName>
                                        </p:attrNameLst>
                                      </p:cBhvr>
                                      <p:to>
                                        <p:strVal val="visible"/>
                                      </p:to>
                                    </p:set>
                                    <p:animEffect transition="in" filter="fade">
                                      <p:cBhvr>
                                        <p:cTn id="195" dur="500"/>
                                        <p:tgtEl>
                                          <p:spTgt spid="41"/>
                                        </p:tgtEl>
                                      </p:cBhvr>
                                    </p:animEffect>
                                    <p:anim calcmode="lin" valueType="num">
                                      <p:cBhvr>
                                        <p:cTn id="196" dur="500" fill="hold"/>
                                        <p:tgtEl>
                                          <p:spTgt spid="41"/>
                                        </p:tgtEl>
                                        <p:attrNameLst>
                                          <p:attrName>ppt_x</p:attrName>
                                        </p:attrNameLst>
                                      </p:cBhvr>
                                      <p:tavLst>
                                        <p:tav tm="0">
                                          <p:val>
                                            <p:strVal val="#ppt_x"/>
                                          </p:val>
                                        </p:tav>
                                        <p:tav tm="100000">
                                          <p:val>
                                            <p:strVal val="#ppt_x"/>
                                          </p:val>
                                        </p:tav>
                                      </p:tavLst>
                                    </p:anim>
                                    <p:anim calcmode="lin" valueType="num">
                                      <p:cBhvr>
                                        <p:cTn id="197" dur="500" fill="hold"/>
                                        <p:tgtEl>
                                          <p:spTgt spid="41"/>
                                        </p:tgtEl>
                                        <p:attrNameLst>
                                          <p:attrName>ppt_y</p:attrName>
                                        </p:attrNameLst>
                                      </p:cBhvr>
                                      <p:tavLst>
                                        <p:tav tm="0">
                                          <p:val>
                                            <p:strVal val="#ppt_y+.1"/>
                                          </p:val>
                                        </p:tav>
                                        <p:tav tm="100000">
                                          <p:val>
                                            <p:strVal val="#ppt_y"/>
                                          </p:val>
                                        </p:tav>
                                      </p:tavLst>
                                    </p:anim>
                                  </p:childTnLst>
                                </p:cTn>
                              </p:par>
                              <p:par>
                                <p:cTn id="203" presetID="42" presetClass="entr" presetSubtype="0" fill="hold" nodeType="withEffect">
                                  <p:stCondLst>
                                    <p:cond delay="0"/>
                                  </p:stCondLst>
                                  <p:childTnLst>
                                    <p:set>
                                      <p:cBhvr>
                                        <p:cTn id="199" dur="1" fill="hold">
                                          <p:stCondLst>
                                            <p:cond delay="0"/>
                                          </p:stCondLst>
                                        </p:cTn>
                                        <p:tgtEl>
                                          <p:spTgt spid="42"/>
                                        </p:tgtEl>
                                        <p:attrNameLst>
                                          <p:attrName>style.visibility</p:attrName>
                                        </p:attrNameLst>
                                      </p:cBhvr>
                                      <p:to>
                                        <p:strVal val="visible"/>
                                      </p:to>
                                    </p:set>
                                    <p:animEffect transition="in" filter="fade">
                                      <p:cBhvr>
                                        <p:cTn id="200" dur="500"/>
                                        <p:tgtEl>
                                          <p:spTgt spid="42"/>
                                        </p:tgtEl>
                                      </p:cBhvr>
                                    </p:animEffect>
                                    <p:anim calcmode="lin" valueType="num">
                                      <p:cBhvr>
                                        <p:cTn id="201" dur="500" fill="hold"/>
                                        <p:tgtEl>
                                          <p:spTgt spid="42"/>
                                        </p:tgtEl>
                                        <p:attrNameLst>
                                          <p:attrName>ppt_x</p:attrName>
                                        </p:attrNameLst>
                                      </p:cBhvr>
                                      <p:tavLst>
                                        <p:tav tm="0">
                                          <p:val>
                                            <p:strVal val="#ppt_x"/>
                                          </p:val>
                                        </p:tav>
                                        <p:tav tm="100000">
                                          <p:val>
                                            <p:strVal val="#ppt_x"/>
                                          </p:val>
                                        </p:tav>
                                      </p:tavLst>
                                    </p:anim>
                                    <p:anim calcmode="lin" valueType="num">
                                      <p:cBhvr>
                                        <p:cTn id="202" dur="500" fill="hold"/>
                                        <p:tgtEl>
                                          <p:spTgt spid="42"/>
                                        </p:tgtEl>
                                        <p:attrNameLst>
                                          <p:attrName>ppt_y</p:attrName>
                                        </p:attrNameLst>
                                      </p:cBhvr>
                                      <p:tavLst>
                                        <p:tav tm="0">
                                          <p:val>
                                            <p:strVal val="#ppt_y+.1"/>
                                          </p:val>
                                        </p:tav>
                                        <p:tav tm="100000">
                                          <p:val>
                                            <p:strVal val="#ppt_y"/>
                                          </p:val>
                                        </p:tav>
                                      </p:tavLst>
                                    </p:anim>
                                  </p:childTnLst>
                                </p:cTn>
                              </p:par>
                              <p:par>
                                <p:cTn id="208" presetID="42" presetClass="entr" presetSubtype="0" fill="hold" nodeType="withEffect">
                                  <p:stCondLst>
                                    <p:cond delay="0"/>
                                  </p:stCondLst>
                                  <p:childTnLst>
                                    <p:set>
                                      <p:cBhvr>
                                        <p:cTn id="204" dur="1" fill="hold">
                                          <p:stCondLst>
                                            <p:cond delay="0"/>
                                          </p:stCondLst>
                                        </p:cTn>
                                        <p:tgtEl>
                                          <p:spTgt spid="43"/>
                                        </p:tgtEl>
                                        <p:attrNameLst>
                                          <p:attrName>style.visibility</p:attrName>
                                        </p:attrNameLst>
                                      </p:cBhvr>
                                      <p:to>
                                        <p:strVal val="visible"/>
                                      </p:to>
                                    </p:set>
                                    <p:animEffect transition="in" filter="fade">
                                      <p:cBhvr>
                                        <p:cTn id="205" dur="500"/>
                                        <p:tgtEl>
                                          <p:spTgt spid="43"/>
                                        </p:tgtEl>
                                      </p:cBhvr>
                                    </p:animEffect>
                                    <p:anim calcmode="lin" valueType="num">
                                      <p:cBhvr>
                                        <p:cTn id="206" dur="500" fill="hold"/>
                                        <p:tgtEl>
                                          <p:spTgt spid="43"/>
                                        </p:tgtEl>
                                        <p:attrNameLst>
                                          <p:attrName>ppt_x</p:attrName>
                                        </p:attrNameLst>
                                      </p:cBhvr>
                                      <p:tavLst>
                                        <p:tav tm="0">
                                          <p:val>
                                            <p:strVal val="#ppt_x"/>
                                          </p:val>
                                        </p:tav>
                                        <p:tav tm="100000">
                                          <p:val>
                                            <p:strVal val="#ppt_x"/>
                                          </p:val>
                                        </p:tav>
                                      </p:tavLst>
                                    </p:anim>
                                    <p:anim calcmode="lin" valueType="num">
                                      <p:cBhvr>
                                        <p:cTn id="207" dur="500" fill="hold"/>
                                        <p:tgtEl>
                                          <p:spTgt spid="43"/>
                                        </p:tgtEl>
                                        <p:attrNameLst>
                                          <p:attrName>ppt_y</p:attrName>
                                        </p:attrNameLst>
                                      </p:cBhvr>
                                      <p:tavLst>
                                        <p:tav tm="0">
                                          <p:val>
                                            <p:strVal val="#ppt_y+.1"/>
                                          </p:val>
                                        </p:tav>
                                        <p:tav tm="100000">
                                          <p:val>
                                            <p:strVal val="#ppt_y"/>
                                          </p:val>
                                        </p:tav>
                                      </p:tavLst>
                                    </p:anim>
                                  </p:childTnLst>
                                </p:cTn>
                              </p:par>
                              <p:par>
                                <p:cTn id="213" presetID="42" presetClass="entr" presetSubtype="0" fill="hold" nodeType="withEffect">
                                  <p:stCondLst>
                                    <p:cond delay="0"/>
                                  </p:stCondLst>
                                  <p:childTnLst>
                                    <p:set>
                                      <p:cBhvr>
                                        <p:cTn id="209" dur="1" fill="hold">
                                          <p:stCondLst>
                                            <p:cond delay="0"/>
                                          </p:stCondLst>
                                        </p:cTn>
                                        <p:tgtEl>
                                          <p:spTgt spid="44"/>
                                        </p:tgtEl>
                                        <p:attrNameLst>
                                          <p:attrName>style.visibility</p:attrName>
                                        </p:attrNameLst>
                                      </p:cBhvr>
                                      <p:to>
                                        <p:strVal val="visible"/>
                                      </p:to>
                                    </p:set>
                                    <p:animEffect transition="in" filter="fade">
                                      <p:cBhvr>
                                        <p:cTn id="210" dur="500"/>
                                        <p:tgtEl>
                                          <p:spTgt spid="44"/>
                                        </p:tgtEl>
                                      </p:cBhvr>
                                    </p:animEffect>
                                    <p:anim calcmode="lin" valueType="num">
                                      <p:cBhvr>
                                        <p:cTn id="211" dur="500" fill="hold"/>
                                        <p:tgtEl>
                                          <p:spTgt spid="44"/>
                                        </p:tgtEl>
                                        <p:attrNameLst>
                                          <p:attrName>ppt_x</p:attrName>
                                        </p:attrNameLst>
                                      </p:cBhvr>
                                      <p:tavLst>
                                        <p:tav tm="0">
                                          <p:val>
                                            <p:strVal val="#ppt_x"/>
                                          </p:val>
                                        </p:tav>
                                        <p:tav tm="100000">
                                          <p:val>
                                            <p:strVal val="#ppt_x"/>
                                          </p:val>
                                        </p:tav>
                                      </p:tavLst>
                                    </p:anim>
                                    <p:anim calcmode="lin" valueType="num">
                                      <p:cBhvr>
                                        <p:cTn id="212" dur="500" fill="hold"/>
                                        <p:tgtEl>
                                          <p:spTgt spid="44"/>
                                        </p:tgtEl>
                                        <p:attrNameLst>
                                          <p:attrName>ppt_y</p:attrName>
                                        </p:attrNameLst>
                                      </p:cBhvr>
                                      <p:tavLst>
                                        <p:tav tm="0">
                                          <p:val>
                                            <p:strVal val="#ppt_y+.1"/>
                                          </p:val>
                                        </p:tav>
                                        <p:tav tm="100000">
                                          <p:val>
                                            <p:strVal val="#ppt_y"/>
                                          </p:val>
                                        </p:tav>
                                      </p:tavLst>
                                    </p:anim>
                                  </p:childTnLst>
                                </p:cTn>
                              </p:par>
                              <p:par>
                                <p:cTn id="218" presetID="42" presetClass="entr" presetSubtype="0" fill="hold" nodeType="withEffect">
                                  <p:stCondLst>
                                    <p:cond delay="0"/>
                                  </p:stCondLst>
                                  <p:childTnLst>
                                    <p:set>
                                      <p:cBhvr>
                                        <p:cTn id="214" dur="1" fill="hold">
                                          <p:stCondLst>
                                            <p:cond delay="0"/>
                                          </p:stCondLst>
                                        </p:cTn>
                                        <p:tgtEl>
                                          <p:spTgt spid="45"/>
                                        </p:tgtEl>
                                        <p:attrNameLst>
                                          <p:attrName>style.visibility</p:attrName>
                                        </p:attrNameLst>
                                      </p:cBhvr>
                                      <p:to>
                                        <p:strVal val="visible"/>
                                      </p:to>
                                    </p:set>
                                    <p:animEffect transition="in" filter="fade">
                                      <p:cBhvr>
                                        <p:cTn id="215" dur="500"/>
                                        <p:tgtEl>
                                          <p:spTgt spid="45"/>
                                        </p:tgtEl>
                                      </p:cBhvr>
                                    </p:animEffect>
                                    <p:anim calcmode="lin" valueType="num">
                                      <p:cBhvr>
                                        <p:cTn id="216" dur="500" fill="hold"/>
                                        <p:tgtEl>
                                          <p:spTgt spid="45"/>
                                        </p:tgtEl>
                                        <p:attrNameLst>
                                          <p:attrName>ppt_x</p:attrName>
                                        </p:attrNameLst>
                                      </p:cBhvr>
                                      <p:tavLst>
                                        <p:tav tm="0">
                                          <p:val>
                                            <p:strVal val="#ppt_x"/>
                                          </p:val>
                                        </p:tav>
                                        <p:tav tm="100000">
                                          <p:val>
                                            <p:strVal val="#ppt_x"/>
                                          </p:val>
                                        </p:tav>
                                      </p:tavLst>
                                    </p:anim>
                                    <p:anim calcmode="lin" valueType="num">
                                      <p:cBhvr>
                                        <p:cTn id="217" dur="500" fill="hold"/>
                                        <p:tgtEl>
                                          <p:spTgt spid="45"/>
                                        </p:tgtEl>
                                        <p:attrNameLst>
                                          <p:attrName>ppt_y</p:attrName>
                                        </p:attrNameLst>
                                      </p:cBhvr>
                                      <p:tavLst>
                                        <p:tav tm="0">
                                          <p:val>
                                            <p:strVal val="#ppt_y+.1"/>
                                          </p:val>
                                        </p:tav>
                                        <p:tav tm="100000">
                                          <p:val>
                                            <p:strVal val="#ppt_y"/>
                                          </p:val>
                                        </p:tav>
                                      </p:tavLst>
                                    </p:anim>
                                  </p:childTnLst>
                                </p:cTn>
                              </p:par>
                              <p:par>
                                <p:cTn id="223" presetID="42" presetClass="entr" presetSubtype="0" fill="hold" nodeType="withEffect">
                                  <p:stCondLst>
                                    <p:cond delay="0"/>
                                  </p:stCondLst>
                                  <p:childTnLst>
                                    <p:set>
                                      <p:cBhvr>
                                        <p:cTn id="219" dur="1" fill="hold">
                                          <p:stCondLst>
                                            <p:cond delay="0"/>
                                          </p:stCondLst>
                                        </p:cTn>
                                        <p:tgtEl>
                                          <p:spTgt spid="46"/>
                                        </p:tgtEl>
                                        <p:attrNameLst>
                                          <p:attrName>style.visibility</p:attrName>
                                        </p:attrNameLst>
                                      </p:cBhvr>
                                      <p:to>
                                        <p:strVal val="visible"/>
                                      </p:to>
                                    </p:set>
                                    <p:animEffect transition="in" filter="fade">
                                      <p:cBhvr>
                                        <p:cTn id="220" dur="500"/>
                                        <p:tgtEl>
                                          <p:spTgt spid="46"/>
                                        </p:tgtEl>
                                      </p:cBhvr>
                                    </p:animEffect>
                                    <p:anim calcmode="lin" valueType="num">
                                      <p:cBhvr>
                                        <p:cTn id="221" dur="500" fill="hold"/>
                                        <p:tgtEl>
                                          <p:spTgt spid="46"/>
                                        </p:tgtEl>
                                        <p:attrNameLst>
                                          <p:attrName>ppt_x</p:attrName>
                                        </p:attrNameLst>
                                      </p:cBhvr>
                                      <p:tavLst>
                                        <p:tav tm="0">
                                          <p:val>
                                            <p:strVal val="#ppt_x"/>
                                          </p:val>
                                        </p:tav>
                                        <p:tav tm="100000">
                                          <p:val>
                                            <p:strVal val="#ppt_x"/>
                                          </p:val>
                                        </p:tav>
                                      </p:tavLst>
                                    </p:anim>
                                    <p:anim calcmode="lin" valueType="num">
                                      <p:cBhvr>
                                        <p:cTn id="222" dur="500" fill="hold"/>
                                        <p:tgtEl>
                                          <p:spTgt spid="46"/>
                                        </p:tgtEl>
                                        <p:attrNameLst>
                                          <p:attrName>ppt_y</p:attrName>
                                        </p:attrNameLst>
                                      </p:cBhvr>
                                      <p:tavLst>
                                        <p:tav tm="0">
                                          <p:val>
                                            <p:strVal val="#ppt_y+.1"/>
                                          </p:val>
                                        </p:tav>
                                        <p:tav tm="100000">
                                          <p:val>
                                            <p:strVal val="#ppt_y"/>
                                          </p:val>
                                        </p:tav>
                                      </p:tavLst>
                                    </p:anim>
                                  </p:childTnLst>
                                </p:cTn>
                              </p:par>
                              <p:par>
                                <p:cTn id="228" presetID="42" presetClass="entr" presetSubtype="0" fill="hold" nodeType="withEffect">
                                  <p:stCondLst>
                                    <p:cond delay="0"/>
                                  </p:stCondLst>
                                  <p:childTnLst>
                                    <p:set>
                                      <p:cBhvr>
                                        <p:cTn id="224" dur="1" fill="hold">
                                          <p:stCondLst>
                                            <p:cond delay="0"/>
                                          </p:stCondLst>
                                        </p:cTn>
                                        <p:tgtEl>
                                          <p:spTgt spid="47"/>
                                        </p:tgtEl>
                                        <p:attrNameLst>
                                          <p:attrName>style.visibility</p:attrName>
                                        </p:attrNameLst>
                                      </p:cBhvr>
                                      <p:to>
                                        <p:strVal val="visible"/>
                                      </p:to>
                                    </p:set>
                                    <p:animEffect transition="in" filter="fade">
                                      <p:cBhvr>
                                        <p:cTn id="225" dur="500"/>
                                        <p:tgtEl>
                                          <p:spTgt spid="47"/>
                                        </p:tgtEl>
                                      </p:cBhvr>
                                    </p:animEffect>
                                    <p:anim calcmode="lin" valueType="num">
                                      <p:cBhvr>
                                        <p:cTn id="226" dur="500" fill="hold"/>
                                        <p:tgtEl>
                                          <p:spTgt spid="47"/>
                                        </p:tgtEl>
                                        <p:attrNameLst>
                                          <p:attrName>ppt_x</p:attrName>
                                        </p:attrNameLst>
                                      </p:cBhvr>
                                      <p:tavLst>
                                        <p:tav tm="0">
                                          <p:val>
                                            <p:strVal val="#ppt_x"/>
                                          </p:val>
                                        </p:tav>
                                        <p:tav tm="100000">
                                          <p:val>
                                            <p:strVal val="#ppt_x"/>
                                          </p:val>
                                        </p:tav>
                                      </p:tavLst>
                                    </p:anim>
                                    <p:anim calcmode="lin" valueType="num">
                                      <p:cBhvr>
                                        <p:cTn id="227" dur="500" fill="hold"/>
                                        <p:tgtEl>
                                          <p:spTgt spid="47"/>
                                        </p:tgtEl>
                                        <p:attrNameLst>
                                          <p:attrName>ppt_y</p:attrName>
                                        </p:attrNameLst>
                                      </p:cBhvr>
                                      <p:tavLst>
                                        <p:tav tm="0">
                                          <p:val>
                                            <p:strVal val="#ppt_y+.1"/>
                                          </p:val>
                                        </p:tav>
                                        <p:tav tm="100000">
                                          <p:val>
                                            <p:strVal val="#ppt_y"/>
                                          </p:val>
                                        </p:tav>
                                      </p:tavLst>
                                    </p:anim>
                                  </p:childTnLst>
                                </p:cTn>
                              </p:par>
                              <p:par>
                                <p:cTn id="233" presetID="42" presetClass="entr" presetSubtype="0" fill="hold" nodeType="withEffect">
                                  <p:stCondLst>
                                    <p:cond delay="0"/>
                                  </p:stCondLst>
                                  <p:childTnLst>
                                    <p:set>
                                      <p:cBhvr>
                                        <p:cTn id="229" dur="1" fill="hold">
                                          <p:stCondLst>
                                            <p:cond delay="0"/>
                                          </p:stCondLst>
                                        </p:cTn>
                                        <p:tgtEl>
                                          <p:spTgt spid="48"/>
                                        </p:tgtEl>
                                        <p:attrNameLst>
                                          <p:attrName>style.visibility</p:attrName>
                                        </p:attrNameLst>
                                      </p:cBhvr>
                                      <p:to>
                                        <p:strVal val="visible"/>
                                      </p:to>
                                    </p:set>
                                    <p:animEffect transition="in" filter="fade">
                                      <p:cBhvr>
                                        <p:cTn id="230" dur="500"/>
                                        <p:tgtEl>
                                          <p:spTgt spid="48"/>
                                        </p:tgtEl>
                                      </p:cBhvr>
                                    </p:animEffect>
                                    <p:anim calcmode="lin" valueType="num">
                                      <p:cBhvr>
                                        <p:cTn id="231" dur="500" fill="hold"/>
                                        <p:tgtEl>
                                          <p:spTgt spid="48"/>
                                        </p:tgtEl>
                                        <p:attrNameLst>
                                          <p:attrName>ppt_x</p:attrName>
                                        </p:attrNameLst>
                                      </p:cBhvr>
                                      <p:tavLst>
                                        <p:tav tm="0">
                                          <p:val>
                                            <p:strVal val="#ppt_x"/>
                                          </p:val>
                                        </p:tav>
                                        <p:tav tm="100000">
                                          <p:val>
                                            <p:strVal val="#ppt_x"/>
                                          </p:val>
                                        </p:tav>
                                      </p:tavLst>
                                    </p:anim>
                                    <p:anim calcmode="lin" valueType="num">
                                      <p:cBhvr>
                                        <p:cTn id="232" dur="500" fill="hold"/>
                                        <p:tgtEl>
                                          <p:spTgt spid="48"/>
                                        </p:tgtEl>
                                        <p:attrNameLst>
                                          <p:attrName>ppt_y</p:attrName>
                                        </p:attrNameLst>
                                      </p:cBhvr>
                                      <p:tavLst>
                                        <p:tav tm="0">
                                          <p:val>
                                            <p:strVal val="#ppt_y+.1"/>
                                          </p:val>
                                        </p:tav>
                                        <p:tav tm="100000">
                                          <p:val>
                                            <p:strVal val="#ppt_y"/>
                                          </p:val>
                                        </p:tav>
                                      </p:tavLst>
                                    </p:anim>
                                  </p:childTnLst>
                                </p:cTn>
                              </p:par>
                              <p:par>
                                <p:cTn id="238" presetID="42" presetClass="entr" presetSubtype="0" fill="hold" nodeType="withEffect">
                                  <p:stCondLst>
                                    <p:cond delay="0"/>
                                  </p:stCondLst>
                                  <p:childTnLst>
                                    <p:set>
                                      <p:cBhvr>
                                        <p:cTn id="234" dur="1" fill="hold">
                                          <p:stCondLst>
                                            <p:cond delay="0"/>
                                          </p:stCondLst>
                                        </p:cTn>
                                        <p:tgtEl>
                                          <p:spTgt spid="49"/>
                                        </p:tgtEl>
                                        <p:attrNameLst>
                                          <p:attrName>style.visibility</p:attrName>
                                        </p:attrNameLst>
                                      </p:cBhvr>
                                      <p:to>
                                        <p:strVal val="visible"/>
                                      </p:to>
                                    </p:set>
                                    <p:animEffect transition="in" filter="fade">
                                      <p:cBhvr>
                                        <p:cTn id="235" dur="500"/>
                                        <p:tgtEl>
                                          <p:spTgt spid="49"/>
                                        </p:tgtEl>
                                      </p:cBhvr>
                                    </p:animEffect>
                                    <p:anim calcmode="lin" valueType="num">
                                      <p:cBhvr>
                                        <p:cTn id="236" dur="500" fill="hold"/>
                                        <p:tgtEl>
                                          <p:spTgt spid="49"/>
                                        </p:tgtEl>
                                        <p:attrNameLst>
                                          <p:attrName>ppt_x</p:attrName>
                                        </p:attrNameLst>
                                      </p:cBhvr>
                                      <p:tavLst>
                                        <p:tav tm="0">
                                          <p:val>
                                            <p:strVal val="#ppt_x"/>
                                          </p:val>
                                        </p:tav>
                                        <p:tav tm="100000">
                                          <p:val>
                                            <p:strVal val="#ppt_x"/>
                                          </p:val>
                                        </p:tav>
                                      </p:tavLst>
                                    </p:anim>
                                    <p:anim calcmode="lin" valueType="num">
                                      <p:cBhvr>
                                        <p:cTn id="237" dur="500" fill="hold"/>
                                        <p:tgtEl>
                                          <p:spTgt spid="49"/>
                                        </p:tgtEl>
                                        <p:attrNameLst>
                                          <p:attrName>ppt_y</p:attrName>
                                        </p:attrNameLst>
                                      </p:cBhvr>
                                      <p:tavLst>
                                        <p:tav tm="0">
                                          <p:val>
                                            <p:strVal val="#ppt_y+.1"/>
                                          </p:val>
                                        </p:tav>
                                        <p:tav tm="100000">
                                          <p:val>
                                            <p:strVal val="#ppt_y"/>
                                          </p:val>
                                        </p:tav>
                                      </p:tavLst>
                                    </p:anim>
                                  </p:childTnLst>
                                </p:cTn>
                              </p:par>
                              <p:par>
                                <p:cTn id="243" presetID="42" presetClass="entr" presetSubtype="0" fill="hold" nodeType="withEffect">
                                  <p:stCondLst>
                                    <p:cond delay="0"/>
                                  </p:stCondLst>
                                  <p:childTnLst>
                                    <p:set>
                                      <p:cBhvr>
                                        <p:cTn id="239" dur="1" fill="hold">
                                          <p:stCondLst>
                                            <p:cond delay="0"/>
                                          </p:stCondLst>
                                        </p:cTn>
                                        <p:tgtEl>
                                          <p:spTgt spid="50"/>
                                        </p:tgtEl>
                                        <p:attrNameLst>
                                          <p:attrName>style.visibility</p:attrName>
                                        </p:attrNameLst>
                                      </p:cBhvr>
                                      <p:to>
                                        <p:strVal val="visible"/>
                                      </p:to>
                                    </p:set>
                                    <p:animEffect transition="in" filter="fade">
                                      <p:cBhvr>
                                        <p:cTn id="240" dur="500"/>
                                        <p:tgtEl>
                                          <p:spTgt spid="50"/>
                                        </p:tgtEl>
                                      </p:cBhvr>
                                    </p:animEffect>
                                    <p:anim calcmode="lin" valueType="num">
                                      <p:cBhvr>
                                        <p:cTn id="241" dur="500" fill="hold"/>
                                        <p:tgtEl>
                                          <p:spTgt spid="50"/>
                                        </p:tgtEl>
                                        <p:attrNameLst>
                                          <p:attrName>ppt_x</p:attrName>
                                        </p:attrNameLst>
                                      </p:cBhvr>
                                      <p:tavLst>
                                        <p:tav tm="0">
                                          <p:val>
                                            <p:strVal val="#ppt_x"/>
                                          </p:val>
                                        </p:tav>
                                        <p:tav tm="100000">
                                          <p:val>
                                            <p:strVal val="#ppt_x"/>
                                          </p:val>
                                        </p:tav>
                                      </p:tavLst>
                                    </p:anim>
                                    <p:anim calcmode="lin" valueType="num">
                                      <p:cBhvr>
                                        <p:cTn id="242" dur="500" fill="hold"/>
                                        <p:tgtEl>
                                          <p:spTgt spid="50"/>
                                        </p:tgtEl>
                                        <p:attrNameLst>
                                          <p:attrName>ppt_y</p:attrName>
                                        </p:attrNameLst>
                                      </p:cBhvr>
                                      <p:tavLst>
                                        <p:tav tm="0">
                                          <p:val>
                                            <p:strVal val="#ppt_y+.1"/>
                                          </p:val>
                                        </p:tav>
                                        <p:tav tm="100000">
                                          <p:val>
                                            <p:strVal val="#ppt_y"/>
                                          </p:val>
                                        </p:tav>
                                      </p:tavLst>
                                    </p:anim>
                                  </p:childTnLst>
                                </p:cTn>
                              </p:par>
                              <p:par>
                                <p:cTn id="248" presetID="42" presetClass="entr" presetSubtype="0" fill="hold" nodeType="withEffect">
                                  <p:stCondLst>
                                    <p:cond delay="0"/>
                                  </p:stCondLst>
                                  <p:childTnLst>
                                    <p:set>
                                      <p:cBhvr>
                                        <p:cTn id="244" dur="1" fill="hold">
                                          <p:stCondLst>
                                            <p:cond delay="0"/>
                                          </p:stCondLst>
                                        </p:cTn>
                                        <p:tgtEl>
                                          <p:spTgt spid="51"/>
                                        </p:tgtEl>
                                        <p:attrNameLst>
                                          <p:attrName>style.visibility</p:attrName>
                                        </p:attrNameLst>
                                      </p:cBhvr>
                                      <p:to>
                                        <p:strVal val="visible"/>
                                      </p:to>
                                    </p:set>
                                    <p:animEffect transition="in" filter="fade">
                                      <p:cBhvr>
                                        <p:cTn id="245" dur="500"/>
                                        <p:tgtEl>
                                          <p:spTgt spid="51"/>
                                        </p:tgtEl>
                                      </p:cBhvr>
                                    </p:animEffect>
                                    <p:anim calcmode="lin" valueType="num">
                                      <p:cBhvr>
                                        <p:cTn id="246" dur="500" fill="hold"/>
                                        <p:tgtEl>
                                          <p:spTgt spid="51"/>
                                        </p:tgtEl>
                                        <p:attrNameLst>
                                          <p:attrName>ppt_x</p:attrName>
                                        </p:attrNameLst>
                                      </p:cBhvr>
                                      <p:tavLst>
                                        <p:tav tm="0">
                                          <p:val>
                                            <p:strVal val="#ppt_x"/>
                                          </p:val>
                                        </p:tav>
                                        <p:tav tm="100000">
                                          <p:val>
                                            <p:strVal val="#ppt_x"/>
                                          </p:val>
                                        </p:tav>
                                      </p:tavLst>
                                    </p:anim>
                                    <p:anim calcmode="lin" valueType="num">
                                      <p:cBhvr>
                                        <p:cTn id="247" dur="500" fill="hold"/>
                                        <p:tgtEl>
                                          <p:spTgt spid="51"/>
                                        </p:tgtEl>
                                        <p:attrNameLst>
                                          <p:attrName>ppt_y</p:attrName>
                                        </p:attrNameLst>
                                      </p:cBhvr>
                                      <p:tavLst>
                                        <p:tav tm="0">
                                          <p:val>
                                            <p:strVal val="#ppt_y+.1"/>
                                          </p:val>
                                        </p:tav>
                                        <p:tav tm="100000">
                                          <p:val>
                                            <p:strVal val="#ppt_y"/>
                                          </p:val>
                                        </p:tav>
                                      </p:tavLst>
                                    </p:anim>
                                  </p:childTnLst>
                                </p:cTn>
                              </p:par>
                              <p:par>
                                <p:cTn id="253" presetID="42" presetClass="entr" presetSubtype="0" fill="hold" nodeType="withEffect">
                                  <p:stCondLst>
                                    <p:cond delay="0"/>
                                  </p:stCondLst>
                                  <p:childTnLst>
                                    <p:set>
                                      <p:cBhvr>
                                        <p:cTn id="249" dur="1" fill="hold">
                                          <p:stCondLst>
                                            <p:cond delay="0"/>
                                          </p:stCondLst>
                                        </p:cTn>
                                        <p:tgtEl>
                                          <p:spTgt spid="52"/>
                                        </p:tgtEl>
                                        <p:attrNameLst>
                                          <p:attrName>style.visibility</p:attrName>
                                        </p:attrNameLst>
                                      </p:cBhvr>
                                      <p:to>
                                        <p:strVal val="visible"/>
                                      </p:to>
                                    </p:set>
                                    <p:animEffect transition="in" filter="fade">
                                      <p:cBhvr>
                                        <p:cTn id="250" dur="500"/>
                                        <p:tgtEl>
                                          <p:spTgt spid="52"/>
                                        </p:tgtEl>
                                      </p:cBhvr>
                                    </p:animEffect>
                                    <p:anim calcmode="lin" valueType="num">
                                      <p:cBhvr>
                                        <p:cTn id="251" dur="500" fill="hold"/>
                                        <p:tgtEl>
                                          <p:spTgt spid="52"/>
                                        </p:tgtEl>
                                        <p:attrNameLst>
                                          <p:attrName>ppt_x</p:attrName>
                                        </p:attrNameLst>
                                      </p:cBhvr>
                                      <p:tavLst>
                                        <p:tav tm="0">
                                          <p:val>
                                            <p:strVal val="#ppt_x"/>
                                          </p:val>
                                        </p:tav>
                                        <p:tav tm="100000">
                                          <p:val>
                                            <p:strVal val="#ppt_x"/>
                                          </p:val>
                                        </p:tav>
                                      </p:tavLst>
                                    </p:anim>
                                    <p:anim calcmode="lin" valueType="num">
                                      <p:cBhvr>
                                        <p:cTn id="252" dur="500" fill="hold"/>
                                        <p:tgtEl>
                                          <p:spTgt spid="5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Where does point-slope form come from?</a:t>
            </a:r>
            <a:endParaRPr lang="en-US" sz="3450" dirty="0"/>
          </a:p>
        </p:txBody>
      </p:sp>
      <p:sp>
        <p:nvSpPr>
          <p:cNvPr id="4" name="Shape 4"/>
          <p:cNvSpPr txBox="1"/>
          <p:nvPr/>
        </p:nvSpPr>
        <p:spPr>
          <a:xfrm>
            <a:off x="685800" y="1618488"/>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Start with the slope formula. Use a known point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 and any point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on the line.</a:t>
            </a:r>
            <a:endParaRPr lang="en-US" sz="1950" dirty="0"/>
          </a:p>
        </p:txBody>
      </p:sp>
      <p:sp>
        <p:nvSpPr>
          <p:cNvPr id="5" name="Shape 5"/>
          <p:cNvSpPr txBox="1"/>
          <p:nvPr/>
        </p:nvSpPr>
        <p:spPr>
          <a:xfrm>
            <a:off x="685800" y="243916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6" name="Shape 6"/>
          <p:cNvSpPr txBox="1"/>
          <p:nvPr/>
        </p:nvSpPr>
        <p:spPr>
          <a:xfrm>
            <a:off x="685800" y="309981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Multiply both sides by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 </a:t>
            </a:r>
            <a:r>
              <a:rPr lang="en-US" sz="1950" dirty="0" i="1">
                <a:solidFill>
                  <a:srgbClr val="16171D"/>
                </a:solidFill>
                <a:latin typeface="Segoe UI"/>
                <a:cs typeface="Segoe UI"/>
              </a:rPr>
              <a:t xml:space="preserve">x</a:t>
            </a:r>
            <a:r>
              <a:rPr lang="en-US" sz="1658" dirty="0" baseline="-25000">
                <a:solidFill>
                  <a:srgbClr val="16171D"/>
                </a:solidFill>
                <a:latin typeface="Segoe UI"/>
                <a:cs typeface="Segoe UI"/>
              </a:rPr>
              <a:t xml:space="preserve">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62331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endParaRPr lang="en-US" sz="2850" dirty="0"/>
          </a:p>
        </p:txBody>
      </p:sp>
      <p:sp>
        <p:nvSpPr>
          <p:cNvPr id="8" name="Shape 8"/>
          <p:cNvSpPr txBox="1"/>
          <p:nvPr/>
        </p:nvSpPr>
        <p:spPr>
          <a:xfrm>
            <a:off x="685800" y="428396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Swap the sides.</a:t>
            </a:r>
            <a:endParaRPr lang="en-US" sz="1950" dirty="0"/>
          </a:p>
        </p:txBody>
      </p:sp>
      <p:sp>
        <p:nvSpPr>
          <p:cNvPr id="9" name="Shape 9"/>
          <p:cNvSpPr txBox="1"/>
          <p:nvPr/>
        </p:nvSpPr>
        <p:spPr>
          <a:xfrm>
            <a:off x="685800" y="4807458"/>
            <a:ext cx="5908944"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y</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 = </a:t>
            </a: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i="1">
                <a:solidFill>
                  <a:srgbClr val="3050B8"/>
                </a:solidFill>
                <a:latin typeface="Cambria"/>
                <a:cs typeface="Cambria"/>
              </a:rPr>
              <a:t xml:space="preserve">x</a:t>
            </a:r>
            <a:r>
              <a:rPr lang="en-US" sz="2422" dirty="0" b="1" baseline="-25000">
                <a:solidFill>
                  <a:srgbClr val="3050B8"/>
                </a:solidFill>
                <a:latin typeface="Cambria"/>
                <a:cs typeface="Cambria"/>
              </a:rPr>
              <a:t xml:space="preserve">1</a:t>
            </a:r>
            <a:r>
              <a:rPr lang="en-US" sz="2850" dirty="0">
                <a:solidFill>
                  <a:srgbClr val="16171D"/>
                </a:solidFill>
                <a:latin typeface="Cambria"/>
                <a:cs typeface="Cambria"/>
              </a:rPr>
              <a:t xml:space="preserve">)</a:t>
            </a:r>
            <a:endParaRPr lang="en-US" sz="2850"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4" presetID="22" presetClass="entr" presetSubtype="8"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wipe(left)">
                                      <p:cBhvr>
                                        <p:cTn id="23" dur="700"/>
                                        <p:tgtEl>
                                          <p:spTgt spid="7"/>
                                        </p:tgtEl>
                                      </p:cBhvr>
                                    </p:animEffect>
                                  </p:childTnLst>
                                </p:cTn>
                              </p:par>
                            </p:childTnLst>
                          </p:cTn>
                        </p:par>
                      </p:childTnLst>
                    </p:cTn>
                  </p:par>
                  <p:par>
                    <p:cTn id="32" fill="hold">
                      <p:stCondLst>
                        <p:cond delay="indefinite"/>
                      </p:stCondLst>
                      <p:childTnLst>
                        <p:par>
                          <p:cTn id="33" fill="hold">
                            <p:stCondLst>
                              <p:cond delay="0"/>
                            </p:stCondLst>
                            <p:childTnLst>
                              <p:par>
                                <p:cTn id="31" presetID="42" presetClass="entr" presetSubtype="0" fill="hold" nodeType="clickEffect">
                                  <p:stCondLst>
                                    <p:cond delay="0"/>
                                  </p:stCondLst>
                                  <p:childTnLst>
                                    <p:set>
                                      <p:cBhvr>
                                        <p:cTn id="27" dur="1" fill="hold">
                                          <p:stCondLst>
                                            <p:cond delay="0"/>
                                          </p:stCondLst>
                                        </p:cTn>
                                        <p:tgtEl>
                                          <p:spTgt spid="8"/>
                                        </p:tgtEl>
                                        <p:attrNameLst>
                                          <p:attrName>style.visibility</p:attrName>
                                        </p:attrNameLst>
                                      </p:cBhvr>
                                      <p:to>
                                        <p:strVal val="visible"/>
                                      </p:to>
                                    </p:set>
                                    <p:animEffect transition="in" filter="fade">
                                      <p:cBhvr>
                                        <p:cTn id="28" dur="500"/>
                                        <p:tgtEl>
                                          <p:spTgt spid="8"/>
                                        </p:tgtEl>
                                      </p:cBhvr>
                                    </p:animEffect>
                                    <p:anim calcmode="lin" valueType="num">
                                      <p:cBhvr>
                                        <p:cTn id="29" dur="500" fill="hold"/>
                                        <p:tgtEl>
                                          <p:spTgt spid="8"/>
                                        </p:tgtEl>
                                        <p:attrNameLst>
                                          <p:attrName>ppt_x</p:attrName>
                                        </p:attrNameLst>
                                      </p:cBhvr>
                                      <p:tavLst>
                                        <p:tav tm="0">
                                          <p:val>
                                            <p:strVal val="#ppt_x"/>
                                          </p:val>
                                        </p:tav>
                                        <p:tav tm="100000">
                                          <p:val>
                                            <p:strVal val="#ppt_x"/>
                                          </p:val>
                                        </p:tav>
                                      </p:tavLst>
                                    </p:anim>
                                    <p:anim calcmode="lin" valueType="num">
                                      <p:cBhvr>
                                        <p:cTn id="3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53" presetClass="entr" presetSubtype="16" fill="hold" nodeType="clickEffect">
                                  <p:stCondLst>
                                    <p:cond delay="0"/>
                                  </p:stCondLst>
                                  <p:childTnLst>
                                    <p:set>
                                      <p:cBhvr>
                                        <p:cTn id="34" dur="1" fill="hold">
                                          <p:stCondLst>
                                            <p:cond delay="0"/>
                                          </p:stCondLst>
                                        </p:cTn>
                                        <p:tgtEl>
                                          <p:spTgt spid="9"/>
                                        </p:tgtEl>
                                        <p:attrNameLst>
                                          <p:attrName>style.visibility</p:attrName>
                                        </p:attrNameLst>
                                      </p:cBhvr>
                                      <p:to>
                                        <p:strVal val="visible"/>
                                      </p:to>
                                    </p:set>
                                    <p:animEffect transition="in" filter="fade">
                                      <p:cBhvr>
                                        <p:cTn id="35" dur="500"/>
                                        <p:tgtEl>
                                          <p:spTgt spid="9"/>
                                        </p:tgtEl>
                                      </p:cBhvr>
                                    </p:animEffect>
                                    <p:anim calcmode="lin" valueType="num">
                                      <p:cBhvr>
                                        <p:cTn id="36" dur="500" fill="hold"/>
                                        <p:tgtEl>
                                          <p:spTgt spid="9"/>
                                        </p:tgtEl>
                                        <p:attrNameLst>
                                          <p:attrName>ppt_w</p:attrName>
                                        </p:attrNameLst>
                                      </p:cBhvr>
                                      <p:tavLst>
                                        <p:tav tm="0">
                                          <p:val>
                                            <p:fltVal val="0"/>
                                          </p:val>
                                        </p:tav>
                                        <p:tav tm="100000">
                                          <p:val>
                                            <p:strVal val="#ppt_w"/>
                                          </p:val>
                                        </p:tav>
                                      </p:tavLst>
                                    </p:anim>
                                    <p:anim calcmode="lin" valueType="num">
                                      <p:cBhvr>
                                        <p:cTn id="37"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1 · SE p. 203</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Rewrite it in slope-intercept form</a:t>
            </a:r>
            <a:endParaRPr lang="en-US" sz="3450" dirty="0"/>
          </a:p>
        </p:txBody>
      </p:sp>
      <p:sp>
        <p:nvSpPr>
          <p:cNvPr id="4" name="Shape 4"/>
          <p:cNvSpPr txBox="1"/>
          <p:nvPr/>
        </p:nvSpPr>
        <p:spPr>
          <a:xfrm>
            <a:off x="685800" y="161848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Solve the Worked Example equation for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1989582"/>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− 2)</a:t>
            </a:r>
            <a:endParaRPr lang="en-US" sz="2850" dirty="0"/>
          </a:p>
        </p:txBody>
      </p:sp>
      <p:sp>
        <p:nvSpPr>
          <p:cNvPr id="6" name="Shape 6"/>
          <p:cNvSpPr txBox="1"/>
          <p:nvPr/>
        </p:nvSpPr>
        <p:spPr>
          <a:xfrm>
            <a:off x="685800" y="255498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Distribute −</a:t>
            </a:r>
            <a:r>
              <a:rPr lang="en-US" sz="1575" dirty="0">
                <a:solidFill>
                  <a:srgbClr val="16171D"/>
                </a:solidFill>
                <a:latin typeface="Segoe UI"/>
                <a:cs typeface="Segoe UI"/>
              </a:rPr>
              <a:t xml:space="preserve">1</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a:t>
            </a:r>
            <a:endParaRPr lang="en-US" sz="1575" dirty="0"/>
          </a:p>
        </p:txBody>
      </p:sp>
      <p:sp>
        <p:nvSpPr>
          <p:cNvPr id="7" name="Shape 7"/>
          <p:cNvSpPr txBox="1"/>
          <p:nvPr/>
        </p:nvSpPr>
        <p:spPr>
          <a:xfrm>
            <a:off x="685800" y="2926080"/>
            <a:ext cx="523859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+ 1</a:t>
            </a:r>
            <a:endParaRPr lang="en-US" sz="2850" dirty="0"/>
          </a:p>
        </p:txBody>
      </p:sp>
      <p:sp>
        <p:nvSpPr>
          <p:cNvPr id="8" name="Shape 8"/>
          <p:cNvSpPr txBox="1"/>
          <p:nvPr/>
        </p:nvSpPr>
        <p:spPr>
          <a:xfrm>
            <a:off x="685800" y="3491484"/>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Add 6 to both sides:</a:t>
            </a:r>
            <a:endParaRPr lang="en-US" sz="1575" dirty="0"/>
          </a:p>
        </p:txBody>
      </p:sp>
      <p:sp>
        <p:nvSpPr>
          <p:cNvPr id="9" name="Shape 9"/>
          <p:cNvSpPr txBox="1"/>
          <p:nvPr/>
        </p:nvSpPr>
        <p:spPr>
          <a:xfrm>
            <a:off x="685800" y="3862578"/>
            <a:ext cx="489258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1</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+ 7</a:t>
            </a:r>
            <a:endParaRPr lang="en-US" sz="2850" dirty="0"/>
          </a:p>
        </p:txBody>
      </p:sp>
      <p:sp>
        <p:nvSpPr>
          <p:cNvPr id="12" name="Shape 12"/>
          <p:cNvSpPr txBox="1"/>
          <p:nvPr/>
        </p:nvSpPr>
        <p:spPr>
          <a:xfrm>
            <a:off x="6267298" y="16184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7899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 shows</a:t>
            </a:r>
            <a:endParaRPr lang="en-US" sz="2100" dirty="0"/>
          </a:p>
        </p:txBody>
      </p:sp>
      <p:sp>
        <p:nvSpPr>
          <p:cNvPr id="11" name="Shape 11"/>
          <p:cNvSpPr txBox="1"/>
          <p:nvPr/>
        </p:nvSpPr>
        <p:spPr>
          <a:xfrm>
            <a:off x="6476848" y="22600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a point</a:t>
            </a:r>
            <a:r>
              <a:rPr lang="en-US" sz="1575" dirty="0">
                <a:solidFill>
                  <a:srgbClr val="16171D"/>
                </a:solidFill>
                <a:latin typeface="Segoe UI"/>
                <a:cs typeface="Segoe UI"/>
              </a:rPr>
              <a:t xml:space="preserve">, which may not be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a:t>
            </a:r>
            <a:endParaRPr lang="en-US" sz="1575" dirty="0"/>
          </a:p>
        </p:txBody>
      </p:sp>
      <p:sp>
        <p:nvSpPr>
          <p:cNvPr id="15" name="Shape 15"/>
          <p:cNvSpPr txBox="1"/>
          <p:nvPr/>
        </p:nvSpPr>
        <p:spPr>
          <a:xfrm>
            <a:off x="6267298" y="3099816"/>
            <a:ext cx="5238598" cy="110794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6476848" y="3271266"/>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Slope-intercept form shows</a:t>
            </a:r>
            <a:endParaRPr lang="en-US" sz="2100" dirty="0"/>
          </a:p>
        </p:txBody>
      </p:sp>
      <p:sp>
        <p:nvSpPr>
          <p:cNvPr id="14" name="Shape 14"/>
          <p:cNvSpPr txBox="1"/>
          <p:nvPr/>
        </p:nvSpPr>
        <p:spPr>
          <a:xfrm>
            <a:off x="6476848" y="374142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 slope and </a:t>
            </a:r>
            <a:r>
              <a:rPr lang="en-US" sz="1575" dirty="0" b="1">
                <a:solidFill>
                  <a:srgbClr val="16171D"/>
                </a:solidFill>
                <a:latin typeface="Segoe UI"/>
                <a:cs typeface="Segoe UI"/>
              </a:rPr>
              <a:t xml:space="preserve">the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a:t>
            </a:r>
            <a:endParaRPr lang="en-US" sz="1575" dirty="0"/>
          </a:p>
        </p:txBody>
      </p:sp>
      <p:sp>
        <p:nvSpPr>
          <p:cNvPr id="16" name="Shape 16"/>
          <p:cNvSpPr txBox="1"/>
          <p:nvPr/>
        </p:nvSpPr>
        <p:spPr>
          <a:xfrm>
            <a:off x="6267298" y="4341114"/>
            <a:ext cx="52385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Same:</a:t>
            </a:r>
            <a:r>
              <a:rPr lang="en-US" sz="1575" dirty="0">
                <a:solidFill>
                  <a:srgbClr val="16171D"/>
                </a:solidFill>
                <a:latin typeface="Segoe UI"/>
                <a:cs typeface="Segoe UI"/>
              </a:rPr>
              <a:t xml:space="preserve"> both show the slope, and both describe the same line.</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15</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wipe(left)">
                                      <p:cBhvr>
                                        <p:cTn id="4" dur="700"/>
                                        <p:tgtEl>
                                          <p:spTgt spid="5"/>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6"/>
                                        </p:tgtEl>
                                        <p:attrNameLst>
                                          <p:attrName>style.visibility</p:attrName>
                                        </p:attrNameLst>
                                      </p:cBhvr>
                                      <p:to>
                                        <p:strVal val="visible"/>
                                      </p:to>
                                    </p:set>
                                    <p:animEffect transition="in" filter="fade">
                                      <p:cBhvr>
                                        <p:cTn id="9" dur="500"/>
                                        <p:tgtEl>
                                          <p:spTgt spid="6"/>
                                        </p:tgtEl>
                                      </p:cBhvr>
                                    </p:animEffect>
                                    <p:anim calcmode="lin" valueType="num">
                                      <p:cBhvr>
                                        <p:cTn id="10" dur="500" fill="hold"/>
                                        <p:tgtEl>
                                          <p:spTgt spid="6"/>
                                        </p:tgtEl>
                                        <p:attrNameLst>
                                          <p:attrName>ppt_x</p:attrName>
                                        </p:attrNameLst>
                                      </p:cBhvr>
                                      <p:tavLst>
                                        <p:tav tm="0">
                                          <p:val>
                                            <p:strVal val="#ppt_x"/>
                                          </p:val>
                                        </p:tav>
                                        <p:tav tm="100000">
                                          <p:val>
                                            <p:strVal val="#ppt_x"/>
                                          </p:val>
                                        </p:tav>
                                      </p:tavLst>
                                    </p:anim>
                                    <p:anim calcmode="lin" valueType="num">
                                      <p:cBhvr>
                                        <p:cTn id="11"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wipe(left)">
                                      <p:cBhvr>
                                        <p:cTn id="16" dur="700"/>
                                        <p:tgtEl>
                                          <p:spTgt spid="7"/>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8"/>
                                        </p:tgtEl>
                                        <p:attrNameLst>
                                          <p:attrName>style.visibility</p:attrName>
                                        </p:attrNameLst>
                                      </p:cBhvr>
                                      <p:to>
                                        <p:strVal val="visible"/>
                                      </p:to>
                                    </p:set>
                                    <p:animEffect transition="in" filter="fade">
                                      <p:cBhvr>
                                        <p:cTn id="21" dur="500"/>
                                        <p:tgtEl>
                                          <p:spTgt spid="8"/>
                                        </p:tgtEl>
                                      </p:cBhvr>
                                    </p:animEffect>
                                    <p:anim calcmode="lin" valueType="num">
                                      <p:cBhvr>
                                        <p:cTn id="22" dur="500" fill="hold"/>
                                        <p:tgtEl>
                                          <p:spTgt spid="8"/>
                                        </p:tgtEl>
                                        <p:attrNameLst>
                                          <p:attrName>ppt_x</p:attrName>
                                        </p:attrNameLst>
                                      </p:cBhvr>
                                      <p:tavLst>
                                        <p:tav tm="0">
                                          <p:val>
                                            <p:strVal val="#ppt_x"/>
                                          </p:val>
                                        </p:tav>
                                        <p:tav tm="100000">
                                          <p:val>
                                            <p:strVal val="#ppt_x"/>
                                          </p:val>
                                        </p:tav>
                                      </p:tavLst>
                                    </p:anim>
                                    <p:anim calcmode="lin" valueType="num">
                                      <p:cBhvr>
                                        <p:cTn id="2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2" fill="hold">
                      <p:stCondLst>
                        <p:cond delay="indefinite"/>
                      </p:stCondLst>
                      <p:childTnLst>
                        <p:par>
                          <p:cTn id="33" fill="hold">
                            <p:stCondLst>
                              <p:cond delay="0"/>
                            </p:stCondLst>
                            <p:childTnLst>
                              <p:par>
                                <p:cTn id="31" presetID="53" presetClass="entr" presetSubtype="16" fill="hold" nodeType="clickEffect">
                                  <p:stCondLst>
                                    <p:cond delay="0"/>
                                  </p:stCondLst>
                                  <p:childTnLst>
                                    <p:set>
                                      <p:cBhvr>
                                        <p:cTn id="27" dur="1" fill="hold">
                                          <p:stCondLst>
                                            <p:cond delay="0"/>
                                          </p:stCondLst>
                                        </p:cTn>
                                        <p:tgtEl>
                                          <p:spTgt spid="9"/>
                                        </p:tgtEl>
                                        <p:attrNameLst>
                                          <p:attrName>style.visibility</p:attrName>
                                        </p:attrNameLst>
                                      </p:cBhvr>
                                      <p:to>
                                        <p:strVal val="visible"/>
                                      </p:to>
                                    </p:set>
                                    <p:animEffect transition="in" filter="fade">
                                      <p:cBhvr>
                                        <p:cTn id="28" dur="500"/>
                                        <p:tgtEl>
                                          <p:spTgt spid="9"/>
                                        </p:tgtEl>
                                      </p:cBhvr>
                                    </p:animEffect>
                                    <p:anim calcmode="lin" valueType="num">
                                      <p:cBhvr>
                                        <p:cTn id="29" dur="500" fill="hold"/>
                                        <p:tgtEl>
                                          <p:spTgt spid="9"/>
                                        </p:tgtEl>
                                        <p:attrNameLst>
                                          <p:attrName>ppt_w</p:attrName>
                                        </p:attrNameLst>
                                      </p:cBhvr>
                                      <p:tavLst>
                                        <p:tav tm="0">
                                          <p:val>
                                            <p:fltVal val="0"/>
                                          </p:val>
                                        </p:tav>
                                        <p:tav tm="100000">
                                          <p:val>
                                            <p:strVal val="#ppt_w"/>
                                          </p:val>
                                        </p:tav>
                                      </p:tavLst>
                                    </p:anim>
                                    <p:anim calcmode="lin" valueType="num">
                                      <p:cBhvr>
                                        <p:cTn id="3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49" fill="hold">
                      <p:stCondLst>
                        <p:cond delay="indefinite"/>
                      </p:stCondLst>
                      <p:childTnLst>
                        <p:par>
                          <p:cTn id="50" fill="hold">
                            <p:stCondLst>
                              <p:cond delay="0"/>
                            </p:stCondLst>
                            <p:childTnLst>
                              <p:par>
                                <p:cTn id="38" presetID="42" presetClass="entr" presetSubtype="0" fill="hold" nodeType="clickEffect">
                                  <p:stCondLst>
                                    <p:cond delay="0"/>
                                  </p:stCondLst>
                                  <p:childTnLst>
                                    <p:set>
                                      <p:cBhvr>
                                        <p:cTn id="34" dur="1" fill="hold">
                                          <p:stCondLst>
                                            <p:cond delay="0"/>
                                          </p:stCondLst>
                                        </p:cTn>
                                        <p:tgtEl>
                                          <p:spTgt spid="12"/>
                                        </p:tgtEl>
                                        <p:attrNameLst>
                                          <p:attrName>style.visibility</p:attrName>
                                        </p:attrNameLst>
                                      </p:cBhvr>
                                      <p:to>
                                        <p:strVal val="visible"/>
                                      </p:to>
                                    </p:set>
                                    <p:animEffect transition="in" filter="fade">
                                      <p:cBhvr>
                                        <p:cTn id="35" dur="500"/>
                                        <p:tgtEl>
                                          <p:spTgt spid="12"/>
                                        </p:tgtEl>
                                      </p:cBhvr>
                                    </p:animEffect>
                                    <p:anim calcmode="lin" valueType="num">
                                      <p:cBhvr>
                                        <p:cTn id="36" dur="500" fill="hold"/>
                                        <p:tgtEl>
                                          <p:spTgt spid="12"/>
                                        </p:tgtEl>
                                        <p:attrNameLst>
                                          <p:attrName>ppt_x</p:attrName>
                                        </p:attrNameLst>
                                      </p:cBhvr>
                                      <p:tavLst>
                                        <p:tav tm="0">
                                          <p:val>
                                            <p:strVal val="#ppt_x"/>
                                          </p:val>
                                        </p:tav>
                                        <p:tav tm="100000">
                                          <p:val>
                                            <p:strVal val="#ppt_x"/>
                                          </p:val>
                                        </p:tav>
                                      </p:tavLst>
                                    </p:anim>
                                    <p:anim calcmode="lin" valueType="num">
                                      <p:cBhvr>
                                        <p:cTn id="37" dur="500" fill="hold"/>
                                        <p:tgtEl>
                                          <p:spTgt spid="12"/>
                                        </p:tgtEl>
                                        <p:attrNameLst>
                                          <p:attrName>ppt_y</p:attrName>
                                        </p:attrNameLst>
                                      </p:cBhvr>
                                      <p:tavLst>
                                        <p:tav tm="0">
                                          <p:val>
                                            <p:strVal val="#ppt_y+.1"/>
                                          </p:val>
                                        </p:tav>
                                        <p:tav tm="100000">
                                          <p:val>
                                            <p:strVal val="#ppt_y"/>
                                          </p:val>
                                        </p:tav>
                                      </p:tavLst>
                                    </p:anim>
                                  </p:childTnLst>
                                </p:cTn>
                              </p:par>
                              <p:par>
                                <p:cTn id="43" presetID="42" presetClass="entr" presetSubtype="0" fill="hold" nodeType="with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fade">
                                      <p:cBhvr>
                                        <p:cTn id="40" dur="500"/>
                                        <p:tgtEl>
                                          <p:spTgt spid="10"/>
                                        </p:tgtEl>
                                      </p:cBhvr>
                                    </p:animEffect>
                                    <p:anim calcmode="lin" valueType="num">
                                      <p:cBhvr>
                                        <p:cTn id="41" dur="500" fill="hold"/>
                                        <p:tgtEl>
                                          <p:spTgt spid="10"/>
                                        </p:tgtEl>
                                        <p:attrNameLst>
                                          <p:attrName>ppt_x</p:attrName>
                                        </p:attrNameLst>
                                      </p:cBhvr>
                                      <p:tavLst>
                                        <p:tav tm="0">
                                          <p:val>
                                            <p:strVal val="#ppt_x"/>
                                          </p:val>
                                        </p:tav>
                                        <p:tav tm="100000">
                                          <p:val>
                                            <p:strVal val="#ppt_x"/>
                                          </p:val>
                                        </p:tav>
                                      </p:tavLst>
                                    </p:anim>
                                    <p:anim calcmode="lin" valueType="num">
                                      <p:cBhvr>
                                        <p:cTn id="42" dur="500" fill="hold"/>
                                        <p:tgtEl>
                                          <p:spTgt spid="10"/>
                                        </p:tgtEl>
                                        <p:attrNameLst>
                                          <p:attrName>ppt_y</p:attrName>
                                        </p:attrNameLst>
                                      </p:cBhvr>
                                      <p:tavLst>
                                        <p:tav tm="0">
                                          <p:val>
                                            <p:strVal val="#ppt_y+.1"/>
                                          </p:val>
                                        </p:tav>
                                        <p:tav tm="100000">
                                          <p:val>
                                            <p:strVal val="#ppt_y"/>
                                          </p:val>
                                        </p:tav>
                                      </p:tavLst>
                                    </p:anim>
                                  </p:childTnLst>
                                </p:cTn>
                              </p:par>
                              <p:par>
                                <p:cTn id="48" presetID="42" presetClass="entr" presetSubtype="0" fill="hold" nodeType="withEffect">
                                  <p:stCondLst>
                                    <p:cond delay="0"/>
                                  </p:stCondLst>
                                  <p:childTnLst>
                                    <p:set>
                                      <p:cBhvr>
                                        <p:cTn id="44" dur="1" fill="hold">
                                          <p:stCondLst>
                                            <p:cond delay="0"/>
                                          </p:stCondLst>
                                        </p:cTn>
                                        <p:tgtEl>
                                          <p:spTgt spid="11"/>
                                        </p:tgtEl>
                                        <p:attrNameLst>
                                          <p:attrName>style.visibility</p:attrName>
                                        </p:attrNameLst>
                                      </p:cBhvr>
                                      <p:to>
                                        <p:strVal val="visible"/>
                                      </p:to>
                                    </p:set>
                                    <p:animEffect transition="in" filter="fade">
                                      <p:cBhvr>
                                        <p:cTn id="45" dur="500"/>
                                        <p:tgtEl>
                                          <p:spTgt spid="11"/>
                                        </p:tgtEl>
                                      </p:cBhvr>
                                    </p:animEffect>
                                    <p:anim calcmode="lin" valueType="num">
                                      <p:cBhvr>
                                        <p:cTn id="46" dur="500" fill="hold"/>
                                        <p:tgtEl>
                                          <p:spTgt spid="11"/>
                                        </p:tgtEl>
                                        <p:attrNameLst>
                                          <p:attrName>ppt_x</p:attrName>
                                        </p:attrNameLst>
                                      </p:cBhvr>
                                      <p:tavLst>
                                        <p:tav tm="0">
                                          <p:val>
                                            <p:strVal val="#ppt_x"/>
                                          </p:val>
                                        </p:tav>
                                        <p:tav tm="100000">
                                          <p:val>
                                            <p:strVal val="#ppt_x"/>
                                          </p:val>
                                        </p:tav>
                                      </p:tavLst>
                                    </p:anim>
                                    <p:anim calcmode="lin" valueType="num">
                                      <p:cBhvr>
                                        <p:cTn id="47"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66" fill="hold">
                      <p:stCondLst>
                        <p:cond delay="indefinite"/>
                      </p:stCondLst>
                      <p:childTnLst>
                        <p:par>
                          <p:cTn id="6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15"/>
                                        </p:tgtEl>
                                        <p:attrNameLst>
                                          <p:attrName>style.visibility</p:attrName>
                                        </p:attrNameLst>
                                      </p:cBhvr>
                                      <p:to>
                                        <p:strVal val="visible"/>
                                      </p:to>
                                    </p:set>
                                    <p:animEffect transition="in" filter="fade">
                                      <p:cBhvr>
                                        <p:cTn id="52" dur="500"/>
                                        <p:tgtEl>
                                          <p:spTgt spid="15"/>
                                        </p:tgtEl>
                                      </p:cBhvr>
                                    </p:animEffect>
                                    <p:anim calcmode="lin" valueType="num">
                                      <p:cBhvr>
                                        <p:cTn id="53" dur="500" fill="hold"/>
                                        <p:tgtEl>
                                          <p:spTgt spid="15"/>
                                        </p:tgtEl>
                                        <p:attrNameLst>
                                          <p:attrName>ppt_x</p:attrName>
                                        </p:attrNameLst>
                                      </p:cBhvr>
                                      <p:tavLst>
                                        <p:tav tm="0">
                                          <p:val>
                                            <p:strVal val="#ppt_x"/>
                                          </p:val>
                                        </p:tav>
                                        <p:tav tm="100000">
                                          <p:val>
                                            <p:strVal val="#ppt_x"/>
                                          </p:val>
                                        </p:tav>
                                      </p:tavLst>
                                    </p:anim>
                                    <p:anim calcmode="lin" valueType="num">
                                      <p:cBhvr>
                                        <p:cTn id="54" dur="500" fill="hold"/>
                                        <p:tgtEl>
                                          <p:spTgt spid="15"/>
                                        </p:tgtEl>
                                        <p:attrNameLst>
                                          <p:attrName>ppt_y</p:attrName>
                                        </p:attrNameLst>
                                      </p:cBhvr>
                                      <p:tavLst>
                                        <p:tav tm="0">
                                          <p:val>
                                            <p:strVal val="#ppt_y+.1"/>
                                          </p:val>
                                        </p:tav>
                                        <p:tav tm="100000">
                                          <p:val>
                                            <p:strVal val="#ppt_y"/>
                                          </p:val>
                                        </p:tav>
                                      </p:tavLst>
                                    </p:anim>
                                  </p:childTnLst>
                                </p:cTn>
                              </p:par>
                              <p:par>
                                <p:cTn id="60" presetID="42" presetClass="entr" presetSubtype="0" fill="hold" nodeType="withEffect">
                                  <p:stCondLst>
                                    <p:cond delay="0"/>
                                  </p:stCondLst>
                                  <p:childTnLst>
                                    <p:set>
                                      <p:cBhvr>
                                        <p:cTn id="56" dur="1" fill="hold">
                                          <p:stCondLst>
                                            <p:cond delay="0"/>
                                          </p:stCondLst>
                                        </p:cTn>
                                        <p:tgtEl>
                                          <p:spTgt spid="13"/>
                                        </p:tgtEl>
                                        <p:attrNameLst>
                                          <p:attrName>style.visibility</p:attrName>
                                        </p:attrNameLst>
                                      </p:cBhvr>
                                      <p:to>
                                        <p:strVal val="visible"/>
                                      </p:to>
                                    </p:set>
                                    <p:animEffect transition="in" filter="fade">
                                      <p:cBhvr>
                                        <p:cTn id="57" dur="500"/>
                                        <p:tgtEl>
                                          <p:spTgt spid="13"/>
                                        </p:tgtEl>
                                      </p:cBhvr>
                                    </p:animEffect>
                                    <p:anim calcmode="lin" valueType="num">
                                      <p:cBhvr>
                                        <p:cTn id="58" dur="500" fill="hold"/>
                                        <p:tgtEl>
                                          <p:spTgt spid="13"/>
                                        </p:tgtEl>
                                        <p:attrNameLst>
                                          <p:attrName>ppt_x</p:attrName>
                                        </p:attrNameLst>
                                      </p:cBhvr>
                                      <p:tavLst>
                                        <p:tav tm="0">
                                          <p:val>
                                            <p:strVal val="#ppt_x"/>
                                          </p:val>
                                        </p:tav>
                                        <p:tav tm="100000">
                                          <p:val>
                                            <p:strVal val="#ppt_x"/>
                                          </p:val>
                                        </p:tav>
                                      </p:tavLst>
                                    </p:anim>
                                    <p:anim calcmode="lin" valueType="num">
                                      <p:cBhvr>
                                        <p:cTn id="59" dur="500" fill="hold"/>
                                        <p:tgtEl>
                                          <p:spTgt spid="13"/>
                                        </p:tgtEl>
                                        <p:attrNameLst>
                                          <p:attrName>ppt_y</p:attrName>
                                        </p:attrNameLst>
                                      </p:cBhvr>
                                      <p:tavLst>
                                        <p:tav tm="0">
                                          <p:val>
                                            <p:strVal val="#ppt_y+.1"/>
                                          </p:val>
                                        </p:tav>
                                        <p:tav tm="100000">
                                          <p:val>
                                            <p:strVal val="#ppt_y"/>
                                          </p:val>
                                        </p:tav>
                                      </p:tavLst>
                                    </p:anim>
                                  </p:childTnLst>
                                </p:cTn>
                              </p:par>
                              <p:par>
                                <p:cTn id="65" presetID="42" presetClass="entr" presetSubtype="0" fill="hold" nodeType="withEffect">
                                  <p:stCondLst>
                                    <p:cond delay="0"/>
                                  </p:stCondLst>
                                  <p:childTnLst>
                                    <p:set>
                                      <p:cBhvr>
                                        <p:cTn id="61" dur="1" fill="hold">
                                          <p:stCondLst>
                                            <p:cond delay="0"/>
                                          </p:stCondLst>
                                        </p:cTn>
                                        <p:tgtEl>
                                          <p:spTgt spid="14"/>
                                        </p:tgtEl>
                                        <p:attrNameLst>
                                          <p:attrName>style.visibility</p:attrName>
                                        </p:attrNameLst>
                                      </p:cBhvr>
                                      <p:to>
                                        <p:strVal val="visible"/>
                                      </p:to>
                                    </p:set>
                                    <p:animEffect transition="in" filter="fade">
                                      <p:cBhvr>
                                        <p:cTn id="62" dur="500"/>
                                        <p:tgtEl>
                                          <p:spTgt spid="14"/>
                                        </p:tgtEl>
                                      </p:cBhvr>
                                    </p:animEffect>
                                    <p:anim calcmode="lin" valueType="num">
                                      <p:cBhvr>
                                        <p:cTn id="63" dur="500" fill="hold"/>
                                        <p:tgtEl>
                                          <p:spTgt spid="14"/>
                                        </p:tgtEl>
                                        <p:attrNameLst>
                                          <p:attrName>ppt_x</p:attrName>
                                        </p:attrNameLst>
                                      </p:cBhvr>
                                      <p:tavLst>
                                        <p:tav tm="0">
                                          <p:val>
                                            <p:strVal val="#ppt_x"/>
                                          </p:val>
                                        </p:tav>
                                        <p:tav tm="100000">
                                          <p:val>
                                            <p:strVal val="#ppt_x"/>
                                          </p:val>
                                        </p:tav>
                                      </p:tavLst>
                                    </p:anim>
                                    <p:anim calcmode="lin" valueType="num">
                                      <p:cBhvr>
                                        <p:cTn id="64"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73" fill="hold">
                      <p:stCondLst>
                        <p:cond delay="indefinite"/>
                      </p:stCondLst>
                      <p:childTnLst>
                        <p:par>
                          <p:cTn id="74" fill="hold">
                            <p:stCondLst>
                              <p:cond delay="0"/>
                            </p:stCondLst>
                            <p:childTnLst>
                              <p:par>
                                <p:cTn id="72" presetID="42" presetClass="entr" presetSubtype="0" fill="hold" nodeType="clickEffect">
                                  <p:stCondLst>
                                    <p:cond delay="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500"/>
                                        <p:tgtEl>
                                          <p:spTgt spid="16"/>
                                        </p:tgtEl>
                                      </p:cBhvr>
                                    </p:animEffect>
                                    <p:anim calcmode="lin" valueType="num">
                                      <p:cBhvr>
                                        <p:cTn id="70" dur="500" fill="hold"/>
                                        <p:tgtEl>
                                          <p:spTgt spid="16"/>
                                        </p:tgtEl>
                                        <p:attrNameLst>
                                          <p:attrName>ppt_x</p:attrName>
                                        </p:attrNameLst>
                                      </p:cBhvr>
                                      <p:tavLst>
                                        <p:tav tm="0">
                                          <p:val>
                                            <p:strVal val="#ppt_x"/>
                                          </p:val>
                                        </p:tav>
                                        <p:tav tm="100000">
                                          <p:val>
                                            <p:strVal val="#ppt_x"/>
                                          </p:val>
                                        </p:tav>
                                      </p:tavLst>
                                    </p:anim>
                                    <p:anim calcmode="lin" valueType="num">
                                      <p:cBhvr>
                                        <p:cTn id="71"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2–3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 Slope −8, point (3, 12)</a:t>
            </a:r>
            <a:endParaRPr lang="en-US" sz="2100" dirty="0"/>
          </a:p>
        </p:txBody>
      </p:sp>
      <p:sp>
        <p:nvSpPr>
          <p:cNvPr id="5" name="Shape 5"/>
          <p:cNvSpPr txBox="1"/>
          <p:nvPr/>
        </p:nvSpPr>
        <p:spPr>
          <a:xfrm>
            <a:off x="685800"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12</a:t>
            </a:r>
            <a:endParaRPr lang="en-US" sz="1575" dirty="0"/>
          </a:p>
        </p:txBody>
      </p:sp>
      <p:sp>
        <p:nvSpPr>
          <p:cNvPr id="6" name="Shape 6"/>
          <p:cNvSpPr txBox="1"/>
          <p:nvPr/>
        </p:nvSpPr>
        <p:spPr>
          <a:xfrm>
            <a:off x="685800" y="26502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12</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3</a:t>
            </a:r>
            <a:r>
              <a:rPr lang="en-US" sz="2850" dirty="0">
                <a:solidFill>
                  <a:srgbClr val="16171D"/>
                </a:solidFill>
                <a:latin typeface="Cambria"/>
                <a:cs typeface="Cambria"/>
              </a:rPr>
              <a:t xml:space="preserve">)</a:t>
            </a:r>
            <a:endParaRPr lang="en-US" sz="2850" dirty="0"/>
          </a:p>
        </p:txBody>
      </p:sp>
      <p:sp>
        <p:nvSpPr>
          <p:cNvPr id="7" name="Shape 7"/>
          <p:cNvSpPr txBox="1"/>
          <p:nvPr/>
        </p:nvSpPr>
        <p:spPr>
          <a:xfrm>
            <a:off x="6362548" y="17137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3. Slope </a:t>
            </a:r>
            <a:r>
              <a:rPr lang="en-US" sz="2100" dirty="0" b="1">
                <a:solidFill>
                  <a:srgbClr val="16171D"/>
                </a:solidFill>
                <a:latin typeface="Segoe UI"/>
                <a:cs typeface="Segoe UI"/>
              </a:rPr>
              <a:t xml:space="preserve">2</a:t>
            </a:r>
            <a:r>
              <a:rPr lang="en-US" sz="2100" dirty="0" b="1">
                <a:solidFill>
                  <a:srgbClr val="16171D"/>
                </a:solidFill>
                <a:latin typeface="Segoe UI"/>
                <a:cs typeface="Segoe UI"/>
              </a:rPr>
              <a:t xml:space="preserve">/</a:t>
            </a:r>
            <a:r>
              <a:rPr lang="en-US" sz="2100" dirty="0" b="1">
                <a:solidFill>
                  <a:srgbClr val="16171D"/>
                </a:solidFill>
                <a:latin typeface="Segoe UI"/>
                <a:cs typeface="Segoe UI"/>
              </a:rPr>
              <a:t xml:space="preserve">3</a:t>
            </a:r>
            <a:r>
              <a:rPr lang="en-US" sz="2100" dirty="0" b="1">
                <a:solidFill>
                  <a:srgbClr val="16171D"/>
                </a:solidFill>
                <a:latin typeface="Segoe UI"/>
                <a:cs typeface="Segoe UI"/>
              </a:rPr>
              <a:t xml:space="preserve">, point (−4, 5)</a:t>
            </a:r>
            <a:endParaRPr lang="en-US" sz="2100" dirty="0"/>
          </a:p>
        </p:txBody>
      </p:sp>
      <p:sp>
        <p:nvSpPr>
          <p:cNvPr id="8" name="Shape 8"/>
          <p:cNvSpPr txBox="1"/>
          <p:nvPr/>
        </p:nvSpPr>
        <p:spPr>
          <a:xfrm>
            <a:off x="6362548" y="22219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3</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−4</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a:t>
            </a:r>
            <a:endParaRPr lang="en-US" sz="1575" dirty="0"/>
          </a:p>
        </p:txBody>
      </p:sp>
      <p:sp>
        <p:nvSpPr>
          <p:cNvPr id="9" name="Shape 9"/>
          <p:cNvSpPr txBox="1"/>
          <p:nvPr/>
        </p:nvSpPr>
        <p:spPr>
          <a:xfrm>
            <a:off x="6362548" y="2650236"/>
            <a:ext cx="5143348"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0" name="Shape 10"/>
          <p:cNvSpPr txBox="1"/>
          <p:nvPr/>
        </p:nvSpPr>
        <p:spPr>
          <a:xfrm>
            <a:off x="6362548" y="3272790"/>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a:t>
            </a:r>
            <a:r>
              <a:rPr lang="en-US" sz="2850" dirty="0">
                <a:solidFill>
                  <a:srgbClr val="16171D"/>
                </a:solidFill>
                <a:latin typeface="Cambria"/>
                <a:cs typeface="Cambria"/>
              </a:rPr>
              <a:t xml:space="preserve">)</a:t>
            </a:r>
            <a:endParaRPr lang="en-US" sz="2850" dirty="0"/>
          </a:p>
        </p:txBody>
      </p:sp>
      <p:sp>
        <p:nvSpPr>
          <p:cNvPr id="11" name="Shape 11"/>
          <p:cNvSpPr txBox="1"/>
          <p:nvPr/>
        </p:nvSpPr>
        <p:spPr>
          <a:xfrm>
            <a:off x="6362548" y="4439412"/>
            <a:ext cx="5143348" cy="64922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Watch the signs: subtracting a negative becomes </a:t>
            </a:r>
            <a:r>
              <a:rPr lang="en-US" sz="1650" dirty="0" b="1">
                <a:solidFill>
                  <a:srgbClr val="16171D"/>
                </a:solidFill>
                <a:latin typeface="Segoe UI"/>
                <a:cs typeface="Segoe UI"/>
              </a:rPr>
              <a:t xml:space="preserve">+</a:t>
            </a:r>
            <a:r>
              <a:rPr lang="en-US" sz="1650" dirty="0">
                <a:solidFill>
                  <a:srgbClr val="16171D"/>
                </a:solidFill>
                <a:latin typeface="Segoe UI"/>
                <a:cs typeface="Segoe UI"/>
              </a:rPr>
              <a:t xml:space="preserve">.</a:t>
            </a:r>
            <a:endParaRPr lang="en-US" sz="16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ppt_w</p:attrName>
                                        </p:attrNameLst>
                                      </p:cBhvr>
                                      <p:tavLst>
                                        <p:tav tm="0">
                                          <p:val>
                                            <p:fltVal val="0"/>
                                          </p:val>
                                        </p:tav>
                                        <p:tav tm="100000">
                                          <p:val>
                                            <p:strVal val="#ppt_w"/>
                                          </p:val>
                                        </p:tav>
                                      </p:tavLst>
                                    </p:anim>
                                    <p:anim calcmode="lin" valueType="num">
                                      <p:cBhvr>
                                        <p:cTn id="13" dur="500" fill="hold"/>
                                        <p:tgtEl>
                                          <p:spTgt spid="6"/>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9"/>
                                        </p:tgtEl>
                                        <p:attrNameLst>
                                          <p:attrName>style.visibility</p:attrName>
                                        </p:attrNameLst>
                                      </p:cBhvr>
                                      <p:to>
                                        <p:strVal val="visible"/>
                                      </p:to>
                                    </p:set>
                                    <p:animEffect transition="in" filter="wipe(left)">
                                      <p:cBhvr>
                                        <p:cTn id="25" dur="700"/>
                                        <p:tgtEl>
                                          <p:spTgt spid="9"/>
                                        </p:tgtEl>
                                      </p:cBhvr>
                                    </p:animEffect>
                                  </p:childTnLst>
                                </p:cTn>
                              </p:par>
                            </p:childTnLst>
                          </p:cTn>
                        </p:par>
                      </p:childTnLst>
                    </p:cTn>
                  </p:par>
                  <p:par>
                    <p:cTn id="34" fill="hold">
                      <p:stCondLst>
                        <p:cond delay="indefinite"/>
                      </p:stCondLst>
                      <p:childTnLst>
                        <p:par>
                          <p:cTn id="35" fill="hold">
                            <p:stCondLst>
                              <p:cond delay="0"/>
                            </p:stCondLst>
                            <p:childTnLst>
                              <p:par>
                                <p:cTn id="33" presetID="53" presetClass="entr" presetSubtype="16" fill="hold" nodeType="clickEffect">
                                  <p:stCondLst>
                                    <p:cond delay="0"/>
                                  </p:stCondLst>
                                  <p:childTnLst>
                                    <p:set>
                                      <p:cBhvr>
                                        <p:cTn id="29" dur="1" fill="hold">
                                          <p:stCondLst>
                                            <p:cond delay="0"/>
                                          </p:stCondLst>
                                        </p:cTn>
                                        <p:tgtEl>
                                          <p:spTgt spid="10"/>
                                        </p:tgtEl>
                                        <p:attrNameLst>
                                          <p:attrName>style.visibility</p:attrName>
                                        </p:attrNameLst>
                                      </p:cBhvr>
                                      <p:to>
                                        <p:strVal val="visible"/>
                                      </p:to>
                                    </p:set>
                                    <p:animEffect transition="in" filter="fade">
                                      <p:cBhvr>
                                        <p:cTn id="30" dur="500"/>
                                        <p:tgtEl>
                                          <p:spTgt spid="10"/>
                                        </p:tgtEl>
                                      </p:cBhvr>
                                    </p:animEffect>
                                    <p:anim calcmode="lin" valueType="num">
                                      <p:cBhvr>
                                        <p:cTn id="31" dur="500" fill="hold"/>
                                        <p:tgtEl>
                                          <p:spTgt spid="10"/>
                                        </p:tgtEl>
                                        <p:attrNameLst>
                                          <p:attrName>ppt_w</p:attrName>
                                        </p:attrNameLst>
                                      </p:cBhvr>
                                      <p:tavLst>
                                        <p:tav tm="0">
                                          <p:val>
                                            <p:fltVal val="0"/>
                                          </p:val>
                                        </p:tav>
                                        <p:tav tm="100000">
                                          <p:val>
                                            <p:strVal val="#ppt_w"/>
                                          </p:val>
                                        </p:tav>
                                      </p:tavLst>
                                    </p:anim>
                                    <p:anim calcmode="lin" valueType="num">
                                      <p:cBhvr>
                                        <p:cTn id="32" dur="500" fill="hold"/>
                                        <p:tgtEl>
                                          <p:spTgt spid="10"/>
                                        </p:tgtEl>
                                        <p:attrNameLst>
                                          <p:attrName>ppt_h</p:attrName>
                                        </p:attrNameLst>
                                      </p:cBhvr>
                                      <p:tavLst>
                                        <p:tav tm="0">
                                          <p:val>
                                            <p:fltVal val="0"/>
                                          </p:val>
                                        </p:tav>
                                        <p:tav tm="100000">
                                          <p:val>
                                            <p:strVal val="#ppt_h"/>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1"/>
                                        </p:tgtEl>
                                        <p:attrNameLst>
                                          <p:attrName>style.visibility</p:attrName>
                                        </p:attrNameLst>
                                      </p:cBhvr>
                                      <p:to>
                                        <p:strVal val="visible"/>
                                      </p:to>
                                    </p:set>
                                    <p:animEffect transition="in" filter="fade">
                                      <p:cBhvr>
                                        <p:cTn id="37" dur="500"/>
                                        <p:tgtEl>
                                          <p:spTgt spid="11"/>
                                        </p:tgtEl>
                                      </p:cBhvr>
                                    </p:animEffect>
                                    <p:anim calcmode="lin" valueType="num">
                                      <p:cBhvr>
                                        <p:cTn id="38" dur="500" fill="hold"/>
                                        <p:tgtEl>
                                          <p:spTgt spid="11"/>
                                        </p:tgtEl>
                                        <p:attrNameLst>
                                          <p:attrName>ppt_x</p:attrName>
                                        </p:attrNameLst>
                                      </p:cBhvr>
                                      <p:tavLst>
                                        <p:tav tm="0">
                                          <p:val>
                                            <p:strVal val="#ppt_x"/>
                                          </p:val>
                                        </p:tav>
                                        <p:tav tm="100000">
                                          <p:val>
                                            <p:strVal val="#ppt_x"/>
                                          </p:val>
                                        </p:tav>
                                      </p:tavLst>
                                    </p:anim>
                                    <p:anim calcmode="lin" valueType="num">
                                      <p:cBhvr>
                                        <p:cTn id="39"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4–5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write each in point-slope form</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 Shipping a package</a:t>
            </a:r>
            <a:endParaRPr lang="en-US" sz="2100" dirty="0"/>
          </a:p>
        </p:txBody>
      </p:sp>
      <p:sp>
        <p:nvSpPr>
          <p:cNvPr id="5" name="Shape 5"/>
          <p:cNvSpPr txBox="1"/>
          <p:nvPr/>
        </p:nvSpPr>
        <p:spPr>
          <a:xfrm>
            <a:off x="685800" y="218389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It costs $1.10 per pound plus a basic shipping charge. A 10-pound package costs $14 to mail.</a:t>
            </a:r>
            <a:endParaRPr lang="en-US" sz="1575" dirty="0"/>
          </a:p>
        </p:txBody>
      </p:sp>
      <p:sp>
        <p:nvSpPr>
          <p:cNvPr id="6" name="Shape 6"/>
          <p:cNvSpPr txBox="1"/>
          <p:nvPr/>
        </p:nvSpPr>
        <p:spPr>
          <a:xfrm>
            <a:off x="685800" y="2852166"/>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Rate per pound → </a:t>
            </a:r>
            <a:r>
              <a:rPr lang="en-US" sz="1575" dirty="0" b="1">
                <a:solidFill>
                  <a:srgbClr val="C9561F"/>
                </a:solidFill>
                <a:latin typeface="Segoe UI"/>
                <a:cs typeface="Segoe UI"/>
              </a:rPr>
              <a:t xml:space="preserve">slope = 1.10</a:t>
            </a:r>
            <a:endParaRPr lang="en-US" sz="1575" dirty="0"/>
          </a:p>
        </p:txBody>
      </p:sp>
      <p:sp>
        <p:nvSpPr>
          <p:cNvPr id="7" name="Shape 7"/>
          <p:cNvSpPr txBox="1"/>
          <p:nvPr/>
        </p:nvSpPr>
        <p:spPr>
          <a:xfrm>
            <a:off x="685800" y="328041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pounds costs $14 → </a:t>
            </a:r>
            <a:r>
              <a:rPr lang="en-US" sz="1575" dirty="0" b="1">
                <a:solidFill>
                  <a:srgbClr val="3050B8"/>
                </a:solidFill>
                <a:latin typeface="Segoe UI"/>
                <a:cs typeface="Segoe UI"/>
              </a:rPr>
              <a:t xml:space="preserve">point (10, 14)</a:t>
            </a:r>
            <a:endParaRPr lang="en-US" sz="1575" dirty="0"/>
          </a:p>
        </p:txBody>
      </p:sp>
      <p:sp>
        <p:nvSpPr>
          <p:cNvPr id="8" name="Shape 8"/>
          <p:cNvSpPr txBox="1"/>
          <p:nvPr/>
        </p:nvSpPr>
        <p:spPr>
          <a:xfrm>
            <a:off x="685800" y="3708654"/>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14</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1.1</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10</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5. </a:t>
            </a:r>
            <a:r>
              <a:rPr lang="en-US" sz="2100" dirty="0" b="1" i="1">
                <a:solidFill>
                  <a:srgbClr val="16171D"/>
                </a:solidFill>
                <a:latin typeface="Cambria"/>
                <a:cs typeface="Cambria"/>
              </a:rPr>
              <a:t xml:space="preserve">m</a:t>
            </a:r>
            <a:r>
              <a:rPr lang="en-US" sz="2100" dirty="0" b="1">
                <a:solidFill>
                  <a:srgbClr val="16171D"/>
                </a:solidFill>
                <a:latin typeface="Cambria"/>
                <a:cs typeface="Cambria"/>
              </a:rPr>
              <a:t xml:space="preserve"> = −</a:t>
            </a:r>
            <a:r>
              <a:rPr lang="en-US" sz="2100" dirty="0" b="1">
                <a:solidFill>
                  <a:srgbClr val="16171D"/>
                </a:solidFill>
                <a:latin typeface="Cambria"/>
                <a:cs typeface="Cambria"/>
              </a:rPr>
              <a:t xml:space="preserve">3</a:t>
            </a:r>
            <a:r>
              <a:rPr lang="en-US" sz="2100" dirty="0" b="1">
                <a:solidFill>
                  <a:srgbClr val="16171D"/>
                </a:solidFill>
                <a:latin typeface="Cambria"/>
                <a:cs typeface="Cambria"/>
              </a:rPr>
              <a:t xml:space="preserve">/</a:t>
            </a:r>
            <a:r>
              <a:rPr lang="en-US" sz="2100" dirty="0" b="1">
                <a:solidFill>
                  <a:srgbClr val="16171D"/>
                </a:solidFill>
                <a:latin typeface="Cambria"/>
                <a:cs typeface="Cambria"/>
              </a:rPr>
              <a:t xml:space="preserve">8</a:t>
            </a:r>
            <a:r>
              <a:rPr lang="en-US" sz="2100" dirty="0" b="1">
                <a:solidFill>
                  <a:srgbClr val="16171D"/>
                </a:solidFill>
                <a:latin typeface="Segoe UI"/>
                <a:cs typeface="Segoe UI"/>
              </a:rPr>
              <a:t xml:space="preserve">, point (50, 7)</a:t>
            </a:r>
            <a:endParaRPr lang="en-US" sz="2100" dirty="0"/>
          </a:p>
        </p:txBody>
      </p:sp>
      <p:sp>
        <p:nvSpPr>
          <p:cNvPr id="10" name="Shape 10"/>
          <p:cNvSpPr txBox="1"/>
          <p:nvPr/>
        </p:nvSpPr>
        <p:spPr>
          <a:xfrm>
            <a:off x="6362548" y="2183892"/>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m =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8</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x</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50</a:t>
            </a:r>
            <a:r>
              <a:rPr lang="en-US" sz="1575" dirty="0">
                <a:solidFill>
                  <a:srgbClr val="16171D"/>
                </a:solidFill>
                <a:latin typeface="Segoe UI"/>
                <a:cs typeface="Segoe UI"/>
              </a:rPr>
              <a:t xml:space="preserve">, </a:t>
            </a:r>
            <a:r>
              <a:rPr lang="en-US" sz="1575" dirty="0" b="1">
                <a:solidFill>
                  <a:srgbClr val="3050B8"/>
                </a:solidFill>
                <a:latin typeface="Segoe UI"/>
                <a:cs typeface="Segoe UI"/>
              </a:rPr>
              <a:t xml:space="preserve">y</a:t>
            </a:r>
            <a:r>
              <a:rPr lang="en-US" sz="1339" dirty="0" b="1" baseline="-25000">
                <a:solidFill>
                  <a:srgbClr val="3050B8"/>
                </a:solidFill>
                <a:latin typeface="Segoe UI"/>
                <a:cs typeface="Segoe UI"/>
              </a:rPr>
              <a:t xml:space="preserve">1</a:t>
            </a:r>
            <a:r>
              <a:rPr lang="en-US" sz="1575" dirty="0" b="1">
                <a:solidFill>
                  <a:srgbClr val="3050B8"/>
                </a:solidFill>
                <a:latin typeface="Segoe UI"/>
                <a:cs typeface="Segoe UI"/>
              </a:rPr>
              <a:t xml:space="preserve"> = 7</a:t>
            </a:r>
            <a:endParaRPr lang="en-US" sz="1575" dirty="0"/>
          </a:p>
        </p:txBody>
      </p:sp>
      <p:sp>
        <p:nvSpPr>
          <p:cNvPr id="11" name="Shape 11"/>
          <p:cNvSpPr txBox="1"/>
          <p:nvPr/>
        </p:nvSpPr>
        <p:spPr>
          <a:xfrm>
            <a:off x="6362548" y="2612136"/>
            <a:ext cx="5143348" cy="103327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7</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50</a:t>
            </a:r>
            <a:r>
              <a:rPr lang="en-US" sz="2850" dirty="0">
                <a:solidFill>
                  <a:srgbClr val="16171D"/>
                </a:solidFill>
                <a:latin typeface="Cambria"/>
                <a:cs typeface="Cambria"/>
              </a:rPr>
              <a:t xml:space="preserve">)</a:t>
            </a:r>
            <a:endParaRPr lang="en-US" sz="2850"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ppt_w</p:attrName>
                                        </p:attrNameLst>
                                      </p:cBhvr>
                                      <p:tavLst>
                                        <p:tav tm="0">
                                          <p:val>
                                            <p:fltVal val="0"/>
                                          </p:val>
                                        </p:tav>
                                        <p:tav tm="100000">
                                          <p:val>
                                            <p:strVal val="#ppt_w"/>
                                          </p:val>
                                        </p:tav>
                                      </p:tavLst>
                                    </p:anim>
                                    <p:anim calcmode="lin" valueType="num">
                                      <p:cBhvr>
                                        <p:cTn id="20"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500"/>
                                        <p:tgtEl>
                                          <p:spTgt spid="10"/>
                                        </p:tgtEl>
                                      </p:cBhvr>
                                    </p:animEffect>
                                    <p:anim calcmode="lin" valueType="num">
                                      <p:cBhvr>
                                        <p:cTn id="26" dur="500" fill="hold"/>
                                        <p:tgtEl>
                                          <p:spTgt spid="10"/>
                                        </p:tgtEl>
                                        <p:attrNameLst>
                                          <p:attrName>ppt_x</p:attrName>
                                        </p:attrNameLst>
                                      </p:cBhvr>
                                      <p:tavLst>
                                        <p:tav tm="0">
                                          <p:val>
                                            <p:strVal val="#ppt_x"/>
                                          </p:val>
                                        </p:tav>
                                        <p:tav tm="100000">
                                          <p:val>
                                            <p:strVal val="#ppt_x"/>
                                          </p:val>
                                        </p:tav>
                                      </p:tavLst>
                                    </p:anim>
                                    <p:anim calcmode="lin" valueType="num">
                                      <p:cBhvr>
                                        <p:cTn id="27"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53" presetClass="entr" presetSubtype="16" fill="hold" nodeType="clickEffect">
                                  <p:stCondLst>
                                    <p:cond delay="0"/>
                                  </p:stCondLst>
                                  <p:childTnLst>
                                    <p:set>
                                      <p:cBhvr>
                                        <p:cTn id="31" dur="1" fill="hold">
                                          <p:stCondLst>
                                            <p:cond delay="0"/>
                                          </p:stCondLst>
                                        </p:cTn>
                                        <p:tgtEl>
                                          <p:spTgt spid="11"/>
                                        </p:tgtEl>
                                        <p:attrNameLst>
                                          <p:attrName>style.visibility</p:attrName>
                                        </p:attrNameLst>
                                      </p:cBhvr>
                                      <p:to>
                                        <p:strVal val="visible"/>
                                      </p:to>
                                    </p:set>
                                    <p:animEffect transition="in" filter="fade">
                                      <p:cBhvr>
                                        <p:cTn id="32" dur="500"/>
                                        <p:tgtEl>
                                          <p:spTgt spid="11"/>
                                        </p:tgtEl>
                                      </p:cBhvr>
                                    </p:animEffect>
                                    <p:anim calcmode="lin" valueType="num">
                                      <p:cBhvr>
                                        <p:cTn id="33" dur="500" fill="hold"/>
                                        <p:tgtEl>
                                          <p:spTgt spid="11"/>
                                        </p:tgtEl>
                                        <p:attrNameLst>
                                          <p:attrName>ppt_w</p:attrName>
                                        </p:attrNameLst>
                                      </p:cBhvr>
                                      <p:tavLst>
                                        <p:tav tm="0">
                                          <p:val>
                                            <p:fltVal val="0"/>
                                          </p:val>
                                        </p:tav>
                                        <p:tav tm="100000">
                                          <p:val>
                                            <p:strVal val="#ppt_w"/>
                                          </p:val>
                                        </p:tav>
                                      </p:tavLst>
                                    </p:anim>
                                    <p:anim calcmode="lin" valueType="num">
                                      <p:cBhvr>
                                        <p:cTn id="34"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6 · SE p. 204</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 line through (35, 102) and (42, 20)</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On the graph in your book, the </a:t>
            </a:r>
            <a:r>
              <a:rPr lang="en-US" sz="1575" dirty="0" i="1">
                <a:solidFill>
                  <a:srgbClr val="5F6272"/>
                </a:solidFill>
                <a:latin typeface="Segoe UI"/>
                <a:cs typeface="Segoe UI"/>
              </a:rPr>
              <a:t xml:space="preserve">y</a:t>
            </a:r>
            <a:r>
              <a:rPr lang="en-US" sz="1575" dirty="0">
                <a:solidFill>
                  <a:srgbClr val="5F6272"/>
                </a:solidFill>
                <a:latin typeface="Segoe UI"/>
                <a:cs typeface="Segoe UI"/>
              </a:rPr>
              <a:t xml:space="preserve">-intercept is not visible. Point-slope form doesn't need it.</a:t>
            </a:r>
            <a:endParaRPr lang="en-US" sz="1575" dirty="0"/>
          </a:p>
        </p:txBody>
      </p:sp>
      <p:sp>
        <p:nvSpPr>
          <p:cNvPr id="5" name="Shape 5"/>
          <p:cNvSpPr txBox="1"/>
          <p:nvPr/>
        </p:nvSpPr>
        <p:spPr>
          <a:xfrm>
            <a:off x="685800" y="2084832"/>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1: calculate the slope.</a:t>
            </a:r>
            <a:endParaRPr lang="en-US" sz="1950" dirty="0"/>
          </a:p>
        </p:txBody>
      </p:sp>
      <p:sp>
        <p:nvSpPr>
          <p:cNvPr id="6" name="Shape 6"/>
          <p:cNvSpPr txBox="1"/>
          <p:nvPr/>
        </p:nvSpPr>
        <p:spPr>
          <a:xfrm>
            <a:off x="685800" y="2589276"/>
            <a:ext cx="6819595" cy="48920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20 − 102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42 − 35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endParaRPr lang="en-US" sz="2850" dirty="0"/>
          </a:p>
        </p:txBody>
      </p:sp>
      <p:sp>
        <p:nvSpPr>
          <p:cNvPr id="7" name="Shape 7"/>
          <p:cNvSpPr txBox="1"/>
          <p:nvPr/>
        </p:nvSpPr>
        <p:spPr>
          <a:xfrm>
            <a:off x="685800" y="3230880"/>
            <a:ext cx="68195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Step 2: choose either point. Using </a:t>
            </a:r>
            <a:r>
              <a:rPr lang="en-US" sz="1950" dirty="0" b="1">
                <a:solidFill>
                  <a:srgbClr val="3050B8"/>
                </a:solidFill>
                <a:latin typeface="Cambria"/>
                <a:cs typeface="Cambria"/>
              </a:rPr>
              <a:t xml:space="preserve">(42, 20)</a:t>
            </a:r>
            <a:r>
              <a:rPr lang="en-US" sz="1950" dirty="0">
                <a:solidFill>
                  <a:srgbClr val="16171D"/>
                </a:solidFill>
                <a:latin typeface="Segoe UI"/>
                <a:cs typeface="Segoe UI"/>
              </a:rPr>
              <a:t xml:space="preserve">:</a:t>
            </a:r>
            <a:endParaRPr lang="en-US" sz="1950" dirty="0"/>
          </a:p>
        </p:txBody>
      </p:sp>
      <p:sp>
        <p:nvSpPr>
          <p:cNvPr id="8" name="Shape 8"/>
          <p:cNvSpPr txBox="1"/>
          <p:nvPr/>
        </p:nvSpPr>
        <p:spPr>
          <a:xfrm>
            <a:off x="685800" y="3735324"/>
            <a:ext cx="6722029"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20</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82</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7</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42</a:t>
            </a:r>
            <a:r>
              <a:rPr lang="en-US" sz="2850" dirty="0">
                <a:solidFill>
                  <a:srgbClr val="16171D"/>
                </a:solidFill>
                <a:latin typeface="Cambria"/>
                <a:cs typeface="Cambria"/>
              </a:rPr>
              <a:t xml:space="preserve">)</a:t>
            </a:r>
            <a:endParaRPr lang="en-US" sz="2850" dirty="0"/>
          </a:p>
        </p:txBody>
      </p:sp>
      <p:sp>
        <p:nvSpPr>
          <p:cNvPr id="9" name="Shape 9"/>
          <p:cNvSpPr txBox="1"/>
          <p:nvPr/>
        </p:nvSpPr>
        <p:spPr>
          <a:xfrm>
            <a:off x="685800" y="4486656"/>
            <a:ext cx="68195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Using (35, 102) also works: </a:t>
            </a:r>
            <a:r>
              <a:rPr lang="en-US" sz="1575" dirty="0" i="1">
                <a:solidFill>
                  <a:srgbClr val="5F6272"/>
                </a:solidFill>
                <a:latin typeface="Cambria"/>
                <a:cs typeface="Cambria"/>
              </a:rPr>
              <a:t xml:space="preserve">y</a:t>
            </a:r>
            <a:r>
              <a:rPr lang="en-US" sz="1575" dirty="0">
                <a:solidFill>
                  <a:srgbClr val="5F6272"/>
                </a:solidFill>
                <a:latin typeface="Cambria"/>
                <a:cs typeface="Cambria"/>
              </a:rPr>
              <a:t xml:space="preserve"> − 102 = −</a:t>
            </a:r>
            <a:r>
              <a:rPr lang="en-US" sz="1575" dirty="0">
                <a:solidFill>
                  <a:srgbClr val="5F6272"/>
                </a:solidFill>
                <a:latin typeface="Cambria"/>
                <a:cs typeface="Cambria"/>
              </a:rPr>
              <a:t xml:space="preserve">82</a:t>
            </a:r>
            <a:r>
              <a:rPr lang="en-US" sz="1575" dirty="0">
                <a:solidFill>
                  <a:srgbClr val="5F6272"/>
                </a:solidFill>
                <a:latin typeface="Cambria"/>
                <a:cs typeface="Cambria"/>
              </a:rPr>
              <a:t xml:space="preserve">/</a:t>
            </a:r>
            <a:r>
              <a:rPr lang="en-US" sz="1575" dirty="0">
                <a:solidFill>
                  <a:srgbClr val="5F6272"/>
                </a:solidFill>
                <a:latin typeface="Cambria"/>
                <a:cs typeface="Cambria"/>
              </a:rPr>
              <a:t xml:space="preserve">7</a:t>
            </a:r>
            <a:r>
              <a:rPr lang="en-US" sz="1575" dirty="0">
                <a:solidFill>
                  <a:srgbClr val="5F6272"/>
                </a:solidFill>
                <a:latin typeface="Cambria"/>
                <a:cs typeface="Cambria"/>
              </a:rPr>
              <a:t xml:space="preserve">(</a:t>
            </a:r>
            <a:r>
              <a:rPr lang="en-US" sz="1575" dirty="0" i="1">
                <a:solidFill>
                  <a:srgbClr val="5F6272"/>
                </a:solidFill>
                <a:latin typeface="Cambria"/>
                <a:cs typeface="Cambria"/>
              </a:rPr>
              <a:t xml:space="preserve">x</a:t>
            </a:r>
            <a:r>
              <a:rPr lang="en-US" sz="1575" dirty="0">
                <a:solidFill>
                  <a:srgbClr val="5F6272"/>
                </a:solidFill>
                <a:latin typeface="Cambria"/>
                <a:cs typeface="Cambria"/>
              </a:rPr>
              <a:t xml:space="preserve"> − 35)</a:t>
            </a:r>
            <a:r>
              <a:rPr lang="en-US" sz="1575" dirty="0">
                <a:solidFill>
                  <a:srgbClr val="5F6272"/>
                </a:solidFill>
                <a:latin typeface="Segoe UI"/>
                <a:cs typeface="Segoe UI"/>
              </a:rPr>
              <a:t xml:space="preserve">. Both describe the same line.</a:t>
            </a:r>
            <a:endParaRPr lang="en-US" sz="1575" dirty="0"/>
          </a:p>
        </p:txBody>
      </p:sp>
      <p:sp>
        <p:nvSpPr>
          <p:cNvPr id="10" name="Shape 10"/>
          <p:cNvSpPr/>
          <p:nvPr/>
        </p:nvSpPr>
        <p:spPr>
          <a:xfrm>
            <a:off x="7886395" y="2084832"/>
            <a:ext cx="3619500" cy="3714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1" name="Line 11"/>
          <p:cNvCxnSpPr/>
          <p:nvPr/>
        </p:nvCxnSpPr>
        <p:spPr>
          <a:xfrm>
            <a:off x="8210245" y="2199132"/>
            <a:ext cx="0" cy="3352800"/>
          </a:xfrm>
          <a:prstGeom prst="line">
            <a:avLst/>
          </a:prstGeom>
          <a:ln w="9525" cap="flat">
            <a:solidFill>
              <a:srgbClr val="E6E8F2"/>
            </a:solidFill>
          </a:ln>
        </p:spPr>
      </p:cxnSp>
      <p:cxnSp>
        <p:nvCxnSpPr>
          <p:cNvPr id="12" name="Line 12"/>
          <p:cNvCxnSpPr/>
          <p:nvPr/>
        </p:nvCxnSpPr>
        <p:spPr>
          <a:xfrm>
            <a:off x="8563729" y="2199132"/>
            <a:ext cx="0" cy="3352800"/>
          </a:xfrm>
          <a:prstGeom prst="line">
            <a:avLst/>
          </a:prstGeom>
          <a:ln w="9525" cap="flat">
            <a:solidFill>
              <a:srgbClr val="E6E8F2"/>
            </a:solidFill>
          </a:ln>
        </p:spPr>
      </p:cxnSp>
      <p:cxnSp>
        <p:nvCxnSpPr>
          <p:cNvPr id="13" name="Line 13"/>
          <p:cNvCxnSpPr/>
          <p:nvPr/>
        </p:nvCxnSpPr>
        <p:spPr>
          <a:xfrm>
            <a:off x="8917212" y="2199132"/>
            <a:ext cx="0" cy="3352800"/>
          </a:xfrm>
          <a:prstGeom prst="line">
            <a:avLst/>
          </a:prstGeom>
          <a:ln w="9525" cap="flat">
            <a:solidFill>
              <a:srgbClr val="E6E8F2"/>
            </a:solidFill>
          </a:ln>
        </p:spPr>
      </p:cxnSp>
      <p:cxnSp>
        <p:nvCxnSpPr>
          <p:cNvPr id="14" name="Line 14"/>
          <p:cNvCxnSpPr/>
          <p:nvPr/>
        </p:nvCxnSpPr>
        <p:spPr>
          <a:xfrm>
            <a:off x="9270695" y="2199132"/>
            <a:ext cx="0" cy="3352800"/>
          </a:xfrm>
          <a:prstGeom prst="line">
            <a:avLst/>
          </a:prstGeom>
          <a:ln w="9525" cap="flat">
            <a:solidFill>
              <a:srgbClr val="E6E8F2"/>
            </a:solidFill>
          </a:ln>
        </p:spPr>
      </p:cxnSp>
      <p:cxnSp>
        <p:nvCxnSpPr>
          <p:cNvPr id="15" name="Line 15"/>
          <p:cNvCxnSpPr/>
          <p:nvPr/>
        </p:nvCxnSpPr>
        <p:spPr>
          <a:xfrm>
            <a:off x="9624179" y="2199132"/>
            <a:ext cx="0" cy="3352800"/>
          </a:xfrm>
          <a:prstGeom prst="line">
            <a:avLst/>
          </a:prstGeom>
          <a:ln w="9525" cap="flat">
            <a:solidFill>
              <a:srgbClr val="E6E8F2"/>
            </a:solidFill>
          </a:ln>
        </p:spPr>
      </p:cxnSp>
      <p:cxnSp>
        <p:nvCxnSpPr>
          <p:cNvPr id="16" name="Line 16"/>
          <p:cNvCxnSpPr/>
          <p:nvPr/>
        </p:nvCxnSpPr>
        <p:spPr>
          <a:xfrm>
            <a:off x="9977662" y="2199132"/>
            <a:ext cx="0" cy="3352800"/>
          </a:xfrm>
          <a:prstGeom prst="line">
            <a:avLst/>
          </a:prstGeom>
          <a:ln w="9525" cap="flat">
            <a:solidFill>
              <a:srgbClr val="E6E8F2"/>
            </a:solidFill>
          </a:ln>
        </p:spPr>
      </p:cxnSp>
      <p:cxnSp>
        <p:nvCxnSpPr>
          <p:cNvPr id="17" name="Line 17"/>
          <p:cNvCxnSpPr/>
          <p:nvPr/>
        </p:nvCxnSpPr>
        <p:spPr>
          <a:xfrm>
            <a:off x="10331145" y="2199132"/>
            <a:ext cx="0" cy="3352800"/>
          </a:xfrm>
          <a:prstGeom prst="line">
            <a:avLst/>
          </a:prstGeom>
          <a:ln w="9525" cap="flat">
            <a:solidFill>
              <a:srgbClr val="E6E8F2"/>
            </a:solidFill>
          </a:ln>
        </p:spPr>
      </p:cxnSp>
      <p:cxnSp>
        <p:nvCxnSpPr>
          <p:cNvPr id="18" name="Line 18"/>
          <p:cNvCxnSpPr/>
          <p:nvPr/>
        </p:nvCxnSpPr>
        <p:spPr>
          <a:xfrm>
            <a:off x="10684629" y="2199132"/>
            <a:ext cx="0" cy="3352800"/>
          </a:xfrm>
          <a:prstGeom prst="line">
            <a:avLst/>
          </a:prstGeom>
          <a:ln w="9525" cap="flat">
            <a:solidFill>
              <a:srgbClr val="E6E8F2"/>
            </a:solidFill>
          </a:ln>
        </p:spPr>
      </p:cxnSp>
      <p:cxnSp>
        <p:nvCxnSpPr>
          <p:cNvPr id="19" name="Line 19"/>
          <p:cNvCxnSpPr/>
          <p:nvPr/>
        </p:nvCxnSpPr>
        <p:spPr>
          <a:xfrm>
            <a:off x="11038112" y="2199132"/>
            <a:ext cx="0" cy="3352800"/>
          </a:xfrm>
          <a:prstGeom prst="line">
            <a:avLst/>
          </a:prstGeom>
          <a:ln w="9525" cap="flat">
            <a:solidFill>
              <a:srgbClr val="E6E8F2"/>
            </a:solidFill>
          </a:ln>
        </p:spPr>
      </p:cxnSp>
      <p:cxnSp>
        <p:nvCxnSpPr>
          <p:cNvPr id="20" name="Line 20"/>
          <p:cNvCxnSpPr/>
          <p:nvPr/>
        </p:nvCxnSpPr>
        <p:spPr>
          <a:xfrm>
            <a:off x="11391595" y="2199132"/>
            <a:ext cx="0" cy="3352800"/>
          </a:xfrm>
          <a:prstGeom prst="line">
            <a:avLst/>
          </a:prstGeom>
          <a:ln w="9525" cap="flat">
            <a:solidFill>
              <a:srgbClr val="E6E8F2"/>
            </a:solidFill>
          </a:ln>
        </p:spPr>
      </p:cxnSp>
      <p:cxnSp>
        <p:nvCxnSpPr>
          <p:cNvPr id="21" name="Line 21"/>
          <p:cNvCxnSpPr/>
          <p:nvPr/>
        </p:nvCxnSpPr>
        <p:spPr>
          <a:xfrm>
            <a:off x="8210245" y="5551932"/>
            <a:ext cx="3181350" cy="0"/>
          </a:xfrm>
          <a:prstGeom prst="line">
            <a:avLst/>
          </a:prstGeom>
          <a:ln w="9525" cap="flat">
            <a:solidFill>
              <a:srgbClr val="E6E8F2"/>
            </a:solidFill>
          </a:ln>
        </p:spPr>
      </p:cxnSp>
      <p:cxnSp>
        <p:nvCxnSpPr>
          <p:cNvPr id="22" name="Line 22"/>
          <p:cNvCxnSpPr/>
          <p:nvPr/>
        </p:nvCxnSpPr>
        <p:spPr>
          <a:xfrm>
            <a:off x="8210245" y="5179399"/>
            <a:ext cx="3181350" cy="0"/>
          </a:xfrm>
          <a:prstGeom prst="line">
            <a:avLst/>
          </a:prstGeom>
          <a:ln w="9525" cap="flat">
            <a:solidFill>
              <a:srgbClr val="E6E8F2"/>
            </a:solidFill>
          </a:ln>
        </p:spPr>
      </p:cxnSp>
      <p:cxnSp>
        <p:nvCxnSpPr>
          <p:cNvPr id="23" name="Line 23"/>
          <p:cNvCxnSpPr/>
          <p:nvPr/>
        </p:nvCxnSpPr>
        <p:spPr>
          <a:xfrm>
            <a:off x="8210245" y="4806865"/>
            <a:ext cx="3181350" cy="0"/>
          </a:xfrm>
          <a:prstGeom prst="line">
            <a:avLst/>
          </a:prstGeom>
          <a:ln w="9525" cap="flat">
            <a:solidFill>
              <a:srgbClr val="E6E8F2"/>
            </a:solidFill>
          </a:ln>
        </p:spPr>
      </p:cxnSp>
      <p:cxnSp>
        <p:nvCxnSpPr>
          <p:cNvPr id="24" name="Line 24"/>
          <p:cNvCxnSpPr/>
          <p:nvPr/>
        </p:nvCxnSpPr>
        <p:spPr>
          <a:xfrm>
            <a:off x="8210245" y="4434332"/>
            <a:ext cx="3181350" cy="0"/>
          </a:xfrm>
          <a:prstGeom prst="line">
            <a:avLst/>
          </a:prstGeom>
          <a:ln w="9525" cap="flat">
            <a:solidFill>
              <a:srgbClr val="E6E8F2"/>
            </a:solidFill>
          </a:ln>
        </p:spPr>
      </p:cxnSp>
      <p:cxnSp>
        <p:nvCxnSpPr>
          <p:cNvPr id="25" name="Line 25"/>
          <p:cNvCxnSpPr/>
          <p:nvPr/>
        </p:nvCxnSpPr>
        <p:spPr>
          <a:xfrm>
            <a:off x="8210245" y="4061799"/>
            <a:ext cx="3181350" cy="0"/>
          </a:xfrm>
          <a:prstGeom prst="line">
            <a:avLst/>
          </a:prstGeom>
          <a:ln w="9525" cap="flat">
            <a:solidFill>
              <a:srgbClr val="E6E8F2"/>
            </a:solidFill>
          </a:ln>
        </p:spPr>
      </p:cxnSp>
      <p:cxnSp>
        <p:nvCxnSpPr>
          <p:cNvPr id="26" name="Line 26"/>
          <p:cNvCxnSpPr/>
          <p:nvPr/>
        </p:nvCxnSpPr>
        <p:spPr>
          <a:xfrm>
            <a:off x="8210245" y="3689265"/>
            <a:ext cx="3181350" cy="0"/>
          </a:xfrm>
          <a:prstGeom prst="line">
            <a:avLst/>
          </a:prstGeom>
          <a:ln w="9525" cap="flat">
            <a:solidFill>
              <a:srgbClr val="E6E8F2"/>
            </a:solidFill>
          </a:ln>
        </p:spPr>
      </p:cxnSp>
      <p:cxnSp>
        <p:nvCxnSpPr>
          <p:cNvPr id="27" name="Line 27"/>
          <p:cNvCxnSpPr/>
          <p:nvPr/>
        </p:nvCxnSpPr>
        <p:spPr>
          <a:xfrm>
            <a:off x="8210245" y="3316732"/>
            <a:ext cx="3181350" cy="0"/>
          </a:xfrm>
          <a:prstGeom prst="line">
            <a:avLst/>
          </a:prstGeom>
          <a:ln w="9525" cap="flat">
            <a:solidFill>
              <a:srgbClr val="E6E8F2"/>
            </a:solidFill>
          </a:ln>
        </p:spPr>
      </p:cxnSp>
      <p:cxnSp>
        <p:nvCxnSpPr>
          <p:cNvPr id="28" name="Line 28"/>
          <p:cNvCxnSpPr/>
          <p:nvPr/>
        </p:nvCxnSpPr>
        <p:spPr>
          <a:xfrm>
            <a:off x="8210245" y="2944199"/>
            <a:ext cx="3181350" cy="0"/>
          </a:xfrm>
          <a:prstGeom prst="line">
            <a:avLst/>
          </a:prstGeom>
          <a:ln w="9525" cap="flat">
            <a:solidFill>
              <a:srgbClr val="E6E8F2"/>
            </a:solidFill>
          </a:ln>
        </p:spPr>
      </p:cxnSp>
      <p:cxnSp>
        <p:nvCxnSpPr>
          <p:cNvPr id="29" name="Line 29"/>
          <p:cNvCxnSpPr/>
          <p:nvPr/>
        </p:nvCxnSpPr>
        <p:spPr>
          <a:xfrm>
            <a:off x="8210245" y="2571665"/>
            <a:ext cx="3181350" cy="0"/>
          </a:xfrm>
          <a:prstGeom prst="line">
            <a:avLst/>
          </a:prstGeom>
          <a:ln w="9525" cap="flat">
            <a:solidFill>
              <a:srgbClr val="E6E8F2"/>
            </a:solidFill>
          </a:ln>
        </p:spPr>
      </p:cxnSp>
      <p:cxnSp>
        <p:nvCxnSpPr>
          <p:cNvPr id="30" name="Line 30"/>
          <p:cNvCxnSpPr/>
          <p:nvPr/>
        </p:nvCxnSpPr>
        <p:spPr>
          <a:xfrm>
            <a:off x="8210245" y="2199132"/>
            <a:ext cx="3181350" cy="0"/>
          </a:xfrm>
          <a:prstGeom prst="line">
            <a:avLst/>
          </a:prstGeom>
          <a:ln w="9525" cap="flat">
            <a:solidFill>
              <a:srgbClr val="E6E8F2"/>
            </a:solidFill>
          </a:ln>
        </p:spPr>
      </p:cxnSp>
      <p:cxnSp>
        <p:nvCxnSpPr>
          <p:cNvPr id="31" name="Line 31"/>
          <p:cNvCxnSpPr/>
          <p:nvPr/>
        </p:nvCxnSpPr>
        <p:spPr>
          <a:xfrm>
            <a:off x="8210245" y="2199132"/>
            <a:ext cx="0" cy="3352800"/>
          </a:xfrm>
          <a:prstGeom prst="line">
            <a:avLst/>
          </a:prstGeom>
          <a:ln w="19050" cap="flat">
            <a:solidFill>
              <a:srgbClr val="5F6272"/>
            </a:solidFill>
          </a:ln>
        </p:spPr>
      </p:cxnSp>
      <p:cxnSp>
        <p:nvCxnSpPr>
          <p:cNvPr id="32" name="Line 32"/>
          <p:cNvCxnSpPr/>
          <p:nvPr/>
        </p:nvCxnSpPr>
        <p:spPr>
          <a:xfrm>
            <a:off x="8210245" y="5551932"/>
            <a:ext cx="3181350" cy="0"/>
          </a:xfrm>
          <a:prstGeom prst="line">
            <a:avLst/>
          </a:prstGeom>
          <a:ln w="19050" cap="flat">
            <a:solidFill>
              <a:srgbClr val="5F6272"/>
            </a:solidFill>
          </a:ln>
        </p:spPr>
      </p:cxnSp>
      <p:sp>
        <p:nvSpPr>
          <p:cNvPr id="33" name="Shape 33"/>
          <p:cNvSpPr txBox="1"/>
          <p:nvPr/>
        </p:nvSpPr>
        <p:spPr>
          <a:xfrm>
            <a:off x="79359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34" name="Shape 34"/>
          <p:cNvSpPr txBox="1"/>
          <p:nvPr/>
        </p:nvSpPr>
        <p:spPr>
          <a:xfrm>
            <a:off x="86428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5" name="Shape 35"/>
          <p:cNvSpPr txBox="1"/>
          <p:nvPr/>
        </p:nvSpPr>
        <p:spPr>
          <a:xfrm>
            <a:off x="9349859"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6" name="Shape 36"/>
          <p:cNvSpPr txBox="1"/>
          <p:nvPr/>
        </p:nvSpPr>
        <p:spPr>
          <a:xfrm>
            <a:off x="10056825"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7" name="Shape 37"/>
          <p:cNvSpPr txBox="1"/>
          <p:nvPr/>
        </p:nvSpPr>
        <p:spPr>
          <a:xfrm>
            <a:off x="10763792" y="557098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48</a:t>
            </a:r>
            <a:endParaRPr lang="en-US" sz="975" dirty="0"/>
          </a:p>
        </p:txBody>
      </p:sp>
      <p:sp>
        <p:nvSpPr>
          <p:cNvPr id="38" name="Shape 38"/>
          <p:cNvSpPr txBox="1"/>
          <p:nvPr/>
        </p:nvSpPr>
        <p:spPr>
          <a:xfrm>
            <a:off x="7643317" y="54604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9" name="Shape 39"/>
          <p:cNvSpPr txBox="1"/>
          <p:nvPr/>
        </p:nvSpPr>
        <p:spPr>
          <a:xfrm>
            <a:off x="7643317" y="47154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40" name="Shape 40"/>
          <p:cNvSpPr txBox="1"/>
          <p:nvPr/>
        </p:nvSpPr>
        <p:spPr>
          <a:xfrm>
            <a:off x="7643317" y="3970359"/>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48</a:t>
            </a:r>
            <a:endParaRPr lang="en-US" sz="975" dirty="0"/>
          </a:p>
        </p:txBody>
      </p:sp>
      <p:sp>
        <p:nvSpPr>
          <p:cNvPr id="41" name="Shape 41"/>
          <p:cNvSpPr txBox="1"/>
          <p:nvPr/>
        </p:nvSpPr>
        <p:spPr>
          <a:xfrm>
            <a:off x="7643317" y="322529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72</a:t>
            </a:r>
            <a:endParaRPr lang="en-US" sz="975" dirty="0"/>
          </a:p>
        </p:txBody>
      </p:sp>
      <p:sp>
        <p:nvSpPr>
          <p:cNvPr id="42" name="Shape 42"/>
          <p:cNvSpPr txBox="1"/>
          <p:nvPr/>
        </p:nvSpPr>
        <p:spPr>
          <a:xfrm>
            <a:off x="7643317" y="2480225"/>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96</a:t>
            </a:r>
            <a:endParaRPr lang="en-US" sz="975" dirty="0"/>
          </a:p>
        </p:txBody>
      </p:sp>
      <p:cxnSp>
        <p:nvCxnSpPr>
          <p:cNvPr id="43" name="Line 43"/>
          <p:cNvCxnSpPr/>
          <p:nvPr/>
        </p:nvCxnSpPr>
        <p:spPr>
          <a:xfrm>
            <a:off x="10242056" y="2199132"/>
            <a:ext cx="543157" cy="3352800"/>
          </a:xfrm>
          <a:prstGeom prst="line">
            <a:avLst/>
          </a:prstGeom>
          <a:ln w="38100" cap="rnd">
            <a:solidFill>
              <a:srgbClr val="16171D"/>
            </a:solidFill>
          </a:ln>
        </p:spPr>
      </p:cxnSp>
      <p:sp>
        <p:nvSpPr>
          <p:cNvPr id="44" name="Shape 44"/>
          <p:cNvSpPr/>
          <p:nvPr/>
        </p:nvSpPr>
        <p:spPr>
          <a:xfrm>
            <a:off x="10219844" y="2333011"/>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5" name="Shape 45"/>
          <p:cNvSpPr txBox="1"/>
          <p:nvPr/>
        </p:nvSpPr>
        <p:spPr>
          <a:xfrm>
            <a:off x="10357956" y="2137749"/>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(35, 102)</a:t>
            </a:r>
            <a:endParaRPr lang="en-US" sz="1125" dirty="0"/>
          </a:p>
        </p:txBody>
      </p:sp>
      <p:sp>
        <p:nvSpPr>
          <p:cNvPr id="46" name="Shape 46"/>
          <p:cNvSpPr/>
          <p:nvPr/>
        </p:nvSpPr>
        <p:spPr>
          <a:xfrm>
            <a:off x="10632241" y="487865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47" name="Shape 47"/>
          <p:cNvSpPr txBox="1"/>
          <p:nvPr/>
        </p:nvSpPr>
        <p:spPr>
          <a:xfrm>
            <a:off x="10770354" y="4683393"/>
            <a:ext cx="1280160" cy="201168"/>
          </a:xfrm>
          <a:prstGeom prst="rect">
            <a:avLst/>
          </a:prstGeom>
          <a:noFill/>
          <a:ln>
            <a:noFill/>
          </a:ln>
        </p:spPr>
        <p:txBody>
          <a:bodyPr wrap="square" lIns="0" tIns="0" rIns="0" bIns="0" anchor="t">
            <a:noAutofit/>
          </a:bodyPr>
          <a:lstStyle/>
          <a:p>
            <a:pPr algn="l">
              <a:lnSpc>
                <a:spcPct val="100000"/>
              </a:lnSpc>
            </a:pPr>
            <a:r>
              <a:rPr lang="en-US" sz="1125" dirty="0" b="1">
                <a:solidFill>
                  <a:srgbClr val="3050B8"/>
                </a:solidFill>
                <a:latin typeface="Segoe UI"/>
                <a:cs typeface="Segoe UI"/>
              </a:rPr>
              <a:t xml:space="preserve">(42, 20)</a:t>
            </a:r>
            <a:endParaRPr lang="en-US" sz="1125" dirty="0"/>
          </a:p>
        </p:txBody>
      </p:sp>
      <p:sp>
        <p:nvSpPr>
          <p:cNvPr id="48" name="Slide Number 4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wipe(left)">
                                      <p:cBhvr>
                                        <p:cTn id="11" dur="700"/>
                                        <p:tgtEl>
                                          <p:spTgt spid="6"/>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anim calcmode="lin" valueType="num">
                                      <p:cBhvr>
                                        <p:cTn id="17" dur="500" fill="hold"/>
                                        <p:tgtEl>
                                          <p:spTgt spid="7"/>
                                        </p:tgtEl>
                                        <p:attrNameLst>
                                          <p:attrName>ppt_x</p:attrName>
                                        </p:attrNameLst>
                                      </p:cBhvr>
                                      <p:tavLst>
                                        <p:tav tm="0">
                                          <p:val>
                                            <p:strVal val="#ppt_x"/>
                                          </p:val>
                                        </p:tav>
                                        <p:tav tm="100000">
                                          <p:val>
                                            <p:strVal val="#ppt_x"/>
                                          </p:val>
                                        </p:tav>
                                      </p:tavLst>
                                    </p:anim>
                                    <p:anim calcmode="lin" valueType="num">
                                      <p:cBhvr>
                                        <p:cTn id="18"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53" presetClass="entr" presetSubtype="16" fill="hold" nodeType="clickEffect">
                                  <p:stCondLst>
                                    <p:cond delay="0"/>
                                  </p:stCondLst>
                                  <p:childTnLst>
                                    <p:set>
                                      <p:cBhvr>
                                        <p:cTn id="22" dur="1" fill="hold">
                                          <p:stCondLst>
                                            <p:cond delay="0"/>
                                          </p:stCondLst>
                                        </p:cTn>
                                        <p:tgtEl>
                                          <p:spTgt spid="8"/>
                                        </p:tgtEl>
                                        <p:attrNameLst>
                                          <p:attrName>style.visibility</p:attrName>
                                        </p:attrNameLst>
                                      </p:cBhvr>
                                      <p:to>
                                        <p:strVal val="visible"/>
                                      </p:to>
                                    </p:set>
                                    <p:animEffect transition="in" filter="fade">
                                      <p:cBhvr>
                                        <p:cTn id="23" dur="500"/>
                                        <p:tgtEl>
                                          <p:spTgt spid="8"/>
                                        </p:tgtEl>
                                      </p:cBhvr>
                                    </p:animEffect>
                                    <p:anim calcmode="lin" valueType="num">
                                      <p:cBhvr>
                                        <p:cTn id="24" dur="500" fill="hold"/>
                                        <p:tgtEl>
                                          <p:spTgt spid="8"/>
                                        </p:tgtEl>
                                        <p:attrNameLst>
                                          <p:attrName>ppt_w</p:attrName>
                                        </p:attrNameLst>
                                      </p:cBhvr>
                                      <p:tavLst>
                                        <p:tav tm="0">
                                          <p:val>
                                            <p:fltVal val="0"/>
                                          </p:val>
                                        </p:tav>
                                        <p:tav tm="100000">
                                          <p:val>
                                            <p:strVal val="#ppt_w"/>
                                          </p:val>
                                        </p:tav>
                                      </p:tavLst>
                                    </p:anim>
                                    <p:anim calcmode="lin" valueType="num">
                                      <p:cBhvr>
                                        <p:cTn id="25" dur="500" fill="hold"/>
                                        <p:tgtEl>
                                          <p:spTgt spid="8"/>
                                        </p:tgtEl>
                                        <p:attrNameLst>
                                          <p:attrName>ppt_h</p:attrName>
                                        </p:attrNameLst>
                                      </p:cBhvr>
                                      <p:tavLst>
                                        <p:tav tm="0">
                                          <p:val>
                                            <p:fltVal val="0"/>
                                          </p:val>
                                        </p:tav>
                                        <p:tav tm="100000">
                                          <p:val>
                                            <p:strVal val="#ppt_h"/>
                                          </p:val>
                                        </p:tav>
                                      </p:tavLst>
                                    </p:anim>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fade">
                                      <p:cBhvr>
                                        <p:cTn id="30" dur="500"/>
                                        <p:tgtEl>
                                          <p:spTgt spid="9"/>
                                        </p:tgtEl>
                                      </p:cBhvr>
                                    </p:animEffect>
                                    <p:anim calcmode="lin" valueType="num">
                                      <p:cBhvr>
                                        <p:cTn id="31" dur="500" fill="hold"/>
                                        <p:tgtEl>
                                          <p:spTgt spid="9"/>
                                        </p:tgtEl>
                                        <p:attrNameLst>
                                          <p:attrName>ppt_x</p:attrName>
                                        </p:attrNameLst>
                                      </p:cBhvr>
                                      <p:tavLst>
                                        <p:tav tm="0">
                                          <p:val>
                                            <p:strVal val="#ppt_x"/>
                                          </p:val>
                                        </p:tav>
                                        <p:tav tm="100000">
                                          <p:val>
                                            <p:strVal val="#ppt_x"/>
                                          </p:val>
                                        </p:tav>
                                      </p:tavLst>
                                    </p:anim>
                                    <p:anim calcmode="lin" valueType="num">
                                      <p:cBhvr>
                                        <p:cTn id="32" dur="500" fill="hold"/>
                                        <p:tgtEl>
                                          <p:spTgt spid="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Questions 7–8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Something strange in this table…</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−6</a:t>
            </a:r>
            <a:endParaRPr lang="en-US" sz="2250" dirty="0"/>
          </a:p>
        </p:txBody>
      </p:sp>
      <p:sp>
        <p:nvSpPr>
          <p:cNvPr id="12" name="Shape 12"/>
          <p:cNvSpPr txBox="1"/>
          <p:nvPr/>
        </p:nvSpPr>
        <p:spPr>
          <a:xfrm>
            <a:off x="3505200" y="161848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−6 − (−6)</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0</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6</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0</a:t>
            </a:r>
            <a:endParaRPr lang="en-US" sz="2325" dirty="0"/>
          </a:p>
        </p:txBody>
      </p:sp>
      <p:sp>
        <p:nvSpPr>
          <p:cNvPr id="13" name="Shape 13"/>
          <p:cNvSpPr txBox="1"/>
          <p:nvPr/>
        </p:nvSpPr>
        <p:spPr>
          <a:xfrm>
            <a:off x="3505200" y="2458212"/>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 with (1, −6):</a:t>
            </a:r>
            <a:endParaRPr lang="en-US" sz="1575" dirty="0"/>
          </a:p>
        </p:txBody>
      </p:sp>
      <p:sp>
        <p:nvSpPr>
          <p:cNvPr id="14" name="Shape 14"/>
          <p:cNvSpPr txBox="1"/>
          <p:nvPr/>
        </p:nvSpPr>
        <p:spPr>
          <a:xfrm>
            <a:off x="3505200" y="2829306"/>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0</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5" name="Shape 15"/>
          <p:cNvSpPr txBox="1"/>
          <p:nvPr/>
        </p:nvSpPr>
        <p:spPr>
          <a:xfrm>
            <a:off x="3505200" y="3314700"/>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Rewrite in slope-intercept form:</a:t>
            </a:r>
            <a:endParaRPr lang="en-US" sz="1575" dirty="0"/>
          </a:p>
        </p:txBody>
      </p:sp>
      <p:sp>
        <p:nvSpPr>
          <p:cNvPr id="16" name="Shape 16"/>
          <p:cNvSpPr txBox="1"/>
          <p:nvPr/>
        </p:nvSpPr>
        <p:spPr>
          <a:xfrm>
            <a:off x="3505200" y="3685794"/>
            <a:ext cx="4609795"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0</a:t>
            </a:r>
            <a:endParaRPr lang="en-US" sz="2325" dirty="0"/>
          </a:p>
        </p:txBody>
      </p:sp>
      <p:sp>
        <p:nvSpPr>
          <p:cNvPr id="17" name="Shape 17"/>
          <p:cNvSpPr txBox="1"/>
          <p:nvPr/>
        </p:nvSpPr>
        <p:spPr>
          <a:xfrm>
            <a:off x="3505200" y="4171188"/>
            <a:ext cx="3469691" cy="59893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−6</a:t>
            </a:r>
            <a:endParaRPr lang="en-US" sz="2850" dirty="0"/>
          </a:p>
        </p:txBody>
      </p:sp>
      <p:sp>
        <p:nvSpPr>
          <p:cNvPr id="18" name="Shape 18"/>
          <p:cNvSpPr txBox="1"/>
          <p:nvPr/>
        </p:nvSpPr>
        <p:spPr>
          <a:xfrm>
            <a:off x="3505200" y="4846320"/>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x</a:t>
            </a:r>
            <a:r>
              <a:rPr lang="en-US" sz="1575" dirty="0" b="1">
                <a:solidFill>
                  <a:srgbClr val="16171D"/>
                </a:solidFill>
                <a:latin typeface="Segoe UI"/>
                <a:cs typeface="Segoe UI"/>
              </a:rPr>
              <a:t xml:space="preserve">-term</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is always −6, whatever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is. This is a </a:t>
            </a:r>
            <a:r>
              <a:rPr lang="en-US" sz="1575" dirty="0" b="1">
                <a:solidFill>
                  <a:srgbClr val="16171D"/>
                </a:solidFill>
                <a:latin typeface="Segoe UI"/>
                <a:cs typeface="Segoe UI"/>
              </a:rPr>
              <a:t xml:space="preserve">constant function</a:t>
            </a:r>
            <a:r>
              <a:rPr lang="en-US" sz="1575" dirty="0">
                <a:solidFill>
                  <a:srgbClr val="16171D"/>
                </a:solidFill>
                <a:latin typeface="Segoe UI"/>
                <a:cs typeface="Segoe UI"/>
              </a:rPr>
              <a:t xml:space="preserve">.</a:t>
            </a:r>
            <a:endParaRPr lang="en-US" sz="1575" dirty="0"/>
          </a:p>
        </p:txBody>
      </p:sp>
      <p:sp>
        <p:nvSpPr>
          <p:cNvPr id="19" name="Shape 19"/>
          <p:cNvSpPr/>
          <p:nvPr/>
        </p:nvSpPr>
        <p:spPr>
          <a:xfrm>
            <a:off x="8648395" y="1618488"/>
            <a:ext cx="2857500" cy="3048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20" name="Line 20"/>
          <p:cNvCxnSpPr/>
          <p:nvPr/>
        </p:nvCxnSpPr>
        <p:spPr>
          <a:xfrm>
            <a:off x="8972245" y="1732788"/>
            <a:ext cx="0" cy="2686050"/>
          </a:xfrm>
          <a:prstGeom prst="line">
            <a:avLst/>
          </a:prstGeom>
          <a:ln w="9525" cap="flat">
            <a:solidFill>
              <a:srgbClr val="E6E8F2"/>
            </a:solidFill>
          </a:ln>
        </p:spPr>
      </p:cxnSp>
      <p:cxnSp>
        <p:nvCxnSpPr>
          <p:cNvPr id="21" name="Line 21"/>
          <p:cNvCxnSpPr/>
          <p:nvPr/>
        </p:nvCxnSpPr>
        <p:spPr>
          <a:xfrm>
            <a:off x="9214180" y="1732788"/>
            <a:ext cx="0" cy="2686050"/>
          </a:xfrm>
          <a:prstGeom prst="line">
            <a:avLst/>
          </a:prstGeom>
          <a:ln w="9525" cap="flat">
            <a:solidFill>
              <a:srgbClr val="E6E8F2"/>
            </a:solidFill>
          </a:ln>
        </p:spPr>
      </p:cxnSp>
      <p:cxnSp>
        <p:nvCxnSpPr>
          <p:cNvPr id="22" name="Line 22"/>
          <p:cNvCxnSpPr/>
          <p:nvPr/>
        </p:nvCxnSpPr>
        <p:spPr>
          <a:xfrm>
            <a:off x="9456115" y="1732788"/>
            <a:ext cx="0" cy="2686050"/>
          </a:xfrm>
          <a:prstGeom prst="line">
            <a:avLst/>
          </a:prstGeom>
          <a:ln w="9525" cap="flat">
            <a:solidFill>
              <a:srgbClr val="E6E8F2"/>
            </a:solidFill>
          </a:ln>
        </p:spPr>
      </p:cxnSp>
      <p:cxnSp>
        <p:nvCxnSpPr>
          <p:cNvPr id="23" name="Line 23"/>
          <p:cNvCxnSpPr/>
          <p:nvPr/>
        </p:nvCxnSpPr>
        <p:spPr>
          <a:xfrm>
            <a:off x="9698050" y="1732788"/>
            <a:ext cx="0" cy="2686050"/>
          </a:xfrm>
          <a:prstGeom prst="line">
            <a:avLst/>
          </a:prstGeom>
          <a:ln w="9525" cap="flat">
            <a:solidFill>
              <a:srgbClr val="E6E8F2"/>
            </a:solidFill>
          </a:ln>
        </p:spPr>
      </p:cxnSp>
      <p:cxnSp>
        <p:nvCxnSpPr>
          <p:cNvPr id="24" name="Line 24"/>
          <p:cNvCxnSpPr/>
          <p:nvPr/>
        </p:nvCxnSpPr>
        <p:spPr>
          <a:xfrm>
            <a:off x="9939985" y="1732788"/>
            <a:ext cx="0" cy="2686050"/>
          </a:xfrm>
          <a:prstGeom prst="line">
            <a:avLst/>
          </a:prstGeom>
          <a:ln w="9525" cap="flat">
            <a:solidFill>
              <a:srgbClr val="E6E8F2"/>
            </a:solidFill>
          </a:ln>
        </p:spPr>
      </p:cxnSp>
      <p:cxnSp>
        <p:nvCxnSpPr>
          <p:cNvPr id="25" name="Line 25"/>
          <p:cNvCxnSpPr/>
          <p:nvPr/>
        </p:nvCxnSpPr>
        <p:spPr>
          <a:xfrm>
            <a:off x="10181920" y="1732788"/>
            <a:ext cx="0" cy="2686050"/>
          </a:xfrm>
          <a:prstGeom prst="line">
            <a:avLst/>
          </a:prstGeom>
          <a:ln w="9525" cap="flat">
            <a:solidFill>
              <a:srgbClr val="E6E8F2"/>
            </a:solidFill>
          </a:ln>
        </p:spPr>
      </p:cxnSp>
      <p:cxnSp>
        <p:nvCxnSpPr>
          <p:cNvPr id="26" name="Line 26"/>
          <p:cNvCxnSpPr/>
          <p:nvPr/>
        </p:nvCxnSpPr>
        <p:spPr>
          <a:xfrm>
            <a:off x="10423855" y="1732788"/>
            <a:ext cx="0" cy="2686050"/>
          </a:xfrm>
          <a:prstGeom prst="line">
            <a:avLst/>
          </a:prstGeom>
          <a:ln w="9525" cap="flat">
            <a:solidFill>
              <a:srgbClr val="E6E8F2"/>
            </a:solidFill>
          </a:ln>
        </p:spPr>
      </p:cxnSp>
      <p:cxnSp>
        <p:nvCxnSpPr>
          <p:cNvPr id="27" name="Line 27"/>
          <p:cNvCxnSpPr/>
          <p:nvPr/>
        </p:nvCxnSpPr>
        <p:spPr>
          <a:xfrm>
            <a:off x="10665790" y="1732788"/>
            <a:ext cx="0" cy="2686050"/>
          </a:xfrm>
          <a:prstGeom prst="line">
            <a:avLst/>
          </a:prstGeom>
          <a:ln w="9525" cap="flat">
            <a:solidFill>
              <a:srgbClr val="E6E8F2"/>
            </a:solidFill>
          </a:ln>
        </p:spPr>
      </p:cxnSp>
      <p:cxnSp>
        <p:nvCxnSpPr>
          <p:cNvPr id="28" name="Line 28"/>
          <p:cNvCxnSpPr/>
          <p:nvPr/>
        </p:nvCxnSpPr>
        <p:spPr>
          <a:xfrm>
            <a:off x="10907725" y="1732788"/>
            <a:ext cx="0" cy="2686050"/>
          </a:xfrm>
          <a:prstGeom prst="line">
            <a:avLst/>
          </a:prstGeom>
          <a:ln w="9525" cap="flat">
            <a:solidFill>
              <a:srgbClr val="E6E8F2"/>
            </a:solidFill>
          </a:ln>
        </p:spPr>
      </p:cxnSp>
      <p:cxnSp>
        <p:nvCxnSpPr>
          <p:cNvPr id="29" name="Line 29"/>
          <p:cNvCxnSpPr/>
          <p:nvPr/>
        </p:nvCxnSpPr>
        <p:spPr>
          <a:xfrm>
            <a:off x="11149660" y="1732788"/>
            <a:ext cx="0" cy="2686050"/>
          </a:xfrm>
          <a:prstGeom prst="line">
            <a:avLst/>
          </a:prstGeom>
          <a:ln w="9525" cap="flat">
            <a:solidFill>
              <a:srgbClr val="E6E8F2"/>
            </a:solidFill>
          </a:ln>
        </p:spPr>
      </p:cxnSp>
      <p:cxnSp>
        <p:nvCxnSpPr>
          <p:cNvPr id="30" name="Line 30"/>
          <p:cNvCxnSpPr/>
          <p:nvPr/>
        </p:nvCxnSpPr>
        <p:spPr>
          <a:xfrm>
            <a:off x="11391595" y="1732788"/>
            <a:ext cx="0" cy="2686050"/>
          </a:xfrm>
          <a:prstGeom prst="line">
            <a:avLst/>
          </a:prstGeom>
          <a:ln w="9525" cap="flat">
            <a:solidFill>
              <a:srgbClr val="E6E8F2"/>
            </a:solidFill>
          </a:ln>
        </p:spPr>
      </p:cxnSp>
      <p:cxnSp>
        <p:nvCxnSpPr>
          <p:cNvPr id="31" name="Line 31"/>
          <p:cNvCxnSpPr/>
          <p:nvPr/>
        </p:nvCxnSpPr>
        <p:spPr>
          <a:xfrm>
            <a:off x="8972245" y="4418838"/>
            <a:ext cx="2419350" cy="0"/>
          </a:xfrm>
          <a:prstGeom prst="line">
            <a:avLst/>
          </a:prstGeom>
          <a:ln w="9525" cap="flat">
            <a:solidFill>
              <a:srgbClr val="E6E8F2"/>
            </a:solidFill>
          </a:ln>
        </p:spPr>
      </p:cxnSp>
      <p:cxnSp>
        <p:nvCxnSpPr>
          <p:cNvPr id="32" name="Line 32"/>
          <p:cNvCxnSpPr/>
          <p:nvPr/>
        </p:nvCxnSpPr>
        <p:spPr>
          <a:xfrm>
            <a:off x="8972245" y="4150233"/>
            <a:ext cx="2419350" cy="0"/>
          </a:xfrm>
          <a:prstGeom prst="line">
            <a:avLst/>
          </a:prstGeom>
          <a:ln w="9525" cap="flat">
            <a:solidFill>
              <a:srgbClr val="E6E8F2"/>
            </a:solidFill>
          </a:ln>
        </p:spPr>
      </p:cxnSp>
      <p:cxnSp>
        <p:nvCxnSpPr>
          <p:cNvPr id="33" name="Line 33"/>
          <p:cNvCxnSpPr/>
          <p:nvPr/>
        </p:nvCxnSpPr>
        <p:spPr>
          <a:xfrm>
            <a:off x="8972245" y="3881628"/>
            <a:ext cx="2419350" cy="0"/>
          </a:xfrm>
          <a:prstGeom prst="line">
            <a:avLst/>
          </a:prstGeom>
          <a:ln w="9525" cap="flat">
            <a:solidFill>
              <a:srgbClr val="E6E8F2"/>
            </a:solidFill>
          </a:ln>
        </p:spPr>
      </p:cxnSp>
      <p:cxnSp>
        <p:nvCxnSpPr>
          <p:cNvPr id="34" name="Line 34"/>
          <p:cNvCxnSpPr/>
          <p:nvPr/>
        </p:nvCxnSpPr>
        <p:spPr>
          <a:xfrm>
            <a:off x="8972245" y="3613023"/>
            <a:ext cx="2419350" cy="0"/>
          </a:xfrm>
          <a:prstGeom prst="line">
            <a:avLst/>
          </a:prstGeom>
          <a:ln w="9525" cap="flat">
            <a:solidFill>
              <a:srgbClr val="E6E8F2"/>
            </a:solidFill>
          </a:ln>
        </p:spPr>
      </p:cxnSp>
      <p:cxnSp>
        <p:nvCxnSpPr>
          <p:cNvPr id="35" name="Line 35"/>
          <p:cNvCxnSpPr/>
          <p:nvPr/>
        </p:nvCxnSpPr>
        <p:spPr>
          <a:xfrm>
            <a:off x="8972245" y="3344418"/>
            <a:ext cx="2419350" cy="0"/>
          </a:xfrm>
          <a:prstGeom prst="line">
            <a:avLst/>
          </a:prstGeom>
          <a:ln w="9525" cap="flat">
            <a:solidFill>
              <a:srgbClr val="E6E8F2"/>
            </a:solidFill>
          </a:ln>
        </p:spPr>
      </p:cxnSp>
      <p:cxnSp>
        <p:nvCxnSpPr>
          <p:cNvPr id="36" name="Line 36"/>
          <p:cNvCxnSpPr/>
          <p:nvPr/>
        </p:nvCxnSpPr>
        <p:spPr>
          <a:xfrm>
            <a:off x="8972245" y="3075813"/>
            <a:ext cx="2419350" cy="0"/>
          </a:xfrm>
          <a:prstGeom prst="line">
            <a:avLst/>
          </a:prstGeom>
          <a:ln w="9525" cap="flat">
            <a:solidFill>
              <a:srgbClr val="E6E8F2"/>
            </a:solidFill>
          </a:ln>
        </p:spPr>
      </p:cxnSp>
      <p:cxnSp>
        <p:nvCxnSpPr>
          <p:cNvPr id="37" name="Line 37"/>
          <p:cNvCxnSpPr/>
          <p:nvPr/>
        </p:nvCxnSpPr>
        <p:spPr>
          <a:xfrm>
            <a:off x="8972245" y="2807208"/>
            <a:ext cx="2419350" cy="0"/>
          </a:xfrm>
          <a:prstGeom prst="line">
            <a:avLst/>
          </a:prstGeom>
          <a:ln w="9525" cap="flat">
            <a:solidFill>
              <a:srgbClr val="E6E8F2"/>
            </a:solidFill>
          </a:ln>
        </p:spPr>
      </p:cxnSp>
      <p:cxnSp>
        <p:nvCxnSpPr>
          <p:cNvPr id="38" name="Line 38"/>
          <p:cNvCxnSpPr/>
          <p:nvPr/>
        </p:nvCxnSpPr>
        <p:spPr>
          <a:xfrm>
            <a:off x="8972245" y="2538603"/>
            <a:ext cx="2419350" cy="0"/>
          </a:xfrm>
          <a:prstGeom prst="line">
            <a:avLst/>
          </a:prstGeom>
          <a:ln w="9525" cap="flat">
            <a:solidFill>
              <a:srgbClr val="E6E8F2"/>
            </a:solidFill>
          </a:ln>
        </p:spPr>
      </p:cxnSp>
      <p:cxnSp>
        <p:nvCxnSpPr>
          <p:cNvPr id="39" name="Line 39"/>
          <p:cNvCxnSpPr/>
          <p:nvPr/>
        </p:nvCxnSpPr>
        <p:spPr>
          <a:xfrm>
            <a:off x="8972245" y="2269998"/>
            <a:ext cx="2419350" cy="0"/>
          </a:xfrm>
          <a:prstGeom prst="line">
            <a:avLst/>
          </a:prstGeom>
          <a:ln w="9525" cap="flat">
            <a:solidFill>
              <a:srgbClr val="E6E8F2"/>
            </a:solidFill>
          </a:ln>
        </p:spPr>
      </p:cxnSp>
      <p:cxnSp>
        <p:nvCxnSpPr>
          <p:cNvPr id="40" name="Line 40"/>
          <p:cNvCxnSpPr/>
          <p:nvPr/>
        </p:nvCxnSpPr>
        <p:spPr>
          <a:xfrm>
            <a:off x="8972245" y="2001393"/>
            <a:ext cx="2419350" cy="0"/>
          </a:xfrm>
          <a:prstGeom prst="line">
            <a:avLst/>
          </a:prstGeom>
          <a:ln w="9525" cap="flat">
            <a:solidFill>
              <a:srgbClr val="E6E8F2"/>
            </a:solidFill>
          </a:ln>
        </p:spPr>
      </p:cxnSp>
      <p:cxnSp>
        <p:nvCxnSpPr>
          <p:cNvPr id="41" name="Line 41"/>
          <p:cNvCxnSpPr/>
          <p:nvPr/>
        </p:nvCxnSpPr>
        <p:spPr>
          <a:xfrm>
            <a:off x="8972245" y="1732788"/>
            <a:ext cx="2419350" cy="0"/>
          </a:xfrm>
          <a:prstGeom prst="line">
            <a:avLst/>
          </a:prstGeom>
          <a:ln w="9525" cap="flat">
            <a:solidFill>
              <a:srgbClr val="E6E8F2"/>
            </a:solidFill>
          </a:ln>
        </p:spPr>
      </p:cxnSp>
      <p:cxnSp>
        <p:nvCxnSpPr>
          <p:cNvPr id="42" name="Line 42"/>
          <p:cNvCxnSpPr/>
          <p:nvPr/>
        </p:nvCxnSpPr>
        <p:spPr>
          <a:xfrm>
            <a:off x="10423855" y="1732788"/>
            <a:ext cx="0" cy="2686050"/>
          </a:xfrm>
          <a:prstGeom prst="line">
            <a:avLst/>
          </a:prstGeom>
          <a:ln w="19050" cap="flat">
            <a:solidFill>
              <a:srgbClr val="5F6272"/>
            </a:solidFill>
          </a:ln>
        </p:spPr>
      </p:cxnSp>
      <p:cxnSp>
        <p:nvCxnSpPr>
          <p:cNvPr id="43" name="Line 43"/>
          <p:cNvCxnSpPr/>
          <p:nvPr/>
        </p:nvCxnSpPr>
        <p:spPr>
          <a:xfrm>
            <a:off x="8972245" y="2269998"/>
            <a:ext cx="2419350" cy="0"/>
          </a:xfrm>
          <a:prstGeom prst="line">
            <a:avLst/>
          </a:prstGeom>
          <a:ln w="19050" cap="flat">
            <a:solidFill>
              <a:srgbClr val="5F6272"/>
            </a:solidFill>
          </a:ln>
        </p:spPr>
      </p:cxnSp>
      <p:sp>
        <p:nvSpPr>
          <p:cNvPr id="44" name="Shape 44"/>
          <p:cNvSpPr txBox="1"/>
          <p:nvPr/>
        </p:nvSpPr>
        <p:spPr>
          <a:xfrm>
            <a:off x="869792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−6</a:t>
            </a:r>
            <a:endParaRPr lang="en-US" sz="975" dirty="0"/>
          </a:p>
        </p:txBody>
      </p:sp>
      <p:sp>
        <p:nvSpPr>
          <p:cNvPr id="45" name="Shape 45"/>
          <p:cNvSpPr txBox="1"/>
          <p:nvPr/>
        </p:nvSpPr>
        <p:spPr>
          <a:xfrm>
            <a:off x="918179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6" name="Shape 46"/>
          <p:cNvSpPr txBox="1"/>
          <p:nvPr/>
        </p:nvSpPr>
        <p:spPr>
          <a:xfrm>
            <a:off x="966566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014953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8" name="Shape 48"/>
          <p:cNvSpPr txBox="1"/>
          <p:nvPr/>
        </p:nvSpPr>
        <p:spPr>
          <a:xfrm>
            <a:off x="1063340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9" name="Shape 49"/>
          <p:cNvSpPr txBox="1"/>
          <p:nvPr/>
        </p:nvSpPr>
        <p:spPr>
          <a:xfrm>
            <a:off x="11117275" y="4437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50" name="Shape 50"/>
          <p:cNvSpPr txBox="1"/>
          <p:nvPr/>
        </p:nvSpPr>
        <p:spPr>
          <a:xfrm>
            <a:off x="8405317" y="4327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1" name="Shape 51"/>
          <p:cNvSpPr txBox="1"/>
          <p:nvPr/>
        </p:nvSpPr>
        <p:spPr>
          <a:xfrm>
            <a:off x="8405317" y="379018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sp>
        <p:nvSpPr>
          <p:cNvPr id="52" name="Shape 52"/>
          <p:cNvSpPr txBox="1"/>
          <p:nvPr/>
        </p:nvSpPr>
        <p:spPr>
          <a:xfrm>
            <a:off x="8405317" y="325297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53" name="Shape 53"/>
          <p:cNvSpPr txBox="1"/>
          <p:nvPr/>
        </p:nvSpPr>
        <p:spPr>
          <a:xfrm>
            <a:off x="8405317" y="271576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4" name="Shape 54"/>
          <p:cNvSpPr txBox="1"/>
          <p:nvPr/>
        </p:nvSpPr>
        <p:spPr>
          <a:xfrm>
            <a:off x="8405317" y="217855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55" name="Shape 55"/>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56" name="Shape 56"/>
          <p:cNvSpPr/>
          <p:nvPr/>
        </p:nvSpPr>
        <p:spPr>
          <a:xfrm>
            <a:off x="916179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7" name="Shape 57"/>
          <p:cNvSpPr/>
          <p:nvPr/>
        </p:nvSpPr>
        <p:spPr>
          <a:xfrm>
            <a:off x="10613403"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8" name="Shape 58"/>
          <p:cNvSpPr/>
          <p:nvPr/>
        </p:nvSpPr>
        <p:spPr>
          <a:xfrm>
            <a:off x="10855338" y="3829240"/>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9" name="Line 59"/>
          <p:cNvCxnSpPr/>
          <p:nvPr/>
        </p:nvCxnSpPr>
        <p:spPr>
          <a:xfrm>
            <a:off x="8972245" y="3881628"/>
            <a:ext cx="2419350" cy="0"/>
          </a:xfrm>
          <a:prstGeom prst="line">
            <a:avLst/>
          </a:prstGeom>
          <a:ln w="38100" cap="rnd">
            <a:solidFill>
              <a:srgbClr val="16171D"/>
            </a:solidFill>
          </a:ln>
        </p:spPr>
      </p:cxnSp>
      <p:sp>
        <p:nvSpPr>
          <p:cNvPr id="60" name="Shape 60"/>
          <p:cNvSpPr txBox="1"/>
          <p:nvPr/>
        </p:nvSpPr>
        <p:spPr>
          <a:xfrm>
            <a:off x="8899855" y="3900678"/>
            <a:ext cx="2377440" cy="228600"/>
          </a:xfrm>
          <a:prstGeom prst="rect">
            <a:avLst/>
          </a:prstGeom>
          <a:noFill/>
          <a:ln>
            <a:noFill/>
          </a:ln>
        </p:spPr>
        <p:txBody>
          <a:bodyPr wrap="square" lIns="0" tIns="0" rIns="0" bIns="0" anchor="t">
            <a:noAutofit/>
          </a:bodyPr>
          <a:lstStyle/>
          <a:p>
            <a:pPr algn="r">
              <a:lnSpc>
                <a:spcPct val="100000"/>
              </a:lnSpc>
            </a:pPr>
            <a:r>
              <a:rPr lang="en-US" sz="1275" dirty="0" i="1">
                <a:solidFill>
                  <a:srgbClr val="16171D"/>
                </a:solidFill>
                <a:latin typeface="Cambria"/>
                <a:cs typeface="Cambria"/>
              </a:rPr>
              <a:t xml:space="preserve">y = −6</a:t>
            </a:r>
            <a:endParaRPr lang="en-US" sz="1275" dirty="0"/>
          </a:p>
        </p:txBody>
      </p:sp>
      <p:sp>
        <p:nvSpPr>
          <p:cNvPr id="61" name="Slide Number 6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19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wipe(left)">
                                      <p:cBhvr>
                                        <p:cTn id="4" dur="700"/>
                                        <p:tgtEl>
                                          <p:spTgt spid="12"/>
                                        </p:tgtEl>
                                      </p:cBhvr>
                                    </p:animEffect>
                                  </p:childTnLst>
                                </p:cTn>
                              </p:par>
                            </p:childTnLst>
                          </p:cTn>
                        </p:par>
                      </p:childTnLst>
                    </p:cTn>
                  </p:par>
                  <p:par>
                    <p:cTn id="13" fill="hold">
                      <p:stCondLst>
                        <p:cond delay="indefinite"/>
                      </p:stCondLst>
                      <p:childTnLst>
                        <p:par>
                          <p:cTn id="14"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500"/>
                                        <p:tgtEl>
                                          <p:spTgt spid="13"/>
                                        </p:tgtEl>
                                      </p:cBhvr>
                                    </p:animEffect>
                                    <p:anim calcmode="lin" valueType="num">
                                      <p:cBhvr>
                                        <p:cTn id="10" dur="500" fill="hold"/>
                                        <p:tgtEl>
                                          <p:spTgt spid="13"/>
                                        </p:tgtEl>
                                        <p:attrNameLst>
                                          <p:attrName>ppt_x</p:attrName>
                                        </p:attrNameLst>
                                      </p:cBhvr>
                                      <p:tavLst>
                                        <p:tav tm="0">
                                          <p:val>
                                            <p:strVal val="#ppt_x"/>
                                          </p:val>
                                        </p:tav>
                                        <p:tav tm="100000">
                                          <p:val>
                                            <p:strVal val="#ppt_x"/>
                                          </p:val>
                                        </p:tav>
                                      </p:tavLst>
                                    </p:anim>
                                    <p:anim calcmode="lin" valueType="num">
                                      <p:cBhvr>
                                        <p:cTn id="11"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18" fill="hold">
                      <p:stCondLst>
                        <p:cond delay="indefinite"/>
                      </p:stCondLst>
                      <p:childTnLst>
                        <p:par>
                          <p:cTn id="19" fill="hold">
                            <p:stCondLst>
                              <p:cond delay="0"/>
                            </p:stCondLst>
                            <p:childTnLst>
                              <p:par>
                                <p:cTn id="17" presetID="22" presetClass="entr" presetSubtype="8" fill="hold" nodeType="clickEffect">
                                  <p:stCondLst>
                                    <p:cond delay="0"/>
                                  </p:stCondLst>
                                  <p:childTnLst>
                                    <p:set>
                                      <p:cBhvr>
                                        <p:cTn id="15" dur="1" fill="hold">
                                          <p:stCondLst>
                                            <p:cond delay="0"/>
                                          </p:stCondLst>
                                        </p:cTn>
                                        <p:tgtEl>
                                          <p:spTgt spid="14"/>
                                        </p:tgtEl>
                                        <p:attrNameLst>
                                          <p:attrName>style.visibility</p:attrName>
                                        </p:attrNameLst>
                                      </p:cBhvr>
                                      <p:to>
                                        <p:strVal val="visible"/>
                                      </p:to>
                                    </p:set>
                                    <p:animEffect transition="in" filter="wipe(left)">
                                      <p:cBhvr>
                                        <p:cTn id="16" dur="700"/>
                                        <p:tgtEl>
                                          <p:spTgt spid="14"/>
                                        </p:tgtEl>
                                      </p:cBhvr>
                                    </p:animEffect>
                                  </p:childTnLst>
                                </p:cTn>
                              </p:par>
                            </p:childTnLst>
                          </p:cTn>
                        </p:par>
                      </p:childTnLst>
                    </p:cTn>
                  </p:par>
                  <p:par>
                    <p:cTn id="25" fill="hold">
                      <p:stCondLst>
                        <p:cond delay="indefinite"/>
                      </p:stCondLst>
                      <p:childTnLst>
                        <p:par>
                          <p:cTn id="2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fade">
                                      <p:cBhvr>
                                        <p:cTn id="21" dur="500"/>
                                        <p:tgtEl>
                                          <p:spTgt spid="15"/>
                                        </p:tgtEl>
                                      </p:cBhvr>
                                    </p:animEffect>
                                    <p:anim calcmode="lin" valueType="num">
                                      <p:cBhvr>
                                        <p:cTn id="22" dur="500" fill="hold"/>
                                        <p:tgtEl>
                                          <p:spTgt spid="15"/>
                                        </p:tgtEl>
                                        <p:attrNameLst>
                                          <p:attrName>ppt_x</p:attrName>
                                        </p:attrNameLst>
                                      </p:cBhvr>
                                      <p:tavLst>
                                        <p:tav tm="0">
                                          <p:val>
                                            <p:strVal val="#ppt_x"/>
                                          </p:val>
                                        </p:tav>
                                        <p:tav tm="100000">
                                          <p:val>
                                            <p:strVal val="#ppt_x"/>
                                          </p:val>
                                        </p:tav>
                                      </p:tavLst>
                                    </p:anim>
                                    <p:anim calcmode="lin" valueType="num">
                                      <p:cBhvr>
                                        <p:cTn id="2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30" fill="hold">
                      <p:stCondLst>
                        <p:cond delay="indefinite"/>
                      </p:stCondLst>
                      <p:childTnLst>
                        <p:par>
                          <p:cTn id="31" fill="hold">
                            <p:stCondLst>
                              <p:cond delay="0"/>
                            </p:stCondLst>
                            <p:childTnLst>
                              <p:par>
                                <p:cTn id="29" presetID="22" presetClass="entr" presetSubtype="8" fill="hold" nodeType="clickEffect">
                                  <p:stCondLst>
                                    <p:cond delay="0"/>
                                  </p:stCondLst>
                                  <p:childTnLst>
                                    <p:set>
                                      <p:cBhvr>
                                        <p:cTn id="27" dur="1" fill="hold">
                                          <p:stCondLst>
                                            <p:cond delay="0"/>
                                          </p:stCondLst>
                                        </p:cTn>
                                        <p:tgtEl>
                                          <p:spTgt spid="16"/>
                                        </p:tgtEl>
                                        <p:attrNameLst>
                                          <p:attrName>style.visibility</p:attrName>
                                        </p:attrNameLst>
                                      </p:cBhvr>
                                      <p:to>
                                        <p:strVal val="visible"/>
                                      </p:to>
                                    </p:set>
                                    <p:animEffect transition="in" filter="wipe(left)">
                                      <p:cBhvr>
                                        <p:cTn id="28" dur="700"/>
                                        <p:tgtEl>
                                          <p:spTgt spid="16"/>
                                        </p:tgtEl>
                                      </p:cBhvr>
                                    </p:animEffect>
                                  </p:childTnLst>
                                </p:cTn>
                              </p:par>
                            </p:childTnLst>
                          </p:cTn>
                        </p:par>
                      </p:childTnLst>
                    </p:cTn>
                  </p:par>
                  <p:par>
                    <p:cTn id="37" fill="hold">
                      <p:stCondLst>
                        <p:cond delay="indefinite"/>
                      </p:stCondLst>
                      <p:childTnLst>
                        <p:par>
                          <p:cTn id="38" fill="hold">
                            <p:stCondLst>
                              <p:cond delay="0"/>
                            </p:stCondLst>
                            <p:childTnLst>
                              <p:par>
                                <p:cTn id="36" presetID="53" presetClass="entr" presetSubtype="16" fill="hold" nodeType="clickEffect">
                                  <p:stCondLst>
                                    <p:cond delay="0"/>
                                  </p:stCondLst>
                                  <p:childTnLst>
                                    <p:set>
                                      <p:cBhvr>
                                        <p:cTn id="32"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anim calcmode="lin" valueType="num">
                                      <p:cBhvr>
                                        <p:cTn id="34" dur="500" fill="hold"/>
                                        <p:tgtEl>
                                          <p:spTgt spid="17"/>
                                        </p:tgtEl>
                                        <p:attrNameLst>
                                          <p:attrName>ppt_w</p:attrName>
                                        </p:attrNameLst>
                                      </p:cBhvr>
                                      <p:tavLst>
                                        <p:tav tm="0">
                                          <p:val>
                                            <p:fltVal val="0"/>
                                          </p:val>
                                        </p:tav>
                                        <p:tav tm="100000">
                                          <p:val>
                                            <p:strVal val="#ppt_w"/>
                                          </p:val>
                                        </p:tav>
                                      </p:tavLst>
                                    </p:anim>
                                    <p:anim calcmode="lin" valueType="num">
                                      <p:cBhvr>
                                        <p:cTn id="35" dur="500" fill="hold"/>
                                        <p:tgtEl>
                                          <p:spTgt spid="17"/>
                                        </p:tgtEl>
                                        <p:attrNameLst>
                                          <p:attrName>ppt_h</p:attrName>
                                        </p:attrNameLst>
                                      </p:cBhvr>
                                      <p:tavLst>
                                        <p:tav tm="0">
                                          <p:val>
                                            <p:fltVal val="0"/>
                                          </p:val>
                                        </p:tav>
                                        <p:tav tm="100000">
                                          <p:val>
                                            <p:strVal val="#ppt_h"/>
                                          </p:val>
                                        </p:tav>
                                      </p:tavLst>
                                    </p:anim>
                                  </p:childTnLst>
                                </p:cTn>
                              </p:par>
                            </p:childTnLst>
                          </p:cTn>
                        </p:par>
                      </p:childTnLst>
                    </p:cTn>
                  </p:par>
                  <p:par>
                    <p:cTn id="44" fill="hold">
                      <p:stCondLst>
                        <p:cond delay="indefinite"/>
                      </p:stCondLst>
                      <p:childTnLst>
                        <p:par>
                          <p:cTn id="45" fill="hold">
                            <p:stCondLst>
                              <p:cond delay="0"/>
                            </p:stCondLst>
                            <p:childTnLst>
                              <p:par>
                                <p:cTn id="43" presetID="42" presetClass="entr" presetSubtype="0" fill="hold" nodeType="clickEffect">
                                  <p:stCondLst>
                                    <p:cond delay="0"/>
                                  </p:stCondLst>
                                  <p:childTnLst>
                                    <p:set>
                                      <p:cBhvr>
                                        <p:cTn id="39" dur="1" fill="hold">
                                          <p:stCondLst>
                                            <p:cond delay="0"/>
                                          </p:stCondLst>
                                        </p:cTn>
                                        <p:tgtEl>
                                          <p:spTgt spid="18"/>
                                        </p:tgtEl>
                                        <p:attrNameLst>
                                          <p:attrName>style.visibility</p:attrName>
                                        </p:attrNameLst>
                                      </p:cBhvr>
                                      <p:to>
                                        <p:strVal val="visible"/>
                                      </p:to>
                                    </p:set>
                                    <p:animEffect transition="in" filter="fade">
                                      <p:cBhvr>
                                        <p:cTn id="40" dur="500"/>
                                        <p:tgtEl>
                                          <p:spTgt spid="18"/>
                                        </p:tgtEl>
                                      </p:cBhvr>
                                    </p:animEffect>
                                    <p:anim calcmode="lin" valueType="num">
                                      <p:cBhvr>
                                        <p:cTn id="41" dur="500" fill="hold"/>
                                        <p:tgtEl>
                                          <p:spTgt spid="18"/>
                                        </p:tgtEl>
                                        <p:attrNameLst>
                                          <p:attrName>ppt_x</p:attrName>
                                        </p:attrNameLst>
                                      </p:cBhvr>
                                      <p:tavLst>
                                        <p:tav tm="0">
                                          <p:val>
                                            <p:strVal val="#ppt_x"/>
                                          </p:val>
                                        </p:tav>
                                        <p:tav tm="100000">
                                          <p:val>
                                            <p:strVal val="#ppt_x"/>
                                          </p:val>
                                        </p:tav>
                                      </p:tavLst>
                                    </p:anim>
                                    <p:anim calcmode="lin" valueType="num">
                                      <p:cBhvr>
                                        <p:cTn id="42"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0" presetID="53" presetClass="entr" presetSubtype="16" fill="hold" nodeType="clickEffect">
                                  <p:stCondLst>
                                    <p:cond delay="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anim calcmode="lin" valueType="num">
                                      <p:cBhvr>
                                        <p:cTn id="48" dur="500" fill="hold"/>
                                        <p:tgtEl>
                                          <p:spTgt spid="56"/>
                                        </p:tgtEl>
                                        <p:attrNameLst>
                                          <p:attrName>ppt_w</p:attrName>
                                        </p:attrNameLst>
                                      </p:cBhvr>
                                      <p:tavLst>
                                        <p:tav tm="0">
                                          <p:val>
                                            <p:fltVal val="0"/>
                                          </p:val>
                                        </p:tav>
                                        <p:tav tm="100000">
                                          <p:val>
                                            <p:strVal val="#ppt_w"/>
                                          </p:val>
                                        </p:tav>
                                      </p:tavLst>
                                    </p:anim>
                                    <p:anim calcmode="lin" valueType="num">
                                      <p:cBhvr>
                                        <p:cTn id="49" dur="500" fill="hold"/>
                                        <p:tgtEl>
                                          <p:spTgt spid="56"/>
                                        </p:tgtEl>
                                        <p:attrNameLst>
                                          <p:attrName>ppt_h</p:attrName>
                                        </p:attrNameLst>
                                      </p:cBhvr>
                                      <p:tavLst>
                                        <p:tav tm="0">
                                          <p:val>
                                            <p:fltVal val="0"/>
                                          </p:val>
                                        </p:tav>
                                        <p:tav tm="100000">
                                          <p:val>
                                            <p:strVal val="#ppt_h"/>
                                          </p:val>
                                        </p:tav>
                                      </p:tavLst>
                                    </p:anim>
                                  </p:childTnLst>
                                </p:cTn>
                              </p:par>
                            </p:childTnLst>
                          </p:cTn>
                        </p:par>
                      </p:childTnLst>
                    </p:cTn>
                  </p:par>
                  <p:par>
                    <p:cTn id="58" fill="hold">
                      <p:stCondLst>
                        <p:cond delay="indefinite"/>
                      </p:stCondLst>
                      <p:childTnLst>
                        <p:par>
                          <p:cTn id="59" fill="hold">
                            <p:stCondLst>
                              <p:cond delay="0"/>
                            </p:stCondLst>
                            <p:childTnLst>
                              <p:par>
                                <p:cTn id="57" presetID="53" presetClass="entr" presetSubtype="16" fill="hold" nodeType="clickEffect">
                                  <p:stCondLst>
                                    <p:cond delay="0"/>
                                  </p:stCondLst>
                                  <p:childTnLst>
                                    <p:set>
                                      <p:cBhvr>
                                        <p:cTn id="53" dur="1" fill="hold">
                                          <p:stCondLst>
                                            <p:cond delay="0"/>
                                          </p:stCondLst>
                                        </p:cTn>
                                        <p:tgtEl>
                                          <p:spTgt spid="57"/>
                                        </p:tgtEl>
                                        <p:attrNameLst>
                                          <p:attrName>style.visibility</p:attrName>
                                        </p:attrNameLst>
                                      </p:cBhvr>
                                      <p:to>
                                        <p:strVal val="visible"/>
                                      </p:to>
                                    </p:set>
                                    <p:animEffect transition="in" filter="fade">
                                      <p:cBhvr>
                                        <p:cTn id="54" dur="500"/>
                                        <p:tgtEl>
                                          <p:spTgt spid="57"/>
                                        </p:tgtEl>
                                      </p:cBhvr>
                                    </p:animEffect>
                                    <p:anim calcmode="lin" valueType="num">
                                      <p:cBhvr>
                                        <p:cTn id="55" dur="500" fill="hold"/>
                                        <p:tgtEl>
                                          <p:spTgt spid="57"/>
                                        </p:tgtEl>
                                        <p:attrNameLst>
                                          <p:attrName>ppt_w</p:attrName>
                                        </p:attrNameLst>
                                      </p:cBhvr>
                                      <p:tavLst>
                                        <p:tav tm="0">
                                          <p:val>
                                            <p:fltVal val="0"/>
                                          </p:val>
                                        </p:tav>
                                        <p:tav tm="100000">
                                          <p:val>
                                            <p:strVal val="#ppt_w"/>
                                          </p:val>
                                        </p:tav>
                                      </p:tavLst>
                                    </p:anim>
                                    <p:anim calcmode="lin" valueType="num">
                                      <p:cBhvr>
                                        <p:cTn id="56" dur="500" fill="hold"/>
                                        <p:tgtEl>
                                          <p:spTgt spid="57"/>
                                        </p:tgtEl>
                                        <p:attrNameLst>
                                          <p:attrName>ppt_h</p:attrName>
                                        </p:attrNameLst>
                                      </p:cBhvr>
                                      <p:tavLst>
                                        <p:tav tm="0">
                                          <p:val>
                                            <p:fltVal val="0"/>
                                          </p:val>
                                        </p:tav>
                                        <p:tav tm="100000">
                                          <p:val>
                                            <p:strVal val="#ppt_h"/>
                                          </p:val>
                                        </p:tav>
                                      </p:tavLst>
                                    </p:anim>
                                  </p:childTnLst>
                                </p:cTn>
                              </p:par>
                            </p:childTnLst>
                          </p:cTn>
                        </p:par>
                      </p:childTnLst>
                    </p:cTn>
                  </p:par>
                  <p:par>
                    <p:cTn id="65" fill="hold">
                      <p:stCondLst>
                        <p:cond delay="indefinite"/>
                      </p:stCondLst>
                      <p:childTnLst>
                        <p:par>
                          <p:cTn id="66" fill="hold">
                            <p:stCondLst>
                              <p:cond delay="0"/>
                            </p:stCondLst>
                            <p:childTnLst>
                              <p:par>
                                <p:cTn id="64" presetID="53" presetClass="entr" presetSubtype="16" fill="hold" nodeType="clickEffect">
                                  <p:stCondLst>
                                    <p:cond delay="0"/>
                                  </p:stCondLst>
                                  <p:childTnLst>
                                    <p:set>
                                      <p:cBhvr>
                                        <p:cTn id="60" dur="1" fill="hold">
                                          <p:stCondLst>
                                            <p:cond delay="0"/>
                                          </p:stCondLst>
                                        </p:cTn>
                                        <p:tgtEl>
                                          <p:spTgt spid="58"/>
                                        </p:tgtEl>
                                        <p:attrNameLst>
                                          <p:attrName>style.visibility</p:attrName>
                                        </p:attrNameLst>
                                      </p:cBhvr>
                                      <p:to>
                                        <p:strVal val="visible"/>
                                      </p:to>
                                    </p:set>
                                    <p:animEffect transition="in" filter="fade">
                                      <p:cBhvr>
                                        <p:cTn id="61" dur="500"/>
                                        <p:tgtEl>
                                          <p:spTgt spid="58"/>
                                        </p:tgtEl>
                                      </p:cBhvr>
                                    </p:animEffect>
                                    <p:anim calcmode="lin" valueType="num">
                                      <p:cBhvr>
                                        <p:cTn id="62" dur="500" fill="hold"/>
                                        <p:tgtEl>
                                          <p:spTgt spid="58"/>
                                        </p:tgtEl>
                                        <p:attrNameLst>
                                          <p:attrName>ppt_w</p:attrName>
                                        </p:attrNameLst>
                                      </p:cBhvr>
                                      <p:tavLst>
                                        <p:tav tm="0">
                                          <p:val>
                                            <p:fltVal val="0"/>
                                          </p:val>
                                        </p:tav>
                                        <p:tav tm="100000">
                                          <p:val>
                                            <p:strVal val="#ppt_w"/>
                                          </p:val>
                                        </p:tav>
                                      </p:tavLst>
                                    </p:anim>
                                    <p:anim calcmode="lin" valueType="num">
                                      <p:cBhvr>
                                        <p:cTn id="63" dur="500" fill="hold"/>
                                        <p:tgtEl>
                                          <p:spTgt spid="58"/>
                                        </p:tgtEl>
                                        <p:attrNameLst>
                                          <p:attrName>ppt_h</p:attrName>
                                        </p:attrNameLst>
                                      </p:cBhvr>
                                      <p:tavLst>
                                        <p:tav tm="0">
                                          <p:val>
                                            <p:fltVal val="0"/>
                                          </p:val>
                                        </p:tav>
                                        <p:tav tm="100000">
                                          <p:val>
                                            <p:strVal val="#ppt_h"/>
                                          </p:val>
                                        </p:tav>
                                      </p:tavLst>
                                    </p:anim>
                                  </p:childTnLst>
                                </p:cTn>
                              </p:par>
                            </p:childTnLst>
                          </p:cTn>
                        </p:par>
                      </p:childTnLst>
                    </p:cTn>
                  </p:par>
                  <p:par>
                    <p:cTn id="73" fill="hold">
                      <p:stCondLst>
                        <p:cond delay="indefinite"/>
                      </p:stCondLst>
                      <p:childTnLst>
                        <p:par>
                          <p:cTn id="74" fill="hold">
                            <p:stCondLst>
                              <p:cond delay="0"/>
                            </p:stCondLst>
                            <p:childTnLst>
                              <p:par>
                                <p:cTn id="69" presetID="22" presetClass="entr" presetSubtype="8" fill="hold" nodeType="clickEffect">
                                  <p:stCondLst>
                                    <p:cond delay="0"/>
                                  </p:stCondLst>
                                  <p:childTnLst>
                                    <p:set>
                                      <p:cBhvr>
                                        <p:cTn id="67" dur="1" fill="hold">
                                          <p:stCondLst>
                                            <p:cond delay="0"/>
                                          </p:stCondLst>
                                        </p:cTn>
                                        <p:tgtEl>
                                          <p:spTgt spid="59"/>
                                        </p:tgtEl>
                                        <p:attrNameLst>
                                          <p:attrName>style.visibility</p:attrName>
                                        </p:attrNameLst>
                                      </p:cBhvr>
                                      <p:to>
                                        <p:strVal val="visible"/>
                                      </p:to>
                                    </p:set>
                                    <p:animEffect transition="in" filter="wipe(left)">
                                      <p:cBhvr>
                                        <p:cTn id="68" dur="700"/>
                                        <p:tgtEl>
                                          <p:spTgt spid="59"/>
                                        </p:tgtEl>
                                      </p:cBhvr>
                                    </p:animEffect>
                                  </p:childTnLst>
                                </p:cTn>
                              </p:par>
                              <p:par>
                                <p:cTn id="72" presetID="22" presetClass="entr" presetSubtype="8" fill="hold" nodeType="withEffect">
                                  <p:stCondLst>
                                    <p:cond delay="0"/>
                                  </p:stCondLst>
                                  <p:childTnLst>
                                    <p:set>
                                      <p:cBhvr>
                                        <p:cTn id="70" dur="1" fill="hold">
                                          <p:stCondLst>
                                            <p:cond delay="0"/>
                                          </p:stCondLst>
                                        </p:cTn>
                                        <p:tgtEl>
                                          <p:spTgt spid="60"/>
                                        </p:tgtEl>
                                        <p:attrNameLst>
                                          <p:attrName>style.visibility</p:attrName>
                                        </p:attrNameLst>
                                      </p:cBhvr>
                                      <p:to>
                                        <p:strVal val="visible"/>
                                      </p:to>
                                    </p:set>
                                    <p:animEffect transition="in" filter="wipe(left)">
                                      <p:cBhvr>
                                        <p:cTn id="71" dur="700"/>
                                        <p:tgtEl>
                                          <p:spTgt spid="6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4.1 · Question 9 · SE p. 205</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Which form would you use?</a:t>
            </a:r>
            <a:endParaRPr lang="en-US" sz="3450" dirty="0"/>
          </a:p>
        </p:txBody>
      </p:sp>
      <p:sp>
        <p:nvSpPr>
          <p:cNvPr id="4" name="Shape 4"/>
          <p:cNvSpPr txBox="1"/>
          <p:nvPr/>
        </p:nvSpPr>
        <p:spPr>
          <a:xfrm>
            <a:off x="685800" y="1713738"/>
            <a:ext cx="4869043"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You are given…</a:t>
            </a:r>
            <a:endParaRPr lang="en-US" sz="1950" dirty="0"/>
          </a:p>
        </p:txBody>
      </p:sp>
      <p:sp>
        <p:nvSpPr>
          <p:cNvPr id="5" name="Shape 5"/>
          <p:cNvSpPr txBox="1"/>
          <p:nvPr/>
        </p:nvSpPr>
        <p:spPr>
          <a:xfrm>
            <a:off x="5554843" y="1713738"/>
            <a:ext cx="5951052"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Use…</a:t>
            </a:r>
            <a:endParaRPr lang="en-US" sz="1950" dirty="0"/>
          </a:p>
        </p:txBody>
      </p:sp>
      <p:cxnSp>
        <p:nvCxnSpPr>
          <p:cNvPr id="6" name="Line 6"/>
          <p:cNvCxnSpPr/>
          <p:nvPr/>
        </p:nvCxnSpPr>
        <p:spPr>
          <a:xfrm>
            <a:off x="685800" y="2212086"/>
            <a:ext cx="10820095" cy="0"/>
          </a:xfrm>
          <a:prstGeom prst="line">
            <a:avLst/>
          </a:prstGeom>
          <a:ln w="9525" cap="flat">
            <a:solidFill>
              <a:srgbClr val="E3E4EC"/>
            </a:solidFill>
          </a:ln>
        </p:spPr>
      </p:cxnSp>
      <p:sp>
        <p:nvSpPr>
          <p:cNvPr id="7" name="Shape 7"/>
          <p:cNvSpPr txBox="1"/>
          <p:nvPr/>
        </p:nvSpPr>
        <p:spPr>
          <a:xfrm>
            <a:off x="685800" y="2212086"/>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8" name="Shape 8"/>
          <p:cNvSpPr txBox="1"/>
          <p:nvPr/>
        </p:nvSpPr>
        <p:spPr>
          <a:xfrm>
            <a:off x="5554843" y="2212086"/>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Slope-intercept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and </a:t>
            </a:r>
            <a:r>
              <a:rPr lang="en-US" sz="1800" dirty="0" i="1">
                <a:solidFill>
                  <a:srgbClr val="16171D"/>
                </a:solidFill>
                <a:latin typeface="Segoe UI"/>
                <a:cs typeface="Segoe UI"/>
              </a:rPr>
              <a:t xml:space="preserve">b</a:t>
            </a:r>
            <a:r>
              <a:rPr lang="en-US" sz="1800" dirty="0">
                <a:solidFill>
                  <a:srgbClr val="16171D"/>
                </a:solidFill>
                <a:latin typeface="Segoe UI"/>
                <a:cs typeface="Segoe UI"/>
              </a:rPr>
              <a:t xml:space="preserve">.</a:t>
            </a:r>
            <a:endParaRPr lang="en-US" sz="1800" dirty="0"/>
          </a:p>
        </p:txBody>
      </p:sp>
      <p:cxnSp>
        <p:nvCxnSpPr>
          <p:cNvPr id="9" name="Line 9"/>
          <p:cNvCxnSpPr/>
          <p:nvPr/>
        </p:nvCxnSpPr>
        <p:spPr>
          <a:xfrm>
            <a:off x="685800" y="2687574"/>
            <a:ext cx="10820095" cy="0"/>
          </a:xfrm>
          <a:prstGeom prst="line">
            <a:avLst/>
          </a:prstGeom>
          <a:ln w="9525" cap="flat">
            <a:solidFill>
              <a:srgbClr val="E3E4EC"/>
            </a:solidFill>
          </a:ln>
        </p:spPr>
      </p:cxnSp>
      <p:sp>
        <p:nvSpPr>
          <p:cNvPr id="10" name="Shape 10"/>
          <p:cNvSpPr txBox="1"/>
          <p:nvPr/>
        </p:nvSpPr>
        <p:spPr>
          <a:xfrm>
            <a:off x="685800" y="2687574"/>
            <a:ext cx="4869043"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two points</a:t>
            </a:r>
            <a:endParaRPr lang="en-US" sz="1800" dirty="0"/>
          </a:p>
        </p:txBody>
      </p:sp>
      <p:sp>
        <p:nvSpPr>
          <p:cNvPr id="11" name="Shape 11"/>
          <p:cNvSpPr txBox="1"/>
          <p:nvPr/>
        </p:nvSpPr>
        <p:spPr>
          <a:xfrm>
            <a:off x="5554843" y="2687574"/>
            <a:ext cx="5951052"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Find the slope first, then use </a:t>
            </a: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a:t>
            </a:r>
            <a:endParaRPr lang="en-US" sz="1800" dirty="0"/>
          </a:p>
        </p:txBody>
      </p:sp>
      <p:cxnSp>
        <p:nvCxnSpPr>
          <p:cNvPr id="12" name="Line 12"/>
          <p:cNvCxnSpPr/>
          <p:nvPr/>
        </p:nvCxnSpPr>
        <p:spPr>
          <a:xfrm>
            <a:off x="685800" y="3163062"/>
            <a:ext cx="10820095" cy="0"/>
          </a:xfrm>
          <a:prstGeom prst="line">
            <a:avLst/>
          </a:prstGeom>
          <a:ln w="9525" cap="flat">
            <a:solidFill>
              <a:srgbClr val="E3E4EC"/>
            </a:solidFill>
          </a:ln>
        </p:spPr>
      </p:cxnSp>
      <p:sp>
        <p:nvSpPr>
          <p:cNvPr id="13" name="Shape 13"/>
          <p:cNvSpPr txBox="1"/>
          <p:nvPr/>
        </p:nvSpPr>
        <p:spPr>
          <a:xfrm>
            <a:off x="685800" y="3163062"/>
            <a:ext cx="4869043" cy="74980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the slope and a point that is not the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-intercept</a:t>
            </a:r>
            <a:endParaRPr lang="en-US" sz="1800" dirty="0"/>
          </a:p>
        </p:txBody>
      </p:sp>
      <p:sp>
        <p:nvSpPr>
          <p:cNvPr id="14" name="Shape 14"/>
          <p:cNvSpPr txBox="1"/>
          <p:nvPr/>
        </p:nvSpPr>
        <p:spPr>
          <a:xfrm>
            <a:off x="5554843" y="3163062"/>
            <a:ext cx="5951052" cy="74980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16171D"/>
                </a:solidFill>
                <a:latin typeface="Segoe UI"/>
                <a:cs typeface="Segoe UI"/>
              </a:rPr>
              <a:t xml:space="preserve">Point-slope form</a:t>
            </a:r>
            <a:r>
              <a:rPr lang="en-US" sz="1800" dirty="0">
                <a:solidFill>
                  <a:srgbClr val="16171D"/>
                </a:solidFill>
                <a:latin typeface="Segoe UI"/>
                <a:cs typeface="Segoe UI"/>
              </a:rPr>
              <a:t xml:space="preserve">. Plug in </a:t>
            </a:r>
            <a:r>
              <a:rPr lang="en-US" sz="1800" dirty="0" i="1">
                <a:solidFill>
                  <a:srgbClr val="16171D"/>
                </a:solidFill>
                <a:latin typeface="Segoe UI"/>
                <a:cs typeface="Segoe UI"/>
              </a:rPr>
              <a:t xml:space="preserve">m</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x</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 </a:t>
            </a:r>
            <a:r>
              <a:rPr lang="en-US" sz="1800" dirty="0" i="1">
                <a:solidFill>
                  <a:srgbClr val="16171D"/>
                </a:solidFill>
                <a:latin typeface="Segoe UI"/>
                <a:cs typeface="Segoe UI"/>
              </a:rPr>
              <a:t xml:space="preserve">y</a:t>
            </a:r>
            <a:r>
              <a:rPr lang="en-US" sz="1530" dirty="0" baseline="-25000">
                <a:solidFill>
                  <a:srgbClr val="16171D"/>
                </a:solidFill>
                <a:latin typeface="Segoe UI"/>
                <a:cs typeface="Segoe UI"/>
              </a:rPr>
              <a:t xml:space="preserve">1</a:t>
            </a:r>
            <a:r>
              <a:rPr lang="en-US" sz="1800" dirty="0">
                <a:solidFill>
                  <a:srgbClr val="16171D"/>
                </a:solidFill>
                <a:latin typeface="Segoe UI"/>
                <a:cs typeface="Segoe UI"/>
              </a:rPr>
              <a:t xml:space="preserve">.</a:t>
            </a:r>
            <a:endParaRPr lang="en-US" sz="1800" dirty="0"/>
          </a:p>
        </p:txBody>
      </p:sp>
      <p:cxnSp>
        <p:nvCxnSpPr>
          <p:cNvPr id="15" name="Line 15"/>
          <p:cNvCxnSpPr/>
          <p:nvPr/>
        </p:nvCxnSpPr>
        <p:spPr>
          <a:xfrm>
            <a:off x="685800" y="3912870"/>
            <a:ext cx="10820095" cy="0"/>
          </a:xfrm>
          <a:prstGeom prst="line">
            <a:avLst/>
          </a:prstGeom>
          <a:ln w="9525" cap="flat">
            <a:solidFill>
              <a:srgbClr val="E3E4EC"/>
            </a:solidFill>
          </a:ln>
        </p:spPr>
      </p:cxnSp>
      <p:sp>
        <p:nvSpPr>
          <p:cNvPr id="16" name="Shape 16"/>
          <p:cNvSpPr txBox="1"/>
          <p:nvPr/>
        </p:nvSpPr>
        <p:spPr>
          <a:xfrm>
            <a:off x="685800" y="42176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Reasoning may vary. Either form works for any non-vertical line; choose the one that saves you steps.</a:t>
            </a:r>
            <a:endParaRPr lang="en-US" sz="1575" dirty="0"/>
          </a:p>
        </p:txBody>
      </p:sp>
      <p:sp>
        <p:nvSpPr>
          <p:cNvPr id="17" name="Slide Number 17"/>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18" fill="hold">
                      <p:stCondLst>
                        <p:cond delay="indefinite"/>
                      </p:stCondLst>
                      <p:childTnLst>
                        <p:par>
                          <p:cTn id="1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7"/>
                                        </p:tgtEl>
                                        <p:attrNameLst>
                                          <p:attrName>style.visibility</p:attrName>
                                        </p:attrNameLst>
                                      </p:cBhvr>
                                      <p:to>
                                        <p:strVal val="visible"/>
                                      </p:to>
                                    </p:set>
                                    <p:animEffect transition="in" filter="fade">
                                      <p:cBhvr>
                                        <p:cTn id="4" dur="500"/>
                                        <p:tgtEl>
                                          <p:spTgt spid="7"/>
                                        </p:tgtEl>
                                      </p:cBhvr>
                                    </p:animEffect>
                                    <p:anim calcmode="lin" valueType="num">
                                      <p:cBhvr>
                                        <p:cTn id="5" dur="500" fill="hold"/>
                                        <p:tgtEl>
                                          <p:spTgt spid="7"/>
                                        </p:tgtEl>
                                        <p:attrNameLst>
                                          <p:attrName>ppt_x</p:attrName>
                                        </p:attrNameLst>
                                      </p:cBhvr>
                                      <p:tavLst>
                                        <p:tav tm="0">
                                          <p:val>
                                            <p:strVal val="#ppt_x"/>
                                          </p:val>
                                        </p:tav>
                                        <p:tav tm="100000">
                                          <p:val>
                                            <p:strVal val="#ppt_x"/>
                                          </p:val>
                                        </p:tav>
                                      </p:tavLst>
                                    </p:anim>
                                    <p:anim calcmode="lin" valueType="num">
                                      <p:cBhvr>
                                        <p:cTn id="6" dur="500" fill="hold"/>
                                        <p:tgtEl>
                                          <p:spTgt spid="7"/>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fade">
                                      <p:cBhvr>
                                        <p:cTn id="9" dur="500"/>
                                        <p:tgtEl>
                                          <p:spTgt spid="8"/>
                                        </p:tgtEl>
                                      </p:cBhvr>
                                    </p:animEffect>
                                    <p:anim calcmode="lin" valueType="num">
                                      <p:cBhvr>
                                        <p:cTn id="10" dur="500" fill="hold"/>
                                        <p:tgtEl>
                                          <p:spTgt spid="8"/>
                                        </p:tgtEl>
                                        <p:attrNameLst>
                                          <p:attrName>ppt_x</p:attrName>
                                        </p:attrNameLst>
                                      </p:cBhvr>
                                      <p:tavLst>
                                        <p:tav tm="0">
                                          <p:val>
                                            <p:strVal val="#ppt_x"/>
                                          </p:val>
                                        </p:tav>
                                        <p:tav tm="100000">
                                          <p:val>
                                            <p:strVal val="#ppt_x"/>
                                          </p:val>
                                        </p:tav>
                                      </p:tavLst>
                                    </p:anim>
                                    <p:anim calcmode="lin" valueType="num">
                                      <p:cBhvr>
                                        <p:cTn id="11" dur="500" fill="hold"/>
                                        <p:tgtEl>
                                          <p:spTgt spid="8"/>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fade">
                                      <p:cBhvr>
                                        <p:cTn id="14" dur="500"/>
                                        <p:tgtEl>
                                          <p:spTgt spid="9"/>
                                        </p:tgtEl>
                                      </p:cBhvr>
                                    </p:animEffect>
                                    <p:anim calcmode="lin" valueType="num">
                                      <p:cBhvr>
                                        <p:cTn id="15" dur="500" fill="hold"/>
                                        <p:tgtEl>
                                          <p:spTgt spid="9"/>
                                        </p:tgtEl>
                                        <p:attrNameLst>
                                          <p:attrName>ppt_x</p:attrName>
                                        </p:attrNameLst>
                                      </p:cBhvr>
                                      <p:tavLst>
                                        <p:tav tm="0">
                                          <p:val>
                                            <p:strVal val="#ppt_x"/>
                                          </p:val>
                                        </p:tav>
                                        <p:tav tm="100000">
                                          <p:val>
                                            <p:strVal val="#ppt_x"/>
                                          </p:val>
                                        </p:tav>
                                      </p:tavLst>
                                    </p:anim>
                                    <p:anim calcmode="lin" valueType="num">
                                      <p:cBhvr>
                                        <p:cTn id="16"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35" fill="hold">
                      <p:stCondLst>
                        <p:cond delay="indefinite"/>
                      </p:stCondLst>
                      <p:childTnLst>
                        <p:par>
                          <p:cTn id="36" fill="hold">
                            <p:stCondLst>
                              <p:cond delay="0"/>
                            </p:stCondLst>
                            <p:childTnLst>
                              <p:par>
                                <p:cTn id="24" presetID="42" presetClass="entr" presetSubtype="0" fill="hold" nodeType="clickEffect">
                                  <p:stCondLst>
                                    <p:cond delay="0"/>
                                  </p:stCondLst>
                                  <p:childTnLst>
                                    <p:set>
                                      <p:cBhvr>
                                        <p:cTn id="20" dur="1" fill="hold">
                                          <p:stCondLst>
                                            <p:cond delay="0"/>
                                          </p:stCondLst>
                                        </p:cTn>
                                        <p:tgtEl>
                                          <p:spTgt spid="10"/>
                                        </p:tgtEl>
                                        <p:attrNameLst>
                                          <p:attrName>style.visibility</p:attrName>
                                        </p:attrNameLst>
                                      </p:cBhvr>
                                      <p:to>
                                        <p:strVal val="visible"/>
                                      </p:to>
                                    </p:set>
                                    <p:animEffect transition="in" filter="fade">
                                      <p:cBhvr>
                                        <p:cTn id="21" dur="500"/>
                                        <p:tgtEl>
                                          <p:spTgt spid="10"/>
                                        </p:tgtEl>
                                      </p:cBhvr>
                                    </p:animEffect>
                                    <p:anim calcmode="lin" valueType="num">
                                      <p:cBhvr>
                                        <p:cTn id="22" dur="500" fill="hold"/>
                                        <p:tgtEl>
                                          <p:spTgt spid="10"/>
                                        </p:tgtEl>
                                        <p:attrNameLst>
                                          <p:attrName>ppt_x</p:attrName>
                                        </p:attrNameLst>
                                      </p:cBhvr>
                                      <p:tavLst>
                                        <p:tav tm="0">
                                          <p:val>
                                            <p:strVal val="#ppt_x"/>
                                          </p:val>
                                        </p:tav>
                                        <p:tav tm="100000">
                                          <p:val>
                                            <p:strVal val="#ppt_x"/>
                                          </p:val>
                                        </p:tav>
                                      </p:tavLst>
                                    </p:anim>
                                    <p:anim calcmode="lin" valueType="num">
                                      <p:cBhvr>
                                        <p:cTn id="23" dur="500" fill="hold"/>
                                        <p:tgtEl>
                                          <p:spTgt spid="10"/>
                                        </p:tgtEl>
                                        <p:attrNameLst>
                                          <p:attrName>ppt_y</p:attrName>
                                        </p:attrNameLst>
                                      </p:cBhvr>
                                      <p:tavLst>
                                        <p:tav tm="0">
                                          <p:val>
                                            <p:strVal val="#ppt_y+.1"/>
                                          </p:val>
                                        </p:tav>
                                        <p:tav tm="100000">
                                          <p:val>
                                            <p:strVal val="#ppt_y"/>
                                          </p:val>
                                        </p:tav>
                                      </p:tavLst>
                                    </p:anim>
                                  </p:childTnLst>
                                </p:cTn>
                              </p:par>
                              <p:par>
                                <p:cTn id="29" presetID="42" presetClass="entr" presetSubtype="0" fill="hold" nodeType="with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anim calcmode="lin" valueType="num">
                                      <p:cBhvr>
                                        <p:cTn id="27" dur="500" fill="hold"/>
                                        <p:tgtEl>
                                          <p:spTgt spid="11"/>
                                        </p:tgtEl>
                                        <p:attrNameLst>
                                          <p:attrName>ppt_x</p:attrName>
                                        </p:attrNameLst>
                                      </p:cBhvr>
                                      <p:tavLst>
                                        <p:tav tm="0">
                                          <p:val>
                                            <p:strVal val="#ppt_x"/>
                                          </p:val>
                                        </p:tav>
                                        <p:tav tm="100000">
                                          <p:val>
                                            <p:strVal val="#ppt_x"/>
                                          </p:val>
                                        </p:tav>
                                      </p:tavLst>
                                    </p:anim>
                                    <p:anim calcmode="lin" valueType="num">
                                      <p:cBhvr>
                                        <p:cTn id="28" dur="500" fill="hold"/>
                                        <p:tgtEl>
                                          <p:spTgt spid="11"/>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500"/>
                                        <p:tgtEl>
                                          <p:spTgt spid="12"/>
                                        </p:tgtEl>
                                      </p:cBhvr>
                                    </p:animEffect>
                                    <p:anim calcmode="lin" valueType="num">
                                      <p:cBhvr>
                                        <p:cTn id="32" dur="500" fill="hold"/>
                                        <p:tgtEl>
                                          <p:spTgt spid="12"/>
                                        </p:tgtEl>
                                        <p:attrNameLst>
                                          <p:attrName>ppt_x</p:attrName>
                                        </p:attrNameLst>
                                      </p:cBhvr>
                                      <p:tavLst>
                                        <p:tav tm="0">
                                          <p:val>
                                            <p:strVal val="#ppt_x"/>
                                          </p:val>
                                        </p:tav>
                                        <p:tav tm="100000">
                                          <p:val>
                                            <p:strVal val="#ppt_x"/>
                                          </p:val>
                                        </p:tav>
                                      </p:tavLst>
                                    </p:anim>
                                    <p:anim calcmode="lin" valueType="num">
                                      <p:cBhvr>
                                        <p:cTn id="33"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13"/>
                                        </p:tgtEl>
                                        <p:attrNameLst>
                                          <p:attrName>style.visibility</p:attrName>
                                        </p:attrNameLst>
                                      </p:cBhvr>
                                      <p:to>
                                        <p:strVal val="visible"/>
                                      </p:to>
                                    </p:set>
                                    <p:animEffect transition="in" filter="fade">
                                      <p:cBhvr>
                                        <p:cTn id="38" dur="500"/>
                                        <p:tgtEl>
                                          <p:spTgt spid="13"/>
                                        </p:tgtEl>
                                      </p:cBhvr>
                                    </p:animEffect>
                                    <p:anim calcmode="lin" valueType="num">
                                      <p:cBhvr>
                                        <p:cTn id="39" dur="500" fill="hold"/>
                                        <p:tgtEl>
                                          <p:spTgt spid="13"/>
                                        </p:tgtEl>
                                        <p:attrNameLst>
                                          <p:attrName>ppt_x</p:attrName>
                                        </p:attrNameLst>
                                      </p:cBhvr>
                                      <p:tavLst>
                                        <p:tav tm="0">
                                          <p:val>
                                            <p:strVal val="#ppt_x"/>
                                          </p:val>
                                        </p:tav>
                                        <p:tav tm="100000">
                                          <p:val>
                                            <p:strVal val="#ppt_x"/>
                                          </p:val>
                                        </p:tav>
                                      </p:tavLst>
                                    </p:anim>
                                    <p:anim calcmode="lin" valueType="num">
                                      <p:cBhvr>
                                        <p:cTn id="40" dur="500" fill="hold"/>
                                        <p:tgtEl>
                                          <p:spTgt spid="13"/>
                                        </p:tgtEl>
                                        <p:attrNameLst>
                                          <p:attrName>ppt_y</p:attrName>
                                        </p:attrNameLst>
                                      </p:cBhvr>
                                      <p:tavLst>
                                        <p:tav tm="0">
                                          <p:val>
                                            <p:strVal val="#ppt_y+.1"/>
                                          </p:val>
                                        </p:tav>
                                        <p:tav tm="100000">
                                          <p:val>
                                            <p:strVal val="#ppt_y"/>
                                          </p:val>
                                        </p:tav>
                                      </p:tavLst>
                                    </p:anim>
                                  </p:childTnLst>
                                </p:cTn>
                              </p:par>
                              <p:par>
                                <p:cTn id="46" presetID="42" presetClass="entr" presetSubtype="0" fill="hold" nodeType="withEffect">
                                  <p:stCondLst>
                                    <p:cond delay="0"/>
                                  </p:stCondLst>
                                  <p:childTnLst>
                                    <p:set>
                                      <p:cBhvr>
                                        <p:cTn id="42" dur="1" fill="hold">
                                          <p:stCondLst>
                                            <p:cond delay="0"/>
                                          </p:stCondLst>
                                        </p:cTn>
                                        <p:tgtEl>
                                          <p:spTgt spid="14"/>
                                        </p:tgtEl>
                                        <p:attrNameLst>
                                          <p:attrName>style.visibility</p:attrName>
                                        </p:attrNameLst>
                                      </p:cBhvr>
                                      <p:to>
                                        <p:strVal val="visible"/>
                                      </p:to>
                                    </p:set>
                                    <p:animEffect transition="in" filter="fade">
                                      <p:cBhvr>
                                        <p:cTn id="43" dur="500"/>
                                        <p:tgtEl>
                                          <p:spTgt spid="14"/>
                                        </p:tgtEl>
                                      </p:cBhvr>
                                    </p:animEffect>
                                    <p:anim calcmode="lin" valueType="num">
                                      <p:cBhvr>
                                        <p:cTn id="44" dur="500" fill="hold"/>
                                        <p:tgtEl>
                                          <p:spTgt spid="14"/>
                                        </p:tgtEl>
                                        <p:attrNameLst>
                                          <p:attrName>ppt_x</p:attrName>
                                        </p:attrNameLst>
                                      </p:cBhvr>
                                      <p:tavLst>
                                        <p:tav tm="0">
                                          <p:val>
                                            <p:strVal val="#ppt_x"/>
                                          </p:val>
                                        </p:tav>
                                        <p:tav tm="100000">
                                          <p:val>
                                            <p:strVal val="#ppt_x"/>
                                          </p:val>
                                        </p:tav>
                                      </p:tavLst>
                                    </p:anim>
                                    <p:anim calcmode="lin" valueType="num">
                                      <p:cBhvr>
                                        <p:cTn id="45" dur="500" fill="hold"/>
                                        <p:tgtEl>
                                          <p:spTgt spid="14"/>
                                        </p:tgtEl>
                                        <p:attrNameLst>
                                          <p:attrName>ppt_y</p:attrName>
                                        </p:attrNameLst>
                                      </p:cBhvr>
                                      <p:tavLst>
                                        <p:tav tm="0">
                                          <p:val>
                                            <p:strVal val="#ppt_y+.1"/>
                                          </p:val>
                                        </p:tav>
                                        <p:tav tm="100000">
                                          <p:val>
                                            <p:strVal val="#ppt_y"/>
                                          </p:val>
                                        </p:tav>
                                      </p:tavLst>
                                    </p:anim>
                                  </p:childTnLst>
                                </p:cTn>
                              </p:par>
                              <p:par>
                                <p:cTn id="51" presetID="42" presetClass="entr" presetSubtype="0" fill="hold" nodeType="withEffect">
                                  <p:stCondLst>
                                    <p:cond delay="0"/>
                                  </p:stCondLst>
                                  <p:childTnLst>
                                    <p:set>
                                      <p:cBhvr>
                                        <p:cTn id="47" dur="1" fill="hold">
                                          <p:stCondLst>
                                            <p:cond delay="0"/>
                                          </p:stCondLst>
                                        </p:cTn>
                                        <p:tgtEl>
                                          <p:spTgt spid="15"/>
                                        </p:tgtEl>
                                        <p:attrNameLst>
                                          <p:attrName>style.visibility</p:attrName>
                                        </p:attrNameLst>
                                      </p:cBhvr>
                                      <p:to>
                                        <p:strVal val="visible"/>
                                      </p:to>
                                    </p:set>
                                    <p:animEffect transition="in" filter="fade">
                                      <p:cBhvr>
                                        <p:cTn id="48" dur="500"/>
                                        <p:tgtEl>
                                          <p:spTgt spid="15"/>
                                        </p:tgtEl>
                                      </p:cBhvr>
                                    </p:animEffect>
                                    <p:anim calcmode="lin" valueType="num">
                                      <p:cBhvr>
                                        <p:cTn id="49" dur="500" fill="hold"/>
                                        <p:tgtEl>
                                          <p:spTgt spid="15"/>
                                        </p:tgtEl>
                                        <p:attrNameLst>
                                          <p:attrName>ppt_x</p:attrName>
                                        </p:attrNameLst>
                                      </p:cBhvr>
                                      <p:tavLst>
                                        <p:tav tm="0">
                                          <p:val>
                                            <p:strVal val="#ppt_x"/>
                                          </p:val>
                                        </p:tav>
                                        <p:tav tm="100000">
                                          <p:val>
                                            <p:strVal val="#ppt_x"/>
                                          </p:val>
                                        </p:tav>
                                      </p:tavLst>
                                    </p:anim>
                                    <p:anim calcmode="lin" valueType="num">
                                      <p:cBhvr>
                                        <p:cTn id="50"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59" fill="hold">
                      <p:stCondLst>
                        <p:cond delay="indefinite"/>
                      </p:stCondLst>
                      <p:childTnLst>
                        <p:par>
                          <p:cTn id="60" fill="hold">
                            <p:stCondLst>
                              <p:cond delay="0"/>
                            </p:stCondLst>
                            <p:childTnLst>
                              <p:par>
                                <p:cTn id="58" presetID="42" presetClass="entr" presetSubtype="0" fill="hold" nodeType="clickEffect">
                                  <p:stCondLst>
                                    <p:cond delay="0"/>
                                  </p:stCondLst>
                                  <p:childTnLst>
                                    <p:set>
                                      <p:cBhvr>
                                        <p:cTn id="54" dur="1" fill="hold">
                                          <p:stCondLst>
                                            <p:cond delay="0"/>
                                          </p:stCondLst>
                                        </p:cTn>
                                        <p:tgtEl>
                                          <p:spTgt spid="16"/>
                                        </p:tgtEl>
                                        <p:attrNameLst>
                                          <p:attrName>style.visibility</p:attrName>
                                        </p:attrNameLst>
                                      </p:cBhvr>
                                      <p:to>
                                        <p:strVal val="visible"/>
                                      </p:to>
                                    </p:set>
                                    <p:animEffect transition="in" filter="fade">
                                      <p:cBhvr>
                                        <p:cTn id="55" dur="500"/>
                                        <p:tgtEl>
                                          <p:spTgt spid="16"/>
                                        </p:tgtEl>
                                      </p:cBhvr>
                                    </p:animEffect>
                                    <p:anim calcmode="lin" valueType="num">
                                      <p:cBhvr>
                                        <p:cTn id="56" dur="500" fill="hold"/>
                                        <p:tgtEl>
                                          <p:spTgt spid="16"/>
                                        </p:tgtEl>
                                        <p:attrNameLst>
                                          <p:attrName>ppt_x</p:attrName>
                                        </p:attrNameLst>
                                      </p:cBhvr>
                                      <p:tavLst>
                                        <p:tav tm="0">
                                          <p:val>
                                            <p:strVal val="#ppt_x"/>
                                          </p:val>
                                        </p:tav>
                                        <p:tav tm="100000">
                                          <p:val>
                                            <p:strVal val="#ppt_x"/>
                                          </p:val>
                                        </p:tav>
                                      </p:tavLst>
                                    </p:anim>
                                    <p:anim calcmode="lin" valueType="num">
                                      <p:cBhvr>
                                        <p:cTn id="5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Questions 1–2 · SE p. 206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lines</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The equation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−6</a:t>
            </a:r>
            <a:r>
              <a:rPr lang="en-US" sz="1950" dirty="0">
                <a:solidFill>
                  <a:srgbClr val="16171D"/>
                </a:solidFill>
                <a:latin typeface="Segoe UI"/>
                <a:cs typeface="Segoe UI"/>
              </a:rPr>
              <a:t xml:space="preserve"> has no </a:t>
            </a:r>
            <a:r>
              <a:rPr lang="en-US" sz="1950" dirty="0" i="1">
                <a:solidFill>
                  <a:srgbClr val="16171D"/>
                </a:solidFill>
                <a:latin typeface="Segoe UI"/>
                <a:cs typeface="Segoe UI"/>
              </a:rPr>
              <a:t xml:space="preserve">x</a:t>
            </a:r>
            <a:r>
              <a:rPr lang="en-US" sz="1950" dirty="0">
                <a:solidFill>
                  <a:srgbClr val="16171D"/>
                </a:solidFill>
                <a:latin typeface="Segoe UI"/>
                <a:cs typeface="Segoe UI"/>
              </a:rPr>
              <a:t xml:space="preserve">. Its slope is </a:t>
            </a:r>
            <a:r>
              <a:rPr lang="en-US" sz="1950" dirty="0" b="1">
                <a:solidFill>
                  <a:srgbClr val="C9561F"/>
                </a:solidFill>
                <a:latin typeface="Cambria"/>
                <a:cs typeface="Cambria"/>
              </a:rPr>
              <a:t xml:space="preserve">0</a:t>
            </a:r>
            <a:r>
              <a:rPr lang="en-US" sz="1950" dirty="0">
                <a:solidFill>
                  <a:srgbClr val="16171D"/>
                </a:solidFill>
                <a:latin typeface="Segoe UI"/>
                <a:cs typeface="Segoe UI"/>
              </a:rPr>
              <a:t xml:space="preserve">.</a:t>
            </a:r>
            <a:endParaRPr lang="en-US" sz="1950" dirty="0"/>
          </a:p>
        </p:txBody>
      </p:sp>
      <p:sp>
        <p:nvSpPr>
          <p:cNvPr id="5" name="Shape 5"/>
          <p:cNvSpPr txBox="1"/>
          <p:nvPr/>
        </p:nvSpPr>
        <p:spPr>
          <a:xfrm>
            <a:off x="685800" y="214198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graph is a </a:t>
            </a:r>
            <a:r>
              <a:rPr lang="en-US" sz="1950" dirty="0" b="1">
                <a:solidFill>
                  <a:srgbClr val="16171D"/>
                </a:solidFill>
                <a:latin typeface="Segoe UI"/>
                <a:cs typeface="Segoe UI"/>
              </a:rPr>
              <a:t xml:space="preserve">horizontal line</a:t>
            </a:r>
            <a:r>
              <a:rPr lang="en-US" sz="1950" dirty="0">
                <a:solidFill>
                  <a:srgbClr val="16171D"/>
                </a:solidFill>
                <a:latin typeface="Segoe UI"/>
                <a:cs typeface="Segoe UI"/>
              </a:rPr>
              <a:t xml:space="preserve"> through (0, −6).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never changes, so the line never rises or falls.</a:t>
            </a:r>
            <a:endParaRPr lang="en-US" sz="1950" dirty="0"/>
          </a:p>
        </p:txBody>
      </p:sp>
      <p:sp>
        <p:nvSpPr>
          <p:cNvPr id="6" name="Shape 6"/>
          <p:cNvSpPr txBox="1"/>
          <p:nvPr/>
        </p:nvSpPr>
        <p:spPr>
          <a:xfrm>
            <a:off x="685800" y="3019806"/>
            <a:ext cx="52385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2a.</a:t>
            </a:r>
            <a:endParaRPr lang="en-US" sz="2100" dirty="0"/>
          </a:p>
        </p:txBody>
      </p:sp>
      <p:sp>
        <p:nvSpPr>
          <p:cNvPr id="7" name="Shape 7"/>
          <p:cNvSpPr txBox="1"/>
          <p:nvPr/>
        </p:nvSpPr>
        <p:spPr>
          <a:xfrm>
            <a:off x="685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8" name="Shape 8"/>
          <p:cNvSpPr txBox="1"/>
          <p:nvPr/>
        </p:nvSpPr>
        <p:spPr>
          <a:xfrm>
            <a:off x="1828800" y="3528060"/>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9" name="Shape 9"/>
          <p:cNvSpPr txBox="1"/>
          <p:nvPr/>
        </p:nvSpPr>
        <p:spPr>
          <a:xfrm>
            <a:off x="685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−7</a:t>
            </a:r>
            <a:endParaRPr lang="en-US" sz="2250" dirty="0"/>
          </a:p>
        </p:txBody>
      </p:sp>
      <p:sp>
        <p:nvSpPr>
          <p:cNvPr id="10" name="Shape 10"/>
          <p:cNvSpPr txBox="1"/>
          <p:nvPr/>
        </p:nvSpPr>
        <p:spPr>
          <a:xfrm>
            <a:off x="1828800" y="401726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1" name="Shape 11"/>
          <p:cNvSpPr txBox="1"/>
          <p:nvPr/>
        </p:nvSpPr>
        <p:spPr>
          <a:xfrm>
            <a:off x="685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4506468"/>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3" name="Shape 13"/>
          <p:cNvSpPr txBox="1"/>
          <p:nvPr/>
        </p:nvSpPr>
        <p:spPr>
          <a:xfrm>
            <a:off x="685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0</a:t>
            </a:r>
            <a:endParaRPr lang="en-US" sz="2250" dirty="0"/>
          </a:p>
        </p:txBody>
      </p:sp>
      <p:sp>
        <p:nvSpPr>
          <p:cNvPr id="14" name="Shape 14"/>
          <p:cNvSpPr txBox="1"/>
          <p:nvPr/>
        </p:nvSpPr>
        <p:spPr>
          <a:xfrm>
            <a:off x="1828800" y="499567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11</a:t>
            </a:r>
            <a:endParaRPr lang="en-US" sz="2250" dirty="0"/>
          </a:p>
        </p:txBody>
      </p:sp>
      <p:sp>
        <p:nvSpPr>
          <p:cNvPr id="15" name="Shape 15"/>
          <p:cNvSpPr txBox="1"/>
          <p:nvPr/>
        </p:nvSpPr>
        <p:spPr>
          <a:xfrm>
            <a:off x="685800" y="5618226"/>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11</a:t>
            </a:r>
            <a:endParaRPr lang="en-US" sz="2325" dirty="0"/>
          </a:p>
        </p:txBody>
      </p:sp>
      <p:sp>
        <p:nvSpPr>
          <p:cNvPr id="16" name="Shape 16"/>
          <p:cNvSpPr txBox="1"/>
          <p:nvPr/>
        </p:nvSpPr>
        <p:spPr>
          <a:xfrm>
            <a:off x="685800" y="6270498"/>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11)</a:t>
            </a:r>
            <a:endParaRPr lang="en-US" sz="1575" dirty="0"/>
          </a:p>
        </p:txBody>
      </p:sp>
      <p:sp>
        <p:nvSpPr>
          <p:cNvPr id="17" name="Shape 17"/>
          <p:cNvSpPr txBox="1"/>
          <p:nvPr/>
        </p:nvSpPr>
        <p:spPr>
          <a:xfrm>
            <a:off x="6267298" y="3019806"/>
            <a:ext cx="52385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2b. Through (−15, −3.75) and (89, −3.75)</a:t>
            </a:r>
            <a:endParaRPr lang="en-US" sz="2100" dirty="0"/>
          </a:p>
        </p:txBody>
      </p:sp>
      <p:sp>
        <p:nvSpPr>
          <p:cNvPr id="18" name="Shape 18"/>
          <p:cNvSpPr txBox="1"/>
          <p:nvPr/>
        </p:nvSpPr>
        <p:spPr>
          <a:xfrm>
            <a:off x="6267298" y="3848100"/>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Both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are the same.</a:t>
            </a:r>
            <a:endParaRPr lang="en-US" sz="1575" dirty="0"/>
          </a:p>
        </p:txBody>
      </p:sp>
      <p:sp>
        <p:nvSpPr>
          <p:cNvPr id="19" name="Shape 19"/>
          <p:cNvSpPr txBox="1"/>
          <p:nvPr/>
        </p:nvSpPr>
        <p:spPr>
          <a:xfrm>
            <a:off x="6267298" y="4276344"/>
            <a:ext cx="3405500"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−3.75</a:t>
            </a:r>
            <a:endParaRPr lang="en-US" sz="2325" dirty="0"/>
          </a:p>
        </p:txBody>
      </p:sp>
      <p:sp>
        <p:nvSpPr>
          <p:cNvPr id="20" name="Shape 20"/>
          <p:cNvSpPr txBox="1"/>
          <p:nvPr/>
        </p:nvSpPr>
        <p:spPr>
          <a:xfrm>
            <a:off x="6267298" y="4928616"/>
            <a:ext cx="52385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Horizontal · slope 0 ·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−3.75)</a:t>
            </a:r>
            <a:endParaRPr lang="en-US" sz="1575" dirty="0"/>
          </a:p>
        </p:txBody>
      </p:sp>
      <p:sp>
        <p:nvSpPr>
          <p:cNvPr id="21" name="Slide Number 2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5"/>
                                        </p:tgtEl>
                                        <p:attrNameLst>
                                          <p:attrName>style.visibility</p:attrName>
                                        </p:attrNameLst>
                                      </p:cBhvr>
                                      <p:to>
                                        <p:strVal val="visible"/>
                                      </p:to>
                                    </p:set>
                                    <p:animEffect transition="in" filter="fade">
                                      <p:cBhvr>
                                        <p:cTn id="18" dur="500"/>
                                        <p:tgtEl>
                                          <p:spTgt spid="15"/>
                                        </p:tgtEl>
                                      </p:cBhvr>
                                    </p:animEffect>
                                    <p:anim calcmode="lin" valueType="num">
                                      <p:cBhvr>
                                        <p:cTn id="19" dur="500" fill="hold"/>
                                        <p:tgtEl>
                                          <p:spTgt spid="15"/>
                                        </p:tgtEl>
                                        <p:attrNameLst>
                                          <p:attrName>ppt_w</p:attrName>
                                        </p:attrNameLst>
                                      </p:cBhvr>
                                      <p:tavLst>
                                        <p:tav tm="0">
                                          <p:val>
                                            <p:fltVal val="0"/>
                                          </p:val>
                                        </p:tav>
                                        <p:tav tm="100000">
                                          <p:val>
                                            <p:strVal val="#ppt_w"/>
                                          </p:val>
                                        </p:tav>
                                      </p:tavLst>
                                    </p:anim>
                                    <p:anim calcmode="lin" valueType="num">
                                      <p:cBhvr>
                                        <p:cTn id="20" dur="500" fill="hold"/>
                                        <p:tgtEl>
                                          <p:spTgt spid="15"/>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6"/>
                                        </p:tgtEl>
                                        <p:attrNameLst>
                                          <p:attrName>style.visibility</p:attrName>
                                        </p:attrNameLst>
                                      </p:cBhvr>
                                      <p:to>
                                        <p:strVal val="visible"/>
                                      </p:to>
                                    </p:set>
                                    <p:animEffect transition="in" filter="fade">
                                      <p:cBhvr>
                                        <p:cTn id="25" dur="500"/>
                                        <p:tgtEl>
                                          <p:spTgt spid="16"/>
                                        </p:tgtEl>
                                      </p:cBhvr>
                                    </p:animEffect>
                                    <p:anim calcmode="lin" valueType="num">
                                      <p:cBhvr>
                                        <p:cTn id="26" dur="500" fill="hold"/>
                                        <p:tgtEl>
                                          <p:spTgt spid="16"/>
                                        </p:tgtEl>
                                        <p:attrNameLst>
                                          <p:attrName>ppt_x</p:attrName>
                                        </p:attrNameLst>
                                      </p:cBhvr>
                                      <p:tavLst>
                                        <p:tav tm="0">
                                          <p:val>
                                            <p:strVal val="#ppt_x"/>
                                          </p:val>
                                        </p:tav>
                                        <p:tav tm="100000">
                                          <p:val>
                                            <p:strVal val="#ppt_x"/>
                                          </p:val>
                                        </p:tav>
                                      </p:tavLst>
                                    </p:anim>
                                    <p:anim calcmode="lin" valueType="num">
                                      <p:cBhvr>
                                        <p:cTn id="27"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8"/>
                                        </p:tgtEl>
                                        <p:attrNameLst>
                                          <p:attrName>style.visibility</p:attrName>
                                        </p:attrNameLst>
                                      </p:cBhvr>
                                      <p:to>
                                        <p:strVal val="visible"/>
                                      </p:to>
                                    </p:set>
                                    <p:animEffect transition="in" filter="fade">
                                      <p:cBhvr>
                                        <p:cTn id="32" dur="500"/>
                                        <p:tgtEl>
                                          <p:spTgt spid="18"/>
                                        </p:tgtEl>
                                      </p:cBhvr>
                                    </p:animEffect>
                                    <p:anim calcmode="lin" valueType="num">
                                      <p:cBhvr>
                                        <p:cTn id="33" dur="500" fill="hold"/>
                                        <p:tgtEl>
                                          <p:spTgt spid="18"/>
                                        </p:tgtEl>
                                        <p:attrNameLst>
                                          <p:attrName>ppt_x</p:attrName>
                                        </p:attrNameLst>
                                      </p:cBhvr>
                                      <p:tavLst>
                                        <p:tav tm="0">
                                          <p:val>
                                            <p:strVal val="#ppt_x"/>
                                          </p:val>
                                        </p:tav>
                                        <p:tav tm="100000">
                                          <p:val>
                                            <p:strVal val="#ppt_x"/>
                                          </p:val>
                                        </p:tav>
                                      </p:tavLst>
                                    </p:anim>
                                    <p:anim calcmode="lin" valueType="num">
                                      <p:cBhvr>
                                        <p:cTn id="34" dur="500" fill="hold"/>
                                        <p:tgtEl>
                                          <p:spTgt spid="18"/>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53" presetClass="entr" presetSubtype="16" fill="hold" nodeType="clickEffect">
                                  <p:stCondLst>
                                    <p:cond delay="0"/>
                                  </p:stCondLst>
                                  <p:childTnLst>
                                    <p:set>
                                      <p:cBhvr>
                                        <p:cTn id="38" dur="1" fill="hold">
                                          <p:stCondLst>
                                            <p:cond delay="0"/>
                                          </p:stCondLst>
                                        </p:cTn>
                                        <p:tgtEl>
                                          <p:spTgt spid="19"/>
                                        </p:tgtEl>
                                        <p:attrNameLst>
                                          <p:attrName>style.visibility</p:attrName>
                                        </p:attrNameLst>
                                      </p:cBhvr>
                                      <p:to>
                                        <p:strVal val="visible"/>
                                      </p:to>
                                    </p:set>
                                    <p:animEffect transition="in" filter="fade">
                                      <p:cBhvr>
                                        <p:cTn id="39" dur="500"/>
                                        <p:tgtEl>
                                          <p:spTgt spid="19"/>
                                        </p:tgtEl>
                                      </p:cBhvr>
                                    </p:animEffect>
                                    <p:anim calcmode="lin" valueType="num">
                                      <p:cBhvr>
                                        <p:cTn id="40" dur="500" fill="hold"/>
                                        <p:tgtEl>
                                          <p:spTgt spid="19"/>
                                        </p:tgtEl>
                                        <p:attrNameLst>
                                          <p:attrName>ppt_w</p:attrName>
                                        </p:attrNameLst>
                                      </p:cBhvr>
                                      <p:tavLst>
                                        <p:tav tm="0">
                                          <p:val>
                                            <p:fltVal val="0"/>
                                          </p:val>
                                        </p:tav>
                                        <p:tav tm="100000">
                                          <p:val>
                                            <p:strVal val="#ppt_w"/>
                                          </p:val>
                                        </p:tav>
                                      </p:tavLst>
                                    </p:anim>
                                    <p:anim calcmode="lin" valueType="num">
                                      <p:cBhvr>
                                        <p:cTn id="41" dur="500" fill="hold"/>
                                        <p:tgtEl>
                                          <p:spTgt spid="19"/>
                                        </p:tgtEl>
                                        <p:attrNameLst>
                                          <p:attrName>ppt_h</p:attrName>
                                        </p:attrNameLst>
                                      </p:cBhvr>
                                      <p:tavLst>
                                        <p:tav tm="0">
                                          <p:val>
                                            <p:fltVal val="0"/>
                                          </p:val>
                                        </p:tav>
                                        <p:tav tm="100000">
                                          <p:val>
                                            <p:strVal val="#ppt_h"/>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fade">
                                      <p:cBhvr>
                                        <p:cTn id="46" dur="500"/>
                                        <p:tgtEl>
                                          <p:spTgt spid="20"/>
                                        </p:tgtEl>
                                      </p:cBhvr>
                                    </p:animEffect>
                                    <p:anim calcmode="lin" valueType="num">
                                      <p:cBhvr>
                                        <p:cTn id="47" dur="500" fill="hold"/>
                                        <p:tgtEl>
                                          <p:spTgt spid="20"/>
                                        </p:tgtEl>
                                        <p:attrNameLst>
                                          <p:attrName>ppt_x</p:attrName>
                                        </p:attrNameLst>
                                      </p:cBhvr>
                                      <p:tavLst>
                                        <p:tav tm="0">
                                          <p:val>
                                            <p:strVal val="#ppt_x"/>
                                          </p:val>
                                        </p:tav>
                                        <p:tav tm="100000">
                                          <p:val>
                                            <p:strVal val="#ppt_x"/>
                                          </p:val>
                                        </p:tav>
                                      </p:tavLst>
                                    </p:anim>
                                    <p:anim calcmode="lin" valueType="num">
                                      <p:cBhvr>
                                        <p:cTn id="48" dur="500" fill="hold"/>
                                        <p:tgtEl>
                                          <p:spTgt spid="2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3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Vertical lines</a:t>
            </a:r>
            <a:endParaRPr lang="en-US" sz="3450" dirty="0"/>
          </a:p>
        </p:txBody>
      </p:sp>
      <p:sp>
        <p:nvSpPr>
          <p:cNvPr id="4" name="Shape 4"/>
          <p:cNvSpPr txBox="1"/>
          <p:nvPr/>
        </p:nvSpPr>
        <p:spPr>
          <a:xfrm>
            <a:off x="685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5" name="Shape 5"/>
          <p:cNvSpPr txBox="1"/>
          <p:nvPr/>
        </p:nvSpPr>
        <p:spPr>
          <a:xfrm>
            <a:off x="1828800" y="1618488"/>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6" name="Shape 6"/>
          <p:cNvSpPr txBox="1"/>
          <p:nvPr/>
        </p:nvSpPr>
        <p:spPr>
          <a:xfrm>
            <a:off x="685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7" name="Shape 7"/>
          <p:cNvSpPr txBox="1"/>
          <p:nvPr/>
        </p:nvSpPr>
        <p:spPr>
          <a:xfrm>
            <a:off x="1828800" y="2107692"/>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5</a:t>
            </a:r>
            <a:endParaRPr lang="en-US" sz="2250" dirty="0"/>
          </a:p>
        </p:txBody>
      </p:sp>
      <p:sp>
        <p:nvSpPr>
          <p:cNvPr id="8" name="Shape 8"/>
          <p:cNvSpPr txBox="1"/>
          <p:nvPr/>
        </p:nvSpPr>
        <p:spPr>
          <a:xfrm>
            <a:off x="685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9" name="Shape 9"/>
          <p:cNvSpPr txBox="1"/>
          <p:nvPr/>
        </p:nvSpPr>
        <p:spPr>
          <a:xfrm>
            <a:off x="1828800" y="25968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14</a:t>
            </a:r>
            <a:endParaRPr lang="en-US" sz="2250" dirty="0"/>
          </a:p>
        </p:txBody>
      </p:sp>
      <p:sp>
        <p:nvSpPr>
          <p:cNvPr id="10" name="Shape 10"/>
          <p:cNvSpPr txBox="1"/>
          <p:nvPr/>
        </p:nvSpPr>
        <p:spPr>
          <a:xfrm>
            <a:off x="685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a:t>
            </a:r>
            <a:endParaRPr lang="en-US" sz="2250" dirty="0"/>
          </a:p>
        </p:txBody>
      </p:sp>
      <p:sp>
        <p:nvSpPr>
          <p:cNvPr id="11" name="Shape 11"/>
          <p:cNvSpPr txBox="1"/>
          <p:nvPr/>
        </p:nvSpPr>
        <p:spPr>
          <a:xfrm>
            <a:off x="1828800" y="30861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29</a:t>
            </a:r>
            <a:endParaRPr lang="en-US" sz="2250" dirty="0"/>
          </a:p>
        </p:txBody>
      </p:sp>
      <p:sp>
        <p:nvSpPr>
          <p:cNvPr id="12" name="Shape 12"/>
          <p:cNvSpPr txBox="1"/>
          <p:nvPr/>
        </p:nvSpPr>
        <p:spPr>
          <a:xfrm>
            <a:off x="3505200" y="1618488"/>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Similar:</a:t>
            </a:r>
            <a:r>
              <a:rPr lang="en-US" sz="1575" dirty="0">
                <a:solidFill>
                  <a:srgbClr val="16171D"/>
                </a:solidFill>
                <a:latin typeface="Segoe UI"/>
                <a:cs typeface="Segoe UI"/>
              </a:rPr>
              <a:t xml:space="preserve"> one column repeats. </a:t>
            </a:r>
            <a:r>
              <a:rPr lang="en-US" sz="1575" dirty="0" b="1">
                <a:solidFill>
                  <a:srgbClr val="16171D"/>
                </a:solidFill>
                <a:latin typeface="Segoe UI"/>
                <a:cs typeface="Segoe UI"/>
              </a:rPr>
              <a:t xml:space="preserve">Different:</a:t>
            </a:r>
            <a:r>
              <a:rPr lang="en-US" sz="1575" dirty="0">
                <a:solidFill>
                  <a:srgbClr val="16171D"/>
                </a:solidFill>
                <a:latin typeface="Segoe UI"/>
                <a:cs typeface="Segoe UI"/>
              </a:rPr>
              <a:t xml:space="preserve"> this time it's the </a:t>
            </a:r>
            <a:r>
              <a:rPr lang="en-US" sz="1575" dirty="0" b="1" i="1">
                <a:solidFill>
                  <a:srgbClr val="16171D"/>
                </a:solidFill>
                <a:latin typeface="Segoe UI"/>
                <a:cs typeface="Segoe UI"/>
              </a:rPr>
              <a:t xml:space="preserve">x</a:t>
            </a:r>
            <a:r>
              <a:rPr lang="en-US" sz="1575" dirty="0">
                <a:solidFill>
                  <a:srgbClr val="16171D"/>
                </a:solidFill>
                <a:latin typeface="Segoe UI"/>
                <a:cs typeface="Segoe UI"/>
              </a:rPr>
              <a:t xml:space="preserve"> column.</a:t>
            </a:r>
            <a:endParaRPr lang="en-US" sz="1575" dirty="0"/>
          </a:p>
        </p:txBody>
      </p:sp>
      <p:sp>
        <p:nvSpPr>
          <p:cNvPr id="13" name="Shape 13"/>
          <p:cNvSpPr txBox="1"/>
          <p:nvPr/>
        </p:nvSpPr>
        <p:spPr>
          <a:xfrm>
            <a:off x="3505200" y="224866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4" name="Shape 14"/>
          <p:cNvSpPr txBox="1"/>
          <p:nvPr/>
        </p:nvSpPr>
        <p:spPr>
          <a:xfrm>
            <a:off x="3505200" y="2862834"/>
            <a:ext cx="46097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Graph: a </a:t>
            </a:r>
            <a:r>
              <a:rPr lang="en-US" sz="1575" dirty="0" b="1">
                <a:solidFill>
                  <a:srgbClr val="16171D"/>
                </a:solidFill>
                <a:latin typeface="Segoe UI"/>
                <a:cs typeface="Segoe UI"/>
              </a:rPr>
              <a:t xml:space="preserve">vertical line</a:t>
            </a:r>
            <a:r>
              <a:rPr lang="en-US" sz="1575" dirty="0">
                <a:solidFill>
                  <a:srgbClr val="16171D"/>
                </a:solidFill>
                <a:latin typeface="Segoe UI"/>
                <a:cs typeface="Segoe UI"/>
              </a:rPr>
              <a:t xml:space="preserve"> through (−2, 0).</a:t>
            </a:r>
            <a:endParaRPr lang="en-US" sz="1575" dirty="0"/>
          </a:p>
        </p:txBody>
      </p:sp>
      <p:sp>
        <p:nvSpPr>
          <p:cNvPr id="15" name="Shape 15"/>
          <p:cNvSpPr txBox="1"/>
          <p:nvPr/>
        </p:nvSpPr>
        <p:spPr>
          <a:xfrm>
            <a:off x="3505200" y="3252978"/>
            <a:ext cx="4609795" cy="763524"/>
          </a:xfrm>
          <a:prstGeom prst="rect">
            <a:avLst/>
          </a:prstGeom>
          <a:noFill/>
          <a:ln>
            <a:noFill/>
          </a:ln>
        </p:spPr>
        <p:txBody>
          <a:bodyPr wrap="square" lIns="36576" tIns="27432" rIns="36576" bIns="27432" anchor="t">
            <a:noAutofit/>
          </a:bodyPr>
          <a:lstStyle/>
          <a:p>
            <a:pPr algn="l">
              <a:lnSpc>
                <a:spcPct val="100000"/>
              </a:lnSpc>
            </a:pP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14 − 5</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−2 − (−2)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9</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0</a:t>
            </a:r>
            <a:endParaRPr lang="en-US" sz="2325" dirty="0"/>
          </a:p>
        </p:txBody>
      </p:sp>
      <p:sp>
        <p:nvSpPr>
          <p:cNvPr id="16" name="Shape 16"/>
          <p:cNvSpPr txBox="1"/>
          <p:nvPr/>
        </p:nvSpPr>
        <p:spPr>
          <a:xfrm>
            <a:off x="3505200" y="4111752"/>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You can't divide by 0, so the slope is </a:t>
            </a:r>
            <a:r>
              <a:rPr lang="en-US" sz="1575" dirty="0" b="1">
                <a:solidFill>
                  <a:srgbClr val="C9561F"/>
                </a:solidFill>
                <a:latin typeface="Segoe UI"/>
                <a:cs typeface="Segoe UI"/>
              </a:rPr>
              <a:t xml:space="preserve">undefined</a:t>
            </a:r>
            <a:r>
              <a:rPr lang="en-US" sz="1575" dirty="0">
                <a:solidFill>
                  <a:srgbClr val="16171D"/>
                </a:solidFill>
                <a:latin typeface="Segoe UI"/>
                <a:cs typeface="Segoe UI"/>
              </a:rPr>
              <a:t xml:space="preserve">.</a:t>
            </a:r>
            <a:endParaRPr lang="en-US" sz="1575" dirty="0"/>
          </a:p>
        </p:txBody>
      </p:sp>
      <p:sp>
        <p:nvSpPr>
          <p:cNvPr id="17" name="Shape 17"/>
          <p:cNvSpPr txBox="1"/>
          <p:nvPr/>
        </p:nvSpPr>
        <p:spPr>
          <a:xfrm>
            <a:off x="3505200" y="4741926"/>
            <a:ext cx="46097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There is </a:t>
            </a:r>
            <a:r>
              <a:rPr lang="en-US" sz="1575" dirty="0" b="1">
                <a:solidFill>
                  <a:srgbClr val="16171D"/>
                </a:solidFill>
                <a:latin typeface="Segoe UI"/>
                <a:cs typeface="Segoe UI"/>
              </a:rPr>
              <a:t xml:space="preserve">no </a:t>
            </a: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The line runs straight up and down and never crosses the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-axis.</a:t>
            </a:r>
            <a:endParaRPr lang="en-US" sz="1575" dirty="0"/>
          </a:p>
        </p:txBody>
      </p:sp>
      <p:sp>
        <p:nvSpPr>
          <p:cNvPr id="18" name="Shape 18"/>
          <p:cNvSpPr/>
          <p:nvPr/>
        </p:nvSpPr>
        <p:spPr>
          <a:xfrm>
            <a:off x="8648395" y="1618488"/>
            <a:ext cx="2857500" cy="342900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19" name="Line 19"/>
          <p:cNvCxnSpPr/>
          <p:nvPr/>
        </p:nvCxnSpPr>
        <p:spPr>
          <a:xfrm>
            <a:off x="8972245" y="1732788"/>
            <a:ext cx="0" cy="3067050"/>
          </a:xfrm>
          <a:prstGeom prst="line">
            <a:avLst/>
          </a:prstGeom>
          <a:ln w="9525" cap="flat">
            <a:solidFill>
              <a:srgbClr val="E6E8F2"/>
            </a:solidFill>
          </a:ln>
        </p:spPr>
      </p:cxnSp>
      <p:cxnSp>
        <p:nvCxnSpPr>
          <p:cNvPr id="20" name="Line 20"/>
          <p:cNvCxnSpPr/>
          <p:nvPr/>
        </p:nvCxnSpPr>
        <p:spPr>
          <a:xfrm>
            <a:off x="9274664" y="1732788"/>
            <a:ext cx="0" cy="3067050"/>
          </a:xfrm>
          <a:prstGeom prst="line">
            <a:avLst/>
          </a:prstGeom>
          <a:ln w="9525" cap="flat">
            <a:solidFill>
              <a:srgbClr val="E6E8F2"/>
            </a:solidFill>
          </a:ln>
        </p:spPr>
      </p:cxnSp>
      <p:cxnSp>
        <p:nvCxnSpPr>
          <p:cNvPr id="21" name="Line 21"/>
          <p:cNvCxnSpPr/>
          <p:nvPr/>
        </p:nvCxnSpPr>
        <p:spPr>
          <a:xfrm>
            <a:off x="9577083" y="1732788"/>
            <a:ext cx="0" cy="3067050"/>
          </a:xfrm>
          <a:prstGeom prst="line">
            <a:avLst/>
          </a:prstGeom>
          <a:ln w="9525" cap="flat">
            <a:solidFill>
              <a:srgbClr val="E6E8F2"/>
            </a:solidFill>
          </a:ln>
        </p:spPr>
      </p:cxnSp>
      <p:cxnSp>
        <p:nvCxnSpPr>
          <p:cNvPr id="22" name="Line 22"/>
          <p:cNvCxnSpPr/>
          <p:nvPr/>
        </p:nvCxnSpPr>
        <p:spPr>
          <a:xfrm>
            <a:off x="9879501" y="1732788"/>
            <a:ext cx="0" cy="3067050"/>
          </a:xfrm>
          <a:prstGeom prst="line">
            <a:avLst/>
          </a:prstGeom>
          <a:ln w="9525" cap="flat">
            <a:solidFill>
              <a:srgbClr val="E6E8F2"/>
            </a:solidFill>
          </a:ln>
        </p:spPr>
      </p:cxnSp>
      <p:cxnSp>
        <p:nvCxnSpPr>
          <p:cNvPr id="23" name="Line 23"/>
          <p:cNvCxnSpPr/>
          <p:nvPr/>
        </p:nvCxnSpPr>
        <p:spPr>
          <a:xfrm>
            <a:off x="10181920" y="1732788"/>
            <a:ext cx="0" cy="3067050"/>
          </a:xfrm>
          <a:prstGeom prst="line">
            <a:avLst/>
          </a:prstGeom>
          <a:ln w="9525" cap="flat">
            <a:solidFill>
              <a:srgbClr val="E6E8F2"/>
            </a:solidFill>
          </a:ln>
        </p:spPr>
      </p:cxnSp>
      <p:cxnSp>
        <p:nvCxnSpPr>
          <p:cNvPr id="24" name="Line 24"/>
          <p:cNvCxnSpPr/>
          <p:nvPr/>
        </p:nvCxnSpPr>
        <p:spPr>
          <a:xfrm>
            <a:off x="10484339" y="1732788"/>
            <a:ext cx="0" cy="3067050"/>
          </a:xfrm>
          <a:prstGeom prst="line">
            <a:avLst/>
          </a:prstGeom>
          <a:ln w="9525" cap="flat">
            <a:solidFill>
              <a:srgbClr val="E6E8F2"/>
            </a:solidFill>
          </a:ln>
        </p:spPr>
      </p:cxnSp>
      <p:cxnSp>
        <p:nvCxnSpPr>
          <p:cNvPr id="25" name="Line 25"/>
          <p:cNvCxnSpPr/>
          <p:nvPr/>
        </p:nvCxnSpPr>
        <p:spPr>
          <a:xfrm>
            <a:off x="10786758" y="1732788"/>
            <a:ext cx="0" cy="3067050"/>
          </a:xfrm>
          <a:prstGeom prst="line">
            <a:avLst/>
          </a:prstGeom>
          <a:ln w="9525" cap="flat">
            <a:solidFill>
              <a:srgbClr val="E6E8F2"/>
            </a:solidFill>
          </a:ln>
        </p:spPr>
      </p:cxnSp>
      <p:cxnSp>
        <p:nvCxnSpPr>
          <p:cNvPr id="26" name="Line 26"/>
          <p:cNvCxnSpPr/>
          <p:nvPr/>
        </p:nvCxnSpPr>
        <p:spPr>
          <a:xfrm>
            <a:off x="11089176" y="1732788"/>
            <a:ext cx="0" cy="3067050"/>
          </a:xfrm>
          <a:prstGeom prst="line">
            <a:avLst/>
          </a:prstGeom>
          <a:ln w="9525" cap="flat">
            <a:solidFill>
              <a:srgbClr val="E6E8F2"/>
            </a:solidFill>
          </a:ln>
        </p:spPr>
      </p:cxnSp>
      <p:cxnSp>
        <p:nvCxnSpPr>
          <p:cNvPr id="27" name="Line 27"/>
          <p:cNvCxnSpPr/>
          <p:nvPr/>
        </p:nvCxnSpPr>
        <p:spPr>
          <a:xfrm>
            <a:off x="11391595" y="1732788"/>
            <a:ext cx="0" cy="3067050"/>
          </a:xfrm>
          <a:prstGeom prst="line">
            <a:avLst/>
          </a:prstGeom>
          <a:ln w="9525" cap="flat">
            <a:solidFill>
              <a:srgbClr val="E6E8F2"/>
            </a:solidFill>
          </a:ln>
        </p:spPr>
      </p:cxnSp>
      <p:cxnSp>
        <p:nvCxnSpPr>
          <p:cNvPr id="28" name="Line 28"/>
          <p:cNvCxnSpPr/>
          <p:nvPr/>
        </p:nvCxnSpPr>
        <p:spPr>
          <a:xfrm>
            <a:off x="8972245" y="4799838"/>
            <a:ext cx="2419350" cy="0"/>
          </a:xfrm>
          <a:prstGeom prst="line">
            <a:avLst/>
          </a:prstGeom>
          <a:ln w="9525" cap="flat">
            <a:solidFill>
              <a:srgbClr val="E6E8F2"/>
            </a:solidFill>
          </a:ln>
        </p:spPr>
      </p:cxnSp>
      <p:cxnSp>
        <p:nvCxnSpPr>
          <p:cNvPr id="29" name="Line 29"/>
          <p:cNvCxnSpPr/>
          <p:nvPr/>
        </p:nvCxnSpPr>
        <p:spPr>
          <a:xfrm>
            <a:off x="8972245" y="4416457"/>
            <a:ext cx="2419350" cy="0"/>
          </a:xfrm>
          <a:prstGeom prst="line">
            <a:avLst/>
          </a:prstGeom>
          <a:ln w="9525" cap="flat">
            <a:solidFill>
              <a:srgbClr val="E6E8F2"/>
            </a:solidFill>
          </a:ln>
        </p:spPr>
      </p:cxnSp>
      <p:cxnSp>
        <p:nvCxnSpPr>
          <p:cNvPr id="30" name="Line 30"/>
          <p:cNvCxnSpPr/>
          <p:nvPr/>
        </p:nvCxnSpPr>
        <p:spPr>
          <a:xfrm>
            <a:off x="8972245" y="4033075"/>
            <a:ext cx="2419350" cy="0"/>
          </a:xfrm>
          <a:prstGeom prst="line">
            <a:avLst/>
          </a:prstGeom>
          <a:ln w="9525" cap="flat">
            <a:solidFill>
              <a:srgbClr val="E6E8F2"/>
            </a:solidFill>
          </a:ln>
        </p:spPr>
      </p:cxnSp>
      <p:cxnSp>
        <p:nvCxnSpPr>
          <p:cNvPr id="31" name="Line 31"/>
          <p:cNvCxnSpPr/>
          <p:nvPr/>
        </p:nvCxnSpPr>
        <p:spPr>
          <a:xfrm>
            <a:off x="8972245" y="3649694"/>
            <a:ext cx="2419350" cy="0"/>
          </a:xfrm>
          <a:prstGeom prst="line">
            <a:avLst/>
          </a:prstGeom>
          <a:ln w="9525" cap="flat">
            <a:solidFill>
              <a:srgbClr val="E6E8F2"/>
            </a:solidFill>
          </a:ln>
        </p:spPr>
      </p:cxnSp>
      <p:cxnSp>
        <p:nvCxnSpPr>
          <p:cNvPr id="32" name="Line 32"/>
          <p:cNvCxnSpPr/>
          <p:nvPr/>
        </p:nvCxnSpPr>
        <p:spPr>
          <a:xfrm>
            <a:off x="8972245" y="3266313"/>
            <a:ext cx="2419350" cy="0"/>
          </a:xfrm>
          <a:prstGeom prst="line">
            <a:avLst/>
          </a:prstGeom>
          <a:ln w="9525" cap="flat">
            <a:solidFill>
              <a:srgbClr val="E6E8F2"/>
            </a:solidFill>
          </a:ln>
        </p:spPr>
      </p:cxnSp>
      <p:cxnSp>
        <p:nvCxnSpPr>
          <p:cNvPr id="33" name="Line 33"/>
          <p:cNvCxnSpPr/>
          <p:nvPr/>
        </p:nvCxnSpPr>
        <p:spPr>
          <a:xfrm>
            <a:off x="8972245" y="2882932"/>
            <a:ext cx="2419350" cy="0"/>
          </a:xfrm>
          <a:prstGeom prst="line">
            <a:avLst/>
          </a:prstGeom>
          <a:ln w="9525" cap="flat">
            <a:solidFill>
              <a:srgbClr val="E6E8F2"/>
            </a:solidFill>
          </a:ln>
        </p:spPr>
      </p:cxnSp>
      <p:cxnSp>
        <p:nvCxnSpPr>
          <p:cNvPr id="34" name="Line 34"/>
          <p:cNvCxnSpPr/>
          <p:nvPr/>
        </p:nvCxnSpPr>
        <p:spPr>
          <a:xfrm>
            <a:off x="8972245" y="2499550"/>
            <a:ext cx="2419350" cy="0"/>
          </a:xfrm>
          <a:prstGeom prst="line">
            <a:avLst/>
          </a:prstGeom>
          <a:ln w="9525" cap="flat">
            <a:solidFill>
              <a:srgbClr val="E6E8F2"/>
            </a:solidFill>
          </a:ln>
        </p:spPr>
      </p:cxnSp>
      <p:cxnSp>
        <p:nvCxnSpPr>
          <p:cNvPr id="35" name="Line 35"/>
          <p:cNvCxnSpPr/>
          <p:nvPr/>
        </p:nvCxnSpPr>
        <p:spPr>
          <a:xfrm>
            <a:off x="8972245" y="2116169"/>
            <a:ext cx="2419350" cy="0"/>
          </a:xfrm>
          <a:prstGeom prst="line">
            <a:avLst/>
          </a:prstGeom>
          <a:ln w="9525" cap="flat">
            <a:solidFill>
              <a:srgbClr val="E6E8F2"/>
            </a:solidFill>
          </a:ln>
        </p:spPr>
      </p:cxnSp>
      <p:cxnSp>
        <p:nvCxnSpPr>
          <p:cNvPr id="36" name="Line 36"/>
          <p:cNvCxnSpPr/>
          <p:nvPr/>
        </p:nvCxnSpPr>
        <p:spPr>
          <a:xfrm>
            <a:off x="8972245" y="1732788"/>
            <a:ext cx="2419350" cy="0"/>
          </a:xfrm>
          <a:prstGeom prst="line">
            <a:avLst/>
          </a:prstGeom>
          <a:ln w="9525" cap="flat">
            <a:solidFill>
              <a:srgbClr val="E6E8F2"/>
            </a:solidFill>
          </a:ln>
        </p:spPr>
      </p:cxnSp>
      <p:cxnSp>
        <p:nvCxnSpPr>
          <p:cNvPr id="37" name="Line 37"/>
          <p:cNvCxnSpPr/>
          <p:nvPr/>
        </p:nvCxnSpPr>
        <p:spPr>
          <a:xfrm>
            <a:off x="10484339" y="1732788"/>
            <a:ext cx="0" cy="3067050"/>
          </a:xfrm>
          <a:prstGeom prst="line">
            <a:avLst/>
          </a:prstGeom>
          <a:ln w="19050" cap="flat">
            <a:solidFill>
              <a:srgbClr val="5F6272"/>
            </a:solidFill>
          </a:ln>
        </p:spPr>
      </p:cxnSp>
      <p:cxnSp>
        <p:nvCxnSpPr>
          <p:cNvPr id="38" name="Line 38"/>
          <p:cNvCxnSpPr/>
          <p:nvPr/>
        </p:nvCxnSpPr>
        <p:spPr>
          <a:xfrm>
            <a:off x="8972245" y="4799838"/>
            <a:ext cx="2419350" cy="0"/>
          </a:xfrm>
          <a:prstGeom prst="line">
            <a:avLst/>
          </a:prstGeom>
          <a:ln w="19050" cap="flat">
            <a:solidFill>
              <a:srgbClr val="5F6272"/>
            </a:solidFill>
          </a:ln>
        </p:spPr>
      </p:cxnSp>
      <p:sp>
        <p:nvSpPr>
          <p:cNvPr id="39" name="Shape 39"/>
          <p:cNvSpPr txBox="1"/>
          <p:nvPr/>
        </p:nvSpPr>
        <p:spPr>
          <a:xfrm>
            <a:off x="869792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−5</a:t>
            </a:r>
            <a:endParaRPr lang="en-US" sz="975" dirty="0"/>
          </a:p>
        </p:txBody>
      </p:sp>
      <p:sp>
        <p:nvSpPr>
          <p:cNvPr id="40" name="Shape 40"/>
          <p:cNvSpPr txBox="1"/>
          <p:nvPr/>
        </p:nvSpPr>
        <p:spPr>
          <a:xfrm>
            <a:off x="9000344"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41" name="Shape 41"/>
          <p:cNvSpPr txBox="1"/>
          <p:nvPr/>
        </p:nvSpPr>
        <p:spPr>
          <a:xfrm>
            <a:off x="9302763"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2" name="Shape 42"/>
          <p:cNvSpPr txBox="1"/>
          <p:nvPr/>
        </p:nvSpPr>
        <p:spPr>
          <a:xfrm>
            <a:off x="9605181"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3" name="Shape 43"/>
          <p:cNvSpPr txBox="1"/>
          <p:nvPr/>
        </p:nvSpPr>
        <p:spPr>
          <a:xfrm>
            <a:off x="9907600"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4" name="Shape 44"/>
          <p:cNvSpPr txBox="1"/>
          <p:nvPr/>
        </p:nvSpPr>
        <p:spPr>
          <a:xfrm>
            <a:off x="10210019"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45" name="Shape 45"/>
          <p:cNvSpPr txBox="1"/>
          <p:nvPr/>
        </p:nvSpPr>
        <p:spPr>
          <a:xfrm>
            <a:off x="10512438"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a:t>
            </a:r>
            <a:endParaRPr lang="en-US" sz="975" dirty="0"/>
          </a:p>
        </p:txBody>
      </p:sp>
      <p:sp>
        <p:nvSpPr>
          <p:cNvPr id="46" name="Shape 46"/>
          <p:cNvSpPr txBox="1"/>
          <p:nvPr/>
        </p:nvSpPr>
        <p:spPr>
          <a:xfrm>
            <a:off x="10814856"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47" name="Shape 47"/>
          <p:cNvSpPr txBox="1"/>
          <p:nvPr/>
        </p:nvSpPr>
        <p:spPr>
          <a:xfrm>
            <a:off x="11117275" y="4818888"/>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a:t>
            </a:r>
            <a:endParaRPr lang="en-US" sz="975" dirty="0"/>
          </a:p>
        </p:txBody>
      </p:sp>
      <p:sp>
        <p:nvSpPr>
          <p:cNvPr id="48" name="Shape 48"/>
          <p:cNvSpPr txBox="1"/>
          <p:nvPr/>
        </p:nvSpPr>
        <p:spPr>
          <a:xfrm>
            <a:off x="8405317" y="470839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49" name="Shape 49"/>
          <p:cNvSpPr txBox="1"/>
          <p:nvPr/>
        </p:nvSpPr>
        <p:spPr>
          <a:xfrm>
            <a:off x="8405317" y="3941636"/>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8</a:t>
            </a:r>
            <a:endParaRPr lang="en-US" sz="975" dirty="0"/>
          </a:p>
        </p:txBody>
      </p:sp>
      <p:sp>
        <p:nvSpPr>
          <p:cNvPr id="50" name="Shape 50"/>
          <p:cNvSpPr txBox="1"/>
          <p:nvPr/>
        </p:nvSpPr>
        <p:spPr>
          <a:xfrm>
            <a:off x="8405317" y="3174873"/>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16</a:t>
            </a:r>
            <a:endParaRPr lang="en-US" sz="975" dirty="0"/>
          </a:p>
        </p:txBody>
      </p:sp>
      <p:sp>
        <p:nvSpPr>
          <p:cNvPr id="51" name="Shape 51"/>
          <p:cNvSpPr txBox="1"/>
          <p:nvPr/>
        </p:nvSpPr>
        <p:spPr>
          <a:xfrm>
            <a:off x="8405317" y="2408110"/>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a:t>
            </a:r>
            <a:endParaRPr lang="en-US" sz="975" dirty="0"/>
          </a:p>
        </p:txBody>
      </p:sp>
      <p:sp>
        <p:nvSpPr>
          <p:cNvPr id="52" name="Shape 52"/>
          <p:cNvSpPr txBox="1"/>
          <p:nvPr/>
        </p:nvSpPr>
        <p:spPr>
          <a:xfrm>
            <a:off x="8405317" y="1641348"/>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32</a:t>
            </a:r>
            <a:endParaRPr lang="en-US" sz="975" dirty="0"/>
          </a:p>
        </p:txBody>
      </p:sp>
      <p:sp>
        <p:nvSpPr>
          <p:cNvPr id="53" name="Shape 53"/>
          <p:cNvSpPr/>
          <p:nvPr/>
        </p:nvSpPr>
        <p:spPr>
          <a:xfrm>
            <a:off x="9827114" y="4268224"/>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4" name="Shape 54"/>
          <p:cNvSpPr/>
          <p:nvPr/>
        </p:nvSpPr>
        <p:spPr>
          <a:xfrm>
            <a:off x="9827114" y="340561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sp>
        <p:nvSpPr>
          <p:cNvPr id="55" name="Shape 55"/>
          <p:cNvSpPr/>
          <p:nvPr/>
        </p:nvSpPr>
        <p:spPr>
          <a:xfrm>
            <a:off x="9827114" y="1967936"/>
            <a:ext cx="104775" cy="104775"/>
          </a:xfrm>
          <a:prstGeom prst="ellipse">
            <a:avLst/>
          </a:prstGeom>
          <a:solidFill>
            <a:srgbClr val="3050B8"/>
          </a:solidFill>
          <a:ln>
            <a:noFill/>
          </a:ln>
        </p:spPr>
        <p:txBody>
          <a:bodyPr wrap="square" lIns="36576" tIns="27432" rIns="36576" bIns="27432" anchor="t">
            <a:noAutofit/>
          </a:bodyPr>
          <a:lstStyle/>
          <a:p>
            <a:pPr algn="l">
              <a:lnSpc>
                <a:spcPct val="100000"/>
              </a:lnSpc>
            </a:pPr>
            <a:endParaRPr lang="en-US" sz="1950" dirty="0"/>
          </a:p>
        </p:txBody>
      </p:sp>
      <p:cxnSp>
        <p:nvCxnSpPr>
          <p:cNvPr id="56" name="Line 56"/>
          <p:cNvCxnSpPr/>
          <p:nvPr/>
        </p:nvCxnSpPr>
        <p:spPr>
          <a:xfrm flipV="1">
            <a:off x="9879501" y="1732788"/>
            <a:ext cx="0" cy="3067050"/>
          </a:xfrm>
          <a:prstGeom prst="line">
            <a:avLst/>
          </a:prstGeom>
          <a:ln w="38100" cap="rnd">
            <a:solidFill>
              <a:srgbClr val="16171D"/>
            </a:solidFill>
          </a:ln>
        </p:spPr>
      </p:cxnSp>
      <p:sp>
        <p:nvSpPr>
          <p:cNvPr id="57" name="Shape 57"/>
          <p:cNvSpPr txBox="1"/>
          <p:nvPr/>
        </p:nvSpPr>
        <p:spPr>
          <a:xfrm>
            <a:off x="9955701" y="1751838"/>
            <a:ext cx="2377440" cy="228600"/>
          </a:xfrm>
          <a:prstGeom prst="rect">
            <a:avLst/>
          </a:prstGeom>
          <a:noFill/>
          <a:ln>
            <a:noFill/>
          </a:ln>
        </p:spPr>
        <p:txBody>
          <a:bodyPr wrap="square" lIns="0" tIns="0" rIns="0" bIns="0" anchor="t">
            <a:noAutofit/>
          </a:bodyPr>
          <a:lstStyle/>
          <a:p>
            <a:pPr algn="l">
              <a:lnSpc>
                <a:spcPct val="100000"/>
              </a:lnSpc>
            </a:pPr>
            <a:r>
              <a:rPr lang="en-US" sz="1275" dirty="0" i="1">
                <a:solidFill>
                  <a:srgbClr val="16171D"/>
                </a:solidFill>
                <a:latin typeface="Cambria"/>
                <a:cs typeface="Cambria"/>
              </a:rPr>
              <a:t xml:space="preserve">x = −2</a:t>
            </a:r>
            <a:endParaRPr lang="en-US" sz="1275" dirty="0"/>
          </a:p>
        </p:txBody>
      </p:sp>
      <p:sp>
        <p:nvSpPr>
          <p:cNvPr id="58" name="Slide Number 5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12"/>
                                        </p:tgtEl>
                                        <p:attrNameLst>
                                          <p:attrName>style.visibility</p:attrName>
                                        </p:attrNameLst>
                                      </p:cBhvr>
                                      <p:to>
                                        <p:strVal val="visible"/>
                                      </p:to>
                                    </p:set>
                                    <p:animEffect transition="in" filter="fade">
                                      <p:cBhvr>
                                        <p:cTn id="4" dur="500"/>
                                        <p:tgtEl>
                                          <p:spTgt spid="12"/>
                                        </p:tgtEl>
                                      </p:cBhvr>
                                    </p:animEffect>
                                    <p:anim calcmode="lin" valueType="num">
                                      <p:cBhvr>
                                        <p:cTn id="5" dur="500" fill="hold"/>
                                        <p:tgtEl>
                                          <p:spTgt spid="12"/>
                                        </p:tgtEl>
                                        <p:attrNameLst>
                                          <p:attrName>ppt_x</p:attrName>
                                        </p:attrNameLst>
                                      </p:cBhvr>
                                      <p:tavLst>
                                        <p:tav tm="0">
                                          <p:val>
                                            <p:strVal val="#ppt_x"/>
                                          </p:val>
                                        </p:tav>
                                        <p:tav tm="100000">
                                          <p:val>
                                            <p:strVal val="#ppt_x"/>
                                          </p:val>
                                        </p:tav>
                                      </p:tavLst>
                                    </p:anim>
                                    <p:anim calcmode="lin" valueType="num">
                                      <p:cBhvr>
                                        <p:cTn id="6"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13"/>
                                        </p:tgtEl>
                                        <p:attrNameLst>
                                          <p:attrName>style.visibility</p:attrName>
                                        </p:attrNameLst>
                                      </p:cBhvr>
                                      <p:to>
                                        <p:strVal val="visible"/>
                                      </p:to>
                                    </p:set>
                                    <p:animEffect transition="in" filter="fade">
                                      <p:cBhvr>
                                        <p:cTn id="11" dur="500"/>
                                        <p:tgtEl>
                                          <p:spTgt spid="13"/>
                                        </p:tgtEl>
                                      </p:cBhvr>
                                    </p:animEffect>
                                    <p:anim calcmode="lin" valueType="num">
                                      <p:cBhvr>
                                        <p:cTn id="12" dur="500" fill="hold"/>
                                        <p:tgtEl>
                                          <p:spTgt spid="13"/>
                                        </p:tgtEl>
                                        <p:attrNameLst>
                                          <p:attrName>ppt_w</p:attrName>
                                        </p:attrNameLst>
                                      </p:cBhvr>
                                      <p:tavLst>
                                        <p:tav tm="0">
                                          <p:val>
                                            <p:fltVal val="0"/>
                                          </p:val>
                                        </p:tav>
                                        <p:tav tm="100000">
                                          <p:val>
                                            <p:strVal val="#ppt_w"/>
                                          </p:val>
                                        </p:tav>
                                      </p:tavLst>
                                    </p:anim>
                                    <p:anim calcmode="lin" valueType="num">
                                      <p:cBhvr>
                                        <p:cTn id="13"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4"/>
                                        </p:tgtEl>
                                        <p:attrNameLst>
                                          <p:attrName>style.visibility</p:attrName>
                                        </p:attrNameLst>
                                      </p:cBhvr>
                                      <p:to>
                                        <p:strVal val="visible"/>
                                      </p:to>
                                    </p:set>
                                    <p:animEffect transition="in" filter="fade">
                                      <p:cBhvr>
                                        <p:cTn id="18" dur="500"/>
                                        <p:tgtEl>
                                          <p:spTgt spid="14"/>
                                        </p:tgtEl>
                                      </p:cBhvr>
                                    </p:animEffect>
                                    <p:anim calcmode="lin" valueType="num">
                                      <p:cBhvr>
                                        <p:cTn id="19" dur="500" fill="hold"/>
                                        <p:tgtEl>
                                          <p:spTgt spid="14"/>
                                        </p:tgtEl>
                                        <p:attrNameLst>
                                          <p:attrName>ppt_x</p:attrName>
                                        </p:attrNameLst>
                                      </p:cBhvr>
                                      <p:tavLst>
                                        <p:tav tm="0">
                                          <p:val>
                                            <p:strVal val="#ppt_x"/>
                                          </p:val>
                                        </p:tav>
                                        <p:tav tm="100000">
                                          <p:val>
                                            <p:strVal val="#ppt_x"/>
                                          </p:val>
                                        </p:tav>
                                      </p:tavLst>
                                    </p:anim>
                                    <p:anim calcmode="lin" valueType="num">
                                      <p:cBhvr>
                                        <p:cTn id="20"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15"/>
                                        </p:tgtEl>
                                        <p:attrNameLst>
                                          <p:attrName>style.visibility</p:attrName>
                                        </p:attrNameLst>
                                      </p:cBhvr>
                                      <p:to>
                                        <p:strVal val="visible"/>
                                      </p:to>
                                    </p:set>
                                    <p:animEffect transition="in" filter="wipe(left)">
                                      <p:cBhvr>
                                        <p:cTn id="25" dur="700"/>
                                        <p:tgtEl>
                                          <p:spTgt spid="15"/>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500"/>
                                        <p:tgtEl>
                                          <p:spTgt spid="16"/>
                                        </p:tgtEl>
                                      </p:cBhvr>
                                    </p:animEffect>
                                    <p:anim calcmode="lin" valueType="num">
                                      <p:cBhvr>
                                        <p:cTn id="31" dur="500" fill="hold"/>
                                        <p:tgtEl>
                                          <p:spTgt spid="16"/>
                                        </p:tgtEl>
                                        <p:attrNameLst>
                                          <p:attrName>ppt_x</p:attrName>
                                        </p:attrNameLst>
                                      </p:cBhvr>
                                      <p:tavLst>
                                        <p:tav tm="0">
                                          <p:val>
                                            <p:strVal val="#ppt_x"/>
                                          </p:val>
                                        </p:tav>
                                        <p:tav tm="100000">
                                          <p:val>
                                            <p:strVal val="#ppt_x"/>
                                          </p:val>
                                        </p:tav>
                                      </p:tavLst>
                                    </p:anim>
                                    <p:anim calcmode="lin" valueType="num">
                                      <p:cBhvr>
                                        <p:cTn id="32" dur="500" fill="hold"/>
                                        <p:tgtEl>
                                          <p:spTgt spid="16"/>
                                        </p:tgtEl>
                                        <p:attrNameLst>
                                          <p:attrName>ppt_y</p:attrName>
                                        </p:attrNameLst>
                                      </p:cBhvr>
                                      <p:tavLst>
                                        <p:tav tm="0">
                                          <p:val>
                                            <p:strVal val="#ppt_y+.1"/>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0" presetID="42"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anim calcmode="lin" valueType="num">
                                      <p:cBhvr>
                                        <p:cTn id="38" dur="500" fill="hold"/>
                                        <p:tgtEl>
                                          <p:spTgt spid="17"/>
                                        </p:tgtEl>
                                        <p:attrNameLst>
                                          <p:attrName>ppt_x</p:attrName>
                                        </p:attrNameLst>
                                      </p:cBhvr>
                                      <p:tavLst>
                                        <p:tav tm="0">
                                          <p:val>
                                            <p:strVal val="#ppt_x"/>
                                          </p:val>
                                        </p:tav>
                                        <p:tav tm="100000">
                                          <p:val>
                                            <p:strVal val="#ppt_x"/>
                                          </p:val>
                                        </p:tav>
                                      </p:tavLst>
                                    </p:anim>
                                    <p:anim calcmode="lin" valueType="num">
                                      <p:cBhvr>
                                        <p:cTn id="39"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8" fill="hold">
                      <p:stCondLst>
                        <p:cond delay="indefinite"/>
                      </p:stCondLst>
                      <p:childTnLst>
                        <p:par>
                          <p:cTn id="49" fill="hold">
                            <p:stCondLst>
                              <p:cond delay="0"/>
                            </p:stCondLst>
                            <p:childTnLst>
                              <p:par>
                                <p:cTn id="47" presetID="53" presetClass="entr" presetSubtype="16" fill="hold" nodeType="clickEffect">
                                  <p:stCondLst>
                                    <p:cond delay="0"/>
                                  </p:stCondLst>
                                  <p:childTnLst>
                                    <p:set>
                                      <p:cBhvr>
                                        <p:cTn id="43" dur="1" fill="hold">
                                          <p:stCondLst>
                                            <p:cond delay="0"/>
                                          </p:stCondLst>
                                        </p:cTn>
                                        <p:tgtEl>
                                          <p:spTgt spid="53"/>
                                        </p:tgtEl>
                                        <p:attrNameLst>
                                          <p:attrName>style.visibility</p:attrName>
                                        </p:attrNameLst>
                                      </p:cBhvr>
                                      <p:to>
                                        <p:strVal val="visible"/>
                                      </p:to>
                                    </p:set>
                                    <p:animEffect transition="in" filter="fade">
                                      <p:cBhvr>
                                        <p:cTn id="44" dur="500"/>
                                        <p:tgtEl>
                                          <p:spTgt spid="53"/>
                                        </p:tgtEl>
                                      </p:cBhvr>
                                    </p:animEffect>
                                    <p:anim calcmode="lin" valueType="num">
                                      <p:cBhvr>
                                        <p:cTn id="45" dur="500" fill="hold"/>
                                        <p:tgtEl>
                                          <p:spTgt spid="53"/>
                                        </p:tgtEl>
                                        <p:attrNameLst>
                                          <p:attrName>ppt_w</p:attrName>
                                        </p:attrNameLst>
                                      </p:cBhvr>
                                      <p:tavLst>
                                        <p:tav tm="0">
                                          <p:val>
                                            <p:fltVal val="0"/>
                                          </p:val>
                                        </p:tav>
                                        <p:tav tm="100000">
                                          <p:val>
                                            <p:strVal val="#ppt_w"/>
                                          </p:val>
                                        </p:tav>
                                      </p:tavLst>
                                    </p:anim>
                                    <p:anim calcmode="lin" valueType="num">
                                      <p:cBhvr>
                                        <p:cTn id="46" dur="500" fill="hold"/>
                                        <p:tgtEl>
                                          <p:spTgt spid="53"/>
                                        </p:tgtEl>
                                        <p:attrNameLst>
                                          <p:attrName>ppt_h</p:attrName>
                                        </p:attrNameLst>
                                      </p:cBhvr>
                                      <p:tavLst>
                                        <p:tav tm="0">
                                          <p:val>
                                            <p:fltVal val="0"/>
                                          </p:val>
                                        </p:tav>
                                        <p:tav tm="100000">
                                          <p:val>
                                            <p:strVal val="#ppt_h"/>
                                          </p:val>
                                        </p:tav>
                                      </p:tavLst>
                                    </p:anim>
                                  </p:childTnLst>
                                </p:cTn>
                              </p:par>
                            </p:childTnLst>
                          </p:cTn>
                        </p:par>
                      </p:childTnLst>
                    </p:cTn>
                  </p:par>
                  <p:par>
                    <p:cTn id="55" fill="hold">
                      <p:stCondLst>
                        <p:cond delay="indefinite"/>
                      </p:stCondLst>
                      <p:childTnLst>
                        <p:par>
                          <p:cTn id="56" fill="hold">
                            <p:stCondLst>
                              <p:cond delay="0"/>
                            </p:stCondLst>
                            <p:childTnLst>
                              <p:par>
                                <p:cTn id="54" presetID="53" presetClass="entr" presetSubtype="16" fill="hold" nodeType="clickEffect">
                                  <p:stCondLst>
                                    <p:cond delay="0"/>
                                  </p:stCondLst>
                                  <p:childTnLst>
                                    <p:set>
                                      <p:cBhvr>
                                        <p:cTn id="50" dur="1" fill="hold">
                                          <p:stCondLst>
                                            <p:cond delay="0"/>
                                          </p:stCondLst>
                                        </p:cTn>
                                        <p:tgtEl>
                                          <p:spTgt spid="54"/>
                                        </p:tgtEl>
                                        <p:attrNameLst>
                                          <p:attrName>style.visibility</p:attrName>
                                        </p:attrNameLst>
                                      </p:cBhvr>
                                      <p:to>
                                        <p:strVal val="visible"/>
                                      </p:to>
                                    </p:set>
                                    <p:animEffect transition="in" filter="fade">
                                      <p:cBhvr>
                                        <p:cTn id="51" dur="500"/>
                                        <p:tgtEl>
                                          <p:spTgt spid="54"/>
                                        </p:tgtEl>
                                      </p:cBhvr>
                                    </p:animEffect>
                                    <p:anim calcmode="lin" valueType="num">
                                      <p:cBhvr>
                                        <p:cTn id="52" dur="500" fill="hold"/>
                                        <p:tgtEl>
                                          <p:spTgt spid="54"/>
                                        </p:tgtEl>
                                        <p:attrNameLst>
                                          <p:attrName>ppt_w</p:attrName>
                                        </p:attrNameLst>
                                      </p:cBhvr>
                                      <p:tavLst>
                                        <p:tav tm="0">
                                          <p:val>
                                            <p:fltVal val="0"/>
                                          </p:val>
                                        </p:tav>
                                        <p:tav tm="100000">
                                          <p:val>
                                            <p:strVal val="#ppt_w"/>
                                          </p:val>
                                        </p:tav>
                                      </p:tavLst>
                                    </p:anim>
                                    <p:anim calcmode="lin" valueType="num">
                                      <p:cBhvr>
                                        <p:cTn id="53" dur="500" fill="hold"/>
                                        <p:tgtEl>
                                          <p:spTgt spid="54"/>
                                        </p:tgtEl>
                                        <p:attrNameLst>
                                          <p:attrName>ppt_h</p:attrName>
                                        </p:attrNameLst>
                                      </p:cBhvr>
                                      <p:tavLst>
                                        <p:tav tm="0">
                                          <p:val>
                                            <p:fltVal val="0"/>
                                          </p:val>
                                        </p:tav>
                                        <p:tav tm="100000">
                                          <p:val>
                                            <p:strVal val="#ppt_h"/>
                                          </p:val>
                                        </p:tav>
                                      </p:tavLst>
                                    </p:anim>
                                  </p:childTnLst>
                                </p:cTn>
                              </p:par>
                            </p:childTnLst>
                          </p:cTn>
                        </p:par>
                      </p:childTnLst>
                    </p:cTn>
                  </p:par>
                  <p:par>
                    <p:cTn id="62" fill="hold">
                      <p:stCondLst>
                        <p:cond delay="indefinite"/>
                      </p:stCondLst>
                      <p:childTnLst>
                        <p:par>
                          <p:cTn id="63" fill="hold">
                            <p:stCondLst>
                              <p:cond delay="0"/>
                            </p:stCondLst>
                            <p:childTnLst>
                              <p:par>
                                <p:cTn id="61" presetID="53" presetClass="entr" presetSubtype="16" fill="hold" nodeType="clickEffect">
                                  <p:stCondLst>
                                    <p:cond delay="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p:cTn id="59" dur="500" fill="hold"/>
                                        <p:tgtEl>
                                          <p:spTgt spid="55"/>
                                        </p:tgtEl>
                                        <p:attrNameLst>
                                          <p:attrName>ppt_w</p:attrName>
                                        </p:attrNameLst>
                                      </p:cBhvr>
                                      <p:tavLst>
                                        <p:tav tm="0">
                                          <p:val>
                                            <p:fltVal val="0"/>
                                          </p:val>
                                        </p:tav>
                                        <p:tav tm="100000">
                                          <p:val>
                                            <p:strVal val="#ppt_w"/>
                                          </p:val>
                                        </p:tav>
                                      </p:tavLst>
                                    </p:anim>
                                    <p:anim calcmode="lin" valueType="num">
                                      <p:cBhvr>
                                        <p:cTn id="60" dur="500" fill="hold"/>
                                        <p:tgtEl>
                                          <p:spTgt spid="55"/>
                                        </p:tgtEl>
                                        <p:attrNameLst>
                                          <p:attrName>ppt_h</p:attrName>
                                        </p:attrNameLst>
                                      </p:cBhvr>
                                      <p:tavLst>
                                        <p:tav tm="0">
                                          <p:val>
                                            <p:fltVal val="0"/>
                                          </p:val>
                                        </p:tav>
                                        <p:tav tm="100000">
                                          <p:val>
                                            <p:strVal val="#ppt_h"/>
                                          </p:val>
                                        </p:tav>
                                      </p:tavLst>
                                    </p:anim>
                                  </p:childTnLst>
                                </p:cTn>
                              </p:par>
                            </p:childTnLst>
                          </p:cTn>
                        </p:par>
                      </p:childTnLst>
                    </p:cTn>
                  </p:par>
                  <p:par>
                    <p:cTn id="70" fill="hold">
                      <p:stCondLst>
                        <p:cond delay="indefinite"/>
                      </p:stCondLst>
                      <p:childTnLst>
                        <p:par>
                          <p:cTn id="71" fill="hold">
                            <p:stCondLst>
                              <p:cond delay="0"/>
                            </p:stCondLst>
                            <p:childTnLst>
                              <p:par>
                                <p:cTn id="66" presetID="22" presetClass="entr" presetSubtype="8" fill="hold" nodeType="clickEffect">
                                  <p:stCondLst>
                                    <p:cond delay="0"/>
                                  </p:stCondLst>
                                  <p:childTnLst>
                                    <p:set>
                                      <p:cBhvr>
                                        <p:cTn id="64" dur="1" fill="hold">
                                          <p:stCondLst>
                                            <p:cond delay="0"/>
                                          </p:stCondLst>
                                        </p:cTn>
                                        <p:tgtEl>
                                          <p:spTgt spid="56"/>
                                        </p:tgtEl>
                                        <p:attrNameLst>
                                          <p:attrName>style.visibility</p:attrName>
                                        </p:attrNameLst>
                                      </p:cBhvr>
                                      <p:to>
                                        <p:strVal val="visible"/>
                                      </p:to>
                                    </p:set>
                                    <p:animEffect transition="in" filter="wipe(left)">
                                      <p:cBhvr>
                                        <p:cTn id="65" dur="700"/>
                                        <p:tgtEl>
                                          <p:spTgt spid="56"/>
                                        </p:tgtEl>
                                      </p:cBhvr>
                                    </p:animEffect>
                                  </p:childTnLst>
                                </p:cTn>
                              </p:par>
                              <p:par>
                                <p:cTn id="69" presetID="22" presetClass="entr" presetSubtype="8" fill="hold" nodeType="withEffect">
                                  <p:stCondLst>
                                    <p:cond delay="0"/>
                                  </p:stCondLst>
                                  <p:childTnLst>
                                    <p:set>
                                      <p:cBhvr>
                                        <p:cTn id="67" dur="1" fill="hold">
                                          <p:stCondLst>
                                            <p:cond delay="0"/>
                                          </p:stCondLst>
                                        </p:cTn>
                                        <p:tgtEl>
                                          <p:spTgt spid="57"/>
                                        </p:tgtEl>
                                        <p:attrNameLst>
                                          <p:attrName>style.visibility</p:attrName>
                                        </p:attrNameLst>
                                      </p:cBhvr>
                                      <p:to>
                                        <p:strVal val="visible"/>
                                      </p:to>
                                    </p:set>
                                    <p:animEffect transition="in" filter="wipe(left)">
                                      <p:cBhvr>
                                        <p:cTn id="68" dur="700"/>
                                        <p:tgtEl>
                                          <p:spTgt spid="5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Question 4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Your turn: vertical lines</a:t>
            </a:r>
            <a:endParaRPr lang="en-US" sz="3450" dirty="0"/>
          </a:p>
        </p:txBody>
      </p:sp>
      <p:sp>
        <p:nvSpPr>
          <p:cNvPr id="4" name="Shape 4"/>
          <p:cNvSpPr txBox="1"/>
          <p:nvPr/>
        </p:nvSpPr>
        <p:spPr>
          <a:xfrm>
            <a:off x="685800"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4a.</a:t>
            </a:r>
            <a:endParaRPr lang="en-US" sz="2100" dirty="0"/>
          </a:p>
        </p:txBody>
      </p:sp>
      <p:sp>
        <p:nvSpPr>
          <p:cNvPr id="5" name="Shape 5"/>
          <p:cNvSpPr txBox="1"/>
          <p:nvPr/>
        </p:nvSpPr>
        <p:spPr>
          <a:xfrm>
            <a:off x="685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x</a:t>
            </a:r>
            <a:endParaRPr lang="en-US" sz="2250" dirty="0"/>
          </a:p>
        </p:txBody>
      </p:sp>
      <p:sp>
        <p:nvSpPr>
          <p:cNvPr id="6" name="Shape 6"/>
          <p:cNvSpPr txBox="1"/>
          <p:nvPr/>
        </p:nvSpPr>
        <p:spPr>
          <a:xfrm>
            <a:off x="1828800" y="2183892"/>
            <a:ext cx="1143000" cy="489204"/>
          </a:xfrm>
          <a:prstGeom prst="rect">
            <a:avLst/>
          </a:prstGeom>
          <a:solidFill>
            <a:srgbClr val="E6E8F2"/>
          </a:solidFill>
          <a:ln w="12700">
            <a:solidFill>
              <a:srgbClr val="E3E4EC"/>
            </a:solidFill>
          </a:ln>
        </p:spPr>
        <p:txBody>
          <a:bodyPr wrap="square" lIns="109728" tIns="45720" rIns="109728" bIns="45720" anchor="ctr">
            <a:noAutofit/>
          </a:bodyPr>
          <a:lstStyle/>
          <a:p>
            <a:pPr algn="ctr">
              <a:lnSpc>
                <a:spcPct val="100000"/>
              </a:lnSpc>
            </a:pPr>
            <a:r>
              <a:rPr lang="en-US" sz="2250" dirty="0" i="1">
                <a:solidFill>
                  <a:srgbClr val="16171D"/>
                </a:solidFill>
                <a:latin typeface="Cambria"/>
                <a:cs typeface="Cambria"/>
              </a:rPr>
              <a:t xml:space="preserve">y</a:t>
            </a:r>
            <a:endParaRPr lang="en-US" sz="2250" dirty="0"/>
          </a:p>
        </p:txBody>
      </p:sp>
      <p:sp>
        <p:nvSpPr>
          <p:cNvPr id="7" name="Shape 7"/>
          <p:cNvSpPr txBox="1"/>
          <p:nvPr/>
        </p:nvSpPr>
        <p:spPr>
          <a:xfrm>
            <a:off x="685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8" name="Shape 8"/>
          <p:cNvSpPr txBox="1"/>
          <p:nvPr/>
        </p:nvSpPr>
        <p:spPr>
          <a:xfrm>
            <a:off x="1828800" y="2673096"/>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−18</a:t>
            </a:r>
            <a:endParaRPr lang="en-US" sz="2250" dirty="0"/>
          </a:p>
        </p:txBody>
      </p:sp>
      <p:sp>
        <p:nvSpPr>
          <p:cNvPr id="9" name="Shape 9"/>
          <p:cNvSpPr txBox="1"/>
          <p:nvPr/>
        </p:nvSpPr>
        <p:spPr>
          <a:xfrm>
            <a:off x="685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0" name="Shape 10"/>
          <p:cNvSpPr txBox="1"/>
          <p:nvPr/>
        </p:nvSpPr>
        <p:spPr>
          <a:xfrm>
            <a:off x="1828800" y="3162300"/>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23</a:t>
            </a:r>
            <a:endParaRPr lang="en-US" sz="2250" dirty="0"/>
          </a:p>
        </p:txBody>
      </p:sp>
      <p:sp>
        <p:nvSpPr>
          <p:cNvPr id="11" name="Shape 11"/>
          <p:cNvSpPr txBox="1"/>
          <p:nvPr/>
        </p:nvSpPr>
        <p:spPr>
          <a:xfrm>
            <a:off x="685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17</a:t>
            </a:r>
            <a:r>
              <a:rPr lang="en-US" sz="2250" dirty="0">
                <a:solidFill>
                  <a:srgbClr val="16171D"/>
                </a:solidFill>
                <a:latin typeface="Cambria"/>
                <a:cs typeface="Cambria"/>
              </a:rPr>
              <a:t xml:space="preserve">/</a:t>
            </a:r>
            <a:r>
              <a:rPr lang="en-US" sz="2250" dirty="0">
                <a:solidFill>
                  <a:srgbClr val="16171D"/>
                </a:solidFill>
                <a:latin typeface="Cambria"/>
                <a:cs typeface="Cambria"/>
              </a:rPr>
              <a:t xml:space="preserve">2</a:t>
            </a:r>
            <a:endParaRPr lang="en-US" sz="2250" dirty="0"/>
          </a:p>
        </p:txBody>
      </p:sp>
      <p:sp>
        <p:nvSpPr>
          <p:cNvPr id="12" name="Shape 12"/>
          <p:cNvSpPr txBox="1"/>
          <p:nvPr/>
        </p:nvSpPr>
        <p:spPr>
          <a:xfrm>
            <a:off x="1828800" y="3651504"/>
            <a:ext cx="1143000" cy="489204"/>
          </a:xfrm>
          <a:prstGeom prst="rect">
            <a:avLst/>
          </a:prstGeom>
          <a:solidFill>
            <a:srgbClr val="FFFFFF"/>
          </a:solidFill>
          <a:ln w="12700">
            <a:solidFill>
              <a:srgbClr val="E3E4EC"/>
            </a:solidFill>
          </a:ln>
        </p:spPr>
        <p:txBody>
          <a:bodyPr wrap="square" lIns="109728" tIns="45720" rIns="109728" bIns="45720" anchor="ctr">
            <a:noAutofit/>
          </a:bodyPr>
          <a:lstStyle/>
          <a:p>
            <a:pPr algn="ctr">
              <a:lnSpc>
                <a:spcPct val="100000"/>
              </a:lnSpc>
            </a:pPr>
            <a:r>
              <a:rPr lang="en-US" sz="2250" dirty="0">
                <a:solidFill>
                  <a:srgbClr val="16171D"/>
                </a:solidFill>
                <a:latin typeface="Cambria"/>
                <a:cs typeface="Cambria"/>
              </a:rPr>
              <a:t xml:space="preserve">267</a:t>
            </a:r>
            <a:endParaRPr lang="en-US" sz="2250" dirty="0"/>
          </a:p>
        </p:txBody>
      </p:sp>
      <p:sp>
        <p:nvSpPr>
          <p:cNvPr id="13" name="Shape 13"/>
          <p:cNvSpPr txBox="1"/>
          <p:nvPr/>
        </p:nvSpPr>
        <p:spPr>
          <a:xfrm>
            <a:off x="685800" y="4274058"/>
            <a:ext cx="323967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4" name="Shape 14"/>
          <p:cNvSpPr txBox="1"/>
          <p:nvPr/>
        </p:nvSpPr>
        <p:spPr>
          <a:xfrm>
            <a:off x="685800" y="4926330"/>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a:t>
            </a:r>
            <a:r>
              <a:rPr lang="en-US" sz="1575" dirty="0">
                <a:solidFill>
                  <a:srgbClr val="16171D"/>
                </a:solidFill>
                <a:latin typeface="Segoe UI"/>
                <a:cs typeface="Segoe UI"/>
              </a:rPr>
              <a:t xml:space="preserve">17</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2</a:t>
            </a:r>
            <a:r>
              <a:rPr lang="en-US" sz="1575" dirty="0">
                <a:solidFill>
                  <a:srgbClr val="16171D"/>
                </a:solidFill>
                <a:latin typeface="Segoe UI"/>
                <a:cs typeface="Segoe UI"/>
              </a:rPr>
              <a:t xml:space="preserve">, 0)</a:t>
            </a:r>
            <a:endParaRPr lang="en-US" sz="1575" dirty="0"/>
          </a:p>
        </p:txBody>
      </p:sp>
      <p:sp>
        <p:nvSpPr>
          <p:cNvPr id="15" name="Shape 15"/>
          <p:cNvSpPr txBox="1"/>
          <p:nvPr/>
        </p:nvSpPr>
        <p:spPr>
          <a:xfrm>
            <a:off x="6362548" y="167563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4b. Through (−7, −973) and (−7, 542)</a:t>
            </a:r>
            <a:endParaRPr lang="en-US" sz="2100" dirty="0"/>
          </a:p>
        </p:txBody>
      </p:sp>
      <p:sp>
        <p:nvSpPr>
          <p:cNvPr id="16" name="Shape 16"/>
          <p:cNvSpPr txBox="1"/>
          <p:nvPr/>
        </p:nvSpPr>
        <p:spPr>
          <a:xfrm>
            <a:off x="6362548" y="2183892"/>
            <a:ext cx="290802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7" name="Shape 17"/>
          <p:cNvSpPr txBox="1"/>
          <p:nvPr/>
        </p:nvSpPr>
        <p:spPr>
          <a:xfrm>
            <a:off x="6362548" y="2836164"/>
            <a:ext cx="514334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Vertical line through (−7, 0)</a:t>
            </a:r>
            <a:endParaRPr lang="en-US" sz="1575" dirty="0"/>
          </a:p>
        </p:txBody>
      </p:sp>
      <p:sp>
        <p:nvSpPr>
          <p:cNvPr id="18" name="Shape 18"/>
          <p:cNvSpPr txBox="1"/>
          <p:nvPr/>
        </p:nvSpPr>
        <p:spPr>
          <a:xfrm>
            <a:off x="6362548" y="3454908"/>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4c. Make your own</a:t>
            </a:r>
            <a:endParaRPr lang="en-US" sz="2100" dirty="0"/>
          </a:p>
        </p:txBody>
      </p:sp>
      <p:sp>
        <p:nvSpPr>
          <p:cNvPr id="19" name="Shape 19"/>
          <p:cNvSpPr txBox="1"/>
          <p:nvPr/>
        </p:nvSpPr>
        <p:spPr>
          <a:xfrm>
            <a:off x="6362548" y="3963162"/>
            <a:ext cx="514334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Pick </a:t>
            </a:r>
            <a:r>
              <a:rPr lang="en-US" sz="1575" dirty="0" b="1">
                <a:solidFill>
                  <a:srgbClr val="16171D"/>
                </a:solidFill>
                <a:latin typeface="Segoe UI"/>
                <a:cs typeface="Segoe UI"/>
              </a:rPr>
              <a:t xml:space="preserve">one</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-value and use it for every row, with any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-values. Then the equation is </a:t>
            </a:r>
            <a:r>
              <a:rPr lang="en-US" sz="1575" dirty="0" i="1">
                <a:solidFill>
                  <a:srgbClr val="16171D"/>
                </a:solidFill>
                <a:latin typeface="Cambria"/>
                <a:cs typeface="Cambria"/>
              </a:rPr>
              <a:t xml:space="preserve">x</a:t>
            </a:r>
            <a:r>
              <a:rPr lang="en-US" sz="1575" dirty="0">
                <a:solidFill>
                  <a:srgbClr val="16171D"/>
                </a:solidFill>
                <a:latin typeface="Cambria"/>
                <a:cs typeface="Cambria"/>
              </a:rPr>
              <a:t xml:space="preserve"> = </a:t>
            </a:r>
            <a:r>
              <a:rPr lang="en-US" sz="1575" dirty="0">
                <a:solidFill>
                  <a:srgbClr val="16171D"/>
                </a:solidFill>
                <a:latin typeface="Segoe UI"/>
                <a:cs typeface="Segoe UI"/>
              </a:rPr>
              <a:t xml:space="preserve">that number.</a:t>
            </a:r>
            <a:endParaRPr lang="en-US" sz="1575" dirty="0"/>
          </a:p>
        </p:txBody>
      </p:sp>
      <p:sp>
        <p:nvSpPr>
          <p:cNvPr id="20" name="Slide Number 2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4" dur="500"/>
                                        <p:tgtEl>
                                          <p:spTgt spid="13"/>
                                        </p:tgtEl>
                                      </p:cBhvr>
                                    </p:animEffect>
                                    <p:anim calcmode="lin" valueType="num">
                                      <p:cBhvr>
                                        <p:cTn id="5" dur="500" fill="hold"/>
                                        <p:tgtEl>
                                          <p:spTgt spid="13"/>
                                        </p:tgtEl>
                                        <p:attrNameLst>
                                          <p:attrName>ppt_w</p:attrName>
                                        </p:attrNameLst>
                                      </p:cBhvr>
                                      <p:tavLst>
                                        <p:tav tm="0">
                                          <p:val>
                                            <p:fltVal val="0"/>
                                          </p:val>
                                        </p:tav>
                                        <p:tav tm="100000">
                                          <p:val>
                                            <p:strVal val="#ppt_w"/>
                                          </p:val>
                                        </p:tav>
                                      </p:tavLst>
                                    </p:anim>
                                    <p:anim calcmode="lin" valueType="num">
                                      <p:cBhvr>
                                        <p:cTn id="6" dur="500" fill="hold"/>
                                        <p:tgtEl>
                                          <p:spTgt spid="13"/>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500"/>
                                        <p:tgtEl>
                                          <p:spTgt spid="14"/>
                                        </p:tgtEl>
                                      </p:cBhvr>
                                    </p:animEffect>
                                    <p:anim calcmode="lin" valueType="num">
                                      <p:cBhvr>
                                        <p:cTn id="12" dur="500" fill="hold"/>
                                        <p:tgtEl>
                                          <p:spTgt spid="14"/>
                                        </p:tgtEl>
                                        <p:attrNameLst>
                                          <p:attrName>ppt_x</p:attrName>
                                        </p:attrNameLst>
                                      </p:cBhvr>
                                      <p:tavLst>
                                        <p:tav tm="0">
                                          <p:val>
                                            <p:strVal val="#ppt_x"/>
                                          </p:val>
                                        </p:tav>
                                        <p:tav tm="100000">
                                          <p:val>
                                            <p:strVal val="#ppt_x"/>
                                          </p:val>
                                        </p:tav>
                                      </p:tavLst>
                                    </p:anim>
                                    <p:anim calcmode="lin" valueType="num">
                                      <p:cBhvr>
                                        <p:cTn id="13"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16"/>
                                        </p:tgtEl>
                                        <p:attrNameLst>
                                          <p:attrName>style.visibility</p:attrName>
                                        </p:attrNameLst>
                                      </p:cBhvr>
                                      <p:to>
                                        <p:strVal val="visible"/>
                                      </p:to>
                                    </p:set>
                                    <p:animEffect transition="in" filter="fade">
                                      <p:cBhvr>
                                        <p:cTn id="18" dur="500"/>
                                        <p:tgtEl>
                                          <p:spTgt spid="16"/>
                                        </p:tgtEl>
                                      </p:cBhvr>
                                    </p:animEffect>
                                    <p:anim calcmode="lin" valueType="num">
                                      <p:cBhvr>
                                        <p:cTn id="19" dur="500" fill="hold"/>
                                        <p:tgtEl>
                                          <p:spTgt spid="16"/>
                                        </p:tgtEl>
                                        <p:attrNameLst>
                                          <p:attrName>ppt_w</p:attrName>
                                        </p:attrNameLst>
                                      </p:cBhvr>
                                      <p:tavLst>
                                        <p:tav tm="0">
                                          <p:val>
                                            <p:fltVal val="0"/>
                                          </p:val>
                                        </p:tav>
                                        <p:tav tm="100000">
                                          <p:val>
                                            <p:strVal val="#ppt_w"/>
                                          </p:val>
                                        </p:tav>
                                      </p:tavLst>
                                    </p:anim>
                                    <p:anim calcmode="lin" valueType="num">
                                      <p:cBhvr>
                                        <p:cTn id="20" dur="500" fill="hold"/>
                                        <p:tgtEl>
                                          <p:spTgt spid="16"/>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fade">
                                      <p:cBhvr>
                                        <p:cTn id="25" dur="500"/>
                                        <p:tgtEl>
                                          <p:spTgt spid="17"/>
                                        </p:tgtEl>
                                      </p:cBhvr>
                                    </p:animEffect>
                                    <p:anim calcmode="lin" valueType="num">
                                      <p:cBhvr>
                                        <p:cTn id="26" dur="500" fill="hold"/>
                                        <p:tgtEl>
                                          <p:spTgt spid="17"/>
                                        </p:tgtEl>
                                        <p:attrNameLst>
                                          <p:attrName>ppt_x</p:attrName>
                                        </p:attrNameLst>
                                      </p:cBhvr>
                                      <p:tavLst>
                                        <p:tav tm="0">
                                          <p:val>
                                            <p:strVal val="#ppt_x"/>
                                          </p:val>
                                        </p:tav>
                                        <p:tav tm="100000">
                                          <p:val>
                                            <p:strVal val="#ppt_x"/>
                                          </p:val>
                                        </p:tav>
                                      </p:tavLst>
                                    </p:anim>
                                    <p:anim calcmode="lin" valueType="num">
                                      <p:cBhvr>
                                        <p:cTn id="27"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fade">
                                      <p:cBhvr>
                                        <p:cTn id="32" dur="500"/>
                                        <p:tgtEl>
                                          <p:spTgt spid="19"/>
                                        </p:tgtEl>
                                      </p:cBhvr>
                                    </p:animEffect>
                                    <p:anim calcmode="lin" valueType="num">
                                      <p:cBhvr>
                                        <p:cTn id="33" dur="500" fill="hold"/>
                                        <p:tgtEl>
                                          <p:spTgt spid="19"/>
                                        </p:tgtEl>
                                        <p:attrNameLst>
                                          <p:attrName>ppt_x</p:attrName>
                                        </p:attrNameLst>
                                      </p:cBhvr>
                                      <p:tavLst>
                                        <p:tav tm="0">
                                          <p:val>
                                            <p:strVal val="#ppt_x"/>
                                          </p:val>
                                        </p:tav>
                                        <p:tav tm="100000">
                                          <p:val>
                                            <p:strVal val="#ppt_x"/>
                                          </p:val>
                                        </p:tav>
                                      </p:tavLst>
                                    </p:anim>
                                    <p:anim calcmode="lin" valueType="num">
                                      <p:cBhvr>
                                        <p:cTn id="34" dur="500" fill="hold"/>
                                        <p:tgtEl>
                                          <p:spTgt spid="19"/>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Activity 4.2 · Summary · SE p. 207</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Horizontal vs. vertical</a:t>
            </a:r>
            <a:endParaRPr lang="en-US" sz="3450" dirty="0"/>
          </a:p>
        </p:txBody>
      </p:sp>
      <p:sp>
        <p:nvSpPr>
          <p:cNvPr id="4" name="Shape 4"/>
          <p:cNvSpPr txBox="1"/>
          <p:nvPr/>
        </p:nvSpPr>
        <p:spPr>
          <a:xfrm>
            <a:off x="685800" y="1618488"/>
            <a:ext cx="2164019" cy="498348"/>
          </a:xfrm>
          <a:prstGeom prst="rect">
            <a:avLst/>
          </a:prstGeom>
          <a:noFill/>
          <a:ln>
            <a:noFill/>
          </a:ln>
        </p:spPr>
        <p:txBody>
          <a:bodyPr wrap="square" lIns="109728" tIns="45720" rIns="109728" bIns="45720" anchor="ctr">
            <a:noAutofit/>
          </a:bodyPr>
          <a:lstStyle/>
          <a:p>
            <a:pPr algn="l">
              <a:lnSpc>
                <a:spcPct val="100000"/>
              </a:lnSpc>
            </a:pPr>
            <a:endParaRPr lang="en-US" sz="1950" dirty="0"/>
          </a:p>
        </p:txBody>
      </p:sp>
      <p:sp>
        <p:nvSpPr>
          <p:cNvPr id="5" name="Shape 5"/>
          <p:cNvSpPr txBox="1"/>
          <p:nvPr/>
        </p:nvSpPr>
        <p:spPr>
          <a:xfrm>
            <a:off x="2849819"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Horizontal line</a:t>
            </a:r>
            <a:endParaRPr lang="en-US" sz="1950" dirty="0"/>
          </a:p>
        </p:txBody>
      </p:sp>
      <p:sp>
        <p:nvSpPr>
          <p:cNvPr id="6" name="Shape 6"/>
          <p:cNvSpPr txBox="1"/>
          <p:nvPr/>
        </p:nvSpPr>
        <p:spPr>
          <a:xfrm>
            <a:off x="7177857" y="1618488"/>
            <a:ext cx="4328038" cy="498348"/>
          </a:xfrm>
          <a:prstGeom prst="rect">
            <a:avLst/>
          </a:prstGeom>
          <a:noFill/>
          <a:ln>
            <a:noFill/>
          </a:ln>
        </p:spPr>
        <p:txBody>
          <a:bodyPr wrap="square" lIns="109728" tIns="45720" rIns="109728" bIns="45720" anchor="ctr">
            <a:noAutofit/>
          </a:bodyPr>
          <a:lstStyle/>
          <a:p>
            <a:pPr algn="l">
              <a:lnSpc>
                <a:spcPct val="100000"/>
              </a:lnSpc>
            </a:pPr>
            <a:r>
              <a:rPr lang="en-US" sz="1950" dirty="0" b="1">
                <a:solidFill>
                  <a:srgbClr val="16171D"/>
                </a:solidFill>
                <a:latin typeface="Segoe UI"/>
                <a:cs typeface="Segoe UI"/>
              </a:rPr>
              <a:t xml:space="preserve">Vertical line</a:t>
            </a:r>
            <a:endParaRPr lang="en-US" sz="1950" dirty="0"/>
          </a:p>
        </p:txBody>
      </p:sp>
      <p:cxnSp>
        <p:nvCxnSpPr>
          <p:cNvPr id="7" name="Line 7"/>
          <p:cNvCxnSpPr/>
          <p:nvPr/>
        </p:nvCxnSpPr>
        <p:spPr>
          <a:xfrm>
            <a:off x="685800" y="2116836"/>
            <a:ext cx="10820095" cy="0"/>
          </a:xfrm>
          <a:prstGeom prst="line">
            <a:avLst/>
          </a:prstGeom>
          <a:ln w="9525" cap="flat">
            <a:solidFill>
              <a:srgbClr val="E3E4EC"/>
            </a:solidFill>
          </a:ln>
        </p:spPr>
      </p:cxnSp>
      <p:sp>
        <p:nvSpPr>
          <p:cNvPr id="8" name="Shape 8"/>
          <p:cNvSpPr txBox="1"/>
          <p:nvPr/>
        </p:nvSpPr>
        <p:spPr>
          <a:xfrm>
            <a:off x="685800" y="2116836"/>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What changes?</a:t>
            </a:r>
            <a:endParaRPr lang="en-US" sz="1800" dirty="0"/>
          </a:p>
        </p:txBody>
      </p:sp>
      <p:sp>
        <p:nvSpPr>
          <p:cNvPr id="9" name="Shape 9"/>
          <p:cNvSpPr txBox="1"/>
          <p:nvPr/>
        </p:nvSpPr>
        <p:spPr>
          <a:xfrm>
            <a:off x="2849819"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stays the same</a:t>
            </a:r>
            <a:endParaRPr lang="en-US" sz="1800" dirty="0"/>
          </a:p>
        </p:txBody>
      </p:sp>
      <p:sp>
        <p:nvSpPr>
          <p:cNvPr id="10" name="Shape 10"/>
          <p:cNvSpPr txBox="1"/>
          <p:nvPr/>
        </p:nvSpPr>
        <p:spPr>
          <a:xfrm>
            <a:off x="7177857" y="2116836"/>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Segoe UI"/>
                <a:cs typeface="Segoe UI"/>
              </a:rPr>
              <a:t xml:space="preserve">y</a:t>
            </a:r>
            <a:r>
              <a:rPr lang="en-US" sz="1800" dirty="0">
                <a:solidFill>
                  <a:srgbClr val="16171D"/>
                </a:solidFill>
                <a:latin typeface="Segoe UI"/>
                <a:cs typeface="Segoe UI"/>
              </a:rPr>
              <a:t xml:space="preserve"> changes,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stays the same</a:t>
            </a:r>
            <a:endParaRPr lang="en-US" sz="1800" dirty="0"/>
          </a:p>
        </p:txBody>
      </p:sp>
      <p:cxnSp>
        <p:nvCxnSpPr>
          <p:cNvPr id="11" name="Line 11"/>
          <p:cNvCxnSpPr/>
          <p:nvPr/>
        </p:nvCxnSpPr>
        <p:spPr>
          <a:xfrm>
            <a:off x="685800" y="2592324"/>
            <a:ext cx="10820095" cy="0"/>
          </a:xfrm>
          <a:prstGeom prst="line">
            <a:avLst/>
          </a:prstGeom>
          <a:ln w="9525" cap="flat">
            <a:solidFill>
              <a:srgbClr val="E3E4EC"/>
            </a:solidFill>
          </a:ln>
        </p:spPr>
      </p:cxnSp>
      <p:sp>
        <p:nvSpPr>
          <p:cNvPr id="12" name="Shape 12"/>
          <p:cNvSpPr txBox="1"/>
          <p:nvPr/>
        </p:nvSpPr>
        <p:spPr>
          <a:xfrm>
            <a:off x="685800" y="2592324"/>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Slope</a:t>
            </a:r>
            <a:endParaRPr lang="en-US" sz="1800" dirty="0"/>
          </a:p>
        </p:txBody>
      </p:sp>
      <p:sp>
        <p:nvSpPr>
          <p:cNvPr id="13" name="Shape 13"/>
          <p:cNvSpPr txBox="1"/>
          <p:nvPr/>
        </p:nvSpPr>
        <p:spPr>
          <a:xfrm>
            <a:off x="2849819"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0</a:t>
            </a:r>
            <a:r>
              <a:rPr lang="en-US" sz="1800" dirty="0">
                <a:solidFill>
                  <a:srgbClr val="16171D"/>
                </a:solidFill>
                <a:latin typeface="Segoe UI"/>
                <a:cs typeface="Segoe UI"/>
              </a:rPr>
              <a:t xml:space="preserve"> (zero steepness)</a:t>
            </a:r>
            <a:endParaRPr lang="en-US" sz="1800" dirty="0"/>
          </a:p>
        </p:txBody>
      </p:sp>
      <p:sp>
        <p:nvSpPr>
          <p:cNvPr id="14" name="Shape 14"/>
          <p:cNvSpPr txBox="1"/>
          <p:nvPr/>
        </p:nvSpPr>
        <p:spPr>
          <a:xfrm>
            <a:off x="7177857" y="2592324"/>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b="1">
                <a:solidFill>
                  <a:srgbClr val="C9561F"/>
                </a:solidFill>
                <a:latin typeface="Segoe UI"/>
                <a:cs typeface="Segoe UI"/>
              </a:rPr>
              <a:t xml:space="preserve">undefined</a:t>
            </a:r>
            <a:endParaRPr lang="en-US" sz="1800" dirty="0"/>
          </a:p>
        </p:txBody>
      </p:sp>
      <p:cxnSp>
        <p:nvCxnSpPr>
          <p:cNvPr id="15" name="Line 15"/>
          <p:cNvCxnSpPr/>
          <p:nvPr/>
        </p:nvCxnSpPr>
        <p:spPr>
          <a:xfrm>
            <a:off x="685800" y="3067812"/>
            <a:ext cx="10820095" cy="0"/>
          </a:xfrm>
          <a:prstGeom prst="line">
            <a:avLst/>
          </a:prstGeom>
          <a:ln w="9525" cap="flat">
            <a:solidFill>
              <a:srgbClr val="E3E4EC"/>
            </a:solidFill>
          </a:ln>
        </p:spPr>
      </p:cxnSp>
      <p:sp>
        <p:nvSpPr>
          <p:cNvPr id="16" name="Shape 16"/>
          <p:cNvSpPr txBox="1"/>
          <p:nvPr/>
        </p:nvSpPr>
        <p:spPr>
          <a:xfrm>
            <a:off x="685800" y="3067812"/>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Equation</a:t>
            </a:r>
            <a:endParaRPr lang="en-US" sz="1800" dirty="0"/>
          </a:p>
        </p:txBody>
      </p:sp>
      <p:sp>
        <p:nvSpPr>
          <p:cNvPr id="17" name="Shape 17"/>
          <p:cNvSpPr txBox="1"/>
          <p:nvPr/>
        </p:nvSpPr>
        <p:spPr>
          <a:xfrm>
            <a:off x="2849819"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a number</a:t>
            </a:r>
            <a:endParaRPr lang="en-US" sz="1800" dirty="0"/>
          </a:p>
        </p:txBody>
      </p:sp>
      <p:sp>
        <p:nvSpPr>
          <p:cNvPr id="18" name="Shape 18"/>
          <p:cNvSpPr txBox="1"/>
          <p:nvPr/>
        </p:nvSpPr>
        <p:spPr>
          <a:xfrm>
            <a:off x="7177857" y="3067812"/>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a number</a:t>
            </a:r>
            <a:endParaRPr lang="en-US" sz="1800" dirty="0"/>
          </a:p>
        </p:txBody>
      </p:sp>
      <p:cxnSp>
        <p:nvCxnSpPr>
          <p:cNvPr id="19" name="Line 19"/>
          <p:cNvCxnSpPr/>
          <p:nvPr/>
        </p:nvCxnSpPr>
        <p:spPr>
          <a:xfrm>
            <a:off x="685800" y="3543300"/>
            <a:ext cx="10820095" cy="0"/>
          </a:xfrm>
          <a:prstGeom prst="line">
            <a:avLst/>
          </a:prstGeom>
          <a:ln w="9525" cap="flat">
            <a:solidFill>
              <a:srgbClr val="E3E4EC"/>
            </a:solidFill>
          </a:ln>
        </p:spPr>
      </p:cxnSp>
      <p:sp>
        <p:nvSpPr>
          <p:cNvPr id="20" name="Shape 20"/>
          <p:cNvSpPr txBox="1"/>
          <p:nvPr/>
        </p:nvSpPr>
        <p:spPr>
          <a:xfrm>
            <a:off x="685800" y="3543300"/>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5F6272"/>
                </a:solidFill>
                <a:latin typeface="Segoe UI"/>
                <a:cs typeface="Segoe UI"/>
              </a:rPr>
              <a:t xml:space="preserve">Example</a:t>
            </a:r>
            <a:endParaRPr lang="en-US" sz="1800" dirty="0"/>
          </a:p>
        </p:txBody>
      </p:sp>
      <p:sp>
        <p:nvSpPr>
          <p:cNvPr id="21" name="Shape 21"/>
          <p:cNvSpPr txBox="1"/>
          <p:nvPr/>
        </p:nvSpPr>
        <p:spPr>
          <a:xfrm>
            <a:off x="2849819"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y</a:t>
            </a:r>
            <a:r>
              <a:rPr lang="en-US" sz="1800" dirty="0">
                <a:solidFill>
                  <a:srgbClr val="16171D"/>
                </a:solidFill>
                <a:latin typeface="Cambria"/>
                <a:cs typeface="Cambria"/>
              </a:rPr>
              <a:t xml:space="preserve"> = 11</a:t>
            </a:r>
            <a:endParaRPr lang="en-US" sz="1800" dirty="0"/>
          </a:p>
        </p:txBody>
      </p:sp>
      <p:sp>
        <p:nvSpPr>
          <p:cNvPr id="22" name="Shape 22"/>
          <p:cNvSpPr txBox="1"/>
          <p:nvPr/>
        </p:nvSpPr>
        <p:spPr>
          <a:xfrm>
            <a:off x="7177857" y="3543300"/>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16171D"/>
                </a:solidFill>
                <a:latin typeface="Cambria"/>
                <a:cs typeface="Cambria"/>
              </a:rPr>
              <a:t xml:space="preserve">x</a:t>
            </a:r>
            <a:r>
              <a:rPr lang="en-US" sz="1800" dirty="0">
                <a:solidFill>
                  <a:srgbClr val="16171D"/>
                </a:solidFill>
                <a:latin typeface="Cambria"/>
                <a:cs typeface="Cambria"/>
              </a:rPr>
              <a:t xml:space="preserve"> = −2</a:t>
            </a:r>
            <a:endParaRPr lang="en-US" sz="1800" dirty="0"/>
          </a:p>
        </p:txBody>
      </p:sp>
      <p:cxnSp>
        <p:nvCxnSpPr>
          <p:cNvPr id="23" name="Line 23"/>
          <p:cNvCxnSpPr/>
          <p:nvPr/>
        </p:nvCxnSpPr>
        <p:spPr>
          <a:xfrm>
            <a:off x="685800" y="4018788"/>
            <a:ext cx="10820095" cy="0"/>
          </a:xfrm>
          <a:prstGeom prst="line">
            <a:avLst/>
          </a:prstGeom>
          <a:ln w="9525" cap="flat">
            <a:solidFill>
              <a:srgbClr val="E3E4EC"/>
            </a:solidFill>
          </a:ln>
        </p:spPr>
      </p:cxnSp>
      <p:sp>
        <p:nvSpPr>
          <p:cNvPr id="24" name="Shape 24"/>
          <p:cNvSpPr txBox="1"/>
          <p:nvPr/>
        </p:nvSpPr>
        <p:spPr>
          <a:xfrm>
            <a:off x="685800" y="4018788"/>
            <a:ext cx="2164019" cy="475488"/>
          </a:xfrm>
          <a:prstGeom prst="rect">
            <a:avLst/>
          </a:prstGeom>
          <a:noFill/>
          <a:ln>
            <a:noFill/>
          </a:ln>
        </p:spPr>
        <p:txBody>
          <a:bodyPr wrap="square" lIns="109728" tIns="45720" rIns="109728" bIns="45720" anchor="ctr">
            <a:noAutofit/>
          </a:bodyPr>
          <a:lstStyle/>
          <a:p>
            <a:pPr algn="l">
              <a:lnSpc>
                <a:spcPct val="100000"/>
              </a:lnSpc>
            </a:pPr>
            <a:r>
              <a:rPr lang="en-US" sz="1800" dirty="0" i="1">
                <a:solidFill>
                  <a:srgbClr val="5F6272"/>
                </a:solidFill>
                <a:latin typeface="Segoe UI"/>
                <a:cs typeface="Segoe UI"/>
              </a:rPr>
              <a:t xml:space="preserve">y</a:t>
            </a:r>
            <a:r>
              <a:rPr lang="en-US" sz="1800" dirty="0">
                <a:solidFill>
                  <a:srgbClr val="5F6272"/>
                </a:solidFill>
                <a:latin typeface="Segoe UI"/>
                <a:cs typeface="Segoe UI"/>
              </a:rPr>
              <a:t xml:space="preserve">-intercept</a:t>
            </a:r>
            <a:endParaRPr lang="en-US" sz="1800" dirty="0"/>
          </a:p>
        </p:txBody>
      </p:sp>
      <p:sp>
        <p:nvSpPr>
          <p:cNvPr id="25" name="Shape 25"/>
          <p:cNvSpPr txBox="1"/>
          <p:nvPr/>
        </p:nvSpPr>
        <p:spPr>
          <a:xfrm>
            <a:off x="2849819"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(0, that number)</a:t>
            </a:r>
            <a:endParaRPr lang="en-US" sz="1800" dirty="0"/>
          </a:p>
        </p:txBody>
      </p:sp>
      <p:sp>
        <p:nvSpPr>
          <p:cNvPr id="26" name="Shape 26"/>
          <p:cNvSpPr txBox="1"/>
          <p:nvPr/>
        </p:nvSpPr>
        <p:spPr>
          <a:xfrm>
            <a:off x="7177857" y="4018788"/>
            <a:ext cx="4328038" cy="475488"/>
          </a:xfrm>
          <a:prstGeom prst="rect">
            <a:avLst/>
          </a:prstGeom>
          <a:noFill/>
          <a:ln>
            <a:noFill/>
          </a:ln>
        </p:spPr>
        <p:txBody>
          <a:bodyPr wrap="square" lIns="109728" tIns="45720" rIns="109728" bIns="45720" anchor="ctr">
            <a:noAutofit/>
          </a:bodyPr>
          <a:lstStyle/>
          <a:p>
            <a:pPr algn="l">
              <a:lnSpc>
                <a:spcPct val="100000"/>
              </a:lnSpc>
            </a:pPr>
            <a:r>
              <a:rPr lang="en-US" sz="1800" dirty="0">
                <a:solidFill>
                  <a:srgbClr val="16171D"/>
                </a:solidFill>
                <a:latin typeface="Segoe UI"/>
                <a:cs typeface="Segoe UI"/>
              </a:rPr>
              <a:t xml:space="preserve">none (unless it's </a:t>
            </a:r>
            <a:r>
              <a:rPr lang="en-US" sz="1800" dirty="0" i="1">
                <a:solidFill>
                  <a:srgbClr val="16171D"/>
                </a:solidFill>
                <a:latin typeface="Segoe UI"/>
                <a:cs typeface="Segoe UI"/>
              </a:rPr>
              <a:t xml:space="preserve">x</a:t>
            </a:r>
            <a:r>
              <a:rPr lang="en-US" sz="1800" dirty="0">
                <a:solidFill>
                  <a:srgbClr val="16171D"/>
                </a:solidFill>
                <a:latin typeface="Segoe UI"/>
                <a:cs typeface="Segoe UI"/>
              </a:rPr>
              <a:t xml:space="preserve"> = 0)</a:t>
            </a:r>
            <a:endParaRPr lang="en-US" sz="1800" dirty="0"/>
          </a:p>
        </p:txBody>
      </p:sp>
      <p:cxnSp>
        <p:nvCxnSpPr>
          <p:cNvPr id="27" name="Line 27"/>
          <p:cNvCxnSpPr/>
          <p:nvPr/>
        </p:nvCxnSpPr>
        <p:spPr>
          <a:xfrm>
            <a:off x="685800" y="4494276"/>
            <a:ext cx="10820095" cy="0"/>
          </a:xfrm>
          <a:prstGeom prst="line">
            <a:avLst/>
          </a:prstGeom>
          <a:ln w="9525" cap="flat">
            <a:solidFill>
              <a:srgbClr val="E3E4EC"/>
            </a:solidFill>
          </a:ln>
        </p:spPr>
      </p:cxnSp>
      <p:sp>
        <p:nvSpPr>
          <p:cNvPr id="28" name="Shape 28"/>
          <p:cNvSpPr txBox="1"/>
          <p:nvPr/>
        </p:nvSpPr>
        <p:spPr>
          <a:xfrm>
            <a:off x="685800" y="4665726"/>
            <a:ext cx="7958366" cy="939546"/>
          </a:xfrm>
          <a:prstGeom prst="roundRect">
            <a:avLst>
              <a:gd name="adj" fmla="val 8000"/>
            </a:avLst>
          </a:prstGeom>
          <a:noFill/>
          <a:ln w="19050">
            <a:solidFill>
              <a:srgbClr val="3050B8"/>
            </a:solidFill>
            <a:prstDash val="dash"/>
          </a:ln>
        </p:spPr>
        <p:txBody>
          <a:bodyPr wrap="square" lIns="228600" tIns="109728" rIns="228600" bIns="109728" anchor="ctr">
            <a:noAutofit/>
          </a:bodyPr>
          <a:lstStyle/>
          <a:p>
            <a:pPr algn="l">
              <a:lnSpc>
                <a:spcPct val="100000"/>
              </a:lnSpc>
            </a:pPr>
            <a:r>
              <a:rPr lang="en-US" sz="1575" dirty="0">
                <a:solidFill>
                  <a:srgbClr val="16171D"/>
                </a:solidFill>
                <a:latin typeface="Segoe UI"/>
                <a:cs typeface="Segoe UI"/>
              </a:rPr>
              <a:t xml:space="preserve">Memory trick: </a:t>
            </a:r>
            <a:r>
              <a:rPr lang="en-US" sz="1575" dirty="0" b="1">
                <a:solidFill>
                  <a:srgbClr val="16171D"/>
                </a:solidFill>
                <a:latin typeface="Segoe UI"/>
                <a:cs typeface="Segoe UI"/>
              </a:rPr>
              <a:t xml:space="preserve">HOY VUX</a:t>
            </a:r>
            <a:br>
              <a:rPr lang="en-US" sz="1575" dirty="0">
                <a:solidFill>
                  <a:srgbClr val="16171D"/>
                </a:solidFill>
                <a:latin typeface="Segoe UI"/>
                <a:cs typeface="Segoe UI"/>
              </a:rPr>
            </a:br>
            <a:r>
              <a:rPr lang="en-US" sz="1575" dirty="0" b="1">
                <a:solidFill>
                  <a:srgbClr val="16171D"/>
                </a:solidFill>
                <a:latin typeface="Segoe UI"/>
                <a:cs typeface="Segoe UI"/>
              </a:rPr>
              <a:t xml:space="preserve">H</a:t>
            </a:r>
            <a:r>
              <a:rPr lang="en-US" sz="1575" dirty="0">
                <a:solidFill>
                  <a:srgbClr val="16171D"/>
                </a:solidFill>
                <a:latin typeface="Segoe UI"/>
                <a:cs typeface="Segoe UI"/>
              </a:rPr>
              <a:t xml:space="preserve"> = Horizontal line · </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 zer</a:t>
            </a:r>
            <a:r>
              <a:rPr lang="en-US" sz="1575" dirty="0" b="1">
                <a:solidFill>
                  <a:srgbClr val="16171D"/>
                </a:solidFill>
                <a:latin typeface="Segoe UI"/>
                <a:cs typeface="Segoe UI"/>
              </a:rPr>
              <a:t xml:space="preserve">O</a:t>
            </a:r>
            <a:r>
              <a:rPr lang="en-US" sz="1575" dirty="0">
                <a:solidFill>
                  <a:srgbClr val="16171D"/>
                </a:solidFill>
                <a:latin typeface="Segoe UI"/>
                <a:cs typeface="Segoe UI"/>
              </a:rPr>
              <a:t xml:space="preserve"> slope · </a:t>
            </a:r>
            <a:r>
              <a:rPr lang="en-US" sz="1575" dirty="0" b="1">
                <a:solidFill>
                  <a:srgbClr val="16171D"/>
                </a:solidFill>
                <a:latin typeface="Segoe UI"/>
                <a:cs typeface="Segoe UI"/>
              </a:rPr>
              <a:t xml:space="preserve">Y</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a:t>
            </a:r>
            <a:br>
              <a:rPr lang="en-US" sz="1575" dirty="0">
                <a:solidFill>
                  <a:srgbClr val="16171D"/>
                </a:solidFill>
                <a:latin typeface="Segoe UI"/>
                <a:cs typeface="Segoe UI"/>
              </a:rPr>
            </a:br>
            <a:r>
              <a:rPr lang="en-US" sz="1575" dirty="0" b="1">
                <a:solidFill>
                  <a:srgbClr val="16171D"/>
                </a:solidFill>
                <a:latin typeface="Segoe UI"/>
                <a:cs typeface="Segoe UI"/>
              </a:rPr>
              <a:t xml:space="preserve">V</a:t>
            </a:r>
            <a:r>
              <a:rPr lang="en-US" sz="1575" dirty="0">
                <a:solidFill>
                  <a:srgbClr val="16171D"/>
                </a:solidFill>
                <a:latin typeface="Segoe UI"/>
                <a:cs typeface="Segoe UI"/>
              </a:rPr>
              <a:t xml:space="preserve"> = Vertical line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 = </a:t>
            </a:r>
            <a:r>
              <a:rPr lang="en-US" sz="1575" dirty="0" b="1">
                <a:solidFill>
                  <a:srgbClr val="16171D"/>
                </a:solidFill>
                <a:latin typeface="Segoe UI"/>
                <a:cs typeface="Segoe UI"/>
              </a:rPr>
              <a:t xml:space="preserve">U</a:t>
            </a:r>
            <a:r>
              <a:rPr lang="en-US" sz="1575" dirty="0">
                <a:solidFill>
                  <a:srgbClr val="16171D"/>
                </a:solidFill>
                <a:latin typeface="Segoe UI"/>
                <a:cs typeface="Segoe UI"/>
              </a:rPr>
              <a:t xml:space="preserve">ndefined slope · </a:t>
            </a:r>
            <a:r>
              <a:rPr lang="en-US" sz="1575" dirty="0" b="1">
                <a:solidFill>
                  <a:srgbClr val="16171D"/>
                </a:solidFill>
                <a:latin typeface="Segoe UI"/>
                <a:cs typeface="Segoe UI"/>
              </a:rPr>
              <a:t xml:space="preserve">X</a:t>
            </a:r>
            <a:r>
              <a:rPr lang="en-US" sz="1575" dirty="0">
                <a:solidFill>
                  <a:srgbClr val="16171D"/>
                </a:solidFill>
                <a:latin typeface="Segoe UI"/>
                <a:cs typeface="Segoe UI"/>
              </a:rPr>
              <a:t xml:space="preserve"> = equation is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a:t>
            </a:r>
            <a:endParaRPr lang="en-US" sz="1575" dirty="0"/>
          </a:p>
        </p:txBody>
      </p:sp>
      <p:sp>
        <p:nvSpPr>
          <p:cNvPr id="29" name="Slide Number 2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23" fill="hold">
                      <p:stCondLst>
                        <p:cond delay="indefinite"/>
                      </p:stCondLst>
                      <p:childTnLst>
                        <p:par>
                          <p:cTn id="24"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8"/>
                                        </p:tgtEl>
                                        <p:attrNameLst>
                                          <p:attrName>style.visibility</p:attrName>
                                        </p:attrNameLst>
                                      </p:cBhvr>
                                      <p:to>
                                        <p:strVal val="visible"/>
                                      </p:to>
                                    </p:set>
                                    <p:animEffect transition="in" filter="fade">
                                      <p:cBhvr>
                                        <p:cTn id="4" dur="500"/>
                                        <p:tgtEl>
                                          <p:spTgt spid="8"/>
                                        </p:tgtEl>
                                      </p:cBhvr>
                                    </p:animEffect>
                                    <p:anim calcmode="lin" valueType="num">
                                      <p:cBhvr>
                                        <p:cTn id="5" dur="500" fill="hold"/>
                                        <p:tgtEl>
                                          <p:spTgt spid="8"/>
                                        </p:tgtEl>
                                        <p:attrNameLst>
                                          <p:attrName>ppt_x</p:attrName>
                                        </p:attrNameLst>
                                      </p:cBhvr>
                                      <p:tavLst>
                                        <p:tav tm="0">
                                          <p:val>
                                            <p:strVal val="#ppt_x"/>
                                          </p:val>
                                        </p:tav>
                                        <p:tav tm="100000">
                                          <p:val>
                                            <p:strVal val="#ppt_x"/>
                                          </p:val>
                                        </p:tav>
                                      </p:tavLst>
                                    </p:anim>
                                    <p:anim calcmode="lin" valueType="num">
                                      <p:cBhvr>
                                        <p:cTn id="6" dur="500" fill="hold"/>
                                        <p:tgtEl>
                                          <p:spTgt spid="8"/>
                                        </p:tgtEl>
                                        <p:attrNameLst>
                                          <p:attrName>ppt_y</p:attrName>
                                        </p:attrNameLst>
                                      </p:cBhvr>
                                      <p:tavLst>
                                        <p:tav tm="0">
                                          <p:val>
                                            <p:strVal val="#ppt_y+.1"/>
                                          </p:val>
                                        </p:tav>
                                        <p:tav tm="100000">
                                          <p:val>
                                            <p:strVal val="#ppt_y"/>
                                          </p:val>
                                        </p:tav>
                                      </p:tavLst>
                                    </p:anim>
                                  </p:childTnLst>
                                </p:cTn>
                              </p:par>
                              <p:par>
                                <p:cTn id="12" presetID="42"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animEffect transition="in" filter="fade">
                                      <p:cBhvr>
                                        <p:cTn id="9" dur="500"/>
                                        <p:tgtEl>
                                          <p:spTgt spid="9"/>
                                        </p:tgtEl>
                                      </p:cBhvr>
                                    </p:animEffect>
                                    <p:anim calcmode="lin" valueType="num">
                                      <p:cBhvr>
                                        <p:cTn id="10" dur="500" fill="hold"/>
                                        <p:tgtEl>
                                          <p:spTgt spid="9"/>
                                        </p:tgtEl>
                                        <p:attrNameLst>
                                          <p:attrName>ppt_x</p:attrName>
                                        </p:attrNameLst>
                                      </p:cBhvr>
                                      <p:tavLst>
                                        <p:tav tm="0">
                                          <p:val>
                                            <p:strVal val="#ppt_x"/>
                                          </p:val>
                                        </p:tav>
                                        <p:tav tm="100000">
                                          <p:val>
                                            <p:strVal val="#ppt_x"/>
                                          </p:val>
                                        </p:tav>
                                      </p:tavLst>
                                    </p:anim>
                                    <p:anim calcmode="lin" valueType="num">
                                      <p:cBhvr>
                                        <p:cTn id="11" dur="500" fill="hold"/>
                                        <p:tgtEl>
                                          <p:spTgt spid="9"/>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par>
                                <p:cTn id="22" presetID="42" presetClass="entr" presetSubtype="0" fill="hold" nodeType="with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fade">
                                      <p:cBhvr>
                                        <p:cTn id="19" dur="500"/>
                                        <p:tgtEl>
                                          <p:spTgt spid="11"/>
                                        </p:tgtEl>
                                      </p:cBhvr>
                                    </p:animEffect>
                                    <p:anim calcmode="lin" valueType="num">
                                      <p:cBhvr>
                                        <p:cTn id="20" dur="500" fill="hold"/>
                                        <p:tgtEl>
                                          <p:spTgt spid="11"/>
                                        </p:tgtEl>
                                        <p:attrNameLst>
                                          <p:attrName>ppt_x</p:attrName>
                                        </p:attrNameLst>
                                      </p:cBhvr>
                                      <p:tavLst>
                                        <p:tav tm="0">
                                          <p:val>
                                            <p:strVal val="#ppt_x"/>
                                          </p:val>
                                        </p:tav>
                                        <p:tav tm="100000">
                                          <p:val>
                                            <p:strVal val="#ppt_x"/>
                                          </p:val>
                                        </p:tav>
                                      </p:tavLst>
                                    </p:anim>
                                    <p:anim calcmode="lin" valueType="num">
                                      <p:cBhvr>
                                        <p:cTn id="21"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12"/>
                                        </p:tgtEl>
                                        <p:attrNameLst>
                                          <p:attrName>style.visibility</p:attrName>
                                        </p:attrNameLst>
                                      </p:cBhvr>
                                      <p:to>
                                        <p:strVal val="visible"/>
                                      </p:to>
                                    </p:set>
                                    <p:animEffect transition="in" filter="fade">
                                      <p:cBhvr>
                                        <p:cTn id="26" dur="500"/>
                                        <p:tgtEl>
                                          <p:spTgt spid="12"/>
                                        </p:tgtEl>
                                      </p:cBhvr>
                                    </p:animEffect>
                                    <p:anim calcmode="lin" valueType="num">
                                      <p:cBhvr>
                                        <p:cTn id="27" dur="500" fill="hold"/>
                                        <p:tgtEl>
                                          <p:spTgt spid="12"/>
                                        </p:tgtEl>
                                        <p:attrNameLst>
                                          <p:attrName>ppt_x</p:attrName>
                                        </p:attrNameLst>
                                      </p:cBhvr>
                                      <p:tavLst>
                                        <p:tav tm="0">
                                          <p:val>
                                            <p:strVal val="#ppt_x"/>
                                          </p:val>
                                        </p:tav>
                                        <p:tav tm="100000">
                                          <p:val>
                                            <p:strVal val="#ppt_x"/>
                                          </p:val>
                                        </p:tav>
                                      </p:tavLst>
                                    </p:anim>
                                    <p:anim calcmode="lin" valueType="num">
                                      <p:cBhvr>
                                        <p:cTn id="28" dur="500" fill="hold"/>
                                        <p:tgtEl>
                                          <p:spTgt spid="12"/>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fade">
                                      <p:cBhvr>
                                        <p:cTn id="31" dur="500"/>
                                        <p:tgtEl>
                                          <p:spTgt spid="13"/>
                                        </p:tgtEl>
                                      </p:cBhvr>
                                    </p:animEffect>
                                    <p:anim calcmode="lin" valueType="num">
                                      <p:cBhvr>
                                        <p:cTn id="32" dur="500" fill="hold"/>
                                        <p:tgtEl>
                                          <p:spTgt spid="13"/>
                                        </p:tgtEl>
                                        <p:attrNameLst>
                                          <p:attrName>ppt_x</p:attrName>
                                        </p:attrNameLst>
                                      </p:cBhvr>
                                      <p:tavLst>
                                        <p:tav tm="0">
                                          <p:val>
                                            <p:strVal val="#ppt_x"/>
                                          </p:val>
                                        </p:tav>
                                        <p:tav tm="100000">
                                          <p:val>
                                            <p:strVal val="#ppt_x"/>
                                          </p:val>
                                        </p:tav>
                                      </p:tavLst>
                                    </p:anim>
                                    <p:anim calcmode="lin" valueType="num">
                                      <p:cBhvr>
                                        <p:cTn id="33" dur="500" fill="hold"/>
                                        <p:tgtEl>
                                          <p:spTgt spid="13"/>
                                        </p:tgtEl>
                                        <p:attrNameLst>
                                          <p:attrName>ppt_y</p:attrName>
                                        </p:attrNameLst>
                                      </p:cBhvr>
                                      <p:tavLst>
                                        <p:tav tm="0">
                                          <p:val>
                                            <p:strVal val="#ppt_y+.1"/>
                                          </p:val>
                                        </p:tav>
                                        <p:tav tm="100000">
                                          <p:val>
                                            <p:strVal val="#ppt_y"/>
                                          </p:val>
                                        </p:tav>
                                      </p:tavLst>
                                    </p:anim>
                                  </p:childTnLst>
                                </p:cTn>
                              </p:par>
                              <p:par>
                                <p:cTn id="39" presetID="42" presetClass="entr" presetSubtype="0" fill="hold" nodeType="withEffect">
                                  <p:stCondLst>
                                    <p:cond delay="0"/>
                                  </p:stCondLst>
                                  <p:childTnLst>
                                    <p:set>
                                      <p:cBhvr>
                                        <p:cTn id="35" dur="1" fill="hold">
                                          <p:stCondLst>
                                            <p:cond delay="0"/>
                                          </p:stCondLst>
                                        </p:cTn>
                                        <p:tgtEl>
                                          <p:spTgt spid="14"/>
                                        </p:tgtEl>
                                        <p:attrNameLst>
                                          <p:attrName>style.visibility</p:attrName>
                                        </p:attrNameLst>
                                      </p:cBhvr>
                                      <p:to>
                                        <p:strVal val="visible"/>
                                      </p:to>
                                    </p:set>
                                    <p:animEffect transition="in" filter="fade">
                                      <p:cBhvr>
                                        <p:cTn id="36" dur="500"/>
                                        <p:tgtEl>
                                          <p:spTgt spid="14"/>
                                        </p:tgtEl>
                                      </p:cBhvr>
                                    </p:animEffect>
                                    <p:anim calcmode="lin" valueType="num">
                                      <p:cBhvr>
                                        <p:cTn id="37" dur="500" fill="hold"/>
                                        <p:tgtEl>
                                          <p:spTgt spid="14"/>
                                        </p:tgtEl>
                                        <p:attrNameLst>
                                          <p:attrName>ppt_x</p:attrName>
                                        </p:attrNameLst>
                                      </p:cBhvr>
                                      <p:tavLst>
                                        <p:tav tm="0">
                                          <p:val>
                                            <p:strVal val="#ppt_x"/>
                                          </p:val>
                                        </p:tav>
                                        <p:tav tm="100000">
                                          <p:val>
                                            <p:strVal val="#ppt_x"/>
                                          </p:val>
                                        </p:tav>
                                      </p:tavLst>
                                    </p:anim>
                                    <p:anim calcmode="lin" valueType="num">
                                      <p:cBhvr>
                                        <p:cTn id="38" dur="500" fill="hold"/>
                                        <p:tgtEl>
                                          <p:spTgt spid="14"/>
                                        </p:tgtEl>
                                        <p:attrNameLst>
                                          <p:attrName>ppt_y</p:attrName>
                                        </p:attrNameLst>
                                      </p:cBhvr>
                                      <p:tavLst>
                                        <p:tav tm="0">
                                          <p:val>
                                            <p:strVal val="#ppt_y+.1"/>
                                          </p:val>
                                        </p:tav>
                                        <p:tav tm="100000">
                                          <p:val>
                                            <p:strVal val="#ppt_y"/>
                                          </p:val>
                                        </p:tav>
                                      </p:tavLst>
                                    </p:anim>
                                  </p:childTnLst>
                                </p:cTn>
                              </p:par>
                              <p:par>
                                <p:cTn id="44" presetID="42" presetClass="entr" presetSubtype="0" fill="hold" nodeType="withEffect">
                                  <p:stCondLst>
                                    <p:cond delay="0"/>
                                  </p:stCondLst>
                                  <p:childTnLst>
                                    <p:set>
                                      <p:cBhvr>
                                        <p:cTn id="40" dur="1" fill="hold">
                                          <p:stCondLst>
                                            <p:cond delay="0"/>
                                          </p:stCondLst>
                                        </p:cTn>
                                        <p:tgtEl>
                                          <p:spTgt spid="15"/>
                                        </p:tgtEl>
                                        <p:attrNameLst>
                                          <p:attrName>style.visibility</p:attrName>
                                        </p:attrNameLst>
                                      </p:cBhvr>
                                      <p:to>
                                        <p:strVal val="visible"/>
                                      </p:to>
                                    </p:set>
                                    <p:animEffect transition="in" filter="fade">
                                      <p:cBhvr>
                                        <p:cTn id="41" dur="500"/>
                                        <p:tgtEl>
                                          <p:spTgt spid="15"/>
                                        </p:tgtEl>
                                      </p:cBhvr>
                                    </p:animEffect>
                                    <p:anim calcmode="lin" valueType="num">
                                      <p:cBhvr>
                                        <p:cTn id="42" dur="500" fill="hold"/>
                                        <p:tgtEl>
                                          <p:spTgt spid="15"/>
                                        </p:tgtEl>
                                        <p:attrNameLst>
                                          <p:attrName>ppt_x</p:attrName>
                                        </p:attrNameLst>
                                      </p:cBhvr>
                                      <p:tavLst>
                                        <p:tav tm="0">
                                          <p:val>
                                            <p:strVal val="#ppt_x"/>
                                          </p:val>
                                        </p:tav>
                                        <p:tav tm="100000">
                                          <p:val>
                                            <p:strVal val="#ppt_x"/>
                                          </p:val>
                                        </p:tav>
                                      </p:tavLst>
                                    </p:anim>
                                    <p:anim calcmode="lin" valueType="num">
                                      <p:cBhvr>
                                        <p:cTn id="43" dur="500" fill="hold"/>
                                        <p:tgtEl>
                                          <p:spTgt spid="15"/>
                                        </p:tgtEl>
                                        <p:attrNameLst>
                                          <p:attrName>ppt_y</p:attrName>
                                        </p:attrNameLst>
                                      </p:cBhvr>
                                      <p:tavLst>
                                        <p:tav tm="0">
                                          <p:val>
                                            <p:strVal val="#ppt_y+.1"/>
                                          </p:val>
                                        </p:tav>
                                        <p:tav tm="100000">
                                          <p:val>
                                            <p:strVal val="#ppt_y"/>
                                          </p:val>
                                        </p:tav>
                                      </p:tavLst>
                                    </p:anim>
                                  </p:childTnLst>
                                </p:cTn>
                              </p:par>
                            </p:childTnLst>
                          </p:cTn>
                        </p:par>
                      </p:childTnLst>
                    </p:cTn>
                  </p:par>
                  <p:par>
                    <p:cTn id="67" fill="hold">
                      <p:stCondLst>
                        <p:cond delay="indefinite"/>
                      </p:stCondLst>
                      <p:childTnLst>
                        <p:par>
                          <p:cTn id="68" fill="hold">
                            <p:stCondLst>
                              <p:cond delay="0"/>
                            </p:stCondLst>
                            <p:childTnLst>
                              <p:par>
                                <p:cTn id="51" presetID="42" presetClass="entr" presetSubtype="0" fill="hold" nodeType="clickEffect">
                                  <p:stCondLst>
                                    <p:cond delay="0"/>
                                  </p:stCondLst>
                                  <p:childTnLst>
                                    <p:set>
                                      <p:cBhvr>
                                        <p:cTn id="47" dur="1" fill="hold">
                                          <p:stCondLst>
                                            <p:cond delay="0"/>
                                          </p:stCondLst>
                                        </p:cTn>
                                        <p:tgtEl>
                                          <p:spTgt spid="16"/>
                                        </p:tgtEl>
                                        <p:attrNameLst>
                                          <p:attrName>style.visibility</p:attrName>
                                        </p:attrNameLst>
                                      </p:cBhvr>
                                      <p:to>
                                        <p:strVal val="visible"/>
                                      </p:to>
                                    </p:set>
                                    <p:animEffect transition="in" filter="fade">
                                      <p:cBhvr>
                                        <p:cTn id="48" dur="500"/>
                                        <p:tgtEl>
                                          <p:spTgt spid="16"/>
                                        </p:tgtEl>
                                      </p:cBhvr>
                                    </p:animEffect>
                                    <p:anim calcmode="lin" valueType="num">
                                      <p:cBhvr>
                                        <p:cTn id="49" dur="500" fill="hold"/>
                                        <p:tgtEl>
                                          <p:spTgt spid="16"/>
                                        </p:tgtEl>
                                        <p:attrNameLst>
                                          <p:attrName>ppt_x</p:attrName>
                                        </p:attrNameLst>
                                      </p:cBhvr>
                                      <p:tavLst>
                                        <p:tav tm="0">
                                          <p:val>
                                            <p:strVal val="#ppt_x"/>
                                          </p:val>
                                        </p:tav>
                                        <p:tav tm="100000">
                                          <p:val>
                                            <p:strVal val="#ppt_x"/>
                                          </p:val>
                                        </p:tav>
                                      </p:tavLst>
                                    </p:anim>
                                    <p:anim calcmode="lin" valueType="num">
                                      <p:cBhvr>
                                        <p:cTn id="50" dur="500" fill="hold"/>
                                        <p:tgtEl>
                                          <p:spTgt spid="16"/>
                                        </p:tgtEl>
                                        <p:attrNameLst>
                                          <p:attrName>ppt_y</p:attrName>
                                        </p:attrNameLst>
                                      </p:cBhvr>
                                      <p:tavLst>
                                        <p:tav tm="0">
                                          <p:val>
                                            <p:strVal val="#ppt_y+.1"/>
                                          </p:val>
                                        </p:tav>
                                        <p:tav tm="100000">
                                          <p:val>
                                            <p:strVal val="#ppt_y"/>
                                          </p:val>
                                        </p:tav>
                                      </p:tavLst>
                                    </p:anim>
                                  </p:childTnLst>
                                </p:cTn>
                              </p:par>
                              <p:par>
                                <p:cTn id="56" presetID="42" presetClass="entr" presetSubtype="0" fill="hold" nodeType="withEffect">
                                  <p:stCondLst>
                                    <p:cond delay="0"/>
                                  </p:stCondLst>
                                  <p:childTnLst>
                                    <p:set>
                                      <p:cBhvr>
                                        <p:cTn id="52" dur="1" fill="hold">
                                          <p:stCondLst>
                                            <p:cond delay="0"/>
                                          </p:stCondLst>
                                        </p:cTn>
                                        <p:tgtEl>
                                          <p:spTgt spid="17"/>
                                        </p:tgtEl>
                                        <p:attrNameLst>
                                          <p:attrName>style.visibility</p:attrName>
                                        </p:attrNameLst>
                                      </p:cBhvr>
                                      <p:to>
                                        <p:strVal val="visible"/>
                                      </p:to>
                                    </p:set>
                                    <p:animEffect transition="in" filter="fade">
                                      <p:cBhvr>
                                        <p:cTn id="53" dur="500"/>
                                        <p:tgtEl>
                                          <p:spTgt spid="17"/>
                                        </p:tgtEl>
                                      </p:cBhvr>
                                    </p:animEffect>
                                    <p:anim calcmode="lin" valueType="num">
                                      <p:cBhvr>
                                        <p:cTn id="54" dur="500" fill="hold"/>
                                        <p:tgtEl>
                                          <p:spTgt spid="17"/>
                                        </p:tgtEl>
                                        <p:attrNameLst>
                                          <p:attrName>ppt_x</p:attrName>
                                        </p:attrNameLst>
                                      </p:cBhvr>
                                      <p:tavLst>
                                        <p:tav tm="0">
                                          <p:val>
                                            <p:strVal val="#ppt_x"/>
                                          </p:val>
                                        </p:tav>
                                        <p:tav tm="100000">
                                          <p:val>
                                            <p:strVal val="#ppt_x"/>
                                          </p:val>
                                        </p:tav>
                                      </p:tavLst>
                                    </p:anim>
                                    <p:anim calcmode="lin" valueType="num">
                                      <p:cBhvr>
                                        <p:cTn id="55" dur="500" fill="hold"/>
                                        <p:tgtEl>
                                          <p:spTgt spid="17"/>
                                        </p:tgtEl>
                                        <p:attrNameLst>
                                          <p:attrName>ppt_y</p:attrName>
                                        </p:attrNameLst>
                                      </p:cBhvr>
                                      <p:tavLst>
                                        <p:tav tm="0">
                                          <p:val>
                                            <p:strVal val="#ppt_y+.1"/>
                                          </p:val>
                                        </p:tav>
                                        <p:tav tm="100000">
                                          <p:val>
                                            <p:strVal val="#ppt_y"/>
                                          </p:val>
                                        </p:tav>
                                      </p:tavLst>
                                    </p:anim>
                                  </p:childTnLst>
                                </p:cTn>
                              </p:par>
                              <p:par>
                                <p:cTn id="61" presetID="42" presetClass="entr" presetSubtype="0" fill="hold" nodeType="withEffect">
                                  <p:stCondLst>
                                    <p:cond delay="0"/>
                                  </p:stCondLst>
                                  <p:childTnLst>
                                    <p:set>
                                      <p:cBhvr>
                                        <p:cTn id="57" dur="1" fill="hold">
                                          <p:stCondLst>
                                            <p:cond delay="0"/>
                                          </p:stCondLst>
                                        </p:cTn>
                                        <p:tgtEl>
                                          <p:spTgt spid="18"/>
                                        </p:tgtEl>
                                        <p:attrNameLst>
                                          <p:attrName>style.visibility</p:attrName>
                                        </p:attrNameLst>
                                      </p:cBhvr>
                                      <p:to>
                                        <p:strVal val="visible"/>
                                      </p:to>
                                    </p:set>
                                    <p:animEffect transition="in" filter="fade">
                                      <p:cBhvr>
                                        <p:cTn id="58" dur="500"/>
                                        <p:tgtEl>
                                          <p:spTgt spid="18"/>
                                        </p:tgtEl>
                                      </p:cBhvr>
                                    </p:animEffect>
                                    <p:anim calcmode="lin" valueType="num">
                                      <p:cBhvr>
                                        <p:cTn id="59" dur="500" fill="hold"/>
                                        <p:tgtEl>
                                          <p:spTgt spid="18"/>
                                        </p:tgtEl>
                                        <p:attrNameLst>
                                          <p:attrName>ppt_x</p:attrName>
                                        </p:attrNameLst>
                                      </p:cBhvr>
                                      <p:tavLst>
                                        <p:tav tm="0">
                                          <p:val>
                                            <p:strVal val="#ppt_x"/>
                                          </p:val>
                                        </p:tav>
                                        <p:tav tm="100000">
                                          <p:val>
                                            <p:strVal val="#ppt_x"/>
                                          </p:val>
                                        </p:tav>
                                      </p:tavLst>
                                    </p:anim>
                                    <p:anim calcmode="lin" valueType="num">
                                      <p:cBhvr>
                                        <p:cTn id="60" dur="500" fill="hold"/>
                                        <p:tgtEl>
                                          <p:spTgt spid="18"/>
                                        </p:tgtEl>
                                        <p:attrNameLst>
                                          <p:attrName>ppt_y</p:attrName>
                                        </p:attrNameLst>
                                      </p:cBhvr>
                                      <p:tavLst>
                                        <p:tav tm="0">
                                          <p:val>
                                            <p:strVal val="#ppt_y+.1"/>
                                          </p:val>
                                        </p:tav>
                                        <p:tav tm="100000">
                                          <p:val>
                                            <p:strVal val="#ppt_y"/>
                                          </p:val>
                                        </p:tav>
                                      </p:tavLst>
                                    </p:anim>
                                  </p:childTnLst>
                                </p:cTn>
                              </p:par>
                              <p:par>
                                <p:cTn id="66" presetID="42" presetClass="entr" presetSubtype="0" fill="hold" nodeType="withEffect">
                                  <p:stCondLst>
                                    <p:cond delay="0"/>
                                  </p:stCondLst>
                                  <p:childTnLst>
                                    <p:set>
                                      <p:cBhvr>
                                        <p:cTn id="62" dur="1" fill="hold">
                                          <p:stCondLst>
                                            <p:cond delay="0"/>
                                          </p:stCondLst>
                                        </p:cTn>
                                        <p:tgtEl>
                                          <p:spTgt spid="19"/>
                                        </p:tgtEl>
                                        <p:attrNameLst>
                                          <p:attrName>style.visibility</p:attrName>
                                        </p:attrNameLst>
                                      </p:cBhvr>
                                      <p:to>
                                        <p:strVal val="visible"/>
                                      </p:to>
                                    </p:set>
                                    <p:animEffect transition="in" filter="fade">
                                      <p:cBhvr>
                                        <p:cTn id="63" dur="500"/>
                                        <p:tgtEl>
                                          <p:spTgt spid="19"/>
                                        </p:tgtEl>
                                      </p:cBhvr>
                                    </p:animEffect>
                                    <p:anim calcmode="lin" valueType="num">
                                      <p:cBhvr>
                                        <p:cTn id="64" dur="500" fill="hold"/>
                                        <p:tgtEl>
                                          <p:spTgt spid="19"/>
                                        </p:tgtEl>
                                        <p:attrNameLst>
                                          <p:attrName>ppt_x</p:attrName>
                                        </p:attrNameLst>
                                      </p:cBhvr>
                                      <p:tavLst>
                                        <p:tav tm="0">
                                          <p:val>
                                            <p:strVal val="#ppt_x"/>
                                          </p:val>
                                        </p:tav>
                                        <p:tav tm="100000">
                                          <p:val>
                                            <p:strVal val="#ppt_x"/>
                                          </p:val>
                                        </p:tav>
                                      </p:tavLst>
                                    </p:anim>
                                    <p:anim calcmode="lin" valueType="num">
                                      <p:cBhvr>
                                        <p:cTn id="65" dur="500" fill="hold"/>
                                        <p:tgtEl>
                                          <p:spTgt spid="19"/>
                                        </p:tgtEl>
                                        <p:attrNameLst>
                                          <p:attrName>ppt_y</p:attrName>
                                        </p:attrNameLst>
                                      </p:cBhvr>
                                      <p:tavLst>
                                        <p:tav tm="0">
                                          <p:val>
                                            <p:strVal val="#ppt_y+.1"/>
                                          </p:val>
                                        </p:tav>
                                        <p:tav tm="100000">
                                          <p:val>
                                            <p:strVal val="#ppt_y"/>
                                          </p:val>
                                        </p:tav>
                                      </p:tavLst>
                                    </p:anim>
                                  </p:childTnLst>
                                </p:cTn>
                              </p:par>
                            </p:childTnLst>
                          </p:cTn>
                        </p:par>
                      </p:childTnLst>
                    </p:cTn>
                  </p:par>
                  <p:par>
                    <p:cTn id="89" fill="hold">
                      <p:stCondLst>
                        <p:cond delay="indefinite"/>
                      </p:stCondLst>
                      <p:childTnLst>
                        <p:par>
                          <p:cTn id="90" fill="hold">
                            <p:stCondLst>
                              <p:cond delay="0"/>
                            </p:stCondLst>
                            <p:childTnLst>
                              <p:par>
                                <p:cTn id="73" presetID="42" presetClass="entr" presetSubtype="0" fill="hold" nodeType="clickEffect">
                                  <p:stCondLst>
                                    <p:cond delay="0"/>
                                  </p:stCondLst>
                                  <p:childTnLst>
                                    <p:set>
                                      <p:cBhvr>
                                        <p:cTn id="69" dur="1" fill="hold">
                                          <p:stCondLst>
                                            <p:cond delay="0"/>
                                          </p:stCondLst>
                                        </p:cTn>
                                        <p:tgtEl>
                                          <p:spTgt spid="20"/>
                                        </p:tgtEl>
                                        <p:attrNameLst>
                                          <p:attrName>style.visibility</p:attrName>
                                        </p:attrNameLst>
                                      </p:cBhvr>
                                      <p:to>
                                        <p:strVal val="visible"/>
                                      </p:to>
                                    </p:set>
                                    <p:animEffect transition="in" filter="fade">
                                      <p:cBhvr>
                                        <p:cTn id="70" dur="500"/>
                                        <p:tgtEl>
                                          <p:spTgt spid="20"/>
                                        </p:tgtEl>
                                      </p:cBhvr>
                                    </p:animEffect>
                                    <p:anim calcmode="lin" valueType="num">
                                      <p:cBhvr>
                                        <p:cTn id="71" dur="500" fill="hold"/>
                                        <p:tgtEl>
                                          <p:spTgt spid="20"/>
                                        </p:tgtEl>
                                        <p:attrNameLst>
                                          <p:attrName>ppt_x</p:attrName>
                                        </p:attrNameLst>
                                      </p:cBhvr>
                                      <p:tavLst>
                                        <p:tav tm="0">
                                          <p:val>
                                            <p:strVal val="#ppt_x"/>
                                          </p:val>
                                        </p:tav>
                                        <p:tav tm="100000">
                                          <p:val>
                                            <p:strVal val="#ppt_x"/>
                                          </p:val>
                                        </p:tav>
                                      </p:tavLst>
                                    </p:anim>
                                    <p:anim calcmode="lin" valueType="num">
                                      <p:cBhvr>
                                        <p:cTn id="72" dur="500" fill="hold"/>
                                        <p:tgtEl>
                                          <p:spTgt spid="20"/>
                                        </p:tgtEl>
                                        <p:attrNameLst>
                                          <p:attrName>ppt_y</p:attrName>
                                        </p:attrNameLst>
                                      </p:cBhvr>
                                      <p:tavLst>
                                        <p:tav tm="0">
                                          <p:val>
                                            <p:strVal val="#ppt_y+.1"/>
                                          </p:val>
                                        </p:tav>
                                        <p:tav tm="100000">
                                          <p:val>
                                            <p:strVal val="#ppt_y"/>
                                          </p:val>
                                        </p:tav>
                                      </p:tavLst>
                                    </p:anim>
                                  </p:childTnLst>
                                </p:cTn>
                              </p:par>
                              <p:par>
                                <p:cTn id="78" presetID="42" presetClass="entr" presetSubtype="0" fill="hold" nodeType="withEffect">
                                  <p:stCondLst>
                                    <p:cond delay="0"/>
                                  </p:stCondLst>
                                  <p:childTnLst>
                                    <p:set>
                                      <p:cBhvr>
                                        <p:cTn id="74" dur="1" fill="hold">
                                          <p:stCondLst>
                                            <p:cond delay="0"/>
                                          </p:stCondLst>
                                        </p:cTn>
                                        <p:tgtEl>
                                          <p:spTgt spid="21"/>
                                        </p:tgtEl>
                                        <p:attrNameLst>
                                          <p:attrName>style.visibility</p:attrName>
                                        </p:attrNameLst>
                                      </p:cBhvr>
                                      <p:to>
                                        <p:strVal val="visible"/>
                                      </p:to>
                                    </p:set>
                                    <p:animEffect transition="in" filter="fade">
                                      <p:cBhvr>
                                        <p:cTn id="75" dur="500"/>
                                        <p:tgtEl>
                                          <p:spTgt spid="21"/>
                                        </p:tgtEl>
                                      </p:cBhvr>
                                    </p:animEffect>
                                    <p:anim calcmode="lin" valueType="num">
                                      <p:cBhvr>
                                        <p:cTn id="76" dur="500" fill="hold"/>
                                        <p:tgtEl>
                                          <p:spTgt spid="21"/>
                                        </p:tgtEl>
                                        <p:attrNameLst>
                                          <p:attrName>ppt_x</p:attrName>
                                        </p:attrNameLst>
                                      </p:cBhvr>
                                      <p:tavLst>
                                        <p:tav tm="0">
                                          <p:val>
                                            <p:strVal val="#ppt_x"/>
                                          </p:val>
                                        </p:tav>
                                        <p:tav tm="100000">
                                          <p:val>
                                            <p:strVal val="#ppt_x"/>
                                          </p:val>
                                        </p:tav>
                                      </p:tavLst>
                                    </p:anim>
                                    <p:anim calcmode="lin" valueType="num">
                                      <p:cBhvr>
                                        <p:cTn id="77" dur="500" fill="hold"/>
                                        <p:tgtEl>
                                          <p:spTgt spid="21"/>
                                        </p:tgtEl>
                                        <p:attrNameLst>
                                          <p:attrName>ppt_y</p:attrName>
                                        </p:attrNameLst>
                                      </p:cBhvr>
                                      <p:tavLst>
                                        <p:tav tm="0">
                                          <p:val>
                                            <p:strVal val="#ppt_y+.1"/>
                                          </p:val>
                                        </p:tav>
                                        <p:tav tm="100000">
                                          <p:val>
                                            <p:strVal val="#ppt_y"/>
                                          </p:val>
                                        </p:tav>
                                      </p:tavLst>
                                    </p:anim>
                                  </p:childTnLst>
                                </p:cTn>
                              </p:par>
                              <p:par>
                                <p:cTn id="83" presetID="42" presetClass="entr" presetSubtype="0" fill="hold" nodeType="withEffect">
                                  <p:stCondLst>
                                    <p:cond delay="0"/>
                                  </p:stCondLst>
                                  <p:childTnLst>
                                    <p:set>
                                      <p:cBhvr>
                                        <p:cTn id="79" dur="1" fill="hold">
                                          <p:stCondLst>
                                            <p:cond delay="0"/>
                                          </p:stCondLst>
                                        </p:cTn>
                                        <p:tgtEl>
                                          <p:spTgt spid="22"/>
                                        </p:tgtEl>
                                        <p:attrNameLst>
                                          <p:attrName>style.visibility</p:attrName>
                                        </p:attrNameLst>
                                      </p:cBhvr>
                                      <p:to>
                                        <p:strVal val="visible"/>
                                      </p:to>
                                    </p:set>
                                    <p:animEffect transition="in" filter="fade">
                                      <p:cBhvr>
                                        <p:cTn id="80" dur="500"/>
                                        <p:tgtEl>
                                          <p:spTgt spid="22"/>
                                        </p:tgtEl>
                                      </p:cBhvr>
                                    </p:animEffect>
                                    <p:anim calcmode="lin" valueType="num">
                                      <p:cBhvr>
                                        <p:cTn id="81" dur="500" fill="hold"/>
                                        <p:tgtEl>
                                          <p:spTgt spid="22"/>
                                        </p:tgtEl>
                                        <p:attrNameLst>
                                          <p:attrName>ppt_x</p:attrName>
                                        </p:attrNameLst>
                                      </p:cBhvr>
                                      <p:tavLst>
                                        <p:tav tm="0">
                                          <p:val>
                                            <p:strVal val="#ppt_x"/>
                                          </p:val>
                                        </p:tav>
                                        <p:tav tm="100000">
                                          <p:val>
                                            <p:strVal val="#ppt_x"/>
                                          </p:val>
                                        </p:tav>
                                      </p:tavLst>
                                    </p:anim>
                                    <p:anim calcmode="lin" valueType="num">
                                      <p:cBhvr>
                                        <p:cTn id="82" dur="500" fill="hold"/>
                                        <p:tgtEl>
                                          <p:spTgt spid="22"/>
                                        </p:tgtEl>
                                        <p:attrNameLst>
                                          <p:attrName>ppt_y</p:attrName>
                                        </p:attrNameLst>
                                      </p:cBhvr>
                                      <p:tavLst>
                                        <p:tav tm="0">
                                          <p:val>
                                            <p:strVal val="#ppt_y+.1"/>
                                          </p:val>
                                        </p:tav>
                                        <p:tav tm="100000">
                                          <p:val>
                                            <p:strVal val="#ppt_y"/>
                                          </p:val>
                                        </p:tav>
                                      </p:tavLst>
                                    </p:anim>
                                  </p:childTnLst>
                                </p:cTn>
                              </p:par>
                              <p:par>
                                <p:cTn id="88" presetID="42" presetClass="entr" presetSubtype="0" fill="hold" nodeType="withEffect">
                                  <p:stCondLst>
                                    <p:cond delay="0"/>
                                  </p:stCondLst>
                                  <p:childTnLst>
                                    <p:set>
                                      <p:cBhvr>
                                        <p:cTn id="84" dur="1" fill="hold">
                                          <p:stCondLst>
                                            <p:cond delay="0"/>
                                          </p:stCondLst>
                                        </p:cTn>
                                        <p:tgtEl>
                                          <p:spTgt spid="23"/>
                                        </p:tgtEl>
                                        <p:attrNameLst>
                                          <p:attrName>style.visibility</p:attrName>
                                        </p:attrNameLst>
                                      </p:cBhvr>
                                      <p:to>
                                        <p:strVal val="visible"/>
                                      </p:to>
                                    </p:set>
                                    <p:animEffect transition="in" filter="fade">
                                      <p:cBhvr>
                                        <p:cTn id="85" dur="500"/>
                                        <p:tgtEl>
                                          <p:spTgt spid="23"/>
                                        </p:tgtEl>
                                      </p:cBhvr>
                                    </p:animEffect>
                                    <p:anim calcmode="lin" valueType="num">
                                      <p:cBhvr>
                                        <p:cTn id="86" dur="500" fill="hold"/>
                                        <p:tgtEl>
                                          <p:spTgt spid="23"/>
                                        </p:tgtEl>
                                        <p:attrNameLst>
                                          <p:attrName>ppt_x</p:attrName>
                                        </p:attrNameLst>
                                      </p:cBhvr>
                                      <p:tavLst>
                                        <p:tav tm="0">
                                          <p:val>
                                            <p:strVal val="#ppt_x"/>
                                          </p:val>
                                        </p:tav>
                                        <p:tav tm="100000">
                                          <p:val>
                                            <p:strVal val="#ppt_x"/>
                                          </p:val>
                                        </p:tav>
                                      </p:tavLst>
                                    </p:anim>
                                    <p:anim calcmode="lin" valueType="num">
                                      <p:cBhvr>
                                        <p:cTn id="87" dur="500" fill="hold"/>
                                        <p:tgtEl>
                                          <p:spTgt spid="23"/>
                                        </p:tgtEl>
                                        <p:attrNameLst>
                                          <p:attrName>ppt_y</p:attrName>
                                        </p:attrNameLst>
                                      </p:cBhvr>
                                      <p:tavLst>
                                        <p:tav tm="0">
                                          <p:val>
                                            <p:strVal val="#ppt_y+.1"/>
                                          </p:val>
                                        </p:tav>
                                        <p:tav tm="100000">
                                          <p:val>
                                            <p:strVal val="#ppt_y"/>
                                          </p:val>
                                        </p:tav>
                                      </p:tavLst>
                                    </p:anim>
                                  </p:childTnLst>
                                </p:cTn>
                              </p:par>
                            </p:childTnLst>
                          </p:cTn>
                        </p:par>
                      </p:childTnLst>
                    </p:cTn>
                  </p:par>
                  <p:par>
                    <p:cTn id="111" fill="hold">
                      <p:stCondLst>
                        <p:cond delay="indefinite"/>
                      </p:stCondLst>
                      <p:childTnLst>
                        <p:par>
                          <p:cTn id="112" fill="hold">
                            <p:stCondLst>
                              <p:cond delay="0"/>
                            </p:stCondLst>
                            <p:childTnLst>
                              <p:par>
                                <p:cTn id="95" presetID="42" presetClass="entr" presetSubtype="0" fill="hold" nodeType="clickEffect">
                                  <p:stCondLst>
                                    <p:cond delay="0"/>
                                  </p:stCondLst>
                                  <p:childTnLst>
                                    <p:set>
                                      <p:cBhvr>
                                        <p:cTn id="91" dur="1" fill="hold">
                                          <p:stCondLst>
                                            <p:cond delay="0"/>
                                          </p:stCondLst>
                                        </p:cTn>
                                        <p:tgtEl>
                                          <p:spTgt spid="24"/>
                                        </p:tgtEl>
                                        <p:attrNameLst>
                                          <p:attrName>style.visibility</p:attrName>
                                        </p:attrNameLst>
                                      </p:cBhvr>
                                      <p:to>
                                        <p:strVal val="visible"/>
                                      </p:to>
                                    </p:set>
                                    <p:animEffect transition="in" filter="fade">
                                      <p:cBhvr>
                                        <p:cTn id="92" dur="500"/>
                                        <p:tgtEl>
                                          <p:spTgt spid="24"/>
                                        </p:tgtEl>
                                      </p:cBhvr>
                                    </p:animEffect>
                                    <p:anim calcmode="lin" valueType="num">
                                      <p:cBhvr>
                                        <p:cTn id="93" dur="500" fill="hold"/>
                                        <p:tgtEl>
                                          <p:spTgt spid="24"/>
                                        </p:tgtEl>
                                        <p:attrNameLst>
                                          <p:attrName>ppt_x</p:attrName>
                                        </p:attrNameLst>
                                      </p:cBhvr>
                                      <p:tavLst>
                                        <p:tav tm="0">
                                          <p:val>
                                            <p:strVal val="#ppt_x"/>
                                          </p:val>
                                        </p:tav>
                                        <p:tav tm="100000">
                                          <p:val>
                                            <p:strVal val="#ppt_x"/>
                                          </p:val>
                                        </p:tav>
                                      </p:tavLst>
                                    </p:anim>
                                    <p:anim calcmode="lin" valueType="num">
                                      <p:cBhvr>
                                        <p:cTn id="94" dur="500" fill="hold"/>
                                        <p:tgtEl>
                                          <p:spTgt spid="24"/>
                                        </p:tgtEl>
                                        <p:attrNameLst>
                                          <p:attrName>ppt_y</p:attrName>
                                        </p:attrNameLst>
                                      </p:cBhvr>
                                      <p:tavLst>
                                        <p:tav tm="0">
                                          <p:val>
                                            <p:strVal val="#ppt_y+.1"/>
                                          </p:val>
                                        </p:tav>
                                        <p:tav tm="100000">
                                          <p:val>
                                            <p:strVal val="#ppt_y"/>
                                          </p:val>
                                        </p:tav>
                                      </p:tavLst>
                                    </p:anim>
                                  </p:childTnLst>
                                </p:cTn>
                              </p:par>
                              <p:par>
                                <p:cTn id="100" presetID="42" presetClass="entr" presetSubtype="0" fill="hold" nodeType="withEffect">
                                  <p:stCondLst>
                                    <p:cond delay="0"/>
                                  </p:stCondLst>
                                  <p:childTnLst>
                                    <p:set>
                                      <p:cBhvr>
                                        <p:cTn id="96" dur="1" fill="hold">
                                          <p:stCondLst>
                                            <p:cond delay="0"/>
                                          </p:stCondLst>
                                        </p:cTn>
                                        <p:tgtEl>
                                          <p:spTgt spid="25"/>
                                        </p:tgtEl>
                                        <p:attrNameLst>
                                          <p:attrName>style.visibility</p:attrName>
                                        </p:attrNameLst>
                                      </p:cBhvr>
                                      <p:to>
                                        <p:strVal val="visible"/>
                                      </p:to>
                                    </p:set>
                                    <p:animEffect transition="in" filter="fade">
                                      <p:cBhvr>
                                        <p:cTn id="97" dur="500"/>
                                        <p:tgtEl>
                                          <p:spTgt spid="25"/>
                                        </p:tgtEl>
                                      </p:cBhvr>
                                    </p:animEffect>
                                    <p:anim calcmode="lin" valueType="num">
                                      <p:cBhvr>
                                        <p:cTn id="98" dur="500" fill="hold"/>
                                        <p:tgtEl>
                                          <p:spTgt spid="25"/>
                                        </p:tgtEl>
                                        <p:attrNameLst>
                                          <p:attrName>ppt_x</p:attrName>
                                        </p:attrNameLst>
                                      </p:cBhvr>
                                      <p:tavLst>
                                        <p:tav tm="0">
                                          <p:val>
                                            <p:strVal val="#ppt_x"/>
                                          </p:val>
                                        </p:tav>
                                        <p:tav tm="100000">
                                          <p:val>
                                            <p:strVal val="#ppt_x"/>
                                          </p:val>
                                        </p:tav>
                                      </p:tavLst>
                                    </p:anim>
                                    <p:anim calcmode="lin" valueType="num">
                                      <p:cBhvr>
                                        <p:cTn id="99" dur="500" fill="hold"/>
                                        <p:tgtEl>
                                          <p:spTgt spid="25"/>
                                        </p:tgtEl>
                                        <p:attrNameLst>
                                          <p:attrName>ppt_y</p:attrName>
                                        </p:attrNameLst>
                                      </p:cBhvr>
                                      <p:tavLst>
                                        <p:tav tm="0">
                                          <p:val>
                                            <p:strVal val="#ppt_y+.1"/>
                                          </p:val>
                                        </p:tav>
                                        <p:tav tm="100000">
                                          <p:val>
                                            <p:strVal val="#ppt_y"/>
                                          </p:val>
                                        </p:tav>
                                      </p:tavLst>
                                    </p:anim>
                                  </p:childTnLst>
                                </p:cTn>
                              </p:par>
                              <p:par>
                                <p:cTn id="105" presetID="42" presetClass="entr" presetSubtype="0" fill="hold" nodeType="withEffect">
                                  <p:stCondLst>
                                    <p:cond delay="0"/>
                                  </p:stCondLst>
                                  <p:childTnLst>
                                    <p:set>
                                      <p:cBhvr>
                                        <p:cTn id="101" dur="1" fill="hold">
                                          <p:stCondLst>
                                            <p:cond delay="0"/>
                                          </p:stCondLst>
                                        </p:cTn>
                                        <p:tgtEl>
                                          <p:spTgt spid="26"/>
                                        </p:tgtEl>
                                        <p:attrNameLst>
                                          <p:attrName>style.visibility</p:attrName>
                                        </p:attrNameLst>
                                      </p:cBhvr>
                                      <p:to>
                                        <p:strVal val="visible"/>
                                      </p:to>
                                    </p:set>
                                    <p:animEffect transition="in" filter="fade">
                                      <p:cBhvr>
                                        <p:cTn id="102" dur="500"/>
                                        <p:tgtEl>
                                          <p:spTgt spid="26"/>
                                        </p:tgtEl>
                                      </p:cBhvr>
                                    </p:animEffect>
                                    <p:anim calcmode="lin" valueType="num">
                                      <p:cBhvr>
                                        <p:cTn id="103" dur="500" fill="hold"/>
                                        <p:tgtEl>
                                          <p:spTgt spid="26"/>
                                        </p:tgtEl>
                                        <p:attrNameLst>
                                          <p:attrName>ppt_x</p:attrName>
                                        </p:attrNameLst>
                                      </p:cBhvr>
                                      <p:tavLst>
                                        <p:tav tm="0">
                                          <p:val>
                                            <p:strVal val="#ppt_x"/>
                                          </p:val>
                                        </p:tav>
                                        <p:tav tm="100000">
                                          <p:val>
                                            <p:strVal val="#ppt_x"/>
                                          </p:val>
                                        </p:tav>
                                      </p:tavLst>
                                    </p:anim>
                                    <p:anim calcmode="lin" valueType="num">
                                      <p:cBhvr>
                                        <p:cTn id="104" dur="500" fill="hold"/>
                                        <p:tgtEl>
                                          <p:spTgt spid="26"/>
                                        </p:tgtEl>
                                        <p:attrNameLst>
                                          <p:attrName>ppt_y</p:attrName>
                                        </p:attrNameLst>
                                      </p:cBhvr>
                                      <p:tavLst>
                                        <p:tav tm="0">
                                          <p:val>
                                            <p:strVal val="#ppt_y+.1"/>
                                          </p:val>
                                        </p:tav>
                                        <p:tav tm="100000">
                                          <p:val>
                                            <p:strVal val="#ppt_y"/>
                                          </p:val>
                                        </p:tav>
                                      </p:tavLst>
                                    </p:anim>
                                  </p:childTnLst>
                                </p:cTn>
                              </p:par>
                              <p:par>
                                <p:cTn id="110" presetID="42" presetClass="entr" presetSubtype="0" fill="hold" nodeType="withEffect">
                                  <p:stCondLst>
                                    <p:cond delay="0"/>
                                  </p:stCondLst>
                                  <p:childTnLst>
                                    <p:set>
                                      <p:cBhvr>
                                        <p:cTn id="106" dur="1" fill="hold">
                                          <p:stCondLst>
                                            <p:cond delay="0"/>
                                          </p:stCondLst>
                                        </p:cTn>
                                        <p:tgtEl>
                                          <p:spTgt spid="27"/>
                                        </p:tgtEl>
                                        <p:attrNameLst>
                                          <p:attrName>style.visibility</p:attrName>
                                        </p:attrNameLst>
                                      </p:cBhvr>
                                      <p:to>
                                        <p:strVal val="visible"/>
                                      </p:to>
                                    </p:set>
                                    <p:animEffect transition="in" filter="fade">
                                      <p:cBhvr>
                                        <p:cTn id="107" dur="500"/>
                                        <p:tgtEl>
                                          <p:spTgt spid="27"/>
                                        </p:tgtEl>
                                      </p:cBhvr>
                                    </p:animEffect>
                                    <p:anim calcmode="lin" valueType="num">
                                      <p:cBhvr>
                                        <p:cTn id="108" dur="500" fill="hold"/>
                                        <p:tgtEl>
                                          <p:spTgt spid="27"/>
                                        </p:tgtEl>
                                        <p:attrNameLst>
                                          <p:attrName>ppt_x</p:attrName>
                                        </p:attrNameLst>
                                      </p:cBhvr>
                                      <p:tavLst>
                                        <p:tav tm="0">
                                          <p:val>
                                            <p:strVal val="#ppt_x"/>
                                          </p:val>
                                        </p:tav>
                                        <p:tav tm="100000">
                                          <p:val>
                                            <p:strVal val="#ppt_x"/>
                                          </p:val>
                                        </p:tav>
                                      </p:tavLst>
                                    </p:anim>
                                    <p:anim calcmode="lin" valueType="num">
                                      <p:cBhvr>
                                        <p:cTn id="109" dur="500" fill="hold"/>
                                        <p:tgtEl>
                                          <p:spTgt spid="27"/>
                                        </p:tgtEl>
                                        <p:attrNameLst>
                                          <p:attrName>ppt_y</p:attrName>
                                        </p:attrNameLst>
                                      </p:cBhvr>
                                      <p:tavLst>
                                        <p:tav tm="0">
                                          <p:val>
                                            <p:strVal val="#ppt_y+.1"/>
                                          </p:val>
                                        </p:tav>
                                        <p:tav tm="100000">
                                          <p:val>
                                            <p:strVal val="#ppt_y"/>
                                          </p:val>
                                        </p:tav>
                                      </p:tavLst>
                                    </p:anim>
                                  </p:childTnLst>
                                </p:cTn>
                              </p:par>
                            </p:childTnLst>
                          </p:cTn>
                        </p:par>
                      </p:childTnLst>
                    </p:cTn>
                  </p:par>
                  <p:par>
                    <p:cTn id="118" fill="hold">
                      <p:stCondLst>
                        <p:cond delay="indefinite"/>
                      </p:stCondLst>
                      <p:childTnLst>
                        <p:par>
                          <p:cTn id="119" fill="hold">
                            <p:stCondLst>
                              <p:cond delay="0"/>
                            </p:stCondLst>
                            <p:childTnLst>
                              <p:par>
                                <p:cTn id="117" presetID="42" presetClass="entr" presetSubtype="0" fill="hold" nodeType="clickEffect">
                                  <p:stCondLst>
                                    <p:cond delay="0"/>
                                  </p:stCondLst>
                                  <p:childTnLst>
                                    <p:set>
                                      <p:cBhvr>
                                        <p:cTn id="113" dur="1" fill="hold">
                                          <p:stCondLst>
                                            <p:cond delay="0"/>
                                          </p:stCondLst>
                                        </p:cTn>
                                        <p:tgtEl>
                                          <p:spTgt spid="28"/>
                                        </p:tgtEl>
                                        <p:attrNameLst>
                                          <p:attrName>style.visibility</p:attrName>
                                        </p:attrNameLst>
                                      </p:cBhvr>
                                      <p:to>
                                        <p:strVal val="visible"/>
                                      </p:to>
                                    </p:set>
                                    <p:animEffect transition="in" filter="fade">
                                      <p:cBhvr>
                                        <p:cTn id="114" dur="500"/>
                                        <p:tgtEl>
                                          <p:spTgt spid="28"/>
                                        </p:tgtEl>
                                      </p:cBhvr>
                                    </p:animEffect>
                                    <p:anim calcmode="lin" valueType="num">
                                      <p:cBhvr>
                                        <p:cTn id="115" dur="500" fill="hold"/>
                                        <p:tgtEl>
                                          <p:spTgt spid="28"/>
                                        </p:tgtEl>
                                        <p:attrNameLst>
                                          <p:attrName>ppt_x</p:attrName>
                                        </p:attrNameLst>
                                      </p:cBhvr>
                                      <p:tavLst>
                                        <p:tav tm="0">
                                          <p:val>
                                            <p:strVal val="#ppt_x"/>
                                          </p:val>
                                        </p:tav>
                                        <p:tav tm="100000">
                                          <p:val>
                                            <p:strVal val="#ppt_x"/>
                                          </p:val>
                                        </p:tav>
                                      </p:tavLst>
                                    </p:anim>
                                    <p:anim calcmode="lin" valueType="num">
                                      <p:cBhvr>
                                        <p:cTn id="116" dur="500" fill="hold"/>
                                        <p:tgtEl>
                                          <p:spTgt spid="2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1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1</a:t>
            </a:r>
            <a:endParaRPr lang="en-US" sz="3450" dirty="0"/>
          </a:p>
        </p:txBody>
      </p:sp>
      <p:sp>
        <p:nvSpPr>
          <p:cNvPr id="7" name="Shape 7"/>
          <p:cNvSpPr txBox="1"/>
          <p:nvPr/>
        </p:nvSpPr>
        <p:spPr>
          <a:xfrm>
            <a:off x="685800"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Point-slope form</a:t>
            </a:r>
            <a:endParaRPr lang="en-US" sz="2100" dirty="0"/>
          </a:p>
        </p:txBody>
      </p:sp>
      <p:sp>
        <p:nvSpPr>
          <p:cNvPr id="5" name="Shape 5"/>
          <p:cNvSpPr txBox="1"/>
          <p:nvPr/>
        </p:nvSpPr>
        <p:spPr>
          <a:xfrm>
            <a:off x="895350"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y</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 = </a:t>
            </a:r>
            <a:r>
              <a:rPr lang="en-US" sz="2325" dirty="0" b="1" i="1">
                <a:solidFill>
                  <a:srgbClr val="C9561F"/>
                </a:solidFill>
                <a:latin typeface="Cambria"/>
                <a:cs typeface="Cambria"/>
              </a:rPr>
              <a:t xml:space="preserve">m</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b="1" i="1">
                <a:solidFill>
                  <a:srgbClr val="3050B8"/>
                </a:solidFill>
                <a:latin typeface="Cambria"/>
                <a:cs typeface="Cambria"/>
              </a:rPr>
              <a:t xml:space="preserve">x</a:t>
            </a:r>
            <a:r>
              <a:rPr lang="en-US" sz="1976" dirty="0" b="1" baseline="-25000">
                <a:solidFill>
                  <a:srgbClr val="3050B8"/>
                </a:solidFill>
                <a:latin typeface="Cambria"/>
                <a:cs typeface="Cambria"/>
              </a:rPr>
              <a:t xml:space="preserve">1</a:t>
            </a:r>
            <a:r>
              <a:rPr lang="en-US" sz="2325" dirty="0">
                <a:solidFill>
                  <a:srgbClr val="16171D"/>
                </a:solidFill>
                <a:latin typeface="Cambria"/>
                <a:cs typeface="Cambria"/>
              </a:rPr>
              <a:t xml:space="preserve">)</a:t>
            </a:r>
            <a:endParaRPr lang="en-US" sz="2325" dirty="0"/>
          </a:p>
        </p:txBody>
      </p:sp>
      <p:sp>
        <p:nvSpPr>
          <p:cNvPr id="6" name="Shape 6"/>
          <p:cNvSpPr txBox="1"/>
          <p:nvPr/>
        </p:nvSpPr>
        <p:spPr>
          <a:xfrm>
            <a:off x="895350"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Use it when you know the slope and a point.</a:t>
            </a:r>
            <a:endParaRPr lang="en-US" sz="1575" dirty="0"/>
          </a:p>
        </p:txBody>
      </p:sp>
      <p:sp>
        <p:nvSpPr>
          <p:cNvPr id="11" name="Shape 11"/>
          <p:cNvSpPr txBox="1"/>
          <p:nvPr/>
        </p:nvSpPr>
        <p:spPr>
          <a:xfrm>
            <a:off x="4349648"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Change to </a:t>
            </a:r>
            <a:r>
              <a:rPr lang="en-US" sz="2100" dirty="0" b="1" i="1">
                <a:solidFill>
                  <a:srgbClr val="16171D"/>
                </a:solidFill>
                <a:latin typeface="Segoe UI"/>
                <a:cs typeface="Segoe UI"/>
              </a:rPr>
              <a:t xml:space="preserve">y</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mx</a:t>
            </a:r>
            <a:r>
              <a:rPr lang="en-US" sz="2100" dirty="0" b="1">
                <a:solidFill>
                  <a:srgbClr val="16171D"/>
                </a:solidFill>
                <a:latin typeface="Segoe UI"/>
                <a:cs typeface="Segoe UI"/>
              </a:rPr>
              <a:t xml:space="preserve"> + </a:t>
            </a:r>
            <a:r>
              <a:rPr lang="en-US" sz="2100" dirty="0" b="1" i="1">
                <a:solidFill>
                  <a:srgbClr val="16171D"/>
                </a:solidFill>
                <a:latin typeface="Segoe UI"/>
                <a:cs typeface="Segoe UI"/>
              </a:rPr>
              <a:t xml:space="preserve">b</a:t>
            </a:r>
            <a:endParaRPr lang="en-US" sz="2100" dirty="0"/>
          </a:p>
        </p:txBody>
      </p:sp>
      <p:sp>
        <p:nvSpPr>
          <p:cNvPr id="9" name="Shape 9"/>
          <p:cNvSpPr txBox="1"/>
          <p:nvPr/>
        </p:nvSpPr>
        <p:spPr>
          <a:xfrm>
            <a:off x="4559198" y="2260092"/>
            <a:ext cx="3073298" cy="77495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 Distribute the slope.</a:t>
            </a:r>
            <a:br>
              <a:rPr lang="en-US" sz="1575" dirty="0">
                <a:solidFill>
                  <a:srgbClr val="16171D"/>
                </a:solidFill>
                <a:latin typeface="Segoe UI"/>
                <a:cs typeface="Segoe UI"/>
              </a:rPr>
            </a:br>
            <a:r>
              <a:rPr lang="en-US" sz="1575" dirty="0">
                <a:solidFill>
                  <a:srgbClr val="16171D"/>
                </a:solidFill>
                <a:latin typeface="Segoe UI"/>
                <a:cs typeface="Segoe UI"/>
              </a:rPr>
              <a:t xml:space="preserve">2. Add </a:t>
            </a:r>
            <a:r>
              <a:rPr lang="en-US" sz="1575" dirty="0" i="1">
                <a:solidFill>
                  <a:srgbClr val="16171D"/>
                </a:solidFill>
                <a:latin typeface="Segoe UI"/>
                <a:cs typeface="Segoe UI"/>
              </a:rPr>
              <a:t xml:space="preserve">y</a:t>
            </a:r>
            <a:r>
              <a:rPr lang="en-US" sz="1339" dirty="0" baseline="-25000">
                <a:solidFill>
                  <a:srgbClr val="16171D"/>
                </a:solidFill>
                <a:latin typeface="Segoe UI"/>
                <a:cs typeface="Segoe UI"/>
              </a:rPr>
              <a:t xml:space="preserve">1</a:t>
            </a:r>
            <a:r>
              <a:rPr lang="en-US" sz="1575" dirty="0">
                <a:solidFill>
                  <a:srgbClr val="16171D"/>
                </a:solidFill>
                <a:latin typeface="Segoe UI"/>
                <a:cs typeface="Segoe UI"/>
              </a:rPr>
              <a:t xml:space="preserve"> to both sides (or subtract).</a:t>
            </a:r>
            <a:endParaRPr lang="en-US" sz="1575" dirty="0"/>
          </a:p>
        </p:txBody>
      </p:sp>
      <p:sp>
        <p:nvSpPr>
          <p:cNvPr id="10" name="Shape 10"/>
          <p:cNvSpPr txBox="1"/>
          <p:nvPr/>
        </p:nvSpPr>
        <p:spPr>
          <a:xfrm>
            <a:off x="4559198" y="3130296"/>
            <a:ext cx="3073298" cy="76352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 →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14" name="Shape 14"/>
          <p:cNvSpPr txBox="1"/>
          <p:nvPr/>
        </p:nvSpPr>
        <p:spPr>
          <a:xfrm>
            <a:off x="8013497" y="1618488"/>
            <a:ext cx="3492398" cy="244678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Horizontal vs. vertical</a:t>
            </a:r>
            <a:endParaRPr lang="en-US" sz="2100" dirty="0"/>
          </a:p>
        </p:txBody>
      </p:sp>
      <p:sp>
        <p:nvSpPr>
          <p:cNvPr id="13" name="Shape 13"/>
          <p:cNvSpPr txBox="1"/>
          <p:nvPr/>
        </p:nvSpPr>
        <p:spPr>
          <a:xfrm>
            <a:off x="8223047" y="2580132"/>
            <a:ext cx="3073298" cy="125501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Horizontal: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 = a number, slope 0.</a:t>
            </a:r>
            <a:br>
              <a:rPr lang="en-US" sz="1575" dirty="0">
                <a:solidFill>
                  <a:srgbClr val="16171D"/>
                </a:solidFill>
                <a:latin typeface="Segoe UI"/>
                <a:cs typeface="Segoe UI"/>
              </a:rPr>
            </a:br>
            <a:r>
              <a:rPr lang="en-US" sz="1575" dirty="0" b="1">
                <a:solidFill>
                  <a:srgbClr val="16171D"/>
                </a:solidFill>
                <a:latin typeface="Segoe UI"/>
                <a:cs typeface="Segoe UI"/>
              </a:rPr>
              <a:t xml:space="preserve">Vertical:</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 a number, slope undefined.</a:t>
            </a:r>
            <a:br>
              <a:rPr lang="en-US" sz="1575" dirty="0">
                <a:solidFill>
                  <a:srgbClr val="16171D"/>
                </a:solidFill>
                <a:latin typeface="Segoe UI"/>
                <a:cs typeface="Segoe UI"/>
              </a:rPr>
            </a:br>
            <a:r>
              <a:rPr lang="en-US" sz="1575" dirty="0">
                <a:solidFill>
                  <a:srgbClr val="16171D"/>
                </a:solidFill>
                <a:latin typeface="Segoe UI"/>
                <a:cs typeface="Segoe UI"/>
              </a:rPr>
              <a:t xml:space="preserve">Memory trick: HOY VUX.</a:t>
            </a:r>
            <a:endParaRPr lang="en-US" sz="1575" dirty="0"/>
          </a:p>
        </p:txBody>
      </p:sp>
      <p:sp>
        <p:nvSpPr>
          <p:cNvPr id="15" name="Shape 15"/>
          <p:cNvSpPr txBox="1"/>
          <p:nvPr/>
        </p:nvSpPr>
        <p:spPr>
          <a:xfrm>
            <a:off x="685800" y="423672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25</a:t>
            </a:fld>
          </a:p>
        </p:txBody>
      </p:sp>
    </p:spTree>
  </p:cSld>
  <p:clrMapOvr>
    <a:masterClrMapping/>
  </p:clrMapOvr>
  <p:transition spd="med">
    <p:fad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210312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Lesson 4</a:t>
            </a:r>
            <a:endParaRPr lang="en-US" sz="1200" dirty="0"/>
          </a:p>
        </p:txBody>
      </p:sp>
      <p:sp>
        <p:nvSpPr>
          <p:cNvPr id="3" name="Shape 3"/>
          <p:cNvSpPr txBox="1"/>
          <p:nvPr/>
        </p:nvSpPr>
        <p:spPr>
          <a:xfrm>
            <a:off x="685800" y="2512314"/>
            <a:ext cx="10820095" cy="1312164"/>
          </a:xfrm>
          <a:prstGeom prst="rect">
            <a:avLst/>
          </a:prstGeom>
          <a:noFill/>
          <a:ln>
            <a:noFill/>
          </a:ln>
        </p:spPr>
        <p:txBody>
          <a:bodyPr wrap="square" lIns="36576" tIns="27432" rIns="36576" bIns="27432" anchor="t">
            <a:noAutofit/>
          </a:bodyPr>
          <a:lstStyle/>
          <a:p>
            <a:pPr algn="l">
              <a:lnSpc>
                <a:spcPct val="100000"/>
              </a:lnSpc>
            </a:pPr>
            <a:r>
              <a:rPr lang="en-US" sz="8250" dirty="0" b="1">
                <a:solidFill>
                  <a:srgbClr val="16171D"/>
                </a:solidFill>
                <a:latin typeface="Segoe UI"/>
                <a:cs typeface="Segoe UI"/>
              </a:rPr>
              <a:t xml:space="preserve">Day 2</a:t>
            </a:r>
            <a:endParaRPr lang="en-US" sz="8250" dirty="0"/>
          </a:p>
        </p:txBody>
      </p:sp>
      <p:sp>
        <p:nvSpPr>
          <p:cNvPr id="4" name="Shape 4"/>
          <p:cNvSpPr txBox="1"/>
          <p:nvPr/>
        </p:nvSpPr>
        <p:spPr>
          <a:xfrm>
            <a:off x="685800" y="3995928"/>
            <a:ext cx="10820095" cy="786384"/>
          </a:xfrm>
          <a:prstGeom prst="rect">
            <a:avLst/>
          </a:prstGeom>
          <a:noFill/>
          <a:ln>
            <a:noFill/>
          </a:ln>
        </p:spPr>
        <p:txBody>
          <a:bodyPr wrap="square" lIns="36576" tIns="27432" rIns="36576" bIns="27432" anchor="t">
            <a:noAutofit/>
          </a:bodyPr>
          <a:lstStyle/>
          <a:p>
            <a:pPr algn="l">
              <a:lnSpc>
                <a:spcPct val="100000"/>
              </a:lnSpc>
            </a:pPr>
            <a:r>
              <a:rPr lang="en-US" sz="2400" dirty="0">
                <a:solidFill>
                  <a:srgbClr val="16171D"/>
                </a:solidFill>
                <a:latin typeface="Segoe UI"/>
                <a:cs typeface="Segoe UI"/>
              </a:rPr>
              <a:t xml:space="preserve">Essential Question: Are there other forms of a linear equation that you can use? How do you write equations for horizontal and vertical lines?</a:t>
            </a:r>
            <a:endParaRPr lang="en-US" sz="2400" dirty="0"/>
          </a:p>
        </p:txBody>
      </p:sp>
      <p:sp>
        <p:nvSpPr>
          <p:cNvPr id="5" name="Slide Number 5"/>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Bell Work · Review of Day 1</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Warm up: work these on your own</a:t>
            </a:r>
            <a:endParaRPr lang="en-US" sz="3450" dirty="0"/>
          </a:p>
        </p:txBody>
      </p:sp>
      <p:sp>
        <p:nvSpPr>
          <p:cNvPr id="4" name="Shape 4"/>
          <p:cNvSpPr txBox="1"/>
          <p:nvPr/>
        </p:nvSpPr>
        <p:spPr>
          <a:xfrm>
            <a:off x="685800"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Point-slope form: slope −4, through (3, −1)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458212"/>
            <a:ext cx="4732111"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 = −4(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6" name="Shape 6"/>
          <p:cNvSpPr txBox="1"/>
          <p:nvPr/>
        </p:nvSpPr>
        <p:spPr>
          <a:xfrm>
            <a:off x="685800"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Point-slope form: through (2, 5) and (4, 11) </a:t>
            </a:r>
            <a:r>
              <a:rPr lang="en-US" sz="1575" dirty="0">
                <a:solidFill>
                  <a:srgbClr val="5F6272"/>
                </a:solidFill>
                <a:latin typeface="Segoe UI"/>
                <a:cs typeface="Segoe UI"/>
              </a:rPr>
              <a:t xml:space="preserve">(SE p. 204)</a:t>
            </a:r>
            <a:endParaRPr lang="en-US" sz="1950" dirty="0"/>
          </a:p>
        </p:txBody>
      </p:sp>
      <p:sp>
        <p:nvSpPr>
          <p:cNvPr id="7" name="Shape 7"/>
          <p:cNvSpPr txBox="1"/>
          <p:nvPr/>
        </p:nvSpPr>
        <p:spPr>
          <a:xfrm>
            <a:off x="685800" y="4026408"/>
            <a:ext cx="5143348" cy="87325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m</a:t>
            </a:r>
            <a:r>
              <a:rPr lang="en-US" sz="2325" dirty="0">
                <a:solidFill>
                  <a:srgbClr val="16171D"/>
                </a:solidFill>
                <a:latin typeface="Cambria"/>
                <a:cs typeface="Cambria"/>
              </a:rPr>
              <a:t xml:space="preserve"> = 3;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8" name="Shape 8"/>
          <p:cNvSpPr txBox="1"/>
          <p:nvPr/>
        </p:nvSpPr>
        <p:spPr>
          <a:xfrm>
            <a:off x="6362548" y="1675638"/>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Rewrite #2 in slope-intercept form. </a:t>
            </a:r>
            <a:r>
              <a:rPr lang="en-US" sz="1575" dirty="0">
                <a:solidFill>
                  <a:srgbClr val="5F6272"/>
                </a:solidFill>
                <a:latin typeface="Segoe UI"/>
                <a:cs typeface="Segoe UI"/>
              </a:rPr>
              <a:t xml:space="preserve">(SE p. 203)</a:t>
            </a:r>
            <a:endParaRPr lang="en-US" sz="1950" dirty="0"/>
          </a:p>
        </p:txBody>
      </p:sp>
      <p:sp>
        <p:nvSpPr>
          <p:cNvPr id="9" name="Shape 9"/>
          <p:cNvSpPr txBox="1"/>
          <p:nvPr/>
        </p:nvSpPr>
        <p:spPr>
          <a:xfrm>
            <a:off x="6362548" y="2458212"/>
            <a:ext cx="357132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6362548" y="3243834"/>
            <a:ext cx="5143348"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4. Horizontal and vertical lines through (−3, 8) </a:t>
            </a:r>
            <a:r>
              <a:rPr lang="en-US" sz="1575" dirty="0">
                <a:solidFill>
                  <a:srgbClr val="5F6272"/>
                </a:solidFill>
                <a:latin typeface="Segoe UI"/>
                <a:cs typeface="Segoe UI"/>
              </a:rPr>
              <a:t xml:space="preserve">(SE pp. 206–207)</a:t>
            </a:r>
            <a:endParaRPr lang="en-US" sz="1950" dirty="0"/>
          </a:p>
        </p:txBody>
      </p:sp>
      <p:sp>
        <p:nvSpPr>
          <p:cNvPr id="11" name="Shape 11"/>
          <p:cNvSpPr txBox="1"/>
          <p:nvPr/>
        </p:nvSpPr>
        <p:spPr>
          <a:xfrm>
            <a:off x="6362548" y="4026408"/>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Today's Plan</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Today's plan</a:t>
            </a:r>
            <a:endParaRPr lang="en-US" sz="3450" dirty="0"/>
          </a:p>
        </p:txBody>
      </p:sp>
      <p:sp>
        <p:nvSpPr>
          <p:cNvPr id="4" name="Shape 4"/>
          <p:cNvSpPr txBox="1"/>
          <p:nvPr/>
        </p:nvSpPr>
        <p:spPr>
          <a:xfrm>
            <a:off x="685800" y="161848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Bell work (5 min)</a:t>
            </a:r>
            <a:endParaRPr lang="en-US" sz="1950" dirty="0"/>
          </a:p>
        </p:txBody>
      </p:sp>
      <p:sp>
        <p:nvSpPr>
          <p:cNvPr id="5" name="Shape 5"/>
          <p:cNvSpPr txBox="1"/>
          <p:nvPr/>
        </p:nvSpPr>
        <p:spPr>
          <a:xfrm>
            <a:off x="685800" y="2141982"/>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Activity 4.3: match equations, graphs, tables and contexts</a:t>
            </a:r>
            <a:endParaRPr lang="en-US" sz="1950" dirty="0"/>
          </a:p>
        </p:txBody>
      </p:sp>
      <p:sp>
        <p:nvSpPr>
          <p:cNvPr id="6" name="Shape 6"/>
          <p:cNvSpPr txBox="1"/>
          <p:nvPr/>
        </p:nvSpPr>
        <p:spPr>
          <a:xfrm>
            <a:off x="685800" y="266547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Talk the Talk: what each equation tells you</a:t>
            </a:r>
            <a:endParaRPr lang="en-US" sz="1950" dirty="0"/>
          </a:p>
        </p:txBody>
      </p:sp>
      <p:sp>
        <p:nvSpPr>
          <p:cNvPr id="7" name="Shape 7"/>
          <p:cNvSpPr txBox="1"/>
          <p:nvPr/>
        </p:nvSpPr>
        <p:spPr>
          <a:xfrm>
            <a:off x="685800" y="318897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 Exit ticket</a:t>
            </a:r>
            <a:endParaRPr lang="en-US" sz="1950" dirty="0"/>
          </a:p>
        </p:txBody>
      </p:sp>
      <p:sp>
        <p:nvSpPr>
          <p:cNvPr id="8" name="Shape 8"/>
          <p:cNvSpPr txBox="1"/>
          <p:nvPr/>
        </p:nvSpPr>
        <p:spPr>
          <a:xfrm>
            <a:off x="685800" y="3712464"/>
            <a:ext cx="7628725"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One part at a time. Ask for help or a break whenever you need it.</a:t>
            </a:r>
            <a:endParaRPr lang="en-US" sz="1650" dirty="0"/>
          </a:p>
        </p:txBody>
      </p:sp>
      <p:sp>
        <p:nvSpPr>
          <p:cNvPr id="9" name="Slide Number 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28</a:t>
            </a:fld>
          </a:p>
        </p:txBody>
      </p:sp>
    </p:spTree>
  </p:cSld>
  <p:clrMapOvr>
    <a:masterClrMapping/>
  </p:clrMapOvr>
  <p:transition spd="med">
    <p:fad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Matching Representations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Cut, sort, and match</a:t>
            </a:r>
            <a:endParaRPr lang="en-US" sz="3450" dirty="0"/>
          </a:p>
        </p:txBody>
      </p:sp>
      <p:sp>
        <p:nvSpPr>
          <p:cNvPr id="4" name="Shape 4"/>
          <p:cNvSpPr txBox="1"/>
          <p:nvPr/>
        </p:nvSpPr>
        <p:spPr>
          <a:xfrm>
            <a:off x="685800" y="1618488"/>
            <a:ext cx="10820095"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Cut out the graphs, tables, contexts, and equations at the end of the lesson. Match each equation with its graph, table, or context, and explain how you matched them.</a:t>
            </a:r>
            <a:endParaRPr lang="en-US" sz="1575" dirty="0"/>
          </a:p>
        </p:txBody>
      </p:sp>
      <p:sp>
        <p:nvSpPr>
          <p:cNvPr id="5" name="Shape 5"/>
          <p:cNvSpPr txBox="1"/>
          <p:nvPr/>
        </p:nvSpPr>
        <p:spPr>
          <a:xfrm>
            <a:off x="685800" y="2382012"/>
            <a:ext cx="10820095"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Answer key</a:t>
            </a:r>
            <a:endParaRPr lang="en-US" sz="2100" dirty="0"/>
          </a:p>
        </p:txBody>
      </p:sp>
      <p:sp>
        <p:nvSpPr>
          <p:cNvPr id="6" name="Shape 6"/>
          <p:cNvSpPr txBox="1"/>
          <p:nvPr/>
        </p:nvSpPr>
        <p:spPr>
          <a:xfrm>
            <a:off x="685800" y="2928366"/>
            <a:ext cx="3492398" cy="76352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A:</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− 200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− 24)</a:t>
            </a:r>
            <a:endParaRPr lang="en-US" sz="2325" dirty="0"/>
          </a:p>
        </p:txBody>
      </p:sp>
      <p:sp>
        <p:nvSpPr>
          <p:cNvPr id="7" name="Shape 7"/>
          <p:cNvSpPr txBox="1"/>
          <p:nvPr/>
        </p:nvSpPr>
        <p:spPr>
          <a:xfrm>
            <a:off x="4349648"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B:</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+ 40</a:t>
            </a:r>
            <a:endParaRPr lang="en-US" sz="2325" dirty="0"/>
          </a:p>
        </p:txBody>
      </p:sp>
      <p:sp>
        <p:nvSpPr>
          <p:cNvPr id="8" name="Shape 8"/>
          <p:cNvSpPr txBox="1"/>
          <p:nvPr/>
        </p:nvSpPr>
        <p:spPr>
          <a:xfrm>
            <a:off x="8013497" y="2928366"/>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C:</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9" name="Shape 9"/>
          <p:cNvSpPr txBox="1"/>
          <p:nvPr/>
        </p:nvSpPr>
        <p:spPr>
          <a:xfrm>
            <a:off x="685800"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D:</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10" name="Shape 10"/>
          <p:cNvSpPr txBox="1"/>
          <p:nvPr/>
        </p:nvSpPr>
        <p:spPr>
          <a:xfrm>
            <a:off x="4349648"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E:</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+ 120</a:t>
            </a:r>
            <a:endParaRPr lang="en-US" sz="2325" dirty="0"/>
          </a:p>
        </p:txBody>
      </p:sp>
      <p:sp>
        <p:nvSpPr>
          <p:cNvPr id="11" name="Shape 11"/>
          <p:cNvSpPr txBox="1"/>
          <p:nvPr/>
        </p:nvSpPr>
        <p:spPr>
          <a:xfrm>
            <a:off x="8013497" y="3787140"/>
            <a:ext cx="3492398" cy="409194"/>
          </a:xfrm>
          <a:prstGeom prst="rect">
            <a:avLst/>
          </a:prstGeom>
          <a:noFill/>
          <a:ln>
            <a:noFill/>
          </a:ln>
        </p:spPr>
        <p:txBody>
          <a:bodyPr wrap="square" lIns="36576" tIns="27432" rIns="36576" bIns="27432" anchor="t">
            <a:noAutofit/>
          </a:bodyPr>
          <a:lstStyle/>
          <a:p>
            <a:pPr algn="l">
              <a:lnSpc>
                <a:spcPct val="100000"/>
              </a:lnSpc>
            </a:pPr>
            <a:r>
              <a:rPr lang="en-US" sz="2325" dirty="0" b="1">
                <a:solidFill>
                  <a:srgbClr val="16171D"/>
                </a:solidFill>
                <a:latin typeface="Cambria"/>
                <a:cs typeface="Cambria"/>
              </a:rPr>
              <a:t xml:space="preserve">F:</a:t>
            </a:r>
            <a:r>
              <a:rPr lang="en-US" sz="2325" dirty="0">
                <a:solidFill>
                  <a:srgbClr val="16171D"/>
                </a:solidFill>
                <a:latin typeface="Cambria"/>
                <a:cs typeface="Cambria"/>
              </a:rPr>
              <a:t xml:space="preserv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+ 9</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29</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6"/>
                                        </p:tgtEl>
                                        <p:attrNameLst>
                                          <p:attrName>style.visibility</p:attrName>
                                        </p:attrNameLst>
                                      </p:cBhvr>
                                      <p:to>
                                        <p:strVal val="visible"/>
                                      </p:to>
                                    </p:set>
                                    <p:animEffect transition="in" filter="fade">
                                      <p:cBhvr>
                                        <p:cTn id="11" dur="500"/>
                                        <p:tgtEl>
                                          <p:spTgt spid="6"/>
                                        </p:tgtEl>
                                      </p:cBhvr>
                                    </p:animEffect>
                                    <p:anim calcmode="lin" valueType="num">
                                      <p:cBhvr>
                                        <p:cTn id="12" dur="500" fill="hold"/>
                                        <p:tgtEl>
                                          <p:spTgt spid="6"/>
                                        </p:tgtEl>
                                        <p:attrNameLst>
                                          <p:attrName>ppt_x</p:attrName>
                                        </p:attrNameLst>
                                      </p:cBhvr>
                                      <p:tavLst>
                                        <p:tav tm="0">
                                          <p:val>
                                            <p:strVal val="#ppt_x"/>
                                          </p:val>
                                        </p:tav>
                                        <p:tav tm="100000">
                                          <p:val>
                                            <p:strVal val="#ppt_x"/>
                                          </p:val>
                                        </p:tav>
                                      </p:tavLst>
                                    </p:anim>
                                    <p:anim calcmode="lin" valueType="num">
                                      <p:cBhvr>
                                        <p:cTn id="13"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7"/>
                                        </p:tgtEl>
                                        <p:attrNameLst>
                                          <p:attrName>style.visibility</p:attrName>
                                        </p:attrNameLst>
                                      </p:cBhvr>
                                      <p:to>
                                        <p:strVal val="visible"/>
                                      </p:to>
                                    </p:set>
                                    <p:animEffect transition="in" filter="fade">
                                      <p:cBhvr>
                                        <p:cTn id="18" dur="500"/>
                                        <p:tgtEl>
                                          <p:spTgt spid="7"/>
                                        </p:tgtEl>
                                      </p:cBhvr>
                                    </p:animEffect>
                                    <p:anim calcmode="lin" valueType="num">
                                      <p:cBhvr>
                                        <p:cTn id="19" dur="500" fill="hold"/>
                                        <p:tgtEl>
                                          <p:spTgt spid="7"/>
                                        </p:tgtEl>
                                        <p:attrNameLst>
                                          <p:attrName>ppt_x</p:attrName>
                                        </p:attrNameLst>
                                      </p:cBhvr>
                                      <p:tavLst>
                                        <p:tav tm="0">
                                          <p:val>
                                            <p:strVal val="#ppt_x"/>
                                          </p:val>
                                        </p:tav>
                                        <p:tav tm="100000">
                                          <p:val>
                                            <p:strVal val="#ppt_x"/>
                                          </p:val>
                                        </p:tav>
                                      </p:tavLst>
                                    </p:anim>
                                    <p:anim calcmode="lin" valueType="num">
                                      <p:cBhvr>
                                        <p:cTn id="20"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8"/>
                                        </p:tgtEl>
                                        <p:attrNameLst>
                                          <p:attrName>style.visibility</p:attrName>
                                        </p:attrNameLst>
                                      </p:cBhvr>
                                      <p:to>
                                        <p:strVal val="visible"/>
                                      </p:to>
                                    </p:set>
                                    <p:animEffect transition="in" filter="fade">
                                      <p:cBhvr>
                                        <p:cTn id="25" dur="500"/>
                                        <p:tgtEl>
                                          <p:spTgt spid="8"/>
                                        </p:tgtEl>
                                      </p:cBhvr>
                                    </p:animEffect>
                                    <p:anim calcmode="lin" valueType="num">
                                      <p:cBhvr>
                                        <p:cTn id="26" dur="500" fill="hold"/>
                                        <p:tgtEl>
                                          <p:spTgt spid="8"/>
                                        </p:tgtEl>
                                        <p:attrNameLst>
                                          <p:attrName>ppt_x</p:attrName>
                                        </p:attrNameLst>
                                      </p:cBhvr>
                                      <p:tavLst>
                                        <p:tav tm="0">
                                          <p:val>
                                            <p:strVal val="#ppt_x"/>
                                          </p:val>
                                        </p:tav>
                                        <p:tav tm="100000">
                                          <p:val>
                                            <p:strVal val="#ppt_x"/>
                                          </p:val>
                                        </p:tav>
                                      </p:tavLst>
                                    </p:anim>
                                    <p:anim calcmode="lin" valueType="num">
                                      <p:cBhvr>
                                        <p:cTn id="27"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9"/>
                                        </p:tgtEl>
                                        <p:attrNameLst>
                                          <p:attrName>style.visibility</p:attrName>
                                        </p:attrNameLst>
                                      </p:cBhvr>
                                      <p:to>
                                        <p:strVal val="visible"/>
                                      </p:to>
                                    </p:set>
                                    <p:animEffect transition="in" filter="fade">
                                      <p:cBhvr>
                                        <p:cTn id="32" dur="500"/>
                                        <p:tgtEl>
                                          <p:spTgt spid="9"/>
                                        </p:tgtEl>
                                      </p:cBhvr>
                                    </p:animEffect>
                                    <p:anim calcmode="lin" valueType="num">
                                      <p:cBhvr>
                                        <p:cTn id="33" dur="500" fill="hold"/>
                                        <p:tgtEl>
                                          <p:spTgt spid="9"/>
                                        </p:tgtEl>
                                        <p:attrNameLst>
                                          <p:attrName>ppt_x</p:attrName>
                                        </p:attrNameLst>
                                      </p:cBhvr>
                                      <p:tavLst>
                                        <p:tav tm="0">
                                          <p:val>
                                            <p:strVal val="#ppt_x"/>
                                          </p:val>
                                        </p:tav>
                                        <p:tav tm="100000">
                                          <p:val>
                                            <p:strVal val="#ppt_x"/>
                                          </p:val>
                                        </p:tav>
                                      </p:tavLst>
                                    </p:anim>
                                    <p:anim calcmode="lin" valueType="num">
                                      <p:cBhvr>
                                        <p:cTn id="34" dur="500" fill="hold"/>
                                        <p:tgtEl>
                                          <p:spTgt spid="9"/>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0"/>
                                        </p:tgtEl>
                                        <p:attrNameLst>
                                          <p:attrName>style.visibility</p:attrName>
                                        </p:attrNameLst>
                                      </p:cBhvr>
                                      <p:to>
                                        <p:strVal val="visible"/>
                                      </p:to>
                                    </p:set>
                                    <p:animEffect transition="in" filter="fade">
                                      <p:cBhvr>
                                        <p:cTn id="39" dur="500"/>
                                        <p:tgtEl>
                                          <p:spTgt spid="10"/>
                                        </p:tgtEl>
                                      </p:cBhvr>
                                    </p:animEffect>
                                    <p:anim calcmode="lin" valueType="num">
                                      <p:cBhvr>
                                        <p:cTn id="40" dur="500" fill="hold"/>
                                        <p:tgtEl>
                                          <p:spTgt spid="10"/>
                                        </p:tgtEl>
                                        <p:attrNameLst>
                                          <p:attrName>ppt_x</p:attrName>
                                        </p:attrNameLst>
                                      </p:cBhvr>
                                      <p:tavLst>
                                        <p:tav tm="0">
                                          <p:val>
                                            <p:strVal val="#ppt_x"/>
                                          </p:val>
                                        </p:tav>
                                        <p:tav tm="100000">
                                          <p:val>
                                            <p:strVal val="#ppt_x"/>
                                          </p:val>
                                        </p:tav>
                                      </p:tavLst>
                                    </p:anim>
                                    <p:anim calcmode="lin" valueType="num">
                                      <p:cBhvr>
                                        <p:cTn id="41" dur="5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11"/>
                                        </p:tgtEl>
                                        <p:attrNameLst>
                                          <p:attrName>style.visibility</p:attrName>
                                        </p:attrNameLst>
                                      </p:cBhvr>
                                      <p:to>
                                        <p:strVal val="visible"/>
                                      </p:to>
                                    </p:set>
                                    <p:animEffect transition="in" filter="fade">
                                      <p:cBhvr>
                                        <p:cTn id="46" dur="500"/>
                                        <p:tgtEl>
                                          <p:spTgt spid="11"/>
                                        </p:tgtEl>
                                      </p:cBhvr>
                                    </p:animEffect>
                                    <p:anim calcmode="lin" valueType="num">
                                      <p:cBhvr>
                                        <p:cTn id="47" dur="500" fill="hold"/>
                                        <p:tgtEl>
                                          <p:spTgt spid="11"/>
                                        </p:tgtEl>
                                        <p:attrNameLst>
                                          <p:attrName>ppt_x</p:attrName>
                                        </p:attrNameLst>
                                      </p:cBhvr>
                                      <p:tavLst>
                                        <p:tav tm="0">
                                          <p:val>
                                            <p:strVal val="#ppt_x"/>
                                          </p:val>
                                        </p:tav>
                                        <p:tav tm="100000">
                                          <p:val>
                                            <p:strVal val="#ppt_x"/>
                                          </p:val>
                                        </p:tav>
                                      </p:tavLst>
                                    </p:anim>
                                    <p:anim calcmode="lin" valueType="num">
                                      <p:cBhvr>
                                        <p:cTn id="48" dur="5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2 · SE p. 208</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Compare the graphs (A and C)</a:t>
            </a:r>
            <a:endParaRPr lang="en-US" sz="3450" dirty="0"/>
          </a:p>
        </p:txBody>
      </p:sp>
      <p:sp>
        <p:nvSpPr>
          <p:cNvPr id="39" name="Shape 39"/>
          <p:cNvSpPr txBox="1"/>
          <p:nvPr/>
        </p:nvSpPr>
        <p:spPr>
          <a:xfrm>
            <a:off x="685800"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A</a:t>
            </a:r>
            <a:endParaRPr lang="en-US" sz="2100" dirty="0"/>
          </a:p>
        </p:txBody>
      </p:sp>
      <p:sp>
        <p:nvSpPr>
          <p:cNvPr id="5" name="Shape 5"/>
          <p:cNvSpPr/>
          <p:nvPr/>
        </p:nvSpPr>
        <p:spPr>
          <a:xfrm>
            <a:off x="895350"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6" name="Line 6"/>
          <p:cNvCxnSpPr/>
          <p:nvPr/>
        </p:nvCxnSpPr>
        <p:spPr>
          <a:xfrm>
            <a:off x="1219200" y="2431542"/>
            <a:ext cx="0" cy="1066800"/>
          </a:xfrm>
          <a:prstGeom prst="line">
            <a:avLst/>
          </a:prstGeom>
          <a:ln w="9525" cap="flat">
            <a:solidFill>
              <a:srgbClr val="E6E8F2"/>
            </a:solidFill>
          </a:ln>
        </p:spPr>
      </p:cxnSp>
      <p:cxnSp>
        <p:nvCxnSpPr>
          <p:cNvPr id="7" name="Line 7"/>
          <p:cNvCxnSpPr/>
          <p:nvPr/>
        </p:nvCxnSpPr>
        <p:spPr>
          <a:xfrm>
            <a:off x="1371600" y="2431542"/>
            <a:ext cx="0" cy="1066800"/>
          </a:xfrm>
          <a:prstGeom prst="line">
            <a:avLst/>
          </a:prstGeom>
          <a:ln w="9525" cap="flat">
            <a:solidFill>
              <a:srgbClr val="E6E8F2"/>
            </a:solidFill>
          </a:ln>
        </p:spPr>
      </p:cxnSp>
      <p:cxnSp>
        <p:nvCxnSpPr>
          <p:cNvPr id="8" name="Line 8"/>
          <p:cNvCxnSpPr/>
          <p:nvPr/>
        </p:nvCxnSpPr>
        <p:spPr>
          <a:xfrm>
            <a:off x="1524000" y="2431542"/>
            <a:ext cx="0" cy="1066800"/>
          </a:xfrm>
          <a:prstGeom prst="line">
            <a:avLst/>
          </a:prstGeom>
          <a:ln w="9525" cap="flat">
            <a:solidFill>
              <a:srgbClr val="E6E8F2"/>
            </a:solidFill>
          </a:ln>
        </p:spPr>
      </p:cxnSp>
      <p:cxnSp>
        <p:nvCxnSpPr>
          <p:cNvPr id="9" name="Line 9"/>
          <p:cNvCxnSpPr/>
          <p:nvPr/>
        </p:nvCxnSpPr>
        <p:spPr>
          <a:xfrm>
            <a:off x="1676400" y="2431542"/>
            <a:ext cx="0" cy="1066800"/>
          </a:xfrm>
          <a:prstGeom prst="line">
            <a:avLst/>
          </a:prstGeom>
          <a:ln w="9525" cap="flat">
            <a:solidFill>
              <a:srgbClr val="E6E8F2"/>
            </a:solidFill>
          </a:ln>
        </p:spPr>
      </p:cxnSp>
      <p:cxnSp>
        <p:nvCxnSpPr>
          <p:cNvPr id="10" name="Line 10"/>
          <p:cNvCxnSpPr/>
          <p:nvPr/>
        </p:nvCxnSpPr>
        <p:spPr>
          <a:xfrm>
            <a:off x="1828800" y="2431542"/>
            <a:ext cx="0" cy="1066800"/>
          </a:xfrm>
          <a:prstGeom prst="line">
            <a:avLst/>
          </a:prstGeom>
          <a:ln w="9525" cap="flat">
            <a:solidFill>
              <a:srgbClr val="E6E8F2"/>
            </a:solidFill>
          </a:ln>
        </p:spPr>
      </p:cxnSp>
      <p:cxnSp>
        <p:nvCxnSpPr>
          <p:cNvPr id="11" name="Line 11"/>
          <p:cNvCxnSpPr/>
          <p:nvPr/>
        </p:nvCxnSpPr>
        <p:spPr>
          <a:xfrm>
            <a:off x="1981200" y="2431542"/>
            <a:ext cx="0" cy="1066800"/>
          </a:xfrm>
          <a:prstGeom prst="line">
            <a:avLst/>
          </a:prstGeom>
          <a:ln w="9525" cap="flat">
            <a:solidFill>
              <a:srgbClr val="E6E8F2"/>
            </a:solidFill>
          </a:ln>
        </p:spPr>
      </p:cxnSp>
      <p:cxnSp>
        <p:nvCxnSpPr>
          <p:cNvPr id="12" name="Line 12"/>
          <p:cNvCxnSpPr/>
          <p:nvPr/>
        </p:nvCxnSpPr>
        <p:spPr>
          <a:xfrm>
            <a:off x="2133600" y="2431542"/>
            <a:ext cx="0" cy="1066800"/>
          </a:xfrm>
          <a:prstGeom prst="line">
            <a:avLst/>
          </a:prstGeom>
          <a:ln w="9525" cap="flat">
            <a:solidFill>
              <a:srgbClr val="E6E8F2"/>
            </a:solidFill>
          </a:ln>
        </p:spPr>
      </p:cxnSp>
      <p:cxnSp>
        <p:nvCxnSpPr>
          <p:cNvPr id="13" name="Line 13"/>
          <p:cNvCxnSpPr/>
          <p:nvPr/>
        </p:nvCxnSpPr>
        <p:spPr>
          <a:xfrm>
            <a:off x="2286000" y="2431542"/>
            <a:ext cx="0" cy="1066800"/>
          </a:xfrm>
          <a:prstGeom prst="line">
            <a:avLst/>
          </a:prstGeom>
          <a:ln w="9525" cap="flat">
            <a:solidFill>
              <a:srgbClr val="E6E8F2"/>
            </a:solidFill>
          </a:ln>
        </p:spPr>
      </p:cxnSp>
      <p:cxnSp>
        <p:nvCxnSpPr>
          <p:cNvPr id="14" name="Line 14"/>
          <p:cNvCxnSpPr/>
          <p:nvPr/>
        </p:nvCxnSpPr>
        <p:spPr>
          <a:xfrm>
            <a:off x="2438400" y="2431542"/>
            <a:ext cx="0" cy="1066800"/>
          </a:xfrm>
          <a:prstGeom prst="line">
            <a:avLst/>
          </a:prstGeom>
          <a:ln w="9525" cap="flat">
            <a:solidFill>
              <a:srgbClr val="E6E8F2"/>
            </a:solidFill>
          </a:ln>
        </p:spPr>
      </p:cxnSp>
      <p:cxnSp>
        <p:nvCxnSpPr>
          <p:cNvPr id="15" name="Line 15"/>
          <p:cNvCxnSpPr/>
          <p:nvPr/>
        </p:nvCxnSpPr>
        <p:spPr>
          <a:xfrm>
            <a:off x="2590800" y="2431542"/>
            <a:ext cx="0" cy="1066800"/>
          </a:xfrm>
          <a:prstGeom prst="line">
            <a:avLst/>
          </a:prstGeom>
          <a:ln w="9525" cap="flat">
            <a:solidFill>
              <a:srgbClr val="E6E8F2"/>
            </a:solidFill>
          </a:ln>
        </p:spPr>
      </p:cxnSp>
      <p:cxnSp>
        <p:nvCxnSpPr>
          <p:cNvPr id="16" name="Line 16"/>
          <p:cNvCxnSpPr/>
          <p:nvPr/>
        </p:nvCxnSpPr>
        <p:spPr>
          <a:xfrm>
            <a:off x="1219200" y="3498342"/>
            <a:ext cx="1371600" cy="0"/>
          </a:xfrm>
          <a:prstGeom prst="line">
            <a:avLst/>
          </a:prstGeom>
          <a:ln w="9525" cap="flat">
            <a:solidFill>
              <a:srgbClr val="E6E8F2"/>
            </a:solidFill>
          </a:ln>
        </p:spPr>
      </p:cxnSp>
      <p:cxnSp>
        <p:nvCxnSpPr>
          <p:cNvPr id="17" name="Line 17"/>
          <p:cNvCxnSpPr/>
          <p:nvPr/>
        </p:nvCxnSpPr>
        <p:spPr>
          <a:xfrm>
            <a:off x="1219200" y="3379809"/>
            <a:ext cx="1371600" cy="0"/>
          </a:xfrm>
          <a:prstGeom prst="line">
            <a:avLst/>
          </a:prstGeom>
          <a:ln w="9525" cap="flat">
            <a:solidFill>
              <a:srgbClr val="E6E8F2"/>
            </a:solidFill>
          </a:ln>
        </p:spPr>
      </p:cxnSp>
      <p:cxnSp>
        <p:nvCxnSpPr>
          <p:cNvPr id="18" name="Line 18"/>
          <p:cNvCxnSpPr/>
          <p:nvPr/>
        </p:nvCxnSpPr>
        <p:spPr>
          <a:xfrm>
            <a:off x="1219200" y="3261275"/>
            <a:ext cx="1371600" cy="0"/>
          </a:xfrm>
          <a:prstGeom prst="line">
            <a:avLst/>
          </a:prstGeom>
          <a:ln w="9525" cap="flat">
            <a:solidFill>
              <a:srgbClr val="E6E8F2"/>
            </a:solidFill>
          </a:ln>
        </p:spPr>
      </p:cxnSp>
      <p:cxnSp>
        <p:nvCxnSpPr>
          <p:cNvPr id="19" name="Line 19"/>
          <p:cNvCxnSpPr/>
          <p:nvPr/>
        </p:nvCxnSpPr>
        <p:spPr>
          <a:xfrm>
            <a:off x="1219200" y="3142742"/>
            <a:ext cx="1371600" cy="0"/>
          </a:xfrm>
          <a:prstGeom prst="line">
            <a:avLst/>
          </a:prstGeom>
          <a:ln w="9525" cap="flat">
            <a:solidFill>
              <a:srgbClr val="E6E8F2"/>
            </a:solidFill>
          </a:ln>
        </p:spPr>
      </p:cxnSp>
      <p:cxnSp>
        <p:nvCxnSpPr>
          <p:cNvPr id="20" name="Line 20"/>
          <p:cNvCxnSpPr/>
          <p:nvPr/>
        </p:nvCxnSpPr>
        <p:spPr>
          <a:xfrm>
            <a:off x="1219200" y="3024209"/>
            <a:ext cx="1371600" cy="0"/>
          </a:xfrm>
          <a:prstGeom prst="line">
            <a:avLst/>
          </a:prstGeom>
          <a:ln w="9525" cap="flat">
            <a:solidFill>
              <a:srgbClr val="E6E8F2"/>
            </a:solidFill>
          </a:ln>
        </p:spPr>
      </p:cxnSp>
      <p:cxnSp>
        <p:nvCxnSpPr>
          <p:cNvPr id="21" name="Line 21"/>
          <p:cNvCxnSpPr/>
          <p:nvPr/>
        </p:nvCxnSpPr>
        <p:spPr>
          <a:xfrm>
            <a:off x="1219200" y="2905675"/>
            <a:ext cx="1371600" cy="0"/>
          </a:xfrm>
          <a:prstGeom prst="line">
            <a:avLst/>
          </a:prstGeom>
          <a:ln w="9525" cap="flat">
            <a:solidFill>
              <a:srgbClr val="E6E8F2"/>
            </a:solidFill>
          </a:ln>
        </p:spPr>
      </p:cxnSp>
      <p:cxnSp>
        <p:nvCxnSpPr>
          <p:cNvPr id="22" name="Line 22"/>
          <p:cNvCxnSpPr/>
          <p:nvPr/>
        </p:nvCxnSpPr>
        <p:spPr>
          <a:xfrm>
            <a:off x="1219200" y="2787142"/>
            <a:ext cx="1371600" cy="0"/>
          </a:xfrm>
          <a:prstGeom prst="line">
            <a:avLst/>
          </a:prstGeom>
          <a:ln w="9525" cap="flat">
            <a:solidFill>
              <a:srgbClr val="E6E8F2"/>
            </a:solidFill>
          </a:ln>
        </p:spPr>
      </p:cxnSp>
      <p:cxnSp>
        <p:nvCxnSpPr>
          <p:cNvPr id="23" name="Line 23"/>
          <p:cNvCxnSpPr/>
          <p:nvPr/>
        </p:nvCxnSpPr>
        <p:spPr>
          <a:xfrm>
            <a:off x="1219200" y="2668609"/>
            <a:ext cx="1371600" cy="0"/>
          </a:xfrm>
          <a:prstGeom prst="line">
            <a:avLst/>
          </a:prstGeom>
          <a:ln w="9525" cap="flat">
            <a:solidFill>
              <a:srgbClr val="E6E8F2"/>
            </a:solidFill>
          </a:ln>
        </p:spPr>
      </p:cxnSp>
      <p:cxnSp>
        <p:nvCxnSpPr>
          <p:cNvPr id="24" name="Line 24"/>
          <p:cNvCxnSpPr/>
          <p:nvPr/>
        </p:nvCxnSpPr>
        <p:spPr>
          <a:xfrm>
            <a:off x="1219200" y="2550075"/>
            <a:ext cx="1371600" cy="0"/>
          </a:xfrm>
          <a:prstGeom prst="line">
            <a:avLst/>
          </a:prstGeom>
          <a:ln w="9525" cap="flat">
            <a:solidFill>
              <a:srgbClr val="E6E8F2"/>
            </a:solidFill>
          </a:ln>
        </p:spPr>
      </p:cxnSp>
      <p:cxnSp>
        <p:nvCxnSpPr>
          <p:cNvPr id="25" name="Line 25"/>
          <p:cNvCxnSpPr/>
          <p:nvPr/>
        </p:nvCxnSpPr>
        <p:spPr>
          <a:xfrm>
            <a:off x="1219200" y="2431542"/>
            <a:ext cx="1371600" cy="0"/>
          </a:xfrm>
          <a:prstGeom prst="line">
            <a:avLst/>
          </a:prstGeom>
          <a:ln w="9525" cap="flat">
            <a:solidFill>
              <a:srgbClr val="E6E8F2"/>
            </a:solidFill>
          </a:ln>
        </p:spPr>
      </p:cxnSp>
      <p:cxnSp>
        <p:nvCxnSpPr>
          <p:cNvPr id="26" name="Line 26"/>
          <p:cNvCxnSpPr/>
          <p:nvPr/>
        </p:nvCxnSpPr>
        <p:spPr>
          <a:xfrm>
            <a:off x="1219200" y="2431542"/>
            <a:ext cx="0" cy="1066800"/>
          </a:xfrm>
          <a:prstGeom prst="line">
            <a:avLst/>
          </a:prstGeom>
          <a:ln w="19050" cap="flat">
            <a:solidFill>
              <a:srgbClr val="5F6272"/>
            </a:solidFill>
          </a:ln>
        </p:spPr>
      </p:cxnSp>
      <p:cxnSp>
        <p:nvCxnSpPr>
          <p:cNvPr id="27" name="Line 27"/>
          <p:cNvCxnSpPr/>
          <p:nvPr/>
        </p:nvCxnSpPr>
        <p:spPr>
          <a:xfrm>
            <a:off x="1219200" y="3498342"/>
            <a:ext cx="1371600" cy="0"/>
          </a:xfrm>
          <a:prstGeom prst="line">
            <a:avLst/>
          </a:prstGeom>
          <a:ln w="19050" cap="flat">
            <a:solidFill>
              <a:srgbClr val="5F6272"/>
            </a:solidFill>
          </a:ln>
        </p:spPr>
      </p:cxnSp>
      <p:sp>
        <p:nvSpPr>
          <p:cNvPr id="28" name="Shape 28"/>
          <p:cNvSpPr txBox="1"/>
          <p:nvPr/>
        </p:nvSpPr>
        <p:spPr>
          <a:xfrm>
            <a:off x="9448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29" name="Shape 29"/>
          <p:cNvSpPr txBox="1"/>
          <p:nvPr/>
        </p:nvSpPr>
        <p:spPr>
          <a:xfrm>
            <a:off x="14020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12</a:t>
            </a:r>
            <a:endParaRPr lang="en-US" sz="975" dirty="0"/>
          </a:p>
        </p:txBody>
      </p:sp>
      <p:sp>
        <p:nvSpPr>
          <p:cNvPr id="30" name="Shape 30"/>
          <p:cNvSpPr txBox="1"/>
          <p:nvPr/>
        </p:nvSpPr>
        <p:spPr>
          <a:xfrm>
            <a:off x="18592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24</a:t>
            </a:r>
            <a:endParaRPr lang="en-US" sz="975" dirty="0"/>
          </a:p>
        </p:txBody>
      </p:sp>
      <p:sp>
        <p:nvSpPr>
          <p:cNvPr id="31" name="Shape 31"/>
          <p:cNvSpPr txBox="1"/>
          <p:nvPr/>
        </p:nvSpPr>
        <p:spPr>
          <a:xfrm>
            <a:off x="2316480"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36</a:t>
            </a:r>
            <a:endParaRPr lang="en-US" sz="975" dirty="0"/>
          </a:p>
        </p:txBody>
      </p:sp>
      <p:sp>
        <p:nvSpPr>
          <p:cNvPr id="32" name="Shape 32"/>
          <p:cNvSpPr txBox="1"/>
          <p:nvPr/>
        </p:nvSpPr>
        <p:spPr>
          <a:xfrm>
            <a:off x="652272"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33" name="Shape 33"/>
          <p:cNvSpPr txBox="1"/>
          <p:nvPr/>
        </p:nvSpPr>
        <p:spPr>
          <a:xfrm>
            <a:off x="652272" y="30513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120</a:t>
            </a:r>
            <a:endParaRPr lang="en-US" sz="975" dirty="0"/>
          </a:p>
        </p:txBody>
      </p:sp>
      <p:sp>
        <p:nvSpPr>
          <p:cNvPr id="34" name="Shape 34"/>
          <p:cNvSpPr txBox="1"/>
          <p:nvPr/>
        </p:nvSpPr>
        <p:spPr>
          <a:xfrm>
            <a:off x="652272" y="26957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240</a:t>
            </a:r>
            <a:endParaRPr lang="en-US" sz="975" dirty="0"/>
          </a:p>
        </p:txBody>
      </p:sp>
      <p:sp>
        <p:nvSpPr>
          <p:cNvPr id="35" name="Shape 35"/>
          <p:cNvSpPr txBox="1"/>
          <p:nvPr/>
        </p:nvSpPr>
        <p:spPr>
          <a:xfrm>
            <a:off x="652272"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360</a:t>
            </a:r>
            <a:endParaRPr lang="en-US" sz="975" dirty="0"/>
          </a:p>
        </p:txBody>
      </p:sp>
      <p:cxnSp>
        <p:nvCxnSpPr>
          <p:cNvPr id="36" name="Line 36"/>
          <p:cNvCxnSpPr/>
          <p:nvPr/>
        </p:nvCxnSpPr>
        <p:spPr>
          <a:xfrm>
            <a:off x="1219200" y="2550075"/>
            <a:ext cx="1371600" cy="533400"/>
          </a:xfrm>
          <a:prstGeom prst="line">
            <a:avLst/>
          </a:prstGeom>
          <a:ln w="38100" cap="rnd">
            <a:solidFill>
              <a:srgbClr val="16171D"/>
            </a:solidFill>
          </a:ln>
        </p:spPr>
      </p:cxnSp>
      <p:sp>
        <p:nvSpPr>
          <p:cNvPr id="37" name="Shape 37"/>
          <p:cNvSpPr txBox="1"/>
          <p:nvPr/>
        </p:nvSpPr>
        <p:spPr>
          <a:xfrm>
            <a:off x="2857500"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− 200 = </a:t>
            </a:r>
            <a:r>
              <a:rPr lang="en-US" sz="2100" dirty="0" b="1">
                <a:solidFill>
                  <a:srgbClr val="C9561F"/>
                </a:solidFill>
                <a:latin typeface="Cambria"/>
                <a:cs typeface="Cambria"/>
              </a:rPr>
              <a:t xml:space="preserve">−5</a:t>
            </a:r>
            <a:r>
              <a:rPr lang="en-US" sz="2100" dirty="0">
                <a:solidFill>
                  <a:srgbClr val="16171D"/>
                </a:solidFill>
                <a:latin typeface="Cambria"/>
                <a:cs typeface="Cambria"/>
              </a:rPr>
              <a:t xml:space="preserve">(</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− 24)</a:t>
            </a:r>
            <a:endParaRPr lang="en-US" sz="2100" dirty="0"/>
          </a:p>
        </p:txBody>
      </p:sp>
      <p:sp>
        <p:nvSpPr>
          <p:cNvPr id="38" name="Shape 38"/>
          <p:cNvSpPr txBox="1"/>
          <p:nvPr/>
        </p:nvSpPr>
        <p:spPr>
          <a:xfrm>
            <a:off x="2857500" y="2768346"/>
            <a:ext cx="2914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falls left to right</a:t>
            </a:r>
            <a:endParaRPr lang="en-US" sz="1575" dirty="0"/>
          </a:p>
        </p:txBody>
      </p:sp>
      <p:sp>
        <p:nvSpPr>
          <p:cNvPr id="75" name="Shape 75"/>
          <p:cNvSpPr txBox="1"/>
          <p:nvPr/>
        </p:nvSpPr>
        <p:spPr>
          <a:xfrm>
            <a:off x="6210148" y="1675638"/>
            <a:ext cx="5295748" cy="2241804"/>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0" name="Shape 40"/>
          <p:cNvSpPr txBox="1"/>
          <p:nvPr/>
        </p:nvSpPr>
        <p:spPr>
          <a:xfrm>
            <a:off x="6419698" y="1847088"/>
            <a:ext cx="48766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Graph C</a:t>
            </a:r>
            <a:endParaRPr lang="en-US" sz="2100" dirty="0"/>
          </a:p>
        </p:txBody>
      </p:sp>
      <p:sp>
        <p:nvSpPr>
          <p:cNvPr id="41" name="Shape 41"/>
          <p:cNvSpPr/>
          <p:nvPr/>
        </p:nvSpPr>
        <p:spPr>
          <a:xfrm>
            <a:off x="6419698" y="2317242"/>
            <a:ext cx="1809750" cy="142875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cxnSp>
        <p:nvCxnSpPr>
          <p:cNvPr id="42" name="Line 42"/>
          <p:cNvCxnSpPr/>
          <p:nvPr/>
        </p:nvCxnSpPr>
        <p:spPr>
          <a:xfrm>
            <a:off x="6743548" y="2431542"/>
            <a:ext cx="0" cy="1066800"/>
          </a:xfrm>
          <a:prstGeom prst="line">
            <a:avLst/>
          </a:prstGeom>
          <a:ln w="9525" cap="flat">
            <a:solidFill>
              <a:srgbClr val="E6E8F2"/>
            </a:solidFill>
          </a:ln>
        </p:spPr>
      </p:cxnSp>
      <p:cxnSp>
        <p:nvCxnSpPr>
          <p:cNvPr id="43" name="Line 43"/>
          <p:cNvCxnSpPr/>
          <p:nvPr/>
        </p:nvCxnSpPr>
        <p:spPr>
          <a:xfrm>
            <a:off x="6914998" y="2431542"/>
            <a:ext cx="0" cy="1066800"/>
          </a:xfrm>
          <a:prstGeom prst="line">
            <a:avLst/>
          </a:prstGeom>
          <a:ln w="9525" cap="flat">
            <a:solidFill>
              <a:srgbClr val="E6E8F2"/>
            </a:solidFill>
          </a:ln>
        </p:spPr>
      </p:cxnSp>
      <p:cxnSp>
        <p:nvCxnSpPr>
          <p:cNvPr id="44" name="Line 44"/>
          <p:cNvCxnSpPr/>
          <p:nvPr/>
        </p:nvCxnSpPr>
        <p:spPr>
          <a:xfrm>
            <a:off x="7086448" y="2431542"/>
            <a:ext cx="0" cy="1066800"/>
          </a:xfrm>
          <a:prstGeom prst="line">
            <a:avLst/>
          </a:prstGeom>
          <a:ln w="9525" cap="flat">
            <a:solidFill>
              <a:srgbClr val="E6E8F2"/>
            </a:solidFill>
          </a:ln>
        </p:spPr>
      </p:cxnSp>
      <p:cxnSp>
        <p:nvCxnSpPr>
          <p:cNvPr id="45" name="Line 45"/>
          <p:cNvCxnSpPr/>
          <p:nvPr/>
        </p:nvCxnSpPr>
        <p:spPr>
          <a:xfrm>
            <a:off x="7257898" y="2431542"/>
            <a:ext cx="0" cy="1066800"/>
          </a:xfrm>
          <a:prstGeom prst="line">
            <a:avLst/>
          </a:prstGeom>
          <a:ln w="9525" cap="flat">
            <a:solidFill>
              <a:srgbClr val="E6E8F2"/>
            </a:solidFill>
          </a:ln>
        </p:spPr>
      </p:cxnSp>
      <p:cxnSp>
        <p:nvCxnSpPr>
          <p:cNvPr id="46" name="Line 46"/>
          <p:cNvCxnSpPr/>
          <p:nvPr/>
        </p:nvCxnSpPr>
        <p:spPr>
          <a:xfrm>
            <a:off x="7429348" y="2431542"/>
            <a:ext cx="0" cy="1066800"/>
          </a:xfrm>
          <a:prstGeom prst="line">
            <a:avLst/>
          </a:prstGeom>
          <a:ln w="9525" cap="flat">
            <a:solidFill>
              <a:srgbClr val="E6E8F2"/>
            </a:solidFill>
          </a:ln>
        </p:spPr>
      </p:cxnSp>
      <p:cxnSp>
        <p:nvCxnSpPr>
          <p:cNvPr id="47" name="Line 47"/>
          <p:cNvCxnSpPr/>
          <p:nvPr/>
        </p:nvCxnSpPr>
        <p:spPr>
          <a:xfrm>
            <a:off x="7600798" y="2431542"/>
            <a:ext cx="0" cy="1066800"/>
          </a:xfrm>
          <a:prstGeom prst="line">
            <a:avLst/>
          </a:prstGeom>
          <a:ln w="9525" cap="flat">
            <a:solidFill>
              <a:srgbClr val="E6E8F2"/>
            </a:solidFill>
          </a:ln>
        </p:spPr>
      </p:cxnSp>
      <p:cxnSp>
        <p:nvCxnSpPr>
          <p:cNvPr id="48" name="Line 48"/>
          <p:cNvCxnSpPr/>
          <p:nvPr/>
        </p:nvCxnSpPr>
        <p:spPr>
          <a:xfrm>
            <a:off x="7772248" y="2431542"/>
            <a:ext cx="0" cy="1066800"/>
          </a:xfrm>
          <a:prstGeom prst="line">
            <a:avLst/>
          </a:prstGeom>
          <a:ln w="9525" cap="flat">
            <a:solidFill>
              <a:srgbClr val="E6E8F2"/>
            </a:solidFill>
          </a:ln>
        </p:spPr>
      </p:cxnSp>
      <p:cxnSp>
        <p:nvCxnSpPr>
          <p:cNvPr id="49" name="Line 49"/>
          <p:cNvCxnSpPr/>
          <p:nvPr/>
        </p:nvCxnSpPr>
        <p:spPr>
          <a:xfrm>
            <a:off x="7943698" y="2431542"/>
            <a:ext cx="0" cy="1066800"/>
          </a:xfrm>
          <a:prstGeom prst="line">
            <a:avLst/>
          </a:prstGeom>
          <a:ln w="9525" cap="flat">
            <a:solidFill>
              <a:srgbClr val="E6E8F2"/>
            </a:solidFill>
          </a:ln>
        </p:spPr>
      </p:cxnSp>
      <p:cxnSp>
        <p:nvCxnSpPr>
          <p:cNvPr id="50" name="Line 50"/>
          <p:cNvCxnSpPr/>
          <p:nvPr/>
        </p:nvCxnSpPr>
        <p:spPr>
          <a:xfrm>
            <a:off x="8115148" y="2431542"/>
            <a:ext cx="0" cy="1066800"/>
          </a:xfrm>
          <a:prstGeom prst="line">
            <a:avLst/>
          </a:prstGeom>
          <a:ln w="9525" cap="flat">
            <a:solidFill>
              <a:srgbClr val="E6E8F2"/>
            </a:solidFill>
          </a:ln>
        </p:spPr>
      </p:cxnSp>
      <p:cxnSp>
        <p:nvCxnSpPr>
          <p:cNvPr id="51" name="Line 51"/>
          <p:cNvCxnSpPr/>
          <p:nvPr/>
        </p:nvCxnSpPr>
        <p:spPr>
          <a:xfrm>
            <a:off x="6743548" y="3498342"/>
            <a:ext cx="1371600" cy="0"/>
          </a:xfrm>
          <a:prstGeom prst="line">
            <a:avLst/>
          </a:prstGeom>
          <a:ln w="9525" cap="flat">
            <a:solidFill>
              <a:srgbClr val="E6E8F2"/>
            </a:solidFill>
          </a:ln>
        </p:spPr>
      </p:cxnSp>
      <p:cxnSp>
        <p:nvCxnSpPr>
          <p:cNvPr id="52" name="Line 52"/>
          <p:cNvCxnSpPr/>
          <p:nvPr/>
        </p:nvCxnSpPr>
        <p:spPr>
          <a:xfrm>
            <a:off x="6743548" y="3364992"/>
            <a:ext cx="1371600" cy="0"/>
          </a:xfrm>
          <a:prstGeom prst="line">
            <a:avLst/>
          </a:prstGeom>
          <a:ln w="9525" cap="flat">
            <a:solidFill>
              <a:srgbClr val="E6E8F2"/>
            </a:solidFill>
          </a:ln>
        </p:spPr>
      </p:cxnSp>
      <p:cxnSp>
        <p:nvCxnSpPr>
          <p:cNvPr id="53" name="Line 53"/>
          <p:cNvCxnSpPr/>
          <p:nvPr/>
        </p:nvCxnSpPr>
        <p:spPr>
          <a:xfrm>
            <a:off x="6743548" y="3231642"/>
            <a:ext cx="1371600" cy="0"/>
          </a:xfrm>
          <a:prstGeom prst="line">
            <a:avLst/>
          </a:prstGeom>
          <a:ln w="9525" cap="flat">
            <a:solidFill>
              <a:srgbClr val="E6E8F2"/>
            </a:solidFill>
          </a:ln>
        </p:spPr>
      </p:cxnSp>
      <p:cxnSp>
        <p:nvCxnSpPr>
          <p:cNvPr id="54" name="Line 54"/>
          <p:cNvCxnSpPr/>
          <p:nvPr/>
        </p:nvCxnSpPr>
        <p:spPr>
          <a:xfrm>
            <a:off x="6743548" y="3098292"/>
            <a:ext cx="1371600" cy="0"/>
          </a:xfrm>
          <a:prstGeom prst="line">
            <a:avLst/>
          </a:prstGeom>
          <a:ln w="9525" cap="flat">
            <a:solidFill>
              <a:srgbClr val="E6E8F2"/>
            </a:solidFill>
          </a:ln>
        </p:spPr>
      </p:cxnSp>
      <p:cxnSp>
        <p:nvCxnSpPr>
          <p:cNvPr id="55" name="Line 55"/>
          <p:cNvCxnSpPr/>
          <p:nvPr/>
        </p:nvCxnSpPr>
        <p:spPr>
          <a:xfrm>
            <a:off x="6743548" y="2964942"/>
            <a:ext cx="1371600" cy="0"/>
          </a:xfrm>
          <a:prstGeom prst="line">
            <a:avLst/>
          </a:prstGeom>
          <a:ln w="9525" cap="flat">
            <a:solidFill>
              <a:srgbClr val="E6E8F2"/>
            </a:solidFill>
          </a:ln>
        </p:spPr>
      </p:cxnSp>
      <p:cxnSp>
        <p:nvCxnSpPr>
          <p:cNvPr id="56" name="Line 56"/>
          <p:cNvCxnSpPr/>
          <p:nvPr/>
        </p:nvCxnSpPr>
        <p:spPr>
          <a:xfrm>
            <a:off x="6743548" y="2831592"/>
            <a:ext cx="1371600" cy="0"/>
          </a:xfrm>
          <a:prstGeom prst="line">
            <a:avLst/>
          </a:prstGeom>
          <a:ln w="9525" cap="flat">
            <a:solidFill>
              <a:srgbClr val="E6E8F2"/>
            </a:solidFill>
          </a:ln>
        </p:spPr>
      </p:cxnSp>
      <p:cxnSp>
        <p:nvCxnSpPr>
          <p:cNvPr id="57" name="Line 57"/>
          <p:cNvCxnSpPr/>
          <p:nvPr/>
        </p:nvCxnSpPr>
        <p:spPr>
          <a:xfrm>
            <a:off x="6743548" y="2698242"/>
            <a:ext cx="1371600" cy="0"/>
          </a:xfrm>
          <a:prstGeom prst="line">
            <a:avLst/>
          </a:prstGeom>
          <a:ln w="9525" cap="flat">
            <a:solidFill>
              <a:srgbClr val="E6E8F2"/>
            </a:solidFill>
          </a:ln>
        </p:spPr>
      </p:cxnSp>
      <p:cxnSp>
        <p:nvCxnSpPr>
          <p:cNvPr id="58" name="Line 58"/>
          <p:cNvCxnSpPr/>
          <p:nvPr/>
        </p:nvCxnSpPr>
        <p:spPr>
          <a:xfrm>
            <a:off x="6743548" y="2564892"/>
            <a:ext cx="1371600" cy="0"/>
          </a:xfrm>
          <a:prstGeom prst="line">
            <a:avLst/>
          </a:prstGeom>
          <a:ln w="9525" cap="flat">
            <a:solidFill>
              <a:srgbClr val="E6E8F2"/>
            </a:solidFill>
          </a:ln>
        </p:spPr>
      </p:cxnSp>
      <p:cxnSp>
        <p:nvCxnSpPr>
          <p:cNvPr id="59" name="Line 59"/>
          <p:cNvCxnSpPr/>
          <p:nvPr/>
        </p:nvCxnSpPr>
        <p:spPr>
          <a:xfrm>
            <a:off x="6743548" y="2431542"/>
            <a:ext cx="1371600" cy="0"/>
          </a:xfrm>
          <a:prstGeom prst="line">
            <a:avLst/>
          </a:prstGeom>
          <a:ln w="9525" cap="flat">
            <a:solidFill>
              <a:srgbClr val="E6E8F2"/>
            </a:solidFill>
          </a:ln>
        </p:spPr>
      </p:cxnSp>
      <p:cxnSp>
        <p:nvCxnSpPr>
          <p:cNvPr id="60" name="Line 60"/>
          <p:cNvCxnSpPr/>
          <p:nvPr/>
        </p:nvCxnSpPr>
        <p:spPr>
          <a:xfrm>
            <a:off x="7429348" y="2431542"/>
            <a:ext cx="0" cy="1066800"/>
          </a:xfrm>
          <a:prstGeom prst="line">
            <a:avLst/>
          </a:prstGeom>
          <a:ln w="19050" cap="flat">
            <a:solidFill>
              <a:srgbClr val="5F6272"/>
            </a:solidFill>
          </a:ln>
        </p:spPr>
      </p:cxnSp>
      <p:cxnSp>
        <p:nvCxnSpPr>
          <p:cNvPr id="61" name="Line 61"/>
          <p:cNvCxnSpPr/>
          <p:nvPr/>
        </p:nvCxnSpPr>
        <p:spPr>
          <a:xfrm>
            <a:off x="6743548" y="3231642"/>
            <a:ext cx="1371600" cy="0"/>
          </a:xfrm>
          <a:prstGeom prst="line">
            <a:avLst/>
          </a:prstGeom>
          <a:ln w="19050" cap="flat">
            <a:solidFill>
              <a:srgbClr val="5F6272"/>
            </a:solidFill>
          </a:ln>
        </p:spPr>
      </p:cxnSp>
      <p:sp>
        <p:nvSpPr>
          <p:cNvPr id="62" name="Shape 62"/>
          <p:cNvSpPr txBox="1"/>
          <p:nvPr/>
        </p:nvSpPr>
        <p:spPr>
          <a:xfrm>
            <a:off x="64692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3" name="Shape 63"/>
          <p:cNvSpPr txBox="1"/>
          <p:nvPr/>
        </p:nvSpPr>
        <p:spPr>
          <a:xfrm>
            <a:off x="68121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4" name="Shape 64"/>
          <p:cNvSpPr txBox="1"/>
          <p:nvPr/>
        </p:nvSpPr>
        <p:spPr>
          <a:xfrm>
            <a:off x="71550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0</a:t>
            </a:r>
            <a:endParaRPr lang="en-US" sz="975" dirty="0"/>
          </a:p>
        </p:txBody>
      </p:sp>
      <p:sp>
        <p:nvSpPr>
          <p:cNvPr id="65" name="Shape 65"/>
          <p:cNvSpPr txBox="1"/>
          <p:nvPr/>
        </p:nvSpPr>
        <p:spPr>
          <a:xfrm>
            <a:off x="74979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2</a:t>
            </a:r>
            <a:endParaRPr lang="en-US" sz="975" dirty="0"/>
          </a:p>
        </p:txBody>
      </p:sp>
      <p:sp>
        <p:nvSpPr>
          <p:cNvPr id="66" name="Shape 66"/>
          <p:cNvSpPr txBox="1"/>
          <p:nvPr/>
        </p:nvSpPr>
        <p:spPr>
          <a:xfrm>
            <a:off x="7840828" y="3517392"/>
            <a:ext cx="548640" cy="182880"/>
          </a:xfrm>
          <a:prstGeom prst="rect">
            <a:avLst/>
          </a:prstGeom>
          <a:noFill/>
          <a:ln>
            <a:noFill/>
          </a:ln>
        </p:spPr>
        <p:txBody>
          <a:bodyPr wrap="square" lIns="0" tIns="0" rIns="0" bIns="0" anchor="t">
            <a:noAutofit/>
          </a:bodyPr>
          <a:lstStyle/>
          <a:p>
            <a:pPr algn="ctr">
              <a:lnSpc>
                <a:spcPct val="100000"/>
              </a:lnSpc>
            </a:pPr>
            <a:r>
              <a:rPr lang="en-US" sz="975" dirty="0">
                <a:solidFill>
                  <a:srgbClr val="5F6272"/>
                </a:solidFill>
                <a:latin typeface="Segoe UI"/>
                <a:cs typeface="Segoe UI"/>
              </a:rPr>
              <a:t xml:space="preserve">4</a:t>
            </a:r>
            <a:endParaRPr lang="en-US" sz="975" dirty="0"/>
          </a:p>
        </p:txBody>
      </p:sp>
      <p:sp>
        <p:nvSpPr>
          <p:cNvPr id="67" name="Shape 67"/>
          <p:cNvSpPr txBox="1"/>
          <p:nvPr/>
        </p:nvSpPr>
        <p:spPr>
          <a:xfrm>
            <a:off x="6176620" y="34069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68" name="Shape 68"/>
          <p:cNvSpPr txBox="1"/>
          <p:nvPr/>
        </p:nvSpPr>
        <p:spPr>
          <a:xfrm>
            <a:off x="6176620" y="31402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0</a:t>
            </a:r>
            <a:endParaRPr lang="en-US" sz="975" dirty="0"/>
          </a:p>
        </p:txBody>
      </p:sp>
      <p:sp>
        <p:nvSpPr>
          <p:cNvPr id="69" name="Shape 69"/>
          <p:cNvSpPr txBox="1"/>
          <p:nvPr/>
        </p:nvSpPr>
        <p:spPr>
          <a:xfrm>
            <a:off x="6176620" y="28735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2</a:t>
            </a:r>
            <a:endParaRPr lang="en-US" sz="975" dirty="0"/>
          </a:p>
        </p:txBody>
      </p:sp>
      <p:sp>
        <p:nvSpPr>
          <p:cNvPr id="70" name="Shape 70"/>
          <p:cNvSpPr txBox="1"/>
          <p:nvPr/>
        </p:nvSpPr>
        <p:spPr>
          <a:xfrm>
            <a:off x="6176620" y="26068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4</a:t>
            </a:r>
            <a:endParaRPr lang="en-US" sz="975" dirty="0"/>
          </a:p>
        </p:txBody>
      </p:sp>
      <p:sp>
        <p:nvSpPr>
          <p:cNvPr id="71" name="Shape 71"/>
          <p:cNvSpPr txBox="1"/>
          <p:nvPr/>
        </p:nvSpPr>
        <p:spPr>
          <a:xfrm>
            <a:off x="6176620" y="2340102"/>
            <a:ext cx="512064" cy="182880"/>
          </a:xfrm>
          <a:prstGeom prst="rect">
            <a:avLst/>
          </a:prstGeom>
          <a:noFill/>
          <a:ln>
            <a:noFill/>
          </a:ln>
        </p:spPr>
        <p:txBody>
          <a:bodyPr wrap="square" lIns="0" tIns="0" rIns="0" bIns="0" anchor="ctr">
            <a:noAutofit/>
          </a:bodyPr>
          <a:lstStyle/>
          <a:p>
            <a:pPr algn="r">
              <a:lnSpc>
                <a:spcPct val="100000"/>
              </a:lnSpc>
            </a:pPr>
            <a:r>
              <a:rPr lang="en-US" sz="975" dirty="0">
                <a:solidFill>
                  <a:srgbClr val="5F6272"/>
                </a:solidFill>
                <a:latin typeface="Segoe UI"/>
                <a:cs typeface="Segoe UI"/>
              </a:rPr>
              <a:t xml:space="preserve">6</a:t>
            </a:r>
            <a:endParaRPr lang="en-US" sz="975" dirty="0"/>
          </a:p>
        </p:txBody>
      </p:sp>
      <p:cxnSp>
        <p:nvCxnSpPr>
          <p:cNvPr id="72" name="Line 72"/>
          <p:cNvCxnSpPr/>
          <p:nvPr/>
        </p:nvCxnSpPr>
        <p:spPr>
          <a:xfrm flipV="1">
            <a:off x="6743548" y="2431542"/>
            <a:ext cx="1371600" cy="1066800"/>
          </a:xfrm>
          <a:prstGeom prst="line">
            <a:avLst/>
          </a:prstGeom>
          <a:ln w="38100" cap="rnd">
            <a:solidFill>
              <a:srgbClr val="16171D"/>
            </a:solidFill>
          </a:ln>
        </p:spPr>
      </p:cxnSp>
      <p:sp>
        <p:nvSpPr>
          <p:cNvPr id="73" name="Shape 73"/>
          <p:cNvSpPr txBox="1"/>
          <p:nvPr/>
        </p:nvSpPr>
        <p:spPr>
          <a:xfrm>
            <a:off x="8381848" y="2317242"/>
            <a:ext cx="2914498" cy="374904"/>
          </a:xfrm>
          <a:prstGeom prst="rect">
            <a:avLst/>
          </a:prstGeom>
          <a:noFill/>
          <a:ln>
            <a:noFill/>
          </a:ln>
        </p:spPr>
        <p:txBody>
          <a:bodyPr wrap="square" lIns="36576" tIns="27432" rIns="36576" bIns="27432" anchor="t">
            <a:noAutofit/>
          </a:bodyPr>
          <a:lstStyle/>
          <a:p>
            <a:pPr algn="l">
              <a:lnSpc>
                <a:spcPct val="100000"/>
              </a:lnSpc>
            </a:pPr>
            <a:r>
              <a:rPr lang="en-US" sz="2100" dirty="0" i="1">
                <a:solidFill>
                  <a:srgbClr val="16171D"/>
                </a:solidFill>
                <a:latin typeface="Cambria"/>
                <a:cs typeface="Cambria"/>
              </a:rPr>
              <a:t xml:space="preserve">y</a:t>
            </a:r>
            <a:r>
              <a:rPr lang="en-US" sz="2100" dirty="0">
                <a:solidFill>
                  <a:srgbClr val="16171D"/>
                </a:solidFill>
                <a:latin typeface="Cambria"/>
                <a:cs typeface="Cambria"/>
              </a:rPr>
              <a:t xml:space="preserve"> = </a:t>
            </a:r>
            <a:r>
              <a:rPr lang="en-US" sz="2100" dirty="0" b="1">
                <a:solidFill>
                  <a:srgbClr val="C9561F"/>
                </a:solidFill>
                <a:latin typeface="Cambria"/>
                <a:cs typeface="Cambria"/>
              </a:rPr>
              <a:t xml:space="preserve">1</a:t>
            </a:r>
            <a:r>
              <a:rPr lang="en-US" sz="2100" dirty="0" i="1">
                <a:solidFill>
                  <a:srgbClr val="16171D"/>
                </a:solidFill>
                <a:latin typeface="Cambria"/>
                <a:cs typeface="Cambria"/>
              </a:rPr>
              <a:t xml:space="preserve">x</a:t>
            </a:r>
            <a:r>
              <a:rPr lang="en-US" sz="2100" dirty="0">
                <a:solidFill>
                  <a:srgbClr val="16171D"/>
                </a:solidFill>
                <a:latin typeface="Cambria"/>
                <a:cs typeface="Cambria"/>
              </a:rPr>
              <a:t xml:space="preserve"> + 2</a:t>
            </a:r>
            <a:endParaRPr lang="en-US" sz="2100" dirty="0"/>
          </a:p>
        </p:txBody>
      </p:sp>
      <p:sp>
        <p:nvSpPr>
          <p:cNvPr id="74" name="Shape 74"/>
          <p:cNvSpPr txBox="1"/>
          <p:nvPr/>
        </p:nvSpPr>
        <p:spPr>
          <a:xfrm>
            <a:off x="8381848" y="2768346"/>
            <a:ext cx="29144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rises left to right</a:t>
            </a:r>
            <a:endParaRPr lang="en-US" sz="1575" dirty="0"/>
          </a:p>
        </p:txBody>
      </p:sp>
      <p:sp>
        <p:nvSpPr>
          <p:cNvPr id="76" name="Shape 76"/>
          <p:cNvSpPr txBox="1"/>
          <p:nvPr/>
        </p:nvSpPr>
        <p:spPr>
          <a:xfrm>
            <a:off x="685800" y="4069842"/>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a.</a:t>
            </a:r>
            <a:r>
              <a:rPr lang="en-US" sz="1950" dirty="0">
                <a:solidFill>
                  <a:srgbClr val="16171D"/>
                </a:solidFill>
                <a:latin typeface="Segoe UI"/>
                <a:cs typeface="Segoe UI"/>
              </a:rPr>
              <a:t xml:space="preserve"> One graph goes </a:t>
            </a:r>
            <a:r>
              <a:rPr lang="en-US" sz="1950" dirty="0" b="1">
                <a:solidFill>
                  <a:srgbClr val="16171D"/>
                </a:solidFill>
                <a:latin typeface="Segoe UI"/>
                <a:cs typeface="Segoe UI"/>
              </a:rPr>
              <a:t xml:space="preserve">down</a:t>
            </a:r>
            <a:r>
              <a:rPr lang="en-US" sz="1950" dirty="0">
                <a:solidFill>
                  <a:srgbClr val="16171D"/>
                </a:solidFill>
                <a:latin typeface="Segoe UI"/>
                <a:cs typeface="Segoe UI"/>
              </a:rPr>
              <a:t xml:space="preserve"> from left to right: </a:t>
            </a:r>
            <a:r>
              <a:rPr lang="en-US" sz="1950" dirty="0" b="1">
                <a:solidFill>
                  <a:srgbClr val="C9561F"/>
                </a:solidFill>
                <a:latin typeface="Segoe UI"/>
                <a:cs typeface="Segoe UI"/>
              </a:rPr>
              <a:t xml:space="preserve">negative slope</a:t>
            </a:r>
            <a:r>
              <a:rPr lang="en-US" sz="1950" dirty="0">
                <a:solidFill>
                  <a:srgbClr val="16171D"/>
                </a:solidFill>
                <a:latin typeface="Segoe UI"/>
                <a:cs typeface="Segoe UI"/>
              </a:rPr>
              <a:t xml:space="preserve">. The other goes </a:t>
            </a:r>
            <a:r>
              <a:rPr lang="en-US" sz="1950" dirty="0" b="1">
                <a:solidFill>
                  <a:srgbClr val="16171D"/>
                </a:solidFill>
                <a:latin typeface="Segoe UI"/>
                <a:cs typeface="Segoe UI"/>
              </a:rPr>
              <a:t xml:space="preserve">up</a:t>
            </a:r>
            <a:r>
              <a:rPr lang="en-US" sz="1950" dirty="0">
                <a:solidFill>
                  <a:srgbClr val="16171D"/>
                </a:solidFill>
                <a:latin typeface="Segoe UI"/>
                <a:cs typeface="Segoe UI"/>
              </a:rPr>
              <a:t xml:space="preserve">: </a:t>
            </a:r>
            <a:r>
              <a:rPr lang="en-US" sz="1950" dirty="0" b="1">
                <a:solidFill>
                  <a:srgbClr val="C9561F"/>
                </a:solidFill>
                <a:latin typeface="Segoe UI"/>
                <a:cs typeface="Segoe UI"/>
              </a:rPr>
              <a:t xml:space="preserve">positive slope</a:t>
            </a:r>
            <a:r>
              <a:rPr lang="en-US" sz="1950" dirty="0">
                <a:solidFill>
                  <a:srgbClr val="16171D"/>
                </a:solidFill>
                <a:latin typeface="Segoe UI"/>
                <a:cs typeface="Segoe UI"/>
              </a:rPr>
              <a:t xml:space="preserve">.</a:t>
            </a:r>
            <a:endParaRPr lang="en-US" sz="1950" dirty="0"/>
          </a:p>
        </p:txBody>
      </p:sp>
      <p:sp>
        <p:nvSpPr>
          <p:cNvPr id="77" name="Shape 77"/>
          <p:cNvSpPr txBox="1"/>
          <p:nvPr/>
        </p:nvSpPr>
        <p:spPr>
          <a:xfrm>
            <a:off x="685800" y="4871466"/>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b.</a:t>
            </a:r>
            <a:r>
              <a:rPr lang="en-US" sz="1950" dirty="0">
                <a:solidFill>
                  <a:srgbClr val="16171D"/>
                </a:solidFill>
                <a:latin typeface="Segoe UI"/>
                <a:cs typeface="Segoe UI"/>
              </a:rPr>
              <a:t xml:space="preserve"> In slope-intercept form, the number that is </a:t>
            </a:r>
            <a:r>
              <a:rPr lang="en-US" sz="1950" dirty="0" b="1">
                <a:solidFill>
                  <a:srgbClr val="16171D"/>
                </a:solidFill>
                <a:latin typeface="Segoe UI"/>
                <a:cs typeface="Segoe UI"/>
              </a:rPr>
              <a:t xml:space="preserve">added</a:t>
            </a:r>
            <a:r>
              <a:rPr lang="en-US" sz="1950" dirty="0">
                <a:solidFill>
                  <a:srgbClr val="16171D"/>
                </a:solidFill>
                <a:latin typeface="Segoe UI"/>
                <a:cs typeface="Segoe UI"/>
              </a:rPr>
              <a:t xml:space="preserve"> is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-coordinate of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-intercept.</a:t>
            </a:r>
            <a:endParaRPr lang="en-US" sz="1950" dirty="0"/>
          </a:p>
        </p:txBody>
      </p:sp>
      <p:sp>
        <p:nvSpPr>
          <p:cNvPr id="78" name="Shape 78"/>
          <p:cNvSpPr txBox="1"/>
          <p:nvPr/>
        </p:nvSpPr>
        <p:spPr>
          <a:xfrm>
            <a:off x="685800" y="56730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c.</a:t>
            </a:r>
            <a:r>
              <a:rPr lang="en-US" sz="1950" dirty="0">
                <a:solidFill>
                  <a:srgbClr val="16171D"/>
                </a:solidFill>
                <a:latin typeface="Segoe UI"/>
                <a:cs typeface="Segoe UI"/>
              </a:rPr>
              <a:t xml:space="preserve"> The slope is the </a:t>
            </a:r>
            <a:r>
              <a:rPr lang="en-US" sz="1950" dirty="0" b="1">
                <a:solidFill>
                  <a:srgbClr val="16171D"/>
                </a:solidFill>
                <a:latin typeface="Segoe UI"/>
                <a:cs typeface="Segoe UI"/>
              </a:rPr>
              <a:t xml:space="preserve">coefficient of </a:t>
            </a:r>
            <a:r>
              <a:rPr lang="en-US" sz="1950" dirty="0" b="1" i="1">
                <a:solidFill>
                  <a:srgbClr val="16171D"/>
                </a:solidFill>
                <a:latin typeface="Segoe UI"/>
                <a:cs typeface="Segoe UI"/>
              </a:rPr>
              <a:t xml:space="preserve">x</a:t>
            </a:r>
            <a:r>
              <a:rPr lang="en-US" sz="1950" dirty="0">
                <a:solidFill>
                  <a:srgbClr val="16171D"/>
                </a:solidFill>
                <a:latin typeface="Segoe UI"/>
                <a:cs typeface="Segoe UI"/>
              </a:rPr>
              <a:t xml:space="preserve"> in slope-intercept form.</a:t>
            </a:r>
            <a:endParaRPr lang="en-US" sz="1950" dirty="0"/>
          </a:p>
        </p:txBody>
      </p:sp>
      <p:sp>
        <p:nvSpPr>
          <p:cNvPr id="79" name="Slide Number 79"/>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30</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36"/>
                                        </p:tgtEl>
                                        <p:attrNameLst>
                                          <p:attrName>style.visibility</p:attrName>
                                        </p:attrNameLst>
                                      </p:cBhvr>
                                      <p:to>
                                        <p:strVal val="visible"/>
                                      </p:to>
                                    </p:set>
                                    <p:animEffect transition="in" filter="wipe(left)">
                                      <p:cBhvr>
                                        <p:cTn id="4" dur="700"/>
                                        <p:tgtEl>
                                          <p:spTgt spid="36"/>
                                        </p:tgtEl>
                                      </p:cBhvr>
                                    </p:animEffect>
                                  </p:childTnLst>
                                </p:cTn>
                              </p:par>
                            </p:childTnLst>
                          </p:cTn>
                        </p:par>
                      </p:childTnLst>
                    </p:cTn>
                  </p:par>
                  <p:par>
                    <p:cTn id="18" fill="hold">
                      <p:stCondLst>
                        <p:cond delay="indefinite"/>
                      </p:stCondLst>
                      <p:childTnLst>
                        <p:par>
                          <p:cTn id="19" fill="hold">
                            <p:stCondLst>
                              <p:cond delay="0"/>
                            </p:stCondLst>
                            <p:childTnLst>
                              <p:par>
                                <p:cTn id="12" presetID="42" presetClass="entr" presetSubtype="0" fill="hold" nodeType="clickEffect">
                                  <p:stCondLst>
                                    <p:cond delay="0"/>
                                  </p:stCondLst>
                                  <p:childTnLst>
                                    <p:set>
                                      <p:cBhvr>
                                        <p:cTn id="8" dur="1" fill="hold">
                                          <p:stCondLst>
                                            <p:cond delay="0"/>
                                          </p:stCondLst>
                                        </p:cTn>
                                        <p:tgtEl>
                                          <p:spTgt spid="37"/>
                                        </p:tgtEl>
                                        <p:attrNameLst>
                                          <p:attrName>style.visibility</p:attrName>
                                        </p:attrNameLst>
                                      </p:cBhvr>
                                      <p:to>
                                        <p:strVal val="visible"/>
                                      </p:to>
                                    </p:set>
                                    <p:animEffect transition="in" filter="fade">
                                      <p:cBhvr>
                                        <p:cTn id="9" dur="500"/>
                                        <p:tgtEl>
                                          <p:spTgt spid="37"/>
                                        </p:tgtEl>
                                      </p:cBhvr>
                                    </p:animEffect>
                                    <p:anim calcmode="lin" valueType="num">
                                      <p:cBhvr>
                                        <p:cTn id="10" dur="500" fill="hold"/>
                                        <p:tgtEl>
                                          <p:spTgt spid="37"/>
                                        </p:tgtEl>
                                        <p:attrNameLst>
                                          <p:attrName>ppt_x</p:attrName>
                                        </p:attrNameLst>
                                      </p:cBhvr>
                                      <p:tavLst>
                                        <p:tav tm="0">
                                          <p:val>
                                            <p:strVal val="#ppt_x"/>
                                          </p:val>
                                        </p:tav>
                                        <p:tav tm="100000">
                                          <p:val>
                                            <p:strVal val="#ppt_x"/>
                                          </p:val>
                                        </p:tav>
                                      </p:tavLst>
                                    </p:anim>
                                    <p:anim calcmode="lin" valueType="num">
                                      <p:cBhvr>
                                        <p:cTn id="11" dur="500" fill="hold"/>
                                        <p:tgtEl>
                                          <p:spTgt spid="37"/>
                                        </p:tgtEl>
                                        <p:attrNameLst>
                                          <p:attrName>ppt_y</p:attrName>
                                        </p:attrNameLst>
                                      </p:cBhvr>
                                      <p:tavLst>
                                        <p:tav tm="0">
                                          <p:val>
                                            <p:strVal val="#ppt_y+.1"/>
                                          </p:val>
                                        </p:tav>
                                        <p:tav tm="100000">
                                          <p:val>
                                            <p:strVal val="#ppt_y"/>
                                          </p:val>
                                        </p:tav>
                                      </p:tavLst>
                                    </p:anim>
                                  </p:childTnLst>
                                </p:cTn>
                              </p:par>
                              <p:par>
                                <p:cTn id="17" presetID="42" presetClass="entr" presetSubtype="0" fill="hold" nodeType="withEffect">
                                  <p:stCondLst>
                                    <p:cond delay="0"/>
                                  </p:stCondLst>
                                  <p:childTnLst>
                                    <p:set>
                                      <p:cBhvr>
                                        <p:cTn id="13" dur="1" fill="hold">
                                          <p:stCondLst>
                                            <p:cond delay="0"/>
                                          </p:stCondLst>
                                        </p:cTn>
                                        <p:tgtEl>
                                          <p:spTgt spid="38"/>
                                        </p:tgtEl>
                                        <p:attrNameLst>
                                          <p:attrName>style.visibility</p:attrName>
                                        </p:attrNameLst>
                                      </p:cBhvr>
                                      <p:to>
                                        <p:strVal val="visible"/>
                                      </p:to>
                                    </p:set>
                                    <p:animEffect transition="in" filter="fade">
                                      <p:cBhvr>
                                        <p:cTn id="14" dur="500"/>
                                        <p:tgtEl>
                                          <p:spTgt spid="38"/>
                                        </p:tgtEl>
                                      </p:cBhvr>
                                    </p:animEffect>
                                    <p:anim calcmode="lin" valueType="num">
                                      <p:cBhvr>
                                        <p:cTn id="15" dur="500" fill="hold"/>
                                        <p:tgtEl>
                                          <p:spTgt spid="38"/>
                                        </p:tgtEl>
                                        <p:attrNameLst>
                                          <p:attrName>ppt_x</p:attrName>
                                        </p:attrNameLst>
                                      </p:cBhvr>
                                      <p:tavLst>
                                        <p:tav tm="0">
                                          <p:val>
                                            <p:strVal val="#ppt_x"/>
                                          </p:val>
                                        </p:tav>
                                        <p:tav tm="100000">
                                          <p:val>
                                            <p:strVal val="#ppt_x"/>
                                          </p:val>
                                        </p:tav>
                                      </p:tavLst>
                                    </p:anim>
                                    <p:anim calcmode="lin" valueType="num">
                                      <p:cBhvr>
                                        <p:cTn id="16" dur="500" fill="hold"/>
                                        <p:tgtEl>
                                          <p:spTgt spid="38"/>
                                        </p:tgtEl>
                                        <p:attrNameLst>
                                          <p:attrName>ppt_y</p:attrName>
                                        </p:attrNameLst>
                                      </p:cBhvr>
                                      <p:tavLst>
                                        <p:tav tm="0">
                                          <p:val>
                                            <p:strVal val="#ppt_y+.1"/>
                                          </p:val>
                                        </p:tav>
                                        <p:tav tm="100000">
                                          <p:val>
                                            <p:strVal val="#ppt_y"/>
                                          </p:val>
                                        </p:tav>
                                      </p:tavLst>
                                    </p:anim>
                                  </p:childTnLst>
                                </p:cTn>
                              </p:par>
                            </p:childTnLst>
                          </p:cTn>
                        </p:par>
                      </p:childTnLst>
                    </p:cTn>
                  </p:par>
                  <p:par>
                    <p:cTn id="23" fill="hold">
                      <p:stCondLst>
                        <p:cond delay="indefinite"/>
                      </p:stCondLst>
                      <p:childTnLst>
                        <p:par>
                          <p:cTn id="24" fill="hold">
                            <p:stCondLst>
                              <p:cond delay="0"/>
                            </p:stCondLst>
                            <p:childTnLst>
                              <p:par>
                                <p:cTn id="22" presetID="22" presetClass="entr" presetSubtype="8" fill="hold" nodeType="clickEffect">
                                  <p:stCondLst>
                                    <p:cond delay="0"/>
                                  </p:stCondLst>
                                  <p:childTnLst>
                                    <p:set>
                                      <p:cBhvr>
                                        <p:cTn id="20" dur="1" fill="hold">
                                          <p:stCondLst>
                                            <p:cond delay="0"/>
                                          </p:stCondLst>
                                        </p:cTn>
                                        <p:tgtEl>
                                          <p:spTgt spid="72"/>
                                        </p:tgtEl>
                                        <p:attrNameLst>
                                          <p:attrName>style.visibility</p:attrName>
                                        </p:attrNameLst>
                                      </p:cBhvr>
                                      <p:to>
                                        <p:strVal val="visible"/>
                                      </p:to>
                                    </p:set>
                                    <p:animEffect transition="in" filter="wipe(left)">
                                      <p:cBhvr>
                                        <p:cTn id="21" dur="700"/>
                                        <p:tgtEl>
                                          <p:spTgt spid="72"/>
                                        </p:tgtEl>
                                      </p:cBhvr>
                                    </p:animEffect>
                                  </p:childTnLst>
                                </p:cTn>
                              </p:par>
                            </p:childTnLst>
                          </p:cTn>
                        </p:par>
                      </p:childTnLst>
                    </p:cTn>
                  </p:par>
                  <p:par>
                    <p:cTn id="35" fill="hold">
                      <p:stCondLst>
                        <p:cond delay="indefinite"/>
                      </p:stCondLst>
                      <p:childTnLst>
                        <p:par>
                          <p:cTn id="36" fill="hold">
                            <p:stCondLst>
                              <p:cond delay="0"/>
                            </p:stCondLst>
                            <p:childTnLst>
                              <p:par>
                                <p:cTn id="29" presetID="42" presetClass="entr" presetSubtype="0" fill="hold" nodeType="clickEffect">
                                  <p:stCondLst>
                                    <p:cond delay="0"/>
                                  </p:stCondLst>
                                  <p:childTnLst>
                                    <p:set>
                                      <p:cBhvr>
                                        <p:cTn id="25" dur="1" fill="hold">
                                          <p:stCondLst>
                                            <p:cond delay="0"/>
                                          </p:stCondLst>
                                        </p:cTn>
                                        <p:tgtEl>
                                          <p:spTgt spid="73"/>
                                        </p:tgtEl>
                                        <p:attrNameLst>
                                          <p:attrName>style.visibility</p:attrName>
                                        </p:attrNameLst>
                                      </p:cBhvr>
                                      <p:to>
                                        <p:strVal val="visible"/>
                                      </p:to>
                                    </p:set>
                                    <p:animEffect transition="in" filter="fade">
                                      <p:cBhvr>
                                        <p:cTn id="26" dur="500"/>
                                        <p:tgtEl>
                                          <p:spTgt spid="73"/>
                                        </p:tgtEl>
                                      </p:cBhvr>
                                    </p:animEffect>
                                    <p:anim calcmode="lin" valueType="num">
                                      <p:cBhvr>
                                        <p:cTn id="27" dur="500" fill="hold"/>
                                        <p:tgtEl>
                                          <p:spTgt spid="73"/>
                                        </p:tgtEl>
                                        <p:attrNameLst>
                                          <p:attrName>ppt_x</p:attrName>
                                        </p:attrNameLst>
                                      </p:cBhvr>
                                      <p:tavLst>
                                        <p:tav tm="0">
                                          <p:val>
                                            <p:strVal val="#ppt_x"/>
                                          </p:val>
                                        </p:tav>
                                        <p:tav tm="100000">
                                          <p:val>
                                            <p:strVal val="#ppt_x"/>
                                          </p:val>
                                        </p:tav>
                                      </p:tavLst>
                                    </p:anim>
                                    <p:anim calcmode="lin" valueType="num">
                                      <p:cBhvr>
                                        <p:cTn id="28" dur="500" fill="hold"/>
                                        <p:tgtEl>
                                          <p:spTgt spid="73"/>
                                        </p:tgtEl>
                                        <p:attrNameLst>
                                          <p:attrName>ppt_y</p:attrName>
                                        </p:attrNameLst>
                                      </p:cBhvr>
                                      <p:tavLst>
                                        <p:tav tm="0">
                                          <p:val>
                                            <p:strVal val="#ppt_y+.1"/>
                                          </p:val>
                                        </p:tav>
                                        <p:tav tm="100000">
                                          <p:val>
                                            <p:strVal val="#ppt_y"/>
                                          </p:val>
                                        </p:tav>
                                      </p:tavLst>
                                    </p:anim>
                                  </p:childTnLst>
                                </p:cTn>
                              </p:par>
                              <p:par>
                                <p:cTn id="34" presetID="42" presetClass="entr" presetSubtype="0" fill="hold" nodeType="withEffect">
                                  <p:stCondLst>
                                    <p:cond delay="0"/>
                                  </p:stCondLst>
                                  <p:childTnLst>
                                    <p:set>
                                      <p:cBhvr>
                                        <p:cTn id="30" dur="1" fill="hold">
                                          <p:stCondLst>
                                            <p:cond delay="0"/>
                                          </p:stCondLst>
                                        </p:cTn>
                                        <p:tgtEl>
                                          <p:spTgt spid="74"/>
                                        </p:tgtEl>
                                        <p:attrNameLst>
                                          <p:attrName>style.visibility</p:attrName>
                                        </p:attrNameLst>
                                      </p:cBhvr>
                                      <p:to>
                                        <p:strVal val="visible"/>
                                      </p:to>
                                    </p:set>
                                    <p:animEffect transition="in" filter="fade">
                                      <p:cBhvr>
                                        <p:cTn id="31" dur="500"/>
                                        <p:tgtEl>
                                          <p:spTgt spid="74"/>
                                        </p:tgtEl>
                                      </p:cBhvr>
                                    </p:animEffect>
                                    <p:anim calcmode="lin" valueType="num">
                                      <p:cBhvr>
                                        <p:cTn id="32" dur="500" fill="hold"/>
                                        <p:tgtEl>
                                          <p:spTgt spid="74"/>
                                        </p:tgtEl>
                                        <p:attrNameLst>
                                          <p:attrName>ppt_x</p:attrName>
                                        </p:attrNameLst>
                                      </p:cBhvr>
                                      <p:tavLst>
                                        <p:tav tm="0">
                                          <p:val>
                                            <p:strVal val="#ppt_x"/>
                                          </p:val>
                                        </p:tav>
                                        <p:tav tm="100000">
                                          <p:val>
                                            <p:strVal val="#ppt_x"/>
                                          </p:val>
                                        </p:tav>
                                      </p:tavLst>
                                    </p:anim>
                                    <p:anim calcmode="lin" valueType="num">
                                      <p:cBhvr>
                                        <p:cTn id="33" dur="500" fill="hold"/>
                                        <p:tgtEl>
                                          <p:spTgt spid="74"/>
                                        </p:tgtEl>
                                        <p:attrNameLst>
                                          <p:attrName>ppt_y</p:attrName>
                                        </p:attrNameLst>
                                      </p:cBhvr>
                                      <p:tavLst>
                                        <p:tav tm="0">
                                          <p:val>
                                            <p:strVal val="#ppt_y+.1"/>
                                          </p:val>
                                        </p:tav>
                                        <p:tav tm="100000">
                                          <p:val>
                                            <p:strVal val="#ppt_y"/>
                                          </p:val>
                                        </p:tav>
                                      </p:tavLst>
                                    </p:anim>
                                  </p:childTnLst>
                                </p:cTn>
                              </p:par>
                            </p:childTnLst>
                          </p:cTn>
                        </p:par>
                      </p:childTnLst>
                    </p:cTn>
                  </p:par>
                  <p:par>
                    <p:cTn id="42" fill="hold">
                      <p:stCondLst>
                        <p:cond delay="indefinite"/>
                      </p:stCondLst>
                      <p:childTnLst>
                        <p:par>
                          <p:cTn id="43" fill="hold">
                            <p:stCondLst>
                              <p:cond delay="0"/>
                            </p:stCondLst>
                            <p:childTnLst>
                              <p:par>
                                <p:cTn id="41" presetID="42" presetClass="entr" presetSubtype="0" fill="hold" nodeType="clickEffect">
                                  <p:stCondLst>
                                    <p:cond delay="0"/>
                                  </p:stCondLst>
                                  <p:childTnLst>
                                    <p:set>
                                      <p:cBhvr>
                                        <p:cTn id="37" dur="1" fill="hold">
                                          <p:stCondLst>
                                            <p:cond delay="0"/>
                                          </p:stCondLst>
                                        </p:cTn>
                                        <p:tgtEl>
                                          <p:spTgt spid="76"/>
                                        </p:tgtEl>
                                        <p:attrNameLst>
                                          <p:attrName>style.visibility</p:attrName>
                                        </p:attrNameLst>
                                      </p:cBhvr>
                                      <p:to>
                                        <p:strVal val="visible"/>
                                      </p:to>
                                    </p:set>
                                    <p:animEffect transition="in" filter="fade">
                                      <p:cBhvr>
                                        <p:cTn id="38" dur="500"/>
                                        <p:tgtEl>
                                          <p:spTgt spid="76"/>
                                        </p:tgtEl>
                                      </p:cBhvr>
                                    </p:animEffect>
                                    <p:anim calcmode="lin" valueType="num">
                                      <p:cBhvr>
                                        <p:cTn id="39" dur="500" fill="hold"/>
                                        <p:tgtEl>
                                          <p:spTgt spid="76"/>
                                        </p:tgtEl>
                                        <p:attrNameLst>
                                          <p:attrName>ppt_x</p:attrName>
                                        </p:attrNameLst>
                                      </p:cBhvr>
                                      <p:tavLst>
                                        <p:tav tm="0">
                                          <p:val>
                                            <p:strVal val="#ppt_x"/>
                                          </p:val>
                                        </p:tav>
                                        <p:tav tm="100000">
                                          <p:val>
                                            <p:strVal val="#ppt_x"/>
                                          </p:val>
                                        </p:tav>
                                      </p:tavLst>
                                    </p:anim>
                                    <p:anim calcmode="lin" valueType="num">
                                      <p:cBhvr>
                                        <p:cTn id="40" dur="500" fill="hold"/>
                                        <p:tgtEl>
                                          <p:spTgt spid="76"/>
                                        </p:tgtEl>
                                        <p:attrNameLst>
                                          <p:attrName>ppt_y</p:attrName>
                                        </p:attrNameLst>
                                      </p:cBhvr>
                                      <p:tavLst>
                                        <p:tav tm="0">
                                          <p:val>
                                            <p:strVal val="#ppt_y+.1"/>
                                          </p:val>
                                        </p:tav>
                                        <p:tav tm="100000">
                                          <p:val>
                                            <p:strVal val="#ppt_y"/>
                                          </p:val>
                                        </p:tav>
                                      </p:tavLst>
                                    </p:anim>
                                  </p:childTnLst>
                                </p:cTn>
                              </p:par>
                            </p:childTnLst>
                          </p:cTn>
                        </p:par>
                      </p:childTnLst>
                    </p:cTn>
                  </p:par>
                  <p:par>
                    <p:cTn id="49" fill="hold">
                      <p:stCondLst>
                        <p:cond delay="indefinite"/>
                      </p:stCondLst>
                      <p:childTnLst>
                        <p:par>
                          <p:cTn id="50" fill="hold">
                            <p:stCondLst>
                              <p:cond delay="0"/>
                            </p:stCondLst>
                            <p:childTnLst>
                              <p:par>
                                <p:cTn id="48" presetID="42" presetClass="entr" presetSubtype="0" fill="hold" nodeType="clickEffect">
                                  <p:stCondLst>
                                    <p:cond delay="0"/>
                                  </p:stCondLst>
                                  <p:childTnLst>
                                    <p:set>
                                      <p:cBhvr>
                                        <p:cTn id="44" dur="1" fill="hold">
                                          <p:stCondLst>
                                            <p:cond delay="0"/>
                                          </p:stCondLst>
                                        </p:cTn>
                                        <p:tgtEl>
                                          <p:spTgt spid="77"/>
                                        </p:tgtEl>
                                        <p:attrNameLst>
                                          <p:attrName>style.visibility</p:attrName>
                                        </p:attrNameLst>
                                      </p:cBhvr>
                                      <p:to>
                                        <p:strVal val="visible"/>
                                      </p:to>
                                    </p:set>
                                    <p:animEffect transition="in" filter="fade">
                                      <p:cBhvr>
                                        <p:cTn id="45" dur="500"/>
                                        <p:tgtEl>
                                          <p:spTgt spid="77"/>
                                        </p:tgtEl>
                                      </p:cBhvr>
                                    </p:animEffect>
                                    <p:anim calcmode="lin" valueType="num">
                                      <p:cBhvr>
                                        <p:cTn id="46" dur="500" fill="hold"/>
                                        <p:tgtEl>
                                          <p:spTgt spid="77"/>
                                        </p:tgtEl>
                                        <p:attrNameLst>
                                          <p:attrName>ppt_x</p:attrName>
                                        </p:attrNameLst>
                                      </p:cBhvr>
                                      <p:tavLst>
                                        <p:tav tm="0">
                                          <p:val>
                                            <p:strVal val="#ppt_x"/>
                                          </p:val>
                                        </p:tav>
                                        <p:tav tm="100000">
                                          <p:val>
                                            <p:strVal val="#ppt_x"/>
                                          </p:val>
                                        </p:tav>
                                      </p:tavLst>
                                    </p:anim>
                                    <p:anim calcmode="lin" valueType="num">
                                      <p:cBhvr>
                                        <p:cTn id="47" dur="500" fill="hold"/>
                                        <p:tgtEl>
                                          <p:spTgt spid="77"/>
                                        </p:tgtEl>
                                        <p:attrNameLst>
                                          <p:attrName>ppt_y</p:attrName>
                                        </p:attrNameLst>
                                      </p:cBhvr>
                                      <p:tavLst>
                                        <p:tav tm="0">
                                          <p:val>
                                            <p:strVal val="#ppt_y+.1"/>
                                          </p:val>
                                        </p:tav>
                                        <p:tav tm="100000">
                                          <p:val>
                                            <p:strVal val="#ppt_y"/>
                                          </p:val>
                                        </p:tav>
                                      </p:tavLst>
                                    </p:anim>
                                  </p:childTnLst>
                                </p:cTn>
                              </p:par>
                            </p:childTnLst>
                          </p:cTn>
                        </p:par>
                      </p:childTnLst>
                    </p:cTn>
                  </p:par>
                  <p:par>
                    <p:cTn id="56" fill="hold">
                      <p:stCondLst>
                        <p:cond delay="indefinite"/>
                      </p:stCondLst>
                      <p:childTnLst>
                        <p:par>
                          <p:cTn id="57" fill="hold">
                            <p:stCondLst>
                              <p:cond delay="0"/>
                            </p:stCondLst>
                            <p:childTnLst>
                              <p:par>
                                <p:cTn id="55" presetID="42" presetClass="entr" presetSubtype="0" fill="hold" nodeType="clickEffect">
                                  <p:stCondLst>
                                    <p:cond delay="0"/>
                                  </p:stCondLst>
                                  <p:childTnLst>
                                    <p:set>
                                      <p:cBhvr>
                                        <p:cTn id="51" dur="1" fill="hold">
                                          <p:stCondLst>
                                            <p:cond delay="0"/>
                                          </p:stCondLst>
                                        </p:cTn>
                                        <p:tgtEl>
                                          <p:spTgt spid="78"/>
                                        </p:tgtEl>
                                        <p:attrNameLst>
                                          <p:attrName>style.visibility</p:attrName>
                                        </p:attrNameLst>
                                      </p:cBhvr>
                                      <p:to>
                                        <p:strVal val="visible"/>
                                      </p:to>
                                    </p:set>
                                    <p:animEffect transition="in" filter="fade">
                                      <p:cBhvr>
                                        <p:cTn id="52" dur="500"/>
                                        <p:tgtEl>
                                          <p:spTgt spid="78"/>
                                        </p:tgtEl>
                                      </p:cBhvr>
                                    </p:animEffect>
                                    <p:anim calcmode="lin" valueType="num">
                                      <p:cBhvr>
                                        <p:cTn id="53" dur="500" fill="hold"/>
                                        <p:tgtEl>
                                          <p:spTgt spid="78"/>
                                        </p:tgtEl>
                                        <p:attrNameLst>
                                          <p:attrName>ppt_x</p:attrName>
                                        </p:attrNameLst>
                                      </p:cBhvr>
                                      <p:tavLst>
                                        <p:tav tm="0">
                                          <p:val>
                                            <p:strVal val="#ppt_x"/>
                                          </p:val>
                                        </p:tav>
                                        <p:tav tm="100000">
                                          <p:val>
                                            <p:strVal val="#ppt_x"/>
                                          </p:val>
                                        </p:tav>
                                      </p:tavLst>
                                    </p:anim>
                                    <p:anim calcmode="lin" valueType="num">
                                      <p:cBhvr>
                                        <p:cTn id="54" dur="500" fill="hold"/>
                                        <p:tgtEl>
                                          <p:spTgt spid="7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3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Analyze the tables (D and E)</a:t>
            </a:r>
            <a:endParaRPr lang="en-US" sz="3450" dirty="0"/>
          </a:p>
        </p:txBody>
      </p:sp>
      <p:sp>
        <p:nvSpPr>
          <p:cNvPr id="4" name="Shape 4"/>
          <p:cNvSpPr txBox="1"/>
          <p:nvPr/>
        </p:nvSpPr>
        <p:spPr>
          <a:xfrm>
            <a:off x="685800" y="161848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a. Use the slope formula to find the coefficient of </a:t>
            </a:r>
            <a:r>
              <a:rPr lang="en-US" sz="1575" dirty="0" i="1">
                <a:solidFill>
                  <a:srgbClr val="5F6272"/>
                </a:solidFill>
                <a:latin typeface="Segoe UI"/>
                <a:cs typeface="Segoe UI"/>
              </a:rPr>
              <a:t xml:space="preserve">x</a:t>
            </a:r>
            <a:r>
              <a:rPr lang="en-US" sz="1575" dirty="0">
                <a:solidFill>
                  <a:srgbClr val="5F6272"/>
                </a:solidFill>
                <a:latin typeface="Segoe UI"/>
                <a:cs typeface="Segoe UI"/>
              </a:rPr>
              <a:t xml:space="preserve">.</a:t>
            </a:r>
            <a:endParaRPr lang="en-US" sz="1575" dirty="0"/>
          </a:p>
        </p:txBody>
      </p:sp>
      <p:sp>
        <p:nvSpPr>
          <p:cNvPr id="5" name="Shape 5"/>
          <p:cNvSpPr txBox="1"/>
          <p:nvPr/>
        </p:nvSpPr>
        <p:spPr>
          <a:xfrm>
            <a:off x="685800"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D</a:t>
            </a:r>
            <a:endParaRPr lang="en-US" sz="2100" dirty="0"/>
          </a:p>
        </p:txBody>
      </p:sp>
      <p:sp>
        <p:nvSpPr>
          <p:cNvPr id="6" name="Shape 6"/>
          <p:cNvSpPr txBox="1"/>
          <p:nvPr/>
        </p:nvSpPr>
        <p:spPr>
          <a:xfrm>
            <a:off x="685800"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9 − 15</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10 − 2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8</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3</a:t>
            </a:r>
            <a:r>
              <a:rPr lang="en-US" sz="2850" dirty="0" b="1">
                <a:solidFill>
                  <a:srgbClr val="C9561F"/>
                </a:solidFill>
                <a:latin typeface="Cambria"/>
                <a:cs typeface="Cambria"/>
              </a:rPr>
              <a:t xml:space="preserve">/</a:t>
            </a:r>
            <a:r>
              <a:rPr lang="en-US" sz="2850" dirty="0" b="1">
                <a:solidFill>
                  <a:srgbClr val="C9561F"/>
                </a:solidFill>
                <a:latin typeface="Cambria"/>
                <a:cs typeface="Cambria"/>
              </a:rPr>
              <a:t xml:space="preserve">4</a:t>
            </a:r>
            <a:endParaRPr lang="en-US" sz="2850" dirty="0"/>
          </a:p>
        </p:txBody>
      </p:sp>
      <p:sp>
        <p:nvSpPr>
          <p:cNvPr id="7" name="Shape 7"/>
          <p:cNvSpPr txBox="1"/>
          <p:nvPr/>
        </p:nvSpPr>
        <p:spPr>
          <a:xfrm>
            <a:off x="6362548" y="2084832"/>
            <a:ext cx="514334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Table E</a:t>
            </a:r>
            <a:endParaRPr lang="en-US" sz="2100" dirty="0"/>
          </a:p>
        </p:txBody>
      </p:sp>
      <p:sp>
        <p:nvSpPr>
          <p:cNvPr id="8" name="Shape 8"/>
          <p:cNvSpPr txBox="1"/>
          <p:nvPr/>
        </p:nvSpPr>
        <p:spPr>
          <a:xfrm>
            <a:off x="6362548" y="2593086"/>
            <a:ext cx="5143348" cy="923544"/>
          </a:xfrm>
          <a:prstGeom prst="rect">
            <a:avLst/>
          </a:prstGeom>
          <a:noFill/>
          <a:ln>
            <a:noFill/>
          </a:ln>
        </p:spPr>
        <p:txBody>
          <a:bodyPr wrap="square" lIns="36576" tIns="27432" rIns="36576" bIns="27432" anchor="t">
            <a:noAutofit/>
          </a:bodyPr>
          <a:lstStyle/>
          <a:p>
            <a:pPr algn="l">
              <a:lnSpc>
                <a:spcPct val="100000"/>
              </a:lnSpc>
            </a:pPr>
            <a:r>
              <a:rPr lang="en-US" sz="2850" dirty="0" b="1" i="1">
                <a:solidFill>
                  <a:srgbClr val="C9561F"/>
                </a:solidFill>
                <a:latin typeface="Cambria"/>
                <a:cs typeface="Cambria"/>
              </a:rPr>
              <a:t xml:space="preserve">m</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264 − 216</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18 − 12</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 = </a:t>
            </a:r>
            <a:r>
              <a:rPr lang="en-US" sz="2850" dirty="0">
                <a:solidFill>
                  <a:srgbClr val="16171D"/>
                </a:solidFill>
                <a:latin typeface="Cambria"/>
                <a:cs typeface="Cambria"/>
              </a:rPr>
              <a:t xml:space="preserve">48</a:t>
            </a:r>
            <a:r>
              <a:rPr lang="en-US" sz="2850" dirty="0">
                <a:solidFill>
                  <a:srgbClr val="16171D"/>
                </a:solidFill>
                <a:latin typeface="Cambria"/>
                <a:cs typeface="Cambria"/>
              </a:rPr>
              <a:t xml:space="preserve">/</a:t>
            </a:r>
            <a:r>
              <a:rPr lang="en-US" sz="2850" dirty="0">
                <a:solidFill>
                  <a:srgbClr val="16171D"/>
                </a:solidFill>
                <a:latin typeface="Cambria"/>
                <a:cs typeface="Cambria"/>
              </a:rPr>
              <a:t xml:space="preserve">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8</a:t>
            </a:r>
            <a:endParaRPr lang="en-US" sz="2850" dirty="0"/>
          </a:p>
        </p:txBody>
      </p:sp>
      <p:sp>
        <p:nvSpPr>
          <p:cNvPr id="9" name="Shape 9"/>
          <p:cNvSpPr txBox="1"/>
          <p:nvPr/>
        </p:nvSpPr>
        <p:spPr>
          <a:xfrm>
            <a:off x="685800" y="378333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 How can you find the number that is added in slope-intercept form?</a:t>
            </a:r>
            <a:endParaRPr lang="en-US" sz="1575" dirty="0"/>
          </a:p>
        </p:txBody>
      </p:sp>
      <p:sp>
        <p:nvSpPr>
          <p:cNvPr id="10" name="Shape 10"/>
          <p:cNvSpPr txBox="1"/>
          <p:nvPr/>
        </p:nvSpPr>
        <p:spPr>
          <a:xfrm>
            <a:off x="685800" y="4249674"/>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It's the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-value when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0</a:t>
            </a:r>
            <a:r>
              <a:rPr lang="en-US" sz="1950" dirty="0">
                <a:solidFill>
                  <a:srgbClr val="16171D"/>
                </a:solidFill>
                <a:latin typeface="Segoe UI"/>
                <a:cs typeface="Segoe UI"/>
              </a:rPr>
              <a:t xml:space="preserve">. If (0, </a:t>
            </a:r>
            <a:r>
              <a:rPr lang="en-US" sz="1950" dirty="0" i="1">
                <a:solidFill>
                  <a:srgbClr val="16171D"/>
                </a:solidFill>
                <a:latin typeface="Segoe UI"/>
                <a:cs typeface="Segoe UI"/>
              </a:rPr>
              <a:t xml:space="preserve">y</a:t>
            </a:r>
            <a:r>
              <a:rPr lang="en-US" sz="1950" dirty="0">
                <a:solidFill>
                  <a:srgbClr val="16171D"/>
                </a:solidFill>
                <a:latin typeface="Segoe UI"/>
                <a:cs typeface="Segoe UI"/>
              </a:rPr>
              <a:t xml:space="preserve">) isn't in the table, use the slope and a point to solve for it.</a:t>
            </a:r>
            <a:endParaRPr lang="en-US" sz="1950"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31</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6" fill="hold">
                      <p:stCondLst>
                        <p:cond delay="indefinite"/>
                      </p:stCondLst>
                      <p:childTnLst>
                        <p:par>
                          <p:cTn id="7" fill="hold">
                            <p:stCondLst>
                              <p:cond delay="0"/>
                            </p:stCondLst>
                            <p:childTnLst>
                              <p:par>
                                <p:cTn id="5" presetID="22" presetClass="entr" presetSubtype="8"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wipe(left)">
                                      <p:cBhvr>
                                        <p:cTn id="4" dur="700"/>
                                        <p:tgtEl>
                                          <p:spTgt spid="6"/>
                                        </p:tgtEl>
                                      </p:cBhvr>
                                    </p:animEffect>
                                  </p:childTnLst>
                                </p:cTn>
                              </p:par>
                            </p:childTnLst>
                          </p:cTn>
                        </p:par>
                      </p:childTnLst>
                    </p:cTn>
                  </p:par>
                  <p:par>
                    <p:cTn id="11" fill="hold">
                      <p:stCondLst>
                        <p:cond delay="indefinite"/>
                      </p:stCondLst>
                      <p:childTnLst>
                        <p:par>
                          <p:cTn id="12" fill="hold">
                            <p:stCondLst>
                              <p:cond delay="0"/>
                            </p:stCondLst>
                            <p:childTnLst>
                              <p:par>
                                <p:cTn id="10" presetID="22" presetClass="entr" presetSubtype="8" fill="hold" nodeType="clickEffect">
                                  <p:stCondLst>
                                    <p:cond delay="0"/>
                                  </p:stCondLst>
                                  <p:childTnLst>
                                    <p:set>
                                      <p:cBhvr>
                                        <p:cTn id="8" dur="1" fill="hold">
                                          <p:stCondLst>
                                            <p:cond delay="0"/>
                                          </p:stCondLst>
                                        </p:cTn>
                                        <p:tgtEl>
                                          <p:spTgt spid="8"/>
                                        </p:tgtEl>
                                        <p:attrNameLst>
                                          <p:attrName>style.visibility</p:attrName>
                                        </p:attrNameLst>
                                      </p:cBhvr>
                                      <p:to>
                                        <p:strVal val="visible"/>
                                      </p:to>
                                    </p:set>
                                    <p:animEffect transition="in" filter="wipe(left)">
                                      <p:cBhvr>
                                        <p:cTn id="9" dur="700"/>
                                        <p:tgtEl>
                                          <p:spTgt spid="8"/>
                                        </p:tgtEl>
                                      </p:cBhvr>
                                    </p:animEffect>
                                  </p:childTnLst>
                                </p:cTn>
                              </p:par>
                            </p:childTnLst>
                          </p:cTn>
                        </p:par>
                      </p:childTnLst>
                    </p:cTn>
                  </p:par>
                  <p:par>
                    <p:cTn id="18" fill="hold">
                      <p:stCondLst>
                        <p:cond delay="indefinite"/>
                      </p:stCondLst>
                      <p:childTnLst>
                        <p:par>
                          <p:cTn id="19" fill="hold">
                            <p:stCondLst>
                              <p:cond delay="0"/>
                            </p:stCondLst>
                            <p:childTnLst>
                              <p:par>
                                <p:cTn id="17" presetID="42" presetClass="entr" presetSubtype="0" fill="hold" nodeType="click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fade">
                                      <p:cBhvr>
                                        <p:cTn id="14" dur="500"/>
                                        <p:tgtEl>
                                          <p:spTgt spid="10"/>
                                        </p:tgtEl>
                                      </p:cBhvr>
                                    </p:animEffect>
                                    <p:anim calcmode="lin" valueType="num">
                                      <p:cBhvr>
                                        <p:cTn id="15" dur="500" fill="hold"/>
                                        <p:tgtEl>
                                          <p:spTgt spid="10"/>
                                        </p:tgtEl>
                                        <p:attrNameLst>
                                          <p:attrName>ppt_x</p:attrName>
                                        </p:attrNameLst>
                                      </p:cBhvr>
                                      <p:tavLst>
                                        <p:tav tm="0">
                                          <p:val>
                                            <p:strVal val="#ppt_x"/>
                                          </p:val>
                                        </p:tav>
                                        <p:tav tm="100000">
                                          <p:val>
                                            <p:strVal val="#ppt_x"/>
                                          </p:val>
                                        </p:tav>
                                      </p:tavLst>
                                    </p:anim>
                                    <p:anim calcmode="lin" valueType="num">
                                      <p:cBhvr>
                                        <p:cTn id="16"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Activity 4.3 · Question 4 · SE p. 209</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does each term mean? (B and F)</a:t>
            </a:r>
            <a:endParaRPr lang="en-US" sz="3450" dirty="0"/>
          </a:p>
        </p:txBody>
      </p:sp>
      <p:sp>
        <p:nvSpPr>
          <p:cNvPr id="9" name="Shape 9"/>
          <p:cNvSpPr txBox="1"/>
          <p:nvPr/>
        </p:nvSpPr>
        <p:spPr>
          <a:xfrm>
            <a:off x="685800"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B: reading a novel</a:t>
            </a:r>
            <a:endParaRPr lang="en-US" sz="2100" dirty="0"/>
          </a:p>
        </p:txBody>
      </p:sp>
      <p:sp>
        <p:nvSpPr>
          <p:cNvPr id="5" name="Shape 5"/>
          <p:cNvSpPr txBox="1"/>
          <p:nvPr/>
        </p:nvSpPr>
        <p:spPr>
          <a:xfrm>
            <a:off x="895350"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40</a:t>
            </a:r>
            <a:endParaRPr lang="en-US" sz="2325" dirty="0"/>
          </a:p>
        </p:txBody>
      </p:sp>
      <p:sp>
        <p:nvSpPr>
          <p:cNvPr id="6" name="Shape 6"/>
          <p:cNvSpPr txBox="1"/>
          <p:nvPr/>
        </p:nvSpPr>
        <p:spPr>
          <a:xfrm>
            <a:off x="895350" y="2821686"/>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reads one page every two minutes (½ page per minute)</a:t>
            </a:r>
            <a:endParaRPr lang="en-US" sz="1575" dirty="0"/>
          </a:p>
        </p:txBody>
      </p:sp>
      <p:sp>
        <p:nvSpPr>
          <p:cNvPr id="7" name="Shape 7"/>
          <p:cNvSpPr txBox="1"/>
          <p:nvPr/>
        </p:nvSpPr>
        <p:spPr>
          <a:xfrm>
            <a:off x="895350" y="3451860"/>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minutes (independent variable)</a:t>
            </a:r>
            <a:endParaRPr lang="en-US" sz="1575" dirty="0"/>
          </a:p>
        </p:txBody>
      </p:sp>
      <p:sp>
        <p:nvSpPr>
          <p:cNvPr id="8" name="Shape 8"/>
          <p:cNvSpPr txBox="1"/>
          <p:nvPr/>
        </p:nvSpPr>
        <p:spPr>
          <a:xfrm>
            <a:off x="895350"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40</a:t>
            </a:r>
            <a:r>
              <a:rPr lang="en-US" sz="1575" dirty="0">
                <a:solidFill>
                  <a:srgbClr val="16171D"/>
                </a:solidFill>
                <a:latin typeface="Segoe UI"/>
                <a:cs typeface="Segoe UI"/>
              </a:rPr>
              <a:t xml:space="preserve">: pages already read before falling asleep</a:t>
            </a:r>
            <a:endParaRPr lang="en-US" sz="1575" dirty="0"/>
          </a:p>
        </p:txBody>
      </p:sp>
      <p:sp>
        <p:nvSpPr>
          <p:cNvPr id="15" name="Shape 15"/>
          <p:cNvSpPr txBox="1"/>
          <p:nvPr/>
        </p:nvSpPr>
        <p:spPr>
          <a:xfrm>
            <a:off x="6267298" y="1675638"/>
            <a:ext cx="5238598" cy="2632710"/>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6476848" y="184708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Context F: ordering pizza</a:t>
            </a:r>
            <a:endParaRPr lang="en-US" sz="2100" dirty="0"/>
          </a:p>
        </p:txBody>
      </p:sp>
      <p:sp>
        <p:nvSpPr>
          <p:cNvPr id="11" name="Shape 11"/>
          <p:cNvSpPr txBox="1"/>
          <p:nvPr/>
        </p:nvSpPr>
        <p:spPr>
          <a:xfrm>
            <a:off x="6476848" y="2317242"/>
            <a:ext cx="48194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1.2</a:t>
            </a:r>
            <a:r>
              <a:rPr lang="en-US" sz="2325" dirty="0" b="1" i="1">
                <a:solidFill>
                  <a:srgbClr val="C9561F"/>
                </a:solidFill>
                <a:latin typeface="Cambria"/>
                <a:cs typeface="Cambria"/>
              </a:rPr>
              <a:t xml:space="preserve">x</a:t>
            </a:r>
            <a:r>
              <a:rPr lang="en-US" sz="2325" dirty="0">
                <a:solidFill>
                  <a:srgbClr val="16171D"/>
                </a:solidFill>
                <a:latin typeface="Cambria"/>
                <a:cs typeface="Cambria"/>
              </a:rPr>
              <a:t xml:space="preserve"> + </a:t>
            </a:r>
            <a:r>
              <a:rPr lang="en-US" sz="2325" dirty="0" b="1">
                <a:solidFill>
                  <a:srgbClr val="3050B8"/>
                </a:solidFill>
                <a:latin typeface="Cambria"/>
                <a:cs typeface="Cambria"/>
              </a:rPr>
              <a:t xml:space="preserve">9</a:t>
            </a:r>
            <a:endParaRPr lang="en-US" sz="2325" dirty="0"/>
          </a:p>
        </p:txBody>
      </p:sp>
      <p:sp>
        <p:nvSpPr>
          <p:cNvPr id="12" name="Shape 12"/>
          <p:cNvSpPr txBox="1"/>
          <p:nvPr/>
        </p:nvSpPr>
        <p:spPr>
          <a:xfrm>
            <a:off x="6476848" y="2821686"/>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C9561F"/>
                </a:solidFill>
                <a:latin typeface="Segoe UI"/>
                <a:cs typeface="Segoe UI"/>
              </a:rPr>
              <a:t xml:space="preserve">1.2</a:t>
            </a:r>
            <a:r>
              <a:rPr lang="en-US" sz="1575" dirty="0" b="1" i="1">
                <a:solidFill>
                  <a:srgbClr val="C9561F"/>
                </a:solidFill>
                <a:latin typeface="Segoe UI"/>
                <a:cs typeface="Segoe UI"/>
              </a:rPr>
              <a:t xml:space="preserve">x</a:t>
            </a:r>
            <a:r>
              <a:rPr lang="en-US" sz="1575" dirty="0">
                <a:solidFill>
                  <a:srgbClr val="16171D"/>
                </a:solidFill>
                <a:latin typeface="Segoe UI"/>
                <a:cs typeface="Segoe UI"/>
              </a:rPr>
              <a:t xml:space="preserve">: $1.20 for each additional topping</a:t>
            </a:r>
            <a:endParaRPr lang="en-US" sz="1575" dirty="0"/>
          </a:p>
        </p:txBody>
      </p:sp>
      <p:sp>
        <p:nvSpPr>
          <p:cNvPr id="13" name="Shape 13"/>
          <p:cNvSpPr txBox="1"/>
          <p:nvPr/>
        </p:nvSpPr>
        <p:spPr>
          <a:xfrm>
            <a:off x="6476848" y="3211830"/>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i="1">
                <a:solidFill>
                  <a:srgbClr val="16171D"/>
                </a:solidFill>
                <a:latin typeface="Segoe UI"/>
                <a:cs typeface="Segoe UI"/>
              </a:rPr>
              <a:t xml:space="preserve">x</a:t>
            </a:r>
            <a:r>
              <a:rPr lang="en-US" sz="1575" dirty="0">
                <a:solidFill>
                  <a:srgbClr val="16171D"/>
                </a:solidFill>
                <a:latin typeface="Segoe UI"/>
                <a:cs typeface="Segoe UI"/>
              </a:rPr>
              <a:t xml:space="preserve">: the number of additional toppings (independent variable)</a:t>
            </a:r>
            <a:endParaRPr lang="en-US" sz="1575" dirty="0"/>
          </a:p>
        </p:txBody>
      </p:sp>
      <p:sp>
        <p:nvSpPr>
          <p:cNvPr id="14" name="Shape 14"/>
          <p:cNvSpPr txBox="1"/>
          <p:nvPr/>
        </p:nvSpPr>
        <p:spPr>
          <a:xfrm>
            <a:off x="6476848" y="3842004"/>
            <a:ext cx="4819498" cy="29489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3050B8"/>
                </a:solidFill>
                <a:latin typeface="Segoe UI"/>
                <a:cs typeface="Segoe UI"/>
              </a:rPr>
              <a:t xml:space="preserve">9</a:t>
            </a:r>
            <a:r>
              <a:rPr lang="en-US" sz="1575" dirty="0">
                <a:solidFill>
                  <a:srgbClr val="16171D"/>
                </a:solidFill>
                <a:latin typeface="Segoe UI"/>
                <a:cs typeface="Segoe UI"/>
              </a:rPr>
              <a:t xml:space="preserve">: the starting cost of a large pizza</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32</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6"/>
                                        </p:tgtEl>
                                        <p:attrNameLst>
                                          <p:attrName>style.visibility</p:attrName>
                                        </p:attrNameLst>
                                      </p:cBhvr>
                                      <p:to>
                                        <p:strVal val="visible"/>
                                      </p:to>
                                    </p:set>
                                    <p:animEffect transition="in" filter="fade">
                                      <p:cBhvr>
                                        <p:cTn id="4" dur="500"/>
                                        <p:tgtEl>
                                          <p:spTgt spid="6"/>
                                        </p:tgtEl>
                                      </p:cBhvr>
                                    </p:animEffect>
                                    <p:anim calcmode="lin" valueType="num">
                                      <p:cBhvr>
                                        <p:cTn id="5" dur="500" fill="hold"/>
                                        <p:tgtEl>
                                          <p:spTgt spid="6"/>
                                        </p:tgtEl>
                                        <p:attrNameLst>
                                          <p:attrName>ppt_x</p:attrName>
                                        </p:attrNameLst>
                                      </p:cBhvr>
                                      <p:tavLst>
                                        <p:tav tm="0">
                                          <p:val>
                                            <p:strVal val="#ppt_x"/>
                                          </p:val>
                                        </p:tav>
                                        <p:tav tm="100000">
                                          <p:val>
                                            <p:strVal val="#ppt_x"/>
                                          </p:val>
                                        </p:tav>
                                      </p:tavLst>
                                    </p:anim>
                                    <p:anim calcmode="lin" valueType="num">
                                      <p:cBhvr>
                                        <p:cTn id="6"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ppt_x</p:attrName>
                                        </p:attrNameLst>
                                      </p:cBhvr>
                                      <p:tavLst>
                                        <p:tav tm="0">
                                          <p:val>
                                            <p:strVal val="#ppt_x"/>
                                          </p:val>
                                        </p:tav>
                                        <p:tav tm="100000">
                                          <p:val>
                                            <p:strVal val="#ppt_x"/>
                                          </p:val>
                                        </p:tav>
                                      </p:tavLst>
                                    </p:anim>
                                    <p:anim calcmode="lin" valueType="num">
                                      <p:cBhvr>
                                        <p:cTn id="13" dur="5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8"/>
                                        </p:tgtEl>
                                        <p:attrNameLst>
                                          <p:attrName>style.visibility</p:attrName>
                                        </p:attrNameLst>
                                      </p:cBhvr>
                                      <p:to>
                                        <p:strVal val="visible"/>
                                      </p:to>
                                    </p:set>
                                    <p:animEffect transition="in" filter="fade">
                                      <p:cBhvr>
                                        <p:cTn id="18" dur="500"/>
                                        <p:tgtEl>
                                          <p:spTgt spid="8"/>
                                        </p:tgtEl>
                                      </p:cBhvr>
                                    </p:animEffect>
                                    <p:anim calcmode="lin" valueType="num">
                                      <p:cBhvr>
                                        <p:cTn id="19" dur="500" fill="hold"/>
                                        <p:tgtEl>
                                          <p:spTgt spid="8"/>
                                        </p:tgtEl>
                                        <p:attrNameLst>
                                          <p:attrName>ppt_x</p:attrName>
                                        </p:attrNameLst>
                                      </p:cBhvr>
                                      <p:tavLst>
                                        <p:tav tm="0">
                                          <p:val>
                                            <p:strVal val="#ppt_x"/>
                                          </p:val>
                                        </p:tav>
                                        <p:tav tm="100000">
                                          <p:val>
                                            <p:strVal val="#ppt_x"/>
                                          </p:val>
                                        </p:tav>
                                      </p:tavLst>
                                    </p:anim>
                                    <p:anim calcmode="lin" valueType="num">
                                      <p:cBhvr>
                                        <p:cTn id="20"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fade">
                                      <p:cBhvr>
                                        <p:cTn id="25" dur="500"/>
                                        <p:tgtEl>
                                          <p:spTgt spid="12"/>
                                        </p:tgtEl>
                                      </p:cBhvr>
                                    </p:animEffect>
                                    <p:anim calcmode="lin" valueType="num">
                                      <p:cBhvr>
                                        <p:cTn id="26" dur="500" fill="hold"/>
                                        <p:tgtEl>
                                          <p:spTgt spid="12"/>
                                        </p:tgtEl>
                                        <p:attrNameLst>
                                          <p:attrName>ppt_x</p:attrName>
                                        </p:attrNameLst>
                                      </p:cBhvr>
                                      <p:tavLst>
                                        <p:tav tm="0">
                                          <p:val>
                                            <p:strVal val="#ppt_x"/>
                                          </p:val>
                                        </p:tav>
                                        <p:tav tm="100000">
                                          <p:val>
                                            <p:strVal val="#ppt_x"/>
                                          </p:val>
                                        </p:tav>
                                      </p:tavLst>
                                    </p:anim>
                                    <p:anim calcmode="lin" valueType="num">
                                      <p:cBhvr>
                                        <p:cTn id="27" dur="500" fill="hold"/>
                                        <p:tgtEl>
                                          <p:spTgt spid="12"/>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3"/>
                                        </p:tgtEl>
                                        <p:attrNameLst>
                                          <p:attrName>style.visibility</p:attrName>
                                        </p:attrNameLst>
                                      </p:cBhvr>
                                      <p:to>
                                        <p:strVal val="visible"/>
                                      </p:to>
                                    </p:set>
                                    <p:animEffect transition="in" filter="fade">
                                      <p:cBhvr>
                                        <p:cTn id="32" dur="500"/>
                                        <p:tgtEl>
                                          <p:spTgt spid="13"/>
                                        </p:tgtEl>
                                      </p:cBhvr>
                                    </p:animEffect>
                                    <p:anim calcmode="lin" valueType="num">
                                      <p:cBhvr>
                                        <p:cTn id="33" dur="500" fill="hold"/>
                                        <p:tgtEl>
                                          <p:spTgt spid="13"/>
                                        </p:tgtEl>
                                        <p:attrNameLst>
                                          <p:attrName>ppt_x</p:attrName>
                                        </p:attrNameLst>
                                      </p:cBhvr>
                                      <p:tavLst>
                                        <p:tav tm="0">
                                          <p:val>
                                            <p:strVal val="#ppt_x"/>
                                          </p:val>
                                        </p:tav>
                                        <p:tav tm="100000">
                                          <p:val>
                                            <p:strVal val="#ppt_x"/>
                                          </p:val>
                                        </p:tav>
                                      </p:tavLst>
                                    </p:anim>
                                    <p:anim calcmode="lin" valueType="num">
                                      <p:cBhvr>
                                        <p:cTn id="34" dur="500" fill="hold"/>
                                        <p:tgtEl>
                                          <p:spTgt spid="13"/>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anim calcmode="lin" valueType="num">
                                      <p:cBhvr>
                                        <p:cTn id="40" dur="500" fill="hold"/>
                                        <p:tgtEl>
                                          <p:spTgt spid="14"/>
                                        </p:tgtEl>
                                        <p:attrNameLst>
                                          <p:attrName>ppt_x</p:attrName>
                                        </p:attrNameLst>
                                      </p:cBhvr>
                                      <p:tavLst>
                                        <p:tav tm="0">
                                          <p:val>
                                            <p:strVal val="#ppt_x"/>
                                          </p:val>
                                        </p:tav>
                                        <p:tav tm="100000">
                                          <p:val>
                                            <p:strVal val="#ppt_x"/>
                                          </p:val>
                                        </p:tav>
                                      </p:tavLst>
                                    </p:anim>
                                    <p:anim calcmode="lin" valueType="num">
                                      <p:cBhvr>
                                        <p:cTn id="41" dur="500" fill="hold"/>
                                        <p:tgtEl>
                                          <p:spTgt spid="14"/>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Say What? · SE p. 210</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can you read from each equation?</a:t>
            </a:r>
            <a:endParaRPr lang="en-US" sz="3450" dirty="0"/>
          </a:p>
        </p:txBody>
      </p:sp>
      <p:sp>
        <p:nvSpPr>
          <p:cNvPr id="6" name="Shape 6"/>
          <p:cNvSpPr txBox="1"/>
          <p:nvPr/>
        </p:nvSpPr>
        <p:spPr>
          <a:xfrm>
            <a:off x="685800"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a.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5" name="Shape 5"/>
          <p:cNvSpPr txBox="1"/>
          <p:nvPr/>
        </p:nvSpPr>
        <p:spPr>
          <a:xfrm>
            <a:off x="895350"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3</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−4)</a:t>
            </a:r>
            <a:endParaRPr lang="en-US" sz="1575" dirty="0"/>
          </a:p>
        </p:txBody>
      </p:sp>
      <p:sp>
        <p:nvSpPr>
          <p:cNvPr id="9" name="Shape 9"/>
          <p:cNvSpPr txBox="1"/>
          <p:nvPr/>
        </p:nvSpPr>
        <p:spPr>
          <a:xfrm>
            <a:off x="4349648"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4559198"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b.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8" name="Shape 8"/>
          <p:cNvSpPr txBox="1"/>
          <p:nvPr/>
        </p:nvSpPr>
        <p:spPr>
          <a:xfrm>
            <a:off x="4559198"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(−1, 6)</a:t>
            </a:r>
            <a:endParaRPr lang="en-US" sz="1575" dirty="0"/>
          </a:p>
        </p:txBody>
      </p:sp>
      <p:sp>
        <p:nvSpPr>
          <p:cNvPr id="12" name="Shape 12"/>
          <p:cNvSpPr txBox="1"/>
          <p:nvPr/>
        </p:nvSpPr>
        <p:spPr>
          <a:xfrm>
            <a:off x="8013497" y="1618488"/>
            <a:ext cx="3492398" cy="114223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0" name="Shape 10"/>
          <p:cNvSpPr txBox="1"/>
          <p:nvPr/>
        </p:nvSpPr>
        <p:spPr>
          <a:xfrm>
            <a:off x="8223047" y="1789938"/>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c.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+ 4 =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− 0)</a:t>
            </a:r>
            <a:endParaRPr lang="en-US" sz="2325" dirty="0"/>
          </a:p>
        </p:txBody>
      </p:sp>
      <p:sp>
        <p:nvSpPr>
          <p:cNvPr id="11" name="Shape 11"/>
          <p:cNvSpPr txBox="1"/>
          <p:nvPr/>
        </p:nvSpPr>
        <p:spPr>
          <a:xfrm>
            <a:off x="8223047" y="2294382"/>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2</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(0, −4)</a:t>
            </a:r>
            <a:endParaRPr lang="en-US" sz="1575" dirty="0"/>
          </a:p>
        </p:txBody>
      </p:sp>
      <p:sp>
        <p:nvSpPr>
          <p:cNvPr id="15" name="Shape 15"/>
          <p:cNvSpPr txBox="1"/>
          <p:nvPr/>
        </p:nvSpPr>
        <p:spPr>
          <a:xfrm>
            <a:off x="685800"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3" name="Shape 13"/>
          <p:cNvSpPr txBox="1"/>
          <p:nvPr/>
        </p:nvSpPr>
        <p:spPr>
          <a:xfrm>
            <a:off x="895350"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d.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7</a:t>
            </a:r>
            <a:r>
              <a:rPr lang="en-US" sz="2325" dirty="0" i="1">
                <a:solidFill>
                  <a:srgbClr val="16171D"/>
                </a:solidFill>
                <a:latin typeface="Cambria"/>
                <a:cs typeface="Cambria"/>
              </a:rPr>
              <a:t xml:space="preserve">x</a:t>
            </a:r>
            <a:endParaRPr lang="en-US" sz="2325" dirty="0"/>
          </a:p>
        </p:txBody>
      </p:sp>
      <p:sp>
        <p:nvSpPr>
          <p:cNvPr id="14" name="Shape 14"/>
          <p:cNvSpPr txBox="1"/>
          <p:nvPr/>
        </p:nvSpPr>
        <p:spPr>
          <a:xfrm>
            <a:off x="895350"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2</a:t>
            </a:r>
            <a:r>
              <a:rPr lang="en-US" sz="1575" dirty="0" b="1">
                <a:solidFill>
                  <a:srgbClr val="C9561F"/>
                </a:solidFill>
                <a:latin typeface="Segoe UI"/>
                <a:cs typeface="Segoe UI"/>
              </a:rPr>
              <a:t xml:space="preserve">/</a:t>
            </a:r>
            <a:r>
              <a:rPr lang="en-US" sz="1575" dirty="0" b="1">
                <a:solidFill>
                  <a:srgbClr val="C9561F"/>
                </a:solidFill>
                <a:latin typeface="Segoe UI"/>
                <a:cs typeface="Segoe UI"/>
              </a:rPr>
              <a:t xml:space="preserve">7</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(0, 0)</a:t>
            </a:r>
            <a:endParaRPr lang="en-US" sz="1575" dirty="0"/>
          </a:p>
        </p:txBody>
      </p:sp>
      <p:sp>
        <p:nvSpPr>
          <p:cNvPr id="18" name="Shape 18"/>
          <p:cNvSpPr txBox="1"/>
          <p:nvPr/>
        </p:nvSpPr>
        <p:spPr>
          <a:xfrm>
            <a:off x="4349648"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6" name="Shape 16"/>
          <p:cNvSpPr txBox="1"/>
          <p:nvPr/>
        </p:nvSpPr>
        <p:spPr>
          <a:xfrm>
            <a:off x="4559198"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e.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endParaRPr lang="en-US" sz="2325" dirty="0"/>
          </a:p>
        </p:txBody>
      </p:sp>
      <p:sp>
        <p:nvSpPr>
          <p:cNvPr id="17" name="Shape 17"/>
          <p:cNvSpPr txBox="1"/>
          <p:nvPr/>
        </p:nvSpPr>
        <p:spPr>
          <a:xfrm>
            <a:off x="4559198" y="3569970"/>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−1</a:t>
            </a:r>
            <a:r>
              <a:rPr lang="en-US" sz="1575" dirty="0">
                <a:solidFill>
                  <a:srgbClr val="16171D"/>
                </a:solidFill>
                <a:latin typeface="Segoe UI"/>
                <a:cs typeface="Segoe UI"/>
              </a:rPr>
              <a:t xml:space="preserve">, point </a:t>
            </a:r>
            <a:r>
              <a:rPr lang="en-US" sz="1575" dirty="0" b="1">
                <a:solidFill>
                  <a:srgbClr val="3050B8"/>
                </a:solidFill>
                <a:latin typeface="Segoe UI"/>
                <a:cs typeface="Segoe UI"/>
              </a:rPr>
              <a:t xml:space="preserve">(4, −5)</a:t>
            </a:r>
            <a:endParaRPr lang="en-US" sz="1575" dirty="0"/>
          </a:p>
        </p:txBody>
      </p:sp>
      <p:sp>
        <p:nvSpPr>
          <p:cNvPr id="21" name="Shape 21"/>
          <p:cNvSpPr txBox="1"/>
          <p:nvPr/>
        </p:nvSpPr>
        <p:spPr>
          <a:xfrm>
            <a:off x="8013497" y="2894076"/>
            <a:ext cx="3492398" cy="138226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9" name="Shape 19"/>
          <p:cNvSpPr txBox="1"/>
          <p:nvPr/>
        </p:nvSpPr>
        <p:spPr>
          <a:xfrm>
            <a:off x="8223047" y="3065526"/>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f.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19</a:t>
            </a:r>
            <a:endParaRPr lang="en-US" sz="2325" dirty="0"/>
          </a:p>
        </p:txBody>
      </p:sp>
      <p:sp>
        <p:nvSpPr>
          <p:cNvPr id="20" name="Shape 20"/>
          <p:cNvSpPr txBox="1"/>
          <p:nvPr/>
        </p:nvSpPr>
        <p:spPr>
          <a:xfrm>
            <a:off x="8223047" y="3569970"/>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b="1">
                <a:solidFill>
                  <a:srgbClr val="C9561F"/>
                </a:solidFill>
                <a:latin typeface="Segoe UI"/>
                <a:cs typeface="Segoe UI"/>
              </a:rPr>
              <a:t xml:space="preserve">0</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a:t>
            </a:r>
            <a:r>
              <a:rPr lang="en-US" sz="1575" dirty="0" b="1">
                <a:solidFill>
                  <a:srgbClr val="3050B8"/>
                </a:solidFill>
                <a:latin typeface="Segoe UI"/>
                <a:cs typeface="Segoe UI"/>
              </a:rPr>
              <a:t xml:space="preserve">(0, 19)</a:t>
            </a:r>
            <a:r>
              <a:rPr lang="en-US" sz="1575" dirty="0">
                <a:solidFill>
                  <a:srgbClr val="16171D"/>
                </a:solidFill>
                <a:latin typeface="Segoe UI"/>
                <a:cs typeface="Segoe UI"/>
              </a:rPr>
              <a:t xml:space="preserve">: a horizontal line</a:t>
            </a:r>
            <a:endParaRPr lang="en-US" sz="1575" dirty="0"/>
          </a:p>
        </p:txBody>
      </p:sp>
      <p:sp>
        <p:nvSpPr>
          <p:cNvPr id="22" name="Shape 22"/>
          <p:cNvSpPr txBox="1"/>
          <p:nvPr/>
        </p:nvSpPr>
        <p:spPr>
          <a:xfrm>
            <a:off x="685800" y="4447794"/>
            <a:ext cx="6741574" cy="397764"/>
          </a:xfrm>
          <a:prstGeom prst="roundRect">
            <a:avLst>
              <a:gd name="adj" fmla="val 8000"/>
            </a:avLst>
          </a:prstGeom>
          <a:solidFill>
            <a:srgbClr val="FDF3E7"/>
          </a:solidFill>
          <a:ln>
            <a:noFill/>
          </a:ln>
        </p:spPr>
        <p:txBody>
          <a:bodyPr wrap="square" lIns="164592" tIns="73152" rIns="164592" bIns="73152" anchor="ctr">
            <a:noAutofit/>
          </a:bodyPr>
          <a:lstStyle/>
          <a:p>
            <a:pPr algn="l">
              <a:lnSpc>
                <a:spcPct val="100000"/>
              </a:lnSpc>
            </a:pPr>
            <a:r>
              <a:rPr lang="en-US" sz="1650" dirty="0">
                <a:solidFill>
                  <a:srgbClr val="16171D"/>
                </a:solidFill>
                <a:latin typeface="Segoe UI"/>
                <a:cs typeface="Segoe UI"/>
              </a:rPr>
              <a:t xml:space="preserve">Signs flip: </a:t>
            </a:r>
            <a:r>
              <a:rPr lang="en-US" sz="1650" dirty="0" i="1">
                <a:solidFill>
                  <a:srgbClr val="16171D"/>
                </a:solidFill>
                <a:latin typeface="Cambria"/>
                <a:cs typeface="Cambria"/>
              </a:rPr>
              <a:t xml:space="preserve">x</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x</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−1</a:t>
            </a:r>
            <a:r>
              <a:rPr lang="en-US" sz="1650" dirty="0">
                <a:solidFill>
                  <a:srgbClr val="16171D"/>
                </a:solidFill>
                <a:latin typeface="Segoe UI"/>
                <a:cs typeface="Segoe UI"/>
              </a:rPr>
              <a:t xml:space="preserve">, and </a:t>
            </a:r>
            <a:r>
              <a:rPr lang="en-US" sz="1650" dirty="0" i="1">
                <a:solidFill>
                  <a:srgbClr val="16171D"/>
                </a:solidFill>
                <a:latin typeface="Cambria"/>
                <a:cs typeface="Cambria"/>
              </a:rPr>
              <a:t xml:space="preserve">y</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 means </a:t>
            </a:r>
            <a:r>
              <a:rPr lang="en-US" sz="1650" dirty="0" i="1">
                <a:solidFill>
                  <a:srgbClr val="16171D"/>
                </a:solidFill>
                <a:latin typeface="Cambria"/>
                <a:cs typeface="Cambria"/>
              </a:rPr>
              <a:t xml:space="preserve">y</a:t>
            </a:r>
            <a:r>
              <a:rPr lang="en-US" sz="1402" dirty="0" baseline="-25000">
                <a:solidFill>
                  <a:srgbClr val="16171D"/>
                </a:solidFill>
                <a:latin typeface="Cambria"/>
                <a:cs typeface="Cambria"/>
              </a:rPr>
              <a:t xml:space="preserve">1</a:t>
            </a:r>
            <a:r>
              <a:rPr lang="en-US" sz="1650" dirty="0">
                <a:solidFill>
                  <a:srgbClr val="16171D"/>
                </a:solidFill>
                <a:latin typeface="Cambria"/>
                <a:cs typeface="Cambria"/>
              </a:rPr>
              <a:t xml:space="preserve"> = −5</a:t>
            </a:r>
            <a:r>
              <a:rPr lang="en-US" sz="1650" dirty="0">
                <a:solidFill>
                  <a:srgbClr val="16171D"/>
                </a:solidFill>
                <a:latin typeface="Segoe UI"/>
                <a:cs typeface="Segoe UI"/>
              </a:rPr>
              <a:t xml:space="preserve">.</a:t>
            </a:r>
            <a:endParaRPr lang="en-US" sz="1650" dirty="0"/>
          </a:p>
        </p:txBody>
      </p:sp>
      <p:sp>
        <p:nvSpPr>
          <p:cNvPr id="23" name="Slide Number 23"/>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33</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ppt_x</p:attrName>
                                        </p:attrNameLst>
                                      </p:cBhvr>
                                      <p:tavLst>
                                        <p:tav tm="0">
                                          <p:val>
                                            <p:strVal val="#ppt_x"/>
                                          </p:val>
                                        </p:tav>
                                        <p:tav tm="100000">
                                          <p:val>
                                            <p:strVal val="#ppt_x"/>
                                          </p:val>
                                        </p:tav>
                                      </p:tavLst>
                                    </p:anim>
                                    <p:anim calcmode="lin" valueType="num">
                                      <p:cBhvr>
                                        <p:cTn id="6"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500"/>
                                        <p:tgtEl>
                                          <p:spTgt spid="8"/>
                                        </p:tgtEl>
                                      </p:cBhvr>
                                    </p:animEffect>
                                    <p:anim calcmode="lin" valueType="num">
                                      <p:cBhvr>
                                        <p:cTn id="12" dur="500" fill="hold"/>
                                        <p:tgtEl>
                                          <p:spTgt spid="8"/>
                                        </p:tgtEl>
                                        <p:attrNameLst>
                                          <p:attrName>ppt_x</p:attrName>
                                        </p:attrNameLst>
                                      </p:cBhvr>
                                      <p:tavLst>
                                        <p:tav tm="0">
                                          <p:val>
                                            <p:strVal val="#ppt_x"/>
                                          </p:val>
                                        </p:tav>
                                        <p:tav tm="100000">
                                          <p:val>
                                            <p:strVal val="#ppt_x"/>
                                          </p:val>
                                        </p:tav>
                                      </p:tavLst>
                                    </p:anim>
                                    <p:anim calcmode="lin" valueType="num">
                                      <p:cBhvr>
                                        <p:cTn id="13"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11"/>
                                        </p:tgtEl>
                                        <p:attrNameLst>
                                          <p:attrName>style.visibility</p:attrName>
                                        </p:attrNameLst>
                                      </p:cBhvr>
                                      <p:to>
                                        <p:strVal val="visible"/>
                                      </p:to>
                                    </p:set>
                                    <p:animEffect transition="in" filter="fade">
                                      <p:cBhvr>
                                        <p:cTn id="18" dur="500"/>
                                        <p:tgtEl>
                                          <p:spTgt spid="11"/>
                                        </p:tgtEl>
                                      </p:cBhvr>
                                    </p:animEffect>
                                    <p:anim calcmode="lin" valueType="num">
                                      <p:cBhvr>
                                        <p:cTn id="19" dur="500" fill="hold"/>
                                        <p:tgtEl>
                                          <p:spTgt spid="11"/>
                                        </p:tgtEl>
                                        <p:attrNameLst>
                                          <p:attrName>ppt_x</p:attrName>
                                        </p:attrNameLst>
                                      </p:cBhvr>
                                      <p:tavLst>
                                        <p:tav tm="0">
                                          <p:val>
                                            <p:strVal val="#ppt_x"/>
                                          </p:val>
                                        </p:tav>
                                        <p:tav tm="100000">
                                          <p:val>
                                            <p:strVal val="#ppt_x"/>
                                          </p:val>
                                        </p:tav>
                                      </p:tavLst>
                                    </p:anim>
                                    <p:anim calcmode="lin" valueType="num">
                                      <p:cBhvr>
                                        <p:cTn id="20" dur="500" fill="hold"/>
                                        <p:tgtEl>
                                          <p:spTgt spid="11"/>
                                        </p:tgtEl>
                                        <p:attrNameLst>
                                          <p:attrName>ppt_y</p:attrName>
                                        </p:attrNameLst>
                                      </p:cBhvr>
                                      <p:tavLst>
                                        <p:tav tm="0">
                                          <p:val>
                                            <p:strVal val="#ppt_y+.1"/>
                                          </p:val>
                                        </p:tav>
                                        <p:tav tm="100000">
                                          <p:val>
                                            <p:strVal val="#ppt_y"/>
                                          </p:val>
                                        </p:tav>
                                      </p:tavLst>
                                    </p:anim>
                                  </p:childTnLst>
                                </p:cTn>
                              </p:par>
                            </p:childTnLst>
                          </p:cTn>
                        </p:par>
                      </p:childTnLst>
                    </p:cTn>
                  </p:par>
                  <p:par>
                    <p:cTn id="29" fill="hold">
                      <p:stCondLst>
                        <p:cond delay="indefinite"/>
                      </p:stCondLst>
                      <p:childTnLst>
                        <p:par>
                          <p:cTn id="30" fill="hold">
                            <p:stCondLst>
                              <p:cond delay="0"/>
                            </p:stCondLst>
                            <p:childTnLst>
                              <p:par>
                                <p:cTn id="28" presetID="42"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fade">
                                      <p:cBhvr>
                                        <p:cTn id="25" dur="500"/>
                                        <p:tgtEl>
                                          <p:spTgt spid="14"/>
                                        </p:tgtEl>
                                      </p:cBhvr>
                                    </p:animEffect>
                                    <p:anim calcmode="lin" valueType="num">
                                      <p:cBhvr>
                                        <p:cTn id="26" dur="500" fill="hold"/>
                                        <p:tgtEl>
                                          <p:spTgt spid="14"/>
                                        </p:tgtEl>
                                        <p:attrNameLst>
                                          <p:attrName>ppt_x</p:attrName>
                                        </p:attrNameLst>
                                      </p:cBhvr>
                                      <p:tavLst>
                                        <p:tav tm="0">
                                          <p:val>
                                            <p:strVal val="#ppt_x"/>
                                          </p:val>
                                        </p:tav>
                                        <p:tav tm="100000">
                                          <p:val>
                                            <p:strVal val="#ppt_x"/>
                                          </p:val>
                                        </p:tav>
                                      </p:tavLst>
                                    </p:anim>
                                    <p:anim calcmode="lin" valueType="num">
                                      <p:cBhvr>
                                        <p:cTn id="27" dur="500" fill="hold"/>
                                        <p:tgtEl>
                                          <p:spTgt spid="14"/>
                                        </p:tgtEl>
                                        <p:attrNameLst>
                                          <p:attrName>ppt_y</p:attrName>
                                        </p:attrNameLst>
                                      </p:cBhvr>
                                      <p:tavLst>
                                        <p:tav tm="0">
                                          <p:val>
                                            <p:strVal val="#ppt_y+.1"/>
                                          </p:val>
                                        </p:tav>
                                        <p:tav tm="100000">
                                          <p:val>
                                            <p:strVal val="#ppt_y"/>
                                          </p:val>
                                        </p:tav>
                                      </p:tavLst>
                                    </p:anim>
                                  </p:childTnLst>
                                </p:cTn>
                              </p:par>
                            </p:childTnLst>
                          </p:cTn>
                        </p:par>
                      </p:childTnLst>
                    </p:cTn>
                  </p:par>
                  <p:par>
                    <p:cTn id="36" fill="hold">
                      <p:stCondLst>
                        <p:cond delay="indefinite"/>
                      </p:stCondLst>
                      <p:childTnLst>
                        <p:par>
                          <p:cTn id="37" fill="hold">
                            <p:stCondLst>
                              <p:cond delay="0"/>
                            </p:stCondLst>
                            <p:childTnLst>
                              <p:par>
                                <p:cTn id="35" presetID="42" presetClass="entr" presetSubtype="0" fill="hold" nodeType="clickEffect">
                                  <p:stCondLst>
                                    <p:cond delay="0"/>
                                  </p:stCondLst>
                                  <p:childTnLst>
                                    <p:set>
                                      <p:cBhvr>
                                        <p:cTn id="31" dur="1" fill="hold">
                                          <p:stCondLst>
                                            <p:cond delay="0"/>
                                          </p:stCondLst>
                                        </p:cTn>
                                        <p:tgtEl>
                                          <p:spTgt spid="17"/>
                                        </p:tgtEl>
                                        <p:attrNameLst>
                                          <p:attrName>style.visibility</p:attrName>
                                        </p:attrNameLst>
                                      </p:cBhvr>
                                      <p:to>
                                        <p:strVal val="visible"/>
                                      </p:to>
                                    </p:set>
                                    <p:animEffect transition="in" filter="fade">
                                      <p:cBhvr>
                                        <p:cTn id="32" dur="500"/>
                                        <p:tgtEl>
                                          <p:spTgt spid="17"/>
                                        </p:tgtEl>
                                      </p:cBhvr>
                                    </p:animEffect>
                                    <p:anim calcmode="lin" valueType="num">
                                      <p:cBhvr>
                                        <p:cTn id="33" dur="500" fill="hold"/>
                                        <p:tgtEl>
                                          <p:spTgt spid="17"/>
                                        </p:tgtEl>
                                        <p:attrNameLst>
                                          <p:attrName>ppt_x</p:attrName>
                                        </p:attrNameLst>
                                      </p:cBhvr>
                                      <p:tavLst>
                                        <p:tav tm="0">
                                          <p:val>
                                            <p:strVal val="#ppt_x"/>
                                          </p:val>
                                        </p:tav>
                                        <p:tav tm="100000">
                                          <p:val>
                                            <p:strVal val="#ppt_x"/>
                                          </p:val>
                                        </p:tav>
                                      </p:tavLst>
                                    </p:anim>
                                    <p:anim calcmode="lin" valueType="num">
                                      <p:cBhvr>
                                        <p:cTn id="34" dur="500" fill="hold"/>
                                        <p:tgtEl>
                                          <p:spTgt spid="17"/>
                                        </p:tgtEl>
                                        <p:attrNameLst>
                                          <p:attrName>ppt_y</p:attrName>
                                        </p:attrNameLst>
                                      </p:cBhvr>
                                      <p:tavLst>
                                        <p:tav tm="0">
                                          <p:val>
                                            <p:strVal val="#ppt_y+.1"/>
                                          </p:val>
                                        </p:tav>
                                        <p:tav tm="100000">
                                          <p:val>
                                            <p:strVal val="#ppt_y"/>
                                          </p:val>
                                        </p:tav>
                                      </p:tavLst>
                                    </p:anim>
                                  </p:childTnLst>
                                </p:cTn>
                              </p:par>
                            </p:childTnLst>
                          </p:cTn>
                        </p:par>
                      </p:childTnLst>
                    </p:cTn>
                  </p:par>
                  <p:par>
                    <p:cTn id="43" fill="hold">
                      <p:stCondLst>
                        <p:cond delay="indefinite"/>
                      </p:stCondLst>
                      <p:childTnLst>
                        <p:par>
                          <p:cTn id="44" fill="hold">
                            <p:stCondLst>
                              <p:cond delay="0"/>
                            </p:stCondLst>
                            <p:childTnLst>
                              <p:par>
                                <p:cTn id="42" presetID="42" presetClass="entr" presetSubtype="0" fill="hold"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fade">
                                      <p:cBhvr>
                                        <p:cTn id="39" dur="500"/>
                                        <p:tgtEl>
                                          <p:spTgt spid="20"/>
                                        </p:tgtEl>
                                      </p:cBhvr>
                                    </p:animEffect>
                                    <p:anim calcmode="lin" valueType="num">
                                      <p:cBhvr>
                                        <p:cTn id="40" dur="500" fill="hold"/>
                                        <p:tgtEl>
                                          <p:spTgt spid="20"/>
                                        </p:tgtEl>
                                        <p:attrNameLst>
                                          <p:attrName>ppt_x</p:attrName>
                                        </p:attrNameLst>
                                      </p:cBhvr>
                                      <p:tavLst>
                                        <p:tav tm="0">
                                          <p:val>
                                            <p:strVal val="#ppt_x"/>
                                          </p:val>
                                        </p:tav>
                                        <p:tav tm="100000">
                                          <p:val>
                                            <p:strVal val="#ppt_x"/>
                                          </p:val>
                                        </p:tav>
                                      </p:tavLst>
                                    </p:anim>
                                    <p:anim calcmode="lin" valueType="num">
                                      <p:cBhvr>
                                        <p:cTn id="41" dur="500" fill="hold"/>
                                        <p:tgtEl>
                                          <p:spTgt spid="20"/>
                                        </p:tgtEl>
                                        <p:attrNameLst>
                                          <p:attrName>ppt_y</p:attrName>
                                        </p:attrNameLst>
                                      </p:cBhvr>
                                      <p:tavLst>
                                        <p:tav tm="0">
                                          <p:val>
                                            <p:strVal val="#ppt_y+.1"/>
                                          </p:val>
                                        </p:tav>
                                        <p:tav tm="100000">
                                          <p:val>
                                            <p:strVal val="#ppt_y"/>
                                          </p:val>
                                        </p:tav>
                                      </p:tavLst>
                                    </p:anim>
                                  </p:childTnLst>
                                </p:cTn>
                              </p:par>
                            </p:childTnLst>
                          </p:cTn>
                        </p:par>
                      </p:childTnLst>
                    </p:cTn>
                  </p:par>
                  <p:par>
                    <p:cTn id="50" fill="hold">
                      <p:stCondLst>
                        <p:cond delay="indefinite"/>
                      </p:stCondLst>
                      <p:childTnLst>
                        <p:par>
                          <p:cTn id="51" fill="hold">
                            <p:stCondLst>
                              <p:cond delay="0"/>
                            </p:stCondLst>
                            <p:childTnLst>
                              <p:par>
                                <p:cTn id="49" presetID="42" presetClass="entr" presetSubtype="0" fill="hold" nodeType="clickEffect">
                                  <p:stCondLst>
                                    <p:cond delay="0"/>
                                  </p:stCondLst>
                                  <p:childTnLst>
                                    <p:set>
                                      <p:cBhvr>
                                        <p:cTn id="45" dur="1" fill="hold">
                                          <p:stCondLst>
                                            <p:cond delay="0"/>
                                          </p:stCondLst>
                                        </p:cTn>
                                        <p:tgtEl>
                                          <p:spTgt spid="22"/>
                                        </p:tgtEl>
                                        <p:attrNameLst>
                                          <p:attrName>style.visibility</p:attrName>
                                        </p:attrNameLst>
                                      </p:cBhvr>
                                      <p:to>
                                        <p:strVal val="visible"/>
                                      </p:to>
                                    </p:set>
                                    <p:animEffect transition="in" filter="fade">
                                      <p:cBhvr>
                                        <p:cTn id="46" dur="500"/>
                                        <p:tgtEl>
                                          <p:spTgt spid="22"/>
                                        </p:tgtEl>
                                      </p:cBhvr>
                                    </p:animEffect>
                                    <p:anim calcmode="lin" valueType="num">
                                      <p:cBhvr>
                                        <p:cTn id="47" dur="500" fill="hold"/>
                                        <p:tgtEl>
                                          <p:spTgt spid="22"/>
                                        </p:tgtEl>
                                        <p:attrNameLst>
                                          <p:attrName>ppt_x</p:attrName>
                                        </p:attrNameLst>
                                      </p:cBhvr>
                                      <p:tavLst>
                                        <p:tav tm="0">
                                          <p:val>
                                            <p:strVal val="#ppt_x"/>
                                          </p:val>
                                        </p:tav>
                                        <p:tav tm="100000">
                                          <p:val>
                                            <p:strVal val="#ppt_x"/>
                                          </p:val>
                                        </p:tav>
                                      </p:tavLst>
                                    </p:anim>
                                    <p:anim calcmode="lin" valueType="num">
                                      <p:cBhvr>
                                        <p:cTn id="48" dur="500" fill="hold"/>
                                        <p:tgtEl>
                                          <p:spTgt spid="22"/>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Talk the Talk · Question 2 · SE p. 210</a:t>
            </a:r>
            <a:endParaRPr lang="en-US" sz="1200" dirty="0"/>
          </a:p>
        </p:txBody>
      </p:sp>
      <p:sp>
        <p:nvSpPr>
          <p:cNvPr id="3" name="Shape 3"/>
          <p:cNvSpPr txBox="1"/>
          <p:nvPr/>
        </p:nvSpPr>
        <p:spPr>
          <a:xfrm>
            <a:off x="685800" y="866394"/>
            <a:ext cx="10820095" cy="110642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Create a context through (2, 56) with a positive slope</a:t>
            </a:r>
            <a:endParaRPr lang="en-US" sz="3450" dirty="0"/>
          </a:p>
        </p:txBody>
      </p:sp>
      <p:sp>
        <p:nvSpPr>
          <p:cNvPr id="4" name="Shape 4"/>
          <p:cNvSpPr txBox="1"/>
          <p:nvPr/>
        </p:nvSpPr>
        <p:spPr>
          <a:xfrm>
            <a:off x="685800" y="2144268"/>
            <a:ext cx="10820095" cy="882396"/>
          </a:xfrm>
          <a:prstGeom prst="roundRect">
            <a:avLst>
              <a:gd name="adj" fmla="val 8000"/>
            </a:avLst>
          </a:prstGeom>
          <a:solidFill>
            <a:srgbClr val="FFFFFF"/>
          </a:solidFill>
          <a:ln w="12700">
            <a:solidFill>
              <a:srgbClr val="E3E4EC"/>
            </a:solidFill>
          </a:ln>
        </p:spPr>
        <p:txBody>
          <a:bodyPr wrap="square" lIns="201168" tIns="155448" rIns="201168" bIns="155448" anchor="t">
            <a:noAutofit/>
          </a:bodyPr>
          <a:lstStyle/>
          <a:p>
            <a:pPr algn="l">
              <a:lnSpc>
                <a:spcPct val="100000"/>
              </a:lnSpc>
            </a:pPr>
            <a:r>
              <a:rPr lang="en-US" sz="1875" dirty="0" b="1">
                <a:solidFill>
                  <a:srgbClr val="16171D"/>
                </a:solidFill>
                <a:latin typeface="Segoe UI"/>
                <a:cs typeface="Segoe UI"/>
              </a:rPr>
              <a:t xml:space="preserve">Sample:</a:t>
            </a:r>
            <a:r>
              <a:rPr lang="en-US" sz="1875" dirty="0">
                <a:solidFill>
                  <a:srgbClr val="16171D"/>
                </a:solidFill>
                <a:latin typeface="Segoe UI"/>
                <a:cs typeface="Segoe UI"/>
              </a:rPr>
              <a:t xml:space="preserve"> Omar earns 4 credits for each game he plays. After playing 2 games today, he has 56 credits.</a:t>
            </a:r>
            <a:endParaRPr lang="en-US" sz="1875" dirty="0"/>
          </a:p>
        </p:txBody>
      </p:sp>
      <p:sp>
        <p:nvSpPr>
          <p:cNvPr id="5" name="Shape 5"/>
          <p:cNvSpPr txBox="1"/>
          <p:nvPr/>
        </p:nvSpPr>
        <p:spPr>
          <a:xfrm>
            <a:off x="685800" y="319811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C9561F"/>
                </a:solidFill>
                <a:latin typeface="Segoe UI"/>
                <a:cs typeface="Segoe UI"/>
              </a:rPr>
              <a:t xml:space="preserve">4 credits per game → slope 4</a:t>
            </a:r>
            <a:r>
              <a:rPr lang="en-US" sz="1950" dirty="0">
                <a:solidFill>
                  <a:srgbClr val="16171D"/>
                </a:solidFill>
                <a:latin typeface="Segoe UI"/>
                <a:cs typeface="Segoe UI"/>
              </a:rPr>
              <a:t xml:space="preserve">. </a:t>
            </a:r>
            <a:r>
              <a:rPr lang="en-US" sz="1950" dirty="0" b="1">
                <a:solidFill>
                  <a:srgbClr val="3050B8"/>
                </a:solidFill>
                <a:latin typeface="Segoe UI"/>
                <a:cs typeface="Segoe UI"/>
              </a:rPr>
              <a:t xml:space="preserve">2 games, 56 credits → point (2, 56)</a:t>
            </a:r>
            <a:endParaRPr lang="en-US" sz="1950" dirty="0"/>
          </a:p>
        </p:txBody>
      </p:sp>
      <p:sp>
        <p:nvSpPr>
          <p:cNvPr id="6" name="Shape 6"/>
          <p:cNvSpPr txBox="1"/>
          <p:nvPr/>
        </p:nvSpPr>
        <p:spPr>
          <a:xfrm>
            <a:off x="685800" y="3721608"/>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Point-slope form:</a:t>
            </a:r>
            <a:endParaRPr lang="en-US" sz="1575" dirty="0"/>
          </a:p>
        </p:txBody>
      </p:sp>
      <p:sp>
        <p:nvSpPr>
          <p:cNvPr id="7" name="Shape 7"/>
          <p:cNvSpPr txBox="1"/>
          <p:nvPr/>
        </p:nvSpPr>
        <p:spPr>
          <a:xfrm>
            <a:off x="685800" y="4187952"/>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56</a:t>
            </a:r>
            <a:r>
              <a:rPr lang="en-US" sz="2850" dirty="0">
                <a:solidFill>
                  <a:srgbClr val="16171D"/>
                </a:solidFill>
                <a:latin typeface="Cambria"/>
                <a:cs typeface="Cambria"/>
              </a:rPr>
              <a:t xml:space="preserve"> = </a:t>
            </a:r>
            <a:r>
              <a:rPr lang="en-US" sz="2850" dirty="0" b="1">
                <a:solidFill>
                  <a:srgbClr val="C9561F"/>
                </a:solidFill>
                <a:latin typeface="Cambria"/>
                <a:cs typeface="Cambria"/>
              </a:rPr>
              <a:t xml:space="preserve">4</a:t>
            </a:r>
            <a:r>
              <a:rPr lang="en-US" sz="2850" dirty="0">
                <a:solidFill>
                  <a:srgbClr val="16171D"/>
                </a:solidFill>
                <a:latin typeface="Cambria"/>
                <a:cs typeface="Cambria"/>
              </a:rPr>
              <a:t xml:space="preserve">(</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a:t>
            </a:r>
            <a:r>
              <a:rPr lang="en-US" sz="2850" dirty="0" b="1">
                <a:solidFill>
                  <a:srgbClr val="3050B8"/>
                </a:solidFill>
                <a:latin typeface="Cambria"/>
                <a:cs typeface="Cambria"/>
              </a:rPr>
              <a:t xml:space="preserve">2</a:t>
            </a:r>
            <a:r>
              <a:rPr lang="en-US" sz="2850" dirty="0">
                <a:solidFill>
                  <a:srgbClr val="16171D"/>
                </a:solidFill>
                <a:latin typeface="Cambria"/>
                <a:cs typeface="Cambria"/>
              </a:rPr>
              <a:t xml:space="preserve">)</a:t>
            </a:r>
            <a:endParaRPr lang="en-US" sz="2850" dirty="0"/>
          </a:p>
        </p:txBody>
      </p:sp>
      <p:sp>
        <p:nvSpPr>
          <p:cNvPr id="8" name="Shape 8"/>
          <p:cNvSpPr txBox="1"/>
          <p:nvPr/>
        </p:nvSpPr>
        <p:spPr>
          <a:xfrm>
            <a:off x="685800" y="484860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Slope-intercept form:</a:t>
            </a:r>
            <a:endParaRPr lang="en-US" sz="1575" dirty="0"/>
          </a:p>
        </p:txBody>
      </p:sp>
      <p:sp>
        <p:nvSpPr>
          <p:cNvPr id="9" name="Shape 9"/>
          <p:cNvSpPr txBox="1"/>
          <p:nvPr/>
        </p:nvSpPr>
        <p:spPr>
          <a:xfrm>
            <a:off x="685800" y="5314950"/>
            <a:ext cx="10820095" cy="489204"/>
          </a:xfrm>
          <a:prstGeom prst="rect">
            <a:avLst/>
          </a:prstGeom>
          <a:noFill/>
          <a:ln>
            <a:noFill/>
          </a:ln>
        </p:spPr>
        <p:txBody>
          <a:bodyPr wrap="square" lIns="36576" tIns="27432" rIns="36576" bIns="27432" anchor="t">
            <a:noAutofit/>
          </a:bodyPr>
          <a:lstStyle/>
          <a:p>
            <a:pPr algn="l">
              <a:lnSpc>
                <a:spcPct val="100000"/>
              </a:lnSpc>
            </a:pP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− 56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− 8 → </a:t>
            </a:r>
            <a:r>
              <a:rPr lang="en-US" sz="2850" dirty="0" i="1">
                <a:solidFill>
                  <a:srgbClr val="16171D"/>
                </a:solidFill>
                <a:latin typeface="Cambria"/>
                <a:cs typeface="Cambria"/>
              </a:rPr>
              <a:t xml:space="preserve">y</a:t>
            </a:r>
            <a:r>
              <a:rPr lang="en-US" sz="2850" dirty="0">
                <a:solidFill>
                  <a:srgbClr val="16171D"/>
                </a:solidFill>
                <a:latin typeface="Cambria"/>
                <a:cs typeface="Cambria"/>
              </a:rPr>
              <a:t xml:space="preserve"> = 4</a:t>
            </a:r>
            <a:r>
              <a:rPr lang="en-US" sz="2850" dirty="0" i="1">
                <a:solidFill>
                  <a:srgbClr val="16171D"/>
                </a:solidFill>
                <a:latin typeface="Cambria"/>
                <a:cs typeface="Cambria"/>
              </a:rPr>
              <a:t xml:space="preserve">x</a:t>
            </a:r>
            <a:r>
              <a:rPr lang="en-US" sz="2850" dirty="0">
                <a:solidFill>
                  <a:srgbClr val="16171D"/>
                </a:solidFill>
                <a:latin typeface="Cambria"/>
                <a:cs typeface="Cambria"/>
              </a:rPr>
              <a:t xml:space="preserve"> + 48</a:t>
            </a:r>
            <a:endParaRPr lang="en-US" sz="2850" dirty="0"/>
          </a:p>
        </p:txBody>
      </p:sp>
      <p:sp>
        <p:nvSpPr>
          <p:cNvPr id="10" name="Shape 10"/>
          <p:cNvSpPr txBox="1"/>
          <p:nvPr/>
        </p:nvSpPr>
        <p:spPr>
          <a:xfrm>
            <a:off x="685800" y="5975604"/>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Make up your own! Any situation with a positive rate that passes through (2, 56) works.</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34</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4" presetID="42" presetClass="entr" presetSubtype="0"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fade">
                                      <p:cBhvr>
                                        <p:cTn id="11" dur="500"/>
                                        <p:tgtEl>
                                          <p:spTgt spid="5"/>
                                        </p:tgtEl>
                                      </p:cBhvr>
                                    </p:animEffect>
                                    <p:anim calcmode="lin" valueType="num">
                                      <p:cBhvr>
                                        <p:cTn id="12" dur="500" fill="hold"/>
                                        <p:tgtEl>
                                          <p:spTgt spid="5"/>
                                        </p:tgtEl>
                                        <p:attrNameLst>
                                          <p:attrName>ppt_x</p:attrName>
                                        </p:attrNameLst>
                                      </p:cBhvr>
                                      <p:tavLst>
                                        <p:tav tm="0">
                                          <p:val>
                                            <p:strVal val="#ppt_x"/>
                                          </p:val>
                                        </p:tav>
                                        <p:tav tm="100000">
                                          <p:val>
                                            <p:strVal val="#ppt_x"/>
                                          </p:val>
                                        </p:tav>
                                      </p:tavLst>
                                    </p:anim>
                                    <p:anim calcmode="lin" valueType="num">
                                      <p:cBhvr>
                                        <p:cTn id="13" dur="500" fill="hold"/>
                                        <p:tgtEl>
                                          <p:spTgt spid="5"/>
                                        </p:tgtEl>
                                        <p:attrNameLst>
                                          <p:attrName>ppt_y</p:attrName>
                                        </p:attrNameLst>
                                      </p:cBhvr>
                                      <p:tavLst>
                                        <p:tav tm="0">
                                          <p:val>
                                            <p:strVal val="#ppt_y+.1"/>
                                          </p:val>
                                        </p:tav>
                                        <p:tav tm="100000">
                                          <p:val>
                                            <p:strVal val="#ppt_y"/>
                                          </p:val>
                                        </p:tav>
                                      </p:tavLst>
                                    </p:anim>
                                  </p:childTnLst>
                                </p:cTn>
                              </p:par>
                            </p:childTnLst>
                          </p:cTn>
                        </p:par>
                      </p:childTnLst>
                    </p:cTn>
                  </p:par>
                  <p:par>
                    <p:cTn id="22" fill="hold">
                      <p:stCondLst>
                        <p:cond delay="indefinite"/>
                      </p:stCondLst>
                      <p:childTnLst>
                        <p:par>
                          <p:cTn id="23" fill="hold">
                            <p:stCondLst>
                              <p:cond delay="0"/>
                            </p:stCondLst>
                            <p:childTnLst>
                              <p:par>
                                <p:cTn id="21" presetID="42" presetClass="entr" presetSubtype="0" fill="hold" nodeType="click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anim calcmode="lin" valueType="num">
                                      <p:cBhvr>
                                        <p:cTn id="19" dur="500" fill="hold"/>
                                        <p:tgtEl>
                                          <p:spTgt spid="6"/>
                                        </p:tgtEl>
                                        <p:attrNameLst>
                                          <p:attrName>ppt_x</p:attrName>
                                        </p:attrNameLst>
                                      </p:cBhvr>
                                      <p:tavLst>
                                        <p:tav tm="0">
                                          <p:val>
                                            <p:strVal val="#ppt_x"/>
                                          </p:val>
                                        </p:tav>
                                        <p:tav tm="100000">
                                          <p:val>
                                            <p:strVal val="#ppt_x"/>
                                          </p:val>
                                        </p:tav>
                                      </p:tavLst>
                                    </p:anim>
                                    <p:anim calcmode="lin" valueType="num">
                                      <p:cBhvr>
                                        <p:cTn id="20"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22" presetClass="entr" presetSubtype="8"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left)">
                                      <p:cBhvr>
                                        <p:cTn id="25" dur="700"/>
                                        <p:tgtEl>
                                          <p:spTgt spid="7"/>
                                        </p:tgtEl>
                                      </p:cBhvr>
                                    </p:animEffect>
                                  </p:childTnLst>
                                </p:cTn>
                              </p:par>
                            </p:childTnLst>
                          </p:cTn>
                        </p:par>
                      </p:childTnLst>
                    </p:cTn>
                  </p:par>
                  <p:par>
                    <p:cTn id="34" fill="hold">
                      <p:stCondLst>
                        <p:cond delay="indefinite"/>
                      </p:stCondLst>
                      <p:childTnLst>
                        <p:par>
                          <p:cTn id="35" fill="hold">
                            <p:stCondLst>
                              <p:cond delay="0"/>
                            </p:stCondLst>
                            <p:childTnLst>
                              <p:par>
                                <p:cTn id="33" presetID="42" presetClass="entr" presetSubtype="0" fill="hold" nodeType="clickEffect">
                                  <p:stCondLst>
                                    <p:cond delay="0"/>
                                  </p:stCondLst>
                                  <p:childTnLst>
                                    <p:set>
                                      <p:cBhvr>
                                        <p:cTn id="29" dur="1" fill="hold">
                                          <p:stCondLst>
                                            <p:cond delay="0"/>
                                          </p:stCondLst>
                                        </p:cTn>
                                        <p:tgtEl>
                                          <p:spTgt spid="8"/>
                                        </p:tgtEl>
                                        <p:attrNameLst>
                                          <p:attrName>style.visibility</p:attrName>
                                        </p:attrNameLst>
                                      </p:cBhvr>
                                      <p:to>
                                        <p:strVal val="visible"/>
                                      </p:to>
                                    </p:set>
                                    <p:animEffect transition="in" filter="fade">
                                      <p:cBhvr>
                                        <p:cTn id="30" dur="500"/>
                                        <p:tgtEl>
                                          <p:spTgt spid="8"/>
                                        </p:tgtEl>
                                      </p:cBhvr>
                                    </p:animEffect>
                                    <p:anim calcmode="lin" valueType="num">
                                      <p:cBhvr>
                                        <p:cTn id="31" dur="500" fill="hold"/>
                                        <p:tgtEl>
                                          <p:spTgt spid="8"/>
                                        </p:tgtEl>
                                        <p:attrNameLst>
                                          <p:attrName>ppt_x</p:attrName>
                                        </p:attrNameLst>
                                      </p:cBhvr>
                                      <p:tavLst>
                                        <p:tav tm="0">
                                          <p:val>
                                            <p:strVal val="#ppt_x"/>
                                          </p:val>
                                        </p:tav>
                                        <p:tav tm="100000">
                                          <p:val>
                                            <p:strVal val="#ppt_x"/>
                                          </p:val>
                                        </p:tav>
                                      </p:tavLst>
                                    </p:anim>
                                    <p:anim calcmode="lin" valueType="num">
                                      <p:cBhvr>
                                        <p:cTn id="32" dur="500" fill="hold"/>
                                        <p:tgtEl>
                                          <p:spTgt spid="8"/>
                                        </p:tgtEl>
                                        <p:attrNameLst>
                                          <p:attrName>ppt_y</p:attrName>
                                        </p:attrNameLst>
                                      </p:cBhvr>
                                      <p:tavLst>
                                        <p:tav tm="0">
                                          <p:val>
                                            <p:strVal val="#ppt_y+.1"/>
                                          </p:val>
                                        </p:tav>
                                        <p:tav tm="100000">
                                          <p:val>
                                            <p:strVal val="#ppt_y"/>
                                          </p:val>
                                        </p:tav>
                                      </p:tavLst>
                                    </p:anim>
                                  </p:childTnLst>
                                </p:cTn>
                              </p:par>
                            </p:childTnLst>
                          </p:cTn>
                        </p:par>
                      </p:childTnLst>
                    </p:cTn>
                  </p:par>
                  <p:par>
                    <p:cTn id="39" fill="hold">
                      <p:stCondLst>
                        <p:cond delay="indefinite"/>
                      </p:stCondLst>
                      <p:childTnLst>
                        <p:par>
                          <p:cTn id="40" fill="hold">
                            <p:stCondLst>
                              <p:cond delay="0"/>
                            </p:stCondLst>
                            <p:childTnLst>
                              <p:par>
                                <p:cTn id="38" presetID="22" presetClass="entr" presetSubtype="8" fill="hold" nodeType="clickEffect">
                                  <p:stCondLst>
                                    <p:cond delay="0"/>
                                  </p:stCondLst>
                                  <p:childTnLst>
                                    <p:set>
                                      <p:cBhvr>
                                        <p:cTn id="36" dur="1" fill="hold">
                                          <p:stCondLst>
                                            <p:cond delay="0"/>
                                          </p:stCondLst>
                                        </p:cTn>
                                        <p:tgtEl>
                                          <p:spTgt spid="9"/>
                                        </p:tgtEl>
                                        <p:attrNameLst>
                                          <p:attrName>style.visibility</p:attrName>
                                        </p:attrNameLst>
                                      </p:cBhvr>
                                      <p:to>
                                        <p:strVal val="visible"/>
                                      </p:to>
                                    </p:set>
                                    <p:animEffect transition="in" filter="wipe(left)">
                                      <p:cBhvr>
                                        <p:cTn id="37" dur="700"/>
                                        <p:tgtEl>
                                          <p:spTgt spid="9"/>
                                        </p:tgtEl>
                                      </p:cBhvr>
                                    </p:animEffect>
                                  </p:childTnLst>
                                </p:cTn>
                              </p:par>
                            </p:childTnLst>
                          </p:cTn>
                        </p:par>
                      </p:childTnLst>
                    </p:cTn>
                  </p:par>
                  <p:par>
                    <p:cTn id="46" fill="hold">
                      <p:stCondLst>
                        <p:cond delay="indefinite"/>
                      </p:stCondLst>
                      <p:childTnLst>
                        <p:par>
                          <p:cTn id="47" fill="hold">
                            <p:stCondLst>
                              <p:cond delay="0"/>
                            </p:stCondLst>
                            <p:childTnLst>
                              <p:par>
                                <p:cTn id="45" presetID="42" presetClass="entr" presetSubtype="0" fill="hold" nodeType="clickEffect">
                                  <p:stCondLst>
                                    <p:cond delay="0"/>
                                  </p:stCondLst>
                                  <p:childTnLst>
                                    <p:set>
                                      <p:cBhvr>
                                        <p:cTn id="41" dur="1" fill="hold">
                                          <p:stCondLst>
                                            <p:cond delay="0"/>
                                          </p:stCondLst>
                                        </p:cTn>
                                        <p:tgtEl>
                                          <p:spTgt spid="10"/>
                                        </p:tgtEl>
                                        <p:attrNameLst>
                                          <p:attrName>style.visibility</p:attrName>
                                        </p:attrNameLst>
                                      </p:cBhvr>
                                      <p:to>
                                        <p:strVal val="visible"/>
                                      </p:to>
                                    </p:set>
                                    <p:animEffect transition="in" filter="fade">
                                      <p:cBhvr>
                                        <p:cTn id="42" dur="500"/>
                                        <p:tgtEl>
                                          <p:spTgt spid="10"/>
                                        </p:tgtEl>
                                      </p:cBhvr>
                                    </p:animEffect>
                                    <p:anim calcmode="lin" valueType="num">
                                      <p:cBhvr>
                                        <p:cTn id="43" dur="500" fill="hold"/>
                                        <p:tgtEl>
                                          <p:spTgt spid="10"/>
                                        </p:tgtEl>
                                        <p:attrNameLst>
                                          <p:attrName>ppt_x</p:attrName>
                                        </p:attrNameLst>
                                      </p:cBhvr>
                                      <p:tavLst>
                                        <p:tav tm="0">
                                          <p:val>
                                            <p:strVal val="#ppt_x"/>
                                          </p:val>
                                        </p:tav>
                                        <p:tav tm="100000">
                                          <p:val>
                                            <p:strVal val="#ppt_x"/>
                                          </p:val>
                                        </p:tav>
                                      </p:tavLst>
                                    </p:anim>
                                    <p:anim calcmode="lin" valueType="num">
                                      <p:cBhvr>
                                        <p:cTn id="44" dur="500" fill="hold"/>
                                        <p:tgtEl>
                                          <p:spTgt spid="10"/>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Day 2 · Notes to Keep</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Notes to keep: Day 2</a:t>
            </a:r>
            <a:endParaRPr lang="en-US" sz="3450" dirty="0"/>
          </a:p>
        </p:txBody>
      </p:sp>
      <p:sp>
        <p:nvSpPr>
          <p:cNvPr id="7" name="Shape 7"/>
          <p:cNvSpPr txBox="1"/>
          <p:nvPr/>
        </p:nvSpPr>
        <p:spPr>
          <a:xfrm>
            <a:off x="685800"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789938"/>
            <a:ext cx="3073298" cy="69494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slope-intercept form</a:t>
            </a:r>
            <a:endParaRPr lang="en-US" sz="2100" dirty="0"/>
          </a:p>
        </p:txBody>
      </p:sp>
      <p:sp>
        <p:nvSpPr>
          <p:cNvPr id="5" name="Shape 5"/>
          <p:cNvSpPr txBox="1"/>
          <p:nvPr/>
        </p:nvSpPr>
        <p:spPr>
          <a:xfrm>
            <a:off x="895350" y="258013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b="1">
                <a:solidFill>
                  <a:srgbClr val="C9561F"/>
                </a:solidFill>
                <a:latin typeface="Cambria"/>
                <a:cs typeface="Cambria"/>
              </a:rPr>
              <a:t xml:space="preserve">3</a:t>
            </a:r>
            <a:r>
              <a:rPr lang="en-US" sz="2325" dirty="0" b="1">
                <a:solidFill>
                  <a:srgbClr val="C9561F"/>
                </a:solidFill>
                <a:latin typeface="Cambria"/>
                <a:cs typeface="Cambria"/>
              </a:rPr>
              <a:t xml:space="preserve">/</a:t>
            </a:r>
            <a:r>
              <a:rPr lang="en-US" sz="2325" dirty="0" b="1">
                <a:solidFill>
                  <a:srgbClr val="C9561F"/>
                </a:solidFill>
                <a:latin typeface="Cambria"/>
                <a:cs typeface="Cambria"/>
              </a:rPr>
              <a:t xml:space="preserve">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a:t>
            </a:r>
            <a:r>
              <a:rPr lang="en-US" sz="2325" dirty="0" b="1">
                <a:solidFill>
                  <a:srgbClr val="3050B8"/>
                </a:solidFill>
                <a:latin typeface="Cambria"/>
                <a:cs typeface="Cambria"/>
              </a:rPr>
              <a:t xml:space="preserve">− 4</a:t>
            </a:r>
            <a:endParaRPr lang="en-US" sz="2325" dirty="0"/>
          </a:p>
        </p:txBody>
      </p:sp>
      <p:sp>
        <p:nvSpPr>
          <p:cNvPr id="6" name="Shape 6"/>
          <p:cNvSpPr txBox="1"/>
          <p:nvPr/>
        </p:nvSpPr>
        <p:spPr>
          <a:xfrm>
            <a:off x="895350" y="3084576"/>
            <a:ext cx="3073298"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a:t>
            </a:r>
            <a:r>
              <a:rPr lang="en-US" sz="1575" dirty="0">
                <a:solidFill>
                  <a:srgbClr val="16171D"/>
                </a:solidFill>
                <a:latin typeface="Segoe UI"/>
                <a:cs typeface="Segoe UI"/>
              </a:rPr>
              <a:t xml:space="preserve">3</a:t>
            </a:r>
            <a:r>
              <a:rPr lang="en-US" sz="1575" dirty="0">
                <a:solidFill>
                  <a:srgbClr val="16171D"/>
                </a:solidFill>
                <a:latin typeface="Segoe UI"/>
                <a:cs typeface="Segoe UI"/>
              </a:rPr>
              <a:t xml:space="preserve">/</a:t>
            </a:r>
            <a:r>
              <a:rPr lang="en-US" sz="1575" dirty="0">
                <a:solidFill>
                  <a:srgbClr val="16171D"/>
                </a:solidFill>
                <a:latin typeface="Segoe UI"/>
                <a:cs typeface="Segoe UI"/>
              </a:rPr>
              <a:t xml:space="preserve">5</a:t>
            </a:r>
            <a:r>
              <a:rPr lang="en-US" sz="1575" dirty="0">
                <a:solidFill>
                  <a:srgbClr val="16171D"/>
                </a:solidFill>
                <a:latin typeface="Segoe UI"/>
                <a:cs typeface="Segoe UI"/>
              </a:rPr>
              <a:t xml:space="preserve">, </a:t>
            </a:r>
            <a:r>
              <a:rPr lang="en-US" sz="1575" dirty="0" i="1">
                <a:solidFill>
                  <a:srgbClr val="16171D"/>
                </a:solidFill>
                <a:latin typeface="Segoe UI"/>
                <a:cs typeface="Segoe UI"/>
              </a:rPr>
              <a:t xml:space="preserve">y</a:t>
            </a:r>
            <a:r>
              <a:rPr lang="en-US" sz="1575" dirty="0">
                <a:solidFill>
                  <a:srgbClr val="16171D"/>
                </a:solidFill>
                <a:latin typeface="Segoe UI"/>
                <a:cs typeface="Segoe UI"/>
              </a:rPr>
              <a:t xml:space="preserve">-intercept (0, −4)</a:t>
            </a:r>
            <a:endParaRPr lang="en-US" sz="1575" dirty="0"/>
          </a:p>
        </p:txBody>
      </p:sp>
      <p:sp>
        <p:nvSpPr>
          <p:cNvPr id="11" name="Shape 11"/>
          <p:cNvSpPr txBox="1"/>
          <p:nvPr/>
        </p:nvSpPr>
        <p:spPr>
          <a:xfrm>
            <a:off x="4349648"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8" name="Shape 8"/>
          <p:cNvSpPr txBox="1"/>
          <p:nvPr/>
        </p:nvSpPr>
        <p:spPr>
          <a:xfrm>
            <a:off x="4559198"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Read point-slope form</a:t>
            </a:r>
            <a:endParaRPr lang="en-US" sz="2100" dirty="0"/>
          </a:p>
        </p:txBody>
      </p:sp>
      <p:sp>
        <p:nvSpPr>
          <p:cNvPr id="9" name="Shape 9"/>
          <p:cNvSpPr txBox="1"/>
          <p:nvPr/>
        </p:nvSpPr>
        <p:spPr>
          <a:xfrm>
            <a:off x="4559198" y="2260092"/>
            <a:ext cx="3073298" cy="409194"/>
          </a:xfrm>
          <a:prstGeom prst="rect">
            <a:avLst/>
          </a:prstGeom>
          <a:noFill/>
          <a:ln>
            <a:noFill/>
          </a:ln>
        </p:spPr>
        <p:txBody>
          <a:bodyPr wrap="square" lIns="36576" tIns="27432" rIns="36576" bIns="27432" anchor="t">
            <a:noAutofit/>
          </a:bodyPr>
          <a:lstStyle/>
          <a:p>
            <a:pPr algn="l">
              <a:lnSpc>
                <a:spcPct val="100000"/>
              </a:lnSpc>
            </a:pP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 = </a:t>
            </a:r>
            <a:r>
              <a:rPr lang="en-US" sz="2325" dirty="0" b="1">
                <a:solidFill>
                  <a:srgbClr val="C9561F"/>
                </a:solidFill>
                <a:latin typeface="Cambria"/>
                <a:cs typeface="Cambria"/>
              </a:rPr>
              <a:t xml:space="preserve">2</a:t>
            </a:r>
            <a:r>
              <a:rPr lang="en-US" sz="2325" dirty="0">
                <a:solidFill>
                  <a:srgbClr val="16171D"/>
                </a:solidFill>
                <a:latin typeface="Cambria"/>
                <a:cs typeface="Cambria"/>
              </a:rPr>
              <a:t xml:space="preserve">(</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a:t>
            </a:r>
            <a:endParaRPr lang="en-US" sz="2325" dirty="0"/>
          </a:p>
        </p:txBody>
      </p:sp>
      <p:sp>
        <p:nvSpPr>
          <p:cNvPr id="10" name="Shape 10"/>
          <p:cNvSpPr txBox="1"/>
          <p:nvPr/>
        </p:nvSpPr>
        <p:spPr>
          <a:xfrm>
            <a:off x="4559198" y="2764536"/>
            <a:ext cx="30732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slope 2, point (−1, 6). The signs </a:t>
            </a:r>
            <a:r>
              <a:rPr lang="en-US" sz="1575" dirty="0" b="1">
                <a:solidFill>
                  <a:srgbClr val="16171D"/>
                </a:solidFill>
                <a:latin typeface="Segoe UI"/>
                <a:cs typeface="Segoe UI"/>
              </a:rPr>
              <a:t xml:space="preserve">flip</a:t>
            </a:r>
            <a:r>
              <a:rPr lang="en-US" sz="1575" dirty="0">
                <a:solidFill>
                  <a:srgbClr val="16171D"/>
                </a:solidFill>
                <a:latin typeface="Segoe UI"/>
                <a:cs typeface="Segoe UI"/>
              </a:rPr>
              <a:t xml:space="preserve">.</a:t>
            </a:r>
            <a:endParaRPr lang="en-US" sz="1575" dirty="0"/>
          </a:p>
        </p:txBody>
      </p:sp>
      <p:sp>
        <p:nvSpPr>
          <p:cNvPr id="14" name="Shape 14"/>
          <p:cNvSpPr txBox="1"/>
          <p:nvPr/>
        </p:nvSpPr>
        <p:spPr>
          <a:xfrm>
            <a:off x="8013497" y="1618488"/>
            <a:ext cx="3492398" cy="1932432"/>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12" name="Shape 12"/>
          <p:cNvSpPr txBox="1"/>
          <p:nvPr/>
        </p:nvSpPr>
        <p:spPr>
          <a:xfrm>
            <a:off x="8223047" y="1789938"/>
            <a:ext cx="30732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16171D"/>
                </a:solidFill>
                <a:latin typeface="Segoe UI"/>
                <a:cs typeface="Segoe UI"/>
              </a:rPr>
              <a:t xml:space="preserve">In a story</a:t>
            </a:r>
            <a:endParaRPr lang="en-US" sz="2100" dirty="0"/>
          </a:p>
        </p:txBody>
      </p:sp>
      <p:sp>
        <p:nvSpPr>
          <p:cNvPr id="13" name="Shape 13"/>
          <p:cNvSpPr txBox="1"/>
          <p:nvPr/>
        </p:nvSpPr>
        <p:spPr>
          <a:xfrm>
            <a:off x="8223047" y="2260092"/>
            <a:ext cx="3073298" cy="1014984"/>
          </a:xfrm>
          <a:prstGeom prst="rect">
            <a:avLst/>
          </a:prstGeom>
          <a:noFill/>
          <a:ln>
            <a:noFill/>
          </a:ln>
        </p:spPr>
        <p:txBody>
          <a:bodyPr wrap="square" lIns="36576" tIns="27432" rIns="36576" bIns="27432" anchor="t">
            <a:noAutofit/>
          </a:bodyPr>
          <a:lstStyle/>
          <a:p>
            <a:pPr algn="l">
              <a:lnSpc>
                <a:spcPct val="100000"/>
              </a:lnSpc>
            </a:pPr>
            <a:r>
              <a:rPr lang="en-US" sz="1575" dirty="0" b="1">
                <a:solidFill>
                  <a:srgbClr val="16171D"/>
                </a:solidFill>
                <a:latin typeface="Segoe UI"/>
                <a:cs typeface="Segoe UI"/>
              </a:rPr>
              <a:t xml:space="preserve">Slope</a:t>
            </a:r>
            <a:r>
              <a:rPr lang="en-US" sz="1575" dirty="0">
                <a:solidFill>
                  <a:srgbClr val="16171D"/>
                </a:solidFill>
                <a:latin typeface="Segoe UI"/>
                <a:cs typeface="Segoe UI"/>
              </a:rPr>
              <a:t xml:space="preserve"> = the rate (per hour, per pound, per game).</a:t>
            </a:r>
            <a:br>
              <a:rPr lang="en-US" sz="1575" dirty="0">
                <a:solidFill>
                  <a:srgbClr val="16171D"/>
                </a:solidFill>
                <a:latin typeface="Segoe UI"/>
                <a:cs typeface="Segoe UI"/>
              </a:rPr>
            </a:br>
            <a:r>
              <a:rPr lang="en-US" sz="1575" dirty="0" b="1" i="1">
                <a:solidFill>
                  <a:srgbClr val="16171D"/>
                </a:solidFill>
                <a:latin typeface="Segoe UI"/>
                <a:cs typeface="Segoe UI"/>
              </a:rPr>
              <a:t xml:space="preserve">y</a:t>
            </a:r>
            <a:r>
              <a:rPr lang="en-US" sz="1575" dirty="0" b="1">
                <a:solidFill>
                  <a:srgbClr val="16171D"/>
                </a:solidFill>
                <a:latin typeface="Segoe UI"/>
                <a:cs typeface="Segoe UI"/>
              </a:rPr>
              <a:t xml:space="preserve">-intercept</a:t>
            </a:r>
            <a:r>
              <a:rPr lang="en-US" sz="1575" dirty="0">
                <a:solidFill>
                  <a:srgbClr val="16171D"/>
                </a:solidFill>
                <a:latin typeface="Segoe UI"/>
                <a:cs typeface="Segoe UI"/>
              </a:rPr>
              <a:t xml:space="preserve"> = the starting amount.</a:t>
            </a:r>
            <a:endParaRPr lang="en-US" sz="1575" dirty="0"/>
          </a:p>
        </p:txBody>
      </p:sp>
      <p:sp>
        <p:nvSpPr>
          <p:cNvPr id="15" name="Shape 15"/>
          <p:cNvSpPr txBox="1"/>
          <p:nvPr/>
        </p:nvSpPr>
        <p:spPr>
          <a:xfrm>
            <a:off x="685800" y="3722370"/>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Copy these into your notes, or ask your teacher for a printed copy.</a:t>
            </a:r>
            <a:endParaRPr lang="en-US" sz="1575" dirty="0"/>
          </a:p>
        </p:txBody>
      </p:sp>
      <p:sp>
        <p:nvSpPr>
          <p:cNvPr id="16" name="Slide Number 16"/>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35</a:t>
            </a:fld>
          </a:p>
        </p:txBody>
      </p:sp>
    </p:spTree>
  </p:cSld>
  <p:clrMapOvr>
    <a:masterClrMapping/>
  </p:clrMapOvr>
  <p:transition spd="med">
    <p:fad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Essential Question · Answered</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What did we learn?</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Yes, there's another form.</a:t>
            </a:r>
            <a:r>
              <a:rPr lang="en-US" sz="1950" dirty="0">
                <a:solidFill>
                  <a:srgbClr val="16171D"/>
                </a:solidFill>
                <a:latin typeface="Segoe UI"/>
                <a:cs typeface="Segoe UI"/>
              </a:rPr>
              <a:t xml:space="preserve"> Point-slope form uses the slope and any point on the line:</a:t>
            </a:r>
            <a:endParaRPr lang="en-US" sz="1950" dirty="0"/>
          </a:p>
        </p:txBody>
      </p:sp>
      <p:sp>
        <p:nvSpPr>
          <p:cNvPr id="5" name="Shape 5"/>
          <p:cNvSpPr txBox="1"/>
          <p:nvPr/>
        </p:nvSpPr>
        <p:spPr>
          <a:xfrm>
            <a:off x="685800" y="2218182"/>
            <a:ext cx="10820095" cy="626364"/>
          </a:xfrm>
          <a:prstGeom prst="rect">
            <a:avLst/>
          </a:prstGeom>
          <a:noFill/>
          <a:ln>
            <a:noFill/>
          </a:ln>
        </p:spPr>
        <p:txBody>
          <a:bodyPr wrap="square" lIns="36576" tIns="27432" rIns="36576" bIns="27432" anchor="t">
            <a:noAutofit/>
          </a:bodyPr>
          <a:lstStyle/>
          <a:p>
            <a:pPr algn="l">
              <a:lnSpc>
                <a:spcPct val="100000"/>
              </a:lnSpc>
            </a:pPr>
            <a:r>
              <a:rPr lang="en-US" sz="3750" dirty="0" i="1">
                <a:solidFill>
                  <a:srgbClr val="16171D"/>
                </a:solidFill>
                <a:latin typeface="Cambria"/>
                <a:cs typeface="Cambria"/>
              </a:rPr>
              <a:t xml:space="preserve">y</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y</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 = </a:t>
            </a:r>
            <a:r>
              <a:rPr lang="en-US" sz="3750" dirty="0" b="1" i="1">
                <a:solidFill>
                  <a:srgbClr val="C9561F"/>
                </a:solidFill>
                <a:latin typeface="Cambria"/>
                <a:cs typeface="Cambria"/>
              </a:rPr>
              <a:t xml:space="preserve">m</a:t>
            </a:r>
            <a:r>
              <a:rPr lang="en-US" sz="3750" dirty="0">
                <a:solidFill>
                  <a:srgbClr val="16171D"/>
                </a:solidFill>
                <a:latin typeface="Cambria"/>
                <a:cs typeface="Cambria"/>
              </a:rPr>
              <a:t xml:space="preserve">(</a:t>
            </a:r>
            <a:r>
              <a:rPr lang="en-US" sz="3750" dirty="0" i="1">
                <a:solidFill>
                  <a:srgbClr val="16171D"/>
                </a:solidFill>
                <a:latin typeface="Cambria"/>
                <a:cs typeface="Cambria"/>
              </a:rPr>
              <a:t xml:space="preserve">x</a:t>
            </a:r>
            <a:r>
              <a:rPr lang="en-US" sz="3750" dirty="0">
                <a:solidFill>
                  <a:srgbClr val="16171D"/>
                </a:solidFill>
                <a:latin typeface="Cambria"/>
                <a:cs typeface="Cambria"/>
              </a:rPr>
              <a:t xml:space="preserve"> − </a:t>
            </a:r>
            <a:r>
              <a:rPr lang="en-US" sz="3750" dirty="0" b="1" i="1">
                <a:solidFill>
                  <a:srgbClr val="3050B8"/>
                </a:solidFill>
                <a:latin typeface="Cambria"/>
                <a:cs typeface="Cambria"/>
              </a:rPr>
              <a:t xml:space="preserve">x</a:t>
            </a:r>
            <a:r>
              <a:rPr lang="en-US" sz="3188" dirty="0" b="1" baseline="-25000">
                <a:solidFill>
                  <a:srgbClr val="3050B8"/>
                </a:solidFill>
                <a:latin typeface="Cambria"/>
                <a:cs typeface="Cambria"/>
              </a:rPr>
              <a:t xml:space="preserve">1</a:t>
            </a:r>
            <a:r>
              <a:rPr lang="en-US" sz="3750" dirty="0">
                <a:solidFill>
                  <a:srgbClr val="16171D"/>
                </a:solidFill>
                <a:latin typeface="Cambria"/>
                <a:cs typeface="Cambria"/>
              </a:rPr>
              <a:t xml:space="preserve">)</a:t>
            </a:r>
            <a:endParaRPr lang="en-US" sz="3750" dirty="0"/>
          </a:p>
        </p:txBody>
      </p:sp>
      <p:sp>
        <p:nvSpPr>
          <p:cNvPr id="6" name="Shape 6"/>
          <p:cNvSpPr txBox="1"/>
          <p:nvPr/>
        </p:nvSpPr>
        <p:spPr>
          <a:xfrm>
            <a:off x="685800" y="3035046"/>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Horizontal lines</a:t>
            </a:r>
            <a:r>
              <a:rPr lang="en-US" sz="1950" dirty="0">
                <a:solidFill>
                  <a:srgbClr val="16171D"/>
                </a:solidFill>
                <a:latin typeface="Segoe UI"/>
                <a:cs typeface="Segoe UI"/>
              </a:rPr>
              <a:t xml:space="preserve"> have slope 0 and equations like </a:t>
            </a:r>
            <a:r>
              <a:rPr lang="en-US" sz="1950" dirty="0" i="1">
                <a:solidFill>
                  <a:srgbClr val="16171D"/>
                </a:solidFill>
                <a:latin typeface="Cambria"/>
                <a:cs typeface="Cambria"/>
              </a:rPr>
              <a:t xml:space="preserve">y</a:t>
            </a:r>
            <a:r>
              <a:rPr lang="en-US" sz="1950" dirty="0">
                <a:solidFill>
                  <a:srgbClr val="16171D"/>
                </a:solidFill>
                <a:latin typeface="Cambria"/>
                <a:cs typeface="Cambria"/>
              </a:rPr>
              <a:t xml:space="preserve"> = 11</a:t>
            </a:r>
            <a:r>
              <a:rPr lang="en-US" sz="1950" dirty="0">
                <a:solidFill>
                  <a:srgbClr val="16171D"/>
                </a:solidFill>
                <a:latin typeface="Segoe UI"/>
                <a:cs typeface="Segoe UI"/>
              </a:rPr>
              <a:t xml:space="preserve">.</a:t>
            </a:r>
            <a:endParaRPr lang="en-US" sz="1950" dirty="0"/>
          </a:p>
        </p:txBody>
      </p:sp>
      <p:sp>
        <p:nvSpPr>
          <p:cNvPr id="7" name="Shape 7"/>
          <p:cNvSpPr txBox="1"/>
          <p:nvPr/>
        </p:nvSpPr>
        <p:spPr>
          <a:xfrm>
            <a:off x="685800" y="3577590"/>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b="1">
                <a:solidFill>
                  <a:srgbClr val="16171D"/>
                </a:solidFill>
                <a:latin typeface="Segoe UI"/>
                <a:cs typeface="Segoe UI"/>
              </a:rPr>
              <a:t xml:space="preserve">Vertical lines</a:t>
            </a:r>
            <a:r>
              <a:rPr lang="en-US" sz="1950" dirty="0">
                <a:solidFill>
                  <a:srgbClr val="16171D"/>
                </a:solidFill>
                <a:latin typeface="Segoe UI"/>
                <a:cs typeface="Segoe UI"/>
              </a:rPr>
              <a:t xml:space="preserve"> have an undefined slope and equations like </a:t>
            </a:r>
            <a:r>
              <a:rPr lang="en-US" sz="1950" dirty="0" i="1">
                <a:solidFill>
                  <a:srgbClr val="16171D"/>
                </a:solidFill>
                <a:latin typeface="Cambria"/>
                <a:cs typeface="Cambria"/>
              </a:rPr>
              <a:t xml:space="preserve">x</a:t>
            </a:r>
            <a:r>
              <a:rPr lang="en-US" sz="1950" dirty="0">
                <a:solidFill>
                  <a:srgbClr val="16171D"/>
                </a:solidFill>
                <a:latin typeface="Cambria"/>
                <a:cs typeface="Cambria"/>
              </a:rPr>
              <a:t xml:space="preserve"> = −2</a:t>
            </a:r>
            <a:r>
              <a:rPr lang="en-US" sz="1950" dirty="0">
                <a:solidFill>
                  <a:srgbClr val="16171D"/>
                </a:solidFill>
                <a:latin typeface="Segoe UI"/>
                <a:cs typeface="Segoe UI"/>
              </a:rPr>
              <a:t xml:space="preserve">.</a:t>
            </a:r>
            <a:endParaRPr lang="en-US" sz="1950" dirty="0"/>
          </a:p>
        </p:txBody>
      </p:sp>
      <p:sp>
        <p:nvSpPr>
          <p:cNvPr id="8" name="Slide Number 8"/>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36</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42" presetClass="entr" presetSubtype="0" fill="hold" nodeType="clickEffect">
                                  <p:stCondLst>
                                    <p:cond delay="0"/>
                                  </p:stCondLst>
                                  <p:childTnLst>
                                    <p:set>
                                      <p:cBhvr>
                                        <p:cTn id="3" dur="1" fill="hold">
                                          <p:stCondLst>
                                            <p:cond delay="0"/>
                                          </p:stCondLst>
                                        </p:cTn>
                                        <p:tgtEl>
                                          <p:spTgt spid="4"/>
                                        </p:tgtEl>
                                        <p:attrNameLst>
                                          <p:attrName>style.visibility</p:attrName>
                                        </p:attrNameLst>
                                      </p:cBhvr>
                                      <p:to>
                                        <p:strVal val="visible"/>
                                      </p:to>
                                    </p:set>
                                    <p:animEffect transition="in" filter="fade">
                                      <p:cBhvr>
                                        <p:cTn id="4" dur="500"/>
                                        <p:tgtEl>
                                          <p:spTgt spid="4"/>
                                        </p:tgtEl>
                                      </p:cBhvr>
                                    </p:animEffect>
                                    <p:anim calcmode="lin" valueType="num">
                                      <p:cBhvr>
                                        <p:cTn id="5" dur="500" fill="hold"/>
                                        <p:tgtEl>
                                          <p:spTgt spid="4"/>
                                        </p:tgtEl>
                                        <p:attrNameLst>
                                          <p:attrName>ppt_x</p:attrName>
                                        </p:attrNameLst>
                                      </p:cBhvr>
                                      <p:tavLst>
                                        <p:tav tm="0">
                                          <p:val>
                                            <p:strVal val="#ppt_x"/>
                                          </p:val>
                                        </p:tav>
                                        <p:tav tm="100000">
                                          <p:val>
                                            <p:strVal val="#ppt_x"/>
                                          </p:val>
                                        </p:tav>
                                      </p:tavLst>
                                    </p:anim>
                                    <p:anim calcmode="lin" valueType="num">
                                      <p:cBhvr>
                                        <p:cTn id="6" dur="500" fill="hold"/>
                                        <p:tgtEl>
                                          <p:spTgt spid="4"/>
                                        </p:tgtEl>
                                        <p:attrNameLst>
                                          <p:attrName>ppt_y</p:attrName>
                                        </p:attrNameLst>
                                      </p:cBhvr>
                                      <p:tavLst>
                                        <p:tav tm="0">
                                          <p:val>
                                            <p:strVal val="#ppt_y+.1"/>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2" presetID="22" presetClass="entr" presetSubtype="8" fill="hold" nodeType="clickEffect">
                                  <p:stCondLst>
                                    <p:cond delay="0"/>
                                  </p:stCondLst>
                                  <p:childTnLst>
                                    <p:set>
                                      <p:cBhvr>
                                        <p:cTn id="10" dur="1" fill="hold">
                                          <p:stCondLst>
                                            <p:cond delay="0"/>
                                          </p:stCondLst>
                                        </p:cTn>
                                        <p:tgtEl>
                                          <p:spTgt spid="5"/>
                                        </p:tgtEl>
                                        <p:attrNameLst>
                                          <p:attrName>style.visibility</p:attrName>
                                        </p:attrNameLst>
                                      </p:cBhvr>
                                      <p:to>
                                        <p:strVal val="visible"/>
                                      </p:to>
                                    </p:set>
                                    <p:animEffect transition="in" filter="wipe(left)">
                                      <p:cBhvr>
                                        <p:cTn id="11" dur="700"/>
                                        <p:tgtEl>
                                          <p:spTgt spid="5"/>
                                        </p:tgtEl>
                                      </p:cBhvr>
                                    </p:animEffect>
                                  </p:childTnLst>
                                </p:cTn>
                              </p:par>
                            </p:childTnLst>
                          </p:cTn>
                        </p:par>
                      </p:childTnLst>
                    </p:cTn>
                  </p:par>
                  <p:par>
                    <p:cTn id="20" fill="hold">
                      <p:stCondLst>
                        <p:cond delay="indefinite"/>
                      </p:stCondLst>
                      <p:childTnLst>
                        <p:par>
                          <p:cTn id="21" fill="hold">
                            <p:stCondLst>
                              <p:cond delay="0"/>
                            </p:stCondLst>
                            <p:childTnLst>
                              <p:par>
                                <p:cTn id="19" presetID="42" presetClass="entr" presetSubtype="0" fill="hold" nodeType="clickEffect">
                                  <p:stCondLst>
                                    <p:cond delay="0"/>
                                  </p:stCondLst>
                                  <p:childTnLst>
                                    <p:set>
                                      <p:cBhvr>
                                        <p:cTn id="15" dur="1" fill="hold">
                                          <p:stCondLst>
                                            <p:cond delay="0"/>
                                          </p:stCondLst>
                                        </p:cTn>
                                        <p:tgtEl>
                                          <p:spTgt spid="6"/>
                                        </p:tgtEl>
                                        <p:attrNameLst>
                                          <p:attrName>style.visibility</p:attrName>
                                        </p:attrNameLst>
                                      </p:cBhvr>
                                      <p:to>
                                        <p:strVal val="visible"/>
                                      </p:to>
                                    </p:set>
                                    <p:animEffect transition="in" filter="fade">
                                      <p:cBhvr>
                                        <p:cTn id="16" dur="500"/>
                                        <p:tgtEl>
                                          <p:spTgt spid="6"/>
                                        </p:tgtEl>
                                      </p:cBhvr>
                                    </p:animEffect>
                                    <p:anim calcmode="lin" valueType="num">
                                      <p:cBhvr>
                                        <p:cTn id="17" dur="500" fill="hold"/>
                                        <p:tgtEl>
                                          <p:spTgt spid="6"/>
                                        </p:tgtEl>
                                        <p:attrNameLst>
                                          <p:attrName>ppt_x</p:attrName>
                                        </p:attrNameLst>
                                      </p:cBhvr>
                                      <p:tavLst>
                                        <p:tav tm="0">
                                          <p:val>
                                            <p:strVal val="#ppt_x"/>
                                          </p:val>
                                        </p:tav>
                                        <p:tav tm="100000">
                                          <p:val>
                                            <p:strVal val="#ppt_x"/>
                                          </p:val>
                                        </p:tav>
                                      </p:tavLst>
                                    </p:anim>
                                    <p:anim calcmode="lin" valueType="num">
                                      <p:cBhvr>
                                        <p:cTn id="18" dur="5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6" presetID="42"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anim calcmode="lin" valueType="num">
                                      <p:cBhvr>
                                        <p:cTn id="24" dur="500" fill="hold"/>
                                        <p:tgtEl>
                                          <p:spTgt spid="7"/>
                                        </p:tgtEl>
                                        <p:attrNameLst>
                                          <p:attrName>ppt_x</p:attrName>
                                        </p:attrNameLst>
                                      </p:cBhvr>
                                      <p:tavLst>
                                        <p:tav tm="0">
                                          <p:val>
                                            <p:strVal val="#ppt_x"/>
                                          </p:val>
                                        </p:tav>
                                        <p:tav tm="100000">
                                          <p:val>
                                            <p:strVal val="#ppt_x"/>
                                          </p:val>
                                        </p:tav>
                                      </p:tavLst>
                                    </p:anim>
                                    <p:anim calcmode="lin" valueType="num">
                                      <p:cBhvr>
                                        <p:cTn id="25" dur="5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Exit Ticket</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Show what you know</a:t>
            </a:r>
            <a:endParaRPr lang="en-US" sz="3450" dirty="0"/>
          </a:p>
        </p:txBody>
      </p:sp>
      <p:sp>
        <p:nvSpPr>
          <p:cNvPr id="4" name="Shape 4"/>
          <p:cNvSpPr txBox="1"/>
          <p:nvPr/>
        </p:nvSpPr>
        <p:spPr>
          <a:xfrm>
            <a:off x="685800" y="1675638"/>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1. Write the equation in point-slope form: slope 5, through (−2, 3). </a:t>
            </a:r>
            <a:r>
              <a:rPr lang="en-US" sz="1575" dirty="0">
                <a:solidFill>
                  <a:srgbClr val="5F6272"/>
                </a:solidFill>
                <a:latin typeface="Segoe UI"/>
                <a:cs typeface="Segoe UI"/>
              </a:rPr>
              <a:t xml:space="preserve">(SE p. 204)</a:t>
            </a:r>
            <a:endParaRPr lang="en-US" sz="1950" dirty="0"/>
          </a:p>
        </p:txBody>
      </p:sp>
      <p:sp>
        <p:nvSpPr>
          <p:cNvPr id="5" name="Shape 5"/>
          <p:cNvSpPr txBox="1"/>
          <p:nvPr/>
        </p:nvSpPr>
        <p:spPr>
          <a:xfrm>
            <a:off x="685800" y="2141982"/>
            <a:ext cx="4566285"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− 3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6" name="Shape 6"/>
          <p:cNvSpPr txBox="1"/>
          <p:nvPr/>
        </p:nvSpPr>
        <p:spPr>
          <a:xfrm>
            <a:off x="685800" y="2775204"/>
            <a:ext cx="10820095" cy="35204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2. Rewrite your answer to #1 in slope-intercept form. </a:t>
            </a:r>
            <a:r>
              <a:rPr lang="en-US" sz="1575" dirty="0">
                <a:solidFill>
                  <a:srgbClr val="5F6272"/>
                </a:solidFill>
                <a:latin typeface="Segoe UI"/>
                <a:cs typeface="Segoe UI"/>
              </a:rPr>
              <a:t xml:space="preserve">(SE p. 203)</a:t>
            </a:r>
            <a:endParaRPr lang="en-US" sz="1950" dirty="0"/>
          </a:p>
        </p:txBody>
      </p:sp>
      <p:sp>
        <p:nvSpPr>
          <p:cNvPr id="7" name="Shape 7"/>
          <p:cNvSpPr txBox="1"/>
          <p:nvPr/>
        </p:nvSpPr>
        <p:spPr>
          <a:xfrm>
            <a:off x="685800" y="3241548"/>
            <a:ext cx="3737153"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5</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+ 13</a:t>
            </a:r>
            <a:endParaRPr lang="en-US" sz="2325" dirty="0"/>
          </a:p>
        </p:txBody>
      </p:sp>
      <p:sp>
        <p:nvSpPr>
          <p:cNvPr id="8" name="Shape 8"/>
          <p:cNvSpPr txBox="1"/>
          <p:nvPr/>
        </p:nvSpPr>
        <p:spPr>
          <a:xfrm>
            <a:off x="685800" y="3874770"/>
            <a:ext cx="10820095" cy="649224"/>
          </a:xfrm>
          <a:prstGeom prst="rect">
            <a:avLst/>
          </a:prstGeom>
          <a:noFill/>
          <a:ln>
            <a:noFill/>
          </a:ln>
        </p:spPr>
        <p:txBody>
          <a:bodyPr wrap="square" lIns="36576" tIns="27432" rIns="36576" bIns="27432" anchor="t">
            <a:noAutofit/>
          </a:bodyPr>
          <a:lstStyle/>
          <a:p>
            <a:pPr algn="l">
              <a:lnSpc>
                <a:spcPct val="100000"/>
              </a:lnSpc>
            </a:pPr>
            <a:r>
              <a:rPr lang="en-US" sz="1950" dirty="0">
                <a:solidFill>
                  <a:srgbClr val="16171D"/>
                </a:solidFill>
                <a:latin typeface="Segoe UI"/>
                <a:cs typeface="Segoe UI"/>
              </a:rPr>
              <a:t xml:space="preserve">3. Write the equation of the line through (4, 1) and (4, −7). Is it horizontal or vertical? </a:t>
            </a:r>
            <a:r>
              <a:rPr lang="en-US" sz="1575" dirty="0">
                <a:solidFill>
                  <a:srgbClr val="5F6272"/>
                </a:solidFill>
                <a:latin typeface="Segoe UI"/>
                <a:cs typeface="Segoe UI"/>
              </a:rPr>
              <a:t xml:space="preserve">(SE p. 207)</a:t>
            </a:r>
            <a:endParaRPr lang="en-US" sz="1950" dirty="0"/>
          </a:p>
        </p:txBody>
      </p:sp>
      <p:sp>
        <p:nvSpPr>
          <p:cNvPr id="9" name="Shape 9"/>
          <p:cNvSpPr txBox="1"/>
          <p:nvPr/>
        </p:nvSpPr>
        <p:spPr>
          <a:xfrm>
            <a:off x="685800" y="4638294"/>
            <a:ext cx="7385334"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 </a:t>
            </a:r>
            <a:r>
              <a:rPr lang="en-US" sz="1650" dirty="0">
                <a:solidFill>
                  <a:srgbClr val="16171D"/>
                </a:solidFill>
                <a:latin typeface="Segoe UI"/>
                <a:cs typeface="Segoe UI"/>
              </a:rPr>
              <a:t xml:space="preserve">· vertical, slope undefined</a:t>
            </a:r>
            <a:endParaRPr lang="en-US" sz="2325" dirty="0"/>
          </a:p>
        </p:txBody>
      </p:sp>
      <p:sp>
        <p:nvSpPr>
          <p:cNvPr id="10" name="Slide Number 10"/>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37</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Prepare for Lesson 5 · SE p. 216</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Solve each equation for </a:t>
            </a:r>
            <a:r>
              <a:rPr lang="en-US" sz="3450" dirty="0" b="1" i="1">
                <a:solidFill>
                  <a:srgbClr val="16171D"/>
                </a:solidFill>
                <a:latin typeface="Segoe UI"/>
                <a:cs typeface="Segoe UI"/>
              </a:rPr>
              <a:t xml:space="preserve">y</a:t>
            </a:r>
            <a:endParaRPr lang="en-US" sz="3450" dirty="0"/>
          </a:p>
        </p:txBody>
      </p:sp>
      <p:sp>
        <p:nvSpPr>
          <p:cNvPr id="4" name="Shape 4"/>
          <p:cNvSpPr txBox="1"/>
          <p:nvPr/>
        </p:nvSpPr>
        <p:spPr>
          <a:xfrm>
            <a:off x="685800"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1. −2</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+ 7</a:t>
            </a:r>
            <a:endParaRPr lang="en-US" sz="2325" dirty="0"/>
          </a:p>
        </p:txBody>
      </p:sp>
      <p:sp>
        <p:nvSpPr>
          <p:cNvPr id="5" name="Shape 5"/>
          <p:cNvSpPr txBox="1"/>
          <p:nvPr/>
        </p:nvSpPr>
        <p:spPr>
          <a:xfrm>
            <a:off x="685800" y="2218182"/>
            <a:ext cx="4234632"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7</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endParaRPr lang="en-US" sz="2325" dirty="0"/>
          </a:p>
        </p:txBody>
      </p:sp>
      <p:sp>
        <p:nvSpPr>
          <p:cNvPr id="6" name="Shape 6"/>
          <p:cNvSpPr txBox="1"/>
          <p:nvPr/>
        </p:nvSpPr>
        <p:spPr>
          <a:xfrm>
            <a:off x="685800"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2. </a:t>
            </a:r>
            <a:r>
              <a:rPr lang="en-US" sz="2325" dirty="0">
                <a:solidFill>
                  <a:srgbClr val="16171D"/>
                </a:solidFill>
                <a:latin typeface="Cambria"/>
                <a:cs typeface="Cambria"/>
              </a:rPr>
              <a:t xml:space="preserve">3</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− 6</a:t>
            </a:r>
            <a:endParaRPr lang="en-US" sz="2325" dirty="0"/>
          </a:p>
        </p:txBody>
      </p:sp>
      <p:sp>
        <p:nvSpPr>
          <p:cNvPr id="7" name="Shape 7"/>
          <p:cNvSpPr txBox="1"/>
          <p:nvPr/>
        </p:nvSpPr>
        <p:spPr>
          <a:xfrm>
            <a:off x="685800"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4</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− 8</a:t>
            </a:r>
            <a:endParaRPr lang="en-US" sz="2325" dirty="0"/>
          </a:p>
        </p:txBody>
      </p:sp>
      <p:sp>
        <p:nvSpPr>
          <p:cNvPr id="8" name="Shape 8"/>
          <p:cNvSpPr txBox="1"/>
          <p:nvPr/>
        </p:nvSpPr>
        <p:spPr>
          <a:xfrm>
            <a:off x="6362548" y="1675638"/>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3. 2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+ 3</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6</a:t>
            </a:r>
            <a:endParaRPr lang="en-US" sz="2325" dirty="0"/>
          </a:p>
        </p:txBody>
      </p:sp>
      <p:sp>
        <p:nvSpPr>
          <p:cNvPr id="9" name="Shape 9"/>
          <p:cNvSpPr txBox="1"/>
          <p:nvPr/>
        </p:nvSpPr>
        <p:spPr>
          <a:xfrm>
            <a:off x="6362548" y="2218182"/>
            <a:ext cx="4068806"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2</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3</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0" name="Shape 10"/>
          <p:cNvSpPr txBox="1"/>
          <p:nvPr/>
        </p:nvSpPr>
        <p:spPr>
          <a:xfrm>
            <a:off x="6362548" y="3003804"/>
            <a:ext cx="5143348" cy="409194"/>
          </a:xfrm>
          <a:prstGeom prst="rect">
            <a:avLst/>
          </a:prstGeom>
          <a:noFill/>
          <a:ln>
            <a:noFill/>
          </a:ln>
        </p:spPr>
        <p:txBody>
          <a:bodyPr wrap="square" lIns="36576" tIns="27432" rIns="36576" bIns="27432" anchor="t">
            <a:noAutofit/>
          </a:bodyPr>
          <a:lstStyle/>
          <a:p>
            <a:pPr algn="l">
              <a:lnSpc>
                <a:spcPct val="100000"/>
              </a:lnSpc>
            </a:pPr>
            <a:r>
              <a:rPr lang="en-US" sz="2325" dirty="0">
                <a:solidFill>
                  <a:srgbClr val="16171D"/>
                </a:solidFill>
                <a:latin typeface="Cambria"/>
                <a:cs typeface="Cambria"/>
              </a:rPr>
              <a:t xml:space="preserve">4.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2</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− 4</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8</a:t>
            </a:r>
            <a:endParaRPr lang="en-US" sz="2325" dirty="0"/>
          </a:p>
        </p:txBody>
      </p:sp>
      <p:sp>
        <p:nvSpPr>
          <p:cNvPr id="11" name="Shape 11"/>
          <p:cNvSpPr txBox="1"/>
          <p:nvPr/>
        </p:nvSpPr>
        <p:spPr>
          <a:xfrm>
            <a:off x="6362548" y="3546348"/>
            <a:ext cx="3902979" cy="518922"/>
          </a:xfrm>
          <a:prstGeom prst="roundRect">
            <a:avLst>
              <a:gd name="adj" fmla="val 8000"/>
            </a:avLst>
          </a:prstGeom>
          <a:solidFill>
            <a:srgbClr val="EDF5E9"/>
          </a:solidFill>
          <a:ln>
            <a:noFill/>
          </a:ln>
        </p:spPr>
        <p:txBody>
          <a:bodyPr wrap="square" lIns="164592" tIns="64008" rIns="164592" bIns="64008" anchor="ctr">
            <a:noAutofit/>
          </a:bodyPr>
          <a:lstStyle/>
          <a:p>
            <a:pPr algn="l">
              <a:lnSpc>
                <a:spcPct val="100000"/>
              </a:lnSpc>
            </a:pPr>
            <a:r>
              <a:rPr lang="en-US" sz="1125" dirty="0" b="1" spc="100">
                <a:solidFill>
                  <a:srgbClr val="4F8A3C"/>
                </a:solidFill>
                <a:latin typeface="Segoe UI"/>
                <a:cs typeface="Segoe UI"/>
              </a:rPr>
              <a:t xml:space="preserve">ANSWER   </a:t>
            </a:r>
            <a:r>
              <a:rPr lang="en-US" sz="2325" dirty="0" i="1">
                <a:solidFill>
                  <a:srgbClr val="16171D"/>
                </a:solidFill>
                <a:latin typeface="Cambria"/>
                <a:cs typeface="Cambria"/>
              </a:rPr>
              <a:t xml:space="preserve">y</a:t>
            </a:r>
            <a:r>
              <a:rPr lang="en-US" sz="2325" dirty="0">
                <a:solidFill>
                  <a:srgbClr val="16171D"/>
                </a:solidFill>
                <a:latin typeface="Cambria"/>
                <a:cs typeface="Cambria"/>
              </a:rPr>
              <a:t xml:space="preserve"> = </a:t>
            </a:r>
            <a:r>
              <a:rPr lang="en-US" sz="2325" dirty="0">
                <a:solidFill>
                  <a:srgbClr val="16171D"/>
                </a:solidFill>
                <a:latin typeface="Cambria"/>
                <a:cs typeface="Cambria"/>
              </a:rPr>
              <a:t xml:space="preserve">1</a:t>
            </a:r>
            <a:r>
              <a:rPr lang="en-US" sz="2325" dirty="0">
                <a:solidFill>
                  <a:srgbClr val="16171D"/>
                </a:solidFill>
                <a:latin typeface="Cambria"/>
                <a:cs typeface="Cambria"/>
              </a:rPr>
              <a:t xml:space="preserve">/</a:t>
            </a:r>
            <a:r>
              <a:rPr lang="en-US" sz="2325" dirty="0">
                <a:solidFill>
                  <a:srgbClr val="16171D"/>
                </a:solidFill>
                <a:latin typeface="Cambria"/>
                <a:cs typeface="Cambria"/>
              </a:rPr>
              <a:t xml:space="preserve">8</a:t>
            </a:r>
            <a:r>
              <a:rPr lang="en-US" sz="2325" dirty="0" i="1">
                <a:solidFill>
                  <a:srgbClr val="16171D"/>
                </a:solidFill>
                <a:latin typeface="Cambria"/>
                <a:cs typeface="Cambria"/>
              </a:rPr>
              <a:t xml:space="preserve">x</a:t>
            </a:r>
            <a:r>
              <a:rPr lang="en-US" sz="2325" dirty="0">
                <a:solidFill>
                  <a:srgbClr val="16171D"/>
                </a:solidFill>
                <a:latin typeface="Cambria"/>
                <a:cs typeface="Cambria"/>
              </a:rPr>
              <a:t xml:space="preserve"> − 2</a:t>
            </a:r>
            <a:endParaRPr lang="en-US" sz="2325" dirty="0"/>
          </a:p>
        </p:txBody>
      </p:sp>
      <p:sp>
        <p:nvSpPr>
          <p:cNvPr id="12" name="Slide Number 12"/>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38</a:t>
            </a:fld>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8" fill="hold">
                      <p:stCondLst>
                        <p:cond delay="indefinite"/>
                      </p:stCondLst>
                      <p:childTnLst>
                        <p:par>
                          <p:cTn id="9" fill="hold">
                            <p:stCondLst>
                              <p:cond delay="0"/>
                            </p:stCondLst>
                            <p:childTnLst>
                              <p:par>
                                <p:cTn id="7" presetID="53" presetClass="entr" presetSubtype="16" fill="hold" nodeType="clickEffect">
                                  <p:stCondLst>
                                    <p:cond delay="0"/>
                                  </p:stCondLst>
                                  <p:childTnLst>
                                    <p:set>
                                      <p:cBhvr>
                                        <p:cTn id="3" dur="1" fill="hold">
                                          <p:stCondLst>
                                            <p:cond delay="0"/>
                                          </p:stCondLst>
                                        </p:cTn>
                                        <p:tgtEl>
                                          <p:spTgt spid="5"/>
                                        </p:tgtEl>
                                        <p:attrNameLst>
                                          <p:attrName>style.visibility</p:attrName>
                                        </p:attrNameLst>
                                      </p:cBhvr>
                                      <p:to>
                                        <p:strVal val="visible"/>
                                      </p:to>
                                    </p:set>
                                    <p:animEffect transition="in" filter="fade">
                                      <p:cBhvr>
                                        <p:cTn id="4" dur="500"/>
                                        <p:tgtEl>
                                          <p:spTgt spid="5"/>
                                        </p:tgtEl>
                                      </p:cBhvr>
                                    </p:animEffect>
                                    <p:anim calcmode="lin" valueType="num">
                                      <p:cBhvr>
                                        <p:cTn id="5" dur="500" fill="hold"/>
                                        <p:tgtEl>
                                          <p:spTgt spid="5"/>
                                        </p:tgtEl>
                                        <p:attrNameLst>
                                          <p:attrName>ppt_w</p:attrName>
                                        </p:attrNameLst>
                                      </p:cBhvr>
                                      <p:tavLst>
                                        <p:tav tm="0">
                                          <p:val>
                                            <p:fltVal val="0"/>
                                          </p:val>
                                        </p:tav>
                                        <p:tav tm="100000">
                                          <p:val>
                                            <p:strVal val="#ppt_w"/>
                                          </p:val>
                                        </p:tav>
                                      </p:tavLst>
                                    </p:anim>
                                    <p:anim calcmode="lin" valueType="num">
                                      <p:cBhvr>
                                        <p:cTn id="6" dur="500" fill="hold"/>
                                        <p:tgtEl>
                                          <p:spTgt spid="5"/>
                                        </p:tgtEl>
                                        <p:attrNameLst>
                                          <p:attrName>ppt_h</p:attrName>
                                        </p:attrNameLst>
                                      </p:cBhvr>
                                      <p:tavLst>
                                        <p:tav tm="0">
                                          <p:val>
                                            <p:fltVal val="0"/>
                                          </p:val>
                                        </p:tav>
                                        <p:tav tm="100000">
                                          <p:val>
                                            <p:strVal val="#ppt_h"/>
                                          </p:val>
                                        </p:tav>
                                      </p:tavLst>
                                    </p:anim>
                                  </p:childTnLst>
                                </p:cTn>
                              </p:par>
                            </p:childTnLst>
                          </p:cTn>
                        </p:par>
                      </p:childTnLst>
                    </p:cTn>
                  </p:par>
                  <p:par>
                    <p:cTn id="15" fill="hold">
                      <p:stCondLst>
                        <p:cond delay="indefinite"/>
                      </p:stCondLst>
                      <p:childTnLst>
                        <p:par>
                          <p:cTn id="16" fill="hold">
                            <p:stCondLst>
                              <p:cond delay="0"/>
                            </p:stCondLst>
                            <p:childTnLst>
                              <p:par>
                                <p:cTn id="14" presetID="53" presetClass="entr" presetSubtype="16" fill="hold" nodeType="clickEffect">
                                  <p:stCondLst>
                                    <p:cond delay="0"/>
                                  </p:stCondLst>
                                  <p:childTnLst>
                                    <p:set>
                                      <p:cBhvr>
                                        <p:cTn id="10" dur="1" fill="hold">
                                          <p:stCondLst>
                                            <p:cond delay="0"/>
                                          </p:stCondLst>
                                        </p:cTn>
                                        <p:tgtEl>
                                          <p:spTgt spid="7"/>
                                        </p:tgtEl>
                                        <p:attrNameLst>
                                          <p:attrName>style.visibility</p:attrName>
                                        </p:attrNameLst>
                                      </p:cBhvr>
                                      <p:to>
                                        <p:strVal val="visible"/>
                                      </p:to>
                                    </p:set>
                                    <p:animEffect transition="in" filter="fade">
                                      <p:cBhvr>
                                        <p:cTn id="11" dur="500"/>
                                        <p:tgtEl>
                                          <p:spTgt spid="7"/>
                                        </p:tgtEl>
                                      </p:cBhvr>
                                    </p:animEffect>
                                    <p:anim calcmode="lin" valueType="num">
                                      <p:cBhvr>
                                        <p:cTn id="12" dur="500" fill="hold"/>
                                        <p:tgtEl>
                                          <p:spTgt spid="7"/>
                                        </p:tgtEl>
                                        <p:attrNameLst>
                                          <p:attrName>ppt_w</p:attrName>
                                        </p:attrNameLst>
                                      </p:cBhvr>
                                      <p:tavLst>
                                        <p:tav tm="0">
                                          <p:val>
                                            <p:fltVal val="0"/>
                                          </p:val>
                                        </p:tav>
                                        <p:tav tm="100000">
                                          <p:val>
                                            <p:strVal val="#ppt_w"/>
                                          </p:val>
                                        </p:tav>
                                      </p:tavLst>
                                    </p:anim>
                                    <p:anim calcmode="lin" valueType="num">
                                      <p:cBhvr>
                                        <p:cTn id="13" dur="500" fill="hold"/>
                                        <p:tgtEl>
                                          <p:spTgt spid="7"/>
                                        </p:tgtEl>
                                        <p:attrNameLst>
                                          <p:attrName>ppt_h</p:attrName>
                                        </p:attrNameLst>
                                      </p:cBhvr>
                                      <p:tavLst>
                                        <p:tav tm="0">
                                          <p:val>
                                            <p:fltVal val="0"/>
                                          </p:val>
                                        </p:tav>
                                        <p:tav tm="100000">
                                          <p:val>
                                            <p:strVal val="#ppt_h"/>
                                          </p:val>
                                        </p:tav>
                                      </p:tavLst>
                                    </p:anim>
                                  </p:childTnLst>
                                </p:cTn>
                              </p:par>
                            </p:childTnLst>
                          </p:cTn>
                        </p:par>
                      </p:childTnLst>
                    </p:cTn>
                  </p:par>
                  <p:par>
                    <p:cTn id="22" fill="hold">
                      <p:stCondLst>
                        <p:cond delay="indefinite"/>
                      </p:stCondLst>
                      <p:childTnLst>
                        <p:par>
                          <p:cTn id="23" fill="hold">
                            <p:stCondLst>
                              <p:cond delay="0"/>
                            </p:stCondLst>
                            <p:childTnLst>
                              <p:par>
                                <p:cTn id="21" presetID="53" presetClass="entr" presetSubtype="16" fill="hold" nodeType="clickEffect">
                                  <p:stCondLst>
                                    <p:cond delay="0"/>
                                  </p:stCondLst>
                                  <p:childTnLst>
                                    <p:set>
                                      <p:cBhvr>
                                        <p:cTn id="17" dur="1" fill="hold">
                                          <p:stCondLst>
                                            <p:cond delay="0"/>
                                          </p:stCondLst>
                                        </p:cTn>
                                        <p:tgtEl>
                                          <p:spTgt spid="9"/>
                                        </p:tgtEl>
                                        <p:attrNameLst>
                                          <p:attrName>style.visibility</p:attrName>
                                        </p:attrNameLst>
                                      </p:cBhvr>
                                      <p:to>
                                        <p:strVal val="visible"/>
                                      </p:to>
                                    </p:set>
                                    <p:animEffect transition="in" filter="fade">
                                      <p:cBhvr>
                                        <p:cTn id="18" dur="500"/>
                                        <p:tgtEl>
                                          <p:spTgt spid="9"/>
                                        </p:tgtEl>
                                      </p:cBhvr>
                                    </p:animEffect>
                                    <p:anim calcmode="lin" valueType="num">
                                      <p:cBhvr>
                                        <p:cTn id="19" dur="500" fill="hold"/>
                                        <p:tgtEl>
                                          <p:spTgt spid="9"/>
                                        </p:tgtEl>
                                        <p:attrNameLst>
                                          <p:attrName>ppt_w</p:attrName>
                                        </p:attrNameLst>
                                      </p:cBhvr>
                                      <p:tavLst>
                                        <p:tav tm="0">
                                          <p:val>
                                            <p:fltVal val="0"/>
                                          </p:val>
                                        </p:tav>
                                        <p:tav tm="100000">
                                          <p:val>
                                            <p:strVal val="#ppt_w"/>
                                          </p:val>
                                        </p:tav>
                                      </p:tavLst>
                                    </p:anim>
                                    <p:anim calcmode="lin" valueType="num">
                                      <p:cBhvr>
                                        <p:cTn id="20" dur="500" fill="hold"/>
                                        <p:tgtEl>
                                          <p:spTgt spid="9"/>
                                        </p:tgtEl>
                                        <p:attrNameLst>
                                          <p:attrName>ppt_h</p:attrName>
                                        </p:attrNameLst>
                                      </p:cBhvr>
                                      <p:tavLst>
                                        <p:tav tm="0">
                                          <p:val>
                                            <p:fltVal val="0"/>
                                          </p:val>
                                        </p:tav>
                                        <p:tav tm="100000">
                                          <p:val>
                                            <p:strVal val="#ppt_h"/>
                                          </p:val>
                                        </p:tav>
                                      </p:tavLst>
                                    </p:anim>
                                  </p:childTnLst>
                                </p:cTn>
                              </p:par>
                            </p:childTnLst>
                          </p:cTn>
                        </p:par>
                      </p:childTnLst>
                    </p:cTn>
                  </p:par>
                  <p:par>
                    <p:cTn id="29" fill="hold">
                      <p:stCondLst>
                        <p:cond delay="indefinite"/>
                      </p:stCondLst>
                      <p:childTnLst>
                        <p:par>
                          <p:cTn id="30" fill="hold">
                            <p:stCondLst>
                              <p:cond delay="0"/>
                            </p:stCondLst>
                            <p:childTnLst>
                              <p:par>
                                <p:cTn id="28" presetID="53" presetClass="entr" presetSubtype="16" fill="hold" nodeType="clickEffect">
                                  <p:stCondLst>
                                    <p:cond delay="0"/>
                                  </p:stCondLst>
                                  <p:childTnLst>
                                    <p:set>
                                      <p:cBhvr>
                                        <p:cTn id="24" dur="1" fill="hold">
                                          <p:stCondLst>
                                            <p:cond delay="0"/>
                                          </p:stCondLst>
                                        </p:cTn>
                                        <p:tgtEl>
                                          <p:spTgt spid="11"/>
                                        </p:tgtEl>
                                        <p:attrNameLst>
                                          <p:attrName>style.visibility</p:attrName>
                                        </p:attrNameLst>
                                      </p:cBhvr>
                                      <p:to>
                                        <p:strVal val="visible"/>
                                      </p:to>
                                    </p:set>
                                    <p:animEffect transition="in" filter="fade">
                                      <p:cBhvr>
                                        <p:cTn id="25" dur="500"/>
                                        <p:tgtEl>
                                          <p:spTgt spid="11"/>
                                        </p:tgtEl>
                                      </p:cBhvr>
                                    </p:animEffect>
                                    <p:anim calcmode="lin" valueType="num">
                                      <p:cBhvr>
                                        <p:cTn id="26" dur="500" fill="hold"/>
                                        <p:tgtEl>
                                          <p:spTgt spid="11"/>
                                        </p:tgtEl>
                                        <p:attrNameLst>
                                          <p:attrName>ppt_w</p:attrName>
                                        </p:attrNameLst>
                                      </p:cBhvr>
                                      <p:tavLst>
                                        <p:tav tm="0">
                                          <p:val>
                                            <p:fltVal val="0"/>
                                          </p:val>
                                        </p:tav>
                                        <p:tav tm="100000">
                                          <p:val>
                                            <p:strVal val="#ppt_w"/>
                                          </p:val>
                                        </p:tav>
                                      </p:tavLst>
                                    </p:anim>
                                    <p:anim calcmode="lin" valueType="num">
                                      <p:cBhvr>
                                        <p:cTn id="27" dur="500" fill="hold"/>
                                        <p:tgtEl>
                                          <p:spTgt spid="11"/>
                                        </p:tgtEl>
                                        <p:attrNameLst>
                                          <p:attrName>ppt_h</p:attrName>
                                        </p:attrNameLst>
                                      </p:cBhvr>
                                      <p:tavLst>
                                        <p:tav tm="0">
                                          <p:val>
                                            <p:fltVal val="0"/>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2"/>
          <p:cNvSpPr txBox="1"/>
          <p:nvPr/>
        </p:nvSpPr>
        <p:spPr>
          <a:xfrm>
            <a:off x="685800" y="457200"/>
            <a:ext cx="10820095" cy="237744"/>
          </a:xfrm>
          <a:prstGeom prst="rect">
            <a:avLst/>
          </a:prstGeom>
          <a:noFill/>
          <a:ln>
            <a:noFill/>
          </a:ln>
        </p:spPr>
        <p:txBody>
          <a:bodyPr wrap="square" lIns="36576" tIns="27432" rIns="36576" bIns="27432" anchor="t">
            <a:noAutofit/>
          </a:bodyPr>
          <a:lstStyle/>
          <a:p>
            <a:pPr algn="l">
              <a:lnSpc>
                <a:spcPct val="100000"/>
              </a:lnSpc>
            </a:pPr>
            <a:r>
              <a:rPr lang="en-US" sz="1200" dirty="0" b="1" spc="150" cap="all">
                <a:solidFill>
                  <a:srgbClr val="5F6272"/>
                </a:solidFill>
                <a:latin typeface="Segoe UI"/>
                <a:cs typeface="Segoe UI"/>
              </a:rPr>
              <a:t xml:space="preserve">Practice Online</a:t>
            </a:r>
            <a:endParaRPr lang="en-US" sz="1200" dirty="0"/>
          </a:p>
        </p:txBody>
      </p:sp>
      <p:sp>
        <p:nvSpPr>
          <p:cNvPr id="3" name="Shape 3"/>
          <p:cNvSpPr txBox="1"/>
          <p:nvPr/>
        </p:nvSpPr>
        <p:spPr>
          <a:xfrm>
            <a:off x="685800" y="866394"/>
            <a:ext cx="10820095" cy="580644"/>
          </a:xfrm>
          <a:prstGeom prst="rect">
            <a:avLst/>
          </a:prstGeom>
          <a:noFill/>
          <a:ln>
            <a:noFill/>
          </a:ln>
        </p:spPr>
        <p:txBody>
          <a:bodyPr wrap="square" lIns="36576" tIns="27432" rIns="36576" bIns="27432" anchor="t">
            <a:noAutofit/>
          </a:bodyPr>
          <a:lstStyle/>
          <a:p>
            <a:pPr algn="l">
              <a:lnSpc>
                <a:spcPct val="100000"/>
              </a:lnSpc>
            </a:pPr>
            <a:r>
              <a:rPr lang="en-US" sz="3450" dirty="0" b="1">
                <a:solidFill>
                  <a:srgbClr val="16171D"/>
                </a:solidFill>
                <a:latin typeface="Segoe UI"/>
                <a:cs typeface="Segoe UI"/>
              </a:rPr>
              <a:t xml:space="preserve">Homework and Quiz</a:t>
            </a:r>
            <a:endParaRPr lang="en-US" sz="3450" dirty="0"/>
          </a:p>
        </p:txBody>
      </p:sp>
      <p:sp>
        <p:nvSpPr>
          <p:cNvPr id="6" name="Shape 6"/>
          <p:cNvSpPr txBox="1"/>
          <p:nvPr/>
        </p:nvSpPr>
        <p:spPr>
          <a:xfrm>
            <a:off x="685800"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4" name="Shape 4"/>
          <p:cNvSpPr txBox="1"/>
          <p:nvPr/>
        </p:nvSpPr>
        <p:spPr>
          <a:xfrm>
            <a:off x="895350"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3"/>
              </a:rPr>
              <a:t xml:space="preserve">Homework →</a:t>
            </a:r>
            <a:endParaRPr lang="en-US" sz="2100" dirty="0"/>
          </a:p>
        </p:txBody>
      </p:sp>
      <p:sp>
        <p:nvSpPr>
          <p:cNvPr id="5" name="Shape 5"/>
          <p:cNvSpPr txBox="1"/>
          <p:nvPr/>
        </p:nvSpPr>
        <p:spPr>
          <a:xfrm>
            <a:off x="895350"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practice questions. Each answer is checked right away, with an explanation.</a:t>
            </a:r>
            <a:endParaRPr lang="en-US" sz="1575" dirty="0"/>
          </a:p>
        </p:txBody>
      </p:sp>
      <p:sp>
        <p:nvSpPr>
          <p:cNvPr id="9" name="Shape 9"/>
          <p:cNvSpPr txBox="1"/>
          <p:nvPr/>
        </p:nvSpPr>
        <p:spPr>
          <a:xfrm>
            <a:off x="6267298" y="1808988"/>
            <a:ext cx="5238598" cy="1347978"/>
          </a:xfrm>
          <a:prstGeom prst="roundRect">
            <a:avLst>
              <a:gd name="adj" fmla="val 8000"/>
            </a:avLst>
          </a:prstGeom>
          <a:solidFill>
            <a:srgbClr val="FFFFFF"/>
          </a:solidFill>
          <a:ln w="12700">
            <a:solidFill>
              <a:srgbClr val="E3E4EC"/>
            </a:solidFill>
          </a:ln>
        </p:spPr>
        <p:txBody>
          <a:bodyPr wrap="square" lIns="36576" tIns="27432" rIns="36576" bIns="27432" anchor="t">
            <a:noAutofit/>
          </a:bodyPr>
          <a:lstStyle/>
          <a:p>
            <a:pPr algn="l">
              <a:lnSpc>
                <a:spcPct val="100000"/>
              </a:lnSpc>
            </a:pPr>
            <a:endParaRPr lang="en-US" sz="1950" dirty="0"/>
          </a:p>
        </p:txBody>
      </p:sp>
      <p:sp>
        <p:nvSpPr>
          <p:cNvPr id="7" name="Shape 7"/>
          <p:cNvSpPr txBox="1"/>
          <p:nvPr/>
        </p:nvSpPr>
        <p:spPr>
          <a:xfrm>
            <a:off x="6476848" y="1980438"/>
            <a:ext cx="4819498" cy="374904"/>
          </a:xfrm>
          <a:prstGeom prst="rect">
            <a:avLst/>
          </a:prstGeom>
          <a:noFill/>
          <a:ln>
            <a:noFill/>
          </a:ln>
        </p:spPr>
        <p:txBody>
          <a:bodyPr wrap="square" lIns="36576" tIns="27432" rIns="36576" bIns="27432" anchor="t">
            <a:noAutofit/>
          </a:bodyPr>
          <a:lstStyle/>
          <a:p>
            <a:pPr algn="l">
              <a:lnSpc>
                <a:spcPct val="100000"/>
              </a:lnSpc>
            </a:pPr>
            <a:r>
              <a:rPr lang="en-US" sz="2100" dirty="0" b="1">
                <a:solidFill>
                  <a:srgbClr val="3050B8"/>
                </a:solidFill>
                <a:latin typeface="Segoe UI"/>
                <a:cs typeface="Segoe UI"/>
                <a:hlinkClick r:id="rId4"/>
              </a:rPr>
              <a:t xml:space="preserve">Quiz →</a:t>
            </a:r>
            <a:endParaRPr lang="en-US" sz="2100" dirty="0"/>
          </a:p>
        </p:txBody>
      </p:sp>
      <p:sp>
        <p:nvSpPr>
          <p:cNvPr id="8" name="Shape 8"/>
          <p:cNvSpPr txBox="1"/>
          <p:nvPr/>
        </p:nvSpPr>
        <p:spPr>
          <a:xfrm>
            <a:off x="6476848" y="2450592"/>
            <a:ext cx="4819498" cy="53492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16171D"/>
                </a:solidFill>
                <a:latin typeface="Segoe UI"/>
                <a:cs typeface="Segoe UI"/>
              </a:rPr>
              <a:t xml:space="preserve">10 questions, scored when students submit. Correct answers are shown after submitting.</a:t>
            </a:r>
            <a:endParaRPr lang="en-US" sz="1575" dirty="0"/>
          </a:p>
        </p:txBody>
      </p:sp>
      <p:sp>
        <p:nvSpPr>
          <p:cNvPr id="10" name="Shape 10"/>
          <p:cNvSpPr txBox="1"/>
          <p:nvPr/>
        </p:nvSpPr>
        <p:spPr>
          <a:xfrm>
            <a:off x="685800" y="3385566"/>
            <a:ext cx="10820095" cy="294894"/>
          </a:xfrm>
          <a:prstGeom prst="rect">
            <a:avLst/>
          </a:prstGeom>
          <a:noFill/>
          <a:ln>
            <a:noFill/>
          </a:ln>
        </p:spPr>
        <p:txBody>
          <a:bodyPr wrap="square" lIns="36576" tIns="27432" rIns="36576" bIns="27432" anchor="t">
            <a:noAutofit/>
          </a:bodyPr>
          <a:lstStyle/>
          <a:p>
            <a:pPr algn="l">
              <a:lnSpc>
                <a:spcPct val="100000"/>
              </a:lnSpc>
            </a:pPr>
            <a:r>
              <a:rPr lang="en-US" sz="1575" dirty="0">
                <a:solidFill>
                  <a:srgbClr val="5F6272"/>
                </a:solidFill>
                <a:latin typeface="Segoe UI"/>
                <a:cs typeface="Segoe UI"/>
              </a:rPr>
              <a:t xml:space="preserve">Both are multiple choice and cover SE pp. 203–207 and the Lesson 4 Assignment (SE pp. 215–216).</a:t>
            </a:r>
            <a:endParaRPr lang="en-US" sz="1575" dirty="0"/>
          </a:p>
        </p:txBody>
      </p:sp>
      <p:sp>
        <p:nvSpPr>
          <p:cNvPr id="11" name="Slide Number 11"/>
          <p:cNvSpPr txBox="1"/>
          <p:nvPr/>
        </p:nvSpPr>
        <p:spPr>
          <a:xfrm>
            <a:off x="11277295" y="6611112"/>
            <a:ext cx="685800" cy="201168"/>
          </a:xfrm>
          <a:prstGeom prst="rect">
            <a:avLst/>
          </a:prstGeom>
          <a:noFill/>
        </p:spPr>
        <p:txBody>
          <a:bodyPr wrap="none" lIns="0" tIns="0" rIns="0" bIns="0" anchor="b">
            <a:noAutofit/>
          </a:bodyPr>
          <a:lstStyle/>
          <a:p>
            <a:pPr algn="r"/>
            <a:fld id="{5C1A6E0B-3B1F-4D5E-9C7A-2F4B8D6E1A90}" type="slidenum">
              <a:rPr lang="en-US" sz="1200" dirty="0">
                <a:solidFill>
                  <a:srgbClr val="5F6272"/>
                </a:solidFill>
              </a:rPr>
              <a:t>39</a:t>
            </a:fld>
          </a:p>
        </p:txBody>
      </p:sp>
    </p:spTree>
  </p:cSld>
  <p:clrMapOvr>
    <a:masterClrMapping/>
  </p:clrMapOvr>
  <p:transition spd="med">
    <p:fade/>
  </p:transition>
</p:sld>
</file>

<file path=ppt/theme/theme1.xml><?xml version="1.0" encoding="utf-8"?>
<a:theme xmlns:a="http://schemas.openxmlformats.org/drawingml/2006/main" name="Point-Slope Form">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ppt/theme/theme2.xml><?xml version="1.0" encoding="utf-8"?>
<a:theme xmlns:a="http://schemas.openxmlformats.org/drawingml/2006/main" name="Notes">
  <a:themeElements>
    <a:clrScheme name="Lesson">
      <a:dk1>
        <a:srgbClr val="16171D"/>
      </a:dk1>
      <a:lt1>
        <a:srgbClr val="FFFFFF"/>
      </a:lt1>
      <a:dk2>
        <a:srgbClr val="233D94"/>
      </a:dk2>
      <a:lt2>
        <a:srgbClr val="F7F7FB"/>
      </a:lt2>
      <a:accent1>
        <a:srgbClr val="C9561F"/>
      </a:accent1>
      <a:accent2>
        <a:srgbClr val="3050B8"/>
      </a:accent2>
      <a:accent3>
        <a:srgbClr val="4F8A3C"/>
      </a:accent3>
      <a:accent4>
        <a:srgbClr val="7A5AC8"/>
      </a:accent4>
      <a:accent5>
        <a:srgbClr val="C23B6B"/>
      </a:accent5>
      <a:accent6>
        <a:srgbClr val="4F8A3C"/>
      </a:accent6>
      <a:hlink>
        <a:srgbClr val="3050B8"/>
      </a:hlink>
      <a:folHlink>
        <a:srgbClr val="7A5AC8"/>
      </a:folHlink>
    </a:clrScheme>
    <a:fontScheme name="Lesson">
      <a:majorFont>
        <a:latin typeface="Segoe UI"/>
        <a:ea typeface=""/>
        <a:cs typeface=""/>
      </a:majorFont>
      <a:minorFont>
        <a:latin typeface="Segoe UI"/>
        <a:ea typeface=""/>
        <a:cs typeface=""/>
      </a:minorFont>
    </a:fontScheme>
    <a:fmtScheme name="Lesson">
      <a:fillStyleLst>
        <a:solidFill>
          <a:schemeClr val="phClr"/>
        </a:solidFill>
        <a:solidFill>
          <a:schemeClr val="phClr"/>
        </a:solidFill>
        <a:solidFill>
          <a:schemeClr val="phClr"/>
        </a:solidFill>
      </a:fillStyleLst>
      <a:lnStyleLst>
        <a:ln w="9525" cap="flat" cmpd="sng" algn="ctr">
          <a:solidFill>
            <a:schemeClr val="phClr"/>
          </a:solidFill>
          <a:prstDash val="solid"/>
        </a:ln>
        <a:ln w="9525" cap="flat" cmpd="sng" algn="ctr">
          <a:solidFill>
            <a:schemeClr val="phClr"/>
          </a:solidFill>
          <a:prstDash val="solid"/>
        </a:ln>
        <a:ln w="9525"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Application>Microsoft Office PowerPoint</Application>
  <Slides>39</Slides>
  <Notes>39</Notes>
</Properties>
</file>

<file path=docProps/core.xml><?xml version="1.0" encoding="utf-8"?>
<cp:coreProperties xmlns:cp="http://schemas.openxmlformats.org/package/2006/metadata/core-properties" xmlns:dc="http://purl.org/dc/elements/1.1/">
  <dc:title>Point-Slope Form</dc:title>
  <dc:subject>Bluebonnet Algebra I</dc:subject>
</cp:coreProperties>
</file>