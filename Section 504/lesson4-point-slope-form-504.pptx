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and each day opens with bell work while you take attendance (slide 2 for Day 1, slide 24 for Day 2).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the skills today's lesson builds on: the slope formula, slope-intercept form, and distributing a negative, which students will need when they rewrite point-slope form. Reveal the answers one at a time. Watch #4: −2 times +3 is −6. Answer key: 1. Slope through (1, 3) and (4, 9): m = (9 − 3)/(4 − 1) = 6/3 = 2. 2. Slope and y-intercept of y = −3x + 5: m = −3, y-intercept (0, 5). 3. Line with slope 4 and y-intercept (0, −2): y = 4x − 2. 4. Distribute −2(x + 3): −2x − 6.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(SE p. 207): "In a horizontal line there is no change in the y-values as the x-values change. Therefore, the slope is 0. A horizontal line has zero steepness. In a vertical line there is no change in the x-values as the y-values change. Therefore, the slope is undefined. A vertical line has an undefined steepness." Offer HOY VUX as a memory aid. Return to the Essential Question and have students answer it in their notes. End of Day 1.</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reread the Essential Question. Ask two or three students to summarize Day 1: What is point-slope form? What do the equations of horizontal and vertical lines look like?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For #1, the signs flip: the point (3, −1) gives x − 3 and y + 1. For #3, distribute and add 5: y − 5 = 3x − 6, so y = 3x − 1. For #4, horizontal keeps the y-value (y = 8) and vertical keeps the x-value (x = −3): HOY VUX. Answer key: 1. Slope −4 through (3, −1): y + 1 = −4(x − 3). 2. Through (2, 5) and (4, 11): m = (11 − 5)/(4 − 2) = 3, so y − 5 = 3(x − 2). 3. #2 in slope-intercept form: y = 3x − 1. 4. Through (−3, 8): horizontal y = 8; vertical x = −3.</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Assign the homework after Day 1 or Day 2;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lesson4-bellwork-day1-504.html" TargetMode="External"/><Relationship Id="rId4" Type="http://schemas.openxmlformats.org/officeDocument/2006/relationships/hyperlink" Target="https://algebra1m2u1l4.vercel.app/Section 504/lesson4-bellwork-day2-504.html" TargetMode="External"/><Relationship Id="rId5" Type="http://schemas.openxmlformats.org/officeDocument/2006/relationships/hyperlink" Target="https://algebra1m2u1l4.vercel.app/Section 504/lesson4-homework-504.html" TargetMode="External"/><Relationship Id="rId6" Type="http://schemas.openxmlformats.org/officeDocument/2006/relationships/hyperlink" Target="https://algebra1m2u1l4.vercel.app/Section 504/lesson4-quiz-504.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hyperlink" Target="https://algebra1m2u1l4.vercel.app/Section 504/lesson4-homework-504.html" TargetMode="External"/><Relationship Id="rId4" Type="http://schemas.openxmlformats.org/officeDocument/2006/relationships/hyperlink" Target="https://algebra1m2u1l4.vercel.app/Section 504/lesson4-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 · Student Edition pp. 201–216</a:t>
            </a:r>
            <a:endParaRPr lang="en-US" sz="1200" dirty="0"/>
          </a:p>
        </p:txBody>
      </p:sp>
      <p:sp>
        <p:nvSpPr>
          <p:cNvPr id="3" name="Shape 3"/>
          <p:cNvSpPr txBox="1"/>
          <p:nvPr/>
        </p:nvSpPr>
        <p:spPr>
          <a:xfrm>
            <a:off x="685800" y="9616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0015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39707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b="1">
                <a:solidFill>
                  <a:srgbClr val="16171D"/>
                </a:solidFill>
                <a:latin typeface="Segoe UI"/>
                <a:cs typeface="Segoe UI"/>
              </a:rPr>
              <a:t xml:space="preserve">Section 504 Version</a:t>
            </a:r>
            <a:endParaRPr lang="en-US" sz="1800" dirty="0"/>
          </a:p>
        </p:txBody>
      </p:sp>
      <p:sp>
        <p:nvSpPr>
          <p:cNvPr id="6" name="Shape 6"/>
          <p:cNvSpPr txBox="1"/>
          <p:nvPr/>
        </p:nvSpPr>
        <p:spPr>
          <a:xfrm>
            <a:off x="685800" y="45285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7" name="Shape 7"/>
          <p:cNvSpPr txBox="1"/>
          <p:nvPr/>
        </p:nvSpPr>
        <p:spPr>
          <a:xfrm>
            <a:off x="685800" y="50292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through (1, 3) and (4, 9)?</a:t>
            </a:r>
            <a:endParaRPr lang="en-US" sz="1950" dirty="0"/>
          </a:p>
        </p:txBody>
      </p:sp>
      <p:sp>
        <p:nvSpPr>
          <p:cNvPr id="5" name="Shape 5"/>
          <p:cNvSpPr txBox="1"/>
          <p:nvPr/>
        </p:nvSpPr>
        <p:spPr>
          <a:xfrm>
            <a:off x="685800" y="216103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9 − 3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330098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7" name="Shape 7"/>
          <p:cNvSpPr txBox="1"/>
          <p:nvPr/>
        </p:nvSpPr>
        <p:spPr>
          <a:xfrm>
            <a:off x="685800" y="378637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(0, 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Line with slope 4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−2)?</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Distribute: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6362548"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Draining the Pool</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4.1: point-slope form</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4.2: horizontal and vertical lines</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201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7" name="Shape 7"/>
          <p:cNvSpPr txBox="1"/>
          <p:nvPr/>
        </p:nvSpPr>
        <p:spPr>
          <a:xfrm>
            <a:off x="685800"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 (</a:t>
            </a:r>
            <a:r>
              <a:rPr lang="en-US" sz="2100" dirty="0" b="1" i="1">
                <a:solidFill>
                  <a:srgbClr val="16171D"/>
                </a:solidFill>
                <a:latin typeface="Segoe UI"/>
                <a:cs typeface="Segoe UI"/>
              </a:rPr>
              <a:t xml:space="preserve">m</a:t>
            </a:r>
            <a:r>
              <a:rPr lang="en-US" sz="2100" dirty="0" b="1">
                <a:solidFill>
                  <a:srgbClr val="16171D"/>
                </a:solidFill>
                <a:latin typeface="Segoe UI"/>
                <a:cs typeface="Segoe UI"/>
              </a:rPr>
              <a:t xml:space="preserve">)</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How steep a line is: the 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divided by the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313029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rise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run</a:t>
            </a:r>
            <a:endParaRPr lang="en-US" sz="2325" dirty="0"/>
          </a:p>
        </p:txBody>
      </p:sp>
      <p:sp>
        <p:nvSpPr>
          <p:cNvPr id="11" name="Shape 11"/>
          <p:cNvSpPr txBox="1"/>
          <p:nvPr/>
        </p:nvSpPr>
        <p:spPr>
          <a:xfrm>
            <a:off x="4349648"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The point is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+ 5</a:t>
            </a:r>
            <a:r>
              <a:rPr lang="en-US" sz="2325" dirty="0">
                <a:solidFill>
                  <a:srgbClr val="16171D"/>
                </a:solidFill>
                <a:latin typeface="Cambria"/>
                <a:cs typeface="Cambria"/>
              </a:rPr>
              <a:t xml:space="preserve"> → (0, 5)</a:t>
            </a:r>
            <a:endParaRPr lang="en-US" sz="2325" dirty="0"/>
          </a:p>
        </p:txBody>
      </p:sp>
      <p:sp>
        <p:nvSpPr>
          <p:cNvPr id="15" name="Shape 15"/>
          <p:cNvSpPr txBox="1"/>
          <p:nvPr/>
        </p:nvSpPr>
        <p:spPr>
          <a:xfrm>
            <a:off x="8013497"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equation that uses the slope and </a:t>
            </a:r>
            <a:r>
              <a:rPr lang="en-US" sz="1575" dirty="0" b="1">
                <a:solidFill>
                  <a:srgbClr val="16171D"/>
                </a:solidFill>
                <a:latin typeface="Segoe UI"/>
                <a:cs typeface="Segoe UI"/>
              </a:rPr>
              <a:t xml:space="preserve">any</a:t>
            </a:r>
            <a:r>
              <a:rPr lang="en-US" sz="1575" dirty="0">
                <a:solidFill>
                  <a:srgbClr val="16171D"/>
                </a:solidFill>
                <a:latin typeface="Segoe UI"/>
                <a:cs typeface="Segoe UI"/>
              </a:rPr>
              <a:t xml:space="preserve"> point on the line.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19" name="Shape 19"/>
          <p:cNvSpPr txBox="1"/>
          <p:nvPr/>
        </p:nvSpPr>
        <p:spPr>
          <a:xfrm>
            <a:off x="685800" y="3882390"/>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line</a:t>
            </a:r>
            <a:endParaRPr lang="en-US" sz="2100" dirty="0"/>
          </a:p>
        </p:txBody>
      </p:sp>
      <p:sp>
        <p:nvSpPr>
          <p:cNvPr id="17" name="Shape 17"/>
          <p:cNvSpPr txBox="1"/>
          <p:nvPr/>
        </p:nvSpPr>
        <p:spPr>
          <a:xfrm>
            <a:off x="895350" y="45239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flat line. Slope is 0. The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a:t>
            </a:r>
            <a:endParaRPr lang="en-US" sz="1575" dirty="0"/>
          </a:p>
        </p:txBody>
      </p:sp>
      <p:sp>
        <p:nvSpPr>
          <p:cNvPr id="18" name="Shape 18"/>
          <p:cNvSpPr txBox="1"/>
          <p:nvPr/>
        </p:nvSpPr>
        <p:spPr>
          <a:xfrm>
            <a:off x="895350" y="51541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23" name="Shape 23"/>
          <p:cNvSpPr txBox="1"/>
          <p:nvPr/>
        </p:nvSpPr>
        <p:spPr>
          <a:xfrm>
            <a:off x="4349648" y="3882390"/>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Vertical line</a:t>
            </a:r>
            <a:endParaRPr lang="en-US" sz="2100" dirty="0"/>
          </a:p>
        </p:txBody>
      </p:sp>
      <p:sp>
        <p:nvSpPr>
          <p:cNvPr id="21" name="Shape 21"/>
          <p:cNvSpPr txBox="1"/>
          <p:nvPr/>
        </p:nvSpPr>
        <p:spPr>
          <a:xfrm>
            <a:off x="4559198" y="4523994"/>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straight up-and-down line. Slope is undefined. The equation 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a:t>
            </a:r>
            <a:endParaRPr lang="en-US" sz="1575" dirty="0"/>
          </a:p>
        </p:txBody>
      </p:sp>
      <p:sp>
        <p:nvSpPr>
          <p:cNvPr id="22" name="Shape 22"/>
          <p:cNvSpPr txBox="1"/>
          <p:nvPr/>
        </p:nvSpPr>
        <p:spPr>
          <a:xfrm>
            <a:off x="4559198" y="539419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27" name="Shape 27"/>
          <p:cNvSpPr txBox="1"/>
          <p:nvPr/>
        </p:nvSpPr>
        <p:spPr>
          <a:xfrm>
            <a:off x="8013497" y="3882390"/>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Constant function</a:t>
            </a:r>
            <a:endParaRPr lang="en-US" sz="2100" dirty="0"/>
          </a:p>
        </p:txBody>
      </p:sp>
      <p:sp>
        <p:nvSpPr>
          <p:cNvPr id="25" name="Shape 25"/>
          <p:cNvSpPr txBox="1"/>
          <p:nvPr/>
        </p:nvSpPr>
        <p:spPr>
          <a:xfrm>
            <a:off x="8223047" y="45239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output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the same number.</a:t>
            </a:r>
            <a:endParaRPr lang="en-US" sz="1575" dirty="0"/>
          </a:p>
        </p:txBody>
      </p:sp>
      <p:sp>
        <p:nvSpPr>
          <p:cNvPr id="26" name="Shape 26"/>
          <p:cNvSpPr txBox="1"/>
          <p:nvPr/>
        </p:nvSpPr>
        <p:spPr>
          <a:xfrm>
            <a:off x="8223047" y="51541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201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 · SE p. 206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958366"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br>
              <a:rPr lang="en-US" sz="1575" dirty="0">
                <a:solidFill>
                  <a:srgbClr val="16171D"/>
                </a:solidFill>
                <a:latin typeface="Segoe UI"/>
                <a:cs typeface="Segoe UI"/>
              </a:rPr>
            </a:b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 = Horizontal line · </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 zer</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slope ·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a:t>
            </a:r>
            <a:br>
              <a:rPr lang="en-US" sz="1575" dirty="0">
                <a:solidFill>
                  <a:srgbClr val="16171D"/>
                </a:solidFill>
                <a:latin typeface="Segoe UI"/>
                <a:cs typeface="Segoe UI"/>
              </a:rPr>
            </a:b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 = Vertical line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slope ·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7" name="Shape 7"/>
          <p:cNvSpPr txBox="1"/>
          <p:nvPr/>
        </p:nvSpPr>
        <p:spPr>
          <a:xfrm>
            <a:off x="685800"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5" name="Shape 5"/>
          <p:cNvSpPr txBox="1"/>
          <p:nvPr/>
        </p:nvSpPr>
        <p:spPr>
          <a:xfrm>
            <a:off x="895350"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6" name="Shape 6"/>
          <p:cNvSpPr txBox="1"/>
          <p:nvPr/>
        </p:nvSpPr>
        <p:spPr>
          <a:xfrm>
            <a:off x="895350"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 it when you know the slope and a point.</a:t>
            </a:r>
            <a:endParaRPr lang="en-US" sz="1575" dirty="0"/>
          </a:p>
        </p:txBody>
      </p:sp>
      <p:sp>
        <p:nvSpPr>
          <p:cNvPr id="11" name="Shape 11"/>
          <p:cNvSpPr txBox="1"/>
          <p:nvPr/>
        </p:nvSpPr>
        <p:spPr>
          <a:xfrm>
            <a:off x="4349648"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Change to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mx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a:t>
            </a:r>
            <a:endParaRPr lang="en-US" sz="2100" dirty="0"/>
          </a:p>
        </p:txBody>
      </p:sp>
      <p:sp>
        <p:nvSpPr>
          <p:cNvPr id="9" name="Shape 9"/>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Distribute the slope.</a:t>
            </a:r>
            <a:br>
              <a:rPr lang="en-US" sz="1575" dirty="0">
                <a:solidFill>
                  <a:srgbClr val="16171D"/>
                </a:solidFill>
                <a:latin typeface="Segoe UI"/>
                <a:cs typeface="Segoe UI"/>
              </a:rPr>
            </a:br>
            <a:r>
              <a:rPr lang="en-US" sz="1575" dirty="0">
                <a:solidFill>
                  <a:srgbClr val="16171D"/>
                </a:solidFill>
                <a:latin typeface="Segoe UI"/>
                <a:cs typeface="Segoe UI"/>
              </a:rPr>
              <a:t xml:space="preserve">2. Add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to both sides (or subtract).</a:t>
            </a:r>
            <a:endParaRPr lang="en-US" sz="1575" dirty="0"/>
          </a:p>
        </p:txBody>
      </p:sp>
      <p:sp>
        <p:nvSpPr>
          <p:cNvPr id="10" name="Shape 10"/>
          <p:cNvSpPr txBox="1"/>
          <p:nvPr/>
        </p:nvSpPr>
        <p:spPr>
          <a:xfrm>
            <a:off x="4559198" y="313029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4" name="Shape 14"/>
          <p:cNvSpPr txBox="1"/>
          <p:nvPr/>
        </p:nvSpPr>
        <p:spPr>
          <a:xfrm>
            <a:off x="8013497"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vs. vertical</a:t>
            </a:r>
            <a:endParaRPr lang="en-US" sz="2100" dirty="0"/>
          </a:p>
        </p:txBody>
      </p:sp>
      <p:sp>
        <p:nvSpPr>
          <p:cNvPr id="13" name="Shape 13"/>
          <p:cNvSpPr txBox="1"/>
          <p:nvPr/>
        </p:nvSpPr>
        <p:spPr>
          <a:xfrm>
            <a:off x="8223047" y="2580132"/>
            <a:ext cx="3073298" cy="125501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Horizontal:</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 slope 0.</a:t>
            </a:r>
            <a:br>
              <a:rPr lang="en-US" sz="1575" dirty="0">
                <a:solidFill>
                  <a:srgbClr val="16171D"/>
                </a:solidFill>
                <a:latin typeface="Segoe UI"/>
                <a:cs typeface="Segoe UI"/>
              </a:rPr>
            </a:br>
            <a:r>
              <a:rPr lang="en-US" sz="1575" dirty="0" b="1">
                <a:solidFill>
                  <a:srgbClr val="16171D"/>
                </a:solidFill>
                <a:latin typeface="Segoe UI"/>
                <a:cs typeface="Segoe UI"/>
              </a:rPr>
              <a:t xml:space="preserve">Vertical:</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 slope undefined.</a:t>
            </a:r>
            <a:br>
              <a:rPr lang="en-US" sz="1575" dirty="0">
                <a:solidFill>
                  <a:srgbClr val="16171D"/>
                </a:solidFill>
                <a:latin typeface="Segoe UI"/>
                <a:cs typeface="Segoe UI"/>
              </a:rPr>
            </a:br>
            <a:r>
              <a:rPr lang="en-US" sz="1575" dirty="0">
                <a:solidFill>
                  <a:srgbClr val="16171D"/>
                </a:solidFill>
                <a:latin typeface="Segoe UI"/>
                <a:cs typeface="Segoe UI"/>
              </a:rPr>
              <a:t xml:space="preserve">Memory trick: HOY VUX.</a:t>
            </a:r>
            <a:endParaRPr lang="en-US" sz="1575" dirty="0"/>
          </a:p>
        </p:txBody>
      </p:sp>
      <p:sp>
        <p:nvSpPr>
          <p:cNvPr id="15" name="Shape 15"/>
          <p:cNvSpPr txBox="1"/>
          <p:nvPr/>
        </p:nvSpPr>
        <p:spPr>
          <a:xfrm>
            <a:off x="685800" y="423672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Point-slope form: slope −4, through (3, −1)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4582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Point-slope form: through (2, 5) and (4, 11) </a:t>
            </a:r>
            <a:r>
              <a:rPr lang="en-US" sz="1575" dirty="0">
                <a:solidFill>
                  <a:srgbClr val="5F6272"/>
                </a:solidFill>
                <a:latin typeface="Segoe UI"/>
                <a:cs typeface="Segoe UI"/>
              </a:rPr>
              <a:t xml:space="preserve">(SE p. 204)</a:t>
            </a:r>
            <a:endParaRPr lang="en-US" sz="1950" dirty="0"/>
          </a:p>
        </p:txBody>
      </p:sp>
      <p:sp>
        <p:nvSpPr>
          <p:cNvPr id="7" name="Shape 7"/>
          <p:cNvSpPr txBox="1"/>
          <p:nvPr/>
        </p:nvSpPr>
        <p:spPr>
          <a:xfrm>
            <a:off x="685800" y="4026408"/>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Rewrite #2 in slope-intercept form. </a:t>
            </a:r>
            <a:r>
              <a:rPr lang="en-US" sz="1575" dirty="0">
                <a:solidFill>
                  <a:srgbClr val="5F6272"/>
                </a:solidFill>
                <a:latin typeface="Segoe UI"/>
                <a:cs typeface="Segoe UI"/>
              </a:rPr>
              <a:t xml:space="preserve">(SE p. 203)</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Horizontal and vertical lines through (−3, 8) </a:t>
            </a:r>
            <a:r>
              <a:rPr lang="en-US" sz="1575" dirty="0">
                <a:solidFill>
                  <a:srgbClr val="5F6272"/>
                </a:solidFill>
                <a:latin typeface="Segoe UI"/>
                <a:cs typeface="Segoe UI"/>
              </a:rPr>
              <a:t xml:space="preserve">(SE pp. 206–207)</a:t>
            </a:r>
            <a:endParaRPr lang="en-US" sz="1950" dirty="0"/>
          </a:p>
        </p:txBody>
      </p:sp>
      <p:sp>
        <p:nvSpPr>
          <p:cNvPr id="11" name="Shape 11"/>
          <p:cNvSpPr txBox="1"/>
          <p:nvPr/>
        </p:nvSpPr>
        <p:spPr>
          <a:xfrm>
            <a:off x="6362548" y="402640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4.3: match equations, graphs, tables and contexts</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 what each equation tells you</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 · SE p. 210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 · SE p. 210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7" name="Shape 7"/>
          <p:cNvSpPr txBox="1"/>
          <p:nvPr/>
        </p:nvSpPr>
        <p:spPr>
          <a:xfrm>
            <a:off x="685800" y="1618488"/>
            <a:ext cx="3492398" cy="1932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Read slope-intercept form</a:t>
            </a:r>
            <a:endParaRPr lang="en-US" sz="2100" dirty="0"/>
          </a:p>
        </p:txBody>
      </p:sp>
      <p:sp>
        <p:nvSpPr>
          <p:cNvPr id="5" name="Shape 5"/>
          <p:cNvSpPr txBox="1"/>
          <p:nvPr/>
        </p:nvSpPr>
        <p:spPr>
          <a:xfrm>
            <a:off x="895350" y="258013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a:t>
            </a:r>
            <a:endParaRPr lang="en-US" sz="2325" dirty="0"/>
          </a:p>
        </p:txBody>
      </p:sp>
      <p:sp>
        <p:nvSpPr>
          <p:cNvPr id="6" name="Shape 6"/>
          <p:cNvSpPr txBox="1"/>
          <p:nvPr/>
        </p:nvSpPr>
        <p:spPr>
          <a:xfrm>
            <a:off x="895350" y="308457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−4)</a:t>
            </a:r>
            <a:endParaRPr lang="en-US" sz="1575" dirty="0"/>
          </a:p>
        </p:txBody>
      </p:sp>
      <p:sp>
        <p:nvSpPr>
          <p:cNvPr id="11" name="Shape 11"/>
          <p:cNvSpPr txBox="1"/>
          <p:nvPr/>
        </p:nvSpPr>
        <p:spPr>
          <a:xfrm>
            <a:off x="4349648" y="1618488"/>
            <a:ext cx="3492398" cy="1932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Read point-slope form</a:t>
            </a:r>
            <a:endParaRPr lang="en-US" sz="2100" dirty="0"/>
          </a:p>
        </p:txBody>
      </p:sp>
      <p:sp>
        <p:nvSpPr>
          <p:cNvPr id="9" name="Shape 9"/>
          <p:cNvSpPr txBox="1"/>
          <p:nvPr/>
        </p:nvSpPr>
        <p:spPr>
          <a:xfrm>
            <a:off x="4559198"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0" name="Shape 10"/>
          <p:cNvSpPr txBox="1"/>
          <p:nvPr/>
        </p:nvSpPr>
        <p:spPr>
          <a:xfrm>
            <a:off x="4559198"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point (−1, 6). The signs </a:t>
            </a:r>
            <a:r>
              <a:rPr lang="en-US" sz="1575" dirty="0" b="1">
                <a:solidFill>
                  <a:srgbClr val="16171D"/>
                </a:solidFill>
                <a:latin typeface="Segoe UI"/>
                <a:cs typeface="Segoe UI"/>
              </a:rPr>
              <a:t xml:space="preserve">flip</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013497" y="1618488"/>
            <a:ext cx="3492398" cy="1932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 a story</a:t>
            </a:r>
            <a:endParaRPr lang="en-US" sz="2100" dirty="0"/>
          </a:p>
        </p:txBody>
      </p:sp>
      <p:sp>
        <p:nvSpPr>
          <p:cNvPr id="13" name="Shape 13"/>
          <p:cNvSpPr txBox="1"/>
          <p:nvPr/>
        </p:nvSpPr>
        <p:spPr>
          <a:xfrm>
            <a:off x="8223047" y="2260092"/>
            <a:ext cx="3073298" cy="101498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 the rate (per hour, per pound, per game).</a:t>
            </a:r>
            <a:br>
              <a:rPr lang="en-US" sz="1575" dirty="0">
                <a:solidFill>
                  <a:srgbClr val="16171D"/>
                </a:solidFill>
                <a:latin typeface="Segoe UI"/>
                <a:cs typeface="Segoe UI"/>
              </a:rPr>
            </a:b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 the starting amount.</a:t>
            </a:r>
            <a:endParaRPr lang="en-US" sz="1575" dirty="0"/>
          </a:p>
        </p:txBody>
      </p:sp>
      <p:sp>
        <p:nvSpPr>
          <p:cNvPr id="15" name="Shape 15"/>
          <p:cNvSpPr txBox="1"/>
          <p:nvPr/>
        </p:nvSpPr>
        <p:spPr>
          <a:xfrm>
            <a:off x="685800" y="37223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 </a:t>
            </a:r>
            <a:r>
              <a:rPr lang="en-US" sz="1575" dirty="0">
                <a:solidFill>
                  <a:srgbClr val="5F6272"/>
                </a:solidFill>
                <a:latin typeface="Segoe UI"/>
                <a:cs typeface="Segoe UI"/>
              </a:rPr>
              <a:t xml:space="preserve">(SE p. 203)</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 </a:t>
            </a:r>
            <a:r>
              <a:rPr lang="en-US" sz="1575" dirty="0">
                <a:solidFill>
                  <a:srgbClr val="5F6272"/>
                </a:solidFill>
                <a:latin typeface="Segoe UI"/>
                <a:cs typeface="Segoe UI"/>
              </a:rPr>
              <a:t xml:space="preserve">(SE p. 207)</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 · SE p. 216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Homework and Quiz</a:t>
            </a:r>
            <a:endParaRPr lang="en-US" sz="3450" dirty="0"/>
          </a:p>
        </p:txBody>
      </p:sp>
      <p:sp>
        <p:nvSpPr>
          <p:cNvPr id="6" name="Shape 6"/>
          <p:cNvSpPr txBox="1"/>
          <p:nvPr/>
        </p:nvSpPr>
        <p:spPr>
          <a:xfrm>
            <a:off x="685800"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3"/>
              </a:rPr>
              <a:t xml:space="preserve">Homework →</a:t>
            </a:r>
            <a:endParaRPr lang="en-US" sz="2100" dirty="0"/>
          </a:p>
        </p:txBody>
      </p:sp>
      <p:sp>
        <p:nvSpPr>
          <p:cNvPr id="5" name="Shape 5"/>
          <p:cNvSpPr txBox="1"/>
          <p:nvPr/>
        </p:nvSpPr>
        <p:spPr>
          <a:xfrm>
            <a:off x="895350"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9" name="Shape 9"/>
          <p:cNvSpPr txBox="1"/>
          <p:nvPr/>
        </p:nvSpPr>
        <p:spPr>
          <a:xfrm>
            <a:off x="6267298"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76848"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4"/>
              </a:rPr>
              <a:t xml:space="preserve">Quiz →</a:t>
            </a:r>
            <a:endParaRPr lang="en-US" sz="2100" dirty="0"/>
          </a:p>
        </p:txBody>
      </p:sp>
      <p:sp>
        <p:nvSpPr>
          <p:cNvPr id="8" name="Shape 8"/>
          <p:cNvSpPr txBox="1"/>
          <p:nvPr/>
        </p:nvSpPr>
        <p:spPr>
          <a:xfrm>
            <a:off x="6476848"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0" name="Shape 10"/>
          <p:cNvSpPr txBox="1"/>
          <p:nvPr/>
        </p:nvSpPr>
        <p:spPr>
          <a:xfrm>
            <a:off x="685800" y="338556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Both are multiple choice and cover SE pp. 203–207 and the Lesson 4 Assignment (SE pp. 215–216).</a:t>
            </a:r>
            <a:endParaRPr lang="en-US" sz="1575" dirty="0"/>
          </a:p>
        </p:txBody>
      </p:sp>
    </p:spTree>
  </p:cSld>
  <p:clrMapOvr>
    <a:masterClrMapping/>
  </p:clrMapOvr>
  <p:transition spd="med">
    <p:fade/>
  </p:transition>
</p:sld>
</file>

<file path=ppt/theme/theme1.xml><?xml version="1.0" encoding="utf-8"?>
<a:theme xmlns:a="http://schemas.openxmlformats.org/drawingml/2006/main" name="Point-Slope Form">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39</Slides>
  <Notes>39</Notes>
</Properties>
</file>

<file path=docProps/core.xml><?xml version="1.0" encoding="utf-8"?>
<cp:coreProperties xmlns:cp="http://schemas.openxmlformats.org/package/2006/metadata/core-properties" xmlns:dc="http://purl.org/dc/elements/1.1/">
  <dc:title>Point-Slope Form</dc:title>
  <dc:subject>Bluebonnet Algebra I</dc:subject>
</cp:coreProperties>
</file>