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the catch-up day; not from the textbook. The class finished Activity 1.1, so this one class covers only the starred activities left in Lessons 1 and 2. Skip Activity 1.5 and both Talk the Talks; they are not on the test. Keep each part to its time: show the slide, do one example together, move on. The homework tonight practices the same skills in the test's style.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1 bell work. Reveal the answers one at a time. Answer key: 1. Subtracting from the output is a vertical translation down 3. 2. In y = mx + b, m is the slope. 3. Set g(x) = 0: 3x − 8 = 0, so x = 8/3. 4. Replace f(x) with x: g(x) = 2x − 3, a vertical dilation by 2 and a translation down 3.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1.2, 15–20 minutes. The a's cancel, so the slopes are the same: the image is parallel to the pre-image. Ask: Why did the x-coordinates stay the same? (A vertical translation moves only up or down.)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3 has no single answer: let students defend the method they prefer. Catalina thinks in translations; James uses the slope and a point.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copy the definition. Watch for students who say the slope 'increases' when a = −3: it gets steeper, but the slope is −3.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close Day 2, have students reread the Essential Question. End of Day 2.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1.4, 20 minutes. To graph g(x), start at the y-intercept (0, d) and use the slope a. Teacher-guide note: the slide numbers two items 'a.' in the student slides; they are b and e. Ask: Which number tells you the slope? Which tells you the y-intercept?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2.1, 30–35 minutes. A horizontal translation left 3 subtracts 3 from each input value; the outputs stay the same.Ask: Which values were affected? (Left 3 changed the inputs; up 3 changed the outputs.)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the sign: f(x − 3) moves right 3, f(x + 3) moves left 3.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of Day 1.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2.2, 15–20 minutes. Changing the inputs by a factor of 1/2 is a horizontal compression: each point moves halfway to the y-axis.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2.3, 15–20 minutes. Graph each g(x) on the grids in the book: plot the y-intercept and use the slope. Slide typo in the student slides: items 2, 3, 5 and 6 are numbered '1.'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answer on paper, then click to reveal each answer. Anyone who misses question 3 needs the inside/outside rule again tomorrow during bell work.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homework pages grade themselves and explain each answer.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algebra1m2u1l4.vercel.app/Section 504/t2-lesson1-homework-504.html" TargetMode="External"/><Relationship Id="rId4" Type="http://schemas.openxmlformats.org/officeDocument/2006/relationships/hyperlink" Target="https://algebra1m2u1l4.vercel.app/Section 504/t2-lesson2-homework-504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Day · Monday, October 26 · Topic 2 Lessons 1–2 · Section 504 Version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Today: the essentials of Lessons 1 and 2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94688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Cambria"/>
                <a:cs typeface="Cambria"/>
              </a:rPr>
              <a:t xml:space="preserve">5 min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2007108" y="1694688"/>
            <a:ext cx="10722102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Bell work while you take attendance (Lesson 2, Day 1)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138172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Cambria"/>
                <a:cs typeface="Cambria"/>
              </a:rPr>
              <a:t xml:space="preserve">10 min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2007108" y="2138172"/>
            <a:ext cx="10722102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Lesson 1: parallel lines (1.2) and vertical dilations (1.3) ★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2581656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Cambria"/>
                <a:cs typeface="Cambria"/>
              </a:rPr>
              <a:t xml:space="preserve">7 min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2007108" y="2581656"/>
            <a:ext cx="10722102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Lesson 1: both at once,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+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(1.4) ★</a:t>
            </a: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3025140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Cambria"/>
                <a:cs typeface="Cambria"/>
              </a:rPr>
              <a:t xml:space="preserve">15 min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2007108" y="3025140"/>
            <a:ext cx="10722102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Lesson 2: horizontal translations and dilations, inside vs. outside (2.1–2.3) ★</a:t>
            </a: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685800" y="3468624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Cambria"/>
                <a:cs typeface="Cambria"/>
              </a:rPr>
              <a:t xml:space="preserve">8 min</a:t>
            </a:r>
            <a:endParaRPr lang="en-US" sz="1950" dirty="0"/>
          </a:p>
        </p:txBody>
      </p:sp>
      <p:sp>
        <p:nvSpPr>
          <p:cNvPr id="13" name="Shape 13"/>
          <p:cNvSpPr txBox="1"/>
          <p:nvPr/>
        </p:nvSpPr>
        <p:spPr>
          <a:xfrm>
            <a:off x="2007108" y="3468624"/>
            <a:ext cx="10722102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Exit check, then homework</a:t>
            </a:r>
            <a:endParaRPr lang="en-US" sz="1950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4216908"/>
            <a:ext cx="10820095" cy="5577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★ = essential in the 150-day pacing guide. Lesson 3 starts tomorrow; the Topic 2 test is Tuesday, November 3.</a:t>
            </a:r>
            <a:endParaRPr lang="en-US" sz="1650" dirty="0"/>
          </a:p>
        </p:txBody>
      </p:sp>
      <p:sp>
        <p:nvSpPr>
          <p:cNvPr id="15" name="Slide Number 1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2 · Day 1 · Bell Work · Review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− 3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How does the graph move?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58212"/>
            <a:ext cx="3902979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Down 3 units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24383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What is the slope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− 8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288)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026408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What is the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− 8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288)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458212"/>
            <a:ext cx="323967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(8/3, 0)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3243834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Let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− 3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Which is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in slope-intercept form?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280)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4323588"/>
            <a:ext cx="406880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− 3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1 · Activity 1.2 · Slopes of Parallel Lines · SE p. 275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Will the graphs of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ever intersect?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4892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− 1 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endParaRPr lang="en-US" sz="28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79142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No. Both lines have slope 2 and stay 4 units apart, so they are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4548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Prove it for any line. Translate line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AB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up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units to make line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A′B′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68980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Pre-image: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₁,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₁)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₂,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₂)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65912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Image: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′(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₁,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₁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′(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₂,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₂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3268980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of the image: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286348" y="3659124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₂ +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− 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₁ +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)) ÷ 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₂ −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₁)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6286348" y="4163568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= 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₂ −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₁) ÷ 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₂ −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₁)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1 · Activity 1.2 · Questions 3–4 · SE p. 276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Write the equation of a parallel line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521954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Catalina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0044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Parallel to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½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(2, 9): the point on the line at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2 is (2, 4), so translate up 5.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1618488"/>
            <a:ext cx="52195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495898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James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6495898" y="2260092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Use the slope ½ and the point (2, 9):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9 = ½(2)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so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8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3377946"/>
            <a:ext cx="357132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½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+ 8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406831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Now you: parallel to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−3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(−1, 5)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685800" y="4591812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Parallel, so the slope is −3: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5 = −3(−1)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so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5058156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endParaRPr lang="en-US" sz="2325" dirty="0"/>
          </a:p>
        </p:txBody>
      </p:sp>
      <p:sp>
        <p:nvSpPr>
          <p:cNvPr id="14" name="Slide Number 1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1 · Activity 1.3 · Definition · SE p. 279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Vertical dilation: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|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| &gt; 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: the graph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stretches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vertically (steeper).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39162"/>
            <a:ext cx="52195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0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|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|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: it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compresses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vertically (less steep).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259836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0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: it also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reflects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across the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-axis.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783330"/>
            <a:ext cx="52195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the new slope is </a:t>
            </a:r>
            <a:r>
              <a:rPr lang="en-US" sz="1950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; the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stays (0, 0).</a:t>
            </a:r>
            <a:endParaRPr lang="en-US" sz="1950" dirty="0"/>
          </a:p>
        </p:txBody>
      </p:sp>
      <p:sp>
        <p:nvSpPr>
          <p:cNvPr id="8" name="Shape 8"/>
          <p:cNvSpPr/>
          <p:nvPr/>
        </p:nvSpPr>
        <p:spPr>
          <a:xfrm>
            <a:off x="6286348" y="1618488"/>
            <a:ext cx="3143250" cy="3143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9" name="Line 9"/>
          <p:cNvCxnSpPr/>
          <p:nvPr/>
        </p:nvCxnSpPr>
        <p:spPr>
          <a:xfrm>
            <a:off x="66101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683562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706104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728647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75118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773732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796274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818817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84135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863902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886444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908987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93152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6610198" y="45140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6610198" y="428231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6610198" y="40505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6610198" y="381876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6610198" y="35869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6610198" y="335521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6610198" y="31234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6610198" y="289166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6610198" y="26598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6610198" y="242811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6610198" y="21963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6610198" y="1964563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6610198" y="17327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7962748" y="1732788"/>
            <a:ext cx="0" cy="278130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6610198" y="3123438"/>
            <a:ext cx="270510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37" name="Shape 37"/>
          <p:cNvSpPr txBox="1"/>
          <p:nvPr/>
        </p:nvSpPr>
        <p:spPr>
          <a:xfrm>
            <a:off x="63358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678672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72375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40" name="Shape 40"/>
          <p:cNvSpPr txBox="1"/>
          <p:nvPr/>
        </p:nvSpPr>
        <p:spPr>
          <a:xfrm>
            <a:off x="768842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1" name="Shape 41"/>
          <p:cNvSpPr txBox="1"/>
          <p:nvPr/>
        </p:nvSpPr>
        <p:spPr>
          <a:xfrm>
            <a:off x="81392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859012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90409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6043270" y="44226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6043270" y="39590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6043270" y="34955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6043270" y="30319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6043270" y="25684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6043270" y="21048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50" name="Shape 50"/>
          <p:cNvSpPr txBox="1"/>
          <p:nvPr/>
        </p:nvSpPr>
        <p:spPr>
          <a:xfrm>
            <a:off x="6043270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cxnSp>
        <p:nvCxnSpPr>
          <p:cNvPr id="51" name="Line 51"/>
          <p:cNvCxnSpPr/>
          <p:nvPr/>
        </p:nvCxnSpPr>
        <p:spPr>
          <a:xfrm flipV="1">
            <a:off x="6610198" y="1732788"/>
            <a:ext cx="2705100" cy="278130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52" name="Shape 52"/>
          <p:cNvSpPr txBox="1"/>
          <p:nvPr/>
        </p:nvSpPr>
        <p:spPr>
          <a:xfrm>
            <a:off x="6823558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275" dirty="0"/>
          </a:p>
        </p:txBody>
      </p:sp>
      <p:cxnSp>
        <p:nvCxnSpPr>
          <p:cNvPr id="53" name="Line 53"/>
          <p:cNvCxnSpPr/>
          <p:nvPr/>
        </p:nvCxnSpPr>
        <p:spPr>
          <a:xfrm flipV="1">
            <a:off x="7624610" y="1732788"/>
            <a:ext cx="676275" cy="2781300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54" name="Shape 54"/>
          <p:cNvSpPr txBox="1"/>
          <p:nvPr/>
        </p:nvSpPr>
        <p:spPr>
          <a:xfrm>
            <a:off x="5809145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4f(x)</a:t>
            </a:r>
            <a:endParaRPr lang="en-US" sz="1275" dirty="0"/>
          </a:p>
        </p:txBody>
      </p:sp>
      <p:cxnSp>
        <p:nvCxnSpPr>
          <p:cNvPr id="55" name="Line 55"/>
          <p:cNvCxnSpPr/>
          <p:nvPr/>
        </p:nvCxnSpPr>
        <p:spPr>
          <a:xfrm flipV="1">
            <a:off x="6610198" y="2196338"/>
            <a:ext cx="2705100" cy="1854200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56" name="Shape 56"/>
          <p:cNvSpPr txBox="1"/>
          <p:nvPr/>
        </p:nvSpPr>
        <p:spPr>
          <a:xfrm>
            <a:off x="6823558" y="221538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⅔f(x)</a:t>
            </a:r>
            <a:endParaRPr lang="en-US" sz="1275" dirty="0"/>
          </a:p>
        </p:txBody>
      </p:sp>
      <p:sp>
        <p:nvSpPr>
          <p:cNvPr id="57" name="Slide Number 5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1 · Summary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Translations vs. dilations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52195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Translation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+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Moves the line up or down. Same slope; new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-intercept. Parallel lines.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1618488"/>
            <a:ext cx="52195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495898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Dilation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6495898" y="2260092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Stretches, compresses or reflects. New slope; for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stays (0, 0).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313791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Parallel line through a point: keep the slope, then find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with the point.</a:t>
            </a:r>
            <a:endParaRPr lang="en-US" sz="1575" dirty="0"/>
          </a:p>
        </p:txBody>
      </p:sp>
      <p:sp>
        <p:nvSpPr>
          <p:cNvPr id="11" name="Slide Number 11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1 · Activity 1.4 · Graphing Linear Transformations · SE pp. 280–281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Describe each transformation of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, then graph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144268"/>
            <a:ext cx="3492398" cy="1722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231571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+ 7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78587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Stretch by 2, then up 7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3176016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+ 7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4349648" y="2144268"/>
            <a:ext cx="3492398" cy="1722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231571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− 1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278587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Stretch by 3, then down 1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559198" y="3176016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− 1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8013497" y="2144268"/>
            <a:ext cx="3492398" cy="1722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8223047" y="231571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⅓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+ 2</a:t>
            </a:r>
            <a:endParaRPr lang="en-US" sz="2100" dirty="0"/>
          </a:p>
        </p:txBody>
      </p:sp>
      <p:sp>
        <p:nvSpPr>
          <p:cNvPr id="13" name="Shape 13"/>
          <p:cNvSpPr txBox="1"/>
          <p:nvPr/>
        </p:nvSpPr>
        <p:spPr>
          <a:xfrm>
            <a:off x="8223047" y="278587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Compress by ⅓, then up 2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8223047" y="3176016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⅓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endParaRPr lang="en-US" sz="2325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999738"/>
            <a:ext cx="3492398" cy="1962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895350" y="417118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½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− 3</a:t>
            </a:r>
            <a:endParaRPr lang="en-US" sz="2100" dirty="0"/>
          </a:p>
        </p:txBody>
      </p:sp>
      <p:sp>
        <p:nvSpPr>
          <p:cNvPr id="17" name="Shape 17"/>
          <p:cNvSpPr txBox="1"/>
          <p:nvPr/>
        </p:nvSpPr>
        <p:spPr>
          <a:xfrm>
            <a:off x="895350" y="464134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Compress by ½, then down 3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895350" y="5031486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½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− 3</a:t>
            </a:r>
            <a:endParaRPr lang="en-US" sz="2325" dirty="0"/>
          </a:p>
        </p:txBody>
      </p:sp>
      <p:sp>
        <p:nvSpPr>
          <p:cNvPr id="23" name="Shape 23"/>
          <p:cNvSpPr txBox="1"/>
          <p:nvPr/>
        </p:nvSpPr>
        <p:spPr>
          <a:xfrm>
            <a:off x="4349648" y="3999738"/>
            <a:ext cx="3492398" cy="1962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0" name="Shape 20"/>
          <p:cNvSpPr txBox="1"/>
          <p:nvPr/>
        </p:nvSpPr>
        <p:spPr>
          <a:xfrm>
            <a:off x="4559198" y="417118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−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− 4</a:t>
            </a:r>
            <a:endParaRPr lang="en-US" sz="2100" dirty="0"/>
          </a:p>
        </p:txBody>
      </p:sp>
      <p:sp>
        <p:nvSpPr>
          <p:cNvPr id="21" name="Shape 21"/>
          <p:cNvSpPr txBox="1"/>
          <p:nvPr/>
        </p:nvSpPr>
        <p:spPr>
          <a:xfrm>
            <a:off x="4559198" y="464134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Reflect across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-axis, then down 4</a:t>
            </a:r>
            <a:endParaRPr lang="en-US" sz="1575" dirty="0"/>
          </a:p>
        </p:txBody>
      </p:sp>
      <p:sp>
        <p:nvSpPr>
          <p:cNvPr id="22" name="Shape 22"/>
          <p:cNvSpPr txBox="1"/>
          <p:nvPr/>
        </p:nvSpPr>
        <p:spPr>
          <a:xfrm>
            <a:off x="4559198" y="5271516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− 4</a:t>
            </a:r>
            <a:endParaRPr lang="en-US" sz="2325" dirty="0"/>
          </a:p>
        </p:txBody>
      </p:sp>
      <p:sp>
        <p:nvSpPr>
          <p:cNvPr id="27" name="Shape 27"/>
          <p:cNvSpPr txBox="1"/>
          <p:nvPr/>
        </p:nvSpPr>
        <p:spPr>
          <a:xfrm>
            <a:off x="8013497" y="3999738"/>
            <a:ext cx="3492398" cy="1962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4" name="Shape 24"/>
          <p:cNvSpPr txBox="1"/>
          <p:nvPr/>
        </p:nvSpPr>
        <p:spPr>
          <a:xfrm>
            <a:off x="8223047" y="417118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−⅔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+ 5</a:t>
            </a:r>
            <a:endParaRPr lang="en-US" sz="2100" dirty="0"/>
          </a:p>
        </p:txBody>
      </p:sp>
      <p:sp>
        <p:nvSpPr>
          <p:cNvPr id="25" name="Shape 25"/>
          <p:cNvSpPr txBox="1"/>
          <p:nvPr/>
        </p:nvSpPr>
        <p:spPr>
          <a:xfrm>
            <a:off x="8223047" y="464134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Reflect and compress by ⅔, then up 5</a:t>
            </a:r>
            <a:endParaRPr lang="en-US" sz="1575" dirty="0"/>
          </a:p>
        </p:txBody>
      </p:sp>
      <p:sp>
        <p:nvSpPr>
          <p:cNvPr id="26" name="Shape 26"/>
          <p:cNvSpPr txBox="1"/>
          <p:nvPr/>
        </p:nvSpPr>
        <p:spPr>
          <a:xfrm>
            <a:off x="8223047" y="5271516"/>
            <a:ext cx="307329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−⅔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2325" dirty="0"/>
          </a:p>
        </p:txBody>
      </p:sp>
      <p:sp>
        <p:nvSpPr>
          <p:cNvPr id="28" name="Slide Number 2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7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2 · Activity 2.1 · Comparing Vertical and Horizontal Translations · SE pp. 289–290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Translate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left 3, then up 3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33526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Left 3: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+ 3)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1828800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t(x)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−5</a:t>
            </a:r>
            <a:endParaRPr lang="en-US" sz="1650" dirty="0"/>
          </a:p>
        </p:txBody>
      </p:sp>
      <p:sp>
        <p:nvSpPr>
          <p:cNvPr id="9" name="Shape 9"/>
          <p:cNvSpPr txBox="1"/>
          <p:nvPr/>
        </p:nvSpPr>
        <p:spPr>
          <a:xfrm>
            <a:off x="1828800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0" name="Shape 10"/>
          <p:cNvSpPr txBox="1"/>
          <p:nvPr/>
        </p:nvSpPr>
        <p:spPr>
          <a:xfrm>
            <a:off x="1828800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2" name="Shape 12"/>
          <p:cNvSpPr txBox="1"/>
          <p:nvPr/>
        </p:nvSpPr>
        <p:spPr>
          <a:xfrm>
            <a:off x="685800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−4</a:t>
            </a:r>
            <a:endParaRPr lang="en-US" sz="1650" dirty="0"/>
          </a:p>
        </p:txBody>
      </p:sp>
      <p:sp>
        <p:nvSpPr>
          <p:cNvPr id="13" name="Shape 13"/>
          <p:cNvSpPr txBox="1"/>
          <p:nvPr/>
        </p:nvSpPr>
        <p:spPr>
          <a:xfrm>
            <a:off x="1828800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4" name="Shape 14"/>
          <p:cNvSpPr txBox="1"/>
          <p:nvPr/>
        </p:nvSpPr>
        <p:spPr>
          <a:xfrm>
            <a:off x="1828800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15" name="Shape 15"/>
          <p:cNvSpPr txBox="1"/>
          <p:nvPr/>
        </p:nvSpPr>
        <p:spPr>
          <a:xfrm>
            <a:off x="685800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−3</a:t>
            </a:r>
            <a:endParaRPr lang="en-US" sz="1650" dirty="0"/>
          </a:p>
        </p:txBody>
      </p:sp>
      <p:sp>
        <p:nvSpPr>
          <p:cNvPr id="17" name="Shape 17"/>
          <p:cNvSpPr txBox="1"/>
          <p:nvPr/>
        </p:nvSpPr>
        <p:spPr>
          <a:xfrm>
            <a:off x="1828800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8" name="Shape 18"/>
          <p:cNvSpPr txBox="1"/>
          <p:nvPr/>
        </p:nvSpPr>
        <p:spPr>
          <a:xfrm>
            <a:off x="1828800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0" name="Shape 20"/>
          <p:cNvSpPr txBox="1"/>
          <p:nvPr/>
        </p:nvSpPr>
        <p:spPr>
          <a:xfrm>
            <a:off x="685800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21" name="Shape 21"/>
          <p:cNvSpPr txBox="1"/>
          <p:nvPr/>
        </p:nvSpPr>
        <p:spPr>
          <a:xfrm>
            <a:off x="1828800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2" name="Shape 22"/>
          <p:cNvSpPr txBox="1"/>
          <p:nvPr/>
        </p:nvSpPr>
        <p:spPr>
          <a:xfrm>
            <a:off x="1828800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23" name="Shape 23"/>
          <p:cNvSpPr txBox="1"/>
          <p:nvPr/>
        </p:nvSpPr>
        <p:spPr>
          <a:xfrm>
            <a:off x="685800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4" name="Shape 24"/>
          <p:cNvSpPr txBox="1"/>
          <p:nvPr/>
        </p:nvSpPr>
        <p:spPr>
          <a:xfrm>
            <a:off x="685800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25" name="Shape 25"/>
          <p:cNvSpPr txBox="1"/>
          <p:nvPr/>
        </p:nvSpPr>
        <p:spPr>
          <a:xfrm>
            <a:off x="1828800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6" name="Shape 26"/>
          <p:cNvSpPr txBox="1"/>
          <p:nvPr/>
        </p:nvSpPr>
        <p:spPr>
          <a:xfrm>
            <a:off x="1828800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27" name="Shape 27"/>
          <p:cNvSpPr txBox="1"/>
          <p:nvPr/>
        </p:nvSpPr>
        <p:spPr>
          <a:xfrm>
            <a:off x="685800" y="4490466"/>
            <a:ext cx="33526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inputs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change.</a:t>
            </a:r>
            <a:endParaRPr lang="en-US" sz="1575" dirty="0"/>
          </a:p>
        </p:txBody>
      </p:sp>
      <p:sp>
        <p:nvSpPr>
          <p:cNvPr id="28" name="Shape 28"/>
          <p:cNvSpPr txBox="1"/>
          <p:nvPr/>
        </p:nvSpPr>
        <p:spPr>
          <a:xfrm>
            <a:off x="4419498" y="1618488"/>
            <a:ext cx="33526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Up 3: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+ 3</a:t>
            </a:r>
            <a:endParaRPr lang="en-US" sz="1575" dirty="0"/>
          </a:p>
        </p:txBody>
      </p:sp>
      <p:sp>
        <p:nvSpPr>
          <p:cNvPr id="29" name="Shape 29"/>
          <p:cNvSpPr txBox="1"/>
          <p:nvPr/>
        </p:nvSpPr>
        <p:spPr>
          <a:xfrm>
            <a:off x="4419498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30" name="Shape 30"/>
          <p:cNvSpPr txBox="1"/>
          <p:nvPr/>
        </p:nvSpPr>
        <p:spPr>
          <a:xfrm>
            <a:off x="5562498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w(x)</a:t>
            </a:r>
            <a:endParaRPr lang="en-US" sz="1650" dirty="0"/>
          </a:p>
        </p:txBody>
      </p:sp>
      <p:sp>
        <p:nvSpPr>
          <p:cNvPr id="31" name="Shape 31"/>
          <p:cNvSpPr txBox="1"/>
          <p:nvPr/>
        </p:nvSpPr>
        <p:spPr>
          <a:xfrm>
            <a:off x="4419498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2" name="Shape 32"/>
          <p:cNvSpPr txBox="1"/>
          <p:nvPr/>
        </p:nvSpPr>
        <p:spPr>
          <a:xfrm>
            <a:off x="4419498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33" name="Shape 33"/>
          <p:cNvSpPr txBox="1"/>
          <p:nvPr/>
        </p:nvSpPr>
        <p:spPr>
          <a:xfrm>
            <a:off x="5562498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4" name="Shape 34"/>
          <p:cNvSpPr txBox="1"/>
          <p:nvPr/>
        </p:nvSpPr>
        <p:spPr>
          <a:xfrm>
            <a:off x="5562498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35" name="Shape 35"/>
          <p:cNvSpPr txBox="1"/>
          <p:nvPr/>
        </p:nvSpPr>
        <p:spPr>
          <a:xfrm>
            <a:off x="4419498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6" name="Shape 36"/>
          <p:cNvSpPr txBox="1"/>
          <p:nvPr/>
        </p:nvSpPr>
        <p:spPr>
          <a:xfrm>
            <a:off x="4419498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37" name="Shape 37"/>
          <p:cNvSpPr txBox="1"/>
          <p:nvPr/>
        </p:nvSpPr>
        <p:spPr>
          <a:xfrm>
            <a:off x="5562498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8" name="Shape 38"/>
          <p:cNvSpPr txBox="1"/>
          <p:nvPr/>
        </p:nvSpPr>
        <p:spPr>
          <a:xfrm>
            <a:off x="5562498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39" name="Shape 39"/>
          <p:cNvSpPr txBox="1"/>
          <p:nvPr/>
        </p:nvSpPr>
        <p:spPr>
          <a:xfrm>
            <a:off x="4419498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0" name="Shape 40"/>
          <p:cNvSpPr txBox="1"/>
          <p:nvPr/>
        </p:nvSpPr>
        <p:spPr>
          <a:xfrm>
            <a:off x="4419498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41" name="Shape 41"/>
          <p:cNvSpPr txBox="1"/>
          <p:nvPr/>
        </p:nvSpPr>
        <p:spPr>
          <a:xfrm>
            <a:off x="5562498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2" name="Shape 42"/>
          <p:cNvSpPr txBox="1"/>
          <p:nvPr/>
        </p:nvSpPr>
        <p:spPr>
          <a:xfrm>
            <a:off x="5562498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1650" dirty="0"/>
          </a:p>
        </p:txBody>
      </p:sp>
      <p:sp>
        <p:nvSpPr>
          <p:cNvPr id="43" name="Shape 43"/>
          <p:cNvSpPr txBox="1"/>
          <p:nvPr/>
        </p:nvSpPr>
        <p:spPr>
          <a:xfrm>
            <a:off x="4419498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4" name="Shape 44"/>
          <p:cNvSpPr txBox="1"/>
          <p:nvPr/>
        </p:nvSpPr>
        <p:spPr>
          <a:xfrm>
            <a:off x="4419498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45" name="Shape 45"/>
          <p:cNvSpPr txBox="1"/>
          <p:nvPr/>
        </p:nvSpPr>
        <p:spPr>
          <a:xfrm>
            <a:off x="5562498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6" name="Shape 46"/>
          <p:cNvSpPr txBox="1"/>
          <p:nvPr/>
        </p:nvSpPr>
        <p:spPr>
          <a:xfrm>
            <a:off x="5562498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650" dirty="0"/>
          </a:p>
        </p:txBody>
      </p:sp>
      <p:sp>
        <p:nvSpPr>
          <p:cNvPr id="47" name="Shape 47"/>
          <p:cNvSpPr txBox="1"/>
          <p:nvPr/>
        </p:nvSpPr>
        <p:spPr>
          <a:xfrm>
            <a:off x="4419498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8" name="Shape 48"/>
          <p:cNvSpPr txBox="1"/>
          <p:nvPr/>
        </p:nvSpPr>
        <p:spPr>
          <a:xfrm>
            <a:off x="4419498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49" name="Shape 49"/>
          <p:cNvSpPr txBox="1"/>
          <p:nvPr/>
        </p:nvSpPr>
        <p:spPr>
          <a:xfrm>
            <a:off x="5562498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50" name="Shape 50"/>
          <p:cNvSpPr txBox="1"/>
          <p:nvPr/>
        </p:nvSpPr>
        <p:spPr>
          <a:xfrm>
            <a:off x="5562498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5</a:t>
            </a:r>
            <a:endParaRPr lang="en-US" sz="1650" dirty="0"/>
          </a:p>
        </p:txBody>
      </p:sp>
      <p:sp>
        <p:nvSpPr>
          <p:cNvPr id="51" name="Shape 51"/>
          <p:cNvSpPr txBox="1"/>
          <p:nvPr/>
        </p:nvSpPr>
        <p:spPr>
          <a:xfrm>
            <a:off x="4419498" y="4490466"/>
            <a:ext cx="33526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outputs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change.</a:t>
            </a:r>
            <a:endParaRPr lang="en-US" sz="1575" dirty="0"/>
          </a:p>
        </p:txBody>
      </p:sp>
      <p:sp>
        <p:nvSpPr>
          <p:cNvPr id="52" name="Shape 52"/>
          <p:cNvSpPr/>
          <p:nvPr/>
        </p:nvSpPr>
        <p:spPr>
          <a:xfrm>
            <a:off x="8153197" y="1618488"/>
            <a:ext cx="3048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53" name="Line 53"/>
          <p:cNvCxnSpPr/>
          <p:nvPr/>
        </p:nvCxnSpPr>
        <p:spPr>
          <a:xfrm>
            <a:off x="8477047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4" name="Line 54"/>
          <p:cNvCxnSpPr/>
          <p:nvPr/>
        </p:nvCxnSpPr>
        <p:spPr>
          <a:xfrm>
            <a:off x="8694534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5" name="Line 55"/>
          <p:cNvCxnSpPr/>
          <p:nvPr/>
        </p:nvCxnSpPr>
        <p:spPr>
          <a:xfrm>
            <a:off x="8912022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6" name="Line 56"/>
          <p:cNvCxnSpPr/>
          <p:nvPr/>
        </p:nvCxnSpPr>
        <p:spPr>
          <a:xfrm>
            <a:off x="9129509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7" name="Line 57"/>
          <p:cNvCxnSpPr/>
          <p:nvPr/>
        </p:nvCxnSpPr>
        <p:spPr>
          <a:xfrm>
            <a:off x="9346997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8" name="Line 58"/>
          <p:cNvCxnSpPr/>
          <p:nvPr/>
        </p:nvCxnSpPr>
        <p:spPr>
          <a:xfrm>
            <a:off x="9564484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9" name="Line 59"/>
          <p:cNvCxnSpPr/>
          <p:nvPr/>
        </p:nvCxnSpPr>
        <p:spPr>
          <a:xfrm>
            <a:off x="9781972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0" name="Line 60"/>
          <p:cNvCxnSpPr/>
          <p:nvPr/>
        </p:nvCxnSpPr>
        <p:spPr>
          <a:xfrm>
            <a:off x="9999459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1" name="Line 61"/>
          <p:cNvCxnSpPr/>
          <p:nvPr/>
        </p:nvCxnSpPr>
        <p:spPr>
          <a:xfrm>
            <a:off x="10216947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2" name="Line 62"/>
          <p:cNvCxnSpPr/>
          <p:nvPr/>
        </p:nvCxnSpPr>
        <p:spPr>
          <a:xfrm>
            <a:off x="10434434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3" name="Line 63"/>
          <p:cNvCxnSpPr/>
          <p:nvPr/>
        </p:nvCxnSpPr>
        <p:spPr>
          <a:xfrm>
            <a:off x="10651922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4" name="Line 64"/>
          <p:cNvCxnSpPr/>
          <p:nvPr/>
        </p:nvCxnSpPr>
        <p:spPr>
          <a:xfrm>
            <a:off x="10869409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5" name="Line 65"/>
          <p:cNvCxnSpPr/>
          <p:nvPr/>
        </p:nvCxnSpPr>
        <p:spPr>
          <a:xfrm>
            <a:off x="11086897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6" name="Line 66"/>
          <p:cNvCxnSpPr/>
          <p:nvPr/>
        </p:nvCxnSpPr>
        <p:spPr>
          <a:xfrm>
            <a:off x="8477047" y="441883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7" name="Line 67"/>
          <p:cNvCxnSpPr/>
          <p:nvPr/>
        </p:nvCxnSpPr>
        <p:spPr>
          <a:xfrm>
            <a:off x="8477047" y="4195000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8" name="Line 68"/>
          <p:cNvCxnSpPr/>
          <p:nvPr/>
        </p:nvCxnSpPr>
        <p:spPr>
          <a:xfrm>
            <a:off x="8477047" y="397116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9" name="Line 69"/>
          <p:cNvCxnSpPr/>
          <p:nvPr/>
        </p:nvCxnSpPr>
        <p:spPr>
          <a:xfrm>
            <a:off x="8477047" y="3747325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0" name="Line 70"/>
          <p:cNvCxnSpPr/>
          <p:nvPr/>
        </p:nvCxnSpPr>
        <p:spPr>
          <a:xfrm>
            <a:off x="8477047" y="352348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1" name="Line 71"/>
          <p:cNvCxnSpPr/>
          <p:nvPr/>
        </p:nvCxnSpPr>
        <p:spPr>
          <a:xfrm>
            <a:off x="8477047" y="3299650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2" name="Line 72"/>
          <p:cNvCxnSpPr/>
          <p:nvPr/>
        </p:nvCxnSpPr>
        <p:spPr>
          <a:xfrm>
            <a:off x="8477047" y="307581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3" name="Line 73"/>
          <p:cNvCxnSpPr/>
          <p:nvPr/>
        </p:nvCxnSpPr>
        <p:spPr>
          <a:xfrm>
            <a:off x="8477047" y="2851976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4" name="Line 74"/>
          <p:cNvCxnSpPr/>
          <p:nvPr/>
        </p:nvCxnSpPr>
        <p:spPr>
          <a:xfrm>
            <a:off x="8477047" y="262813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5" name="Line 75"/>
          <p:cNvCxnSpPr/>
          <p:nvPr/>
        </p:nvCxnSpPr>
        <p:spPr>
          <a:xfrm>
            <a:off x="8477047" y="2404300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6" name="Line 76"/>
          <p:cNvCxnSpPr/>
          <p:nvPr/>
        </p:nvCxnSpPr>
        <p:spPr>
          <a:xfrm>
            <a:off x="8477047" y="218046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7" name="Line 77"/>
          <p:cNvCxnSpPr/>
          <p:nvPr/>
        </p:nvCxnSpPr>
        <p:spPr>
          <a:xfrm>
            <a:off x="8477047" y="1956625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8" name="Line 78"/>
          <p:cNvCxnSpPr/>
          <p:nvPr/>
        </p:nvCxnSpPr>
        <p:spPr>
          <a:xfrm>
            <a:off x="8477047" y="173278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9" name="Line 79"/>
          <p:cNvCxnSpPr/>
          <p:nvPr/>
        </p:nvCxnSpPr>
        <p:spPr>
          <a:xfrm>
            <a:off x="9781972" y="1732788"/>
            <a:ext cx="0" cy="2686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80" name="Line 80"/>
          <p:cNvCxnSpPr/>
          <p:nvPr/>
        </p:nvCxnSpPr>
        <p:spPr>
          <a:xfrm>
            <a:off x="8477047" y="3075813"/>
            <a:ext cx="2609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81" name="Shape 81"/>
          <p:cNvSpPr txBox="1"/>
          <p:nvPr/>
        </p:nvSpPr>
        <p:spPr>
          <a:xfrm>
            <a:off x="8202727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82" name="Shape 82"/>
          <p:cNvSpPr txBox="1"/>
          <p:nvPr/>
        </p:nvSpPr>
        <p:spPr>
          <a:xfrm>
            <a:off x="8637702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83" name="Shape 83"/>
          <p:cNvSpPr txBox="1"/>
          <p:nvPr/>
        </p:nvSpPr>
        <p:spPr>
          <a:xfrm>
            <a:off x="9072677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84" name="Shape 84"/>
          <p:cNvSpPr txBox="1"/>
          <p:nvPr/>
        </p:nvSpPr>
        <p:spPr>
          <a:xfrm>
            <a:off x="9507652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85" name="Shape 85"/>
          <p:cNvSpPr txBox="1"/>
          <p:nvPr/>
        </p:nvSpPr>
        <p:spPr>
          <a:xfrm>
            <a:off x="9942627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86" name="Shape 86"/>
          <p:cNvSpPr txBox="1"/>
          <p:nvPr/>
        </p:nvSpPr>
        <p:spPr>
          <a:xfrm>
            <a:off x="10377602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87" name="Shape 87"/>
          <p:cNvSpPr txBox="1"/>
          <p:nvPr/>
        </p:nvSpPr>
        <p:spPr>
          <a:xfrm>
            <a:off x="10812577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88" name="Shape 88"/>
          <p:cNvSpPr txBox="1"/>
          <p:nvPr/>
        </p:nvSpPr>
        <p:spPr>
          <a:xfrm>
            <a:off x="7910119" y="43273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89" name="Shape 89"/>
          <p:cNvSpPr txBox="1"/>
          <p:nvPr/>
        </p:nvSpPr>
        <p:spPr>
          <a:xfrm>
            <a:off x="7910119" y="38797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90" name="Shape 90"/>
          <p:cNvSpPr txBox="1"/>
          <p:nvPr/>
        </p:nvSpPr>
        <p:spPr>
          <a:xfrm>
            <a:off x="7910119" y="34320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91" name="Shape 91"/>
          <p:cNvSpPr txBox="1"/>
          <p:nvPr/>
        </p:nvSpPr>
        <p:spPr>
          <a:xfrm>
            <a:off x="7910119" y="29843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92" name="Shape 92"/>
          <p:cNvSpPr txBox="1"/>
          <p:nvPr/>
        </p:nvSpPr>
        <p:spPr>
          <a:xfrm>
            <a:off x="7910119" y="25366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93" name="Shape 93"/>
          <p:cNvSpPr txBox="1"/>
          <p:nvPr/>
        </p:nvSpPr>
        <p:spPr>
          <a:xfrm>
            <a:off x="7910119" y="20890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94" name="Shape 94"/>
          <p:cNvSpPr txBox="1"/>
          <p:nvPr/>
        </p:nvSpPr>
        <p:spPr>
          <a:xfrm>
            <a:off x="7910119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cxnSp>
        <p:nvCxnSpPr>
          <p:cNvPr id="95" name="Line 95"/>
          <p:cNvCxnSpPr/>
          <p:nvPr/>
        </p:nvCxnSpPr>
        <p:spPr>
          <a:xfrm flipV="1">
            <a:off x="8477047" y="1732788"/>
            <a:ext cx="2609850" cy="268605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96" name="Shape 96"/>
          <p:cNvSpPr txBox="1"/>
          <p:nvPr/>
        </p:nvSpPr>
        <p:spPr>
          <a:xfrm>
            <a:off x="8595157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275" dirty="0"/>
          </a:p>
        </p:txBody>
      </p:sp>
      <p:cxnSp>
        <p:nvCxnSpPr>
          <p:cNvPr id="97" name="Line 97"/>
          <p:cNvCxnSpPr/>
          <p:nvPr/>
        </p:nvCxnSpPr>
        <p:spPr>
          <a:xfrm flipV="1">
            <a:off x="8477047" y="1732788"/>
            <a:ext cx="1957388" cy="2014537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98" name="Shape 98"/>
          <p:cNvSpPr txBox="1"/>
          <p:nvPr/>
        </p:nvSpPr>
        <p:spPr>
          <a:xfrm>
            <a:off x="7942694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t(x) = w(x)</a:t>
            </a:r>
            <a:endParaRPr lang="en-US" sz="1275" dirty="0"/>
          </a:p>
        </p:txBody>
      </p:sp>
      <p:sp>
        <p:nvSpPr>
          <p:cNvPr id="99" name="Shape 99"/>
          <p:cNvSpPr txBox="1"/>
          <p:nvPr/>
        </p:nvSpPr>
        <p:spPr>
          <a:xfrm>
            <a:off x="8153197" y="4761738"/>
            <a:ext cx="33526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Same line,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but different tables.</a:t>
            </a:r>
            <a:endParaRPr lang="en-US" sz="1575" dirty="0"/>
          </a:p>
        </p:txBody>
      </p:sp>
      <p:sp>
        <p:nvSpPr>
          <p:cNvPr id="100" name="Slide Number 10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8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7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7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2 · Activity 2.1 · Definitions · SE p. 291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Horizontal vs. vertical translations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52195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Changes the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inputs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&gt;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shift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right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shift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left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1618488"/>
            <a:ext cx="52195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495898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+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6495898" y="2260092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Changes the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outputs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&gt;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shift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up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shift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down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313791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For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right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down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and left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up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3604260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Does that work for </a:t>
            </a:r>
            <a:r>
              <a:rPr lang="en-US" sz="16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every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linear function?</a:t>
            </a:r>
            <a:endParaRPr lang="en-US" sz="1650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9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2 · Activity 2.1 · Summary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Translations of linear functions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71373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Inside the parentheses changes the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input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(horizontal); outside changes the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output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(vertical).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57251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moves right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; the sign flips.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13410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Only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does right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match down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10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2 · Activity 2.2 · Comparing Vertical and Horizontal Dilations · SE pp. 295–296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Change the outputs or the inputs of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33526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Outputs × 2: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1828800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a(x)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9" name="Shape 9"/>
          <p:cNvSpPr txBox="1"/>
          <p:nvPr/>
        </p:nvSpPr>
        <p:spPr>
          <a:xfrm>
            <a:off x="1828800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0" name="Shape 10"/>
          <p:cNvSpPr txBox="1"/>
          <p:nvPr/>
        </p:nvSpPr>
        <p:spPr>
          <a:xfrm>
            <a:off x="1828800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−4</a:t>
            </a:r>
            <a:endParaRPr lang="en-US" sz="165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2" name="Shape 12"/>
          <p:cNvSpPr txBox="1"/>
          <p:nvPr/>
        </p:nvSpPr>
        <p:spPr>
          <a:xfrm>
            <a:off x="685800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13" name="Shape 13"/>
          <p:cNvSpPr txBox="1"/>
          <p:nvPr/>
        </p:nvSpPr>
        <p:spPr>
          <a:xfrm>
            <a:off x="1828800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4" name="Shape 14"/>
          <p:cNvSpPr txBox="1"/>
          <p:nvPr/>
        </p:nvSpPr>
        <p:spPr>
          <a:xfrm>
            <a:off x="1828800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15" name="Shape 15"/>
          <p:cNvSpPr txBox="1"/>
          <p:nvPr/>
        </p:nvSpPr>
        <p:spPr>
          <a:xfrm>
            <a:off x="685800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17" name="Shape 17"/>
          <p:cNvSpPr txBox="1"/>
          <p:nvPr/>
        </p:nvSpPr>
        <p:spPr>
          <a:xfrm>
            <a:off x="1828800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8" name="Shape 18"/>
          <p:cNvSpPr txBox="1"/>
          <p:nvPr/>
        </p:nvSpPr>
        <p:spPr>
          <a:xfrm>
            <a:off x="1828800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0" name="Shape 20"/>
          <p:cNvSpPr txBox="1"/>
          <p:nvPr/>
        </p:nvSpPr>
        <p:spPr>
          <a:xfrm>
            <a:off x="685800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21" name="Shape 21"/>
          <p:cNvSpPr txBox="1"/>
          <p:nvPr/>
        </p:nvSpPr>
        <p:spPr>
          <a:xfrm>
            <a:off x="1828800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2" name="Shape 22"/>
          <p:cNvSpPr txBox="1"/>
          <p:nvPr/>
        </p:nvSpPr>
        <p:spPr>
          <a:xfrm>
            <a:off x="1828800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23" name="Shape 23"/>
          <p:cNvSpPr txBox="1"/>
          <p:nvPr/>
        </p:nvSpPr>
        <p:spPr>
          <a:xfrm>
            <a:off x="685800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4" name="Shape 24"/>
          <p:cNvSpPr txBox="1"/>
          <p:nvPr/>
        </p:nvSpPr>
        <p:spPr>
          <a:xfrm>
            <a:off x="685800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25" name="Shape 25"/>
          <p:cNvSpPr txBox="1"/>
          <p:nvPr/>
        </p:nvSpPr>
        <p:spPr>
          <a:xfrm>
            <a:off x="1828800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6" name="Shape 26"/>
          <p:cNvSpPr txBox="1"/>
          <p:nvPr/>
        </p:nvSpPr>
        <p:spPr>
          <a:xfrm>
            <a:off x="1828800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650" dirty="0"/>
          </a:p>
        </p:txBody>
      </p:sp>
      <p:sp>
        <p:nvSpPr>
          <p:cNvPr id="27" name="Shape 27"/>
          <p:cNvSpPr txBox="1"/>
          <p:nvPr/>
        </p:nvSpPr>
        <p:spPr>
          <a:xfrm>
            <a:off x="4419498" y="1618488"/>
            <a:ext cx="33526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Inputs × ½: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1575" dirty="0"/>
          </a:p>
        </p:txBody>
      </p:sp>
      <p:sp>
        <p:nvSpPr>
          <p:cNvPr id="28" name="Shape 28"/>
          <p:cNvSpPr txBox="1"/>
          <p:nvPr/>
        </p:nvSpPr>
        <p:spPr>
          <a:xfrm>
            <a:off x="4419498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650" dirty="0"/>
          </a:p>
        </p:txBody>
      </p:sp>
      <p:sp>
        <p:nvSpPr>
          <p:cNvPr id="29" name="Shape 29"/>
          <p:cNvSpPr txBox="1"/>
          <p:nvPr/>
        </p:nvSpPr>
        <p:spPr>
          <a:xfrm>
            <a:off x="5562498" y="2008632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b(x)</a:t>
            </a:r>
            <a:endParaRPr lang="en-US" sz="1650" dirty="0"/>
          </a:p>
        </p:txBody>
      </p:sp>
      <p:sp>
        <p:nvSpPr>
          <p:cNvPr id="30" name="Shape 30"/>
          <p:cNvSpPr txBox="1"/>
          <p:nvPr/>
        </p:nvSpPr>
        <p:spPr>
          <a:xfrm>
            <a:off x="4419498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1" name="Shape 31"/>
          <p:cNvSpPr txBox="1"/>
          <p:nvPr/>
        </p:nvSpPr>
        <p:spPr>
          <a:xfrm>
            <a:off x="4419498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32" name="Shape 32"/>
          <p:cNvSpPr txBox="1"/>
          <p:nvPr/>
        </p:nvSpPr>
        <p:spPr>
          <a:xfrm>
            <a:off x="5562498" y="240639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3" name="Shape 33"/>
          <p:cNvSpPr txBox="1"/>
          <p:nvPr/>
        </p:nvSpPr>
        <p:spPr>
          <a:xfrm>
            <a:off x="5562498" y="2406396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650" dirty="0"/>
          </a:p>
        </p:txBody>
      </p:sp>
      <p:sp>
        <p:nvSpPr>
          <p:cNvPr id="34" name="Shape 34"/>
          <p:cNvSpPr txBox="1"/>
          <p:nvPr/>
        </p:nvSpPr>
        <p:spPr>
          <a:xfrm>
            <a:off x="4419498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5" name="Shape 35"/>
          <p:cNvSpPr txBox="1"/>
          <p:nvPr/>
        </p:nvSpPr>
        <p:spPr>
          <a:xfrm>
            <a:off x="4419498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−½</a:t>
            </a:r>
            <a:endParaRPr lang="en-US" sz="1650" dirty="0"/>
          </a:p>
        </p:txBody>
      </p:sp>
      <p:sp>
        <p:nvSpPr>
          <p:cNvPr id="36" name="Shape 36"/>
          <p:cNvSpPr txBox="1"/>
          <p:nvPr/>
        </p:nvSpPr>
        <p:spPr>
          <a:xfrm>
            <a:off x="5562498" y="2804160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7" name="Shape 37"/>
          <p:cNvSpPr txBox="1"/>
          <p:nvPr/>
        </p:nvSpPr>
        <p:spPr>
          <a:xfrm>
            <a:off x="5562498" y="2804160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1650" dirty="0"/>
          </a:p>
        </p:txBody>
      </p:sp>
      <p:sp>
        <p:nvSpPr>
          <p:cNvPr id="38" name="Shape 38"/>
          <p:cNvSpPr txBox="1"/>
          <p:nvPr/>
        </p:nvSpPr>
        <p:spPr>
          <a:xfrm>
            <a:off x="4419498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39" name="Shape 39"/>
          <p:cNvSpPr txBox="1"/>
          <p:nvPr/>
        </p:nvSpPr>
        <p:spPr>
          <a:xfrm>
            <a:off x="4419498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40" name="Shape 40"/>
          <p:cNvSpPr txBox="1"/>
          <p:nvPr/>
        </p:nvSpPr>
        <p:spPr>
          <a:xfrm>
            <a:off x="5562498" y="3201924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1" name="Shape 41"/>
          <p:cNvSpPr txBox="1"/>
          <p:nvPr/>
        </p:nvSpPr>
        <p:spPr>
          <a:xfrm>
            <a:off x="5562498" y="3201924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42" name="Shape 42"/>
          <p:cNvSpPr txBox="1"/>
          <p:nvPr/>
        </p:nvSpPr>
        <p:spPr>
          <a:xfrm>
            <a:off x="4419498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3" name="Shape 43"/>
          <p:cNvSpPr txBox="1"/>
          <p:nvPr/>
        </p:nvSpPr>
        <p:spPr>
          <a:xfrm>
            <a:off x="4419498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½</a:t>
            </a:r>
            <a:endParaRPr lang="en-US" sz="1650" dirty="0"/>
          </a:p>
        </p:txBody>
      </p:sp>
      <p:sp>
        <p:nvSpPr>
          <p:cNvPr id="44" name="Shape 44"/>
          <p:cNvSpPr txBox="1"/>
          <p:nvPr/>
        </p:nvSpPr>
        <p:spPr>
          <a:xfrm>
            <a:off x="5562498" y="3599688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5" name="Shape 45"/>
          <p:cNvSpPr txBox="1"/>
          <p:nvPr/>
        </p:nvSpPr>
        <p:spPr>
          <a:xfrm>
            <a:off x="5562498" y="3599688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46" name="Shape 46"/>
          <p:cNvSpPr txBox="1"/>
          <p:nvPr/>
        </p:nvSpPr>
        <p:spPr>
          <a:xfrm>
            <a:off x="4419498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7" name="Shape 47"/>
          <p:cNvSpPr txBox="1"/>
          <p:nvPr/>
        </p:nvSpPr>
        <p:spPr>
          <a:xfrm>
            <a:off x="4419498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48" name="Shape 48"/>
          <p:cNvSpPr txBox="1"/>
          <p:nvPr/>
        </p:nvSpPr>
        <p:spPr>
          <a:xfrm>
            <a:off x="5562498" y="39974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49" name="Shape 49"/>
          <p:cNvSpPr txBox="1"/>
          <p:nvPr/>
        </p:nvSpPr>
        <p:spPr>
          <a:xfrm>
            <a:off x="5562498" y="3997452"/>
            <a:ext cx="1143000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50" name="Shape 50"/>
          <p:cNvSpPr/>
          <p:nvPr/>
        </p:nvSpPr>
        <p:spPr>
          <a:xfrm>
            <a:off x="8153197" y="1618488"/>
            <a:ext cx="28575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51" name="Line 51"/>
          <p:cNvCxnSpPr/>
          <p:nvPr/>
        </p:nvCxnSpPr>
        <p:spPr>
          <a:xfrm>
            <a:off x="8477047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2" name="Line 52"/>
          <p:cNvCxnSpPr/>
          <p:nvPr/>
        </p:nvCxnSpPr>
        <p:spPr>
          <a:xfrm>
            <a:off x="8779466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3" name="Line 53"/>
          <p:cNvCxnSpPr/>
          <p:nvPr/>
        </p:nvCxnSpPr>
        <p:spPr>
          <a:xfrm>
            <a:off x="9081884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4" name="Line 54"/>
          <p:cNvCxnSpPr/>
          <p:nvPr/>
        </p:nvCxnSpPr>
        <p:spPr>
          <a:xfrm>
            <a:off x="9384303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5" name="Line 55"/>
          <p:cNvCxnSpPr/>
          <p:nvPr/>
        </p:nvCxnSpPr>
        <p:spPr>
          <a:xfrm>
            <a:off x="9686722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6" name="Line 56"/>
          <p:cNvCxnSpPr/>
          <p:nvPr/>
        </p:nvCxnSpPr>
        <p:spPr>
          <a:xfrm>
            <a:off x="9989141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7" name="Line 57"/>
          <p:cNvCxnSpPr/>
          <p:nvPr/>
        </p:nvCxnSpPr>
        <p:spPr>
          <a:xfrm>
            <a:off x="10291559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8" name="Line 58"/>
          <p:cNvCxnSpPr/>
          <p:nvPr/>
        </p:nvCxnSpPr>
        <p:spPr>
          <a:xfrm>
            <a:off x="10593978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9" name="Line 59"/>
          <p:cNvCxnSpPr/>
          <p:nvPr/>
        </p:nvCxnSpPr>
        <p:spPr>
          <a:xfrm>
            <a:off x="10896397" y="173278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0" name="Line 60"/>
          <p:cNvCxnSpPr/>
          <p:nvPr/>
        </p:nvCxnSpPr>
        <p:spPr>
          <a:xfrm>
            <a:off x="8477047" y="4228338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1" name="Line 61"/>
          <p:cNvCxnSpPr/>
          <p:nvPr/>
        </p:nvCxnSpPr>
        <p:spPr>
          <a:xfrm>
            <a:off x="8477047" y="3978783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2" name="Line 62"/>
          <p:cNvCxnSpPr/>
          <p:nvPr/>
        </p:nvCxnSpPr>
        <p:spPr>
          <a:xfrm>
            <a:off x="8477047" y="3729228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3" name="Line 63"/>
          <p:cNvCxnSpPr/>
          <p:nvPr/>
        </p:nvCxnSpPr>
        <p:spPr>
          <a:xfrm>
            <a:off x="8477047" y="3479673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4" name="Line 64"/>
          <p:cNvCxnSpPr/>
          <p:nvPr/>
        </p:nvCxnSpPr>
        <p:spPr>
          <a:xfrm>
            <a:off x="8477047" y="3230118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5" name="Line 65"/>
          <p:cNvCxnSpPr/>
          <p:nvPr/>
        </p:nvCxnSpPr>
        <p:spPr>
          <a:xfrm>
            <a:off x="8477047" y="2980563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6" name="Line 66"/>
          <p:cNvCxnSpPr/>
          <p:nvPr/>
        </p:nvCxnSpPr>
        <p:spPr>
          <a:xfrm>
            <a:off x="8477047" y="2731008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7" name="Line 67"/>
          <p:cNvCxnSpPr/>
          <p:nvPr/>
        </p:nvCxnSpPr>
        <p:spPr>
          <a:xfrm>
            <a:off x="8477047" y="2481453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8" name="Line 68"/>
          <p:cNvCxnSpPr/>
          <p:nvPr/>
        </p:nvCxnSpPr>
        <p:spPr>
          <a:xfrm>
            <a:off x="8477047" y="2231898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9" name="Line 69"/>
          <p:cNvCxnSpPr/>
          <p:nvPr/>
        </p:nvCxnSpPr>
        <p:spPr>
          <a:xfrm>
            <a:off x="8477047" y="1982343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0" name="Line 70"/>
          <p:cNvCxnSpPr/>
          <p:nvPr/>
        </p:nvCxnSpPr>
        <p:spPr>
          <a:xfrm>
            <a:off x="8477047" y="1732788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1" name="Line 71"/>
          <p:cNvCxnSpPr/>
          <p:nvPr/>
        </p:nvCxnSpPr>
        <p:spPr>
          <a:xfrm>
            <a:off x="9686722" y="1732788"/>
            <a:ext cx="0" cy="2495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72" name="Line 72"/>
          <p:cNvCxnSpPr/>
          <p:nvPr/>
        </p:nvCxnSpPr>
        <p:spPr>
          <a:xfrm>
            <a:off x="8477047" y="2980563"/>
            <a:ext cx="24193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73" name="Shape 73"/>
          <p:cNvSpPr txBox="1"/>
          <p:nvPr/>
        </p:nvSpPr>
        <p:spPr>
          <a:xfrm>
            <a:off x="8202727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74" name="Shape 74"/>
          <p:cNvSpPr txBox="1"/>
          <p:nvPr/>
        </p:nvSpPr>
        <p:spPr>
          <a:xfrm>
            <a:off x="8505146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75" name="Shape 75"/>
          <p:cNvSpPr txBox="1"/>
          <p:nvPr/>
        </p:nvSpPr>
        <p:spPr>
          <a:xfrm>
            <a:off x="8807564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76" name="Shape 76"/>
          <p:cNvSpPr txBox="1"/>
          <p:nvPr/>
        </p:nvSpPr>
        <p:spPr>
          <a:xfrm>
            <a:off x="9109983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77" name="Shape 77"/>
          <p:cNvSpPr txBox="1"/>
          <p:nvPr/>
        </p:nvSpPr>
        <p:spPr>
          <a:xfrm>
            <a:off x="9412402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78" name="Shape 78"/>
          <p:cNvSpPr txBox="1"/>
          <p:nvPr/>
        </p:nvSpPr>
        <p:spPr>
          <a:xfrm>
            <a:off x="9714821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79" name="Shape 79"/>
          <p:cNvSpPr txBox="1"/>
          <p:nvPr/>
        </p:nvSpPr>
        <p:spPr>
          <a:xfrm>
            <a:off x="10017239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80" name="Shape 80"/>
          <p:cNvSpPr txBox="1"/>
          <p:nvPr/>
        </p:nvSpPr>
        <p:spPr>
          <a:xfrm>
            <a:off x="10319658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81" name="Shape 81"/>
          <p:cNvSpPr txBox="1"/>
          <p:nvPr/>
        </p:nvSpPr>
        <p:spPr>
          <a:xfrm>
            <a:off x="10622077" y="4247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82" name="Shape 82"/>
          <p:cNvSpPr txBox="1"/>
          <p:nvPr/>
        </p:nvSpPr>
        <p:spPr>
          <a:xfrm>
            <a:off x="7910119" y="41368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−5</a:t>
            </a:r>
            <a:endParaRPr lang="en-US" sz="975" dirty="0"/>
          </a:p>
        </p:txBody>
      </p:sp>
      <p:sp>
        <p:nvSpPr>
          <p:cNvPr id="83" name="Shape 83"/>
          <p:cNvSpPr txBox="1"/>
          <p:nvPr/>
        </p:nvSpPr>
        <p:spPr>
          <a:xfrm>
            <a:off x="7910119" y="388734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84" name="Shape 84"/>
          <p:cNvSpPr txBox="1"/>
          <p:nvPr/>
        </p:nvSpPr>
        <p:spPr>
          <a:xfrm>
            <a:off x="7910119" y="363778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85" name="Shape 85"/>
          <p:cNvSpPr txBox="1"/>
          <p:nvPr/>
        </p:nvSpPr>
        <p:spPr>
          <a:xfrm>
            <a:off x="7910119" y="338823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86" name="Shape 86"/>
          <p:cNvSpPr txBox="1"/>
          <p:nvPr/>
        </p:nvSpPr>
        <p:spPr>
          <a:xfrm>
            <a:off x="7910119" y="313867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87" name="Shape 87"/>
          <p:cNvSpPr txBox="1"/>
          <p:nvPr/>
        </p:nvSpPr>
        <p:spPr>
          <a:xfrm>
            <a:off x="7910119" y="28891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88" name="Shape 88"/>
          <p:cNvSpPr txBox="1"/>
          <p:nvPr/>
        </p:nvSpPr>
        <p:spPr>
          <a:xfrm>
            <a:off x="7910119" y="263956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89" name="Shape 89"/>
          <p:cNvSpPr txBox="1"/>
          <p:nvPr/>
        </p:nvSpPr>
        <p:spPr>
          <a:xfrm>
            <a:off x="7910119" y="239001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90" name="Shape 90"/>
          <p:cNvSpPr txBox="1"/>
          <p:nvPr/>
        </p:nvSpPr>
        <p:spPr>
          <a:xfrm>
            <a:off x="7910119" y="214045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91" name="Shape 91"/>
          <p:cNvSpPr txBox="1"/>
          <p:nvPr/>
        </p:nvSpPr>
        <p:spPr>
          <a:xfrm>
            <a:off x="7910119" y="189090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92" name="Shape 92"/>
          <p:cNvSpPr txBox="1"/>
          <p:nvPr/>
        </p:nvSpPr>
        <p:spPr>
          <a:xfrm>
            <a:off x="7910119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cxnSp>
        <p:nvCxnSpPr>
          <p:cNvPr id="93" name="Line 93"/>
          <p:cNvCxnSpPr/>
          <p:nvPr/>
        </p:nvCxnSpPr>
        <p:spPr>
          <a:xfrm flipV="1">
            <a:off x="8477047" y="1982343"/>
            <a:ext cx="2419350" cy="199644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94" name="Shape 94"/>
          <p:cNvSpPr txBox="1"/>
          <p:nvPr/>
        </p:nvSpPr>
        <p:spPr>
          <a:xfrm>
            <a:off x="8404657" y="2001393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275" dirty="0"/>
          </a:p>
        </p:txBody>
      </p:sp>
      <p:cxnSp>
        <p:nvCxnSpPr>
          <p:cNvPr id="95" name="Line 95"/>
          <p:cNvCxnSpPr/>
          <p:nvPr/>
        </p:nvCxnSpPr>
        <p:spPr>
          <a:xfrm flipV="1">
            <a:off x="8930675" y="1732788"/>
            <a:ext cx="1512094" cy="2495550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96" name="Shape 96"/>
          <p:cNvSpPr txBox="1"/>
          <p:nvPr/>
        </p:nvSpPr>
        <p:spPr>
          <a:xfrm>
            <a:off x="7951029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y = 2x</a:t>
            </a:r>
            <a:endParaRPr lang="en-US" sz="1275" dirty="0"/>
          </a:p>
        </p:txBody>
      </p:sp>
      <p:sp>
        <p:nvSpPr>
          <p:cNvPr id="97" name="Shape 97"/>
          <p:cNvSpPr txBox="1"/>
          <p:nvPr/>
        </p:nvSpPr>
        <p:spPr>
          <a:xfrm>
            <a:off x="8153197" y="4571238"/>
            <a:ext cx="33526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Both are the line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with different tables.</a:t>
            </a:r>
            <a:endParaRPr lang="en-US" sz="1575" dirty="0"/>
          </a:p>
        </p:txBody>
      </p:sp>
      <p:sp>
        <p:nvSpPr>
          <p:cNvPr id="98" name="Slide Number 9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11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7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7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· Lesson 2 · Activity 2.3 · Graphing Linear Transformations · SE pp. 298–300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Describe each transformation of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3492398" cy="2076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− 7)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Right 7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650236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− 7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4349648" y="1618488"/>
            <a:ext cx="3492398" cy="2076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22600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Vertical stretch by 3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559198" y="2650236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8013497" y="1618488"/>
            <a:ext cx="3492398" cy="2076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+ 2</a:t>
            </a:r>
            <a:endParaRPr lang="en-US" sz="2100" dirty="0"/>
          </a:p>
        </p:txBody>
      </p:sp>
      <p:sp>
        <p:nvSpPr>
          <p:cNvPr id="13" name="Shape 13"/>
          <p:cNvSpPr txBox="1"/>
          <p:nvPr/>
        </p:nvSpPr>
        <p:spPr>
          <a:xfrm>
            <a:off x="8223047" y="22600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Up 2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8223047" y="2650236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endParaRPr lang="en-US" sz="2325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828288"/>
            <a:ext cx="3492398" cy="2076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895350" y="39997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(½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100" dirty="0"/>
          </a:p>
        </p:txBody>
      </p:sp>
      <p:sp>
        <p:nvSpPr>
          <p:cNvPr id="17" name="Shape 17"/>
          <p:cNvSpPr txBox="1"/>
          <p:nvPr/>
        </p:nvSpPr>
        <p:spPr>
          <a:xfrm>
            <a:off x="895350" y="44698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Horizontal stretch by 2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895350" y="4860036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½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23" name="Shape 23"/>
          <p:cNvSpPr txBox="1"/>
          <p:nvPr/>
        </p:nvSpPr>
        <p:spPr>
          <a:xfrm>
            <a:off x="4349648" y="3828288"/>
            <a:ext cx="3492398" cy="2076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0" name="Shape 20"/>
          <p:cNvSpPr txBox="1"/>
          <p:nvPr/>
        </p:nvSpPr>
        <p:spPr>
          <a:xfrm>
            <a:off x="4559198" y="39997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− 4</a:t>
            </a:r>
            <a:endParaRPr lang="en-US" sz="2100" dirty="0"/>
          </a:p>
        </p:txBody>
      </p:sp>
      <p:sp>
        <p:nvSpPr>
          <p:cNvPr id="21" name="Shape 21"/>
          <p:cNvSpPr txBox="1"/>
          <p:nvPr/>
        </p:nvSpPr>
        <p:spPr>
          <a:xfrm>
            <a:off x="4559198" y="44698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Down 4</a:t>
            </a:r>
            <a:endParaRPr lang="en-US" sz="1575" dirty="0"/>
          </a:p>
        </p:txBody>
      </p:sp>
      <p:sp>
        <p:nvSpPr>
          <p:cNvPr id="22" name="Shape 22"/>
          <p:cNvSpPr txBox="1"/>
          <p:nvPr/>
        </p:nvSpPr>
        <p:spPr>
          <a:xfrm>
            <a:off x="4559198" y="4860036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− 4</a:t>
            </a:r>
            <a:endParaRPr lang="en-US" sz="2325" dirty="0"/>
          </a:p>
        </p:txBody>
      </p:sp>
      <p:sp>
        <p:nvSpPr>
          <p:cNvPr id="27" name="Shape 27"/>
          <p:cNvSpPr txBox="1"/>
          <p:nvPr/>
        </p:nvSpPr>
        <p:spPr>
          <a:xfrm>
            <a:off x="8013497" y="3828288"/>
            <a:ext cx="3492398" cy="2076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4" name="Shape 24"/>
          <p:cNvSpPr txBox="1"/>
          <p:nvPr/>
        </p:nvSpPr>
        <p:spPr>
          <a:xfrm>
            <a:off x="8223047" y="39997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6.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+ 5)</a:t>
            </a:r>
            <a:endParaRPr lang="en-US" sz="2100" dirty="0"/>
          </a:p>
        </p:txBody>
      </p:sp>
      <p:sp>
        <p:nvSpPr>
          <p:cNvPr id="25" name="Shape 25"/>
          <p:cNvSpPr txBox="1"/>
          <p:nvPr/>
        </p:nvSpPr>
        <p:spPr>
          <a:xfrm>
            <a:off x="8223047" y="44698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Left 5</a:t>
            </a:r>
            <a:endParaRPr lang="en-US" sz="1575" dirty="0"/>
          </a:p>
        </p:txBody>
      </p:sp>
      <p:sp>
        <p:nvSpPr>
          <p:cNvPr id="26" name="Shape 26"/>
          <p:cNvSpPr txBox="1"/>
          <p:nvPr/>
        </p:nvSpPr>
        <p:spPr>
          <a:xfrm>
            <a:off x="8223047" y="4860036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2325" dirty="0"/>
          </a:p>
        </p:txBody>
      </p:sp>
      <p:sp>
        <p:nvSpPr>
          <p:cNvPr id="28" name="Slide Number 2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Day · Exit Check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10820095" cy="11262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104009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− 3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Describe the transformations and write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180082"/>
            <a:ext cx="6368567" cy="39319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500" dirty="0">
                <a:solidFill>
                  <a:srgbClr val="16171D"/>
                </a:solidFill>
                <a:latin typeface="Segoe UI"/>
                <a:cs typeface="Segoe UI"/>
              </a:rPr>
              <a:t xml:space="preserve">Vertical dilation by 2, then down 3: </a:t>
            </a: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) = 2</a:t>
            </a: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 − 3</a:t>
            </a:r>
            <a:endParaRPr lang="en-US" sz="150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859024"/>
            <a:ext cx="10820095" cy="11262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895350" y="3030474"/>
            <a:ext cx="104009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Write the line parallel to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(2, 4)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895350" y="3420618"/>
            <a:ext cx="5965317" cy="39319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500" dirty="0">
                <a:solidFill>
                  <a:srgbClr val="16171D"/>
                </a:solidFill>
                <a:latin typeface="Segoe UI"/>
                <a:cs typeface="Segoe UI"/>
              </a:rPr>
              <a:t xml:space="preserve">Same slope 3: </a:t>
            </a: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4 = 3(2) + </a:t>
            </a: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0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 = −2</a:t>
            </a:r>
            <a:r>
              <a:rPr lang="en-US" sz="1500" dirty="0">
                <a:solidFill>
                  <a:srgbClr val="16171D"/>
                </a:solidFill>
                <a:latin typeface="Segoe UI"/>
                <a:cs typeface="Segoe UI"/>
              </a:rPr>
              <a:t xml:space="preserve">. </a:t>
            </a: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 − 2</a:t>
            </a:r>
            <a:endParaRPr lang="en-US" sz="1500" dirty="0"/>
          </a:p>
        </p:txBody>
      </p:sp>
      <p:sp>
        <p:nvSpPr>
          <p:cNvPr id="12" name="Shape 12"/>
          <p:cNvSpPr txBox="1"/>
          <p:nvPr/>
        </p:nvSpPr>
        <p:spPr>
          <a:xfrm>
            <a:off x="685800" y="4099560"/>
            <a:ext cx="10820095" cy="11262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895350" y="4271010"/>
            <a:ext cx="104009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+ 4)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Which way does the graph move?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895350" y="4661154"/>
            <a:ext cx="7779944" cy="39319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500" dirty="0">
                <a:solidFill>
                  <a:srgbClr val="16171D"/>
                </a:solidFill>
                <a:latin typeface="Segoe UI"/>
                <a:cs typeface="Segoe UI"/>
              </a:rPr>
              <a:t xml:space="preserve">Inside: the opposite way. Left 4, the same as up 4: </a:t>
            </a: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15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00" dirty="0">
                <a:solidFill>
                  <a:srgbClr val="16171D"/>
                </a:solidFill>
                <a:latin typeface="Cambria"/>
                <a:cs typeface="Cambria"/>
              </a:rPr>
              <a:t xml:space="preserve"> + 4</a:t>
            </a:r>
            <a:endParaRPr lang="en-US" sz="1500" dirty="0"/>
          </a:p>
        </p:txBody>
      </p:sp>
      <p:sp>
        <p:nvSpPr>
          <p:cNvPr id="13" name="Slide Number 13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210312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Catch-Up Day · Tonight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51231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Homework: practice for the test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3264408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Lesson 1 homework →</a:t>
            </a:r>
            <a:r>
              <a:rPr lang="en-US" sz="21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2100" dirty="0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Lesson 2 homework →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3810762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Questions 11–14 on each are written like the End of Topic 2 Assessment.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4311396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Tomorrow: Lesson 3, Determining Slopes of Perpendicular Lines.</a:t>
            </a:r>
            <a:endParaRPr lang="en-US" sz="180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14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Catch-Up Day: Lessons 1–2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14</Slides>
  <Notes>14</Notes>
</Properties>
</file>

<file path=docProps/core.xml><?xml version="1.0" encoding="utf-8"?>
<cp:coreProperties xmlns:cp="http://schemas.openxmlformats.org/package/2006/metadata/core-properties" xmlns:dc="http://purl.org/dc/elements/1.1/">
  <dc:title>Topic 2 Catch-Up Day: Lessons 1–2</dc:title>
  <dc:subject>Bluebonnet Algebra I</dc:subject>
</cp:coreProperties>
</file>