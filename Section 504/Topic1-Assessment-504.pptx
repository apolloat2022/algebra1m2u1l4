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  <p:sldId id="260" r:id="rId15"/>
    <p:sldId id="261" r:id="rId16"/>
    <p:sldId id="262" r:id="rId17"/>
    <p:sldId id="263" r:id="rId18"/>
    <p:sldId id="264" r:id="rId19"/>
    <p:sldId id="265" r:id="rId20"/>
    <p:sldId id="266" r:id="rId21"/>
    <p:sldId id="267" r:id="rId22"/>
    <p:sldId id="268" r:id="rId23"/>
    <p:sldId id="269" r:id="rId24"/>
    <p:sldId id="270" r:id="rId25"/>
    <p:sldId id="271" r:id="rId26"/>
    <p:sldId id="272" r:id="rId27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504 version: the same 14 items, wording and answer choices as the original End of Topic Assessment, so it is graded with the original answer key (assessment/Topic1-Assessment-Original-ANSWER-KEY.pdf). Only access changes: one question per slide, larger font, key words in bold, reference sheet, work space, a split temperature table, and the Gracie graph repeated on questions 10 to 12. Apply the student's plan: extended time, breaks, read-aloud, small-group or separate setting, preferential seating.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1: Linear Functions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140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End of Topic Assessment · Section 504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2234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Name ________________________ Date ________________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2553462"/>
            <a:ext cx="10820095" cy="226237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895350" y="2724912"/>
            <a:ext cx="10400995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Directions: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Read each question carefully. You may use a calculator and the reference sheet. For multiple choice, choose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one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answer. For the other questions, show your work and include units.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895350" y="3903726"/>
            <a:ext cx="104009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One question is on each slide. Take your time. Ask your teacher if you need a break or a question read aloud.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Reference Sheet</a:t>
            </a:r>
            <a:endParaRPr lang="en-US" sz="34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3" name="Shape 3"/>
          <p:cNvSpPr txBox="1"/>
          <p:nvPr/>
        </p:nvSpPr>
        <p:spPr>
          <a:xfrm>
            <a:off x="895350" y="1342644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 / rate of change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change in 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y₂ − y₁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x₂ − x₁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)</a:t>
            </a:r>
            <a:endParaRPr lang="en-US" sz="1725" dirty="0"/>
          </a:p>
        </p:txBody>
      </p:sp>
      <p:sp>
        <p:nvSpPr>
          <p:cNvPr id="6" name="Shape 6"/>
          <p:cNvSpPr txBox="1"/>
          <p:nvPr/>
        </p:nvSpPr>
        <p:spPr>
          <a:xfrm>
            <a:off x="4336948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4546498" y="1342644"/>
            <a:ext cx="3098698" cy="84353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slope,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endParaRPr lang="en-US" sz="1725" dirty="0"/>
          </a:p>
        </p:txBody>
      </p:sp>
      <p:sp>
        <p:nvSpPr>
          <p:cNvPr id="8" name="Shape 8"/>
          <p:cNvSpPr txBox="1"/>
          <p:nvPr/>
        </p:nvSpPr>
        <p:spPr>
          <a:xfrm>
            <a:off x="7988097" y="1171194"/>
            <a:ext cx="3517798" cy="144932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8197647" y="1342644"/>
            <a:ext cx="3098698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Point-slope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₁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m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(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−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₁)</a:t>
            </a:r>
            <a:endParaRPr lang="en-US" sz="1725" dirty="0"/>
          </a:p>
        </p:txBody>
      </p:sp>
      <p:sp>
        <p:nvSpPr>
          <p:cNvPr id="10" name="Shape 10"/>
          <p:cNvSpPr txBox="1"/>
          <p:nvPr/>
        </p:nvSpPr>
        <p:spPr>
          <a:xfrm>
            <a:off x="685800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895350" y="2925318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Standard form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Ax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+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By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C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Solve for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to find the slope.</a:t>
            </a:r>
            <a:endParaRPr lang="en-US" sz="1725" dirty="0"/>
          </a:p>
        </p:txBody>
      </p:sp>
      <p:sp>
        <p:nvSpPr>
          <p:cNvPr id="12" name="Shape 12"/>
          <p:cNvSpPr txBox="1"/>
          <p:nvPr/>
        </p:nvSpPr>
        <p:spPr>
          <a:xfrm>
            <a:off x="4336948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4546498" y="2925318"/>
            <a:ext cx="3098698" cy="84353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Intercepts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0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-intercept: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0</a:t>
            </a:r>
            <a:endParaRPr lang="en-US" sz="1725" dirty="0"/>
          </a:p>
        </p:txBody>
      </p:sp>
      <p:sp>
        <p:nvSpPr>
          <p:cNvPr id="14" name="Shape 14"/>
          <p:cNvSpPr txBox="1"/>
          <p:nvPr/>
        </p:nvSpPr>
        <p:spPr>
          <a:xfrm>
            <a:off x="7988097" y="2753868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8197647" y="2925318"/>
            <a:ext cx="3098698" cy="1369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Correlation </a:t>
            </a:r>
            <a:r>
              <a:rPr lang="en-US" sz="1725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Near 1 or −1: strong. Near 0: weak.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&gt; 0 positive,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r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&lt; 0 negative</a:t>
            </a:r>
            <a:endParaRPr lang="en-US" sz="172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5" name="Shape 15"/>
          <p:cNvSpPr txBox="1"/>
          <p:nvPr/>
        </p:nvSpPr>
        <p:spPr>
          <a:xfrm>
            <a:off x="895350" y="4770882"/>
            <a:ext cx="3098698" cy="1369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Calculator: line of best fit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STAT → EDIT: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in L1,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in L2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STAT → CALC → LinReg(ax+b)</a:t>
            </a:r>
            <a:endParaRPr lang="en-US" sz="1725" dirty="0"/>
          </a:p>
        </p:txBody>
      </p:sp>
      <p:sp>
        <p:nvSpPr>
          <p:cNvPr id="18" name="Shape 18"/>
          <p:cNvSpPr txBox="1"/>
          <p:nvPr/>
        </p:nvSpPr>
        <p:spPr>
          <a:xfrm>
            <a:off x="4336948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7" name="Shape 17"/>
          <p:cNvSpPr txBox="1"/>
          <p:nvPr/>
        </p:nvSpPr>
        <p:spPr>
          <a:xfrm>
            <a:off x="4546498" y="4770882"/>
            <a:ext cx="3098698" cy="11064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(inputs)</a:t>
            </a:r>
            <a:b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Range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= the </a:t>
            </a:r>
            <a:r>
              <a:rPr lang="en-US" sz="1725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-values (outputs)</a:t>
            </a:r>
            <a:endParaRPr lang="en-US" sz="1725" dirty="0"/>
          </a:p>
        </p:txBody>
      </p:sp>
      <p:sp>
        <p:nvSpPr>
          <p:cNvPr id="20" name="Shape 20"/>
          <p:cNvSpPr txBox="1"/>
          <p:nvPr/>
        </p:nvSpPr>
        <p:spPr>
          <a:xfrm>
            <a:off x="7988097" y="4599432"/>
            <a:ext cx="3517798" cy="171221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19" name="Shape 19"/>
          <p:cNvSpPr txBox="1"/>
          <p:nvPr/>
        </p:nvSpPr>
        <p:spPr>
          <a:xfrm>
            <a:off x="8197647" y="4770882"/>
            <a:ext cx="3098698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Causation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: one event </a:t>
            </a:r>
            <a:r>
              <a:rPr lang="en-US" sz="1725" dirty="0" b="1">
                <a:solidFill>
                  <a:srgbClr val="16171D"/>
                </a:solidFill>
                <a:latin typeface="Segoe UI"/>
                <a:cs typeface="Segoe UI"/>
              </a:rPr>
              <a:t xml:space="preserve">makes</a:t>
            </a:r>
            <a:r>
              <a:rPr lang="en-US" sz="1725" dirty="0">
                <a:solidFill>
                  <a:srgbClr val="16171D"/>
                </a:solidFill>
                <a:latin typeface="Segoe UI"/>
                <a:cs typeface="Segoe UI"/>
              </a:rPr>
              <a:t xml:space="preserve"> the other event happen.</a:t>
            </a:r>
            <a:endParaRPr lang="en-US" sz="1725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Lucia's salary for different years.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Year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2522220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2000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3843528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2001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5164836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2002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6486144" y="1534668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2003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1978152"/>
            <a:ext cx="183642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Salary ($)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2522220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40,000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3843528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42,000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5164836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46,000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6486144" y="1978152"/>
            <a:ext cx="132130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44,500</a:t>
            </a:r>
            <a:endParaRPr lang="en-US" sz="1950" dirty="0"/>
          </a:p>
        </p:txBody>
      </p:sp>
      <p:sp>
        <p:nvSpPr>
          <p:cNvPr id="14" name="Shape 14"/>
          <p:cNvSpPr txBox="1"/>
          <p:nvPr/>
        </p:nvSpPr>
        <p:spPr>
          <a:xfrm>
            <a:off x="685800" y="2554986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linear function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best models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data if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represents the number of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years since 2000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42900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39,625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+ 4375</a:t>
            </a:r>
            <a:endParaRPr lang="en-US" sz="2250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396011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4375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+ 39,625</a:t>
            </a:r>
            <a:endParaRPr lang="en-US" sz="22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449122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1750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+ 40,500</a:t>
            </a:r>
            <a:endParaRPr lang="en-US" sz="2250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502234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= 40,500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+ 1750</a:t>
            </a:r>
            <a:endParaRPr lang="en-US" sz="22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2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Which situation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best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represents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causation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are at the beach, you get wet.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06578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study for a test, your classmate studies too.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59689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carry an umbrella to school, it rains.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12801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When you don't brush your teeth, you get cavities.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3381756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Number of Cookies Sold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4067556" y="1003554"/>
            <a:ext cx="2609088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Profit (dollars)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47038"/>
            <a:ext cx="338175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4067556" y="1447038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−1.50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90522"/>
            <a:ext cx="338175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4067556" y="1890522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1.25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334006"/>
            <a:ext cx="338175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4067556" y="2334006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4.00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777490"/>
            <a:ext cx="3381756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4067556" y="2777490"/>
            <a:ext cx="2609088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6.75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7057644" y="1003554"/>
            <a:ext cx="4448251" cy="14264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Nia is selling cookies at a constant price to raise money for charity. The table shows her profit.</a:t>
            </a:r>
            <a:endParaRPr lang="en-US" sz="2250" dirty="0"/>
          </a:p>
        </p:txBody>
      </p:sp>
      <p:sp>
        <p:nvSpPr>
          <p:cNvPr id="14" name="Shape 14"/>
          <p:cNvSpPr txBox="1"/>
          <p:nvPr/>
        </p:nvSpPr>
        <p:spPr>
          <a:xfrm>
            <a:off x="7057644" y="2563368"/>
            <a:ext cx="4448251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for the problem situation. Be sure to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measure.</a:t>
            </a:r>
            <a:endParaRPr lang="en-US" sz="2250" dirty="0"/>
          </a:p>
        </p:txBody>
      </p:sp>
      <p:sp>
        <p:nvSpPr>
          <p:cNvPr id="15" name="Shape 15"/>
          <p:cNvSpPr txBox="1"/>
          <p:nvPr/>
        </p:nvSpPr>
        <p:spPr>
          <a:xfrm>
            <a:off x="7057644" y="3780282"/>
            <a:ext cx="4448251" cy="7909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4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the monthly high temperature for Austin, Texas, in degrees Fahrenheit over a 12-month period.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2304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3447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4590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5733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876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8019288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298192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Temp (°F)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304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3447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99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4590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98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5733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99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6876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104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8019288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108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685800" y="2852166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2304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3447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8</a:t>
            </a:r>
            <a:endParaRPr lang="en-US" sz="1800" dirty="0"/>
          </a:p>
        </p:txBody>
      </p:sp>
      <p:sp>
        <p:nvSpPr>
          <p:cNvPr id="21" name="Shape 21"/>
          <p:cNvSpPr txBox="1"/>
          <p:nvPr/>
        </p:nvSpPr>
        <p:spPr>
          <a:xfrm>
            <a:off x="4590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</a:t>
            </a:r>
            <a:endParaRPr lang="en-US" sz="1800" dirty="0"/>
          </a:p>
        </p:txBody>
      </p:sp>
      <p:sp>
        <p:nvSpPr>
          <p:cNvPr id="22" name="Shape 22"/>
          <p:cNvSpPr txBox="1"/>
          <p:nvPr/>
        </p:nvSpPr>
        <p:spPr>
          <a:xfrm>
            <a:off x="5733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</a:t>
            </a:r>
            <a:endParaRPr lang="en-US" sz="1800" dirty="0"/>
          </a:p>
        </p:txBody>
      </p:sp>
      <p:sp>
        <p:nvSpPr>
          <p:cNvPr id="23" name="Shape 23"/>
          <p:cNvSpPr txBox="1"/>
          <p:nvPr/>
        </p:nvSpPr>
        <p:spPr>
          <a:xfrm>
            <a:off x="6876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</a:t>
            </a:r>
            <a:endParaRPr lang="en-US" sz="1800" dirty="0"/>
          </a:p>
        </p:txBody>
      </p:sp>
      <p:sp>
        <p:nvSpPr>
          <p:cNvPr id="24" name="Shape 24"/>
          <p:cNvSpPr txBox="1"/>
          <p:nvPr/>
        </p:nvSpPr>
        <p:spPr>
          <a:xfrm>
            <a:off x="8019288" y="2852166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12</a:t>
            </a:r>
            <a:endParaRPr lang="en-US" sz="1800" dirty="0"/>
          </a:p>
        </p:txBody>
      </p:sp>
      <p:sp>
        <p:nvSpPr>
          <p:cNvPr id="25" name="Shape 25"/>
          <p:cNvSpPr txBox="1"/>
          <p:nvPr/>
        </p:nvSpPr>
        <p:spPr>
          <a:xfrm>
            <a:off x="685800" y="3272790"/>
            <a:ext cx="1618488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Temp (°F)</a:t>
            </a:r>
            <a:endParaRPr lang="en-US" sz="1800" dirty="0"/>
          </a:p>
        </p:txBody>
      </p:sp>
      <p:sp>
        <p:nvSpPr>
          <p:cNvPr id="26" name="Shape 26"/>
          <p:cNvSpPr txBox="1"/>
          <p:nvPr/>
        </p:nvSpPr>
        <p:spPr>
          <a:xfrm>
            <a:off x="2304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109</a:t>
            </a:r>
            <a:endParaRPr lang="en-US" sz="1800" dirty="0"/>
          </a:p>
        </p:txBody>
      </p:sp>
      <p:sp>
        <p:nvSpPr>
          <p:cNvPr id="27" name="Shape 27"/>
          <p:cNvSpPr txBox="1"/>
          <p:nvPr/>
        </p:nvSpPr>
        <p:spPr>
          <a:xfrm>
            <a:off x="3447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110</a:t>
            </a:r>
            <a:endParaRPr lang="en-US" sz="1800" dirty="0"/>
          </a:p>
        </p:txBody>
      </p:sp>
      <p:sp>
        <p:nvSpPr>
          <p:cNvPr id="28" name="Shape 28"/>
          <p:cNvSpPr txBox="1"/>
          <p:nvPr/>
        </p:nvSpPr>
        <p:spPr>
          <a:xfrm>
            <a:off x="4590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112</a:t>
            </a:r>
            <a:endParaRPr lang="en-US" sz="1800" dirty="0"/>
          </a:p>
        </p:txBody>
      </p:sp>
      <p:sp>
        <p:nvSpPr>
          <p:cNvPr id="29" name="Shape 29"/>
          <p:cNvSpPr txBox="1"/>
          <p:nvPr/>
        </p:nvSpPr>
        <p:spPr>
          <a:xfrm>
            <a:off x="5733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100</a:t>
            </a:r>
            <a:endParaRPr lang="en-US" sz="1800" dirty="0"/>
          </a:p>
        </p:txBody>
      </p:sp>
      <p:sp>
        <p:nvSpPr>
          <p:cNvPr id="30" name="Shape 30"/>
          <p:cNvSpPr txBox="1"/>
          <p:nvPr/>
        </p:nvSpPr>
        <p:spPr>
          <a:xfrm>
            <a:off x="6876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91</a:t>
            </a:r>
            <a:endParaRPr lang="en-US" sz="1800" dirty="0"/>
          </a:p>
        </p:txBody>
      </p:sp>
      <p:sp>
        <p:nvSpPr>
          <p:cNvPr id="31" name="Shape 31"/>
          <p:cNvSpPr txBox="1"/>
          <p:nvPr/>
        </p:nvSpPr>
        <p:spPr>
          <a:xfrm>
            <a:off x="8019288" y="3272790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800" dirty="0"/>
          </a:p>
        </p:txBody>
      </p:sp>
      <p:sp>
        <p:nvSpPr>
          <p:cNvPr id="32" name="Shape 32"/>
          <p:cNvSpPr txBox="1"/>
          <p:nvPr/>
        </p:nvSpPr>
        <p:spPr>
          <a:xfrm>
            <a:off x="685800" y="382676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does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correlation coefficient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for the data indicate about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strength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linear association between the month and the temperature?</a:t>
            </a:r>
            <a:endParaRPr lang="en-US" sz="2250" dirty="0"/>
          </a:p>
        </p:txBody>
      </p:sp>
      <p:sp>
        <p:nvSpPr>
          <p:cNvPr id="33" name="Shape 33"/>
          <p:cNvSpPr txBox="1"/>
          <p:nvPr/>
        </p:nvSpPr>
        <p:spPr>
          <a:xfrm>
            <a:off x="685800" y="4700778"/>
            <a:ext cx="531479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Weak negative correlation</a:t>
            </a:r>
            <a:endParaRPr lang="en-US" sz="2250" dirty="0"/>
          </a:p>
        </p:txBody>
      </p:sp>
      <p:sp>
        <p:nvSpPr>
          <p:cNvPr id="34" name="Shape 34"/>
          <p:cNvSpPr txBox="1"/>
          <p:nvPr/>
        </p:nvSpPr>
        <p:spPr>
          <a:xfrm>
            <a:off x="685800" y="5231892"/>
            <a:ext cx="531479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Strong negative correlation</a:t>
            </a:r>
            <a:endParaRPr lang="en-US" sz="2250" dirty="0"/>
          </a:p>
        </p:txBody>
      </p:sp>
      <p:sp>
        <p:nvSpPr>
          <p:cNvPr id="35" name="Shape 35"/>
          <p:cNvSpPr txBox="1"/>
          <p:nvPr/>
        </p:nvSpPr>
        <p:spPr>
          <a:xfrm>
            <a:off x="6191098" y="4700778"/>
            <a:ext cx="531479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Weak positive correlation</a:t>
            </a:r>
            <a:endParaRPr lang="en-US" sz="2250" dirty="0"/>
          </a:p>
        </p:txBody>
      </p:sp>
      <p:sp>
        <p:nvSpPr>
          <p:cNvPr id="36" name="Shape 36"/>
          <p:cNvSpPr txBox="1"/>
          <p:nvPr/>
        </p:nvSpPr>
        <p:spPr>
          <a:xfrm>
            <a:off x="6191098" y="5231892"/>
            <a:ext cx="531479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Strong positive correlation</a:t>
            </a:r>
            <a:endParaRPr lang="en-US" sz="2250" dirty="0"/>
          </a:p>
        </p:txBody>
      </p:sp>
      <p:sp>
        <p:nvSpPr>
          <p:cNvPr id="37" name="Shape 3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5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the decrease in the amount of chicken feed in a farmer's barn over a seven-month period.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Month</a:t>
            </a:r>
            <a:endParaRPr lang="en-US" sz="1800" dirty="0"/>
          </a:p>
        </p:txBody>
      </p:sp>
      <p:sp>
        <p:nvSpPr>
          <p:cNvPr id="5" name="Shape 5"/>
          <p:cNvSpPr txBox="1"/>
          <p:nvPr/>
        </p:nvSpPr>
        <p:spPr>
          <a:xfrm>
            <a:off x="1947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March</a:t>
            </a:r>
            <a:endParaRPr lang="en-US" sz="1800" dirty="0"/>
          </a:p>
        </p:txBody>
      </p:sp>
      <p:sp>
        <p:nvSpPr>
          <p:cNvPr id="6" name="Shape 6"/>
          <p:cNvSpPr txBox="1"/>
          <p:nvPr/>
        </p:nvSpPr>
        <p:spPr>
          <a:xfrm>
            <a:off x="3090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April</a:t>
            </a:r>
            <a:endParaRPr lang="en-US" sz="1800" dirty="0"/>
          </a:p>
        </p:txBody>
      </p:sp>
      <p:sp>
        <p:nvSpPr>
          <p:cNvPr id="7" name="Shape 7"/>
          <p:cNvSpPr txBox="1"/>
          <p:nvPr/>
        </p:nvSpPr>
        <p:spPr>
          <a:xfrm>
            <a:off x="4233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May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5376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June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6519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July</a:t>
            </a:r>
            <a:endParaRPr lang="en-US" sz="1800" dirty="0"/>
          </a:p>
        </p:txBody>
      </p:sp>
      <p:sp>
        <p:nvSpPr>
          <p:cNvPr id="10" name="Shape 10"/>
          <p:cNvSpPr txBox="1"/>
          <p:nvPr/>
        </p:nvSpPr>
        <p:spPr>
          <a:xfrm>
            <a:off x="7662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Aug.</a:t>
            </a:r>
            <a:endParaRPr lang="en-US" sz="1800" dirty="0"/>
          </a:p>
        </p:txBody>
      </p:sp>
      <p:sp>
        <p:nvSpPr>
          <p:cNvPr id="11" name="Shape 11"/>
          <p:cNvSpPr txBox="1"/>
          <p:nvPr/>
        </p:nvSpPr>
        <p:spPr>
          <a:xfrm>
            <a:off x="8805672" y="1877568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Sept.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685800" y="2298192"/>
            <a:ext cx="1261872" cy="42062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Pounds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1947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950</a:t>
            </a:r>
            <a:endParaRPr lang="en-US" sz="1800" dirty="0"/>
          </a:p>
        </p:txBody>
      </p:sp>
      <p:sp>
        <p:nvSpPr>
          <p:cNvPr id="14" name="Shape 14"/>
          <p:cNvSpPr txBox="1"/>
          <p:nvPr/>
        </p:nvSpPr>
        <p:spPr>
          <a:xfrm>
            <a:off x="3090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873</a:t>
            </a:r>
            <a:endParaRPr lang="en-US" sz="1800" dirty="0"/>
          </a:p>
        </p:txBody>
      </p:sp>
      <p:sp>
        <p:nvSpPr>
          <p:cNvPr id="15" name="Shape 15"/>
          <p:cNvSpPr txBox="1"/>
          <p:nvPr/>
        </p:nvSpPr>
        <p:spPr>
          <a:xfrm>
            <a:off x="4233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796</a:t>
            </a:r>
            <a:endParaRPr lang="en-US" sz="1800" dirty="0"/>
          </a:p>
        </p:txBody>
      </p:sp>
      <p:sp>
        <p:nvSpPr>
          <p:cNvPr id="16" name="Shape 16"/>
          <p:cNvSpPr txBox="1"/>
          <p:nvPr/>
        </p:nvSpPr>
        <p:spPr>
          <a:xfrm>
            <a:off x="5376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719</a:t>
            </a:r>
            <a:endParaRPr lang="en-US" sz="1800" dirty="0"/>
          </a:p>
        </p:txBody>
      </p:sp>
      <p:sp>
        <p:nvSpPr>
          <p:cNvPr id="17" name="Shape 17"/>
          <p:cNvSpPr txBox="1"/>
          <p:nvPr/>
        </p:nvSpPr>
        <p:spPr>
          <a:xfrm>
            <a:off x="6519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642</a:t>
            </a:r>
            <a:endParaRPr lang="en-US" sz="1800" dirty="0"/>
          </a:p>
        </p:txBody>
      </p:sp>
      <p:sp>
        <p:nvSpPr>
          <p:cNvPr id="18" name="Shape 18"/>
          <p:cNvSpPr txBox="1"/>
          <p:nvPr/>
        </p:nvSpPr>
        <p:spPr>
          <a:xfrm>
            <a:off x="7662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565</a:t>
            </a:r>
            <a:endParaRPr lang="en-US" sz="1800" dirty="0"/>
          </a:p>
        </p:txBody>
      </p:sp>
      <p:sp>
        <p:nvSpPr>
          <p:cNvPr id="19" name="Shape 19"/>
          <p:cNvSpPr txBox="1"/>
          <p:nvPr/>
        </p:nvSpPr>
        <p:spPr>
          <a:xfrm>
            <a:off x="8805672" y="2298192"/>
            <a:ext cx="114300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Cambria"/>
                <a:cs typeface="Cambria"/>
              </a:rPr>
              <a:t xml:space="preserve">488</a:t>
            </a:r>
            <a:endParaRPr lang="en-US" sz="1800" dirty="0"/>
          </a:p>
        </p:txBody>
      </p:sp>
      <p:sp>
        <p:nvSpPr>
          <p:cNvPr id="20" name="Shape 20"/>
          <p:cNvSpPr txBox="1"/>
          <p:nvPr/>
        </p:nvSpPr>
        <p:spPr>
          <a:xfrm>
            <a:off x="685800" y="2852166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a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linear function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represents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number of pounds of chicken feed, in terms of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number of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months since March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21" name="Shape 21"/>
          <p:cNvSpPr txBox="1"/>
          <p:nvPr/>
        </p:nvSpPr>
        <p:spPr>
          <a:xfrm>
            <a:off x="685800" y="3726180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22" name="Shape 22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6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856232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Time (hours)</a:t>
            </a:r>
            <a:endParaRPr lang="en-US" sz="1650" dirty="0"/>
          </a:p>
        </p:txBody>
      </p:sp>
      <p:sp>
        <p:nvSpPr>
          <p:cNvPr id="4" name="Shape 4"/>
          <p:cNvSpPr txBox="1"/>
          <p:nvPr/>
        </p:nvSpPr>
        <p:spPr>
          <a:xfrm>
            <a:off x="2542032" y="1003554"/>
            <a:ext cx="2183130" cy="39776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Money (dollars)</a:t>
            </a:r>
            <a:endParaRPr lang="en-US" sz="16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01318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6" name="Shape 6"/>
          <p:cNvSpPr txBox="1"/>
          <p:nvPr/>
        </p:nvSpPr>
        <p:spPr>
          <a:xfrm>
            <a:off x="2542032" y="1401318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799082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</a:t>
            </a:r>
            <a:endParaRPr lang="en-US" sz="1650" dirty="0"/>
          </a:p>
        </p:txBody>
      </p:sp>
      <p:sp>
        <p:nvSpPr>
          <p:cNvPr id="8" name="Shape 8"/>
          <p:cNvSpPr txBox="1"/>
          <p:nvPr/>
        </p:nvSpPr>
        <p:spPr>
          <a:xfrm>
            <a:off x="2542032" y="1799082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16</a:t>
            </a:r>
            <a:endParaRPr lang="en-US" sz="16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196846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650" dirty="0"/>
          </a:p>
        </p:txBody>
      </p:sp>
      <p:sp>
        <p:nvSpPr>
          <p:cNvPr id="10" name="Shape 10"/>
          <p:cNvSpPr txBox="1"/>
          <p:nvPr/>
        </p:nvSpPr>
        <p:spPr>
          <a:xfrm>
            <a:off x="2542032" y="2196846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35</a:t>
            </a:r>
            <a:endParaRPr lang="en-US" sz="16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594610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3</a:t>
            </a:r>
            <a:endParaRPr lang="en-US" sz="1650" dirty="0"/>
          </a:p>
        </p:txBody>
      </p:sp>
      <p:sp>
        <p:nvSpPr>
          <p:cNvPr id="12" name="Shape 12"/>
          <p:cNvSpPr txBox="1"/>
          <p:nvPr/>
        </p:nvSpPr>
        <p:spPr>
          <a:xfrm>
            <a:off x="2542032" y="2594610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47</a:t>
            </a:r>
            <a:endParaRPr lang="en-US" sz="1650" dirty="0"/>
          </a:p>
        </p:txBody>
      </p:sp>
      <p:sp>
        <p:nvSpPr>
          <p:cNvPr id="13" name="Shape 13"/>
          <p:cNvSpPr txBox="1"/>
          <p:nvPr/>
        </p:nvSpPr>
        <p:spPr>
          <a:xfrm>
            <a:off x="685800" y="2992374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4</a:t>
            </a:r>
            <a:endParaRPr lang="en-US" sz="1650" dirty="0"/>
          </a:p>
        </p:txBody>
      </p:sp>
      <p:sp>
        <p:nvSpPr>
          <p:cNvPr id="14" name="Shape 14"/>
          <p:cNvSpPr txBox="1"/>
          <p:nvPr/>
        </p:nvSpPr>
        <p:spPr>
          <a:xfrm>
            <a:off x="2542032" y="2992374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6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3390138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650" dirty="0"/>
          </a:p>
        </p:txBody>
      </p:sp>
      <p:sp>
        <p:nvSpPr>
          <p:cNvPr id="16" name="Shape 16"/>
          <p:cNvSpPr txBox="1"/>
          <p:nvPr/>
        </p:nvSpPr>
        <p:spPr>
          <a:xfrm>
            <a:off x="2542032" y="3390138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69</a:t>
            </a:r>
            <a:endParaRPr lang="en-US" sz="1650" dirty="0"/>
          </a:p>
        </p:txBody>
      </p:sp>
      <p:sp>
        <p:nvSpPr>
          <p:cNvPr id="17" name="Shape 17"/>
          <p:cNvSpPr txBox="1"/>
          <p:nvPr/>
        </p:nvSpPr>
        <p:spPr>
          <a:xfrm>
            <a:off x="685800" y="3787902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6</a:t>
            </a:r>
            <a:endParaRPr lang="en-US" sz="1650" dirty="0"/>
          </a:p>
        </p:txBody>
      </p:sp>
      <p:sp>
        <p:nvSpPr>
          <p:cNvPr id="18" name="Shape 18"/>
          <p:cNvSpPr txBox="1"/>
          <p:nvPr/>
        </p:nvSpPr>
        <p:spPr>
          <a:xfrm>
            <a:off x="2542032" y="3787902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90</a:t>
            </a:r>
            <a:endParaRPr lang="en-US" sz="1650" dirty="0"/>
          </a:p>
        </p:txBody>
      </p:sp>
      <p:sp>
        <p:nvSpPr>
          <p:cNvPr id="19" name="Shape 19"/>
          <p:cNvSpPr txBox="1"/>
          <p:nvPr/>
        </p:nvSpPr>
        <p:spPr>
          <a:xfrm>
            <a:off x="685800" y="4185666"/>
            <a:ext cx="1856232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7</a:t>
            </a:r>
            <a:endParaRPr lang="en-US" sz="1650" dirty="0"/>
          </a:p>
        </p:txBody>
      </p:sp>
      <p:sp>
        <p:nvSpPr>
          <p:cNvPr id="20" name="Shape 20"/>
          <p:cNvSpPr txBox="1"/>
          <p:nvPr/>
        </p:nvSpPr>
        <p:spPr>
          <a:xfrm>
            <a:off x="2542032" y="4185666"/>
            <a:ext cx="2183130" cy="39776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Cambria"/>
                <a:cs typeface="Cambria"/>
              </a:rPr>
              <a:t xml:space="preserve">103</a:t>
            </a:r>
            <a:endParaRPr lang="en-US" sz="1650" dirty="0"/>
          </a:p>
        </p:txBody>
      </p:sp>
      <p:sp>
        <p:nvSpPr>
          <p:cNvPr id="21" name="Shape 21"/>
          <p:cNvSpPr txBox="1"/>
          <p:nvPr/>
        </p:nvSpPr>
        <p:spPr>
          <a:xfrm>
            <a:off x="5106162" y="1003554"/>
            <a:ext cx="6399733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table shows the amount Omar earns at his job based on the number of hours he works.</a:t>
            </a:r>
            <a:endParaRPr lang="en-US" sz="2250" dirty="0"/>
          </a:p>
        </p:txBody>
      </p:sp>
      <p:sp>
        <p:nvSpPr>
          <p:cNvPr id="22" name="Shape 22"/>
          <p:cNvSpPr txBox="1"/>
          <p:nvPr/>
        </p:nvSpPr>
        <p:spPr>
          <a:xfrm>
            <a:off x="5106162" y="1877568"/>
            <a:ext cx="6399733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Based on the table, 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best prediction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amount Omar earns for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9 hours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work?</a:t>
            </a:r>
            <a:endParaRPr lang="en-US" sz="2250" dirty="0"/>
          </a:p>
        </p:txBody>
      </p:sp>
      <p:sp>
        <p:nvSpPr>
          <p:cNvPr id="23" name="Shape 23"/>
          <p:cNvSpPr txBox="1"/>
          <p:nvPr/>
        </p:nvSpPr>
        <p:spPr>
          <a:xfrm>
            <a:off x="5106162" y="3094482"/>
            <a:ext cx="6399733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$34.61</a:t>
            </a:r>
            <a:endParaRPr lang="en-US" sz="2250" dirty="0"/>
          </a:p>
        </p:txBody>
      </p:sp>
      <p:sp>
        <p:nvSpPr>
          <p:cNvPr id="24" name="Shape 24"/>
          <p:cNvSpPr txBox="1"/>
          <p:nvPr/>
        </p:nvSpPr>
        <p:spPr>
          <a:xfrm>
            <a:off x="5106162" y="3625596"/>
            <a:ext cx="6399733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$128.00</a:t>
            </a:r>
            <a:endParaRPr lang="en-US" sz="2250" dirty="0"/>
          </a:p>
        </p:txBody>
      </p:sp>
      <p:sp>
        <p:nvSpPr>
          <p:cNvPr id="25" name="Shape 25"/>
          <p:cNvSpPr txBox="1"/>
          <p:nvPr/>
        </p:nvSpPr>
        <p:spPr>
          <a:xfrm>
            <a:off x="5106162" y="4156710"/>
            <a:ext cx="6399733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$131.46</a:t>
            </a:r>
            <a:endParaRPr lang="en-US" sz="2250" dirty="0"/>
          </a:p>
        </p:txBody>
      </p:sp>
      <p:sp>
        <p:nvSpPr>
          <p:cNvPr id="26" name="Shape 26"/>
          <p:cNvSpPr txBox="1"/>
          <p:nvPr/>
        </p:nvSpPr>
        <p:spPr>
          <a:xfrm>
            <a:off x="5106162" y="4687824"/>
            <a:ext cx="6399733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$189</a:t>
            </a:r>
            <a:endParaRPr lang="en-US" sz="2250" dirty="0"/>
          </a:p>
        </p:txBody>
      </p:sp>
      <p:sp>
        <p:nvSpPr>
          <p:cNvPr id="27" name="Shape 2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7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 represented by the equation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15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+ 3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y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45?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8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equation in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slope-intercept form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a line with a slope of 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/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that passes through the point (−1, −2)?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877568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9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2351532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Time (minutes)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3037332" y="1003554"/>
            <a:ext cx="4411980" cy="443484"/>
          </a:xfrm>
          <a:prstGeom prst="rect">
            <a:avLst/>
          </a:prstGeom>
          <a:solidFill>
            <a:srgbClr val="E6E8F2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Water Left in the Tub (liters)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1447038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0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3037332" y="1447038"/>
            <a:ext cx="441198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360</a:t>
            </a:r>
            <a:endParaRPr lang="en-US" sz="19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1890522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</a:t>
            </a:r>
            <a:endParaRPr lang="en-US" sz="1950" dirty="0"/>
          </a:p>
        </p:txBody>
      </p:sp>
      <p:sp>
        <p:nvSpPr>
          <p:cNvPr id="8" name="Shape 8"/>
          <p:cNvSpPr txBox="1"/>
          <p:nvPr/>
        </p:nvSpPr>
        <p:spPr>
          <a:xfrm>
            <a:off x="3037332" y="1890522"/>
            <a:ext cx="441198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240</a:t>
            </a:r>
            <a:endParaRPr lang="en-US" sz="19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2334006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3.5</a:t>
            </a:r>
            <a:endParaRPr lang="en-US" sz="1950" dirty="0"/>
          </a:p>
        </p:txBody>
      </p:sp>
      <p:sp>
        <p:nvSpPr>
          <p:cNvPr id="10" name="Shape 10"/>
          <p:cNvSpPr txBox="1"/>
          <p:nvPr/>
        </p:nvSpPr>
        <p:spPr>
          <a:xfrm>
            <a:off x="3037332" y="2334006"/>
            <a:ext cx="441198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150</a:t>
            </a:r>
            <a:endParaRPr lang="en-US" sz="1950" dirty="0"/>
          </a:p>
        </p:txBody>
      </p:sp>
      <p:sp>
        <p:nvSpPr>
          <p:cNvPr id="11" name="Shape 11"/>
          <p:cNvSpPr txBox="1"/>
          <p:nvPr/>
        </p:nvSpPr>
        <p:spPr>
          <a:xfrm>
            <a:off x="685800" y="2777490"/>
            <a:ext cx="2351532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5</a:t>
            </a:r>
            <a:endParaRPr lang="en-US" sz="1950" dirty="0"/>
          </a:p>
        </p:txBody>
      </p:sp>
      <p:sp>
        <p:nvSpPr>
          <p:cNvPr id="12" name="Shape 12"/>
          <p:cNvSpPr txBox="1"/>
          <p:nvPr/>
        </p:nvSpPr>
        <p:spPr>
          <a:xfrm>
            <a:off x="3037332" y="2777490"/>
            <a:ext cx="4411980" cy="443484"/>
          </a:xfrm>
          <a:prstGeom prst="rect">
            <a:avLst/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109728" tIns="45720" rIns="109728" bIns="4572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Cambria"/>
                <a:cs typeface="Cambria"/>
              </a:rPr>
              <a:t xml:space="preserve">60</a:t>
            </a:r>
            <a:endParaRPr lang="en-US" sz="1950" dirty="0"/>
          </a:p>
        </p:txBody>
      </p:sp>
      <p:sp>
        <p:nvSpPr>
          <p:cNvPr id="13" name="Shape 13"/>
          <p:cNvSpPr txBox="1"/>
          <p:nvPr/>
        </p:nvSpPr>
        <p:spPr>
          <a:xfrm>
            <a:off x="7830312" y="1003554"/>
            <a:ext cx="3675583" cy="24551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The water level in a tub is changing at a constant rate. The table shows the relationship between the time in minutes,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and the amount of water in liters,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.</a:t>
            </a:r>
            <a:endParaRPr lang="en-US" sz="2250" dirty="0"/>
          </a:p>
        </p:txBody>
      </p:sp>
      <p:sp>
        <p:nvSpPr>
          <p:cNvPr id="14" name="Shape 14"/>
          <p:cNvSpPr txBox="1"/>
          <p:nvPr/>
        </p:nvSpPr>
        <p:spPr>
          <a:xfrm>
            <a:off x="7830312" y="3592068"/>
            <a:ext cx="3675583" cy="21122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Determine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rate of change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water level with respect to time. Then,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interpret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the rate of change in terms of the problem situation.</a:t>
            </a:r>
            <a:endParaRPr lang="en-US" sz="2250" dirty="0"/>
          </a:p>
        </p:txBody>
      </p:sp>
      <p:sp>
        <p:nvSpPr>
          <p:cNvPr id="15" name="Shape 15"/>
          <p:cNvSpPr txBox="1"/>
          <p:nvPr/>
        </p:nvSpPr>
        <p:spPr>
          <a:xfrm>
            <a:off x="685800" y="5837682"/>
            <a:ext cx="6345364" cy="50520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16" name="Shape 16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10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0" name="Shape 60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1" name="Shape 61"/>
          <p:cNvSpPr txBox="1"/>
          <p:nvPr/>
        </p:nvSpPr>
        <p:spPr>
          <a:xfrm>
            <a:off x="6286348" y="1877568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Identify the </a:t>
            </a:r>
            <a:r>
              <a:rPr lang="en-US" sz="22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explain its meaning in terms of the problem situation.</a:t>
            </a:r>
            <a:endParaRPr lang="en-US" sz="2250" dirty="0"/>
          </a:p>
        </p:txBody>
      </p:sp>
      <p:sp>
        <p:nvSpPr>
          <p:cNvPr id="62" name="Shape 62"/>
          <p:cNvSpPr txBox="1"/>
          <p:nvPr/>
        </p:nvSpPr>
        <p:spPr>
          <a:xfrm>
            <a:off x="6286348" y="3094482"/>
            <a:ext cx="5219548" cy="7909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11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0" name="Shape 60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1" name="Shape 61"/>
          <p:cNvSpPr txBox="1"/>
          <p:nvPr/>
        </p:nvSpPr>
        <p:spPr>
          <a:xfrm>
            <a:off x="6286348" y="1877568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Identify the </a:t>
            </a:r>
            <a:r>
              <a:rPr lang="en-US" sz="2250" dirty="0" b="1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-intercept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explain its meaning in terms of the problem situation.</a:t>
            </a:r>
            <a:endParaRPr lang="en-US" sz="2250" dirty="0"/>
          </a:p>
        </p:txBody>
      </p:sp>
      <p:sp>
        <p:nvSpPr>
          <p:cNvPr id="62" name="Shape 62"/>
          <p:cNvSpPr txBox="1"/>
          <p:nvPr/>
        </p:nvSpPr>
        <p:spPr>
          <a:xfrm>
            <a:off x="6286348" y="3094482"/>
            <a:ext cx="5219548" cy="7909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12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504825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2657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5218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1778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0341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22902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25463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28024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30585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33147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35708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38269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40830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433916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459528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48514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5107517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5363633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56197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40145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38441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36737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35033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8" name="Line 28"/>
          <p:cNvCxnSpPr/>
          <p:nvPr/>
        </p:nvCxnSpPr>
        <p:spPr>
          <a:xfrm>
            <a:off x="1009650" y="33329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9" name="Line 29"/>
          <p:cNvCxnSpPr/>
          <p:nvPr/>
        </p:nvCxnSpPr>
        <p:spPr>
          <a:xfrm>
            <a:off x="1009650" y="31625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0" name="Line 30"/>
          <p:cNvCxnSpPr/>
          <p:nvPr/>
        </p:nvCxnSpPr>
        <p:spPr>
          <a:xfrm>
            <a:off x="1009650" y="299216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1" name="Line 31"/>
          <p:cNvCxnSpPr/>
          <p:nvPr/>
        </p:nvCxnSpPr>
        <p:spPr>
          <a:xfrm>
            <a:off x="1009650" y="282177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2" name="Line 32"/>
          <p:cNvCxnSpPr/>
          <p:nvPr/>
        </p:nvCxnSpPr>
        <p:spPr>
          <a:xfrm>
            <a:off x="1009650" y="265137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3" name="Line 33"/>
          <p:cNvCxnSpPr/>
          <p:nvPr/>
        </p:nvCxnSpPr>
        <p:spPr>
          <a:xfrm>
            <a:off x="1009650" y="248098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4" name="Line 34"/>
          <p:cNvCxnSpPr/>
          <p:nvPr/>
        </p:nvCxnSpPr>
        <p:spPr>
          <a:xfrm>
            <a:off x="1009650" y="231059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5" name="Line 35"/>
          <p:cNvCxnSpPr/>
          <p:nvPr/>
        </p:nvCxnSpPr>
        <p:spPr>
          <a:xfrm>
            <a:off x="1009650" y="214020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6" name="Line 36"/>
          <p:cNvCxnSpPr/>
          <p:nvPr/>
        </p:nvCxnSpPr>
        <p:spPr>
          <a:xfrm>
            <a:off x="1009650" y="1969812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7" name="Line 37"/>
          <p:cNvCxnSpPr/>
          <p:nvPr/>
        </p:nvCxnSpPr>
        <p:spPr>
          <a:xfrm>
            <a:off x="1009650" y="1799421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8" name="Line 38"/>
          <p:cNvCxnSpPr/>
          <p:nvPr/>
        </p:nvCxnSpPr>
        <p:spPr>
          <a:xfrm>
            <a:off x="1009650" y="1629029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39" name="Line 39"/>
          <p:cNvCxnSpPr/>
          <p:nvPr/>
        </p:nvCxnSpPr>
        <p:spPr>
          <a:xfrm>
            <a:off x="1009650" y="1458637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0" name="Line 40"/>
          <p:cNvCxnSpPr/>
          <p:nvPr/>
        </p:nvCxnSpPr>
        <p:spPr>
          <a:xfrm>
            <a:off x="1009650" y="1288246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1" name="Line 41"/>
          <p:cNvCxnSpPr/>
          <p:nvPr/>
        </p:nvCxnSpPr>
        <p:spPr>
          <a:xfrm>
            <a:off x="1009650" y="1117854"/>
            <a:ext cx="461010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42" name="Line 42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43" name="Line 43"/>
          <p:cNvCxnSpPr/>
          <p:nvPr/>
        </p:nvCxnSpPr>
        <p:spPr>
          <a:xfrm>
            <a:off x="1009650" y="4184904"/>
            <a:ext cx="461010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44" name="Shape 44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12475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17597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22720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15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27842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32964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25</a:t>
            </a:r>
            <a:endParaRPr lang="en-US" sz="975" dirty="0"/>
          </a:p>
        </p:txBody>
      </p:sp>
      <p:sp>
        <p:nvSpPr>
          <p:cNvPr id="50" name="Shape 50"/>
          <p:cNvSpPr txBox="1"/>
          <p:nvPr/>
        </p:nvSpPr>
        <p:spPr>
          <a:xfrm>
            <a:off x="38087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30</a:t>
            </a:r>
            <a:endParaRPr lang="en-US" sz="975" dirty="0"/>
          </a:p>
        </p:txBody>
      </p:sp>
      <p:sp>
        <p:nvSpPr>
          <p:cNvPr id="51" name="Shape 51"/>
          <p:cNvSpPr txBox="1"/>
          <p:nvPr/>
        </p:nvSpPr>
        <p:spPr>
          <a:xfrm>
            <a:off x="4320963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35</a:t>
            </a:r>
            <a:endParaRPr lang="en-US" sz="975" dirty="0"/>
          </a:p>
        </p:txBody>
      </p:sp>
      <p:sp>
        <p:nvSpPr>
          <p:cNvPr id="52" name="Shape 52"/>
          <p:cNvSpPr txBox="1"/>
          <p:nvPr/>
        </p:nvSpPr>
        <p:spPr>
          <a:xfrm>
            <a:off x="4833197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40</a:t>
            </a:r>
            <a:endParaRPr lang="en-US" sz="975" dirty="0"/>
          </a:p>
        </p:txBody>
      </p:sp>
      <p:sp>
        <p:nvSpPr>
          <p:cNvPr id="53" name="Shape 53"/>
          <p:cNvSpPr txBox="1"/>
          <p:nvPr/>
        </p:nvSpPr>
        <p:spPr>
          <a:xfrm>
            <a:off x="53454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45</a:t>
            </a:r>
            <a:endParaRPr lang="en-US" sz="975" dirty="0"/>
          </a:p>
        </p:txBody>
      </p:sp>
      <p:sp>
        <p:nvSpPr>
          <p:cNvPr id="54" name="Shape 54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55" name="Shape 55"/>
          <p:cNvSpPr txBox="1"/>
          <p:nvPr/>
        </p:nvSpPr>
        <p:spPr>
          <a:xfrm>
            <a:off x="442722" y="30711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56" name="Shape 56"/>
          <p:cNvSpPr txBox="1"/>
          <p:nvPr/>
        </p:nvSpPr>
        <p:spPr>
          <a:xfrm>
            <a:off x="442722" y="20487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57" name="Shape 57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cxnSp>
        <p:nvCxnSpPr>
          <p:cNvPr id="58" name="Line 58"/>
          <p:cNvCxnSpPr/>
          <p:nvPr/>
        </p:nvCxnSpPr>
        <p:spPr>
          <a:xfrm>
            <a:off x="1009650" y="1458637"/>
            <a:ext cx="4097867" cy="2726267"/>
          </a:xfrm>
          <a:prstGeom prst="line">
            <a:avLst/>
          </a:prstGeom>
          <a:ln w="38100" cap="rnd">
            <a:solidFill>
              <a:srgbClr val="16171D"/>
            </a:solidFill>
          </a:ln>
        </p:spPr>
      </p:cxnSp>
      <p:sp>
        <p:nvSpPr>
          <p:cNvPr id="59" name="Shape 59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 b="1">
                <a:solidFill>
                  <a:srgbClr val="5F6272"/>
                </a:solidFill>
                <a:latin typeface="Segoe UI"/>
                <a:cs typeface="Segoe UI"/>
              </a:rPr>
              <a:t xml:space="preserve">Gracie's Walk Home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. Across: Time (minutes). Up: Distance from Home (miles).</a:t>
            </a:r>
            <a:endParaRPr lang="en-US" sz="1575" dirty="0"/>
          </a:p>
        </p:txBody>
      </p:sp>
      <p:sp>
        <p:nvSpPr>
          <p:cNvPr id="60" name="Shape 60"/>
          <p:cNvSpPr txBox="1"/>
          <p:nvPr/>
        </p:nvSpPr>
        <p:spPr>
          <a:xfrm>
            <a:off x="6286348" y="100355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Use the graph of Gracie's walk home from school.</a:t>
            </a:r>
            <a:endParaRPr lang="en-US" sz="2250" dirty="0"/>
          </a:p>
        </p:txBody>
      </p:sp>
      <p:sp>
        <p:nvSpPr>
          <p:cNvPr id="61" name="Shape 61"/>
          <p:cNvSpPr txBox="1"/>
          <p:nvPr/>
        </p:nvSpPr>
        <p:spPr>
          <a:xfrm>
            <a:off x="6286348" y="1877568"/>
            <a:ext cx="5219548" cy="10835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Calculate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slope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linear function and explain its meaning in terms of the problem situation.</a:t>
            </a:r>
            <a:endParaRPr lang="en-US" sz="2250" dirty="0"/>
          </a:p>
        </p:txBody>
      </p:sp>
      <p:sp>
        <p:nvSpPr>
          <p:cNvPr id="62" name="Shape 62"/>
          <p:cNvSpPr txBox="1"/>
          <p:nvPr/>
        </p:nvSpPr>
        <p:spPr>
          <a:xfrm>
            <a:off x="6286348" y="3094482"/>
            <a:ext cx="5219548" cy="790956"/>
          </a:xfrm>
          <a:prstGeom prst="roundRect">
            <a:avLst>
              <a:gd name="adj" fmla="val 8000"/>
            </a:avLst>
          </a:prstGeom>
          <a:noFill/>
          <a:ln w="19050">
            <a:solidFill>
              <a:srgbClr val="3050B8"/>
            </a:solidFill>
            <a:prstDash val="dash"/>
          </a:ln>
        </p:spPr>
        <p:txBody>
          <a:bodyPr wrap="square" lIns="228600" tIns="109728" rIns="228600" bIns="109728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75" dirty="0">
                <a:solidFill>
                  <a:srgbClr val="16171D"/>
                </a:solidFill>
                <a:latin typeface="Segoe UI"/>
                <a:cs typeface="Segoe UI"/>
              </a:rPr>
              <a:t xml:space="preserve">Show your work here, or on your scratch paper.</a:t>
            </a:r>
            <a:endParaRPr lang="en-US" sz="1875" dirty="0"/>
          </a:p>
        </p:txBody>
      </p:sp>
      <p:sp>
        <p:nvSpPr>
          <p:cNvPr id="63" name="Shape 63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13 of 14</a:t>
            </a:r>
            <a:endParaRPr lang="en-US" sz="21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00355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value of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534668"/>
            <a:ext cx="10820095" cy="4892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f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(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) = 23.2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+ 2.5 at </a:t>
            </a:r>
            <a:r>
              <a:rPr lang="en-US" sz="2850" dirty="0" i="1">
                <a:solidFill>
                  <a:srgbClr val="16171D"/>
                </a:solidFill>
                <a:latin typeface="Cambria"/>
                <a:cs typeface="Cambria"/>
              </a:rPr>
              <a:t xml:space="preserve">x</a:t>
            </a:r>
            <a:r>
              <a:rPr lang="en-US" sz="2850" dirty="0">
                <a:solidFill>
                  <a:srgbClr val="16171D"/>
                </a:solidFill>
                <a:latin typeface="Cambria"/>
                <a:cs typeface="Cambria"/>
              </a:rPr>
              <a:t xml:space="preserve"> = −4.2?</a:t>
            </a:r>
            <a:endParaRPr lang="en-US" sz="28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1572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−99.94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6883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−94.94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3219450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C.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−29.9</a:t>
            </a:r>
            <a:endParaRPr lang="en-US" sz="2250" dirty="0"/>
          </a:p>
        </p:txBody>
      </p:sp>
      <p:sp>
        <p:nvSpPr>
          <p:cNvPr id="8" name="Shape 8"/>
          <p:cNvSpPr txBox="1"/>
          <p:nvPr/>
        </p:nvSpPr>
        <p:spPr>
          <a:xfrm>
            <a:off x="685800" y="375056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21.5</a:t>
            </a:r>
            <a:endParaRPr lang="en-US" sz="2250" dirty="0"/>
          </a:p>
        </p:txBody>
      </p:sp>
      <p:sp>
        <p:nvSpPr>
          <p:cNvPr id="9" name="Shape 9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 14 of 14</a:t>
            </a:r>
            <a:endParaRPr lang="en-US" sz="2100" dirty="0"/>
          </a:p>
        </p:txBody>
      </p:sp>
      <p:sp>
        <p:nvSpPr>
          <p:cNvPr id="3" name="Shape 3"/>
          <p:cNvSpPr/>
          <p:nvPr/>
        </p:nvSpPr>
        <p:spPr>
          <a:xfrm>
            <a:off x="685800" y="1003554"/>
            <a:ext cx="4762500" cy="3429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4EC"/>
            </a:solidFill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cxnSp>
        <p:nvCxnSpPr>
          <p:cNvPr id="4" name="Line 4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5" name="Line 5"/>
          <p:cNvCxnSpPr/>
          <p:nvPr/>
        </p:nvCxnSpPr>
        <p:spPr>
          <a:xfrm>
            <a:off x="144208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6" name="Line 6"/>
          <p:cNvCxnSpPr/>
          <p:nvPr/>
        </p:nvCxnSpPr>
        <p:spPr>
          <a:xfrm>
            <a:off x="187452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7" name="Line 7"/>
          <p:cNvCxnSpPr/>
          <p:nvPr/>
        </p:nvCxnSpPr>
        <p:spPr>
          <a:xfrm>
            <a:off x="230695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8" name="Line 8"/>
          <p:cNvCxnSpPr/>
          <p:nvPr/>
        </p:nvCxnSpPr>
        <p:spPr>
          <a:xfrm>
            <a:off x="273939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9" name="Line 9"/>
          <p:cNvCxnSpPr/>
          <p:nvPr/>
        </p:nvCxnSpPr>
        <p:spPr>
          <a:xfrm>
            <a:off x="317182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0" name="Line 10"/>
          <p:cNvCxnSpPr/>
          <p:nvPr/>
        </p:nvCxnSpPr>
        <p:spPr>
          <a:xfrm>
            <a:off x="360426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1" name="Line 11"/>
          <p:cNvCxnSpPr/>
          <p:nvPr/>
        </p:nvCxnSpPr>
        <p:spPr>
          <a:xfrm>
            <a:off x="403669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2" name="Line 12"/>
          <p:cNvCxnSpPr/>
          <p:nvPr/>
        </p:nvCxnSpPr>
        <p:spPr>
          <a:xfrm>
            <a:off x="446913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3" name="Line 13"/>
          <p:cNvCxnSpPr/>
          <p:nvPr/>
        </p:nvCxnSpPr>
        <p:spPr>
          <a:xfrm>
            <a:off x="4901565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4" name="Line 14"/>
          <p:cNvCxnSpPr/>
          <p:nvPr/>
        </p:nvCxnSpPr>
        <p:spPr>
          <a:xfrm>
            <a:off x="5334000" y="1117854"/>
            <a:ext cx="0" cy="306705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5" name="Line 15"/>
          <p:cNvCxnSpPr/>
          <p:nvPr/>
        </p:nvCxnSpPr>
        <p:spPr>
          <a:xfrm>
            <a:off x="1009650" y="418490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6" name="Line 16"/>
          <p:cNvCxnSpPr/>
          <p:nvPr/>
        </p:nvCxnSpPr>
        <p:spPr>
          <a:xfrm>
            <a:off x="1009650" y="387819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7" name="Line 17"/>
          <p:cNvCxnSpPr/>
          <p:nvPr/>
        </p:nvCxnSpPr>
        <p:spPr>
          <a:xfrm>
            <a:off x="1009650" y="357149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8" name="Line 18"/>
          <p:cNvCxnSpPr/>
          <p:nvPr/>
        </p:nvCxnSpPr>
        <p:spPr>
          <a:xfrm>
            <a:off x="1009650" y="326478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19" name="Line 19"/>
          <p:cNvCxnSpPr/>
          <p:nvPr/>
        </p:nvCxnSpPr>
        <p:spPr>
          <a:xfrm>
            <a:off x="1009650" y="295808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0" name="Line 20"/>
          <p:cNvCxnSpPr/>
          <p:nvPr/>
        </p:nvCxnSpPr>
        <p:spPr>
          <a:xfrm>
            <a:off x="1009650" y="265137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1" name="Line 21"/>
          <p:cNvCxnSpPr/>
          <p:nvPr/>
        </p:nvCxnSpPr>
        <p:spPr>
          <a:xfrm>
            <a:off x="1009650" y="234467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2" name="Line 22"/>
          <p:cNvCxnSpPr/>
          <p:nvPr/>
        </p:nvCxnSpPr>
        <p:spPr>
          <a:xfrm>
            <a:off x="1009650" y="203796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3" name="Line 23"/>
          <p:cNvCxnSpPr/>
          <p:nvPr/>
        </p:nvCxnSpPr>
        <p:spPr>
          <a:xfrm>
            <a:off x="1009650" y="173126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4" name="Line 24"/>
          <p:cNvCxnSpPr/>
          <p:nvPr/>
        </p:nvCxnSpPr>
        <p:spPr>
          <a:xfrm>
            <a:off x="1009650" y="1424559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5" name="Line 25"/>
          <p:cNvCxnSpPr/>
          <p:nvPr/>
        </p:nvCxnSpPr>
        <p:spPr>
          <a:xfrm>
            <a:off x="1009650" y="1117854"/>
            <a:ext cx="4324350" cy="0"/>
          </a:xfrm>
          <a:prstGeom prst="line">
            <a:avLst/>
          </a:prstGeom>
          <a:ln w="9525" cap="flat">
            <a:solidFill>
              <a:srgbClr val="E6E8F2"/>
            </a:solidFill>
          </a:ln>
        </p:spPr>
      </p:cxnSp>
      <p:cxnSp>
        <p:nvCxnSpPr>
          <p:cNvPr id="26" name="Line 26"/>
          <p:cNvCxnSpPr/>
          <p:nvPr/>
        </p:nvCxnSpPr>
        <p:spPr>
          <a:xfrm>
            <a:off x="1009650" y="1117854"/>
            <a:ext cx="0" cy="306705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cxnSp>
        <p:nvCxnSpPr>
          <p:cNvPr id="27" name="Line 27"/>
          <p:cNvCxnSpPr/>
          <p:nvPr/>
        </p:nvCxnSpPr>
        <p:spPr>
          <a:xfrm>
            <a:off x="1009650" y="4184904"/>
            <a:ext cx="4324350" cy="0"/>
          </a:xfrm>
          <a:prstGeom prst="line">
            <a:avLst/>
          </a:prstGeom>
          <a:ln w="19050" cap="flat">
            <a:solidFill>
              <a:srgbClr val="5F6272"/>
            </a:solidFill>
          </a:ln>
        </p:spPr>
      </p:cxnSp>
      <p:sp>
        <p:nvSpPr>
          <p:cNvPr id="28" name="Shape 28"/>
          <p:cNvSpPr txBox="1"/>
          <p:nvPr/>
        </p:nvSpPr>
        <p:spPr>
          <a:xfrm>
            <a:off x="73533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29" name="Shape 29"/>
          <p:cNvSpPr txBox="1"/>
          <p:nvPr/>
        </p:nvSpPr>
        <p:spPr>
          <a:xfrm>
            <a:off x="116776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</a:t>
            </a:r>
            <a:endParaRPr lang="en-US" sz="975" dirty="0"/>
          </a:p>
        </p:txBody>
      </p:sp>
      <p:sp>
        <p:nvSpPr>
          <p:cNvPr id="30" name="Shape 30"/>
          <p:cNvSpPr txBox="1"/>
          <p:nvPr/>
        </p:nvSpPr>
        <p:spPr>
          <a:xfrm>
            <a:off x="160020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31" name="Shape 31"/>
          <p:cNvSpPr txBox="1"/>
          <p:nvPr/>
        </p:nvSpPr>
        <p:spPr>
          <a:xfrm>
            <a:off x="203263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3</a:t>
            </a:r>
            <a:endParaRPr lang="en-US" sz="975" dirty="0"/>
          </a:p>
        </p:txBody>
      </p:sp>
      <p:sp>
        <p:nvSpPr>
          <p:cNvPr id="32" name="Shape 32"/>
          <p:cNvSpPr txBox="1"/>
          <p:nvPr/>
        </p:nvSpPr>
        <p:spPr>
          <a:xfrm>
            <a:off x="246507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33" name="Shape 33"/>
          <p:cNvSpPr txBox="1"/>
          <p:nvPr/>
        </p:nvSpPr>
        <p:spPr>
          <a:xfrm>
            <a:off x="289750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5</a:t>
            </a:r>
            <a:endParaRPr lang="en-US" sz="975" dirty="0"/>
          </a:p>
        </p:txBody>
      </p:sp>
      <p:sp>
        <p:nvSpPr>
          <p:cNvPr id="34" name="Shape 34"/>
          <p:cNvSpPr txBox="1"/>
          <p:nvPr/>
        </p:nvSpPr>
        <p:spPr>
          <a:xfrm>
            <a:off x="332994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35" name="Shape 35"/>
          <p:cNvSpPr txBox="1"/>
          <p:nvPr/>
        </p:nvSpPr>
        <p:spPr>
          <a:xfrm>
            <a:off x="376237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7</a:t>
            </a:r>
            <a:endParaRPr lang="en-US" sz="975" dirty="0"/>
          </a:p>
        </p:txBody>
      </p:sp>
      <p:sp>
        <p:nvSpPr>
          <p:cNvPr id="36" name="Shape 36"/>
          <p:cNvSpPr txBox="1"/>
          <p:nvPr/>
        </p:nvSpPr>
        <p:spPr>
          <a:xfrm>
            <a:off x="419481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37" name="Shape 37"/>
          <p:cNvSpPr txBox="1"/>
          <p:nvPr/>
        </p:nvSpPr>
        <p:spPr>
          <a:xfrm>
            <a:off x="4627245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9</a:t>
            </a:r>
            <a:endParaRPr lang="en-US" sz="975" dirty="0"/>
          </a:p>
        </p:txBody>
      </p:sp>
      <p:sp>
        <p:nvSpPr>
          <p:cNvPr id="38" name="Shape 38"/>
          <p:cNvSpPr txBox="1"/>
          <p:nvPr/>
        </p:nvSpPr>
        <p:spPr>
          <a:xfrm>
            <a:off x="5059680" y="4203954"/>
            <a:ext cx="548640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39" name="Shape 39"/>
          <p:cNvSpPr txBox="1"/>
          <p:nvPr/>
        </p:nvSpPr>
        <p:spPr>
          <a:xfrm>
            <a:off x="442722" y="409346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0</a:t>
            </a:r>
            <a:endParaRPr lang="en-US" sz="975" dirty="0"/>
          </a:p>
        </p:txBody>
      </p:sp>
      <p:sp>
        <p:nvSpPr>
          <p:cNvPr id="40" name="Shape 40"/>
          <p:cNvSpPr txBox="1"/>
          <p:nvPr/>
        </p:nvSpPr>
        <p:spPr>
          <a:xfrm>
            <a:off x="442722" y="378675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</a:t>
            </a:r>
            <a:endParaRPr lang="en-US" sz="975" dirty="0"/>
          </a:p>
        </p:txBody>
      </p:sp>
      <p:sp>
        <p:nvSpPr>
          <p:cNvPr id="41" name="Shape 41"/>
          <p:cNvSpPr txBox="1"/>
          <p:nvPr/>
        </p:nvSpPr>
        <p:spPr>
          <a:xfrm>
            <a:off x="442722" y="348005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4</a:t>
            </a:r>
            <a:endParaRPr lang="en-US" sz="975" dirty="0"/>
          </a:p>
        </p:txBody>
      </p:sp>
      <p:sp>
        <p:nvSpPr>
          <p:cNvPr id="42" name="Shape 42"/>
          <p:cNvSpPr txBox="1"/>
          <p:nvPr/>
        </p:nvSpPr>
        <p:spPr>
          <a:xfrm>
            <a:off x="442722" y="317334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6</a:t>
            </a:r>
            <a:endParaRPr lang="en-US" sz="975" dirty="0"/>
          </a:p>
        </p:txBody>
      </p:sp>
      <p:sp>
        <p:nvSpPr>
          <p:cNvPr id="43" name="Shape 43"/>
          <p:cNvSpPr txBox="1"/>
          <p:nvPr/>
        </p:nvSpPr>
        <p:spPr>
          <a:xfrm>
            <a:off x="442722" y="286664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8</a:t>
            </a:r>
            <a:endParaRPr lang="en-US" sz="975" dirty="0"/>
          </a:p>
        </p:txBody>
      </p:sp>
      <p:sp>
        <p:nvSpPr>
          <p:cNvPr id="44" name="Shape 44"/>
          <p:cNvSpPr txBox="1"/>
          <p:nvPr/>
        </p:nvSpPr>
        <p:spPr>
          <a:xfrm>
            <a:off x="442722" y="255993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10</a:t>
            </a:r>
            <a:endParaRPr lang="en-US" sz="975" dirty="0"/>
          </a:p>
        </p:txBody>
      </p:sp>
      <p:sp>
        <p:nvSpPr>
          <p:cNvPr id="45" name="Shape 45"/>
          <p:cNvSpPr txBox="1"/>
          <p:nvPr/>
        </p:nvSpPr>
        <p:spPr>
          <a:xfrm>
            <a:off x="442722" y="225323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12</a:t>
            </a:r>
            <a:endParaRPr lang="en-US" sz="975" dirty="0"/>
          </a:p>
        </p:txBody>
      </p:sp>
      <p:sp>
        <p:nvSpPr>
          <p:cNvPr id="46" name="Shape 46"/>
          <p:cNvSpPr txBox="1"/>
          <p:nvPr/>
        </p:nvSpPr>
        <p:spPr>
          <a:xfrm>
            <a:off x="442722" y="194652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14</a:t>
            </a:r>
            <a:endParaRPr lang="en-US" sz="975" dirty="0"/>
          </a:p>
        </p:txBody>
      </p:sp>
      <p:sp>
        <p:nvSpPr>
          <p:cNvPr id="47" name="Shape 47"/>
          <p:cNvSpPr txBox="1"/>
          <p:nvPr/>
        </p:nvSpPr>
        <p:spPr>
          <a:xfrm>
            <a:off x="442722" y="163982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16</a:t>
            </a:r>
            <a:endParaRPr lang="en-US" sz="975" dirty="0"/>
          </a:p>
        </p:txBody>
      </p:sp>
      <p:sp>
        <p:nvSpPr>
          <p:cNvPr id="48" name="Shape 48"/>
          <p:cNvSpPr txBox="1"/>
          <p:nvPr/>
        </p:nvSpPr>
        <p:spPr>
          <a:xfrm>
            <a:off x="442722" y="1333119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18</a:t>
            </a:r>
            <a:endParaRPr lang="en-US" sz="975" dirty="0"/>
          </a:p>
        </p:txBody>
      </p:sp>
      <p:sp>
        <p:nvSpPr>
          <p:cNvPr id="49" name="Shape 49"/>
          <p:cNvSpPr txBox="1"/>
          <p:nvPr/>
        </p:nvSpPr>
        <p:spPr>
          <a:xfrm>
            <a:off x="442722" y="1026414"/>
            <a:ext cx="512064" cy="1828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algn="r">
              <a:lnSpc>
                <a:spcPct val="100000"/>
              </a:lnSpc>
            </a:pPr>
            <a:r>
              <a:rPr lang="en-US" sz="975" dirty="0">
                <a:solidFill>
                  <a:srgbClr val="5F6272"/>
                </a:solidFill>
                <a:latin typeface="Segoe UI"/>
                <a:cs typeface="Segoe UI"/>
              </a:rPr>
              <a:t xml:space="preserve">20</a:t>
            </a:r>
            <a:endParaRPr lang="en-US" sz="975" dirty="0"/>
          </a:p>
        </p:txBody>
      </p:sp>
      <p:sp>
        <p:nvSpPr>
          <p:cNvPr id="50" name="Shape 50"/>
          <p:cNvSpPr/>
          <p:nvPr/>
        </p:nvSpPr>
        <p:spPr>
          <a:xfrm>
            <a:off x="957262" y="106546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1" name="Shape 51"/>
          <p:cNvSpPr/>
          <p:nvPr/>
        </p:nvSpPr>
        <p:spPr>
          <a:xfrm>
            <a:off x="1389698" y="137217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2" name="Shape 52"/>
          <p:cNvSpPr/>
          <p:nvPr/>
        </p:nvSpPr>
        <p:spPr>
          <a:xfrm>
            <a:off x="1822132" y="167887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3" name="Shape 53"/>
          <p:cNvSpPr/>
          <p:nvPr/>
        </p:nvSpPr>
        <p:spPr>
          <a:xfrm>
            <a:off x="2254567" y="198558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4" name="Shape 54"/>
          <p:cNvSpPr/>
          <p:nvPr/>
        </p:nvSpPr>
        <p:spPr>
          <a:xfrm>
            <a:off x="2687003" y="229228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5" name="Shape 55"/>
          <p:cNvSpPr/>
          <p:nvPr/>
        </p:nvSpPr>
        <p:spPr>
          <a:xfrm>
            <a:off x="3119438" y="259899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6" name="Shape 56"/>
          <p:cNvSpPr/>
          <p:nvPr/>
        </p:nvSpPr>
        <p:spPr>
          <a:xfrm>
            <a:off x="3551872" y="290569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7" name="Shape 57"/>
          <p:cNvSpPr/>
          <p:nvPr/>
        </p:nvSpPr>
        <p:spPr>
          <a:xfrm>
            <a:off x="3984307" y="3212402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8" name="Shape 58"/>
          <p:cNvSpPr/>
          <p:nvPr/>
        </p:nvSpPr>
        <p:spPr>
          <a:xfrm>
            <a:off x="4416742" y="3519107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59" name="Shape 59"/>
          <p:cNvSpPr/>
          <p:nvPr/>
        </p:nvSpPr>
        <p:spPr>
          <a:xfrm>
            <a:off x="4849178" y="3825811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0" name="Shape 60"/>
          <p:cNvSpPr/>
          <p:nvPr/>
        </p:nvSpPr>
        <p:spPr>
          <a:xfrm>
            <a:off x="5281612" y="4132516"/>
            <a:ext cx="104775" cy="104775"/>
          </a:xfrm>
          <a:prstGeom prst="ellipse">
            <a:avLst/>
          </a:prstGeom>
          <a:solidFill>
            <a:srgbClr val="3050B8"/>
          </a:solidFill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endParaRPr lang="en-US" sz="1950" dirty="0"/>
          </a:p>
        </p:txBody>
      </p:sp>
      <p:sp>
        <p:nvSpPr>
          <p:cNvPr id="61" name="Shape 61"/>
          <p:cNvSpPr txBox="1"/>
          <p:nvPr/>
        </p:nvSpPr>
        <p:spPr>
          <a:xfrm>
            <a:off x="685800" y="4565904"/>
            <a:ext cx="5219548" cy="5349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Across: Batches of Muffins (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x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). Up: Number of Eggs Remaining (</a:t>
            </a:r>
            <a:r>
              <a:rPr lang="en-US" sz="1575" dirty="0" i="1">
                <a:solidFill>
                  <a:srgbClr val="5F6272"/>
                </a:solidFill>
                <a:latin typeface="Segoe UI"/>
                <a:cs typeface="Segoe UI"/>
              </a:rPr>
              <a:t xml:space="preserve">y</a:t>
            </a:r>
            <a:r>
              <a:rPr lang="en-US" sz="1575" dirty="0">
                <a:solidFill>
                  <a:srgbClr val="5F6272"/>
                </a:solidFill>
                <a:latin typeface="Segoe UI"/>
                <a:cs typeface="Segoe UI"/>
              </a:rPr>
              <a:t xml:space="preserve">).</a:t>
            </a:r>
            <a:endParaRPr lang="en-US" sz="1575" dirty="0"/>
          </a:p>
        </p:txBody>
      </p:sp>
      <p:sp>
        <p:nvSpPr>
          <p:cNvPr id="62" name="Shape 62"/>
          <p:cNvSpPr txBox="1"/>
          <p:nvPr/>
        </p:nvSpPr>
        <p:spPr>
          <a:xfrm>
            <a:off x="6286348" y="1003554"/>
            <a:ext cx="5219548" cy="17693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Miguel has 20 eggs. His muffin recipe uses two eggs per batch. The graph shows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number of eggs remaining, and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, the number of batches he bakes.</a:t>
            </a:r>
            <a:endParaRPr lang="en-US" sz="2250" dirty="0"/>
          </a:p>
        </p:txBody>
      </p:sp>
      <p:sp>
        <p:nvSpPr>
          <p:cNvPr id="63" name="Shape 63"/>
          <p:cNvSpPr txBox="1"/>
          <p:nvPr/>
        </p:nvSpPr>
        <p:spPr>
          <a:xfrm>
            <a:off x="6286348" y="2906268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What is the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domain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of the function for this situation?</a:t>
            </a:r>
            <a:endParaRPr lang="en-US" sz="2250" dirty="0"/>
          </a:p>
        </p:txBody>
      </p:sp>
      <p:sp>
        <p:nvSpPr>
          <p:cNvPr id="64" name="Shape 64"/>
          <p:cNvSpPr txBox="1"/>
          <p:nvPr/>
        </p:nvSpPr>
        <p:spPr>
          <a:xfrm>
            <a:off x="6286348" y="3780282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F.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x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10</a:t>
            </a:r>
            <a:endParaRPr lang="en-US" sz="2250" dirty="0"/>
          </a:p>
        </p:txBody>
      </p:sp>
      <p:sp>
        <p:nvSpPr>
          <p:cNvPr id="65" name="Shape 65"/>
          <p:cNvSpPr txBox="1"/>
          <p:nvPr/>
        </p:nvSpPr>
        <p:spPr>
          <a:xfrm>
            <a:off x="6286348" y="4311396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G.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{0, 1, 2, 3, 4, 5, 6, 7, 8, 9, 10}</a:t>
            </a:r>
            <a:endParaRPr lang="en-US" sz="2250" dirty="0"/>
          </a:p>
        </p:txBody>
      </p:sp>
      <p:sp>
        <p:nvSpPr>
          <p:cNvPr id="66" name="Shape 66"/>
          <p:cNvSpPr txBox="1"/>
          <p:nvPr/>
        </p:nvSpPr>
        <p:spPr>
          <a:xfrm>
            <a:off x="6286348" y="5185410"/>
            <a:ext cx="5219548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H.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0 ≤ </a:t>
            </a:r>
            <a:r>
              <a:rPr lang="en-US" sz="2250" dirty="0" i="1">
                <a:solidFill>
                  <a:srgbClr val="16171D"/>
                </a:solidFill>
                <a:latin typeface="Segoe UI"/>
                <a:cs typeface="Segoe UI"/>
              </a:rPr>
              <a:t xml:space="preserve">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≤ 20</a:t>
            </a:r>
            <a:endParaRPr lang="en-US" sz="2250" dirty="0"/>
          </a:p>
        </p:txBody>
      </p:sp>
      <p:sp>
        <p:nvSpPr>
          <p:cNvPr id="67" name="Shape 67"/>
          <p:cNvSpPr txBox="1"/>
          <p:nvPr/>
        </p:nvSpPr>
        <p:spPr>
          <a:xfrm>
            <a:off x="6286348" y="5716524"/>
            <a:ext cx="5219548" cy="7406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○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J.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{0, 2, 4, 6, 8, 10, 12, 14, 16, 18, 20}</a:t>
            </a:r>
            <a:endParaRPr lang="en-US" sz="2250" dirty="0"/>
          </a:p>
        </p:txBody>
      </p:sp>
      <p:sp>
        <p:nvSpPr>
          <p:cNvPr id="68" name="Shape 68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You are done!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171194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Go back and check each answer.</a:t>
            </a:r>
            <a:endParaRPr lang="en-US" sz="225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1702308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answer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every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question?</a:t>
            </a:r>
            <a:endParaRPr lang="en-US" sz="22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233422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Did you include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units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and </a:t>
            </a:r>
            <a:r>
              <a:rPr lang="en-US" sz="22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explanations</a:t>
            </a: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 where asked?</a:t>
            </a:r>
            <a:endParaRPr lang="en-US" sz="22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2764536"/>
            <a:ext cx="10820095" cy="39776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250" dirty="0">
                <a:solidFill>
                  <a:srgbClr val="16171D"/>
                </a:solidFill>
                <a:latin typeface="Segoe UI"/>
                <a:cs typeface="Segoe UI"/>
              </a:rPr>
              <a:t xml:space="preserve">Raise your hand when you are finished.</a:t>
            </a:r>
            <a:endParaRPr lang="en-US" sz="22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1 Assessment · Section 504 Version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1 Assessment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17</Slides>
  <Notes>17</Notes>
</Properties>
</file>

<file path=docProps/core.xml><?xml version="1.0" encoding="utf-8"?>
<cp:coreProperties xmlns:cp="http://schemas.openxmlformats.org/package/2006/metadata/core-properties" xmlns:dc="http://purl.org/dc/elements/1.1/">
  <dc:title>Topic 1 Assessment</dc:title>
  <dc:subject>Bluebonnet Algebra I</dc:subject>
</cp:coreProperties>
</file>